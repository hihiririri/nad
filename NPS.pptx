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7" r:id="rId10"/>
    <p:sldId id="268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97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399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28815"/>
            <a:ext cx="9144000" cy="3291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7010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7487" y="315848"/>
            <a:ext cx="840902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4428" y="1043177"/>
            <a:ext cx="8175142" cy="2526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1" y="1768576"/>
            <a:ext cx="4472812" cy="2402580"/>
          </a:xfrm>
          <a:prstGeom prst="rect">
            <a:avLst/>
          </a:prstGeom>
        </p:spPr>
        <p:txBody>
          <a:bodyPr vert="horz" wrap="square" lIns="0" tIns="230504" rIns="0" bIns="0" rtlCol="0">
            <a:spAutoFit/>
          </a:bodyPr>
          <a:lstStyle/>
          <a:p>
            <a:pPr marL="12700" indent="2555875">
              <a:lnSpc>
                <a:spcPct val="100000"/>
              </a:lnSpc>
              <a:spcBef>
                <a:spcPts val="1814"/>
              </a:spcBef>
            </a:pPr>
            <a:r>
              <a:rPr lang="en-US" sz="2600" smtClean="0">
                <a:latin typeface="Arial"/>
                <a:cs typeface="Arial"/>
              </a:rPr>
              <a:t>Lecture </a:t>
            </a:r>
            <a:r>
              <a:rPr lang="en-US" sz="2600" smtClean="0">
                <a:latin typeface="Arial"/>
                <a:cs typeface="Arial"/>
              </a:rPr>
              <a:t>9b</a:t>
            </a:r>
            <a:endParaRPr sz="2600" dirty="0">
              <a:latin typeface="Arial"/>
              <a:cs typeface="Arial"/>
            </a:endParaRPr>
          </a:p>
          <a:p>
            <a:pPr marL="676910" marR="5080" indent="-664845" algn="r">
              <a:lnSpc>
                <a:spcPts val="2970"/>
              </a:lnSpc>
              <a:spcBef>
                <a:spcPts val="1939"/>
              </a:spcBef>
            </a:pPr>
            <a:r>
              <a:rPr sz="2600" dirty="0">
                <a:latin typeface="Arial"/>
                <a:cs typeface="Arial"/>
              </a:rPr>
              <a:t>Installing,</a:t>
            </a:r>
            <a:r>
              <a:rPr sz="2600" spc="-3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Configuring,</a:t>
            </a:r>
            <a:r>
              <a:rPr sz="2600" spc="-4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  Troubleshooting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  Network Policy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Server</a:t>
            </a:r>
          </a:p>
          <a:p>
            <a:pPr marR="5080" algn="r">
              <a:lnSpc>
                <a:spcPts val="2880"/>
              </a:lnSpc>
            </a:pPr>
            <a:r>
              <a:rPr sz="2600" dirty="0">
                <a:latin typeface="Arial"/>
                <a:cs typeface="Arial"/>
              </a:rPr>
              <a:t>Role</a:t>
            </a:r>
            <a:r>
              <a:rPr sz="2600" spc="-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26479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Module</a:t>
            </a:r>
            <a:r>
              <a:rPr spc="-65" dirty="0"/>
              <a:t> </a:t>
            </a:r>
            <a:r>
              <a:rPr spc="-5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392034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Installing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Network Policy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Server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</a:t>
            </a:r>
            <a:r>
              <a:rPr sz="2000" dirty="0">
                <a:latin typeface="Verdana"/>
                <a:cs typeface="Verdana"/>
              </a:rPr>
              <a:t>RADIUS </a:t>
            </a:r>
            <a:r>
              <a:rPr sz="2000" spc="-5" dirty="0">
                <a:latin typeface="Verdana"/>
                <a:cs typeface="Verdana"/>
              </a:rPr>
              <a:t>Clients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Servers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NPS Authentication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Monitoring </a:t>
            </a:r>
            <a:r>
              <a:rPr sz="2000" dirty="0">
                <a:latin typeface="Verdana"/>
                <a:cs typeface="Verdana"/>
              </a:rPr>
              <a:t>and </a:t>
            </a:r>
            <a:r>
              <a:rPr sz="2000" spc="-5" dirty="0">
                <a:latin typeface="Verdana"/>
                <a:cs typeface="Verdana"/>
              </a:rPr>
              <a:t>Troubleshooting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Network Policy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7264400" cy="710451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1: </a:t>
            </a:r>
            <a:r>
              <a:rPr spc="-10" dirty="0"/>
              <a:t>Installing </a:t>
            </a:r>
            <a:r>
              <a:rPr dirty="0"/>
              <a:t>and </a:t>
            </a:r>
            <a:r>
              <a:rPr spc="-5" dirty="0"/>
              <a:t>Configuring </a:t>
            </a:r>
            <a:r>
              <a:rPr dirty="0"/>
              <a:t>a Network  </a:t>
            </a:r>
            <a:r>
              <a:rPr spc="-5" dirty="0"/>
              <a:t>Policy</a:t>
            </a:r>
            <a:r>
              <a:rPr spc="40" dirty="0"/>
              <a:t> </a:t>
            </a:r>
            <a:r>
              <a:rPr spc="-5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465695" cy="808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</a:t>
            </a:r>
            <a:r>
              <a:rPr sz="2000" spc="-5" dirty="0">
                <a:latin typeface="Verdana"/>
                <a:cs typeface="Verdana"/>
              </a:rPr>
              <a:t>Network Policy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Server?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 smtClean="0">
                <a:latin typeface="Verdana"/>
                <a:cs typeface="Verdana"/>
              </a:rPr>
              <a:t>Tools </a:t>
            </a:r>
            <a:r>
              <a:rPr sz="2000" spc="-5" dirty="0">
                <a:latin typeface="Verdana"/>
                <a:cs typeface="Verdana"/>
              </a:rPr>
              <a:t>Used </a:t>
            </a:r>
            <a:r>
              <a:rPr sz="2000" dirty="0">
                <a:latin typeface="Verdana"/>
                <a:cs typeface="Verdana"/>
              </a:rPr>
              <a:t>for Managing a </a:t>
            </a:r>
            <a:r>
              <a:rPr sz="2000" spc="-5" dirty="0">
                <a:latin typeface="Verdana"/>
                <a:cs typeface="Verdana"/>
              </a:rPr>
              <a:t>Network Policy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dirty="0" smtClean="0">
                <a:latin typeface="Verdana"/>
                <a:cs typeface="Verdana"/>
              </a:rPr>
              <a:t>Server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165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Network </a:t>
            </a:r>
            <a:r>
              <a:rPr spc="-5" dirty="0"/>
              <a:t>Policy</a:t>
            </a:r>
            <a:r>
              <a:rPr spc="15" dirty="0"/>
              <a:t> </a:t>
            </a:r>
            <a:r>
              <a:rPr spc="-5" dirty="0"/>
              <a:t>Server?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1431036"/>
            <a:ext cx="7863840" cy="2711450"/>
            <a:chOff x="640080" y="1431036"/>
            <a:chExt cx="7863840" cy="2711450"/>
          </a:xfrm>
        </p:grpSpPr>
        <p:sp>
          <p:nvSpPr>
            <p:cNvPr id="4" name="object 4"/>
            <p:cNvSpPr/>
            <p:nvPr/>
          </p:nvSpPr>
          <p:spPr>
            <a:xfrm>
              <a:off x="644652" y="1435608"/>
              <a:ext cx="7854950" cy="2702560"/>
            </a:xfrm>
            <a:custGeom>
              <a:avLst/>
              <a:gdLst/>
              <a:ahLst/>
              <a:cxnLst/>
              <a:rect l="l" t="t" r="r" b="b"/>
              <a:pathLst>
                <a:path w="7854950" h="2702560">
                  <a:moveTo>
                    <a:pt x="7742047" y="0"/>
                  </a:moveTo>
                  <a:lnTo>
                    <a:pt x="112598" y="0"/>
                  </a:lnTo>
                  <a:lnTo>
                    <a:pt x="68767" y="8850"/>
                  </a:lnTo>
                  <a:lnTo>
                    <a:pt x="32977" y="32988"/>
                  </a:lnTo>
                  <a:lnTo>
                    <a:pt x="8847" y="68794"/>
                  </a:lnTo>
                  <a:lnTo>
                    <a:pt x="0" y="112649"/>
                  </a:lnTo>
                  <a:lnTo>
                    <a:pt x="0" y="2589403"/>
                  </a:lnTo>
                  <a:lnTo>
                    <a:pt x="8847" y="2633257"/>
                  </a:lnTo>
                  <a:lnTo>
                    <a:pt x="32977" y="2669063"/>
                  </a:lnTo>
                  <a:lnTo>
                    <a:pt x="68767" y="2693201"/>
                  </a:lnTo>
                  <a:lnTo>
                    <a:pt x="112598" y="2702052"/>
                  </a:lnTo>
                  <a:lnTo>
                    <a:pt x="7742047" y="2702052"/>
                  </a:lnTo>
                  <a:lnTo>
                    <a:pt x="7785901" y="2693201"/>
                  </a:lnTo>
                  <a:lnTo>
                    <a:pt x="7821707" y="2669063"/>
                  </a:lnTo>
                  <a:lnTo>
                    <a:pt x="7845845" y="2633257"/>
                  </a:lnTo>
                  <a:lnTo>
                    <a:pt x="7854696" y="2589403"/>
                  </a:lnTo>
                  <a:lnTo>
                    <a:pt x="7854696" y="112649"/>
                  </a:lnTo>
                  <a:lnTo>
                    <a:pt x="7845845" y="68794"/>
                  </a:lnTo>
                  <a:lnTo>
                    <a:pt x="7821707" y="32988"/>
                  </a:lnTo>
                  <a:lnTo>
                    <a:pt x="7785901" y="8850"/>
                  </a:lnTo>
                  <a:lnTo>
                    <a:pt x="774204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435608"/>
              <a:ext cx="7854950" cy="2702560"/>
            </a:xfrm>
            <a:custGeom>
              <a:avLst/>
              <a:gdLst/>
              <a:ahLst/>
              <a:cxnLst/>
              <a:rect l="l" t="t" r="r" b="b"/>
              <a:pathLst>
                <a:path w="7854950" h="2702560">
                  <a:moveTo>
                    <a:pt x="0" y="112649"/>
                  </a:moveTo>
                  <a:lnTo>
                    <a:pt x="8847" y="68794"/>
                  </a:lnTo>
                  <a:lnTo>
                    <a:pt x="32977" y="32988"/>
                  </a:lnTo>
                  <a:lnTo>
                    <a:pt x="68767" y="8850"/>
                  </a:lnTo>
                  <a:lnTo>
                    <a:pt x="112598" y="0"/>
                  </a:lnTo>
                  <a:lnTo>
                    <a:pt x="7742047" y="0"/>
                  </a:lnTo>
                  <a:lnTo>
                    <a:pt x="7785901" y="8850"/>
                  </a:lnTo>
                  <a:lnTo>
                    <a:pt x="7821707" y="32988"/>
                  </a:lnTo>
                  <a:lnTo>
                    <a:pt x="7845845" y="68794"/>
                  </a:lnTo>
                  <a:lnTo>
                    <a:pt x="7854696" y="112649"/>
                  </a:lnTo>
                  <a:lnTo>
                    <a:pt x="7854696" y="2589403"/>
                  </a:lnTo>
                  <a:lnTo>
                    <a:pt x="7845845" y="2633257"/>
                  </a:lnTo>
                  <a:lnTo>
                    <a:pt x="7821707" y="2669063"/>
                  </a:lnTo>
                  <a:lnTo>
                    <a:pt x="7785901" y="2693201"/>
                  </a:lnTo>
                  <a:lnTo>
                    <a:pt x="7742047" y="2702052"/>
                  </a:lnTo>
                  <a:lnTo>
                    <a:pt x="112598" y="2702052"/>
                  </a:lnTo>
                  <a:lnTo>
                    <a:pt x="68767" y="2693201"/>
                  </a:lnTo>
                  <a:lnTo>
                    <a:pt x="32977" y="2669063"/>
                  </a:lnTo>
                  <a:lnTo>
                    <a:pt x="8847" y="2633257"/>
                  </a:lnTo>
                  <a:lnTo>
                    <a:pt x="0" y="2589403"/>
                  </a:lnTo>
                  <a:lnTo>
                    <a:pt x="0" y="11264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208483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2084831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2680716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4">
                  <a:moveTo>
                    <a:pt x="7045833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5"/>
                  </a:lnTo>
                  <a:lnTo>
                    <a:pt x="1531" y="11894"/>
                  </a:lnTo>
                  <a:lnTo>
                    <a:pt x="0" y="19431"/>
                  </a:lnTo>
                  <a:lnTo>
                    <a:pt x="0" y="448310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8"/>
                  </a:lnTo>
                  <a:lnTo>
                    <a:pt x="7045833" y="467868"/>
                  </a:lnTo>
                  <a:lnTo>
                    <a:pt x="7053369" y="466330"/>
                  </a:lnTo>
                  <a:lnTo>
                    <a:pt x="7059549" y="462137"/>
                  </a:lnTo>
                  <a:lnTo>
                    <a:pt x="7063728" y="455920"/>
                  </a:lnTo>
                  <a:lnTo>
                    <a:pt x="7065263" y="448310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2680716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4">
                  <a:moveTo>
                    <a:pt x="0" y="19431"/>
                  </a:moveTo>
                  <a:lnTo>
                    <a:pt x="1531" y="11894"/>
                  </a:lnTo>
                  <a:lnTo>
                    <a:pt x="5708" y="5715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8310"/>
                  </a:lnTo>
                  <a:lnTo>
                    <a:pt x="7063728" y="455920"/>
                  </a:lnTo>
                  <a:lnTo>
                    <a:pt x="7059549" y="462137"/>
                  </a:lnTo>
                  <a:lnTo>
                    <a:pt x="7053369" y="466330"/>
                  </a:lnTo>
                  <a:lnTo>
                    <a:pt x="7045833" y="467868"/>
                  </a:lnTo>
                  <a:lnTo>
                    <a:pt x="19494" y="467868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10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20" y="3278124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20" y="3278124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56310" y="1499996"/>
            <a:ext cx="7152640" cy="214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Windows Server </a:t>
            </a:r>
            <a:r>
              <a:rPr sz="1800" b="1" dirty="0">
                <a:latin typeface="Verdana"/>
                <a:cs typeface="Verdana"/>
              </a:rPr>
              <a:t>2008 </a:t>
            </a:r>
            <a:r>
              <a:rPr sz="1800" b="1" spc="-5" dirty="0">
                <a:latin typeface="Verdana"/>
                <a:cs typeface="Verdana"/>
              </a:rPr>
              <a:t>R2 </a:t>
            </a:r>
            <a:r>
              <a:rPr sz="1800" b="1" dirty="0">
                <a:latin typeface="Verdana"/>
                <a:cs typeface="Verdana"/>
              </a:rPr>
              <a:t>Network </a:t>
            </a:r>
            <a:r>
              <a:rPr sz="1800" b="1" spc="-5" dirty="0">
                <a:latin typeface="Verdana"/>
                <a:cs typeface="Verdana"/>
              </a:rPr>
              <a:t>Policy Server (NPS):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>
              <a:latin typeface="Verdana"/>
              <a:cs typeface="Verdana"/>
            </a:endParaRPr>
          </a:p>
          <a:p>
            <a:pPr marL="60896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09600" algn="l"/>
              </a:tabLst>
            </a:pPr>
            <a:r>
              <a:rPr sz="1800" b="1" spc="-5" dirty="0">
                <a:latin typeface="Verdana"/>
                <a:cs typeface="Verdana"/>
              </a:rPr>
              <a:t>RADIUS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60896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09600" algn="l"/>
              </a:tabLst>
            </a:pPr>
            <a:r>
              <a:rPr sz="1800" b="1" spc="-5" dirty="0">
                <a:latin typeface="Verdana"/>
                <a:cs typeface="Verdana"/>
              </a:rPr>
              <a:t>RADIUS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proxy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60579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06425" algn="l"/>
              </a:tabLst>
            </a:pPr>
            <a:r>
              <a:rPr sz="1800" b="1" spc="-5" dirty="0">
                <a:latin typeface="Verdana"/>
                <a:cs typeface="Verdana"/>
              </a:rPr>
              <a:t>NAP policy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586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Tools Used for </a:t>
            </a:r>
            <a:r>
              <a:rPr dirty="0"/>
              <a:t>Managing a Network </a:t>
            </a:r>
            <a:r>
              <a:rPr spc="-5" dirty="0"/>
              <a:t>Policy</a:t>
            </a:r>
            <a:r>
              <a:rPr spc="105" dirty="0"/>
              <a:t> </a:t>
            </a:r>
            <a:r>
              <a:rPr spc="-5" dirty="0"/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253" y="1155001"/>
            <a:ext cx="8100695" cy="4238625"/>
            <a:chOff x="504253" y="1155001"/>
            <a:chExt cx="8100695" cy="4238625"/>
          </a:xfrm>
        </p:grpSpPr>
        <p:sp>
          <p:nvSpPr>
            <p:cNvPr id="4" name="object 4"/>
            <p:cNvSpPr/>
            <p:nvPr/>
          </p:nvSpPr>
          <p:spPr>
            <a:xfrm>
              <a:off x="509016" y="1159763"/>
              <a:ext cx="8091170" cy="4229100"/>
            </a:xfrm>
            <a:custGeom>
              <a:avLst/>
              <a:gdLst/>
              <a:ahLst/>
              <a:cxnLst/>
              <a:rect l="l" t="t" r="r" b="b"/>
              <a:pathLst>
                <a:path w="8091170" h="4229100">
                  <a:moveTo>
                    <a:pt x="7914639" y="0"/>
                  </a:moveTo>
                  <a:lnTo>
                    <a:pt x="176225" y="0"/>
                  </a:lnTo>
                  <a:lnTo>
                    <a:pt x="129375" y="6292"/>
                  </a:lnTo>
                  <a:lnTo>
                    <a:pt x="87278" y="24054"/>
                  </a:lnTo>
                  <a:lnTo>
                    <a:pt x="51612" y="51609"/>
                  </a:lnTo>
                  <a:lnTo>
                    <a:pt x="24058" y="87281"/>
                  </a:lnTo>
                  <a:lnTo>
                    <a:pt x="6294" y="129395"/>
                  </a:lnTo>
                  <a:lnTo>
                    <a:pt x="0" y="176275"/>
                  </a:lnTo>
                  <a:lnTo>
                    <a:pt x="0" y="4052824"/>
                  </a:lnTo>
                  <a:lnTo>
                    <a:pt x="6294" y="4099704"/>
                  </a:lnTo>
                  <a:lnTo>
                    <a:pt x="24058" y="4141818"/>
                  </a:lnTo>
                  <a:lnTo>
                    <a:pt x="51612" y="4177490"/>
                  </a:lnTo>
                  <a:lnTo>
                    <a:pt x="87278" y="4205045"/>
                  </a:lnTo>
                  <a:lnTo>
                    <a:pt x="129375" y="4222807"/>
                  </a:lnTo>
                  <a:lnTo>
                    <a:pt x="176225" y="4229100"/>
                  </a:lnTo>
                  <a:lnTo>
                    <a:pt x="7914639" y="4229100"/>
                  </a:lnTo>
                  <a:lnTo>
                    <a:pt x="7961520" y="4222807"/>
                  </a:lnTo>
                  <a:lnTo>
                    <a:pt x="8003634" y="4205045"/>
                  </a:lnTo>
                  <a:lnTo>
                    <a:pt x="8039306" y="4177490"/>
                  </a:lnTo>
                  <a:lnTo>
                    <a:pt x="8066861" y="4141818"/>
                  </a:lnTo>
                  <a:lnTo>
                    <a:pt x="8084623" y="4099704"/>
                  </a:lnTo>
                  <a:lnTo>
                    <a:pt x="8090915" y="4052824"/>
                  </a:lnTo>
                  <a:lnTo>
                    <a:pt x="8090915" y="176275"/>
                  </a:lnTo>
                  <a:lnTo>
                    <a:pt x="8084623" y="129395"/>
                  </a:lnTo>
                  <a:lnTo>
                    <a:pt x="8066861" y="87281"/>
                  </a:lnTo>
                  <a:lnTo>
                    <a:pt x="8039306" y="51609"/>
                  </a:lnTo>
                  <a:lnTo>
                    <a:pt x="8003634" y="24054"/>
                  </a:lnTo>
                  <a:lnTo>
                    <a:pt x="7961520" y="6292"/>
                  </a:lnTo>
                  <a:lnTo>
                    <a:pt x="7914639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9016" y="1159763"/>
              <a:ext cx="8091170" cy="4229100"/>
            </a:xfrm>
            <a:custGeom>
              <a:avLst/>
              <a:gdLst/>
              <a:ahLst/>
              <a:cxnLst/>
              <a:rect l="l" t="t" r="r" b="b"/>
              <a:pathLst>
                <a:path w="8091170" h="4229100">
                  <a:moveTo>
                    <a:pt x="0" y="176275"/>
                  </a:moveTo>
                  <a:lnTo>
                    <a:pt x="6294" y="129395"/>
                  </a:lnTo>
                  <a:lnTo>
                    <a:pt x="24058" y="87281"/>
                  </a:lnTo>
                  <a:lnTo>
                    <a:pt x="51612" y="51609"/>
                  </a:lnTo>
                  <a:lnTo>
                    <a:pt x="87278" y="24054"/>
                  </a:lnTo>
                  <a:lnTo>
                    <a:pt x="129375" y="6292"/>
                  </a:lnTo>
                  <a:lnTo>
                    <a:pt x="176225" y="0"/>
                  </a:lnTo>
                  <a:lnTo>
                    <a:pt x="7914639" y="0"/>
                  </a:lnTo>
                  <a:lnTo>
                    <a:pt x="7961520" y="6292"/>
                  </a:lnTo>
                  <a:lnTo>
                    <a:pt x="8003634" y="24054"/>
                  </a:lnTo>
                  <a:lnTo>
                    <a:pt x="8039306" y="51609"/>
                  </a:lnTo>
                  <a:lnTo>
                    <a:pt x="8066861" y="87281"/>
                  </a:lnTo>
                  <a:lnTo>
                    <a:pt x="8084623" y="129395"/>
                  </a:lnTo>
                  <a:lnTo>
                    <a:pt x="8090915" y="176275"/>
                  </a:lnTo>
                  <a:lnTo>
                    <a:pt x="8090915" y="4052824"/>
                  </a:lnTo>
                  <a:lnTo>
                    <a:pt x="8084623" y="4099704"/>
                  </a:lnTo>
                  <a:lnTo>
                    <a:pt x="8066861" y="4141818"/>
                  </a:lnTo>
                  <a:lnTo>
                    <a:pt x="8039306" y="4177490"/>
                  </a:lnTo>
                  <a:lnTo>
                    <a:pt x="8003634" y="4205045"/>
                  </a:lnTo>
                  <a:lnTo>
                    <a:pt x="7961520" y="4222807"/>
                  </a:lnTo>
                  <a:lnTo>
                    <a:pt x="7914639" y="4229100"/>
                  </a:lnTo>
                  <a:lnTo>
                    <a:pt x="176225" y="4229100"/>
                  </a:lnTo>
                  <a:lnTo>
                    <a:pt x="129375" y="4222807"/>
                  </a:lnTo>
                  <a:lnTo>
                    <a:pt x="87278" y="4205045"/>
                  </a:lnTo>
                  <a:lnTo>
                    <a:pt x="51612" y="4177490"/>
                  </a:lnTo>
                  <a:lnTo>
                    <a:pt x="24058" y="4141818"/>
                  </a:lnTo>
                  <a:lnTo>
                    <a:pt x="6294" y="4099704"/>
                  </a:lnTo>
                  <a:lnTo>
                    <a:pt x="0" y="4052824"/>
                  </a:lnTo>
                  <a:lnTo>
                    <a:pt x="0" y="17627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7616" y="2362200"/>
              <a:ext cx="7668895" cy="2715895"/>
            </a:xfrm>
            <a:custGeom>
              <a:avLst/>
              <a:gdLst/>
              <a:ahLst/>
              <a:cxnLst/>
              <a:rect l="l" t="t" r="r" b="b"/>
              <a:pathLst>
                <a:path w="7668895" h="2715895">
                  <a:moveTo>
                    <a:pt x="7555610" y="0"/>
                  </a:moveTo>
                  <a:lnTo>
                    <a:pt x="113169" y="0"/>
                  </a:lnTo>
                  <a:lnTo>
                    <a:pt x="69121" y="8893"/>
                  </a:lnTo>
                  <a:lnTo>
                    <a:pt x="33148" y="33146"/>
                  </a:lnTo>
                  <a:lnTo>
                    <a:pt x="8894" y="69115"/>
                  </a:lnTo>
                  <a:lnTo>
                    <a:pt x="0" y="113157"/>
                  </a:lnTo>
                  <a:lnTo>
                    <a:pt x="0" y="2602611"/>
                  </a:lnTo>
                  <a:lnTo>
                    <a:pt x="8894" y="2646652"/>
                  </a:lnTo>
                  <a:lnTo>
                    <a:pt x="33148" y="2682621"/>
                  </a:lnTo>
                  <a:lnTo>
                    <a:pt x="69121" y="2706874"/>
                  </a:lnTo>
                  <a:lnTo>
                    <a:pt x="113169" y="2715768"/>
                  </a:lnTo>
                  <a:lnTo>
                    <a:pt x="7555610" y="2715768"/>
                  </a:lnTo>
                  <a:lnTo>
                    <a:pt x="7599652" y="2706874"/>
                  </a:lnTo>
                  <a:lnTo>
                    <a:pt x="7635620" y="2682621"/>
                  </a:lnTo>
                  <a:lnTo>
                    <a:pt x="7659874" y="2646652"/>
                  </a:lnTo>
                  <a:lnTo>
                    <a:pt x="7668767" y="2602611"/>
                  </a:lnTo>
                  <a:lnTo>
                    <a:pt x="7668767" y="113157"/>
                  </a:lnTo>
                  <a:lnTo>
                    <a:pt x="7659874" y="69115"/>
                  </a:lnTo>
                  <a:lnTo>
                    <a:pt x="7635620" y="33147"/>
                  </a:lnTo>
                  <a:lnTo>
                    <a:pt x="7599652" y="8893"/>
                  </a:lnTo>
                  <a:lnTo>
                    <a:pt x="755561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7616" y="2362200"/>
              <a:ext cx="7668895" cy="2715895"/>
            </a:xfrm>
            <a:custGeom>
              <a:avLst/>
              <a:gdLst/>
              <a:ahLst/>
              <a:cxnLst/>
              <a:rect l="l" t="t" r="r" b="b"/>
              <a:pathLst>
                <a:path w="7668895" h="2715895">
                  <a:moveTo>
                    <a:pt x="0" y="113157"/>
                  </a:moveTo>
                  <a:lnTo>
                    <a:pt x="8894" y="69115"/>
                  </a:lnTo>
                  <a:lnTo>
                    <a:pt x="33148" y="33146"/>
                  </a:lnTo>
                  <a:lnTo>
                    <a:pt x="69121" y="8893"/>
                  </a:lnTo>
                  <a:lnTo>
                    <a:pt x="113169" y="0"/>
                  </a:lnTo>
                  <a:lnTo>
                    <a:pt x="7555610" y="0"/>
                  </a:lnTo>
                  <a:lnTo>
                    <a:pt x="7599652" y="8893"/>
                  </a:lnTo>
                  <a:lnTo>
                    <a:pt x="7635620" y="33147"/>
                  </a:lnTo>
                  <a:lnTo>
                    <a:pt x="7659874" y="69115"/>
                  </a:lnTo>
                  <a:lnTo>
                    <a:pt x="7668767" y="113157"/>
                  </a:lnTo>
                  <a:lnTo>
                    <a:pt x="7668767" y="2602611"/>
                  </a:lnTo>
                  <a:lnTo>
                    <a:pt x="7659874" y="2646652"/>
                  </a:lnTo>
                  <a:lnTo>
                    <a:pt x="7635620" y="2682621"/>
                  </a:lnTo>
                  <a:lnTo>
                    <a:pt x="7599652" y="2706874"/>
                  </a:lnTo>
                  <a:lnTo>
                    <a:pt x="7555610" y="2715768"/>
                  </a:lnTo>
                  <a:lnTo>
                    <a:pt x="113169" y="2715768"/>
                  </a:lnTo>
                  <a:lnTo>
                    <a:pt x="69121" y="2706874"/>
                  </a:lnTo>
                  <a:lnTo>
                    <a:pt x="33148" y="2682621"/>
                  </a:lnTo>
                  <a:lnTo>
                    <a:pt x="8894" y="2646652"/>
                  </a:lnTo>
                  <a:lnTo>
                    <a:pt x="0" y="2602611"/>
                  </a:lnTo>
                  <a:lnTo>
                    <a:pt x="0" y="11315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616" y="1690115"/>
              <a:ext cx="7668895" cy="460375"/>
            </a:xfrm>
            <a:custGeom>
              <a:avLst/>
              <a:gdLst/>
              <a:ahLst/>
              <a:cxnLst/>
              <a:rect l="l" t="t" r="r" b="b"/>
              <a:pathLst>
                <a:path w="7668895" h="460375">
                  <a:moveTo>
                    <a:pt x="7649590" y="0"/>
                  </a:moveTo>
                  <a:lnTo>
                    <a:pt x="19177" y="0"/>
                  </a:lnTo>
                  <a:lnTo>
                    <a:pt x="11712" y="1514"/>
                  </a:lnTo>
                  <a:lnTo>
                    <a:pt x="5616" y="5635"/>
                  </a:lnTo>
                  <a:lnTo>
                    <a:pt x="1506" y="11733"/>
                  </a:lnTo>
                  <a:lnTo>
                    <a:pt x="0" y="19176"/>
                  </a:lnTo>
                  <a:lnTo>
                    <a:pt x="0" y="441071"/>
                  </a:lnTo>
                  <a:lnTo>
                    <a:pt x="1506" y="448514"/>
                  </a:lnTo>
                  <a:lnTo>
                    <a:pt x="5616" y="454612"/>
                  </a:lnTo>
                  <a:lnTo>
                    <a:pt x="11712" y="458733"/>
                  </a:lnTo>
                  <a:lnTo>
                    <a:pt x="19177" y="460248"/>
                  </a:lnTo>
                  <a:lnTo>
                    <a:pt x="7649590" y="460248"/>
                  </a:lnTo>
                  <a:lnTo>
                    <a:pt x="7657034" y="458733"/>
                  </a:lnTo>
                  <a:lnTo>
                    <a:pt x="7663132" y="454612"/>
                  </a:lnTo>
                  <a:lnTo>
                    <a:pt x="7667253" y="448514"/>
                  </a:lnTo>
                  <a:lnTo>
                    <a:pt x="7668767" y="441071"/>
                  </a:lnTo>
                  <a:lnTo>
                    <a:pt x="7668767" y="19176"/>
                  </a:lnTo>
                  <a:lnTo>
                    <a:pt x="7667253" y="11733"/>
                  </a:lnTo>
                  <a:lnTo>
                    <a:pt x="7663132" y="5635"/>
                  </a:lnTo>
                  <a:lnTo>
                    <a:pt x="7657034" y="1514"/>
                  </a:lnTo>
                  <a:lnTo>
                    <a:pt x="764959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616" y="1690115"/>
              <a:ext cx="7668895" cy="460375"/>
            </a:xfrm>
            <a:custGeom>
              <a:avLst/>
              <a:gdLst/>
              <a:ahLst/>
              <a:cxnLst/>
              <a:rect l="l" t="t" r="r" b="b"/>
              <a:pathLst>
                <a:path w="7668895" h="460375">
                  <a:moveTo>
                    <a:pt x="0" y="19176"/>
                  </a:moveTo>
                  <a:lnTo>
                    <a:pt x="1506" y="11733"/>
                  </a:lnTo>
                  <a:lnTo>
                    <a:pt x="5616" y="5635"/>
                  </a:lnTo>
                  <a:lnTo>
                    <a:pt x="11712" y="1514"/>
                  </a:lnTo>
                  <a:lnTo>
                    <a:pt x="19177" y="0"/>
                  </a:lnTo>
                  <a:lnTo>
                    <a:pt x="7649590" y="0"/>
                  </a:lnTo>
                  <a:lnTo>
                    <a:pt x="7657034" y="1514"/>
                  </a:lnTo>
                  <a:lnTo>
                    <a:pt x="7663132" y="5635"/>
                  </a:lnTo>
                  <a:lnTo>
                    <a:pt x="7667253" y="11733"/>
                  </a:lnTo>
                  <a:lnTo>
                    <a:pt x="7668767" y="19176"/>
                  </a:lnTo>
                  <a:lnTo>
                    <a:pt x="7668767" y="441071"/>
                  </a:lnTo>
                  <a:lnTo>
                    <a:pt x="7667253" y="448514"/>
                  </a:lnTo>
                  <a:lnTo>
                    <a:pt x="7663132" y="454612"/>
                  </a:lnTo>
                  <a:lnTo>
                    <a:pt x="7657034" y="458733"/>
                  </a:lnTo>
                  <a:lnTo>
                    <a:pt x="7649590" y="460248"/>
                  </a:lnTo>
                  <a:lnTo>
                    <a:pt x="19177" y="460248"/>
                  </a:lnTo>
                  <a:lnTo>
                    <a:pt x="11712" y="458733"/>
                  </a:lnTo>
                  <a:lnTo>
                    <a:pt x="5616" y="454612"/>
                  </a:lnTo>
                  <a:lnTo>
                    <a:pt x="1506" y="448514"/>
                  </a:lnTo>
                  <a:lnTo>
                    <a:pt x="0" y="441071"/>
                  </a:lnTo>
                  <a:lnTo>
                    <a:pt x="0" y="1917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0181" y="1243965"/>
            <a:ext cx="7440295" cy="3707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Tools used to manage </a:t>
            </a:r>
            <a:r>
              <a:rPr sz="1800" b="1" dirty="0">
                <a:latin typeface="Verdana"/>
                <a:cs typeface="Verdana"/>
              </a:rPr>
              <a:t>NPS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include: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Verdana"/>
              <a:cs typeface="Verdana"/>
            </a:endParaRPr>
          </a:p>
          <a:p>
            <a:pPr marL="42354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24180" algn="l"/>
              </a:tabLst>
            </a:pPr>
            <a:r>
              <a:rPr sz="1600" b="1" spc="-5" dirty="0">
                <a:latin typeface="Verdana"/>
                <a:cs typeface="Verdana"/>
              </a:rPr>
              <a:t>NPS MMC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Console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 marL="450850" indent="-229235">
              <a:lnSpc>
                <a:spcPct val="100000"/>
              </a:lnSpc>
              <a:spcBef>
                <a:spcPts val="1205"/>
              </a:spcBef>
              <a:buClr>
                <a:srgbClr val="006699"/>
              </a:buClr>
              <a:buFont typeface="Verdana"/>
              <a:buChar char="•"/>
              <a:tabLst>
                <a:tab pos="451484" algn="l"/>
              </a:tabLst>
            </a:pPr>
            <a:r>
              <a:rPr sz="1600" b="1" spc="-5" dirty="0">
                <a:latin typeface="Verdana"/>
                <a:cs typeface="Verdana"/>
              </a:rPr>
              <a:t>Netsh </a:t>
            </a:r>
            <a:r>
              <a:rPr sz="1600" b="1" spc="-10" dirty="0">
                <a:latin typeface="Verdana"/>
                <a:cs typeface="Verdana"/>
              </a:rPr>
              <a:t>command line </a:t>
            </a:r>
            <a:r>
              <a:rPr sz="1600" b="1" spc="-5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configure </a:t>
            </a:r>
            <a:r>
              <a:rPr sz="1600" b="1" spc="-5" dirty="0">
                <a:latin typeface="Verdana"/>
                <a:cs typeface="Verdana"/>
              </a:rPr>
              <a:t>all aspects of </a:t>
            </a:r>
            <a:r>
              <a:rPr sz="1600" b="1" spc="-10" dirty="0">
                <a:latin typeface="Verdana"/>
                <a:cs typeface="Verdana"/>
              </a:rPr>
              <a:t>NPS, such</a:t>
            </a:r>
            <a:r>
              <a:rPr sz="1600" b="1" spc="24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as:</a:t>
            </a:r>
            <a:endParaRPr sz="1600">
              <a:latin typeface="Verdana"/>
              <a:cs typeface="Verdana"/>
            </a:endParaRPr>
          </a:p>
          <a:p>
            <a:pPr marL="91440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5035" algn="l"/>
              </a:tabLst>
            </a:pPr>
            <a:r>
              <a:rPr sz="1600" spc="-10" dirty="0">
                <a:latin typeface="Verdana"/>
                <a:cs typeface="Verdana"/>
              </a:rPr>
              <a:t>NPS </a:t>
            </a:r>
            <a:r>
              <a:rPr sz="1600" spc="-5" dirty="0">
                <a:latin typeface="Verdana"/>
                <a:cs typeface="Verdana"/>
              </a:rPr>
              <a:t>Server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Commands</a:t>
            </a:r>
            <a:endParaRPr sz="1600">
              <a:latin typeface="Verdana"/>
              <a:cs typeface="Verdana"/>
            </a:endParaRPr>
          </a:p>
          <a:p>
            <a:pPr marL="914400" lvl="1" indent="-235585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Char char="•"/>
              <a:tabLst>
                <a:tab pos="915035" algn="l"/>
              </a:tabLst>
            </a:pPr>
            <a:r>
              <a:rPr sz="1600" spc="-5" dirty="0">
                <a:latin typeface="Verdana"/>
                <a:cs typeface="Verdana"/>
              </a:rPr>
              <a:t>RADIUS </a:t>
            </a:r>
            <a:r>
              <a:rPr sz="1600" spc="-10" dirty="0">
                <a:latin typeface="Verdana"/>
                <a:cs typeface="Verdana"/>
              </a:rPr>
              <a:t>Client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Commands</a:t>
            </a:r>
            <a:endParaRPr sz="1600">
              <a:latin typeface="Verdana"/>
              <a:cs typeface="Verdana"/>
            </a:endParaRPr>
          </a:p>
          <a:p>
            <a:pPr marL="91440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5035" algn="l"/>
              </a:tabLst>
            </a:pPr>
            <a:r>
              <a:rPr sz="1600" spc="-10" dirty="0">
                <a:latin typeface="Verdana"/>
                <a:cs typeface="Verdana"/>
              </a:rPr>
              <a:t>Connection </a:t>
            </a:r>
            <a:r>
              <a:rPr sz="1600" spc="-15" dirty="0">
                <a:latin typeface="Verdana"/>
                <a:cs typeface="Verdana"/>
              </a:rPr>
              <a:t>Request </a:t>
            </a:r>
            <a:r>
              <a:rPr sz="1600" spc="-10" dirty="0">
                <a:latin typeface="Verdana"/>
                <a:cs typeface="Verdana"/>
              </a:rPr>
              <a:t>Policy</a:t>
            </a:r>
            <a:r>
              <a:rPr sz="1600" spc="8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Commands</a:t>
            </a:r>
            <a:endParaRPr sz="1600">
              <a:latin typeface="Verdana"/>
              <a:cs typeface="Verdana"/>
            </a:endParaRPr>
          </a:p>
          <a:p>
            <a:pPr marL="91440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5035" algn="l"/>
              </a:tabLst>
            </a:pPr>
            <a:r>
              <a:rPr sz="1600" spc="-15" dirty="0">
                <a:latin typeface="Verdana"/>
                <a:cs typeface="Verdana"/>
              </a:rPr>
              <a:t>Remote </a:t>
            </a:r>
            <a:r>
              <a:rPr sz="1600" spc="-10" dirty="0">
                <a:latin typeface="Verdana"/>
                <a:cs typeface="Verdana"/>
              </a:rPr>
              <a:t>RADIUS </a:t>
            </a:r>
            <a:r>
              <a:rPr sz="1600" spc="-5" dirty="0">
                <a:latin typeface="Verdana"/>
                <a:cs typeface="Verdana"/>
              </a:rPr>
              <a:t>Server Group</a:t>
            </a:r>
            <a:r>
              <a:rPr sz="1600" spc="1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Commands</a:t>
            </a:r>
            <a:endParaRPr sz="1600">
              <a:latin typeface="Verdana"/>
              <a:cs typeface="Verdana"/>
            </a:endParaRPr>
          </a:p>
          <a:p>
            <a:pPr marL="914400" lvl="1" indent="-235585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Char char="•"/>
              <a:tabLst>
                <a:tab pos="915035" algn="l"/>
              </a:tabLst>
            </a:pPr>
            <a:r>
              <a:rPr sz="1600" spc="-10" dirty="0">
                <a:latin typeface="Verdana"/>
                <a:cs typeface="Verdana"/>
              </a:rPr>
              <a:t>Network Policy</a:t>
            </a:r>
            <a:r>
              <a:rPr sz="1600" spc="5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Commands</a:t>
            </a:r>
            <a:endParaRPr sz="1600">
              <a:latin typeface="Verdana"/>
              <a:cs typeface="Verdana"/>
            </a:endParaRPr>
          </a:p>
          <a:p>
            <a:pPr marL="91440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5035" algn="l"/>
              </a:tabLst>
            </a:pPr>
            <a:r>
              <a:rPr sz="1600" spc="-10" dirty="0">
                <a:latin typeface="Verdana"/>
                <a:cs typeface="Verdana"/>
              </a:rPr>
              <a:t>Network Access Protection</a:t>
            </a:r>
            <a:r>
              <a:rPr sz="1600" spc="1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Commands</a:t>
            </a:r>
            <a:endParaRPr sz="1600">
              <a:latin typeface="Verdana"/>
              <a:cs typeface="Verdana"/>
            </a:endParaRPr>
          </a:p>
          <a:p>
            <a:pPr marL="914400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915035" algn="l"/>
              </a:tabLst>
            </a:pPr>
            <a:r>
              <a:rPr sz="1600" spc="-10" dirty="0">
                <a:latin typeface="Verdana"/>
                <a:cs typeface="Verdana"/>
              </a:rPr>
              <a:t>Accounting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Commands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89547" y="4325111"/>
            <a:ext cx="1353311" cy="1982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7810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spc="-5" dirty="0"/>
              <a:t>2: </a:t>
            </a:r>
            <a:r>
              <a:rPr dirty="0"/>
              <a:t>Configuring </a:t>
            </a:r>
            <a:r>
              <a:rPr spc="-5" dirty="0"/>
              <a:t>RADIUS </a:t>
            </a:r>
            <a:r>
              <a:rPr spc="-15" dirty="0"/>
              <a:t>Clients </a:t>
            </a:r>
            <a:r>
              <a:rPr dirty="0"/>
              <a:t>and</a:t>
            </a:r>
            <a:r>
              <a:rPr spc="165" dirty="0"/>
              <a:t> </a:t>
            </a:r>
            <a:r>
              <a:rPr dirty="0"/>
              <a:t>Servers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623175" cy="22704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</a:t>
            </a:r>
            <a:r>
              <a:rPr sz="2000" spc="-5" dirty="0">
                <a:latin typeface="Verdana"/>
                <a:cs typeface="Verdana"/>
              </a:rPr>
              <a:t>RADIUS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Client?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RADIUS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Proxy?</a:t>
            </a: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Demonstration: </a:t>
            </a:r>
            <a:r>
              <a:rPr sz="2000" dirty="0">
                <a:latin typeface="Verdana"/>
                <a:cs typeface="Verdana"/>
              </a:rPr>
              <a:t>How </a:t>
            </a:r>
            <a:r>
              <a:rPr sz="2000" spc="-5" dirty="0">
                <a:latin typeface="Verdana"/>
                <a:cs typeface="Verdana"/>
              </a:rPr>
              <a:t>to Configure </a:t>
            </a:r>
            <a:r>
              <a:rPr sz="2000" dirty="0">
                <a:latin typeface="Verdana"/>
                <a:cs typeface="Verdana"/>
              </a:rPr>
              <a:t>a </a:t>
            </a:r>
            <a:r>
              <a:rPr sz="2000" spc="-5" dirty="0">
                <a:latin typeface="Verdana"/>
                <a:cs typeface="Verdana"/>
              </a:rPr>
              <a:t>RADIUS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Client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What Is a </a:t>
            </a:r>
            <a:r>
              <a:rPr sz="2000" spc="-5" dirty="0">
                <a:latin typeface="Verdana"/>
                <a:cs typeface="Verdana"/>
              </a:rPr>
              <a:t>Connection Request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Policy?</a:t>
            </a:r>
            <a:endParaRPr sz="2000" dirty="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Connection Request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spc="-5" dirty="0" smtClean="0">
                <a:latin typeface="Verdana"/>
                <a:cs typeface="Verdana"/>
              </a:rPr>
              <a:t>Processing</a:t>
            </a:r>
            <a:endParaRPr sz="2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982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</a:t>
            </a:r>
            <a:r>
              <a:rPr spc="-5" dirty="0"/>
              <a:t>RADIUS</a:t>
            </a:r>
            <a:r>
              <a:rPr spc="-10" dirty="0"/>
              <a:t> </a:t>
            </a:r>
            <a:r>
              <a:rPr spc="-5" dirty="0"/>
              <a:t>Client?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444" y="1144524"/>
            <a:ext cx="8100059" cy="3893820"/>
            <a:chOff x="504444" y="1144524"/>
            <a:chExt cx="8100059" cy="3893820"/>
          </a:xfrm>
        </p:grpSpPr>
        <p:sp>
          <p:nvSpPr>
            <p:cNvPr id="4" name="object 4"/>
            <p:cNvSpPr/>
            <p:nvPr/>
          </p:nvSpPr>
          <p:spPr>
            <a:xfrm>
              <a:off x="509016" y="1149096"/>
              <a:ext cx="8091170" cy="3884929"/>
            </a:xfrm>
            <a:custGeom>
              <a:avLst/>
              <a:gdLst/>
              <a:ahLst/>
              <a:cxnLst/>
              <a:rect l="l" t="t" r="r" b="b"/>
              <a:pathLst>
                <a:path w="8091170" h="3884929">
                  <a:moveTo>
                    <a:pt x="7928990" y="0"/>
                  </a:moveTo>
                  <a:lnTo>
                    <a:pt x="161874" y="0"/>
                  </a:lnTo>
                  <a:lnTo>
                    <a:pt x="118839" y="5785"/>
                  </a:lnTo>
                  <a:lnTo>
                    <a:pt x="80169" y="22112"/>
                  </a:lnTo>
                  <a:lnTo>
                    <a:pt x="47409" y="47434"/>
                  </a:lnTo>
                  <a:lnTo>
                    <a:pt x="22098" y="80207"/>
                  </a:lnTo>
                  <a:lnTo>
                    <a:pt x="5781" y="118886"/>
                  </a:lnTo>
                  <a:lnTo>
                    <a:pt x="0" y="161925"/>
                  </a:lnTo>
                  <a:lnTo>
                    <a:pt x="0" y="3722751"/>
                  </a:lnTo>
                  <a:lnTo>
                    <a:pt x="5781" y="3765789"/>
                  </a:lnTo>
                  <a:lnTo>
                    <a:pt x="22098" y="3804468"/>
                  </a:lnTo>
                  <a:lnTo>
                    <a:pt x="47409" y="3837241"/>
                  </a:lnTo>
                  <a:lnTo>
                    <a:pt x="80169" y="3862563"/>
                  </a:lnTo>
                  <a:lnTo>
                    <a:pt x="118839" y="3878890"/>
                  </a:lnTo>
                  <a:lnTo>
                    <a:pt x="161874" y="3884676"/>
                  </a:lnTo>
                  <a:lnTo>
                    <a:pt x="7928990" y="3884676"/>
                  </a:lnTo>
                  <a:lnTo>
                    <a:pt x="7972029" y="3878890"/>
                  </a:lnTo>
                  <a:lnTo>
                    <a:pt x="8010708" y="3862563"/>
                  </a:lnTo>
                  <a:lnTo>
                    <a:pt x="8043481" y="3837241"/>
                  </a:lnTo>
                  <a:lnTo>
                    <a:pt x="8068803" y="3804468"/>
                  </a:lnTo>
                  <a:lnTo>
                    <a:pt x="8085130" y="3765789"/>
                  </a:lnTo>
                  <a:lnTo>
                    <a:pt x="8090915" y="3722751"/>
                  </a:lnTo>
                  <a:lnTo>
                    <a:pt x="8090915" y="161925"/>
                  </a:lnTo>
                  <a:lnTo>
                    <a:pt x="8085130" y="118886"/>
                  </a:lnTo>
                  <a:lnTo>
                    <a:pt x="8068803" y="80207"/>
                  </a:lnTo>
                  <a:lnTo>
                    <a:pt x="8043481" y="47434"/>
                  </a:lnTo>
                  <a:lnTo>
                    <a:pt x="8010708" y="22112"/>
                  </a:lnTo>
                  <a:lnTo>
                    <a:pt x="7972029" y="5785"/>
                  </a:lnTo>
                  <a:lnTo>
                    <a:pt x="7928990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9016" y="1149096"/>
              <a:ext cx="8091170" cy="3884929"/>
            </a:xfrm>
            <a:custGeom>
              <a:avLst/>
              <a:gdLst/>
              <a:ahLst/>
              <a:cxnLst/>
              <a:rect l="l" t="t" r="r" b="b"/>
              <a:pathLst>
                <a:path w="8091170" h="3884929">
                  <a:moveTo>
                    <a:pt x="0" y="161925"/>
                  </a:moveTo>
                  <a:lnTo>
                    <a:pt x="5781" y="118886"/>
                  </a:lnTo>
                  <a:lnTo>
                    <a:pt x="22098" y="80207"/>
                  </a:lnTo>
                  <a:lnTo>
                    <a:pt x="47409" y="47434"/>
                  </a:lnTo>
                  <a:lnTo>
                    <a:pt x="80169" y="22112"/>
                  </a:lnTo>
                  <a:lnTo>
                    <a:pt x="118839" y="5785"/>
                  </a:lnTo>
                  <a:lnTo>
                    <a:pt x="161874" y="0"/>
                  </a:lnTo>
                  <a:lnTo>
                    <a:pt x="7928990" y="0"/>
                  </a:lnTo>
                  <a:lnTo>
                    <a:pt x="7972029" y="5785"/>
                  </a:lnTo>
                  <a:lnTo>
                    <a:pt x="8010708" y="22112"/>
                  </a:lnTo>
                  <a:lnTo>
                    <a:pt x="8043481" y="47434"/>
                  </a:lnTo>
                  <a:lnTo>
                    <a:pt x="8068803" y="80207"/>
                  </a:lnTo>
                  <a:lnTo>
                    <a:pt x="8085130" y="118886"/>
                  </a:lnTo>
                  <a:lnTo>
                    <a:pt x="8090915" y="161925"/>
                  </a:lnTo>
                  <a:lnTo>
                    <a:pt x="8090915" y="3722751"/>
                  </a:lnTo>
                  <a:lnTo>
                    <a:pt x="8085130" y="3765789"/>
                  </a:lnTo>
                  <a:lnTo>
                    <a:pt x="8068803" y="3804468"/>
                  </a:lnTo>
                  <a:lnTo>
                    <a:pt x="8043481" y="3837241"/>
                  </a:lnTo>
                  <a:lnTo>
                    <a:pt x="8010708" y="3862563"/>
                  </a:lnTo>
                  <a:lnTo>
                    <a:pt x="7972029" y="3878890"/>
                  </a:lnTo>
                  <a:lnTo>
                    <a:pt x="7928990" y="3884676"/>
                  </a:lnTo>
                  <a:lnTo>
                    <a:pt x="161874" y="3884676"/>
                  </a:lnTo>
                  <a:lnTo>
                    <a:pt x="118839" y="3878890"/>
                  </a:lnTo>
                  <a:lnTo>
                    <a:pt x="80169" y="3862563"/>
                  </a:lnTo>
                  <a:lnTo>
                    <a:pt x="47409" y="3837241"/>
                  </a:lnTo>
                  <a:lnTo>
                    <a:pt x="22098" y="3804468"/>
                  </a:lnTo>
                  <a:lnTo>
                    <a:pt x="5781" y="3765789"/>
                  </a:lnTo>
                  <a:lnTo>
                    <a:pt x="0" y="3722751"/>
                  </a:lnTo>
                  <a:lnTo>
                    <a:pt x="0" y="16192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7616" y="1984248"/>
              <a:ext cx="7668895" cy="1789430"/>
            </a:xfrm>
            <a:custGeom>
              <a:avLst/>
              <a:gdLst/>
              <a:ahLst/>
              <a:cxnLst/>
              <a:rect l="l" t="t" r="r" b="b"/>
              <a:pathLst>
                <a:path w="7668895" h="1789429">
                  <a:moveTo>
                    <a:pt x="7594218" y="0"/>
                  </a:moveTo>
                  <a:lnTo>
                    <a:pt x="74561" y="0"/>
                  </a:lnTo>
                  <a:lnTo>
                    <a:pt x="45536" y="5861"/>
                  </a:lnTo>
                  <a:lnTo>
                    <a:pt x="21836" y="21844"/>
                  </a:lnTo>
                  <a:lnTo>
                    <a:pt x="5858" y="45541"/>
                  </a:lnTo>
                  <a:lnTo>
                    <a:pt x="0" y="74549"/>
                  </a:lnTo>
                  <a:lnTo>
                    <a:pt x="0" y="1714627"/>
                  </a:lnTo>
                  <a:lnTo>
                    <a:pt x="5858" y="1743634"/>
                  </a:lnTo>
                  <a:lnTo>
                    <a:pt x="21836" y="1767331"/>
                  </a:lnTo>
                  <a:lnTo>
                    <a:pt x="45536" y="1783314"/>
                  </a:lnTo>
                  <a:lnTo>
                    <a:pt x="74561" y="1789176"/>
                  </a:lnTo>
                  <a:lnTo>
                    <a:pt x="7594218" y="1789176"/>
                  </a:lnTo>
                  <a:lnTo>
                    <a:pt x="7623226" y="1783314"/>
                  </a:lnTo>
                  <a:lnTo>
                    <a:pt x="7646923" y="1767332"/>
                  </a:lnTo>
                  <a:lnTo>
                    <a:pt x="7662906" y="1743634"/>
                  </a:lnTo>
                  <a:lnTo>
                    <a:pt x="7668767" y="1714627"/>
                  </a:lnTo>
                  <a:lnTo>
                    <a:pt x="7668767" y="74549"/>
                  </a:lnTo>
                  <a:lnTo>
                    <a:pt x="7662906" y="45541"/>
                  </a:lnTo>
                  <a:lnTo>
                    <a:pt x="7646923" y="21844"/>
                  </a:lnTo>
                  <a:lnTo>
                    <a:pt x="7623226" y="5861"/>
                  </a:lnTo>
                  <a:lnTo>
                    <a:pt x="759421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7616" y="1984248"/>
              <a:ext cx="7668895" cy="1789430"/>
            </a:xfrm>
            <a:custGeom>
              <a:avLst/>
              <a:gdLst/>
              <a:ahLst/>
              <a:cxnLst/>
              <a:rect l="l" t="t" r="r" b="b"/>
              <a:pathLst>
                <a:path w="7668895" h="1789429">
                  <a:moveTo>
                    <a:pt x="0" y="74549"/>
                  </a:moveTo>
                  <a:lnTo>
                    <a:pt x="5858" y="45541"/>
                  </a:lnTo>
                  <a:lnTo>
                    <a:pt x="21836" y="21844"/>
                  </a:lnTo>
                  <a:lnTo>
                    <a:pt x="45536" y="5861"/>
                  </a:lnTo>
                  <a:lnTo>
                    <a:pt x="74561" y="0"/>
                  </a:lnTo>
                  <a:lnTo>
                    <a:pt x="7594218" y="0"/>
                  </a:lnTo>
                  <a:lnTo>
                    <a:pt x="7623226" y="5861"/>
                  </a:lnTo>
                  <a:lnTo>
                    <a:pt x="7646923" y="21844"/>
                  </a:lnTo>
                  <a:lnTo>
                    <a:pt x="7662906" y="45541"/>
                  </a:lnTo>
                  <a:lnTo>
                    <a:pt x="7668767" y="74549"/>
                  </a:lnTo>
                  <a:lnTo>
                    <a:pt x="7668767" y="1714627"/>
                  </a:lnTo>
                  <a:lnTo>
                    <a:pt x="7662906" y="1743634"/>
                  </a:lnTo>
                  <a:lnTo>
                    <a:pt x="7646923" y="1767332"/>
                  </a:lnTo>
                  <a:lnTo>
                    <a:pt x="7623226" y="1783314"/>
                  </a:lnTo>
                  <a:lnTo>
                    <a:pt x="7594218" y="1789176"/>
                  </a:lnTo>
                  <a:lnTo>
                    <a:pt x="74561" y="1789176"/>
                  </a:lnTo>
                  <a:lnTo>
                    <a:pt x="45536" y="1783314"/>
                  </a:lnTo>
                  <a:lnTo>
                    <a:pt x="21836" y="1767331"/>
                  </a:lnTo>
                  <a:lnTo>
                    <a:pt x="5858" y="1743634"/>
                  </a:lnTo>
                  <a:lnTo>
                    <a:pt x="0" y="1714627"/>
                  </a:lnTo>
                  <a:lnTo>
                    <a:pt x="0" y="7454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616" y="1412748"/>
              <a:ext cx="7668895" cy="460375"/>
            </a:xfrm>
            <a:custGeom>
              <a:avLst/>
              <a:gdLst/>
              <a:ahLst/>
              <a:cxnLst/>
              <a:rect l="l" t="t" r="r" b="b"/>
              <a:pathLst>
                <a:path w="7668895" h="460375">
                  <a:moveTo>
                    <a:pt x="7649590" y="0"/>
                  </a:moveTo>
                  <a:lnTo>
                    <a:pt x="19177" y="0"/>
                  </a:lnTo>
                  <a:lnTo>
                    <a:pt x="11712" y="1514"/>
                  </a:lnTo>
                  <a:lnTo>
                    <a:pt x="5616" y="5635"/>
                  </a:lnTo>
                  <a:lnTo>
                    <a:pt x="1506" y="11733"/>
                  </a:lnTo>
                  <a:lnTo>
                    <a:pt x="0" y="19176"/>
                  </a:lnTo>
                  <a:lnTo>
                    <a:pt x="0" y="441071"/>
                  </a:lnTo>
                  <a:lnTo>
                    <a:pt x="1506" y="448514"/>
                  </a:lnTo>
                  <a:lnTo>
                    <a:pt x="5616" y="454612"/>
                  </a:lnTo>
                  <a:lnTo>
                    <a:pt x="11712" y="458733"/>
                  </a:lnTo>
                  <a:lnTo>
                    <a:pt x="19177" y="460248"/>
                  </a:lnTo>
                  <a:lnTo>
                    <a:pt x="7649590" y="460248"/>
                  </a:lnTo>
                  <a:lnTo>
                    <a:pt x="7657034" y="458733"/>
                  </a:lnTo>
                  <a:lnTo>
                    <a:pt x="7663132" y="454612"/>
                  </a:lnTo>
                  <a:lnTo>
                    <a:pt x="7667253" y="448514"/>
                  </a:lnTo>
                  <a:lnTo>
                    <a:pt x="7668767" y="441071"/>
                  </a:lnTo>
                  <a:lnTo>
                    <a:pt x="7668767" y="19176"/>
                  </a:lnTo>
                  <a:lnTo>
                    <a:pt x="7667253" y="11733"/>
                  </a:lnTo>
                  <a:lnTo>
                    <a:pt x="7663132" y="5635"/>
                  </a:lnTo>
                  <a:lnTo>
                    <a:pt x="7657034" y="1514"/>
                  </a:lnTo>
                  <a:lnTo>
                    <a:pt x="764959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616" y="1412748"/>
              <a:ext cx="7668895" cy="460375"/>
            </a:xfrm>
            <a:custGeom>
              <a:avLst/>
              <a:gdLst/>
              <a:ahLst/>
              <a:cxnLst/>
              <a:rect l="l" t="t" r="r" b="b"/>
              <a:pathLst>
                <a:path w="7668895" h="460375">
                  <a:moveTo>
                    <a:pt x="0" y="19176"/>
                  </a:moveTo>
                  <a:lnTo>
                    <a:pt x="1506" y="11733"/>
                  </a:lnTo>
                  <a:lnTo>
                    <a:pt x="5616" y="5635"/>
                  </a:lnTo>
                  <a:lnTo>
                    <a:pt x="11712" y="1514"/>
                  </a:lnTo>
                  <a:lnTo>
                    <a:pt x="19177" y="0"/>
                  </a:lnTo>
                  <a:lnTo>
                    <a:pt x="7649590" y="0"/>
                  </a:lnTo>
                  <a:lnTo>
                    <a:pt x="7657034" y="1514"/>
                  </a:lnTo>
                  <a:lnTo>
                    <a:pt x="7663132" y="5635"/>
                  </a:lnTo>
                  <a:lnTo>
                    <a:pt x="7667253" y="11733"/>
                  </a:lnTo>
                  <a:lnTo>
                    <a:pt x="7668767" y="19176"/>
                  </a:lnTo>
                  <a:lnTo>
                    <a:pt x="7668767" y="441071"/>
                  </a:lnTo>
                  <a:lnTo>
                    <a:pt x="7667253" y="448514"/>
                  </a:lnTo>
                  <a:lnTo>
                    <a:pt x="7663132" y="454612"/>
                  </a:lnTo>
                  <a:lnTo>
                    <a:pt x="7657034" y="458733"/>
                  </a:lnTo>
                  <a:lnTo>
                    <a:pt x="7649590" y="460248"/>
                  </a:lnTo>
                  <a:lnTo>
                    <a:pt x="19177" y="460248"/>
                  </a:lnTo>
                  <a:lnTo>
                    <a:pt x="11712" y="458733"/>
                  </a:lnTo>
                  <a:lnTo>
                    <a:pt x="5616" y="454612"/>
                  </a:lnTo>
                  <a:lnTo>
                    <a:pt x="1506" y="448514"/>
                  </a:lnTo>
                  <a:lnTo>
                    <a:pt x="0" y="441071"/>
                  </a:lnTo>
                  <a:lnTo>
                    <a:pt x="0" y="1917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6760" y="3887724"/>
              <a:ext cx="7667625" cy="889000"/>
            </a:xfrm>
            <a:custGeom>
              <a:avLst/>
              <a:gdLst/>
              <a:ahLst/>
              <a:cxnLst/>
              <a:rect l="l" t="t" r="r" b="b"/>
              <a:pathLst>
                <a:path w="7667625" h="889000">
                  <a:moveTo>
                    <a:pt x="7630287" y="0"/>
                  </a:moveTo>
                  <a:lnTo>
                    <a:pt x="37020" y="0"/>
                  </a:lnTo>
                  <a:lnTo>
                    <a:pt x="22609" y="2917"/>
                  </a:lnTo>
                  <a:lnTo>
                    <a:pt x="10842" y="10858"/>
                  </a:lnTo>
                  <a:lnTo>
                    <a:pt x="2909" y="22609"/>
                  </a:lnTo>
                  <a:lnTo>
                    <a:pt x="0" y="36956"/>
                  </a:lnTo>
                  <a:lnTo>
                    <a:pt x="0" y="851534"/>
                  </a:lnTo>
                  <a:lnTo>
                    <a:pt x="2909" y="865882"/>
                  </a:lnTo>
                  <a:lnTo>
                    <a:pt x="10842" y="877633"/>
                  </a:lnTo>
                  <a:lnTo>
                    <a:pt x="22609" y="885574"/>
                  </a:lnTo>
                  <a:lnTo>
                    <a:pt x="37020" y="888492"/>
                  </a:lnTo>
                  <a:lnTo>
                    <a:pt x="7630287" y="888492"/>
                  </a:lnTo>
                  <a:lnTo>
                    <a:pt x="7644634" y="885574"/>
                  </a:lnTo>
                  <a:lnTo>
                    <a:pt x="7656385" y="877633"/>
                  </a:lnTo>
                  <a:lnTo>
                    <a:pt x="7664326" y="865882"/>
                  </a:lnTo>
                  <a:lnTo>
                    <a:pt x="7667244" y="851534"/>
                  </a:lnTo>
                  <a:lnTo>
                    <a:pt x="7667244" y="36956"/>
                  </a:lnTo>
                  <a:lnTo>
                    <a:pt x="7664326" y="22609"/>
                  </a:lnTo>
                  <a:lnTo>
                    <a:pt x="7656385" y="10858"/>
                  </a:lnTo>
                  <a:lnTo>
                    <a:pt x="7644634" y="2917"/>
                  </a:lnTo>
                  <a:lnTo>
                    <a:pt x="7630287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6760" y="3887724"/>
              <a:ext cx="7667625" cy="889000"/>
            </a:xfrm>
            <a:custGeom>
              <a:avLst/>
              <a:gdLst/>
              <a:ahLst/>
              <a:cxnLst/>
              <a:rect l="l" t="t" r="r" b="b"/>
              <a:pathLst>
                <a:path w="7667625" h="889000">
                  <a:moveTo>
                    <a:pt x="0" y="36956"/>
                  </a:moveTo>
                  <a:lnTo>
                    <a:pt x="2909" y="22609"/>
                  </a:lnTo>
                  <a:lnTo>
                    <a:pt x="10842" y="10858"/>
                  </a:lnTo>
                  <a:lnTo>
                    <a:pt x="22609" y="2917"/>
                  </a:lnTo>
                  <a:lnTo>
                    <a:pt x="37020" y="0"/>
                  </a:lnTo>
                  <a:lnTo>
                    <a:pt x="7630287" y="0"/>
                  </a:lnTo>
                  <a:lnTo>
                    <a:pt x="7644634" y="2917"/>
                  </a:lnTo>
                  <a:lnTo>
                    <a:pt x="7656385" y="10858"/>
                  </a:lnTo>
                  <a:lnTo>
                    <a:pt x="7664326" y="22609"/>
                  </a:lnTo>
                  <a:lnTo>
                    <a:pt x="7667244" y="36956"/>
                  </a:lnTo>
                  <a:lnTo>
                    <a:pt x="7667244" y="851534"/>
                  </a:lnTo>
                  <a:lnTo>
                    <a:pt x="7664326" y="865882"/>
                  </a:lnTo>
                  <a:lnTo>
                    <a:pt x="7656385" y="877633"/>
                  </a:lnTo>
                  <a:lnTo>
                    <a:pt x="7644634" y="885574"/>
                  </a:lnTo>
                  <a:lnTo>
                    <a:pt x="7630287" y="888492"/>
                  </a:lnTo>
                  <a:lnTo>
                    <a:pt x="37020" y="888492"/>
                  </a:lnTo>
                  <a:lnTo>
                    <a:pt x="22609" y="885574"/>
                  </a:lnTo>
                  <a:lnTo>
                    <a:pt x="10842" y="877633"/>
                  </a:lnTo>
                  <a:lnTo>
                    <a:pt x="2909" y="865882"/>
                  </a:lnTo>
                  <a:lnTo>
                    <a:pt x="0" y="851534"/>
                  </a:lnTo>
                  <a:lnTo>
                    <a:pt x="0" y="3695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2756" y="1495171"/>
            <a:ext cx="7454265" cy="317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NPS </a:t>
            </a:r>
            <a:r>
              <a:rPr sz="1600" b="1" spc="-10" dirty="0">
                <a:latin typeface="Verdana"/>
                <a:cs typeface="Verdana"/>
              </a:rPr>
              <a:t>is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RADIUS</a:t>
            </a:r>
            <a:r>
              <a:rPr sz="1600" b="1" spc="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6699"/>
              </a:buClr>
              <a:buFont typeface="Verdana"/>
              <a:buChar char="•"/>
            </a:pPr>
            <a:endParaRPr sz="2300">
              <a:latin typeface="Verdana"/>
              <a:cs typeface="Verdana"/>
            </a:endParaRPr>
          </a:p>
          <a:p>
            <a:pPr marL="25717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257810" algn="l"/>
              </a:tabLst>
            </a:pPr>
            <a:r>
              <a:rPr sz="1600" b="1" spc="-10" dirty="0">
                <a:latin typeface="Verdana"/>
                <a:cs typeface="Verdana"/>
              </a:rPr>
              <a:t>RADIUS clients </a:t>
            </a:r>
            <a:r>
              <a:rPr sz="1600" b="1" spc="-5" dirty="0">
                <a:latin typeface="Verdana"/>
                <a:cs typeface="Verdana"/>
              </a:rPr>
              <a:t>are </a:t>
            </a:r>
            <a:r>
              <a:rPr sz="1600" b="1" spc="-10" dirty="0">
                <a:latin typeface="Verdana"/>
                <a:cs typeface="Verdana"/>
              </a:rPr>
              <a:t>network </a:t>
            </a:r>
            <a:r>
              <a:rPr sz="1600" b="1" spc="-5" dirty="0">
                <a:latin typeface="Verdana"/>
                <a:cs typeface="Verdana"/>
              </a:rPr>
              <a:t>access </a:t>
            </a:r>
            <a:r>
              <a:rPr sz="1600" b="1" spc="-10" dirty="0">
                <a:latin typeface="Verdana"/>
                <a:cs typeface="Verdana"/>
              </a:rPr>
              <a:t>servers, such</a:t>
            </a:r>
            <a:r>
              <a:rPr sz="1600" b="1" spc="18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as:</a:t>
            </a:r>
            <a:endParaRPr sz="1600">
              <a:latin typeface="Verdana"/>
              <a:cs typeface="Verdana"/>
            </a:endParaRPr>
          </a:p>
          <a:p>
            <a:pPr marL="720725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721360" algn="l"/>
              </a:tabLst>
            </a:pPr>
            <a:r>
              <a:rPr sz="1600" spc="-5" dirty="0">
                <a:latin typeface="Verdana"/>
                <a:cs typeface="Verdana"/>
              </a:rPr>
              <a:t>Wireless access</a:t>
            </a:r>
            <a:r>
              <a:rPr sz="1600" spc="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points</a:t>
            </a:r>
            <a:endParaRPr sz="1600">
              <a:latin typeface="Verdana"/>
              <a:cs typeface="Verdana"/>
            </a:endParaRPr>
          </a:p>
          <a:p>
            <a:pPr marL="720725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721360" algn="l"/>
              </a:tabLst>
            </a:pPr>
            <a:r>
              <a:rPr sz="1600" dirty="0">
                <a:latin typeface="Verdana"/>
                <a:cs typeface="Verdana"/>
              </a:rPr>
              <a:t>802.1x </a:t>
            </a:r>
            <a:r>
              <a:rPr sz="1600" spc="-5" dirty="0">
                <a:latin typeface="Verdana"/>
                <a:cs typeface="Verdana"/>
              </a:rPr>
              <a:t>authenticating</a:t>
            </a:r>
            <a:r>
              <a:rPr sz="1600" spc="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switches</a:t>
            </a:r>
            <a:endParaRPr sz="1600">
              <a:latin typeface="Verdana"/>
              <a:cs typeface="Verdana"/>
            </a:endParaRPr>
          </a:p>
          <a:p>
            <a:pPr marL="720725" lvl="1" indent="-235585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Char char="•"/>
              <a:tabLst>
                <a:tab pos="721360" algn="l"/>
              </a:tabLst>
            </a:pPr>
            <a:r>
              <a:rPr sz="1600" spc="-5" dirty="0">
                <a:latin typeface="Verdana"/>
                <a:cs typeface="Verdana"/>
              </a:rPr>
              <a:t>VPN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servers</a:t>
            </a:r>
            <a:endParaRPr sz="1600">
              <a:latin typeface="Verdana"/>
              <a:cs typeface="Verdana"/>
            </a:endParaRPr>
          </a:p>
          <a:p>
            <a:pPr marL="720725" lvl="1" indent="-235585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721360" algn="l"/>
              </a:tabLst>
            </a:pPr>
            <a:r>
              <a:rPr sz="1600" spc="-10" dirty="0">
                <a:latin typeface="Verdana"/>
                <a:cs typeface="Verdana"/>
              </a:rPr>
              <a:t>Dial-up</a:t>
            </a:r>
            <a:r>
              <a:rPr sz="1600" spc="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servers</a:t>
            </a:r>
            <a:endParaRPr sz="16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006699"/>
              </a:buClr>
              <a:buFont typeface="Verdana"/>
              <a:buChar char="•"/>
            </a:pPr>
            <a:endParaRPr sz="2450">
              <a:latin typeface="Verdana"/>
              <a:cs typeface="Verdana"/>
            </a:endParaRPr>
          </a:p>
          <a:p>
            <a:pPr marL="254000" marR="5080" indent="-228600">
              <a:lnSpc>
                <a:spcPct val="90100"/>
              </a:lnSpc>
              <a:buClr>
                <a:srgbClr val="006699"/>
              </a:buClr>
              <a:buFont typeface="Verdana"/>
              <a:buChar char="•"/>
              <a:tabLst>
                <a:tab pos="254635" algn="l"/>
              </a:tabLst>
            </a:pPr>
            <a:r>
              <a:rPr sz="1600" b="1" spc="-10" dirty="0">
                <a:latin typeface="Verdana"/>
                <a:cs typeface="Verdana"/>
              </a:rPr>
              <a:t>RADIUS clients send connection requests </a:t>
            </a:r>
            <a:r>
              <a:rPr sz="1600" b="1" spc="-5" dirty="0">
                <a:latin typeface="Verdana"/>
                <a:cs typeface="Verdana"/>
              </a:rPr>
              <a:t>and </a:t>
            </a:r>
            <a:r>
              <a:rPr sz="1600" b="1" spc="-10" dirty="0">
                <a:latin typeface="Verdana"/>
                <a:cs typeface="Verdana"/>
              </a:rPr>
              <a:t>accounting  messages </a:t>
            </a:r>
            <a:r>
              <a:rPr sz="1600" b="1" spc="-5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RADIUS servers for authentication, </a:t>
            </a:r>
            <a:r>
              <a:rPr sz="1600" b="1" spc="-5" dirty="0">
                <a:latin typeface="Verdana"/>
                <a:cs typeface="Verdana"/>
              </a:rPr>
              <a:t>authorization,  and</a:t>
            </a:r>
            <a:r>
              <a:rPr sz="1600" b="1" spc="1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accounting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968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</a:t>
            </a:r>
            <a:r>
              <a:rPr spc="-5" dirty="0"/>
              <a:t>RADIUS</a:t>
            </a:r>
            <a:r>
              <a:rPr dirty="0"/>
              <a:t> </a:t>
            </a:r>
            <a:r>
              <a:rPr spc="-5" dirty="0"/>
              <a:t>Proxy?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2167127"/>
            <a:ext cx="7863840" cy="3942715"/>
            <a:chOff x="640080" y="2167127"/>
            <a:chExt cx="7863840" cy="3942715"/>
          </a:xfrm>
        </p:grpSpPr>
        <p:sp>
          <p:nvSpPr>
            <p:cNvPr id="4" name="object 4"/>
            <p:cNvSpPr/>
            <p:nvPr/>
          </p:nvSpPr>
          <p:spPr>
            <a:xfrm>
              <a:off x="644652" y="2171699"/>
              <a:ext cx="7854950" cy="3933825"/>
            </a:xfrm>
            <a:custGeom>
              <a:avLst/>
              <a:gdLst/>
              <a:ahLst/>
              <a:cxnLst/>
              <a:rect l="l" t="t" r="r" b="b"/>
              <a:pathLst>
                <a:path w="7854950" h="3933825">
                  <a:moveTo>
                    <a:pt x="7690739" y="0"/>
                  </a:moveTo>
                  <a:lnTo>
                    <a:pt x="163906" y="0"/>
                  </a:lnTo>
                  <a:lnTo>
                    <a:pt x="120332" y="5856"/>
                  </a:lnTo>
                  <a:lnTo>
                    <a:pt x="81178" y="22384"/>
                  </a:lnTo>
                  <a:lnTo>
                    <a:pt x="48006" y="48021"/>
                  </a:lnTo>
                  <a:lnTo>
                    <a:pt x="22377" y="81204"/>
                  </a:lnTo>
                  <a:lnTo>
                    <a:pt x="5854" y="120370"/>
                  </a:lnTo>
                  <a:lnTo>
                    <a:pt x="0" y="163957"/>
                  </a:lnTo>
                  <a:lnTo>
                    <a:pt x="0" y="3769537"/>
                  </a:lnTo>
                  <a:lnTo>
                    <a:pt x="5854" y="3813111"/>
                  </a:lnTo>
                  <a:lnTo>
                    <a:pt x="22377" y="3852265"/>
                  </a:lnTo>
                  <a:lnTo>
                    <a:pt x="48006" y="3885438"/>
                  </a:lnTo>
                  <a:lnTo>
                    <a:pt x="81178" y="3911066"/>
                  </a:lnTo>
                  <a:lnTo>
                    <a:pt x="120332" y="3927589"/>
                  </a:lnTo>
                  <a:lnTo>
                    <a:pt x="163906" y="3933444"/>
                  </a:lnTo>
                  <a:lnTo>
                    <a:pt x="7690739" y="3933444"/>
                  </a:lnTo>
                  <a:lnTo>
                    <a:pt x="7734325" y="3927589"/>
                  </a:lnTo>
                  <a:lnTo>
                    <a:pt x="7773491" y="3911066"/>
                  </a:lnTo>
                  <a:lnTo>
                    <a:pt x="7806674" y="3885438"/>
                  </a:lnTo>
                  <a:lnTo>
                    <a:pt x="7832311" y="3852265"/>
                  </a:lnTo>
                  <a:lnTo>
                    <a:pt x="7848839" y="3813111"/>
                  </a:lnTo>
                  <a:lnTo>
                    <a:pt x="7854696" y="3769537"/>
                  </a:lnTo>
                  <a:lnTo>
                    <a:pt x="7854696" y="163957"/>
                  </a:lnTo>
                  <a:lnTo>
                    <a:pt x="7848839" y="120370"/>
                  </a:lnTo>
                  <a:lnTo>
                    <a:pt x="7832311" y="81204"/>
                  </a:lnTo>
                  <a:lnTo>
                    <a:pt x="7806674" y="48021"/>
                  </a:lnTo>
                  <a:lnTo>
                    <a:pt x="7773491" y="22384"/>
                  </a:lnTo>
                  <a:lnTo>
                    <a:pt x="7734325" y="5856"/>
                  </a:lnTo>
                  <a:lnTo>
                    <a:pt x="7690739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2171699"/>
              <a:ext cx="7854950" cy="3933825"/>
            </a:xfrm>
            <a:custGeom>
              <a:avLst/>
              <a:gdLst/>
              <a:ahLst/>
              <a:cxnLst/>
              <a:rect l="l" t="t" r="r" b="b"/>
              <a:pathLst>
                <a:path w="7854950" h="3933825">
                  <a:moveTo>
                    <a:pt x="0" y="163957"/>
                  </a:moveTo>
                  <a:lnTo>
                    <a:pt x="5854" y="120370"/>
                  </a:lnTo>
                  <a:lnTo>
                    <a:pt x="22377" y="81204"/>
                  </a:lnTo>
                  <a:lnTo>
                    <a:pt x="48006" y="48021"/>
                  </a:lnTo>
                  <a:lnTo>
                    <a:pt x="81178" y="22384"/>
                  </a:lnTo>
                  <a:lnTo>
                    <a:pt x="120332" y="5856"/>
                  </a:lnTo>
                  <a:lnTo>
                    <a:pt x="163906" y="0"/>
                  </a:lnTo>
                  <a:lnTo>
                    <a:pt x="7690739" y="0"/>
                  </a:lnTo>
                  <a:lnTo>
                    <a:pt x="7734325" y="5856"/>
                  </a:lnTo>
                  <a:lnTo>
                    <a:pt x="7773491" y="22384"/>
                  </a:lnTo>
                  <a:lnTo>
                    <a:pt x="7806674" y="48021"/>
                  </a:lnTo>
                  <a:lnTo>
                    <a:pt x="7832311" y="81204"/>
                  </a:lnTo>
                  <a:lnTo>
                    <a:pt x="7848839" y="120370"/>
                  </a:lnTo>
                  <a:lnTo>
                    <a:pt x="7854696" y="163957"/>
                  </a:lnTo>
                  <a:lnTo>
                    <a:pt x="7854696" y="3769537"/>
                  </a:lnTo>
                  <a:lnTo>
                    <a:pt x="7848839" y="3813111"/>
                  </a:lnTo>
                  <a:lnTo>
                    <a:pt x="7832311" y="3852265"/>
                  </a:lnTo>
                  <a:lnTo>
                    <a:pt x="7806674" y="3885438"/>
                  </a:lnTo>
                  <a:lnTo>
                    <a:pt x="7773491" y="3911066"/>
                  </a:lnTo>
                  <a:lnTo>
                    <a:pt x="7734325" y="3927589"/>
                  </a:lnTo>
                  <a:lnTo>
                    <a:pt x="7690739" y="3933444"/>
                  </a:lnTo>
                  <a:lnTo>
                    <a:pt x="163906" y="3933444"/>
                  </a:lnTo>
                  <a:lnTo>
                    <a:pt x="120332" y="3927589"/>
                  </a:lnTo>
                  <a:lnTo>
                    <a:pt x="81178" y="3911066"/>
                  </a:lnTo>
                  <a:lnTo>
                    <a:pt x="48006" y="3885438"/>
                  </a:lnTo>
                  <a:lnTo>
                    <a:pt x="22377" y="3852265"/>
                  </a:lnTo>
                  <a:lnTo>
                    <a:pt x="5854" y="3813111"/>
                  </a:lnTo>
                  <a:lnTo>
                    <a:pt x="0" y="3769537"/>
                  </a:lnTo>
                  <a:lnTo>
                    <a:pt x="0" y="16395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2662427"/>
              <a:ext cx="7065645" cy="554990"/>
            </a:xfrm>
            <a:custGeom>
              <a:avLst/>
              <a:gdLst/>
              <a:ahLst/>
              <a:cxnLst/>
              <a:rect l="l" t="t" r="r" b="b"/>
              <a:pathLst>
                <a:path w="7065645" h="554989">
                  <a:moveTo>
                    <a:pt x="7042150" y="0"/>
                  </a:moveTo>
                  <a:lnTo>
                    <a:pt x="23113" y="0"/>
                  </a:lnTo>
                  <a:lnTo>
                    <a:pt x="14117" y="1807"/>
                  </a:lnTo>
                  <a:lnTo>
                    <a:pt x="6770" y="6746"/>
                  </a:lnTo>
                  <a:lnTo>
                    <a:pt x="1816" y="14091"/>
                  </a:lnTo>
                  <a:lnTo>
                    <a:pt x="0" y="23113"/>
                  </a:lnTo>
                  <a:lnTo>
                    <a:pt x="0" y="531622"/>
                  </a:lnTo>
                  <a:lnTo>
                    <a:pt x="1816" y="540591"/>
                  </a:lnTo>
                  <a:lnTo>
                    <a:pt x="6770" y="547941"/>
                  </a:lnTo>
                  <a:lnTo>
                    <a:pt x="14117" y="552910"/>
                  </a:lnTo>
                  <a:lnTo>
                    <a:pt x="23113" y="554736"/>
                  </a:lnTo>
                  <a:lnTo>
                    <a:pt x="7042150" y="554736"/>
                  </a:lnTo>
                  <a:lnTo>
                    <a:pt x="7051119" y="552910"/>
                  </a:lnTo>
                  <a:lnTo>
                    <a:pt x="7058469" y="547941"/>
                  </a:lnTo>
                  <a:lnTo>
                    <a:pt x="7063438" y="540591"/>
                  </a:lnTo>
                  <a:lnTo>
                    <a:pt x="7065263" y="531622"/>
                  </a:lnTo>
                  <a:lnTo>
                    <a:pt x="7065263" y="23113"/>
                  </a:lnTo>
                  <a:lnTo>
                    <a:pt x="7063438" y="14091"/>
                  </a:lnTo>
                  <a:lnTo>
                    <a:pt x="7058469" y="6746"/>
                  </a:lnTo>
                  <a:lnTo>
                    <a:pt x="7051119" y="1807"/>
                  </a:lnTo>
                  <a:lnTo>
                    <a:pt x="704215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2662427"/>
              <a:ext cx="7065645" cy="554990"/>
            </a:xfrm>
            <a:custGeom>
              <a:avLst/>
              <a:gdLst/>
              <a:ahLst/>
              <a:cxnLst/>
              <a:rect l="l" t="t" r="r" b="b"/>
              <a:pathLst>
                <a:path w="7065645" h="554989">
                  <a:moveTo>
                    <a:pt x="0" y="23113"/>
                  </a:moveTo>
                  <a:lnTo>
                    <a:pt x="1816" y="14091"/>
                  </a:lnTo>
                  <a:lnTo>
                    <a:pt x="6770" y="6746"/>
                  </a:lnTo>
                  <a:lnTo>
                    <a:pt x="14117" y="1807"/>
                  </a:lnTo>
                  <a:lnTo>
                    <a:pt x="23113" y="0"/>
                  </a:lnTo>
                  <a:lnTo>
                    <a:pt x="7042150" y="0"/>
                  </a:lnTo>
                  <a:lnTo>
                    <a:pt x="7051119" y="1807"/>
                  </a:lnTo>
                  <a:lnTo>
                    <a:pt x="7058469" y="6746"/>
                  </a:lnTo>
                  <a:lnTo>
                    <a:pt x="7063438" y="14091"/>
                  </a:lnTo>
                  <a:lnTo>
                    <a:pt x="7065263" y="23113"/>
                  </a:lnTo>
                  <a:lnTo>
                    <a:pt x="7065263" y="531622"/>
                  </a:lnTo>
                  <a:lnTo>
                    <a:pt x="7063438" y="540591"/>
                  </a:lnTo>
                  <a:lnTo>
                    <a:pt x="7058469" y="547941"/>
                  </a:lnTo>
                  <a:lnTo>
                    <a:pt x="7051119" y="552910"/>
                  </a:lnTo>
                  <a:lnTo>
                    <a:pt x="7042150" y="554736"/>
                  </a:lnTo>
                  <a:lnTo>
                    <a:pt x="23113" y="554736"/>
                  </a:lnTo>
                  <a:lnTo>
                    <a:pt x="14117" y="552910"/>
                  </a:lnTo>
                  <a:lnTo>
                    <a:pt x="6770" y="547941"/>
                  </a:lnTo>
                  <a:lnTo>
                    <a:pt x="1816" y="540591"/>
                  </a:lnTo>
                  <a:lnTo>
                    <a:pt x="0" y="531622"/>
                  </a:lnTo>
                  <a:lnTo>
                    <a:pt x="0" y="2311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3329939"/>
              <a:ext cx="7065645" cy="558165"/>
            </a:xfrm>
            <a:custGeom>
              <a:avLst/>
              <a:gdLst/>
              <a:ahLst/>
              <a:cxnLst/>
              <a:rect l="l" t="t" r="r" b="b"/>
              <a:pathLst>
                <a:path w="7065645" h="558164">
                  <a:moveTo>
                    <a:pt x="7042023" y="0"/>
                  </a:moveTo>
                  <a:lnTo>
                    <a:pt x="23240" y="0"/>
                  </a:lnTo>
                  <a:lnTo>
                    <a:pt x="14192" y="1827"/>
                  </a:lnTo>
                  <a:lnTo>
                    <a:pt x="6805" y="6810"/>
                  </a:lnTo>
                  <a:lnTo>
                    <a:pt x="1825" y="14198"/>
                  </a:lnTo>
                  <a:lnTo>
                    <a:pt x="0" y="23240"/>
                  </a:lnTo>
                  <a:lnTo>
                    <a:pt x="0" y="534543"/>
                  </a:lnTo>
                  <a:lnTo>
                    <a:pt x="1825" y="543585"/>
                  </a:lnTo>
                  <a:lnTo>
                    <a:pt x="6805" y="550973"/>
                  </a:lnTo>
                  <a:lnTo>
                    <a:pt x="14192" y="555956"/>
                  </a:lnTo>
                  <a:lnTo>
                    <a:pt x="23240" y="557784"/>
                  </a:lnTo>
                  <a:lnTo>
                    <a:pt x="7042023" y="557784"/>
                  </a:lnTo>
                  <a:lnTo>
                    <a:pt x="7051065" y="555956"/>
                  </a:lnTo>
                  <a:lnTo>
                    <a:pt x="7058453" y="550973"/>
                  </a:lnTo>
                  <a:lnTo>
                    <a:pt x="7063436" y="543585"/>
                  </a:lnTo>
                  <a:lnTo>
                    <a:pt x="7065263" y="534543"/>
                  </a:lnTo>
                  <a:lnTo>
                    <a:pt x="7065263" y="23240"/>
                  </a:lnTo>
                  <a:lnTo>
                    <a:pt x="7063436" y="14198"/>
                  </a:lnTo>
                  <a:lnTo>
                    <a:pt x="7058453" y="6810"/>
                  </a:lnTo>
                  <a:lnTo>
                    <a:pt x="7051065" y="1827"/>
                  </a:lnTo>
                  <a:lnTo>
                    <a:pt x="704202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3329939"/>
              <a:ext cx="7065645" cy="558165"/>
            </a:xfrm>
            <a:custGeom>
              <a:avLst/>
              <a:gdLst/>
              <a:ahLst/>
              <a:cxnLst/>
              <a:rect l="l" t="t" r="r" b="b"/>
              <a:pathLst>
                <a:path w="7065645" h="558164">
                  <a:moveTo>
                    <a:pt x="0" y="23240"/>
                  </a:moveTo>
                  <a:lnTo>
                    <a:pt x="1825" y="14198"/>
                  </a:lnTo>
                  <a:lnTo>
                    <a:pt x="6805" y="6810"/>
                  </a:lnTo>
                  <a:lnTo>
                    <a:pt x="14192" y="1827"/>
                  </a:lnTo>
                  <a:lnTo>
                    <a:pt x="23240" y="0"/>
                  </a:lnTo>
                  <a:lnTo>
                    <a:pt x="7042023" y="0"/>
                  </a:lnTo>
                  <a:lnTo>
                    <a:pt x="7051065" y="1827"/>
                  </a:lnTo>
                  <a:lnTo>
                    <a:pt x="7058453" y="6810"/>
                  </a:lnTo>
                  <a:lnTo>
                    <a:pt x="7063436" y="14198"/>
                  </a:lnTo>
                  <a:lnTo>
                    <a:pt x="7065263" y="23240"/>
                  </a:lnTo>
                  <a:lnTo>
                    <a:pt x="7065263" y="534543"/>
                  </a:lnTo>
                  <a:lnTo>
                    <a:pt x="7063436" y="543585"/>
                  </a:lnTo>
                  <a:lnTo>
                    <a:pt x="7058453" y="550973"/>
                  </a:lnTo>
                  <a:lnTo>
                    <a:pt x="7051065" y="555956"/>
                  </a:lnTo>
                  <a:lnTo>
                    <a:pt x="7042023" y="557784"/>
                  </a:lnTo>
                  <a:lnTo>
                    <a:pt x="23240" y="557784"/>
                  </a:lnTo>
                  <a:lnTo>
                    <a:pt x="14192" y="555956"/>
                  </a:lnTo>
                  <a:lnTo>
                    <a:pt x="6805" y="550973"/>
                  </a:lnTo>
                  <a:lnTo>
                    <a:pt x="1825" y="543585"/>
                  </a:lnTo>
                  <a:lnTo>
                    <a:pt x="0" y="534543"/>
                  </a:lnTo>
                  <a:lnTo>
                    <a:pt x="0" y="2324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20" y="4003548"/>
              <a:ext cx="7065645" cy="558165"/>
            </a:xfrm>
            <a:custGeom>
              <a:avLst/>
              <a:gdLst/>
              <a:ahLst/>
              <a:cxnLst/>
              <a:rect l="l" t="t" r="r" b="b"/>
              <a:pathLst>
                <a:path w="7065645" h="558164">
                  <a:moveTo>
                    <a:pt x="7042023" y="0"/>
                  </a:moveTo>
                  <a:lnTo>
                    <a:pt x="23241" y="0"/>
                  </a:lnTo>
                  <a:lnTo>
                    <a:pt x="14192" y="1827"/>
                  </a:lnTo>
                  <a:lnTo>
                    <a:pt x="6805" y="6810"/>
                  </a:lnTo>
                  <a:lnTo>
                    <a:pt x="1825" y="14198"/>
                  </a:lnTo>
                  <a:lnTo>
                    <a:pt x="0" y="23240"/>
                  </a:lnTo>
                  <a:lnTo>
                    <a:pt x="0" y="534543"/>
                  </a:lnTo>
                  <a:lnTo>
                    <a:pt x="1825" y="543585"/>
                  </a:lnTo>
                  <a:lnTo>
                    <a:pt x="6805" y="550973"/>
                  </a:lnTo>
                  <a:lnTo>
                    <a:pt x="14192" y="555956"/>
                  </a:lnTo>
                  <a:lnTo>
                    <a:pt x="23241" y="557783"/>
                  </a:lnTo>
                  <a:lnTo>
                    <a:pt x="7042023" y="557783"/>
                  </a:lnTo>
                  <a:lnTo>
                    <a:pt x="7051065" y="555956"/>
                  </a:lnTo>
                  <a:lnTo>
                    <a:pt x="7058453" y="550973"/>
                  </a:lnTo>
                  <a:lnTo>
                    <a:pt x="7063436" y="543585"/>
                  </a:lnTo>
                  <a:lnTo>
                    <a:pt x="7065263" y="534543"/>
                  </a:lnTo>
                  <a:lnTo>
                    <a:pt x="7065263" y="23240"/>
                  </a:lnTo>
                  <a:lnTo>
                    <a:pt x="7063436" y="14198"/>
                  </a:lnTo>
                  <a:lnTo>
                    <a:pt x="7058453" y="6810"/>
                  </a:lnTo>
                  <a:lnTo>
                    <a:pt x="7051065" y="1827"/>
                  </a:lnTo>
                  <a:lnTo>
                    <a:pt x="704202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20" y="4003548"/>
              <a:ext cx="7065645" cy="558165"/>
            </a:xfrm>
            <a:custGeom>
              <a:avLst/>
              <a:gdLst/>
              <a:ahLst/>
              <a:cxnLst/>
              <a:rect l="l" t="t" r="r" b="b"/>
              <a:pathLst>
                <a:path w="7065645" h="558164">
                  <a:moveTo>
                    <a:pt x="0" y="23240"/>
                  </a:moveTo>
                  <a:lnTo>
                    <a:pt x="1825" y="14198"/>
                  </a:lnTo>
                  <a:lnTo>
                    <a:pt x="6805" y="6810"/>
                  </a:lnTo>
                  <a:lnTo>
                    <a:pt x="14192" y="1827"/>
                  </a:lnTo>
                  <a:lnTo>
                    <a:pt x="23241" y="0"/>
                  </a:lnTo>
                  <a:lnTo>
                    <a:pt x="7042023" y="0"/>
                  </a:lnTo>
                  <a:lnTo>
                    <a:pt x="7051065" y="1827"/>
                  </a:lnTo>
                  <a:lnTo>
                    <a:pt x="7058453" y="6810"/>
                  </a:lnTo>
                  <a:lnTo>
                    <a:pt x="7063436" y="14198"/>
                  </a:lnTo>
                  <a:lnTo>
                    <a:pt x="7065263" y="23240"/>
                  </a:lnTo>
                  <a:lnTo>
                    <a:pt x="7065263" y="534543"/>
                  </a:lnTo>
                  <a:lnTo>
                    <a:pt x="7063436" y="543585"/>
                  </a:lnTo>
                  <a:lnTo>
                    <a:pt x="7058453" y="550973"/>
                  </a:lnTo>
                  <a:lnTo>
                    <a:pt x="7051065" y="555956"/>
                  </a:lnTo>
                  <a:lnTo>
                    <a:pt x="7042023" y="557783"/>
                  </a:lnTo>
                  <a:lnTo>
                    <a:pt x="23241" y="557783"/>
                  </a:lnTo>
                  <a:lnTo>
                    <a:pt x="14192" y="555956"/>
                  </a:lnTo>
                  <a:lnTo>
                    <a:pt x="6805" y="550973"/>
                  </a:lnTo>
                  <a:lnTo>
                    <a:pt x="1825" y="543585"/>
                  </a:lnTo>
                  <a:lnTo>
                    <a:pt x="0" y="534543"/>
                  </a:lnTo>
                  <a:lnTo>
                    <a:pt x="0" y="2324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6320" y="4677155"/>
              <a:ext cx="7065645" cy="556260"/>
            </a:xfrm>
            <a:custGeom>
              <a:avLst/>
              <a:gdLst/>
              <a:ahLst/>
              <a:cxnLst/>
              <a:rect l="l" t="t" r="r" b="b"/>
              <a:pathLst>
                <a:path w="7065645" h="556260">
                  <a:moveTo>
                    <a:pt x="7042023" y="0"/>
                  </a:moveTo>
                  <a:lnTo>
                    <a:pt x="23177" y="0"/>
                  </a:lnTo>
                  <a:lnTo>
                    <a:pt x="14155" y="1827"/>
                  </a:lnTo>
                  <a:lnTo>
                    <a:pt x="6788" y="6810"/>
                  </a:lnTo>
                  <a:lnTo>
                    <a:pt x="1821" y="14198"/>
                  </a:lnTo>
                  <a:lnTo>
                    <a:pt x="0" y="23241"/>
                  </a:lnTo>
                  <a:lnTo>
                    <a:pt x="0" y="533019"/>
                  </a:lnTo>
                  <a:lnTo>
                    <a:pt x="1821" y="542061"/>
                  </a:lnTo>
                  <a:lnTo>
                    <a:pt x="6788" y="549449"/>
                  </a:lnTo>
                  <a:lnTo>
                    <a:pt x="14155" y="554432"/>
                  </a:lnTo>
                  <a:lnTo>
                    <a:pt x="23177" y="556260"/>
                  </a:lnTo>
                  <a:lnTo>
                    <a:pt x="7042023" y="556260"/>
                  </a:lnTo>
                  <a:lnTo>
                    <a:pt x="7051065" y="554432"/>
                  </a:lnTo>
                  <a:lnTo>
                    <a:pt x="7058453" y="549449"/>
                  </a:lnTo>
                  <a:lnTo>
                    <a:pt x="7063436" y="542061"/>
                  </a:lnTo>
                  <a:lnTo>
                    <a:pt x="7065263" y="533019"/>
                  </a:lnTo>
                  <a:lnTo>
                    <a:pt x="7065263" y="23241"/>
                  </a:lnTo>
                  <a:lnTo>
                    <a:pt x="7063436" y="14198"/>
                  </a:lnTo>
                  <a:lnTo>
                    <a:pt x="7058453" y="6810"/>
                  </a:lnTo>
                  <a:lnTo>
                    <a:pt x="7051065" y="1827"/>
                  </a:lnTo>
                  <a:lnTo>
                    <a:pt x="704202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6320" y="4677155"/>
              <a:ext cx="7065645" cy="556260"/>
            </a:xfrm>
            <a:custGeom>
              <a:avLst/>
              <a:gdLst/>
              <a:ahLst/>
              <a:cxnLst/>
              <a:rect l="l" t="t" r="r" b="b"/>
              <a:pathLst>
                <a:path w="7065645" h="556260">
                  <a:moveTo>
                    <a:pt x="0" y="23241"/>
                  </a:moveTo>
                  <a:lnTo>
                    <a:pt x="1821" y="14198"/>
                  </a:lnTo>
                  <a:lnTo>
                    <a:pt x="6788" y="6810"/>
                  </a:lnTo>
                  <a:lnTo>
                    <a:pt x="14155" y="1827"/>
                  </a:lnTo>
                  <a:lnTo>
                    <a:pt x="23177" y="0"/>
                  </a:lnTo>
                  <a:lnTo>
                    <a:pt x="7042023" y="0"/>
                  </a:lnTo>
                  <a:lnTo>
                    <a:pt x="7051065" y="1827"/>
                  </a:lnTo>
                  <a:lnTo>
                    <a:pt x="7058453" y="6810"/>
                  </a:lnTo>
                  <a:lnTo>
                    <a:pt x="7063436" y="14198"/>
                  </a:lnTo>
                  <a:lnTo>
                    <a:pt x="7065263" y="23241"/>
                  </a:lnTo>
                  <a:lnTo>
                    <a:pt x="7065263" y="533019"/>
                  </a:lnTo>
                  <a:lnTo>
                    <a:pt x="7063436" y="542061"/>
                  </a:lnTo>
                  <a:lnTo>
                    <a:pt x="7058453" y="549449"/>
                  </a:lnTo>
                  <a:lnTo>
                    <a:pt x="7051065" y="554432"/>
                  </a:lnTo>
                  <a:lnTo>
                    <a:pt x="7042023" y="556260"/>
                  </a:lnTo>
                  <a:lnTo>
                    <a:pt x="23177" y="556260"/>
                  </a:lnTo>
                  <a:lnTo>
                    <a:pt x="14155" y="554432"/>
                  </a:lnTo>
                  <a:lnTo>
                    <a:pt x="6788" y="549449"/>
                  </a:lnTo>
                  <a:lnTo>
                    <a:pt x="1821" y="542061"/>
                  </a:lnTo>
                  <a:lnTo>
                    <a:pt x="0" y="533019"/>
                  </a:lnTo>
                  <a:lnTo>
                    <a:pt x="0" y="2324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6320" y="5349239"/>
              <a:ext cx="7065645" cy="558165"/>
            </a:xfrm>
            <a:custGeom>
              <a:avLst/>
              <a:gdLst/>
              <a:ahLst/>
              <a:cxnLst/>
              <a:rect l="l" t="t" r="r" b="b"/>
              <a:pathLst>
                <a:path w="7065645" h="558164">
                  <a:moveTo>
                    <a:pt x="7042023" y="0"/>
                  </a:moveTo>
                  <a:lnTo>
                    <a:pt x="23241" y="0"/>
                  </a:lnTo>
                  <a:lnTo>
                    <a:pt x="14192" y="1827"/>
                  </a:lnTo>
                  <a:lnTo>
                    <a:pt x="6805" y="6810"/>
                  </a:lnTo>
                  <a:lnTo>
                    <a:pt x="1825" y="14198"/>
                  </a:lnTo>
                  <a:lnTo>
                    <a:pt x="0" y="23241"/>
                  </a:lnTo>
                  <a:lnTo>
                    <a:pt x="0" y="534543"/>
                  </a:lnTo>
                  <a:lnTo>
                    <a:pt x="1825" y="543591"/>
                  </a:lnTo>
                  <a:lnTo>
                    <a:pt x="6805" y="550978"/>
                  </a:lnTo>
                  <a:lnTo>
                    <a:pt x="14192" y="555958"/>
                  </a:lnTo>
                  <a:lnTo>
                    <a:pt x="23241" y="557784"/>
                  </a:lnTo>
                  <a:lnTo>
                    <a:pt x="7042023" y="557784"/>
                  </a:lnTo>
                  <a:lnTo>
                    <a:pt x="7051065" y="555958"/>
                  </a:lnTo>
                  <a:lnTo>
                    <a:pt x="7058453" y="550978"/>
                  </a:lnTo>
                  <a:lnTo>
                    <a:pt x="7063436" y="543591"/>
                  </a:lnTo>
                  <a:lnTo>
                    <a:pt x="7065263" y="534543"/>
                  </a:lnTo>
                  <a:lnTo>
                    <a:pt x="7065263" y="23241"/>
                  </a:lnTo>
                  <a:lnTo>
                    <a:pt x="7063436" y="14198"/>
                  </a:lnTo>
                  <a:lnTo>
                    <a:pt x="7058453" y="6810"/>
                  </a:lnTo>
                  <a:lnTo>
                    <a:pt x="7051065" y="1827"/>
                  </a:lnTo>
                  <a:lnTo>
                    <a:pt x="704202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6320" y="5349239"/>
              <a:ext cx="7065645" cy="558165"/>
            </a:xfrm>
            <a:custGeom>
              <a:avLst/>
              <a:gdLst/>
              <a:ahLst/>
              <a:cxnLst/>
              <a:rect l="l" t="t" r="r" b="b"/>
              <a:pathLst>
                <a:path w="7065645" h="558164">
                  <a:moveTo>
                    <a:pt x="0" y="23241"/>
                  </a:moveTo>
                  <a:lnTo>
                    <a:pt x="1825" y="14198"/>
                  </a:lnTo>
                  <a:lnTo>
                    <a:pt x="6805" y="6810"/>
                  </a:lnTo>
                  <a:lnTo>
                    <a:pt x="14192" y="1827"/>
                  </a:lnTo>
                  <a:lnTo>
                    <a:pt x="23241" y="0"/>
                  </a:lnTo>
                  <a:lnTo>
                    <a:pt x="7042023" y="0"/>
                  </a:lnTo>
                  <a:lnTo>
                    <a:pt x="7051065" y="1827"/>
                  </a:lnTo>
                  <a:lnTo>
                    <a:pt x="7058453" y="6810"/>
                  </a:lnTo>
                  <a:lnTo>
                    <a:pt x="7063436" y="14198"/>
                  </a:lnTo>
                  <a:lnTo>
                    <a:pt x="7065263" y="23241"/>
                  </a:lnTo>
                  <a:lnTo>
                    <a:pt x="7065263" y="534543"/>
                  </a:lnTo>
                  <a:lnTo>
                    <a:pt x="7063436" y="543591"/>
                  </a:lnTo>
                  <a:lnTo>
                    <a:pt x="7058453" y="550978"/>
                  </a:lnTo>
                  <a:lnTo>
                    <a:pt x="7051065" y="555958"/>
                  </a:lnTo>
                  <a:lnTo>
                    <a:pt x="7042023" y="557784"/>
                  </a:lnTo>
                  <a:lnTo>
                    <a:pt x="23241" y="557784"/>
                  </a:lnTo>
                  <a:lnTo>
                    <a:pt x="14192" y="555958"/>
                  </a:lnTo>
                  <a:lnTo>
                    <a:pt x="6805" y="550978"/>
                  </a:lnTo>
                  <a:lnTo>
                    <a:pt x="1825" y="543591"/>
                  </a:lnTo>
                  <a:lnTo>
                    <a:pt x="0" y="534543"/>
                  </a:lnTo>
                  <a:lnTo>
                    <a:pt x="0" y="2324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30936" y="1085088"/>
            <a:ext cx="7888605" cy="922019"/>
            <a:chOff x="630936" y="1085088"/>
            <a:chExt cx="7888605" cy="922019"/>
          </a:xfrm>
        </p:grpSpPr>
        <p:sp>
          <p:nvSpPr>
            <p:cNvPr id="17" name="object 17"/>
            <p:cNvSpPr/>
            <p:nvPr/>
          </p:nvSpPr>
          <p:spPr>
            <a:xfrm>
              <a:off x="655320" y="1109472"/>
              <a:ext cx="7863840" cy="893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3128" y="1138428"/>
              <a:ext cx="7549896" cy="86868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508" y="1089660"/>
              <a:ext cx="7851648" cy="88087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5508" y="1089660"/>
              <a:ext cx="7851775" cy="881380"/>
            </a:xfrm>
            <a:custGeom>
              <a:avLst/>
              <a:gdLst/>
              <a:ahLst/>
              <a:cxnLst/>
              <a:rect l="l" t="t" r="r" b="b"/>
              <a:pathLst>
                <a:path w="7851775" h="881380">
                  <a:moveTo>
                    <a:pt x="0" y="49656"/>
                  </a:moveTo>
                  <a:lnTo>
                    <a:pt x="3900" y="30325"/>
                  </a:lnTo>
                  <a:lnTo>
                    <a:pt x="14538" y="14541"/>
                  </a:lnTo>
                  <a:lnTo>
                    <a:pt x="30314" y="3901"/>
                  </a:lnTo>
                  <a:lnTo>
                    <a:pt x="49631" y="0"/>
                  </a:lnTo>
                  <a:lnTo>
                    <a:pt x="7801991" y="0"/>
                  </a:lnTo>
                  <a:lnTo>
                    <a:pt x="7821322" y="3901"/>
                  </a:lnTo>
                  <a:lnTo>
                    <a:pt x="7837106" y="14541"/>
                  </a:lnTo>
                  <a:lnTo>
                    <a:pt x="7847746" y="30325"/>
                  </a:lnTo>
                  <a:lnTo>
                    <a:pt x="7851648" y="49656"/>
                  </a:lnTo>
                  <a:lnTo>
                    <a:pt x="7851648" y="831214"/>
                  </a:lnTo>
                  <a:lnTo>
                    <a:pt x="7847746" y="850546"/>
                  </a:lnTo>
                  <a:lnTo>
                    <a:pt x="7837106" y="866330"/>
                  </a:lnTo>
                  <a:lnTo>
                    <a:pt x="7821322" y="876970"/>
                  </a:lnTo>
                  <a:lnTo>
                    <a:pt x="7801991" y="880872"/>
                  </a:lnTo>
                  <a:lnTo>
                    <a:pt x="49631" y="880872"/>
                  </a:lnTo>
                  <a:lnTo>
                    <a:pt x="30314" y="876970"/>
                  </a:lnTo>
                  <a:lnTo>
                    <a:pt x="14538" y="866330"/>
                  </a:lnTo>
                  <a:lnTo>
                    <a:pt x="3900" y="850546"/>
                  </a:lnTo>
                  <a:lnTo>
                    <a:pt x="0" y="831214"/>
                  </a:lnTo>
                  <a:lnTo>
                    <a:pt x="0" y="49656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7349" y="1162049"/>
            <a:ext cx="7828280" cy="469773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93345" marR="481965">
              <a:lnSpc>
                <a:spcPct val="90100"/>
              </a:lnSpc>
              <a:spcBef>
                <a:spcPts val="285"/>
              </a:spcBef>
            </a:pP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i="1" spc="-10" dirty="0">
                <a:latin typeface="Verdana"/>
                <a:cs typeface="Verdana"/>
              </a:rPr>
              <a:t>RADIUS proxy </a:t>
            </a:r>
            <a:r>
              <a:rPr sz="1600" b="1" spc="-10" dirty="0">
                <a:latin typeface="Verdana"/>
                <a:cs typeface="Verdana"/>
              </a:rPr>
              <a:t>receives connection </a:t>
            </a:r>
            <a:r>
              <a:rPr sz="1600" b="1" spc="-5" dirty="0">
                <a:latin typeface="Verdana"/>
                <a:cs typeface="Verdana"/>
              </a:rPr>
              <a:t>attempts </a:t>
            </a:r>
            <a:r>
              <a:rPr sz="1600" b="1" spc="-10" dirty="0">
                <a:latin typeface="Verdana"/>
                <a:cs typeface="Verdana"/>
              </a:rPr>
              <a:t>from RADIUS  clients </a:t>
            </a:r>
            <a:r>
              <a:rPr sz="1600" b="1" spc="-5" dirty="0">
                <a:latin typeface="Verdana"/>
                <a:cs typeface="Verdana"/>
              </a:rPr>
              <a:t>and </a:t>
            </a:r>
            <a:r>
              <a:rPr sz="1600" b="1" spc="-10" dirty="0">
                <a:latin typeface="Verdana"/>
                <a:cs typeface="Verdana"/>
              </a:rPr>
              <a:t>forwards </a:t>
            </a:r>
            <a:r>
              <a:rPr sz="1600" b="1" spc="-5" dirty="0">
                <a:latin typeface="Verdana"/>
                <a:cs typeface="Verdana"/>
              </a:rPr>
              <a:t>them </a:t>
            </a:r>
            <a:r>
              <a:rPr sz="1600" b="1" dirty="0">
                <a:latin typeface="Verdana"/>
                <a:cs typeface="Verdana"/>
              </a:rPr>
              <a:t>to </a:t>
            </a:r>
            <a:r>
              <a:rPr sz="1600" b="1" spc="-5" dirty="0">
                <a:latin typeface="Verdana"/>
                <a:cs typeface="Verdana"/>
              </a:rPr>
              <a:t>the appropriate </a:t>
            </a:r>
            <a:r>
              <a:rPr sz="1600" b="1" spc="-10" dirty="0">
                <a:latin typeface="Verdana"/>
                <a:cs typeface="Verdana"/>
              </a:rPr>
              <a:t>RADIUS server </a:t>
            </a:r>
            <a:r>
              <a:rPr sz="1600" b="1" spc="-5" dirty="0">
                <a:latin typeface="Verdana"/>
                <a:cs typeface="Verdana"/>
              </a:rPr>
              <a:t>or  another </a:t>
            </a:r>
            <a:r>
              <a:rPr sz="1600" b="1" spc="-10" dirty="0">
                <a:latin typeface="Verdana"/>
                <a:cs typeface="Verdana"/>
              </a:rPr>
              <a:t>RADIUS proxy for </a:t>
            </a:r>
            <a:r>
              <a:rPr sz="1600" b="1" spc="-5" dirty="0">
                <a:latin typeface="Verdana"/>
                <a:cs typeface="Verdana"/>
              </a:rPr>
              <a:t>further</a:t>
            </a:r>
            <a:r>
              <a:rPr sz="1600" b="1" spc="14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routing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00">
              <a:latin typeface="Verdana"/>
              <a:cs typeface="Verdana"/>
            </a:endParaRPr>
          </a:p>
          <a:p>
            <a:pPr marL="136525">
              <a:lnSpc>
                <a:spcPct val="100000"/>
              </a:lnSpc>
            </a:pP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RADIUS proxy is required</a:t>
            </a:r>
            <a:r>
              <a:rPr sz="1600" b="1" spc="13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for:</a:t>
            </a:r>
            <a:endParaRPr sz="1600">
              <a:latin typeface="Verdana"/>
              <a:cs typeface="Verdana"/>
            </a:endParaRPr>
          </a:p>
          <a:p>
            <a:pPr marL="719455" marR="1219200" indent="-229235">
              <a:lnSpc>
                <a:spcPts val="1730"/>
              </a:lnSpc>
              <a:spcBef>
                <a:spcPts val="1689"/>
              </a:spcBef>
              <a:buClr>
                <a:srgbClr val="006699"/>
              </a:buClr>
              <a:buFont typeface="Verdana"/>
              <a:buChar char="•"/>
              <a:tabLst>
                <a:tab pos="720090" algn="l"/>
              </a:tabLst>
            </a:pPr>
            <a:r>
              <a:rPr sz="1600" b="1" spc="-10" dirty="0">
                <a:latin typeface="Verdana"/>
                <a:cs typeface="Verdana"/>
              </a:rPr>
              <a:t>Service providers offering </a:t>
            </a:r>
            <a:r>
              <a:rPr sz="1600" b="1" spc="-5" dirty="0">
                <a:latin typeface="Verdana"/>
                <a:cs typeface="Verdana"/>
              </a:rPr>
              <a:t>outsourced dial-up, VPN,  or </a:t>
            </a:r>
            <a:r>
              <a:rPr sz="1600" b="1" spc="-10" dirty="0">
                <a:latin typeface="Verdana"/>
                <a:cs typeface="Verdana"/>
              </a:rPr>
              <a:t>wireless network </a:t>
            </a:r>
            <a:r>
              <a:rPr sz="1600" b="1" spc="-5" dirty="0">
                <a:latin typeface="Verdana"/>
                <a:cs typeface="Verdana"/>
              </a:rPr>
              <a:t>access</a:t>
            </a:r>
            <a:r>
              <a:rPr sz="1600" b="1" spc="10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services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1450">
              <a:latin typeface="Verdana"/>
              <a:cs typeface="Verdana"/>
            </a:endParaRPr>
          </a:p>
          <a:p>
            <a:pPr marL="719455" marR="1218565" indent="-229235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720090" algn="l"/>
              </a:tabLst>
            </a:pPr>
            <a:r>
              <a:rPr sz="1600" b="1" spc="-10" dirty="0">
                <a:latin typeface="Verdana"/>
                <a:cs typeface="Verdana"/>
              </a:rPr>
              <a:t>Providing authentication </a:t>
            </a:r>
            <a:r>
              <a:rPr sz="1600" b="1" spc="-5" dirty="0">
                <a:latin typeface="Verdana"/>
                <a:cs typeface="Verdana"/>
              </a:rPr>
              <a:t>and authorization </a:t>
            </a:r>
            <a:r>
              <a:rPr sz="1600" b="1" spc="-10" dirty="0">
                <a:latin typeface="Verdana"/>
                <a:cs typeface="Verdana"/>
              </a:rPr>
              <a:t>for user  </a:t>
            </a:r>
            <a:r>
              <a:rPr sz="1600" b="1" spc="-5" dirty="0">
                <a:latin typeface="Verdana"/>
                <a:cs typeface="Verdana"/>
              </a:rPr>
              <a:t>accounts that are </a:t>
            </a:r>
            <a:r>
              <a:rPr sz="1600" b="1" spc="-10" dirty="0">
                <a:latin typeface="Verdana"/>
                <a:cs typeface="Verdana"/>
              </a:rPr>
              <a:t>not Active Directory</a:t>
            </a:r>
            <a:r>
              <a:rPr sz="1600" b="1" spc="10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members</a:t>
            </a:r>
            <a:endParaRPr sz="1600">
              <a:latin typeface="Verdana"/>
              <a:cs typeface="Verdana"/>
            </a:endParaRPr>
          </a:p>
          <a:p>
            <a:pPr marL="716280" indent="-229235">
              <a:lnSpc>
                <a:spcPts val="1825"/>
              </a:lnSpc>
              <a:spcBef>
                <a:spcPts val="1620"/>
              </a:spcBef>
              <a:buClr>
                <a:srgbClr val="006699"/>
              </a:buClr>
              <a:buFont typeface="Verdana"/>
              <a:buChar char="•"/>
              <a:tabLst>
                <a:tab pos="716915" algn="l"/>
              </a:tabLst>
            </a:pPr>
            <a:r>
              <a:rPr sz="1600" b="1" spc="-10" dirty="0">
                <a:latin typeface="Verdana"/>
                <a:cs typeface="Verdana"/>
              </a:rPr>
              <a:t>Performing authentication </a:t>
            </a:r>
            <a:r>
              <a:rPr sz="1600" b="1" spc="-5" dirty="0">
                <a:latin typeface="Verdana"/>
                <a:cs typeface="Verdana"/>
              </a:rPr>
              <a:t>and authorization</a:t>
            </a:r>
            <a:r>
              <a:rPr sz="1600" b="1" spc="15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using</a:t>
            </a:r>
            <a:endParaRPr sz="1600">
              <a:latin typeface="Verdana"/>
              <a:cs typeface="Verdana"/>
            </a:endParaRPr>
          </a:p>
          <a:p>
            <a:pPr marL="71628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a database that </a:t>
            </a:r>
            <a:r>
              <a:rPr sz="1600" b="1" spc="-10" dirty="0">
                <a:latin typeface="Verdana"/>
                <a:cs typeface="Verdana"/>
              </a:rPr>
              <a:t>is not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Windows </a:t>
            </a:r>
            <a:r>
              <a:rPr sz="1600" b="1" spc="-5" dirty="0">
                <a:latin typeface="Verdana"/>
                <a:cs typeface="Verdana"/>
              </a:rPr>
              <a:t>account</a:t>
            </a:r>
            <a:r>
              <a:rPr sz="1600" b="1" spc="13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database</a:t>
            </a:r>
            <a:endParaRPr sz="1600">
              <a:latin typeface="Verdana"/>
              <a:cs typeface="Verdana"/>
            </a:endParaRPr>
          </a:p>
          <a:p>
            <a:pPr marL="716280" indent="-229235">
              <a:lnSpc>
                <a:spcPts val="1825"/>
              </a:lnSpc>
              <a:spcBef>
                <a:spcPts val="1655"/>
              </a:spcBef>
              <a:buClr>
                <a:srgbClr val="006699"/>
              </a:buClr>
              <a:buFont typeface="Verdana"/>
              <a:buChar char="•"/>
              <a:tabLst>
                <a:tab pos="716915" algn="l"/>
              </a:tabLst>
            </a:pPr>
            <a:r>
              <a:rPr sz="1600" b="1" spc="-10" dirty="0">
                <a:latin typeface="Verdana"/>
                <a:cs typeface="Verdana"/>
              </a:rPr>
              <a:t>Load-balancing connection requests</a:t>
            </a:r>
            <a:r>
              <a:rPr sz="1600" b="1" spc="12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among</a:t>
            </a:r>
            <a:endParaRPr sz="1600">
              <a:latin typeface="Verdana"/>
              <a:cs typeface="Verdana"/>
            </a:endParaRPr>
          </a:p>
          <a:p>
            <a:pPr marL="716280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multiple RADIUS</a:t>
            </a:r>
            <a:r>
              <a:rPr sz="1600" b="1" spc="4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servers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Verdana"/>
              <a:cs typeface="Verdana"/>
            </a:endParaRPr>
          </a:p>
          <a:p>
            <a:pPr marL="716280" marR="1261110" indent="-229235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716915" algn="l"/>
              </a:tabLst>
            </a:pPr>
            <a:r>
              <a:rPr sz="1600" b="1" spc="-10" dirty="0">
                <a:latin typeface="Verdana"/>
                <a:cs typeface="Verdana"/>
              </a:rPr>
              <a:t>Providing RADIUS for </a:t>
            </a:r>
            <a:r>
              <a:rPr sz="1600" b="1" spc="-5" dirty="0">
                <a:latin typeface="Verdana"/>
                <a:cs typeface="Verdana"/>
              </a:rPr>
              <a:t>outsourced </a:t>
            </a:r>
            <a:r>
              <a:rPr sz="1600" b="1" spc="-10" dirty="0">
                <a:latin typeface="Verdana"/>
                <a:cs typeface="Verdana"/>
              </a:rPr>
              <a:t>service providers  </a:t>
            </a:r>
            <a:r>
              <a:rPr sz="1600" b="1" spc="-5" dirty="0">
                <a:latin typeface="Verdana"/>
                <a:cs typeface="Verdana"/>
              </a:rPr>
              <a:t>and </a:t>
            </a:r>
            <a:r>
              <a:rPr sz="1600" b="1" spc="-10" dirty="0">
                <a:latin typeface="Verdana"/>
                <a:cs typeface="Verdana"/>
              </a:rPr>
              <a:t>limiting traffic </a:t>
            </a:r>
            <a:r>
              <a:rPr sz="1600" b="1" spc="-5" dirty="0">
                <a:latin typeface="Verdana"/>
                <a:cs typeface="Verdana"/>
              </a:rPr>
              <a:t>types </a:t>
            </a:r>
            <a:r>
              <a:rPr sz="1600" b="1" spc="-10" dirty="0">
                <a:latin typeface="Verdana"/>
                <a:cs typeface="Verdana"/>
              </a:rPr>
              <a:t>through </a:t>
            </a:r>
            <a:r>
              <a:rPr sz="1600" b="1" spc="-5" dirty="0">
                <a:latin typeface="Verdana"/>
                <a:cs typeface="Verdana"/>
              </a:rPr>
              <a:t>the</a:t>
            </a:r>
            <a:r>
              <a:rPr sz="1600" b="1" spc="114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firewall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82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 </a:t>
            </a:r>
            <a:r>
              <a:rPr spc="-10" dirty="0"/>
              <a:t>Is </a:t>
            </a:r>
            <a:r>
              <a:rPr dirty="0"/>
              <a:t>a </a:t>
            </a:r>
            <a:r>
              <a:rPr spc="-5" dirty="0"/>
              <a:t>Connection Request</a:t>
            </a:r>
            <a:r>
              <a:rPr spc="95" dirty="0"/>
              <a:t> </a:t>
            </a:r>
            <a:r>
              <a:rPr spc="-5" dirty="0"/>
              <a:t>Policy?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97801" y="2518981"/>
            <a:ext cx="7748905" cy="2352040"/>
            <a:chOff x="697801" y="2518981"/>
            <a:chExt cx="7748905" cy="2352040"/>
          </a:xfrm>
        </p:grpSpPr>
        <p:sp>
          <p:nvSpPr>
            <p:cNvPr id="4" name="object 4"/>
            <p:cNvSpPr/>
            <p:nvPr/>
          </p:nvSpPr>
          <p:spPr>
            <a:xfrm>
              <a:off x="702563" y="2523744"/>
              <a:ext cx="7739380" cy="2342515"/>
            </a:xfrm>
            <a:custGeom>
              <a:avLst/>
              <a:gdLst/>
              <a:ahLst/>
              <a:cxnLst/>
              <a:rect l="l" t="t" r="r" b="b"/>
              <a:pathLst>
                <a:path w="7739380" h="2342515">
                  <a:moveTo>
                    <a:pt x="7641208" y="0"/>
                  </a:moveTo>
                  <a:lnTo>
                    <a:pt x="97612" y="0"/>
                  </a:lnTo>
                  <a:lnTo>
                    <a:pt x="59616" y="7669"/>
                  </a:lnTo>
                  <a:lnTo>
                    <a:pt x="28589" y="28590"/>
                  </a:lnTo>
                  <a:lnTo>
                    <a:pt x="7670" y="59632"/>
                  </a:lnTo>
                  <a:lnTo>
                    <a:pt x="0" y="97662"/>
                  </a:lnTo>
                  <a:lnTo>
                    <a:pt x="0" y="2244724"/>
                  </a:lnTo>
                  <a:lnTo>
                    <a:pt x="7670" y="2282755"/>
                  </a:lnTo>
                  <a:lnTo>
                    <a:pt x="28589" y="2313797"/>
                  </a:lnTo>
                  <a:lnTo>
                    <a:pt x="59616" y="2334718"/>
                  </a:lnTo>
                  <a:lnTo>
                    <a:pt x="97612" y="2342387"/>
                  </a:lnTo>
                  <a:lnTo>
                    <a:pt x="7641208" y="2342387"/>
                  </a:lnTo>
                  <a:lnTo>
                    <a:pt x="7679239" y="2334718"/>
                  </a:lnTo>
                  <a:lnTo>
                    <a:pt x="7710281" y="2313797"/>
                  </a:lnTo>
                  <a:lnTo>
                    <a:pt x="7731202" y="2282755"/>
                  </a:lnTo>
                  <a:lnTo>
                    <a:pt x="7738871" y="2244724"/>
                  </a:lnTo>
                  <a:lnTo>
                    <a:pt x="7738871" y="97662"/>
                  </a:lnTo>
                  <a:lnTo>
                    <a:pt x="7731202" y="59632"/>
                  </a:lnTo>
                  <a:lnTo>
                    <a:pt x="7710281" y="28590"/>
                  </a:lnTo>
                  <a:lnTo>
                    <a:pt x="7679239" y="7669"/>
                  </a:lnTo>
                  <a:lnTo>
                    <a:pt x="764120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563" y="2523744"/>
              <a:ext cx="7739380" cy="2342515"/>
            </a:xfrm>
            <a:custGeom>
              <a:avLst/>
              <a:gdLst/>
              <a:ahLst/>
              <a:cxnLst/>
              <a:rect l="l" t="t" r="r" b="b"/>
              <a:pathLst>
                <a:path w="7739380" h="2342515">
                  <a:moveTo>
                    <a:pt x="0" y="97662"/>
                  </a:moveTo>
                  <a:lnTo>
                    <a:pt x="7670" y="59632"/>
                  </a:lnTo>
                  <a:lnTo>
                    <a:pt x="28589" y="28590"/>
                  </a:lnTo>
                  <a:lnTo>
                    <a:pt x="59616" y="7669"/>
                  </a:lnTo>
                  <a:lnTo>
                    <a:pt x="97612" y="0"/>
                  </a:lnTo>
                  <a:lnTo>
                    <a:pt x="7641208" y="0"/>
                  </a:lnTo>
                  <a:lnTo>
                    <a:pt x="7679239" y="7669"/>
                  </a:lnTo>
                  <a:lnTo>
                    <a:pt x="7710281" y="28590"/>
                  </a:lnTo>
                  <a:lnTo>
                    <a:pt x="7731202" y="59632"/>
                  </a:lnTo>
                  <a:lnTo>
                    <a:pt x="7738871" y="97662"/>
                  </a:lnTo>
                  <a:lnTo>
                    <a:pt x="7738871" y="2244724"/>
                  </a:lnTo>
                  <a:lnTo>
                    <a:pt x="7731202" y="2282755"/>
                  </a:lnTo>
                  <a:lnTo>
                    <a:pt x="7710281" y="2313797"/>
                  </a:lnTo>
                  <a:lnTo>
                    <a:pt x="7679239" y="2334718"/>
                  </a:lnTo>
                  <a:lnTo>
                    <a:pt x="7641208" y="2342387"/>
                  </a:lnTo>
                  <a:lnTo>
                    <a:pt x="97612" y="2342387"/>
                  </a:lnTo>
                  <a:lnTo>
                    <a:pt x="59616" y="2334718"/>
                  </a:lnTo>
                  <a:lnTo>
                    <a:pt x="28589" y="2313797"/>
                  </a:lnTo>
                  <a:lnTo>
                    <a:pt x="7670" y="2282755"/>
                  </a:lnTo>
                  <a:lnTo>
                    <a:pt x="0" y="2244724"/>
                  </a:lnTo>
                  <a:lnTo>
                    <a:pt x="0" y="9766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82979" y="3014472"/>
              <a:ext cx="3291840" cy="1691639"/>
            </a:xfrm>
            <a:custGeom>
              <a:avLst/>
              <a:gdLst/>
              <a:ahLst/>
              <a:cxnLst/>
              <a:rect l="l" t="t" r="r" b="b"/>
              <a:pathLst>
                <a:path w="3291840" h="1691639">
                  <a:moveTo>
                    <a:pt x="3221355" y="0"/>
                  </a:moveTo>
                  <a:lnTo>
                    <a:pt x="70497" y="0"/>
                  </a:lnTo>
                  <a:lnTo>
                    <a:pt x="43055" y="5548"/>
                  </a:lnTo>
                  <a:lnTo>
                    <a:pt x="20647" y="20669"/>
                  </a:lnTo>
                  <a:lnTo>
                    <a:pt x="5539" y="43076"/>
                  </a:lnTo>
                  <a:lnTo>
                    <a:pt x="0" y="70485"/>
                  </a:lnTo>
                  <a:lnTo>
                    <a:pt x="0" y="1621154"/>
                  </a:lnTo>
                  <a:lnTo>
                    <a:pt x="5539" y="1648563"/>
                  </a:lnTo>
                  <a:lnTo>
                    <a:pt x="20647" y="1670970"/>
                  </a:lnTo>
                  <a:lnTo>
                    <a:pt x="43055" y="1686091"/>
                  </a:lnTo>
                  <a:lnTo>
                    <a:pt x="70497" y="1691639"/>
                  </a:lnTo>
                  <a:lnTo>
                    <a:pt x="3221355" y="1691639"/>
                  </a:lnTo>
                  <a:lnTo>
                    <a:pt x="3248763" y="1686091"/>
                  </a:lnTo>
                  <a:lnTo>
                    <a:pt x="3271170" y="1670970"/>
                  </a:lnTo>
                  <a:lnTo>
                    <a:pt x="3286291" y="1648563"/>
                  </a:lnTo>
                  <a:lnTo>
                    <a:pt x="3291840" y="1621154"/>
                  </a:lnTo>
                  <a:lnTo>
                    <a:pt x="3291840" y="70485"/>
                  </a:lnTo>
                  <a:lnTo>
                    <a:pt x="3286291" y="43076"/>
                  </a:lnTo>
                  <a:lnTo>
                    <a:pt x="3271170" y="20669"/>
                  </a:lnTo>
                  <a:lnTo>
                    <a:pt x="3248763" y="5548"/>
                  </a:lnTo>
                  <a:lnTo>
                    <a:pt x="322135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82979" y="3014472"/>
              <a:ext cx="3291840" cy="1691639"/>
            </a:xfrm>
            <a:custGeom>
              <a:avLst/>
              <a:gdLst/>
              <a:ahLst/>
              <a:cxnLst/>
              <a:rect l="l" t="t" r="r" b="b"/>
              <a:pathLst>
                <a:path w="3291840" h="1691639">
                  <a:moveTo>
                    <a:pt x="0" y="70485"/>
                  </a:moveTo>
                  <a:lnTo>
                    <a:pt x="5539" y="43076"/>
                  </a:lnTo>
                  <a:lnTo>
                    <a:pt x="20647" y="20669"/>
                  </a:lnTo>
                  <a:lnTo>
                    <a:pt x="43055" y="5548"/>
                  </a:lnTo>
                  <a:lnTo>
                    <a:pt x="70497" y="0"/>
                  </a:lnTo>
                  <a:lnTo>
                    <a:pt x="3221355" y="0"/>
                  </a:lnTo>
                  <a:lnTo>
                    <a:pt x="3248763" y="5548"/>
                  </a:lnTo>
                  <a:lnTo>
                    <a:pt x="3271170" y="20669"/>
                  </a:lnTo>
                  <a:lnTo>
                    <a:pt x="3286291" y="43076"/>
                  </a:lnTo>
                  <a:lnTo>
                    <a:pt x="3291840" y="70485"/>
                  </a:lnTo>
                  <a:lnTo>
                    <a:pt x="3291840" y="1621154"/>
                  </a:lnTo>
                  <a:lnTo>
                    <a:pt x="3286291" y="1648563"/>
                  </a:lnTo>
                  <a:lnTo>
                    <a:pt x="3271170" y="1670970"/>
                  </a:lnTo>
                  <a:lnTo>
                    <a:pt x="3248763" y="1686091"/>
                  </a:lnTo>
                  <a:lnTo>
                    <a:pt x="3221355" y="1691639"/>
                  </a:lnTo>
                  <a:lnTo>
                    <a:pt x="70497" y="1691639"/>
                  </a:lnTo>
                  <a:lnTo>
                    <a:pt x="43055" y="1686091"/>
                  </a:lnTo>
                  <a:lnTo>
                    <a:pt x="20647" y="1670970"/>
                  </a:lnTo>
                  <a:lnTo>
                    <a:pt x="5539" y="1648563"/>
                  </a:lnTo>
                  <a:lnTo>
                    <a:pt x="0" y="1621154"/>
                  </a:lnTo>
                  <a:lnTo>
                    <a:pt x="0" y="704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41" y="3004083"/>
            <a:ext cx="3112770" cy="16116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0500" indent="-178435">
              <a:lnSpc>
                <a:spcPct val="100000"/>
              </a:lnSpc>
              <a:spcBef>
                <a:spcPts val="680"/>
              </a:spcBef>
              <a:buClr>
                <a:srgbClr val="006699"/>
              </a:buClr>
              <a:buFont typeface="Verdana"/>
              <a:buChar char="•"/>
              <a:tabLst>
                <a:tab pos="191135" algn="l"/>
              </a:tabLst>
            </a:pPr>
            <a:r>
              <a:rPr sz="1600" b="1" spc="-10" dirty="0">
                <a:latin typeface="Verdana"/>
                <a:cs typeface="Verdana"/>
              </a:rPr>
              <a:t>Conditions, such</a:t>
            </a:r>
            <a:r>
              <a:rPr sz="1600" b="1" spc="4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as: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10" dirty="0">
                <a:latin typeface="Verdana"/>
                <a:cs typeface="Verdana"/>
              </a:rPr>
              <a:t>Framed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Protocol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5" dirty="0">
                <a:latin typeface="Verdana"/>
                <a:cs typeface="Verdana"/>
              </a:rPr>
              <a:t>Service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Type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35" dirty="0">
                <a:latin typeface="Verdana"/>
                <a:cs typeface="Verdana"/>
              </a:rPr>
              <a:t>Tunnel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Type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15" dirty="0">
                <a:latin typeface="Verdana"/>
                <a:cs typeface="Verdana"/>
              </a:rPr>
              <a:t>Day </a:t>
            </a:r>
            <a:r>
              <a:rPr sz="1600" spc="-5" dirty="0">
                <a:latin typeface="Verdana"/>
                <a:cs typeface="Verdana"/>
              </a:rPr>
              <a:t>and </a:t>
            </a:r>
            <a:r>
              <a:rPr sz="1600" spc="-10" dirty="0">
                <a:latin typeface="Verdana"/>
                <a:cs typeface="Verdana"/>
              </a:rPr>
              <a:t>Time</a:t>
            </a:r>
            <a:r>
              <a:rPr sz="1600" spc="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restrictions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4840" y="1063752"/>
            <a:ext cx="7888605" cy="1347470"/>
            <a:chOff x="624840" y="1063752"/>
            <a:chExt cx="7888605" cy="1347470"/>
          </a:xfrm>
        </p:grpSpPr>
        <p:sp>
          <p:nvSpPr>
            <p:cNvPr id="10" name="object 10"/>
            <p:cNvSpPr/>
            <p:nvPr/>
          </p:nvSpPr>
          <p:spPr>
            <a:xfrm>
              <a:off x="649224" y="1088136"/>
              <a:ext cx="7863840" cy="127101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7512" y="1104900"/>
              <a:ext cx="7412736" cy="130606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29412" y="1068324"/>
              <a:ext cx="7851648" cy="12588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9412" y="1068324"/>
              <a:ext cx="7851775" cy="1259205"/>
            </a:xfrm>
            <a:custGeom>
              <a:avLst/>
              <a:gdLst/>
              <a:ahLst/>
              <a:cxnLst/>
              <a:rect l="l" t="t" r="r" b="b"/>
              <a:pathLst>
                <a:path w="7851775" h="1259205">
                  <a:moveTo>
                    <a:pt x="0" y="209803"/>
                  </a:moveTo>
                  <a:lnTo>
                    <a:pt x="5540" y="161712"/>
                  </a:lnTo>
                  <a:lnTo>
                    <a:pt x="21324" y="117558"/>
                  </a:lnTo>
                  <a:lnTo>
                    <a:pt x="46090" y="78602"/>
                  </a:lnTo>
                  <a:lnTo>
                    <a:pt x="78580" y="46106"/>
                  </a:lnTo>
                  <a:lnTo>
                    <a:pt x="117536" y="21333"/>
                  </a:lnTo>
                  <a:lnTo>
                    <a:pt x="161696" y="5543"/>
                  </a:lnTo>
                  <a:lnTo>
                    <a:pt x="209803" y="0"/>
                  </a:lnTo>
                  <a:lnTo>
                    <a:pt x="7641844" y="0"/>
                  </a:lnTo>
                  <a:lnTo>
                    <a:pt x="7689935" y="5543"/>
                  </a:lnTo>
                  <a:lnTo>
                    <a:pt x="7734089" y="21333"/>
                  </a:lnTo>
                  <a:lnTo>
                    <a:pt x="7773045" y="46106"/>
                  </a:lnTo>
                  <a:lnTo>
                    <a:pt x="7805541" y="78602"/>
                  </a:lnTo>
                  <a:lnTo>
                    <a:pt x="7830314" y="117558"/>
                  </a:lnTo>
                  <a:lnTo>
                    <a:pt x="7846104" y="161712"/>
                  </a:lnTo>
                  <a:lnTo>
                    <a:pt x="7851648" y="209803"/>
                  </a:lnTo>
                  <a:lnTo>
                    <a:pt x="7851648" y="1049020"/>
                  </a:lnTo>
                  <a:lnTo>
                    <a:pt x="7846104" y="1097111"/>
                  </a:lnTo>
                  <a:lnTo>
                    <a:pt x="7830314" y="1141265"/>
                  </a:lnTo>
                  <a:lnTo>
                    <a:pt x="7805541" y="1180221"/>
                  </a:lnTo>
                  <a:lnTo>
                    <a:pt x="7773045" y="1212717"/>
                  </a:lnTo>
                  <a:lnTo>
                    <a:pt x="7734089" y="1237490"/>
                  </a:lnTo>
                  <a:lnTo>
                    <a:pt x="7689935" y="1253280"/>
                  </a:lnTo>
                  <a:lnTo>
                    <a:pt x="7641844" y="1258824"/>
                  </a:lnTo>
                  <a:lnTo>
                    <a:pt x="209803" y="1258824"/>
                  </a:lnTo>
                  <a:lnTo>
                    <a:pt x="161696" y="1253280"/>
                  </a:lnTo>
                  <a:lnTo>
                    <a:pt x="117536" y="1237490"/>
                  </a:lnTo>
                  <a:lnTo>
                    <a:pt x="78580" y="1212717"/>
                  </a:lnTo>
                  <a:lnTo>
                    <a:pt x="46090" y="1180221"/>
                  </a:lnTo>
                  <a:lnTo>
                    <a:pt x="21324" y="1141265"/>
                  </a:lnTo>
                  <a:lnTo>
                    <a:pt x="5540" y="1097111"/>
                  </a:lnTo>
                  <a:lnTo>
                    <a:pt x="0" y="1049020"/>
                  </a:lnTo>
                  <a:lnTo>
                    <a:pt x="0" y="2098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9112" y="1135126"/>
            <a:ext cx="7082155" cy="172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spc="-5" dirty="0">
                <a:latin typeface="Verdana"/>
                <a:cs typeface="Verdana"/>
              </a:rPr>
              <a:t>Connection Request policies </a:t>
            </a:r>
            <a:r>
              <a:rPr sz="1800" b="1" dirty="0">
                <a:latin typeface="Verdana"/>
                <a:cs typeface="Verdana"/>
              </a:rPr>
              <a:t>are </a:t>
            </a:r>
            <a:r>
              <a:rPr sz="1800" b="1" spc="-5" dirty="0">
                <a:latin typeface="Verdana"/>
                <a:cs typeface="Verdana"/>
              </a:rPr>
              <a:t>sets </a:t>
            </a:r>
            <a:r>
              <a:rPr sz="1800" b="1" dirty="0">
                <a:latin typeface="Verdana"/>
                <a:cs typeface="Verdana"/>
              </a:rPr>
              <a:t>of </a:t>
            </a:r>
            <a:r>
              <a:rPr sz="1800" b="1" spc="-5" dirty="0">
                <a:latin typeface="Verdana"/>
                <a:cs typeface="Verdana"/>
              </a:rPr>
              <a:t>conditions </a:t>
            </a:r>
            <a:r>
              <a:rPr sz="1800" b="1" dirty="0">
                <a:latin typeface="Verdana"/>
                <a:cs typeface="Verdana"/>
              </a:rPr>
              <a:t>and  </a:t>
            </a:r>
            <a:r>
              <a:rPr sz="1800" b="1" spc="-5" dirty="0">
                <a:latin typeface="Verdana"/>
                <a:cs typeface="Verdana"/>
              </a:rPr>
              <a:t>settings </a:t>
            </a:r>
            <a:r>
              <a:rPr sz="1800" b="1" dirty="0">
                <a:latin typeface="Verdana"/>
                <a:cs typeface="Verdana"/>
              </a:rPr>
              <a:t>that </a:t>
            </a:r>
            <a:r>
              <a:rPr sz="1800" b="1" spc="-5" dirty="0">
                <a:latin typeface="Verdana"/>
                <a:cs typeface="Verdana"/>
              </a:rPr>
              <a:t>designate which RADIUS servers perform 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authentication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authorization </a:t>
            </a:r>
            <a:r>
              <a:rPr sz="1800" b="1" dirty="0">
                <a:latin typeface="Verdana"/>
                <a:cs typeface="Verdana"/>
              </a:rPr>
              <a:t>of </a:t>
            </a:r>
            <a:r>
              <a:rPr sz="1800" b="1" spc="-5" dirty="0">
                <a:latin typeface="Verdana"/>
                <a:cs typeface="Verdana"/>
              </a:rPr>
              <a:t>connection  requests </a:t>
            </a:r>
            <a:r>
              <a:rPr sz="1800" b="1" dirty="0">
                <a:latin typeface="Verdana"/>
                <a:cs typeface="Verdana"/>
              </a:rPr>
              <a:t>that NPS </a:t>
            </a:r>
            <a:r>
              <a:rPr sz="1800" b="1" spc="-5" dirty="0">
                <a:latin typeface="Verdana"/>
                <a:cs typeface="Verdana"/>
              </a:rPr>
              <a:t>receives from RADIUS</a:t>
            </a:r>
            <a:r>
              <a:rPr sz="1800" b="1" spc="2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clients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Connection Request policies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include: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76800" y="3009900"/>
            <a:ext cx="3302635" cy="1701164"/>
            <a:chOff x="4876800" y="3009900"/>
            <a:chExt cx="3302635" cy="1701164"/>
          </a:xfrm>
        </p:grpSpPr>
        <p:sp>
          <p:nvSpPr>
            <p:cNvPr id="16" name="object 16"/>
            <p:cNvSpPr/>
            <p:nvPr/>
          </p:nvSpPr>
          <p:spPr>
            <a:xfrm>
              <a:off x="4881372" y="3014472"/>
              <a:ext cx="3293745" cy="1691639"/>
            </a:xfrm>
            <a:custGeom>
              <a:avLst/>
              <a:gdLst/>
              <a:ahLst/>
              <a:cxnLst/>
              <a:rect l="l" t="t" r="r" b="b"/>
              <a:pathLst>
                <a:path w="3293745" h="1691639">
                  <a:moveTo>
                    <a:pt x="3222879" y="0"/>
                  </a:moveTo>
                  <a:lnTo>
                    <a:pt x="70485" y="0"/>
                  </a:lnTo>
                  <a:lnTo>
                    <a:pt x="43076" y="5548"/>
                  </a:lnTo>
                  <a:lnTo>
                    <a:pt x="20669" y="20669"/>
                  </a:lnTo>
                  <a:lnTo>
                    <a:pt x="5548" y="43076"/>
                  </a:lnTo>
                  <a:lnTo>
                    <a:pt x="0" y="70485"/>
                  </a:lnTo>
                  <a:lnTo>
                    <a:pt x="0" y="1621154"/>
                  </a:lnTo>
                  <a:lnTo>
                    <a:pt x="5548" y="1648563"/>
                  </a:lnTo>
                  <a:lnTo>
                    <a:pt x="20669" y="1670970"/>
                  </a:lnTo>
                  <a:lnTo>
                    <a:pt x="43076" y="1686091"/>
                  </a:lnTo>
                  <a:lnTo>
                    <a:pt x="70485" y="1691639"/>
                  </a:lnTo>
                  <a:lnTo>
                    <a:pt x="3222879" y="1691639"/>
                  </a:lnTo>
                  <a:lnTo>
                    <a:pt x="3250287" y="1686091"/>
                  </a:lnTo>
                  <a:lnTo>
                    <a:pt x="3272694" y="1670970"/>
                  </a:lnTo>
                  <a:lnTo>
                    <a:pt x="3287815" y="1648563"/>
                  </a:lnTo>
                  <a:lnTo>
                    <a:pt x="3293363" y="1621154"/>
                  </a:lnTo>
                  <a:lnTo>
                    <a:pt x="3293363" y="70485"/>
                  </a:lnTo>
                  <a:lnTo>
                    <a:pt x="3287815" y="43076"/>
                  </a:lnTo>
                  <a:lnTo>
                    <a:pt x="3272694" y="20669"/>
                  </a:lnTo>
                  <a:lnTo>
                    <a:pt x="3250287" y="5548"/>
                  </a:lnTo>
                  <a:lnTo>
                    <a:pt x="322287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1372" y="3014472"/>
              <a:ext cx="3293745" cy="1691639"/>
            </a:xfrm>
            <a:custGeom>
              <a:avLst/>
              <a:gdLst/>
              <a:ahLst/>
              <a:cxnLst/>
              <a:rect l="l" t="t" r="r" b="b"/>
              <a:pathLst>
                <a:path w="3293745" h="1691639">
                  <a:moveTo>
                    <a:pt x="0" y="70485"/>
                  </a:moveTo>
                  <a:lnTo>
                    <a:pt x="5548" y="43076"/>
                  </a:lnTo>
                  <a:lnTo>
                    <a:pt x="20669" y="20669"/>
                  </a:lnTo>
                  <a:lnTo>
                    <a:pt x="43076" y="5548"/>
                  </a:lnTo>
                  <a:lnTo>
                    <a:pt x="70485" y="0"/>
                  </a:lnTo>
                  <a:lnTo>
                    <a:pt x="3222879" y="0"/>
                  </a:lnTo>
                  <a:lnTo>
                    <a:pt x="3250287" y="5548"/>
                  </a:lnTo>
                  <a:lnTo>
                    <a:pt x="3272694" y="20669"/>
                  </a:lnTo>
                  <a:lnTo>
                    <a:pt x="3287815" y="43076"/>
                  </a:lnTo>
                  <a:lnTo>
                    <a:pt x="3293363" y="70485"/>
                  </a:lnTo>
                  <a:lnTo>
                    <a:pt x="3293363" y="1621154"/>
                  </a:lnTo>
                  <a:lnTo>
                    <a:pt x="3287815" y="1648563"/>
                  </a:lnTo>
                  <a:lnTo>
                    <a:pt x="3272694" y="1670970"/>
                  </a:lnTo>
                  <a:lnTo>
                    <a:pt x="3250287" y="1686091"/>
                  </a:lnTo>
                  <a:lnTo>
                    <a:pt x="3222879" y="1691639"/>
                  </a:lnTo>
                  <a:lnTo>
                    <a:pt x="70485" y="1691639"/>
                  </a:lnTo>
                  <a:lnTo>
                    <a:pt x="43076" y="1686091"/>
                  </a:lnTo>
                  <a:lnTo>
                    <a:pt x="20669" y="1670970"/>
                  </a:lnTo>
                  <a:lnTo>
                    <a:pt x="5548" y="1648563"/>
                  </a:lnTo>
                  <a:lnTo>
                    <a:pt x="0" y="1621154"/>
                  </a:lnTo>
                  <a:lnTo>
                    <a:pt x="0" y="70485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981702" y="3004083"/>
            <a:ext cx="2754630" cy="161163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90500" indent="-178435">
              <a:lnSpc>
                <a:spcPct val="100000"/>
              </a:lnSpc>
              <a:spcBef>
                <a:spcPts val="680"/>
              </a:spcBef>
              <a:buClr>
                <a:srgbClr val="006699"/>
              </a:buClr>
              <a:buFont typeface="Verdana"/>
              <a:buChar char="•"/>
              <a:tabLst>
                <a:tab pos="191135" algn="l"/>
              </a:tabLst>
            </a:pPr>
            <a:r>
              <a:rPr sz="1600" b="1" spc="-10" dirty="0">
                <a:latin typeface="Verdana"/>
                <a:cs typeface="Verdana"/>
              </a:rPr>
              <a:t>Settings, such</a:t>
            </a:r>
            <a:r>
              <a:rPr sz="1600" b="1" spc="1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as: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10" dirty="0">
                <a:latin typeface="Verdana"/>
                <a:cs typeface="Verdana"/>
              </a:rPr>
              <a:t>Authentication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10" dirty="0">
                <a:latin typeface="Verdana"/>
                <a:cs typeface="Verdana"/>
              </a:rPr>
              <a:t>Accounting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10" dirty="0">
                <a:latin typeface="Verdana"/>
                <a:cs typeface="Verdana"/>
              </a:rPr>
              <a:t>Attribute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Manipulation</a:t>
            </a:r>
            <a:endParaRPr sz="1600">
              <a:latin typeface="Verdana"/>
              <a:cs typeface="Verdana"/>
            </a:endParaRPr>
          </a:p>
          <a:p>
            <a:pPr marL="481965" lvl="1" indent="-17780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Char char="•"/>
              <a:tabLst>
                <a:tab pos="482600" algn="l"/>
              </a:tabLst>
            </a:pPr>
            <a:r>
              <a:rPr sz="1600" spc="-10" dirty="0">
                <a:latin typeface="Verdana"/>
                <a:cs typeface="Verdana"/>
              </a:rPr>
              <a:t>Advanced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settings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29412" y="5076444"/>
            <a:ext cx="7907020" cy="1347470"/>
            <a:chOff x="629412" y="5076444"/>
            <a:chExt cx="7907020" cy="1347470"/>
          </a:xfrm>
        </p:grpSpPr>
        <p:sp>
          <p:nvSpPr>
            <p:cNvPr id="20" name="object 20"/>
            <p:cNvSpPr/>
            <p:nvPr/>
          </p:nvSpPr>
          <p:spPr>
            <a:xfrm>
              <a:off x="653796" y="5100828"/>
              <a:ext cx="7863840" cy="12710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3608" y="5117592"/>
              <a:ext cx="7862316" cy="13060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3984" y="5081016"/>
              <a:ext cx="7851648" cy="12588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3984" y="5081016"/>
              <a:ext cx="7851775" cy="1259205"/>
            </a:xfrm>
            <a:custGeom>
              <a:avLst/>
              <a:gdLst/>
              <a:ahLst/>
              <a:cxnLst/>
              <a:rect l="l" t="t" r="r" b="b"/>
              <a:pathLst>
                <a:path w="7851775" h="1259204">
                  <a:moveTo>
                    <a:pt x="0" y="209803"/>
                  </a:moveTo>
                  <a:lnTo>
                    <a:pt x="5540" y="161712"/>
                  </a:lnTo>
                  <a:lnTo>
                    <a:pt x="21324" y="117558"/>
                  </a:lnTo>
                  <a:lnTo>
                    <a:pt x="46090" y="78602"/>
                  </a:lnTo>
                  <a:lnTo>
                    <a:pt x="78580" y="46106"/>
                  </a:lnTo>
                  <a:lnTo>
                    <a:pt x="117536" y="21333"/>
                  </a:lnTo>
                  <a:lnTo>
                    <a:pt x="161696" y="5543"/>
                  </a:lnTo>
                  <a:lnTo>
                    <a:pt x="209803" y="0"/>
                  </a:lnTo>
                  <a:lnTo>
                    <a:pt x="7641844" y="0"/>
                  </a:lnTo>
                  <a:lnTo>
                    <a:pt x="7689935" y="5543"/>
                  </a:lnTo>
                  <a:lnTo>
                    <a:pt x="7734089" y="21333"/>
                  </a:lnTo>
                  <a:lnTo>
                    <a:pt x="7773045" y="46106"/>
                  </a:lnTo>
                  <a:lnTo>
                    <a:pt x="7805541" y="78602"/>
                  </a:lnTo>
                  <a:lnTo>
                    <a:pt x="7830314" y="117558"/>
                  </a:lnTo>
                  <a:lnTo>
                    <a:pt x="7846104" y="161712"/>
                  </a:lnTo>
                  <a:lnTo>
                    <a:pt x="7851648" y="209803"/>
                  </a:lnTo>
                  <a:lnTo>
                    <a:pt x="7851648" y="1049019"/>
                  </a:lnTo>
                  <a:lnTo>
                    <a:pt x="7846104" y="1097127"/>
                  </a:lnTo>
                  <a:lnTo>
                    <a:pt x="7830314" y="1141287"/>
                  </a:lnTo>
                  <a:lnTo>
                    <a:pt x="7805541" y="1180243"/>
                  </a:lnTo>
                  <a:lnTo>
                    <a:pt x="7773045" y="1212733"/>
                  </a:lnTo>
                  <a:lnTo>
                    <a:pt x="7734089" y="1237499"/>
                  </a:lnTo>
                  <a:lnTo>
                    <a:pt x="7689935" y="1253283"/>
                  </a:lnTo>
                  <a:lnTo>
                    <a:pt x="7641844" y="1258823"/>
                  </a:lnTo>
                  <a:lnTo>
                    <a:pt x="209803" y="1258823"/>
                  </a:lnTo>
                  <a:lnTo>
                    <a:pt x="161696" y="1253283"/>
                  </a:lnTo>
                  <a:lnTo>
                    <a:pt x="117536" y="1237499"/>
                  </a:lnTo>
                  <a:lnTo>
                    <a:pt x="78580" y="1212733"/>
                  </a:lnTo>
                  <a:lnTo>
                    <a:pt x="46090" y="1180243"/>
                  </a:lnTo>
                  <a:lnTo>
                    <a:pt x="21324" y="1141287"/>
                  </a:lnTo>
                  <a:lnTo>
                    <a:pt x="5540" y="1097127"/>
                  </a:lnTo>
                  <a:lnTo>
                    <a:pt x="0" y="1049019"/>
                  </a:lnTo>
                  <a:lnTo>
                    <a:pt x="0" y="209803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3683" y="5149341"/>
            <a:ext cx="7529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Custom Connection Request </a:t>
            </a:r>
            <a:r>
              <a:rPr sz="1800" b="1" spc="-10" dirty="0">
                <a:latin typeface="Verdana"/>
                <a:cs typeface="Verdana"/>
              </a:rPr>
              <a:t>policies </a:t>
            </a:r>
            <a:r>
              <a:rPr sz="1800" b="1" spc="-5" dirty="0">
                <a:latin typeface="Verdana"/>
                <a:cs typeface="Verdana"/>
              </a:rPr>
              <a:t>are required </a:t>
            </a:r>
            <a:r>
              <a:rPr sz="1800" b="1" dirty="0">
                <a:latin typeface="Verdana"/>
                <a:cs typeface="Verdana"/>
              </a:rPr>
              <a:t>to  </a:t>
            </a:r>
            <a:r>
              <a:rPr sz="1800" b="1" spc="-5" dirty="0">
                <a:latin typeface="Verdana"/>
                <a:cs typeface="Verdana"/>
              </a:rPr>
              <a:t>forward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request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another </a:t>
            </a:r>
            <a:r>
              <a:rPr sz="1800" b="1" dirty="0">
                <a:latin typeface="Verdana"/>
                <a:cs typeface="Verdana"/>
              </a:rPr>
              <a:t>proxy or </a:t>
            </a:r>
            <a:r>
              <a:rPr sz="1800" b="1" spc="-5" dirty="0">
                <a:latin typeface="Verdana"/>
                <a:cs typeface="Verdana"/>
              </a:rPr>
              <a:t>RADIUS server </a:t>
            </a:r>
            <a:r>
              <a:rPr sz="1800" b="1" dirty="0">
                <a:latin typeface="Verdana"/>
                <a:cs typeface="Verdana"/>
              </a:rPr>
              <a:t>or  </a:t>
            </a:r>
            <a:r>
              <a:rPr sz="1800" b="1" spc="-5" dirty="0">
                <a:latin typeface="Verdana"/>
                <a:cs typeface="Verdana"/>
              </a:rPr>
              <a:t>server group for authorization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authentication, </a:t>
            </a:r>
            <a:r>
              <a:rPr sz="1800" b="1" dirty="0">
                <a:latin typeface="Verdana"/>
                <a:cs typeface="Verdana"/>
              </a:rPr>
              <a:t>or to  </a:t>
            </a:r>
            <a:r>
              <a:rPr sz="1800" b="1" spc="-5" dirty="0">
                <a:latin typeface="Verdana"/>
                <a:cs typeface="Verdana"/>
              </a:rPr>
              <a:t>specify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different server for accounting</a:t>
            </a:r>
            <a:r>
              <a:rPr sz="1800" b="1" spc="8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information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6840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Configuring Connection Request</a:t>
            </a:r>
            <a:r>
              <a:rPr spc="85" dirty="0"/>
              <a:t> </a:t>
            </a:r>
            <a:r>
              <a:rPr spc="-5" dirty="0"/>
              <a:t>Processing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14337" y="985900"/>
          <a:ext cx="8271510" cy="48226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8080"/>
                <a:gridCol w="5853430"/>
              </a:tblGrid>
              <a:tr h="592074">
                <a:tc>
                  <a:txBody>
                    <a:bodyPr/>
                    <a:lstStyle/>
                    <a:p>
                      <a:pPr marL="332740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800" b="1" spc="-5" dirty="0">
                          <a:latin typeface="Verdana"/>
                          <a:cs typeface="Verdana"/>
                        </a:rPr>
                        <a:t>Configuration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8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1800">
                        <a:latin typeface="Verdana"/>
                        <a:cs typeface="Verdana"/>
                      </a:endParaRPr>
                    </a:p>
                  </a:txBody>
                  <a:tcPr marL="0" marR="0" marT="1441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E3CD9A"/>
                    </a:solidFill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91440" marR="355600">
                        <a:lnSpc>
                          <a:spcPts val="1730"/>
                        </a:lnSpc>
                        <a:spcBef>
                          <a:spcPts val="1355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Local vs. RADIUS  authentication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259079" marR="570865" indent="-167640">
                        <a:lnSpc>
                          <a:spcPct val="90100"/>
                        </a:lnSpc>
                        <a:spcBef>
                          <a:spcPts val="705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59715" algn="l"/>
                        </a:tabLst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Local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authentication takes place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against the </a:t>
                      </a:r>
                      <a:r>
                        <a:rPr sz="1600" spc="-15" dirty="0">
                          <a:latin typeface="Verdana"/>
                          <a:cs typeface="Verdana"/>
                        </a:rPr>
                        <a:t>local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security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account database or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Active </a:t>
                      </a:r>
                      <a:r>
                        <a:rPr sz="1600" spc="-20" dirty="0">
                          <a:latin typeface="Verdana"/>
                          <a:cs typeface="Verdana"/>
                        </a:rPr>
                        <a:t>Directory.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 policies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exist on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that</a:t>
                      </a:r>
                      <a:r>
                        <a:rPr sz="1600" spc="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40" dirty="0">
                          <a:latin typeface="Verdana"/>
                          <a:cs typeface="Verdana"/>
                        </a:rPr>
                        <a:t>server.</a:t>
                      </a:r>
                      <a:endParaRPr sz="1600">
                        <a:latin typeface="Verdana"/>
                        <a:cs typeface="Verdana"/>
                      </a:endParaRPr>
                    </a:p>
                    <a:p>
                      <a:pPr marL="259079" marR="555625" indent="-167640">
                        <a:lnSpc>
                          <a:spcPts val="1730"/>
                        </a:lnSpc>
                        <a:spcBef>
                          <a:spcPts val="1365"/>
                        </a:spcBef>
                        <a:buClr>
                          <a:srgbClr val="006699"/>
                        </a:buClr>
                        <a:buSzPct val="90625"/>
                        <a:buChar char="•"/>
                        <a:tabLst>
                          <a:tab pos="259715" algn="l"/>
                        </a:tabLst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RADIUS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authentication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forwards the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request to a RADIUS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server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for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authentication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against a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security database.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RADIUS maintains a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central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store of all the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</a:t>
                      </a:r>
                      <a:r>
                        <a:rPr sz="1600" spc="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policies.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280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91440" marR="621665">
                        <a:lnSpc>
                          <a:spcPts val="1730"/>
                        </a:lnSpc>
                        <a:spcBef>
                          <a:spcPts val="114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RADIUS server  groups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7165">
                        <a:lnSpc>
                          <a:spcPts val="1730"/>
                        </a:lnSpc>
                        <a:spcBef>
                          <a:spcPts val="735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Used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where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one or more RADIUS servers are capable  of handling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connection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requests.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The connection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requests are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load-balanced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on criteria specified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during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creation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RADIUS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server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group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there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is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more than one RADIUS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server in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600" spc="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group.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3345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marL="91440" marR="426084">
                        <a:lnSpc>
                          <a:spcPct val="90000"/>
                        </a:lnSpc>
                        <a:spcBef>
                          <a:spcPts val="710"/>
                        </a:spcBef>
                      </a:pPr>
                      <a:r>
                        <a:rPr sz="1600" b="1" spc="-10" dirty="0">
                          <a:latin typeface="Verdana"/>
                          <a:cs typeface="Verdana"/>
                        </a:rPr>
                        <a:t>Default ports for  </a:t>
                      </a:r>
                      <a:r>
                        <a:rPr sz="1600" b="1" spc="-5" dirty="0">
                          <a:latin typeface="Verdana"/>
                          <a:cs typeface="Verdana"/>
                        </a:rPr>
                        <a:t>accounting and  </a:t>
                      </a:r>
                      <a:r>
                        <a:rPr sz="1600" b="1" spc="-10" dirty="0">
                          <a:latin typeface="Verdana"/>
                          <a:cs typeface="Verdana"/>
                        </a:rPr>
                        <a:t>authentication  using</a:t>
                      </a:r>
                      <a:r>
                        <a:rPr sz="1600" b="1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spc="-10" dirty="0">
                          <a:latin typeface="Verdana"/>
                          <a:cs typeface="Verdana"/>
                        </a:rPr>
                        <a:t>RADIUS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  <a:solidFill>
                      <a:srgbClr val="F1E7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56235">
                        <a:lnSpc>
                          <a:spcPct val="90100"/>
                        </a:lnSpc>
                        <a:spcBef>
                          <a:spcPts val="1570"/>
                        </a:spcBef>
                      </a:pPr>
                      <a:r>
                        <a:rPr sz="1600" spc="-5" dirty="0">
                          <a:latin typeface="Verdana"/>
                          <a:cs typeface="Verdana"/>
                        </a:rPr>
                        <a:t>The ports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required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for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accounting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and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authentication 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requests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being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forwarded to a RADIUS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server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are 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UDP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1812/1645 and </a:t>
                      </a:r>
                      <a:r>
                        <a:rPr sz="1600" spc="-10" dirty="0">
                          <a:latin typeface="Verdana"/>
                          <a:cs typeface="Verdana"/>
                        </a:rPr>
                        <a:t>UDP</a:t>
                      </a:r>
                      <a:r>
                        <a:rPr sz="16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5" dirty="0">
                          <a:latin typeface="Verdana"/>
                          <a:cs typeface="Verdana"/>
                        </a:rPr>
                        <a:t>1813/1646.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199390" marB="0">
                    <a:lnL w="12700">
                      <a:solidFill>
                        <a:srgbClr val="D2AC55"/>
                      </a:solidFill>
                      <a:prstDash val="solid"/>
                    </a:lnL>
                    <a:lnR w="12700">
                      <a:solidFill>
                        <a:srgbClr val="D2AC55"/>
                      </a:solidFill>
                      <a:prstDash val="solid"/>
                    </a:lnR>
                    <a:lnT w="12700">
                      <a:solidFill>
                        <a:srgbClr val="D2AC55"/>
                      </a:solidFill>
                      <a:prstDash val="solid"/>
                    </a:lnT>
                    <a:lnB w="12700">
                      <a:solidFill>
                        <a:srgbClr val="D2AC5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965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3: NPS Authentication</a:t>
            </a:r>
            <a:r>
              <a:rPr spc="-15" dirty="0"/>
              <a:t> </a:t>
            </a:r>
            <a:r>
              <a:rPr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6997065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Password-Based Authentication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Using Certificates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Authentication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Required Certificates </a:t>
            </a:r>
            <a:r>
              <a:rPr sz="2000" dirty="0">
                <a:latin typeface="Verdana"/>
                <a:cs typeface="Verdana"/>
              </a:rPr>
              <a:t>for </a:t>
            </a:r>
            <a:r>
              <a:rPr sz="2000" spc="-5" dirty="0">
                <a:latin typeface="Verdana"/>
                <a:cs typeface="Verdana"/>
              </a:rPr>
              <a:t>NPS </a:t>
            </a:r>
            <a:r>
              <a:rPr sz="2000" dirty="0">
                <a:latin typeface="Verdana"/>
                <a:cs typeface="Verdana"/>
              </a:rPr>
              <a:t>Authentication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Methods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Deploying </a:t>
            </a:r>
            <a:r>
              <a:rPr sz="2000" spc="-5" dirty="0">
                <a:latin typeface="Verdana"/>
                <a:cs typeface="Verdana"/>
              </a:rPr>
              <a:t>Certificates </a:t>
            </a:r>
            <a:r>
              <a:rPr sz="2000" dirty="0">
                <a:latin typeface="Verdana"/>
                <a:cs typeface="Verdana"/>
              </a:rPr>
              <a:t>for PEAP and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EAP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250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Password-Based Authentication</a:t>
            </a:r>
            <a:r>
              <a:rPr spc="55" dirty="0"/>
              <a:t> </a:t>
            </a:r>
            <a:r>
              <a:rPr dirty="0"/>
              <a:t>Methods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1431036"/>
            <a:ext cx="7863840" cy="3686810"/>
            <a:chOff x="640080" y="1431036"/>
            <a:chExt cx="7863840" cy="3686810"/>
          </a:xfrm>
        </p:grpSpPr>
        <p:sp>
          <p:nvSpPr>
            <p:cNvPr id="4" name="object 4"/>
            <p:cNvSpPr/>
            <p:nvPr/>
          </p:nvSpPr>
          <p:spPr>
            <a:xfrm>
              <a:off x="644652" y="1435608"/>
              <a:ext cx="7854950" cy="3677920"/>
            </a:xfrm>
            <a:custGeom>
              <a:avLst/>
              <a:gdLst/>
              <a:ahLst/>
              <a:cxnLst/>
              <a:rect l="l" t="t" r="r" b="b"/>
              <a:pathLst>
                <a:path w="7854950" h="3677920">
                  <a:moveTo>
                    <a:pt x="7701407" y="0"/>
                  </a:moveTo>
                  <a:lnTo>
                    <a:pt x="153238" y="0"/>
                  </a:lnTo>
                  <a:lnTo>
                    <a:pt x="104802" y="7809"/>
                  </a:lnTo>
                  <a:lnTo>
                    <a:pt x="62736" y="29561"/>
                  </a:lnTo>
                  <a:lnTo>
                    <a:pt x="29565" y="62736"/>
                  </a:lnTo>
                  <a:lnTo>
                    <a:pt x="7812" y="104818"/>
                  </a:lnTo>
                  <a:lnTo>
                    <a:pt x="0" y="153288"/>
                  </a:lnTo>
                  <a:lnTo>
                    <a:pt x="0" y="3524123"/>
                  </a:lnTo>
                  <a:lnTo>
                    <a:pt x="7812" y="3572593"/>
                  </a:lnTo>
                  <a:lnTo>
                    <a:pt x="29565" y="3614675"/>
                  </a:lnTo>
                  <a:lnTo>
                    <a:pt x="62736" y="3647850"/>
                  </a:lnTo>
                  <a:lnTo>
                    <a:pt x="104802" y="3669602"/>
                  </a:lnTo>
                  <a:lnTo>
                    <a:pt x="153238" y="3677411"/>
                  </a:lnTo>
                  <a:lnTo>
                    <a:pt x="7701407" y="3677411"/>
                  </a:lnTo>
                  <a:lnTo>
                    <a:pt x="7749877" y="3669602"/>
                  </a:lnTo>
                  <a:lnTo>
                    <a:pt x="7791959" y="3647850"/>
                  </a:lnTo>
                  <a:lnTo>
                    <a:pt x="7825134" y="3614675"/>
                  </a:lnTo>
                  <a:lnTo>
                    <a:pt x="7846886" y="3572593"/>
                  </a:lnTo>
                  <a:lnTo>
                    <a:pt x="7854696" y="3524123"/>
                  </a:lnTo>
                  <a:lnTo>
                    <a:pt x="7854696" y="153288"/>
                  </a:lnTo>
                  <a:lnTo>
                    <a:pt x="7846886" y="104818"/>
                  </a:lnTo>
                  <a:lnTo>
                    <a:pt x="7825134" y="62736"/>
                  </a:lnTo>
                  <a:lnTo>
                    <a:pt x="7791959" y="29561"/>
                  </a:lnTo>
                  <a:lnTo>
                    <a:pt x="7749877" y="7809"/>
                  </a:lnTo>
                  <a:lnTo>
                    <a:pt x="770140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435608"/>
              <a:ext cx="7854950" cy="3677920"/>
            </a:xfrm>
            <a:custGeom>
              <a:avLst/>
              <a:gdLst/>
              <a:ahLst/>
              <a:cxnLst/>
              <a:rect l="l" t="t" r="r" b="b"/>
              <a:pathLst>
                <a:path w="7854950" h="3677920">
                  <a:moveTo>
                    <a:pt x="0" y="153288"/>
                  </a:moveTo>
                  <a:lnTo>
                    <a:pt x="7812" y="104818"/>
                  </a:lnTo>
                  <a:lnTo>
                    <a:pt x="29565" y="62736"/>
                  </a:lnTo>
                  <a:lnTo>
                    <a:pt x="62736" y="29561"/>
                  </a:lnTo>
                  <a:lnTo>
                    <a:pt x="104802" y="7809"/>
                  </a:lnTo>
                  <a:lnTo>
                    <a:pt x="153238" y="0"/>
                  </a:lnTo>
                  <a:lnTo>
                    <a:pt x="7701407" y="0"/>
                  </a:lnTo>
                  <a:lnTo>
                    <a:pt x="7749877" y="7809"/>
                  </a:lnTo>
                  <a:lnTo>
                    <a:pt x="7791959" y="29561"/>
                  </a:lnTo>
                  <a:lnTo>
                    <a:pt x="7825134" y="62736"/>
                  </a:lnTo>
                  <a:lnTo>
                    <a:pt x="7846886" y="104818"/>
                  </a:lnTo>
                  <a:lnTo>
                    <a:pt x="7854696" y="153288"/>
                  </a:lnTo>
                  <a:lnTo>
                    <a:pt x="7854696" y="3524123"/>
                  </a:lnTo>
                  <a:lnTo>
                    <a:pt x="7846886" y="3572593"/>
                  </a:lnTo>
                  <a:lnTo>
                    <a:pt x="7825134" y="3614675"/>
                  </a:lnTo>
                  <a:lnTo>
                    <a:pt x="7791959" y="3647850"/>
                  </a:lnTo>
                  <a:lnTo>
                    <a:pt x="7749877" y="3669602"/>
                  </a:lnTo>
                  <a:lnTo>
                    <a:pt x="7701407" y="3677411"/>
                  </a:lnTo>
                  <a:lnTo>
                    <a:pt x="153238" y="3677411"/>
                  </a:lnTo>
                  <a:lnTo>
                    <a:pt x="104802" y="3669602"/>
                  </a:lnTo>
                  <a:lnTo>
                    <a:pt x="62736" y="3647850"/>
                  </a:lnTo>
                  <a:lnTo>
                    <a:pt x="29565" y="3614675"/>
                  </a:lnTo>
                  <a:lnTo>
                    <a:pt x="7812" y="3572593"/>
                  </a:lnTo>
                  <a:lnTo>
                    <a:pt x="0" y="3524123"/>
                  </a:lnTo>
                  <a:lnTo>
                    <a:pt x="0" y="15328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1944623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1944623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254203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4"/>
                  </a:lnTo>
                  <a:lnTo>
                    <a:pt x="1526" y="11894"/>
                  </a:lnTo>
                  <a:lnTo>
                    <a:pt x="0" y="19430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8"/>
                  </a:lnTo>
                  <a:lnTo>
                    <a:pt x="11867" y="464808"/>
                  </a:lnTo>
                  <a:lnTo>
                    <a:pt x="19431" y="466343"/>
                  </a:lnTo>
                  <a:lnTo>
                    <a:pt x="7045833" y="466343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5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2542032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0"/>
                  </a:moveTo>
                  <a:lnTo>
                    <a:pt x="1526" y="11894"/>
                  </a:lnTo>
                  <a:lnTo>
                    <a:pt x="5691" y="5714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5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3"/>
                  </a:lnTo>
                  <a:lnTo>
                    <a:pt x="19431" y="466343"/>
                  </a:lnTo>
                  <a:lnTo>
                    <a:pt x="11867" y="464808"/>
                  </a:lnTo>
                  <a:lnTo>
                    <a:pt x="5691" y="460628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20" y="3137915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7045706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5"/>
                  </a:lnTo>
                  <a:lnTo>
                    <a:pt x="1531" y="11894"/>
                  </a:lnTo>
                  <a:lnTo>
                    <a:pt x="0" y="19431"/>
                  </a:lnTo>
                  <a:lnTo>
                    <a:pt x="0" y="448310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8"/>
                  </a:lnTo>
                  <a:lnTo>
                    <a:pt x="7045706" y="467868"/>
                  </a:lnTo>
                  <a:lnTo>
                    <a:pt x="7053316" y="466330"/>
                  </a:lnTo>
                  <a:lnTo>
                    <a:pt x="7059533" y="462137"/>
                  </a:lnTo>
                  <a:lnTo>
                    <a:pt x="7063726" y="455920"/>
                  </a:lnTo>
                  <a:lnTo>
                    <a:pt x="7065263" y="448310"/>
                  </a:lnTo>
                  <a:lnTo>
                    <a:pt x="7065263" y="19431"/>
                  </a:lnTo>
                  <a:lnTo>
                    <a:pt x="7063726" y="11894"/>
                  </a:lnTo>
                  <a:lnTo>
                    <a:pt x="7059533" y="5715"/>
                  </a:lnTo>
                  <a:lnTo>
                    <a:pt x="7053316" y="1535"/>
                  </a:lnTo>
                  <a:lnTo>
                    <a:pt x="704570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20" y="3137915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0" y="19431"/>
                  </a:moveTo>
                  <a:lnTo>
                    <a:pt x="1531" y="11894"/>
                  </a:lnTo>
                  <a:lnTo>
                    <a:pt x="5708" y="5715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706" y="0"/>
                  </a:lnTo>
                  <a:lnTo>
                    <a:pt x="7053316" y="1535"/>
                  </a:lnTo>
                  <a:lnTo>
                    <a:pt x="7059533" y="5715"/>
                  </a:lnTo>
                  <a:lnTo>
                    <a:pt x="7063726" y="11894"/>
                  </a:lnTo>
                  <a:lnTo>
                    <a:pt x="7065263" y="19431"/>
                  </a:lnTo>
                  <a:lnTo>
                    <a:pt x="7065263" y="448310"/>
                  </a:lnTo>
                  <a:lnTo>
                    <a:pt x="7063726" y="455920"/>
                  </a:lnTo>
                  <a:lnTo>
                    <a:pt x="7059533" y="462137"/>
                  </a:lnTo>
                  <a:lnTo>
                    <a:pt x="7053316" y="466330"/>
                  </a:lnTo>
                  <a:lnTo>
                    <a:pt x="7045706" y="467868"/>
                  </a:lnTo>
                  <a:lnTo>
                    <a:pt x="19494" y="467868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10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9368" y="3747515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7045833" y="0"/>
                  </a:moveTo>
                  <a:lnTo>
                    <a:pt x="19494" y="0"/>
                  </a:lnTo>
                  <a:lnTo>
                    <a:pt x="11905" y="1535"/>
                  </a:lnTo>
                  <a:lnTo>
                    <a:pt x="5708" y="5714"/>
                  </a:lnTo>
                  <a:lnTo>
                    <a:pt x="1531" y="11894"/>
                  </a:lnTo>
                  <a:lnTo>
                    <a:pt x="0" y="19430"/>
                  </a:lnTo>
                  <a:lnTo>
                    <a:pt x="0" y="448309"/>
                  </a:lnTo>
                  <a:lnTo>
                    <a:pt x="1531" y="455920"/>
                  </a:lnTo>
                  <a:lnTo>
                    <a:pt x="5708" y="462137"/>
                  </a:lnTo>
                  <a:lnTo>
                    <a:pt x="11905" y="466330"/>
                  </a:lnTo>
                  <a:lnTo>
                    <a:pt x="19494" y="467867"/>
                  </a:lnTo>
                  <a:lnTo>
                    <a:pt x="7045833" y="467867"/>
                  </a:lnTo>
                  <a:lnTo>
                    <a:pt x="7053369" y="466330"/>
                  </a:lnTo>
                  <a:lnTo>
                    <a:pt x="7059549" y="462137"/>
                  </a:lnTo>
                  <a:lnTo>
                    <a:pt x="7063728" y="455920"/>
                  </a:lnTo>
                  <a:lnTo>
                    <a:pt x="7065263" y="448309"/>
                  </a:lnTo>
                  <a:lnTo>
                    <a:pt x="7065263" y="19430"/>
                  </a:lnTo>
                  <a:lnTo>
                    <a:pt x="7063728" y="11894"/>
                  </a:lnTo>
                  <a:lnTo>
                    <a:pt x="7059549" y="5714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39368" y="3747515"/>
              <a:ext cx="7065645" cy="467995"/>
            </a:xfrm>
            <a:custGeom>
              <a:avLst/>
              <a:gdLst/>
              <a:ahLst/>
              <a:cxnLst/>
              <a:rect l="l" t="t" r="r" b="b"/>
              <a:pathLst>
                <a:path w="7065645" h="467995">
                  <a:moveTo>
                    <a:pt x="0" y="19430"/>
                  </a:moveTo>
                  <a:lnTo>
                    <a:pt x="1531" y="11894"/>
                  </a:lnTo>
                  <a:lnTo>
                    <a:pt x="5708" y="5714"/>
                  </a:lnTo>
                  <a:lnTo>
                    <a:pt x="11905" y="1535"/>
                  </a:lnTo>
                  <a:lnTo>
                    <a:pt x="19494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4"/>
                  </a:lnTo>
                  <a:lnTo>
                    <a:pt x="7063728" y="11894"/>
                  </a:lnTo>
                  <a:lnTo>
                    <a:pt x="7065263" y="19430"/>
                  </a:lnTo>
                  <a:lnTo>
                    <a:pt x="7065263" y="448309"/>
                  </a:lnTo>
                  <a:lnTo>
                    <a:pt x="7063728" y="455920"/>
                  </a:lnTo>
                  <a:lnTo>
                    <a:pt x="7059549" y="462137"/>
                  </a:lnTo>
                  <a:lnTo>
                    <a:pt x="7053369" y="466330"/>
                  </a:lnTo>
                  <a:lnTo>
                    <a:pt x="7045833" y="467867"/>
                  </a:lnTo>
                  <a:lnTo>
                    <a:pt x="19494" y="467867"/>
                  </a:lnTo>
                  <a:lnTo>
                    <a:pt x="11905" y="466330"/>
                  </a:lnTo>
                  <a:lnTo>
                    <a:pt x="5708" y="462137"/>
                  </a:lnTo>
                  <a:lnTo>
                    <a:pt x="1531" y="455920"/>
                  </a:lnTo>
                  <a:lnTo>
                    <a:pt x="0" y="448309"/>
                  </a:lnTo>
                  <a:lnTo>
                    <a:pt x="0" y="19430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36320" y="4344924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7045833" y="0"/>
                  </a:moveTo>
                  <a:lnTo>
                    <a:pt x="19431" y="0"/>
                  </a:lnTo>
                  <a:lnTo>
                    <a:pt x="11867" y="1535"/>
                  </a:lnTo>
                  <a:lnTo>
                    <a:pt x="5691" y="5715"/>
                  </a:lnTo>
                  <a:lnTo>
                    <a:pt x="1526" y="11894"/>
                  </a:lnTo>
                  <a:lnTo>
                    <a:pt x="0" y="19431"/>
                  </a:lnTo>
                  <a:lnTo>
                    <a:pt x="0" y="446913"/>
                  </a:lnTo>
                  <a:lnTo>
                    <a:pt x="1526" y="454449"/>
                  </a:lnTo>
                  <a:lnTo>
                    <a:pt x="5691" y="460629"/>
                  </a:lnTo>
                  <a:lnTo>
                    <a:pt x="11867" y="464808"/>
                  </a:lnTo>
                  <a:lnTo>
                    <a:pt x="19431" y="466344"/>
                  </a:lnTo>
                  <a:lnTo>
                    <a:pt x="7045833" y="466344"/>
                  </a:lnTo>
                  <a:lnTo>
                    <a:pt x="7053369" y="464808"/>
                  </a:lnTo>
                  <a:lnTo>
                    <a:pt x="7059549" y="460628"/>
                  </a:lnTo>
                  <a:lnTo>
                    <a:pt x="7063728" y="454449"/>
                  </a:lnTo>
                  <a:lnTo>
                    <a:pt x="7065263" y="446913"/>
                  </a:lnTo>
                  <a:lnTo>
                    <a:pt x="7065263" y="19431"/>
                  </a:lnTo>
                  <a:lnTo>
                    <a:pt x="7063728" y="11894"/>
                  </a:lnTo>
                  <a:lnTo>
                    <a:pt x="7059549" y="5714"/>
                  </a:lnTo>
                  <a:lnTo>
                    <a:pt x="7053369" y="1535"/>
                  </a:lnTo>
                  <a:lnTo>
                    <a:pt x="7045833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36320" y="4344924"/>
              <a:ext cx="7065645" cy="466725"/>
            </a:xfrm>
            <a:custGeom>
              <a:avLst/>
              <a:gdLst/>
              <a:ahLst/>
              <a:cxnLst/>
              <a:rect l="l" t="t" r="r" b="b"/>
              <a:pathLst>
                <a:path w="7065645" h="466725">
                  <a:moveTo>
                    <a:pt x="0" y="19431"/>
                  </a:moveTo>
                  <a:lnTo>
                    <a:pt x="1526" y="11894"/>
                  </a:lnTo>
                  <a:lnTo>
                    <a:pt x="5691" y="5715"/>
                  </a:lnTo>
                  <a:lnTo>
                    <a:pt x="11867" y="1535"/>
                  </a:lnTo>
                  <a:lnTo>
                    <a:pt x="19431" y="0"/>
                  </a:lnTo>
                  <a:lnTo>
                    <a:pt x="7045833" y="0"/>
                  </a:lnTo>
                  <a:lnTo>
                    <a:pt x="7053369" y="1535"/>
                  </a:lnTo>
                  <a:lnTo>
                    <a:pt x="7059549" y="5714"/>
                  </a:lnTo>
                  <a:lnTo>
                    <a:pt x="7063728" y="11894"/>
                  </a:lnTo>
                  <a:lnTo>
                    <a:pt x="7065263" y="19431"/>
                  </a:lnTo>
                  <a:lnTo>
                    <a:pt x="7065263" y="446913"/>
                  </a:lnTo>
                  <a:lnTo>
                    <a:pt x="7063728" y="454449"/>
                  </a:lnTo>
                  <a:lnTo>
                    <a:pt x="7059549" y="460628"/>
                  </a:lnTo>
                  <a:lnTo>
                    <a:pt x="7053369" y="464808"/>
                  </a:lnTo>
                  <a:lnTo>
                    <a:pt x="7045833" y="466344"/>
                  </a:lnTo>
                  <a:lnTo>
                    <a:pt x="19431" y="466344"/>
                  </a:lnTo>
                  <a:lnTo>
                    <a:pt x="11867" y="464808"/>
                  </a:lnTo>
                  <a:lnTo>
                    <a:pt x="5691" y="460629"/>
                  </a:lnTo>
                  <a:lnTo>
                    <a:pt x="1526" y="454449"/>
                  </a:lnTo>
                  <a:lnTo>
                    <a:pt x="0" y="446913"/>
                  </a:lnTo>
                  <a:lnTo>
                    <a:pt x="0" y="19431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68197" y="1511934"/>
            <a:ext cx="6551930" cy="3202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Verdana"/>
                <a:cs typeface="Verdana"/>
              </a:rPr>
              <a:t>Authentication </a:t>
            </a:r>
            <a:r>
              <a:rPr sz="1800" b="1" dirty="0">
                <a:latin typeface="Verdana"/>
                <a:cs typeface="Verdana"/>
              </a:rPr>
              <a:t>methods </a:t>
            </a:r>
            <a:r>
              <a:rPr sz="1800" b="1" spc="-5" dirty="0">
                <a:latin typeface="Verdana"/>
                <a:cs typeface="Verdana"/>
              </a:rPr>
              <a:t>for </a:t>
            </a:r>
            <a:r>
              <a:rPr sz="1800" b="1" dirty="0">
                <a:latin typeface="Verdana"/>
                <a:cs typeface="Verdana"/>
              </a:rPr>
              <a:t>an NPS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r>
              <a:rPr sz="1800" b="1" spc="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include:</a:t>
            </a:r>
            <a:endParaRPr sz="1800">
              <a:latin typeface="Verdana"/>
              <a:cs typeface="Verdana"/>
            </a:endParaRPr>
          </a:p>
          <a:p>
            <a:pPr marL="597535" indent="-229235">
              <a:lnSpc>
                <a:spcPct val="100000"/>
              </a:lnSpc>
              <a:spcBef>
                <a:spcPts val="1785"/>
              </a:spcBef>
              <a:buClr>
                <a:srgbClr val="006699"/>
              </a:buClr>
              <a:buFont typeface="Verdana"/>
              <a:buChar char="•"/>
              <a:tabLst>
                <a:tab pos="598170" algn="l"/>
              </a:tabLst>
            </a:pPr>
            <a:r>
              <a:rPr sz="1800" b="1" spc="-5" dirty="0">
                <a:latin typeface="Verdana"/>
                <a:cs typeface="Verdana"/>
              </a:rPr>
              <a:t>MS-CHAPv2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59753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8170" algn="l"/>
              </a:tabLst>
            </a:pPr>
            <a:r>
              <a:rPr sz="1800" b="1" spc="-5" dirty="0">
                <a:latin typeface="Verdana"/>
                <a:cs typeface="Verdana"/>
              </a:rPr>
              <a:t>MS-CHAP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594360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4995" algn="l"/>
              </a:tabLst>
            </a:pPr>
            <a:r>
              <a:rPr sz="1800" b="1" spc="-5" dirty="0">
                <a:latin typeface="Verdana"/>
                <a:cs typeface="Verdana"/>
              </a:rPr>
              <a:t>CHAP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006699"/>
              </a:buClr>
              <a:buFont typeface="Verdana"/>
              <a:buChar char="•"/>
            </a:pPr>
            <a:endParaRPr sz="2150">
              <a:latin typeface="Verdana"/>
              <a:cs typeface="Verdana"/>
            </a:endParaRPr>
          </a:p>
          <a:p>
            <a:pPr marL="59753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8170" algn="l"/>
              </a:tabLst>
            </a:pPr>
            <a:r>
              <a:rPr sz="1800" b="1" spc="-5" dirty="0">
                <a:latin typeface="Verdana"/>
                <a:cs typeface="Verdana"/>
              </a:rPr>
              <a:t>PAP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99"/>
              </a:buClr>
              <a:buFont typeface="Verdana"/>
              <a:buChar char="•"/>
            </a:pPr>
            <a:endParaRPr sz="2050">
              <a:latin typeface="Verdana"/>
              <a:cs typeface="Verdana"/>
            </a:endParaRPr>
          </a:p>
          <a:p>
            <a:pPr marL="594360" indent="-229870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594995" algn="l"/>
              </a:tabLst>
            </a:pPr>
            <a:r>
              <a:rPr sz="1800" b="1" spc="-5" dirty="0">
                <a:latin typeface="Verdana"/>
                <a:cs typeface="Verdana"/>
              </a:rPr>
              <a:t>Unauthenticated</a:t>
            </a:r>
            <a:r>
              <a:rPr sz="1800" b="1" spc="4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access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5559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Using Certificates </a:t>
            </a:r>
            <a:r>
              <a:rPr spc="-5" dirty="0"/>
              <a:t>for</a:t>
            </a:r>
            <a:r>
              <a:rPr spc="125" dirty="0"/>
              <a:t> </a:t>
            </a:r>
            <a:r>
              <a:rPr spc="-5" dirty="0"/>
              <a:t>Authentication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3463" y="1726692"/>
            <a:ext cx="8585200" cy="805180"/>
            <a:chOff x="283463" y="1726692"/>
            <a:chExt cx="8585200" cy="805180"/>
          </a:xfrm>
        </p:grpSpPr>
        <p:sp>
          <p:nvSpPr>
            <p:cNvPr id="4" name="object 4"/>
            <p:cNvSpPr/>
            <p:nvPr/>
          </p:nvSpPr>
          <p:spPr>
            <a:xfrm>
              <a:off x="312419" y="1751076"/>
              <a:ext cx="8555736" cy="7802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3463" y="1796796"/>
              <a:ext cx="6751320" cy="7299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2607" y="1731264"/>
              <a:ext cx="8543544" cy="7680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2607" y="1731264"/>
              <a:ext cx="8543925" cy="768350"/>
            </a:xfrm>
            <a:custGeom>
              <a:avLst/>
              <a:gdLst/>
              <a:ahLst/>
              <a:cxnLst/>
              <a:rect l="l" t="t" r="r" b="b"/>
              <a:pathLst>
                <a:path w="8543925" h="768350">
                  <a:moveTo>
                    <a:pt x="0" y="43307"/>
                  </a:moveTo>
                  <a:lnTo>
                    <a:pt x="3401" y="26467"/>
                  </a:lnTo>
                  <a:lnTo>
                    <a:pt x="12677" y="12700"/>
                  </a:lnTo>
                  <a:lnTo>
                    <a:pt x="26435" y="3409"/>
                  </a:lnTo>
                  <a:lnTo>
                    <a:pt x="43281" y="0"/>
                  </a:lnTo>
                  <a:lnTo>
                    <a:pt x="8500237" y="0"/>
                  </a:lnTo>
                  <a:lnTo>
                    <a:pt x="8517076" y="3409"/>
                  </a:lnTo>
                  <a:lnTo>
                    <a:pt x="8530844" y="12700"/>
                  </a:lnTo>
                  <a:lnTo>
                    <a:pt x="8540134" y="26467"/>
                  </a:lnTo>
                  <a:lnTo>
                    <a:pt x="8543544" y="43307"/>
                  </a:lnTo>
                  <a:lnTo>
                    <a:pt x="8543544" y="724788"/>
                  </a:lnTo>
                  <a:lnTo>
                    <a:pt x="8540134" y="741628"/>
                  </a:lnTo>
                  <a:lnTo>
                    <a:pt x="8530844" y="755396"/>
                  </a:lnTo>
                  <a:lnTo>
                    <a:pt x="8517076" y="764686"/>
                  </a:lnTo>
                  <a:lnTo>
                    <a:pt x="8500237" y="768096"/>
                  </a:lnTo>
                  <a:lnTo>
                    <a:pt x="43281" y="768096"/>
                  </a:lnTo>
                  <a:lnTo>
                    <a:pt x="26435" y="764686"/>
                  </a:lnTo>
                  <a:lnTo>
                    <a:pt x="12677" y="755396"/>
                  </a:lnTo>
                  <a:lnTo>
                    <a:pt x="3401" y="741628"/>
                  </a:lnTo>
                  <a:lnTo>
                    <a:pt x="0" y="724788"/>
                  </a:lnTo>
                  <a:lnTo>
                    <a:pt x="0" y="43307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3518" y="1827403"/>
            <a:ext cx="8522335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92710" marR="2027555">
              <a:lnSpc>
                <a:spcPts val="1939"/>
              </a:lnSpc>
              <a:spcBef>
                <a:spcPts val="345"/>
              </a:spcBef>
            </a:pPr>
            <a:r>
              <a:rPr sz="1800" b="1" spc="-5" dirty="0">
                <a:latin typeface="Verdana"/>
                <a:cs typeface="Verdana"/>
              </a:rPr>
              <a:t>With </a:t>
            </a:r>
            <a:r>
              <a:rPr sz="1800" b="1" dirty="0">
                <a:latin typeface="Verdana"/>
                <a:cs typeface="Verdana"/>
              </a:rPr>
              <a:t>NPS, you </a:t>
            </a:r>
            <a:r>
              <a:rPr sz="1800" b="1" spc="-5" dirty="0">
                <a:latin typeface="Verdana"/>
                <a:cs typeface="Verdana"/>
              </a:rPr>
              <a:t>use certificates for network access  authentication</a:t>
            </a:r>
            <a:r>
              <a:rPr sz="1800" b="1" spc="3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because: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797" y="2799397"/>
            <a:ext cx="8556625" cy="2011045"/>
            <a:chOff x="284797" y="2799397"/>
            <a:chExt cx="8556625" cy="2011045"/>
          </a:xfrm>
        </p:grpSpPr>
        <p:sp>
          <p:nvSpPr>
            <p:cNvPr id="10" name="object 10"/>
            <p:cNvSpPr/>
            <p:nvPr/>
          </p:nvSpPr>
          <p:spPr>
            <a:xfrm>
              <a:off x="289559" y="2804160"/>
              <a:ext cx="8547100" cy="2001520"/>
            </a:xfrm>
            <a:custGeom>
              <a:avLst/>
              <a:gdLst/>
              <a:ahLst/>
              <a:cxnLst/>
              <a:rect l="l" t="t" r="r" b="b"/>
              <a:pathLst>
                <a:path w="8547100" h="2001520">
                  <a:moveTo>
                    <a:pt x="8463153" y="0"/>
                  </a:moveTo>
                  <a:lnTo>
                    <a:pt x="83375" y="0"/>
                  </a:lnTo>
                  <a:lnTo>
                    <a:pt x="50920" y="6554"/>
                  </a:lnTo>
                  <a:lnTo>
                    <a:pt x="24418" y="24431"/>
                  </a:lnTo>
                  <a:lnTo>
                    <a:pt x="6551" y="50952"/>
                  </a:lnTo>
                  <a:lnTo>
                    <a:pt x="0" y="83438"/>
                  </a:lnTo>
                  <a:lnTo>
                    <a:pt x="0" y="1917572"/>
                  </a:lnTo>
                  <a:lnTo>
                    <a:pt x="6551" y="1950059"/>
                  </a:lnTo>
                  <a:lnTo>
                    <a:pt x="24418" y="1976580"/>
                  </a:lnTo>
                  <a:lnTo>
                    <a:pt x="50920" y="1994457"/>
                  </a:lnTo>
                  <a:lnTo>
                    <a:pt x="83375" y="2001012"/>
                  </a:lnTo>
                  <a:lnTo>
                    <a:pt x="8463153" y="2001012"/>
                  </a:lnTo>
                  <a:lnTo>
                    <a:pt x="8495639" y="1994457"/>
                  </a:lnTo>
                  <a:lnTo>
                    <a:pt x="8522160" y="1976580"/>
                  </a:lnTo>
                  <a:lnTo>
                    <a:pt x="8540037" y="1950059"/>
                  </a:lnTo>
                  <a:lnTo>
                    <a:pt x="8546592" y="1917572"/>
                  </a:lnTo>
                  <a:lnTo>
                    <a:pt x="8546592" y="83438"/>
                  </a:lnTo>
                  <a:lnTo>
                    <a:pt x="8540037" y="50952"/>
                  </a:lnTo>
                  <a:lnTo>
                    <a:pt x="8522160" y="24431"/>
                  </a:lnTo>
                  <a:lnTo>
                    <a:pt x="8495639" y="6554"/>
                  </a:lnTo>
                  <a:lnTo>
                    <a:pt x="8463153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9559" y="2804160"/>
              <a:ext cx="8547100" cy="2001520"/>
            </a:xfrm>
            <a:custGeom>
              <a:avLst/>
              <a:gdLst/>
              <a:ahLst/>
              <a:cxnLst/>
              <a:rect l="l" t="t" r="r" b="b"/>
              <a:pathLst>
                <a:path w="8547100" h="2001520">
                  <a:moveTo>
                    <a:pt x="0" y="83438"/>
                  </a:moveTo>
                  <a:lnTo>
                    <a:pt x="6551" y="50952"/>
                  </a:lnTo>
                  <a:lnTo>
                    <a:pt x="24418" y="24431"/>
                  </a:lnTo>
                  <a:lnTo>
                    <a:pt x="50920" y="6554"/>
                  </a:lnTo>
                  <a:lnTo>
                    <a:pt x="83375" y="0"/>
                  </a:lnTo>
                  <a:lnTo>
                    <a:pt x="8463153" y="0"/>
                  </a:lnTo>
                  <a:lnTo>
                    <a:pt x="8495639" y="6554"/>
                  </a:lnTo>
                  <a:lnTo>
                    <a:pt x="8522160" y="24431"/>
                  </a:lnTo>
                  <a:lnTo>
                    <a:pt x="8540037" y="50952"/>
                  </a:lnTo>
                  <a:lnTo>
                    <a:pt x="8546592" y="83438"/>
                  </a:lnTo>
                  <a:lnTo>
                    <a:pt x="8546592" y="1917572"/>
                  </a:lnTo>
                  <a:lnTo>
                    <a:pt x="8540037" y="1950059"/>
                  </a:lnTo>
                  <a:lnTo>
                    <a:pt x="8522160" y="1976580"/>
                  </a:lnTo>
                  <a:lnTo>
                    <a:pt x="8495639" y="1994457"/>
                  </a:lnTo>
                  <a:lnTo>
                    <a:pt x="8463153" y="2001012"/>
                  </a:lnTo>
                  <a:lnTo>
                    <a:pt x="83375" y="2001012"/>
                  </a:lnTo>
                  <a:lnTo>
                    <a:pt x="50920" y="1994457"/>
                  </a:lnTo>
                  <a:lnTo>
                    <a:pt x="24418" y="1976580"/>
                  </a:lnTo>
                  <a:lnTo>
                    <a:pt x="6551" y="1950059"/>
                  </a:lnTo>
                  <a:lnTo>
                    <a:pt x="0" y="1917572"/>
                  </a:lnTo>
                  <a:lnTo>
                    <a:pt x="0" y="8343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823" y="3107436"/>
              <a:ext cx="8130540" cy="419100"/>
            </a:xfrm>
            <a:custGeom>
              <a:avLst/>
              <a:gdLst/>
              <a:ahLst/>
              <a:cxnLst/>
              <a:rect l="l" t="t" r="r" b="b"/>
              <a:pathLst>
                <a:path w="8130540" h="419100">
                  <a:moveTo>
                    <a:pt x="8122666" y="0"/>
                  </a:moveTo>
                  <a:lnTo>
                    <a:pt x="7823" y="0"/>
                  </a:lnTo>
                  <a:lnTo>
                    <a:pt x="0" y="7874"/>
                  </a:lnTo>
                  <a:lnTo>
                    <a:pt x="0" y="411225"/>
                  </a:lnTo>
                  <a:lnTo>
                    <a:pt x="7823" y="419100"/>
                  </a:lnTo>
                  <a:lnTo>
                    <a:pt x="8122666" y="419100"/>
                  </a:lnTo>
                  <a:lnTo>
                    <a:pt x="8130540" y="411225"/>
                  </a:lnTo>
                  <a:lnTo>
                    <a:pt x="8130540" y="7874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823" y="3107436"/>
              <a:ext cx="8130540" cy="419100"/>
            </a:xfrm>
            <a:custGeom>
              <a:avLst/>
              <a:gdLst/>
              <a:ahLst/>
              <a:cxnLst/>
              <a:rect l="l" t="t" r="r" b="b"/>
              <a:pathLst>
                <a:path w="8130540" h="419100">
                  <a:moveTo>
                    <a:pt x="0" y="17525"/>
                  </a:moveTo>
                  <a:lnTo>
                    <a:pt x="0" y="7874"/>
                  </a:lnTo>
                  <a:lnTo>
                    <a:pt x="7823" y="0"/>
                  </a:lnTo>
                  <a:lnTo>
                    <a:pt x="17462" y="0"/>
                  </a:lnTo>
                  <a:lnTo>
                    <a:pt x="8113014" y="0"/>
                  </a:lnTo>
                  <a:lnTo>
                    <a:pt x="8122666" y="0"/>
                  </a:lnTo>
                  <a:lnTo>
                    <a:pt x="8130540" y="7874"/>
                  </a:lnTo>
                  <a:lnTo>
                    <a:pt x="8130540" y="17525"/>
                  </a:lnTo>
                  <a:lnTo>
                    <a:pt x="8130540" y="401574"/>
                  </a:lnTo>
                  <a:lnTo>
                    <a:pt x="8130540" y="411225"/>
                  </a:lnTo>
                  <a:lnTo>
                    <a:pt x="8122666" y="419100"/>
                  </a:lnTo>
                  <a:lnTo>
                    <a:pt x="8113014" y="419100"/>
                  </a:lnTo>
                  <a:lnTo>
                    <a:pt x="17462" y="419100"/>
                  </a:lnTo>
                  <a:lnTo>
                    <a:pt x="7823" y="419100"/>
                  </a:lnTo>
                  <a:lnTo>
                    <a:pt x="0" y="411225"/>
                  </a:lnTo>
                  <a:lnTo>
                    <a:pt x="0" y="401574"/>
                  </a:lnTo>
                  <a:lnTo>
                    <a:pt x="0" y="1752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5307" y="3169107"/>
            <a:ext cx="8114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865" indent="-22987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317500" algn="l"/>
              </a:tabLst>
            </a:pPr>
            <a:r>
              <a:rPr sz="1600" b="1" spc="-10" dirty="0">
                <a:latin typeface="Verdana"/>
                <a:cs typeface="Verdana"/>
              </a:rPr>
              <a:t>Provide for stronger</a:t>
            </a:r>
            <a:r>
              <a:rPr sz="1600" b="1" spc="11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security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2061" y="4049077"/>
            <a:ext cx="8140065" cy="430530"/>
            <a:chOff x="492061" y="4049077"/>
            <a:chExt cx="8140065" cy="430530"/>
          </a:xfrm>
        </p:grpSpPr>
        <p:sp>
          <p:nvSpPr>
            <p:cNvPr id="16" name="object 16"/>
            <p:cNvSpPr/>
            <p:nvPr/>
          </p:nvSpPr>
          <p:spPr>
            <a:xfrm>
              <a:off x="496823" y="4053840"/>
              <a:ext cx="8130540" cy="421005"/>
            </a:xfrm>
            <a:custGeom>
              <a:avLst/>
              <a:gdLst/>
              <a:ahLst/>
              <a:cxnLst/>
              <a:rect l="l" t="t" r="r" b="b"/>
              <a:pathLst>
                <a:path w="8130540" h="421004">
                  <a:moveTo>
                    <a:pt x="8122666" y="0"/>
                  </a:moveTo>
                  <a:lnTo>
                    <a:pt x="7848" y="0"/>
                  </a:lnTo>
                  <a:lnTo>
                    <a:pt x="0" y="7874"/>
                  </a:lnTo>
                  <a:lnTo>
                    <a:pt x="0" y="412750"/>
                  </a:lnTo>
                  <a:lnTo>
                    <a:pt x="7848" y="420624"/>
                  </a:lnTo>
                  <a:lnTo>
                    <a:pt x="8122666" y="420624"/>
                  </a:lnTo>
                  <a:lnTo>
                    <a:pt x="8130540" y="412750"/>
                  </a:lnTo>
                  <a:lnTo>
                    <a:pt x="8130540" y="7874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6823" y="4053840"/>
              <a:ext cx="8130540" cy="421005"/>
            </a:xfrm>
            <a:custGeom>
              <a:avLst/>
              <a:gdLst/>
              <a:ahLst/>
              <a:cxnLst/>
              <a:rect l="l" t="t" r="r" b="b"/>
              <a:pathLst>
                <a:path w="8130540" h="421004">
                  <a:moveTo>
                    <a:pt x="0" y="17526"/>
                  </a:moveTo>
                  <a:lnTo>
                    <a:pt x="0" y="7874"/>
                  </a:lnTo>
                  <a:lnTo>
                    <a:pt x="7848" y="0"/>
                  </a:lnTo>
                  <a:lnTo>
                    <a:pt x="17526" y="0"/>
                  </a:lnTo>
                  <a:lnTo>
                    <a:pt x="8113014" y="0"/>
                  </a:lnTo>
                  <a:lnTo>
                    <a:pt x="8122666" y="0"/>
                  </a:lnTo>
                  <a:lnTo>
                    <a:pt x="8130540" y="7874"/>
                  </a:lnTo>
                  <a:lnTo>
                    <a:pt x="8130540" y="17526"/>
                  </a:lnTo>
                  <a:lnTo>
                    <a:pt x="8130540" y="403098"/>
                  </a:lnTo>
                  <a:lnTo>
                    <a:pt x="8130540" y="412750"/>
                  </a:lnTo>
                  <a:lnTo>
                    <a:pt x="8122666" y="420624"/>
                  </a:lnTo>
                  <a:lnTo>
                    <a:pt x="8113014" y="420624"/>
                  </a:lnTo>
                  <a:lnTo>
                    <a:pt x="17526" y="420624"/>
                  </a:lnTo>
                  <a:lnTo>
                    <a:pt x="7848" y="420624"/>
                  </a:lnTo>
                  <a:lnTo>
                    <a:pt x="0" y="412750"/>
                  </a:lnTo>
                  <a:lnTo>
                    <a:pt x="0" y="403098"/>
                  </a:lnTo>
                  <a:lnTo>
                    <a:pt x="0" y="1752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5320" y="4116704"/>
            <a:ext cx="8114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865" indent="-229870">
              <a:lnSpc>
                <a:spcPct val="100000"/>
              </a:lnSpc>
              <a:spcBef>
                <a:spcPts val="95"/>
              </a:spcBef>
              <a:buClr>
                <a:srgbClr val="006699"/>
              </a:buClr>
              <a:buFont typeface="Verdana"/>
              <a:buChar char="•"/>
              <a:tabLst>
                <a:tab pos="317500" algn="l"/>
              </a:tabLst>
            </a:pPr>
            <a:r>
              <a:rPr sz="1600" b="1" spc="-10" dirty="0">
                <a:latin typeface="Verdana"/>
                <a:cs typeface="Verdana"/>
              </a:rPr>
              <a:t>Eliminate need for less secure, </a:t>
            </a:r>
            <a:r>
              <a:rPr sz="1600" b="1" spc="-5" dirty="0">
                <a:latin typeface="Verdana"/>
                <a:cs typeface="Verdana"/>
              </a:rPr>
              <a:t>password-based</a:t>
            </a:r>
            <a:r>
              <a:rPr sz="1600" b="1" spc="2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authentication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00900" y="4652771"/>
            <a:ext cx="1898903" cy="1714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8202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Required Certificates </a:t>
            </a:r>
            <a:r>
              <a:rPr spc="-5" dirty="0"/>
              <a:t>for </a:t>
            </a:r>
            <a:r>
              <a:rPr dirty="0"/>
              <a:t>NPS Authentication</a:t>
            </a:r>
            <a:r>
              <a:rPr spc="155" dirty="0"/>
              <a:t> </a:t>
            </a:r>
            <a:r>
              <a:rPr dirty="0"/>
              <a:t>Methods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3463" y="1085088"/>
            <a:ext cx="8667115" cy="1015365"/>
            <a:chOff x="283463" y="1085088"/>
            <a:chExt cx="8667115" cy="1015365"/>
          </a:xfrm>
        </p:grpSpPr>
        <p:sp>
          <p:nvSpPr>
            <p:cNvPr id="4" name="object 4"/>
            <p:cNvSpPr/>
            <p:nvPr/>
          </p:nvSpPr>
          <p:spPr>
            <a:xfrm>
              <a:off x="309371" y="1109472"/>
              <a:ext cx="8555736" cy="9906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3463" y="1260348"/>
              <a:ext cx="8666988" cy="7299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9559" y="1089660"/>
              <a:ext cx="8543544" cy="97840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9559" y="1089660"/>
              <a:ext cx="8543925" cy="978535"/>
            </a:xfrm>
            <a:custGeom>
              <a:avLst/>
              <a:gdLst/>
              <a:ahLst/>
              <a:cxnLst/>
              <a:rect l="l" t="t" r="r" b="b"/>
              <a:pathLst>
                <a:path w="8543925" h="978535">
                  <a:moveTo>
                    <a:pt x="0" y="55117"/>
                  </a:moveTo>
                  <a:lnTo>
                    <a:pt x="4331" y="33647"/>
                  </a:lnTo>
                  <a:lnTo>
                    <a:pt x="16144" y="16128"/>
                  </a:lnTo>
                  <a:lnTo>
                    <a:pt x="33668" y="4325"/>
                  </a:lnTo>
                  <a:lnTo>
                    <a:pt x="55130" y="0"/>
                  </a:lnTo>
                  <a:lnTo>
                    <a:pt x="8488426" y="0"/>
                  </a:lnTo>
                  <a:lnTo>
                    <a:pt x="8509896" y="4325"/>
                  </a:lnTo>
                  <a:lnTo>
                    <a:pt x="8527415" y="16128"/>
                  </a:lnTo>
                  <a:lnTo>
                    <a:pt x="8539218" y="33647"/>
                  </a:lnTo>
                  <a:lnTo>
                    <a:pt x="8543544" y="55117"/>
                  </a:lnTo>
                  <a:lnTo>
                    <a:pt x="8543544" y="923289"/>
                  </a:lnTo>
                  <a:lnTo>
                    <a:pt x="8539218" y="944760"/>
                  </a:lnTo>
                  <a:lnTo>
                    <a:pt x="8527415" y="962278"/>
                  </a:lnTo>
                  <a:lnTo>
                    <a:pt x="8509896" y="974082"/>
                  </a:lnTo>
                  <a:lnTo>
                    <a:pt x="8488426" y="978407"/>
                  </a:lnTo>
                  <a:lnTo>
                    <a:pt x="55130" y="978407"/>
                  </a:lnTo>
                  <a:lnTo>
                    <a:pt x="33668" y="974082"/>
                  </a:lnTo>
                  <a:lnTo>
                    <a:pt x="16144" y="962278"/>
                  </a:lnTo>
                  <a:lnTo>
                    <a:pt x="4331" y="944760"/>
                  </a:lnTo>
                  <a:lnTo>
                    <a:pt x="0" y="923289"/>
                  </a:lnTo>
                  <a:lnTo>
                    <a:pt x="0" y="55117"/>
                  </a:lnTo>
                  <a:close/>
                </a:path>
              </a:pathLst>
            </a:custGeom>
            <a:ln w="9144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83844" y="1290573"/>
            <a:ext cx="833374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require </a:t>
            </a:r>
            <a:r>
              <a:rPr sz="1800" b="1" dirty="0">
                <a:latin typeface="Verdana"/>
                <a:cs typeface="Verdana"/>
              </a:rPr>
              <a:t>the </a:t>
            </a:r>
            <a:r>
              <a:rPr sz="1800" b="1" spc="-5" dirty="0">
                <a:latin typeface="Verdana"/>
                <a:cs typeface="Verdana"/>
              </a:rPr>
              <a:t>following certificates </a:t>
            </a:r>
            <a:r>
              <a:rPr sz="1800" b="1" dirty="0">
                <a:latin typeface="Verdana"/>
                <a:cs typeface="Verdana"/>
              </a:rPr>
              <a:t>to </a:t>
            </a:r>
            <a:r>
              <a:rPr sz="1800" b="1" spc="-5" dirty="0">
                <a:latin typeface="Verdana"/>
                <a:cs typeface="Verdana"/>
              </a:rPr>
              <a:t>deploy certificate-based  authentication </a:t>
            </a:r>
            <a:r>
              <a:rPr sz="1800" b="1" dirty="0">
                <a:latin typeface="Verdana"/>
                <a:cs typeface="Verdana"/>
              </a:rPr>
              <a:t>in</a:t>
            </a:r>
            <a:r>
              <a:rPr sz="1800" b="1" spc="45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NPS: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988" y="2799588"/>
            <a:ext cx="8555990" cy="2749550"/>
            <a:chOff x="284988" y="2799588"/>
            <a:chExt cx="8555990" cy="2749550"/>
          </a:xfrm>
        </p:grpSpPr>
        <p:sp>
          <p:nvSpPr>
            <p:cNvPr id="10" name="object 10"/>
            <p:cNvSpPr/>
            <p:nvPr/>
          </p:nvSpPr>
          <p:spPr>
            <a:xfrm>
              <a:off x="289560" y="2804160"/>
              <a:ext cx="8547100" cy="2740660"/>
            </a:xfrm>
            <a:custGeom>
              <a:avLst/>
              <a:gdLst/>
              <a:ahLst/>
              <a:cxnLst/>
              <a:rect l="l" t="t" r="r" b="b"/>
              <a:pathLst>
                <a:path w="8547100" h="2740660">
                  <a:moveTo>
                    <a:pt x="8432419" y="0"/>
                  </a:moveTo>
                  <a:lnTo>
                    <a:pt x="114172" y="0"/>
                  </a:lnTo>
                  <a:lnTo>
                    <a:pt x="69731" y="8981"/>
                  </a:lnTo>
                  <a:lnTo>
                    <a:pt x="33440" y="33464"/>
                  </a:lnTo>
                  <a:lnTo>
                    <a:pt x="8972" y="69758"/>
                  </a:lnTo>
                  <a:lnTo>
                    <a:pt x="0" y="114173"/>
                  </a:lnTo>
                  <a:lnTo>
                    <a:pt x="0" y="2625979"/>
                  </a:lnTo>
                  <a:lnTo>
                    <a:pt x="8972" y="2670393"/>
                  </a:lnTo>
                  <a:lnTo>
                    <a:pt x="33440" y="2706687"/>
                  </a:lnTo>
                  <a:lnTo>
                    <a:pt x="69731" y="2731170"/>
                  </a:lnTo>
                  <a:lnTo>
                    <a:pt x="114172" y="2740152"/>
                  </a:lnTo>
                  <a:lnTo>
                    <a:pt x="8432419" y="2740152"/>
                  </a:lnTo>
                  <a:lnTo>
                    <a:pt x="8476833" y="2731170"/>
                  </a:lnTo>
                  <a:lnTo>
                    <a:pt x="8513127" y="2706687"/>
                  </a:lnTo>
                  <a:lnTo>
                    <a:pt x="8537610" y="2670393"/>
                  </a:lnTo>
                  <a:lnTo>
                    <a:pt x="8546592" y="2625979"/>
                  </a:lnTo>
                  <a:lnTo>
                    <a:pt x="8546592" y="114173"/>
                  </a:lnTo>
                  <a:lnTo>
                    <a:pt x="8537610" y="69758"/>
                  </a:lnTo>
                  <a:lnTo>
                    <a:pt x="8513127" y="33464"/>
                  </a:lnTo>
                  <a:lnTo>
                    <a:pt x="8476833" y="8981"/>
                  </a:lnTo>
                  <a:lnTo>
                    <a:pt x="8432419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9560" y="2804160"/>
              <a:ext cx="8547100" cy="2740660"/>
            </a:xfrm>
            <a:custGeom>
              <a:avLst/>
              <a:gdLst/>
              <a:ahLst/>
              <a:cxnLst/>
              <a:rect l="l" t="t" r="r" b="b"/>
              <a:pathLst>
                <a:path w="8547100" h="2740660">
                  <a:moveTo>
                    <a:pt x="0" y="114173"/>
                  </a:moveTo>
                  <a:lnTo>
                    <a:pt x="8972" y="69758"/>
                  </a:lnTo>
                  <a:lnTo>
                    <a:pt x="33440" y="33464"/>
                  </a:lnTo>
                  <a:lnTo>
                    <a:pt x="69731" y="8981"/>
                  </a:lnTo>
                  <a:lnTo>
                    <a:pt x="114172" y="0"/>
                  </a:lnTo>
                  <a:lnTo>
                    <a:pt x="8432419" y="0"/>
                  </a:lnTo>
                  <a:lnTo>
                    <a:pt x="8476833" y="8981"/>
                  </a:lnTo>
                  <a:lnTo>
                    <a:pt x="8513127" y="33464"/>
                  </a:lnTo>
                  <a:lnTo>
                    <a:pt x="8537610" y="69758"/>
                  </a:lnTo>
                  <a:lnTo>
                    <a:pt x="8546592" y="114173"/>
                  </a:lnTo>
                  <a:lnTo>
                    <a:pt x="8546592" y="2625979"/>
                  </a:lnTo>
                  <a:lnTo>
                    <a:pt x="8537610" y="2670393"/>
                  </a:lnTo>
                  <a:lnTo>
                    <a:pt x="8513127" y="2706687"/>
                  </a:lnTo>
                  <a:lnTo>
                    <a:pt x="8476833" y="2731170"/>
                  </a:lnTo>
                  <a:lnTo>
                    <a:pt x="8432419" y="2740152"/>
                  </a:lnTo>
                  <a:lnTo>
                    <a:pt x="114172" y="2740152"/>
                  </a:lnTo>
                  <a:lnTo>
                    <a:pt x="69731" y="2731170"/>
                  </a:lnTo>
                  <a:lnTo>
                    <a:pt x="33440" y="2706687"/>
                  </a:lnTo>
                  <a:lnTo>
                    <a:pt x="8972" y="2670393"/>
                  </a:lnTo>
                  <a:lnTo>
                    <a:pt x="0" y="2625979"/>
                  </a:lnTo>
                  <a:lnTo>
                    <a:pt x="0" y="114173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6824" y="3115056"/>
              <a:ext cx="8130540" cy="2158365"/>
            </a:xfrm>
            <a:custGeom>
              <a:avLst/>
              <a:gdLst/>
              <a:ahLst/>
              <a:cxnLst/>
              <a:rect l="l" t="t" r="r" b="b"/>
              <a:pathLst>
                <a:path w="8130540" h="2158365">
                  <a:moveTo>
                    <a:pt x="8040624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2068068"/>
                  </a:lnTo>
                  <a:lnTo>
                    <a:pt x="7066" y="2103066"/>
                  </a:lnTo>
                  <a:lnTo>
                    <a:pt x="26336" y="2131647"/>
                  </a:lnTo>
                  <a:lnTo>
                    <a:pt x="54917" y="2150917"/>
                  </a:lnTo>
                  <a:lnTo>
                    <a:pt x="89916" y="2157984"/>
                  </a:lnTo>
                  <a:lnTo>
                    <a:pt x="8040624" y="2157984"/>
                  </a:lnTo>
                  <a:lnTo>
                    <a:pt x="8075622" y="2150917"/>
                  </a:lnTo>
                  <a:lnTo>
                    <a:pt x="8104203" y="2131647"/>
                  </a:lnTo>
                  <a:lnTo>
                    <a:pt x="8123473" y="2103066"/>
                  </a:lnTo>
                  <a:lnTo>
                    <a:pt x="8130540" y="2068068"/>
                  </a:lnTo>
                  <a:lnTo>
                    <a:pt x="8130540" y="89916"/>
                  </a:lnTo>
                  <a:lnTo>
                    <a:pt x="8123473" y="54917"/>
                  </a:lnTo>
                  <a:lnTo>
                    <a:pt x="8104203" y="26336"/>
                  </a:lnTo>
                  <a:lnTo>
                    <a:pt x="8075622" y="7066"/>
                  </a:lnTo>
                  <a:lnTo>
                    <a:pt x="8040624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6824" y="3115056"/>
              <a:ext cx="8130540" cy="2158365"/>
            </a:xfrm>
            <a:custGeom>
              <a:avLst/>
              <a:gdLst/>
              <a:ahLst/>
              <a:cxnLst/>
              <a:rect l="l" t="t" r="r" b="b"/>
              <a:pathLst>
                <a:path w="8130540" h="2158365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6" y="0"/>
                  </a:lnTo>
                  <a:lnTo>
                    <a:pt x="8040624" y="0"/>
                  </a:lnTo>
                  <a:lnTo>
                    <a:pt x="8075622" y="7066"/>
                  </a:lnTo>
                  <a:lnTo>
                    <a:pt x="8104203" y="26336"/>
                  </a:lnTo>
                  <a:lnTo>
                    <a:pt x="8123473" y="54917"/>
                  </a:lnTo>
                  <a:lnTo>
                    <a:pt x="8130540" y="89916"/>
                  </a:lnTo>
                  <a:lnTo>
                    <a:pt x="8130540" y="2068068"/>
                  </a:lnTo>
                  <a:lnTo>
                    <a:pt x="8123473" y="2103066"/>
                  </a:lnTo>
                  <a:lnTo>
                    <a:pt x="8104203" y="2131647"/>
                  </a:lnTo>
                  <a:lnTo>
                    <a:pt x="8075622" y="2150917"/>
                  </a:lnTo>
                  <a:lnTo>
                    <a:pt x="8040624" y="2157984"/>
                  </a:lnTo>
                  <a:lnTo>
                    <a:pt x="89916" y="2157984"/>
                  </a:lnTo>
                  <a:lnTo>
                    <a:pt x="54917" y="2150917"/>
                  </a:lnTo>
                  <a:lnTo>
                    <a:pt x="26336" y="2131647"/>
                  </a:lnTo>
                  <a:lnTo>
                    <a:pt x="7066" y="2103066"/>
                  </a:lnTo>
                  <a:lnTo>
                    <a:pt x="0" y="2068068"/>
                  </a:lnTo>
                  <a:lnTo>
                    <a:pt x="0" y="8991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2081" y="3351403"/>
            <a:ext cx="7338059" cy="165925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1300" marR="1251585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CA </a:t>
            </a:r>
            <a:r>
              <a:rPr sz="1600" b="1" spc="-10" dirty="0">
                <a:latin typeface="Verdana"/>
                <a:cs typeface="Verdana"/>
              </a:rPr>
              <a:t>certificate in </a:t>
            </a:r>
            <a:r>
              <a:rPr sz="1600" b="1" spc="-5" dirty="0">
                <a:latin typeface="Verdana"/>
                <a:cs typeface="Verdana"/>
              </a:rPr>
              <a:t>the Trusted </a:t>
            </a:r>
            <a:r>
              <a:rPr sz="1600" b="1" spc="-10" dirty="0">
                <a:latin typeface="Verdana"/>
                <a:cs typeface="Verdana"/>
              </a:rPr>
              <a:t>Root Certification  Authorities certificate store for </a:t>
            </a:r>
            <a:r>
              <a:rPr sz="1600" b="1" spc="-5" dirty="0">
                <a:latin typeface="Verdana"/>
                <a:cs typeface="Verdana"/>
              </a:rPr>
              <a:t>the Local Computer  and Current</a:t>
            </a:r>
            <a:r>
              <a:rPr sz="1600" b="1" spc="4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User</a:t>
            </a:r>
            <a:endParaRPr sz="16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54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Client computer certificate in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certificate store </a:t>
            </a:r>
            <a:r>
              <a:rPr sz="1600" b="1" spc="-5" dirty="0">
                <a:latin typeface="Verdana"/>
                <a:cs typeface="Verdana"/>
              </a:rPr>
              <a:t>of the</a:t>
            </a:r>
            <a:r>
              <a:rPr sz="1600" b="1" spc="29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client</a:t>
            </a:r>
            <a:endParaRPr sz="16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10" dirty="0">
                <a:latin typeface="Verdana"/>
                <a:cs typeface="Verdana"/>
              </a:rPr>
              <a:t>Server certificate in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certificate store </a:t>
            </a:r>
            <a:r>
              <a:rPr sz="1600" b="1" spc="-5" dirty="0">
                <a:latin typeface="Verdana"/>
                <a:cs typeface="Verdana"/>
              </a:rPr>
              <a:t>of the NPS</a:t>
            </a:r>
            <a:r>
              <a:rPr sz="1600" b="1" spc="2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server</a:t>
            </a:r>
            <a:endParaRPr sz="16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User </a:t>
            </a:r>
            <a:r>
              <a:rPr sz="1600" b="1" spc="-10" dirty="0">
                <a:latin typeface="Verdana"/>
                <a:cs typeface="Verdana"/>
              </a:rPr>
              <a:t>certificate </a:t>
            </a:r>
            <a:r>
              <a:rPr sz="1600" b="1" spc="-5" dirty="0">
                <a:latin typeface="Verdana"/>
                <a:cs typeface="Verdana"/>
              </a:rPr>
              <a:t>on a smart</a:t>
            </a:r>
            <a:r>
              <a:rPr sz="1600" b="1" spc="9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card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6158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Deploying </a:t>
            </a:r>
            <a:r>
              <a:rPr spc="-10" dirty="0"/>
              <a:t>Certificates </a:t>
            </a:r>
            <a:r>
              <a:rPr spc="-5" dirty="0"/>
              <a:t>for PEAP </a:t>
            </a:r>
            <a:r>
              <a:rPr dirty="0"/>
              <a:t>and</a:t>
            </a:r>
            <a:r>
              <a:rPr spc="150" dirty="0"/>
              <a:t> </a:t>
            </a:r>
            <a:r>
              <a:rPr spc="-5" dirty="0"/>
              <a:t>EAP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940" y="1240536"/>
            <a:ext cx="8555990" cy="4312920"/>
            <a:chOff x="281940" y="1240536"/>
            <a:chExt cx="8555990" cy="4312920"/>
          </a:xfrm>
        </p:grpSpPr>
        <p:sp>
          <p:nvSpPr>
            <p:cNvPr id="4" name="object 4"/>
            <p:cNvSpPr/>
            <p:nvPr/>
          </p:nvSpPr>
          <p:spPr>
            <a:xfrm>
              <a:off x="286512" y="1245108"/>
              <a:ext cx="8547100" cy="4304030"/>
            </a:xfrm>
            <a:custGeom>
              <a:avLst/>
              <a:gdLst/>
              <a:ahLst/>
              <a:cxnLst/>
              <a:rect l="l" t="t" r="r" b="b"/>
              <a:pathLst>
                <a:path w="8547100" h="4304030">
                  <a:moveTo>
                    <a:pt x="8367268" y="0"/>
                  </a:moveTo>
                  <a:lnTo>
                    <a:pt x="179336" y="0"/>
                  </a:lnTo>
                  <a:lnTo>
                    <a:pt x="131661" y="6404"/>
                  </a:lnTo>
                  <a:lnTo>
                    <a:pt x="88820" y="24478"/>
                  </a:lnTo>
                  <a:lnTo>
                    <a:pt x="52525" y="52514"/>
                  </a:lnTo>
                  <a:lnTo>
                    <a:pt x="24484" y="88805"/>
                  </a:lnTo>
                  <a:lnTo>
                    <a:pt x="6405" y="131644"/>
                  </a:lnTo>
                  <a:lnTo>
                    <a:pt x="0" y="179324"/>
                  </a:lnTo>
                  <a:lnTo>
                    <a:pt x="0" y="4124452"/>
                  </a:lnTo>
                  <a:lnTo>
                    <a:pt x="6405" y="4172131"/>
                  </a:lnTo>
                  <a:lnTo>
                    <a:pt x="24484" y="4214970"/>
                  </a:lnTo>
                  <a:lnTo>
                    <a:pt x="52525" y="4251261"/>
                  </a:lnTo>
                  <a:lnTo>
                    <a:pt x="88820" y="4279297"/>
                  </a:lnTo>
                  <a:lnTo>
                    <a:pt x="131661" y="4297371"/>
                  </a:lnTo>
                  <a:lnTo>
                    <a:pt x="179336" y="4303776"/>
                  </a:lnTo>
                  <a:lnTo>
                    <a:pt x="8367268" y="4303776"/>
                  </a:lnTo>
                  <a:lnTo>
                    <a:pt x="8414947" y="4297371"/>
                  </a:lnTo>
                  <a:lnTo>
                    <a:pt x="8457786" y="4279297"/>
                  </a:lnTo>
                  <a:lnTo>
                    <a:pt x="8494077" y="4251261"/>
                  </a:lnTo>
                  <a:lnTo>
                    <a:pt x="8522113" y="4214970"/>
                  </a:lnTo>
                  <a:lnTo>
                    <a:pt x="8540187" y="4172131"/>
                  </a:lnTo>
                  <a:lnTo>
                    <a:pt x="8546592" y="4124452"/>
                  </a:lnTo>
                  <a:lnTo>
                    <a:pt x="8546592" y="179324"/>
                  </a:lnTo>
                  <a:lnTo>
                    <a:pt x="8540187" y="131644"/>
                  </a:lnTo>
                  <a:lnTo>
                    <a:pt x="8522113" y="88805"/>
                  </a:lnTo>
                  <a:lnTo>
                    <a:pt x="8494077" y="52514"/>
                  </a:lnTo>
                  <a:lnTo>
                    <a:pt x="8457786" y="24478"/>
                  </a:lnTo>
                  <a:lnTo>
                    <a:pt x="8414947" y="6404"/>
                  </a:lnTo>
                  <a:lnTo>
                    <a:pt x="8367268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6512" y="1245108"/>
              <a:ext cx="8547100" cy="4304030"/>
            </a:xfrm>
            <a:custGeom>
              <a:avLst/>
              <a:gdLst/>
              <a:ahLst/>
              <a:cxnLst/>
              <a:rect l="l" t="t" r="r" b="b"/>
              <a:pathLst>
                <a:path w="8547100" h="4304030">
                  <a:moveTo>
                    <a:pt x="0" y="179324"/>
                  </a:moveTo>
                  <a:lnTo>
                    <a:pt x="6405" y="131644"/>
                  </a:lnTo>
                  <a:lnTo>
                    <a:pt x="24484" y="88805"/>
                  </a:lnTo>
                  <a:lnTo>
                    <a:pt x="52525" y="52514"/>
                  </a:lnTo>
                  <a:lnTo>
                    <a:pt x="88820" y="24478"/>
                  </a:lnTo>
                  <a:lnTo>
                    <a:pt x="131661" y="6404"/>
                  </a:lnTo>
                  <a:lnTo>
                    <a:pt x="179336" y="0"/>
                  </a:lnTo>
                  <a:lnTo>
                    <a:pt x="8367268" y="0"/>
                  </a:lnTo>
                  <a:lnTo>
                    <a:pt x="8414947" y="6404"/>
                  </a:lnTo>
                  <a:lnTo>
                    <a:pt x="8457786" y="24478"/>
                  </a:lnTo>
                  <a:lnTo>
                    <a:pt x="8494077" y="52514"/>
                  </a:lnTo>
                  <a:lnTo>
                    <a:pt x="8522113" y="88805"/>
                  </a:lnTo>
                  <a:lnTo>
                    <a:pt x="8540187" y="131644"/>
                  </a:lnTo>
                  <a:lnTo>
                    <a:pt x="8546592" y="179324"/>
                  </a:lnTo>
                  <a:lnTo>
                    <a:pt x="8546592" y="4124452"/>
                  </a:lnTo>
                  <a:lnTo>
                    <a:pt x="8540187" y="4172131"/>
                  </a:lnTo>
                  <a:lnTo>
                    <a:pt x="8522113" y="4214970"/>
                  </a:lnTo>
                  <a:lnTo>
                    <a:pt x="8494077" y="4251261"/>
                  </a:lnTo>
                  <a:lnTo>
                    <a:pt x="8457786" y="4279297"/>
                  </a:lnTo>
                  <a:lnTo>
                    <a:pt x="8414947" y="4297371"/>
                  </a:lnTo>
                  <a:lnTo>
                    <a:pt x="8367268" y="4303776"/>
                  </a:lnTo>
                  <a:lnTo>
                    <a:pt x="179336" y="4303776"/>
                  </a:lnTo>
                  <a:lnTo>
                    <a:pt x="131661" y="4297371"/>
                  </a:lnTo>
                  <a:lnTo>
                    <a:pt x="88820" y="4279297"/>
                  </a:lnTo>
                  <a:lnTo>
                    <a:pt x="52525" y="4251261"/>
                  </a:lnTo>
                  <a:lnTo>
                    <a:pt x="24484" y="4214970"/>
                  </a:lnTo>
                  <a:lnTo>
                    <a:pt x="6405" y="4172131"/>
                  </a:lnTo>
                  <a:lnTo>
                    <a:pt x="0" y="4124452"/>
                  </a:lnTo>
                  <a:lnTo>
                    <a:pt x="0" y="179324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3776" y="1548384"/>
              <a:ext cx="8130540" cy="840105"/>
            </a:xfrm>
            <a:custGeom>
              <a:avLst/>
              <a:gdLst/>
              <a:ahLst/>
              <a:cxnLst/>
              <a:rect l="l" t="t" r="r" b="b"/>
              <a:pathLst>
                <a:path w="8130540" h="840105">
                  <a:moveTo>
                    <a:pt x="8095488" y="0"/>
                  </a:moveTo>
                  <a:lnTo>
                    <a:pt x="34988" y="0"/>
                  </a:lnTo>
                  <a:lnTo>
                    <a:pt x="21366" y="2744"/>
                  </a:lnTo>
                  <a:lnTo>
                    <a:pt x="10245" y="10239"/>
                  </a:lnTo>
                  <a:lnTo>
                    <a:pt x="2748" y="21377"/>
                  </a:lnTo>
                  <a:lnTo>
                    <a:pt x="0" y="35051"/>
                  </a:lnTo>
                  <a:lnTo>
                    <a:pt x="0" y="804671"/>
                  </a:lnTo>
                  <a:lnTo>
                    <a:pt x="2748" y="818346"/>
                  </a:lnTo>
                  <a:lnTo>
                    <a:pt x="10245" y="829484"/>
                  </a:lnTo>
                  <a:lnTo>
                    <a:pt x="21366" y="836979"/>
                  </a:lnTo>
                  <a:lnTo>
                    <a:pt x="34988" y="839724"/>
                  </a:lnTo>
                  <a:lnTo>
                    <a:pt x="8095488" y="839724"/>
                  </a:lnTo>
                  <a:lnTo>
                    <a:pt x="8109162" y="836979"/>
                  </a:lnTo>
                  <a:lnTo>
                    <a:pt x="8120300" y="829484"/>
                  </a:lnTo>
                  <a:lnTo>
                    <a:pt x="8127795" y="818346"/>
                  </a:lnTo>
                  <a:lnTo>
                    <a:pt x="8130540" y="804671"/>
                  </a:lnTo>
                  <a:lnTo>
                    <a:pt x="8130540" y="35051"/>
                  </a:lnTo>
                  <a:lnTo>
                    <a:pt x="8127795" y="21377"/>
                  </a:lnTo>
                  <a:lnTo>
                    <a:pt x="8120300" y="10239"/>
                  </a:lnTo>
                  <a:lnTo>
                    <a:pt x="8109162" y="2744"/>
                  </a:lnTo>
                  <a:lnTo>
                    <a:pt x="809548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3776" y="1548384"/>
              <a:ext cx="8130540" cy="840105"/>
            </a:xfrm>
            <a:custGeom>
              <a:avLst/>
              <a:gdLst/>
              <a:ahLst/>
              <a:cxnLst/>
              <a:rect l="l" t="t" r="r" b="b"/>
              <a:pathLst>
                <a:path w="8130540" h="840105">
                  <a:moveTo>
                    <a:pt x="0" y="35051"/>
                  </a:moveTo>
                  <a:lnTo>
                    <a:pt x="2748" y="21377"/>
                  </a:lnTo>
                  <a:lnTo>
                    <a:pt x="10245" y="10239"/>
                  </a:lnTo>
                  <a:lnTo>
                    <a:pt x="21366" y="2744"/>
                  </a:lnTo>
                  <a:lnTo>
                    <a:pt x="34988" y="0"/>
                  </a:lnTo>
                  <a:lnTo>
                    <a:pt x="8095488" y="0"/>
                  </a:lnTo>
                  <a:lnTo>
                    <a:pt x="8109162" y="2744"/>
                  </a:lnTo>
                  <a:lnTo>
                    <a:pt x="8120300" y="10239"/>
                  </a:lnTo>
                  <a:lnTo>
                    <a:pt x="8127795" y="21377"/>
                  </a:lnTo>
                  <a:lnTo>
                    <a:pt x="8130540" y="35051"/>
                  </a:lnTo>
                  <a:lnTo>
                    <a:pt x="8130540" y="804671"/>
                  </a:lnTo>
                  <a:lnTo>
                    <a:pt x="8127795" y="818346"/>
                  </a:lnTo>
                  <a:lnTo>
                    <a:pt x="8120300" y="829484"/>
                  </a:lnTo>
                  <a:lnTo>
                    <a:pt x="8109162" y="836979"/>
                  </a:lnTo>
                  <a:lnTo>
                    <a:pt x="8095488" y="839724"/>
                  </a:lnTo>
                  <a:lnTo>
                    <a:pt x="34988" y="839724"/>
                  </a:lnTo>
                  <a:lnTo>
                    <a:pt x="21366" y="836979"/>
                  </a:lnTo>
                  <a:lnTo>
                    <a:pt x="10245" y="829484"/>
                  </a:lnTo>
                  <a:lnTo>
                    <a:pt x="2748" y="818346"/>
                  </a:lnTo>
                  <a:lnTo>
                    <a:pt x="0" y="804671"/>
                  </a:lnTo>
                  <a:lnTo>
                    <a:pt x="0" y="3505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3776" y="2493263"/>
              <a:ext cx="8130540" cy="844550"/>
            </a:xfrm>
            <a:custGeom>
              <a:avLst/>
              <a:gdLst/>
              <a:ahLst/>
              <a:cxnLst/>
              <a:rect l="l" t="t" r="r" b="b"/>
              <a:pathLst>
                <a:path w="8130540" h="844550">
                  <a:moveTo>
                    <a:pt x="8095360" y="0"/>
                  </a:moveTo>
                  <a:lnTo>
                    <a:pt x="35178" y="0"/>
                  </a:lnTo>
                  <a:lnTo>
                    <a:pt x="21484" y="2764"/>
                  </a:lnTo>
                  <a:lnTo>
                    <a:pt x="10302" y="10302"/>
                  </a:lnTo>
                  <a:lnTo>
                    <a:pt x="2764" y="21484"/>
                  </a:lnTo>
                  <a:lnTo>
                    <a:pt x="0" y="35178"/>
                  </a:lnTo>
                  <a:lnTo>
                    <a:pt x="0" y="809116"/>
                  </a:lnTo>
                  <a:lnTo>
                    <a:pt x="2764" y="822811"/>
                  </a:lnTo>
                  <a:lnTo>
                    <a:pt x="10302" y="833993"/>
                  </a:lnTo>
                  <a:lnTo>
                    <a:pt x="21484" y="841531"/>
                  </a:lnTo>
                  <a:lnTo>
                    <a:pt x="35178" y="844296"/>
                  </a:lnTo>
                  <a:lnTo>
                    <a:pt x="8095360" y="844296"/>
                  </a:lnTo>
                  <a:lnTo>
                    <a:pt x="8109055" y="841531"/>
                  </a:lnTo>
                  <a:lnTo>
                    <a:pt x="8120237" y="833993"/>
                  </a:lnTo>
                  <a:lnTo>
                    <a:pt x="8127775" y="822811"/>
                  </a:lnTo>
                  <a:lnTo>
                    <a:pt x="8130540" y="809116"/>
                  </a:lnTo>
                  <a:lnTo>
                    <a:pt x="8130540" y="35178"/>
                  </a:lnTo>
                  <a:lnTo>
                    <a:pt x="8127775" y="21484"/>
                  </a:lnTo>
                  <a:lnTo>
                    <a:pt x="8120237" y="10302"/>
                  </a:lnTo>
                  <a:lnTo>
                    <a:pt x="8109055" y="2764"/>
                  </a:lnTo>
                  <a:lnTo>
                    <a:pt x="809536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3776" y="2493263"/>
              <a:ext cx="8130540" cy="844550"/>
            </a:xfrm>
            <a:custGeom>
              <a:avLst/>
              <a:gdLst/>
              <a:ahLst/>
              <a:cxnLst/>
              <a:rect l="l" t="t" r="r" b="b"/>
              <a:pathLst>
                <a:path w="8130540" h="844550">
                  <a:moveTo>
                    <a:pt x="0" y="35178"/>
                  </a:moveTo>
                  <a:lnTo>
                    <a:pt x="2764" y="21484"/>
                  </a:lnTo>
                  <a:lnTo>
                    <a:pt x="10302" y="10302"/>
                  </a:lnTo>
                  <a:lnTo>
                    <a:pt x="21484" y="2764"/>
                  </a:lnTo>
                  <a:lnTo>
                    <a:pt x="35178" y="0"/>
                  </a:lnTo>
                  <a:lnTo>
                    <a:pt x="8095360" y="0"/>
                  </a:lnTo>
                  <a:lnTo>
                    <a:pt x="8109055" y="2764"/>
                  </a:lnTo>
                  <a:lnTo>
                    <a:pt x="8120237" y="10302"/>
                  </a:lnTo>
                  <a:lnTo>
                    <a:pt x="8127775" y="21484"/>
                  </a:lnTo>
                  <a:lnTo>
                    <a:pt x="8130540" y="35178"/>
                  </a:lnTo>
                  <a:lnTo>
                    <a:pt x="8130540" y="809116"/>
                  </a:lnTo>
                  <a:lnTo>
                    <a:pt x="8127775" y="822811"/>
                  </a:lnTo>
                  <a:lnTo>
                    <a:pt x="8120237" y="833993"/>
                  </a:lnTo>
                  <a:lnTo>
                    <a:pt x="8109055" y="841531"/>
                  </a:lnTo>
                  <a:lnTo>
                    <a:pt x="8095360" y="844296"/>
                  </a:lnTo>
                  <a:lnTo>
                    <a:pt x="35178" y="844296"/>
                  </a:lnTo>
                  <a:lnTo>
                    <a:pt x="21484" y="841531"/>
                  </a:lnTo>
                  <a:lnTo>
                    <a:pt x="10302" y="833993"/>
                  </a:lnTo>
                  <a:lnTo>
                    <a:pt x="2764" y="822811"/>
                  </a:lnTo>
                  <a:lnTo>
                    <a:pt x="0" y="809116"/>
                  </a:lnTo>
                  <a:lnTo>
                    <a:pt x="0" y="3517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0728" y="3445763"/>
              <a:ext cx="8130540" cy="844550"/>
            </a:xfrm>
            <a:custGeom>
              <a:avLst/>
              <a:gdLst/>
              <a:ahLst/>
              <a:cxnLst/>
              <a:rect l="l" t="t" r="r" b="b"/>
              <a:pathLst>
                <a:path w="8130540" h="844550">
                  <a:moveTo>
                    <a:pt x="8095361" y="0"/>
                  </a:moveTo>
                  <a:lnTo>
                    <a:pt x="35178" y="0"/>
                  </a:lnTo>
                  <a:lnTo>
                    <a:pt x="21484" y="2764"/>
                  </a:lnTo>
                  <a:lnTo>
                    <a:pt x="10302" y="10302"/>
                  </a:lnTo>
                  <a:lnTo>
                    <a:pt x="2764" y="21484"/>
                  </a:lnTo>
                  <a:lnTo>
                    <a:pt x="0" y="35178"/>
                  </a:lnTo>
                  <a:lnTo>
                    <a:pt x="0" y="809117"/>
                  </a:lnTo>
                  <a:lnTo>
                    <a:pt x="2764" y="822811"/>
                  </a:lnTo>
                  <a:lnTo>
                    <a:pt x="10302" y="833993"/>
                  </a:lnTo>
                  <a:lnTo>
                    <a:pt x="21484" y="841531"/>
                  </a:lnTo>
                  <a:lnTo>
                    <a:pt x="35178" y="844296"/>
                  </a:lnTo>
                  <a:lnTo>
                    <a:pt x="8095361" y="844296"/>
                  </a:lnTo>
                  <a:lnTo>
                    <a:pt x="8109055" y="841531"/>
                  </a:lnTo>
                  <a:lnTo>
                    <a:pt x="8120237" y="833993"/>
                  </a:lnTo>
                  <a:lnTo>
                    <a:pt x="8127775" y="822811"/>
                  </a:lnTo>
                  <a:lnTo>
                    <a:pt x="8130540" y="809117"/>
                  </a:lnTo>
                  <a:lnTo>
                    <a:pt x="8130540" y="35178"/>
                  </a:lnTo>
                  <a:lnTo>
                    <a:pt x="8127775" y="21484"/>
                  </a:lnTo>
                  <a:lnTo>
                    <a:pt x="8120237" y="10302"/>
                  </a:lnTo>
                  <a:lnTo>
                    <a:pt x="8109055" y="2764"/>
                  </a:lnTo>
                  <a:lnTo>
                    <a:pt x="809536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0728" y="3445763"/>
              <a:ext cx="8130540" cy="844550"/>
            </a:xfrm>
            <a:custGeom>
              <a:avLst/>
              <a:gdLst/>
              <a:ahLst/>
              <a:cxnLst/>
              <a:rect l="l" t="t" r="r" b="b"/>
              <a:pathLst>
                <a:path w="8130540" h="844550">
                  <a:moveTo>
                    <a:pt x="0" y="35178"/>
                  </a:moveTo>
                  <a:lnTo>
                    <a:pt x="2764" y="21484"/>
                  </a:lnTo>
                  <a:lnTo>
                    <a:pt x="10302" y="10302"/>
                  </a:lnTo>
                  <a:lnTo>
                    <a:pt x="21484" y="2764"/>
                  </a:lnTo>
                  <a:lnTo>
                    <a:pt x="35178" y="0"/>
                  </a:lnTo>
                  <a:lnTo>
                    <a:pt x="8095361" y="0"/>
                  </a:lnTo>
                  <a:lnTo>
                    <a:pt x="8109055" y="2764"/>
                  </a:lnTo>
                  <a:lnTo>
                    <a:pt x="8120237" y="10302"/>
                  </a:lnTo>
                  <a:lnTo>
                    <a:pt x="8127775" y="21484"/>
                  </a:lnTo>
                  <a:lnTo>
                    <a:pt x="8130540" y="35178"/>
                  </a:lnTo>
                  <a:lnTo>
                    <a:pt x="8130540" y="809117"/>
                  </a:lnTo>
                  <a:lnTo>
                    <a:pt x="8127775" y="822811"/>
                  </a:lnTo>
                  <a:lnTo>
                    <a:pt x="8120237" y="833993"/>
                  </a:lnTo>
                  <a:lnTo>
                    <a:pt x="8109055" y="841531"/>
                  </a:lnTo>
                  <a:lnTo>
                    <a:pt x="8095361" y="844296"/>
                  </a:lnTo>
                  <a:lnTo>
                    <a:pt x="35178" y="844296"/>
                  </a:lnTo>
                  <a:lnTo>
                    <a:pt x="21484" y="841531"/>
                  </a:lnTo>
                  <a:lnTo>
                    <a:pt x="10302" y="833993"/>
                  </a:lnTo>
                  <a:lnTo>
                    <a:pt x="2764" y="822811"/>
                  </a:lnTo>
                  <a:lnTo>
                    <a:pt x="0" y="809117"/>
                  </a:lnTo>
                  <a:lnTo>
                    <a:pt x="0" y="3517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728" y="4398263"/>
              <a:ext cx="8130540" cy="844550"/>
            </a:xfrm>
            <a:custGeom>
              <a:avLst/>
              <a:gdLst/>
              <a:ahLst/>
              <a:cxnLst/>
              <a:rect l="l" t="t" r="r" b="b"/>
              <a:pathLst>
                <a:path w="8130540" h="844550">
                  <a:moveTo>
                    <a:pt x="8095361" y="0"/>
                  </a:moveTo>
                  <a:lnTo>
                    <a:pt x="35178" y="0"/>
                  </a:lnTo>
                  <a:lnTo>
                    <a:pt x="21484" y="2764"/>
                  </a:lnTo>
                  <a:lnTo>
                    <a:pt x="10302" y="10302"/>
                  </a:lnTo>
                  <a:lnTo>
                    <a:pt x="2764" y="21484"/>
                  </a:lnTo>
                  <a:lnTo>
                    <a:pt x="0" y="35179"/>
                  </a:lnTo>
                  <a:lnTo>
                    <a:pt x="0" y="809117"/>
                  </a:lnTo>
                  <a:lnTo>
                    <a:pt x="2764" y="822811"/>
                  </a:lnTo>
                  <a:lnTo>
                    <a:pt x="10302" y="833993"/>
                  </a:lnTo>
                  <a:lnTo>
                    <a:pt x="21484" y="841531"/>
                  </a:lnTo>
                  <a:lnTo>
                    <a:pt x="35178" y="844296"/>
                  </a:lnTo>
                  <a:lnTo>
                    <a:pt x="8095361" y="844296"/>
                  </a:lnTo>
                  <a:lnTo>
                    <a:pt x="8109055" y="841531"/>
                  </a:lnTo>
                  <a:lnTo>
                    <a:pt x="8120237" y="833993"/>
                  </a:lnTo>
                  <a:lnTo>
                    <a:pt x="8127775" y="822811"/>
                  </a:lnTo>
                  <a:lnTo>
                    <a:pt x="8130540" y="809117"/>
                  </a:lnTo>
                  <a:lnTo>
                    <a:pt x="8130540" y="35179"/>
                  </a:lnTo>
                  <a:lnTo>
                    <a:pt x="8127775" y="21484"/>
                  </a:lnTo>
                  <a:lnTo>
                    <a:pt x="8120237" y="10302"/>
                  </a:lnTo>
                  <a:lnTo>
                    <a:pt x="8109055" y="2764"/>
                  </a:lnTo>
                  <a:lnTo>
                    <a:pt x="809536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0728" y="4398263"/>
              <a:ext cx="8130540" cy="844550"/>
            </a:xfrm>
            <a:custGeom>
              <a:avLst/>
              <a:gdLst/>
              <a:ahLst/>
              <a:cxnLst/>
              <a:rect l="l" t="t" r="r" b="b"/>
              <a:pathLst>
                <a:path w="8130540" h="844550">
                  <a:moveTo>
                    <a:pt x="0" y="35179"/>
                  </a:moveTo>
                  <a:lnTo>
                    <a:pt x="2764" y="21484"/>
                  </a:lnTo>
                  <a:lnTo>
                    <a:pt x="10302" y="10302"/>
                  </a:lnTo>
                  <a:lnTo>
                    <a:pt x="21484" y="2764"/>
                  </a:lnTo>
                  <a:lnTo>
                    <a:pt x="35178" y="0"/>
                  </a:lnTo>
                  <a:lnTo>
                    <a:pt x="8095361" y="0"/>
                  </a:lnTo>
                  <a:lnTo>
                    <a:pt x="8109055" y="2764"/>
                  </a:lnTo>
                  <a:lnTo>
                    <a:pt x="8120237" y="10302"/>
                  </a:lnTo>
                  <a:lnTo>
                    <a:pt x="8127775" y="21484"/>
                  </a:lnTo>
                  <a:lnTo>
                    <a:pt x="8130540" y="35179"/>
                  </a:lnTo>
                  <a:lnTo>
                    <a:pt x="8130540" y="809117"/>
                  </a:lnTo>
                  <a:lnTo>
                    <a:pt x="8127775" y="822811"/>
                  </a:lnTo>
                  <a:lnTo>
                    <a:pt x="8120237" y="833993"/>
                  </a:lnTo>
                  <a:lnTo>
                    <a:pt x="8109055" y="841531"/>
                  </a:lnTo>
                  <a:lnTo>
                    <a:pt x="8095361" y="844296"/>
                  </a:lnTo>
                  <a:lnTo>
                    <a:pt x="35178" y="844296"/>
                  </a:lnTo>
                  <a:lnTo>
                    <a:pt x="21484" y="841531"/>
                  </a:lnTo>
                  <a:lnTo>
                    <a:pt x="10302" y="833993"/>
                  </a:lnTo>
                  <a:lnTo>
                    <a:pt x="2764" y="822811"/>
                  </a:lnTo>
                  <a:lnTo>
                    <a:pt x="0" y="809117"/>
                  </a:lnTo>
                  <a:lnTo>
                    <a:pt x="0" y="35179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9831" y="1710054"/>
            <a:ext cx="7837805" cy="32321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43840" marR="5080" indent="-228600">
              <a:lnSpc>
                <a:spcPts val="1730"/>
              </a:lnSpc>
              <a:spcBef>
                <a:spcPts val="310"/>
              </a:spcBef>
              <a:buClr>
                <a:srgbClr val="006699"/>
              </a:buClr>
              <a:buFont typeface="Verdana"/>
              <a:buChar char="•"/>
              <a:tabLst>
                <a:tab pos="244475" algn="l"/>
              </a:tabLst>
            </a:pPr>
            <a:r>
              <a:rPr sz="1600" b="1" spc="-5" dirty="0">
                <a:latin typeface="Verdana"/>
                <a:cs typeface="Verdana"/>
              </a:rPr>
              <a:t>For </a:t>
            </a:r>
            <a:r>
              <a:rPr sz="1600" b="1" spc="-10" dirty="0">
                <a:latin typeface="Verdana"/>
                <a:cs typeface="Verdana"/>
              </a:rPr>
              <a:t>Domain </a:t>
            </a:r>
            <a:r>
              <a:rPr sz="1600" b="1" spc="-5" dirty="0">
                <a:latin typeface="Verdana"/>
                <a:cs typeface="Verdana"/>
              </a:rPr>
              <a:t>Computer and User accounts, use the auto-enrollment  </a:t>
            </a:r>
            <a:r>
              <a:rPr sz="1600" b="1" spc="-10" dirty="0">
                <a:latin typeface="Verdana"/>
                <a:cs typeface="Verdana"/>
              </a:rPr>
              <a:t>feature in Group</a:t>
            </a:r>
            <a:r>
              <a:rPr sz="1600" b="1" spc="6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Policy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06699"/>
              </a:buClr>
              <a:buFont typeface="Verdana"/>
              <a:buChar char="•"/>
            </a:pPr>
            <a:endParaRPr sz="2550">
              <a:latin typeface="Verdana"/>
              <a:cs typeface="Verdana"/>
            </a:endParaRPr>
          </a:p>
          <a:p>
            <a:pPr marL="243840" marR="956944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244475" algn="l"/>
              </a:tabLst>
            </a:pPr>
            <a:r>
              <a:rPr sz="1600" b="1" spc="-5" dirty="0">
                <a:latin typeface="Verdana"/>
                <a:cs typeface="Verdana"/>
              </a:rPr>
              <a:t>Nondomain </a:t>
            </a:r>
            <a:r>
              <a:rPr sz="1600" b="1" spc="-10" dirty="0">
                <a:latin typeface="Verdana"/>
                <a:cs typeface="Verdana"/>
              </a:rPr>
              <a:t>member enrollment requires </a:t>
            </a:r>
            <a:r>
              <a:rPr sz="1600" b="1" spc="-5" dirty="0">
                <a:latin typeface="Verdana"/>
                <a:cs typeface="Verdana"/>
              </a:rPr>
              <a:t>an </a:t>
            </a:r>
            <a:r>
              <a:rPr sz="1600" b="1" spc="-10" dirty="0">
                <a:latin typeface="Verdana"/>
                <a:cs typeface="Verdana"/>
              </a:rPr>
              <a:t>administrator  </a:t>
            </a:r>
            <a:r>
              <a:rPr sz="1600" b="1" spc="-5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request </a:t>
            </a:r>
            <a:r>
              <a:rPr sz="1600" b="1" spc="-5" dirty="0">
                <a:latin typeface="Verdana"/>
                <a:cs typeface="Verdana"/>
              </a:rPr>
              <a:t>a user or </a:t>
            </a:r>
            <a:r>
              <a:rPr sz="1600" b="1" spc="-10" dirty="0">
                <a:latin typeface="Verdana"/>
                <a:cs typeface="Verdana"/>
              </a:rPr>
              <a:t>computer certificate using</a:t>
            </a:r>
            <a:r>
              <a:rPr sz="1600" b="1" spc="19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the</a:t>
            </a:r>
            <a:endParaRPr sz="1600">
              <a:latin typeface="Verdana"/>
              <a:cs typeface="Verdana"/>
            </a:endParaRPr>
          </a:p>
          <a:p>
            <a:pPr marL="243840">
              <a:lnSpc>
                <a:spcPts val="1700"/>
              </a:lnSpc>
            </a:pPr>
            <a:r>
              <a:rPr sz="1600" b="1" spc="-5" dirty="0">
                <a:latin typeface="Verdana"/>
                <a:cs typeface="Verdana"/>
              </a:rPr>
              <a:t>CA </a:t>
            </a:r>
            <a:r>
              <a:rPr sz="1600" b="1" spc="-10" dirty="0">
                <a:latin typeface="Verdana"/>
                <a:cs typeface="Verdana"/>
              </a:rPr>
              <a:t>Web Enrollment</a:t>
            </a:r>
            <a:r>
              <a:rPr sz="1600" b="1" spc="55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tool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Verdana"/>
              <a:cs typeface="Verdana"/>
            </a:endParaRPr>
          </a:p>
          <a:p>
            <a:pPr marL="241300" marR="93980" indent="-22860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The administrator </a:t>
            </a:r>
            <a:r>
              <a:rPr sz="1600" b="1" spc="-10" dirty="0">
                <a:latin typeface="Verdana"/>
                <a:cs typeface="Verdana"/>
              </a:rPr>
              <a:t>must save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computer </a:t>
            </a:r>
            <a:r>
              <a:rPr sz="1600" b="1" spc="-5" dirty="0">
                <a:latin typeface="Verdana"/>
                <a:cs typeface="Verdana"/>
              </a:rPr>
              <a:t>or user </a:t>
            </a:r>
            <a:r>
              <a:rPr sz="1600" b="1" spc="-10" dirty="0">
                <a:latin typeface="Verdana"/>
                <a:cs typeface="Verdana"/>
              </a:rPr>
              <a:t>certificate </a:t>
            </a:r>
            <a:r>
              <a:rPr sz="1600" b="1" spc="-5" dirty="0">
                <a:latin typeface="Verdana"/>
                <a:cs typeface="Verdana"/>
              </a:rPr>
              <a:t>to a  floppy </a:t>
            </a:r>
            <a:r>
              <a:rPr sz="1600" b="1" spc="-10" dirty="0">
                <a:latin typeface="Verdana"/>
                <a:cs typeface="Verdana"/>
              </a:rPr>
              <a:t>disk </a:t>
            </a:r>
            <a:r>
              <a:rPr sz="1600" b="1" spc="-5" dirty="0">
                <a:latin typeface="Verdana"/>
                <a:cs typeface="Verdana"/>
              </a:rPr>
              <a:t>or other </a:t>
            </a:r>
            <a:r>
              <a:rPr sz="1600" b="1" spc="-10" dirty="0">
                <a:latin typeface="Verdana"/>
                <a:cs typeface="Verdana"/>
              </a:rPr>
              <a:t>removable media, </a:t>
            </a:r>
            <a:r>
              <a:rPr sz="1600" b="1" spc="-5" dirty="0">
                <a:latin typeface="Verdana"/>
                <a:cs typeface="Verdana"/>
              </a:rPr>
              <a:t>and manually install the  </a:t>
            </a:r>
            <a:r>
              <a:rPr sz="1600" b="1" spc="-10" dirty="0">
                <a:latin typeface="Verdana"/>
                <a:cs typeface="Verdana"/>
              </a:rPr>
              <a:t>certificate </a:t>
            </a:r>
            <a:r>
              <a:rPr sz="1600" b="1" spc="-5" dirty="0">
                <a:latin typeface="Verdana"/>
                <a:cs typeface="Verdana"/>
              </a:rPr>
              <a:t>on the nondomain </a:t>
            </a:r>
            <a:r>
              <a:rPr sz="1600" b="1" spc="-10" dirty="0">
                <a:latin typeface="Verdana"/>
                <a:cs typeface="Verdana"/>
              </a:rPr>
              <a:t>member</a:t>
            </a:r>
            <a:r>
              <a:rPr sz="1600" b="1" spc="10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computer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510"/>
              </a:spcBef>
              <a:buClr>
                <a:srgbClr val="006699"/>
              </a:buClr>
              <a:buFont typeface="Verdana"/>
              <a:buChar char="•"/>
              <a:tabLst>
                <a:tab pos="241300" algn="l"/>
              </a:tabLst>
            </a:pPr>
            <a:r>
              <a:rPr sz="1600" b="1" spc="-5" dirty="0">
                <a:latin typeface="Verdana"/>
                <a:cs typeface="Verdana"/>
              </a:rPr>
              <a:t>The administrator can </a:t>
            </a:r>
            <a:r>
              <a:rPr sz="1600" b="1" spc="-10" dirty="0">
                <a:latin typeface="Verdana"/>
                <a:cs typeface="Verdana"/>
              </a:rPr>
              <a:t>distribute </a:t>
            </a:r>
            <a:r>
              <a:rPr sz="1600" b="1" spc="-5" dirty="0">
                <a:latin typeface="Verdana"/>
                <a:cs typeface="Verdana"/>
              </a:rPr>
              <a:t>user </a:t>
            </a:r>
            <a:r>
              <a:rPr sz="1600" b="1" spc="-10" dirty="0">
                <a:latin typeface="Verdana"/>
                <a:cs typeface="Verdana"/>
              </a:rPr>
              <a:t>certificates on </a:t>
            </a:r>
            <a:r>
              <a:rPr sz="1600" b="1" spc="-5" dirty="0">
                <a:latin typeface="Verdana"/>
                <a:cs typeface="Verdana"/>
              </a:rPr>
              <a:t>a smart</a:t>
            </a:r>
            <a:r>
              <a:rPr sz="1600" b="1" spc="204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card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4953"/>
            <a:ext cx="6779259" cy="710451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2450"/>
              </a:lnSpc>
              <a:spcBef>
                <a:spcPts val="540"/>
              </a:spcBef>
            </a:pPr>
            <a:r>
              <a:rPr lang="en-US" spc="-5" dirty="0" smtClean="0"/>
              <a:t> </a:t>
            </a:r>
            <a:r>
              <a:rPr spc="-5" dirty="0" smtClean="0"/>
              <a:t> </a:t>
            </a:r>
            <a:r>
              <a:rPr dirty="0"/>
              <a:t>4: </a:t>
            </a:r>
            <a:r>
              <a:rPr spc="-5" dirty="0"/>
              <a:t>Monitoring </a:t>
            </a:r>
            <a:r>
              <a:rPr dirty="0"/>
              <a:t>and </a:t>
            </a:r>
            <a:r>
              <a:rPr spc="-10" dirty="0"/>
              <a:t>Troubleshooting </a:t>
            </a:r>
            <a:r>
              <a:rPr dirty="0"/>
              <a:t>a  </a:t>
            </a:r>
            <a:r>
              <a:rPr spc="-5" dirty="0"/>
              <a:t>Network Policy</a:t>
            </a:r>
            <a:r>
              <a:rPr spc="55" dirty="0"/>
              <a:t> </a:t>
            </a:r>
            <a:r>
              <a:rPr spc="-5" dirty="0"/>
              <a:t>Server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328" y="946150"/>
            <a:ext cx="7103109" cy="1794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10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dirty="0">
                <a:latin typeface="Verdana"/>
                <a:cs typeface="Verdana"/>
              </a:rPr>
              <a:t>Methods Used </a:t>
            </a:r>
            <a:r>
              <a:rPr sz="2000" spc="-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Monitor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NPS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3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Logging </a:t>
            </a:r>
            <a:r>
              <a:rPr sz="2000" dirty="0">
                <a:latin typeface="Verdana"/>
                <a:cs typeface="Verdana"/>
              </a:rPr>
              <a:t>NPS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Accounting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5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SQL Server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Logging</a:t>
            </a:r>
            <a:endParaRPr sz="2000">
              <a:latin typeface="Verdana"/>
              <a:cs typeface="Verdana"/>
            </a:endParaRPr>
          </a:p>
          <a:p>
            <a:pPr marL="187960" indent="-175260">
              <a:lnSpc>
                <a:spcPct val="100000"/>
              </a:lnSpc>
              <a:spcBef>
                <a:spcPts val="1440"/>
              </a:spcBef>
              <a:buClr>
                <a:srgbClr val="006699"/>
              </a:buClr>
              <a:buSzPct val="90000"/>
              <a:buChar char="•"/>
              <a:tabLst>
                <a:tab pos="187960" algn="l"/>
              </a:tabLst>
            </a:pPr>
            <a:r>
              <a:rPr sz="2000" spc="-5" dirty="0">
                <a:latin typeface="Verdana"/>
                <a:cs typeface="Verdana"/>
              </a:rPr>
              <a:t>Configuring NPS </a:t>
            </a:r>
            <a:r>
              <a:rPr sz="2000" dirty="0">
                <a:latin typeface="Verdana"/>
                <a:cs typeface="Verdana"/>
              </a:rPr>
              <a:t>Events </a:t>
            </a:r>
            <a:r>
              <a:rPr sz="2000" spc="-5" dirty="0">
                <a:latin typeface="Verdana"/>
                <a:cs typeface="Verdana"/>
              </a:rPr>
              <a:t>to Record in the </a:t>
            </a:r>
            <a:r>
              <a:rPr sz="2000" dirty="0">
                <a:latin typeface="Verdana"/>
                <a:cs typeface="Verdana"/>
              </a:rPr>
              <a:t>Event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Viewer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5834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Methods </a:t>
            </a:r>
            <a:r>
              <a:rPr spc="-5" dirty="0"/>
              <a:t>Used to </a:t>
            </a:r>
            <a:r>
              <a:rPr dirty="0"/>
              <a:t>Monitor NPS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90143" y="1328927"/>
            <a:ext cx="8338184" cy="4165600"/>
            <a:chOff x="390143" y="1328927"/>
            <a:chExt cx="8338184" cy="4165600"/>
          </a:xfrm>
        </p:grpSpPr>
        <p:sp>
          <p:nvSpPr>
            <p:cNvPr id="4" name="object 4"/>
            <p:cNvSpPr/>
            <p:nvPr/>
          </p:nvSpPr>
          <p:spPr>
            <a:xfrm>
              <a:off x="394715" y="1333499"/>
              <a:ext cx="8328659" cy="4156075"/>
            </a:xfrm>
            <a:custGeom>
              <a:avLst/>
              <a:gdLst/>
              <a:ahLst/>
              <a:cxnLst/>
              <a:rect l="l" t="t" r="r" b="b"/>
              <a:pathLst>
                <a:path w="8328659" h="4156075">
                  <a:moveTo>
                    <a:pt x="8155432" y="0"/>
                  </a:moveTo>
                  <a:lnTo>
                    <a:pt x="173177" y="0"/>
                  </a:lnTo>
                  <a:lnTo>
                    <a:pt x="127139" y="6190"/>
                  </a:lnTo>
                  <a:lnTo>
                    <a:pt x="85771" y="23659"/>
                  </a:lnTo>
                  <a:lnTo>
                    <a:pt x="50722" y="50752"/>
                  </a:lnTo>
                  <a:lnTo>
                    <a:pt x="23643" y="85814"/>
                  </a:lnTo>
                  <a:lnTo>
                    <a:pt x="6186" y="127191"/>
                  </a:lnTo>
                  <a:lnTo>
                    <a:pt x="0" y="173227"/>
                  </a:lnTo>
                  <a:lnTo>
                    <a:pt x="0" y="3982720"/>
                  </a:lnTo>
                  <a:lnTo>
                    <a:pt x="6186" y="4028756"/>
                  </a:lnTo>
                  <a:lnTo>
                    <a:pt x="23643" y="4070133"/>
                  </a:lnTo>
                  <a:lnTo>
                    <a:pt x="50722" y="4105195"/>
                  </a:lnTo>
                  <a:lnTo>
                    <a:pt x="85771" y="4132288"/>
                  </a:lnTo>
                  <a:lnTo>
                    <a:pt x="127139" y="4149757"/>
                  </a:lnTo>
                  <a:lnTo>
                    <a:pt x="173177" y="4155948"/>
                  </a:lnTo>
                  <a:lnTo>
                    <a:pt x="8155432" y="4155948"/>
                  </a:lnTo>
                  <a:lnTo>
                    <a:pt x="8201468" y="4149757"/>
                  </a:lnTo>
                  <a:lnTo>
                    <a:pt x="8242845" y="4132288"/>
                  </a:lnTo>
                  <a:lnTo>
                    <a:pt x="8277907" y="4105195"/>
                  </a:lnTo>
                  <a:lnTo>
                    <a:pt x="8305000" y="4070133"/>
                  </a:lnTo>
                  <a:lnTo>
                    <a:pt x="8322469" y="4028756"/>
                  </a:lnTo>
                  <a:lnTo>
                    <a:pt x="8328659" y="3982720"/>
                  </a:lnTo>
                  <a:lnTo>
                    <a:pt x="8328659" y="173227"/>
                  </a:lnTo>
                  <a:lnTo>
                    <a:pt x="8322469" y="127191"/>
                  </a:lnTo>
                  <a:lnTo>
                    <a:pt x="8305000" y="85814"/>
                  </a:lnTo>
                  <a:lnTo>
                    <a:pt x="8277907" y="50752"/>
                  </a:lnTo>
                  <a:lnTo>
                    <a:pt x="8242845" y="23659"/>
                  </a:lnTo>
                  <a:lnTo>
                    <a:pt x="8201468" y="6190"/>
                  </a:lnTo>
                  <a:lnTo>
                    <a:pt x="8155432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94715" y="1333499"/>
              <a:ext cx="8328659" cy="4156075"/>
            </a:xfrm>
            <a:custGeom>
              <a:avLst/>
              <a:gdLst/>
              <a:ahLst/>
              <a:cxnLst/>
              <a:rect l="l" t="t" r="r" b="b"/>
              <a:pathLst>
                <a:path w="8328659" h="4156075">
                  <a:moveTo>
                    <a:pt x="0" y="173227"/>
                  </a:moveTo>
                  <a:lnTo>
                    <a:pt x="6186" y="127191"/>
                  </a:lnTo>
                  <a:lnTo>
                    <a:pt x="23643" y="85814"/>
                  </a:lnTo>
                  <a:lnTo>
                    <a:pt x="50722" y="50752"/>
                  </a:lnTo>
                  <a:lnTo>
                    <a:pt x="85771" y="23659"/>
                  </a:lnTo>
                  <a:lnTo>
                    <a:pt x="127139" y="6190"/>
                  </a:lnTo>
                  <a:lnTo>
                    <a:pt x="173177" y="0"/>
                  </a:lnTo>
                  <a:lnTo>
                    <a:pt x="8155432" y="0"/>
                  </a:lnTo>
                  <a:lnTo>
                    <a:pt x="8201468" y="6190"/>
                  </a:lnTo>
                  <a:lnTo>
                    <a:pt x="8242845" y="23659"/>
                  </a:lnTo>
                  <a:lnTo>
                    <a:pt x="8277907" y="50752"/>
                  </a:lnTo>
                  <a:lnTo>
                    <a:pt x="8305000" y="85814"/>
                  </a:lnTo>
                  <a:lnTo>
                    <a:pt x="8322469" y="127191"/>
                  </a:lnTo>
                  <a:lnTo>
                    <a:pt x="8328659" y="173227"/>
                  </a:lnTo>
                  <a:lnTo>
                    <a:pt x="8328659" y="3982720"/>
                  </a:lnTo>
                  <a:lnTo>
                    <a:pt x="8322469" y="4028756"/>
                  </a:lnTo>
                  <a:lnTo>
                    <a:pt x="8305000" y="4070133"/>
                  </a:lnTo>
                  <a:lnTo>
                    <a:pt x="8277907" y="4105195"/>
                  </a:lnTo>
                  <a:lnTo>
                    <a:pt x="8242845" y="4132288"/>
                  </a:lnTo>
                  <a:lnTo>
                    <a:pt x="8201468" y="4149757"/>
                  </a:lnTo>
                  <a:lnTo>
                    <a:pt x="8155432" y="4155948"/>
                  </a:lnTo>
                  <a:lnTo>
                    <a:pt x="173177" y="4155948"/>
                  </a:lnTo>
                  <a:lnTo>
                    <a:pt x="127139" y="4149757"/>
                  </a:lnTo>
                  <a:lnTo>
                    <a:pt x="85771" y="4132288"/>
                  </a:lnTo>
                  <a:lnTo>
                    <a:pt x="50722" y="4105195"/>
                  </a:lnTo>
                  <a:lnTo>
                    <a:pt x="23643" y="4070133"/>
                  </a:lnTo>
                  <a:lnTo>
                    <a:pt x="6186" y="4028756"/>
                  </a:lnTo>
                  <a:lnTo>
                    <a:pt x="0" y="3982720"/>
                  </a:lnTo>
                  <a:lnTo>
                    <a:pt x="0" y="17322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2271" y="1908047"/>
              <a:ext cx="7813675" cy="1290955"/>
            </a:xfrm>
            <a:custGeom>
              <a:avLst/>
              <a:gdLst/>
              <a:ahLst/>
              <a:cxnLst/>
              <a:rect l="l" t="t" r="r" b="b"/>
              <a:pathLst>
                <a:path w="7813675" h="1290955">
                  <a:moveTo>
                    <a:pt x="7759700" y="0"/>
                  </a:moveTo>
                  <a:lnTo>
                    <a:pt x="53784" y="0"/>
                  </a:lnTo>
                  <a:lnTo>
                    <a:pt x="32848" y="4234"/>
                  </a:lnTo>
                  <a:lnTo>
                    <a:pt x="15752" y="15779"/>
                  </a:lnTo>
                  <a:lnTo>
                    <a:pt x="4226" y="32896"/>
                  </a:lnTo>
                  <a:lnTo>
                    <a:pt x="0" y="53848"/>
                  </a:lnTo>
                  <a:lnTo>
                    <a:pt x="0" y="1236979"/>
                  </a:lnTo>
                  <a:lnTo>
                    <a:pt x="4226" y="1257931"/>
                  </a:lnTo>
                  <a:lnTo>
                    <a:pt x="15752" y="1275048"/>
                  </a:lnTo>
                  <a:lnTo>
                    <a:pt x="32848" y="1286593"/>
                  </a:lnTo>
                  <a:lnTo>
                    <a:pt x="53784" y="1290827"/>
                  </a:lnTo>
                  <a:lnTo>
                    <a:pt x="7759700" y="1290827"/>
                  </a:lnTo>
                  <a:lnTo>
                    <a:pt x="7780651" y="1286593"/>
                  </a:lnTo>
                  <a:lnTo>
                    <a:pt x="7797768" y="1275048"/>
                  </a:lnTo>
                  <a:lnTo>
                    <a:pt x="7809313" y="1257931"/>
                  </a:lnTo>
                  <a:lnTo>
                    <a:pt x="7813548" y="1236979"/>
                  </a:lnTo>
                  <a:lnTo>
                    <a:pt x="7813548" y="53848"/>
                  </a:lnTo>
                  <a:lnTo>
                    <a:pt x="7809313" y="32896"/>
                  </a:lnTo>
                  <a:lnTo>
                    <a:pt x="7797768" y="15779"/>
                  </a:lnTo>
                  <a:lnTo>
                    <a:pt x="7780651" y="4234"/>
                  </a:lnTo>
                  <a:lnTo>
                    <a:pt x="7759700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2271" y="1908047"/>
              <a:ext cx="7813675" cy="1290955"/>
            </a:xfrm>
            <a:custGeom>
              <a:avLst/>
              <a:gdLst/>
              <a:ahLst/>
              <a:cxnLst/>
              <a:rect l="l" t="t" r="r" b="b"/>
              <a:pathLst>
                <a:path w="7813675" h="1290955">
                  <a:moveTo>
                    <a:pt x="0" y="53848"/>
                  </a:moveTo>
                  <a:lnTo>
                    <a:pt x="4226" y="32896"/>
                  </a:lnTo>
                  <a:lnTo>
                    <a:pt x="15752" y="15779"/>
                  </a:lnTo>
                  <a:lnTo>
                    <a:pt x="32848" y="4234"/>
                  </a:lnTo>
                  <a:lnTo>
                    <a:pt x="53784" y="0"/>
                  </a:lnTo>
                  <a:lnTo>
                    <a:pt x="7759700" y="0"/>
                  </a:lnTo>
                  <a:lnTo>
                    <a:pt x="7780651" y="4234"/>
                  </a:lnTo>
                  <a:lnTo>
                    <a:pt x="7797768" y="15779"/>
                  </a:lnTo>
                  <a:lnTo>
                    <a:pt x="7809313" y="32896"/>
                  </a:lnTo>
                  <a:lnTo>
                    <a:pt x="7813548" y="53848"/>
                  </a:lnTo>
                  <a:lnTo>
                    <a:pt x="7813548" y="1236979"/>
                  </a:lnTo>
                  <a:lnTo>
                    <a:pt x="7809313" y="1257931"/>
                  </a:lnTo>
                  <a:lnTo>
                    <a:pt x="7797768" y="1275048"/>
                  </a:lnTo>
                  <a:lnTo>
                    <a:pt x="7780651" y="1286593"/>
                  </a:lnTo>
                  <a:lnTo>
                    <a:pt x="7759700" y="1290827"/>
                  </a:lnTo>
                  <a:lnTo>
                    <a:pt x="53784" y="1290827"/>
                  </a:lnTo>
                  <a:lnTo>
                    <a:pt x="32848" y="1286593"/>
                  </a:lnTo>
                  <a:lnTo>
                    <a:pt x="15752" y="1275048"/>
                  </a:lnTo>
                  <a:lnTo>
                    <a:pt x="4226" y="1257931"/>
                  </a:lnTo>
                  <a:lnTo>
                    <a:pt x="0" y="1236979"/>
                  </a:lnTo>
                  <a:lnTo>
                    <a:pt x="0" y="5384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2271" y="3534155"/>
              <a:ext cx="7813675" cy="1647825"/>
            </a:xfrm>
            <a:custGeom>
              <a:avLst/>
              <a:gdLst/>
              <a:ahLst/>
              <a:cxnLst/>
              <a:rect l="l" t="t" r="r" b="b"/>
              <a:pathLst>
                <a:path w="7813675" h="1647825">
                  <a:moveTo>
                    <a:pt x="7744841" y="0"/>
                  </a:moveTo>
                  <a:lnTo>
                    <a:pt x="68656" y="0"/>
                  </a:lnTo>
                  <a:lnTo>
                    <a:pt x="41930" y="5395"/>
                  </a:lnTo>
                  <a:lnTo>
                    <a:pt x="20107" y="20113"/>
                  </a:lnTo>
                  <a:lnTo>
                    <a:pt x="5394" y="41951"/>
                  </a:lnTo>
                  <a:lnTo>
                    <a:pt x="0" y="68707"/>
                  </a:lnTo>
                  <a:lnTo>
                    <a:pt x="0" y="1578737"/>
                  </a:lnTo>
                  <a:lnTo>
                    <a:pt x="5394" y="1605492"/>
                  </a:lnTo>
                  <a:lnTo>
                    <a:pt x="20107" y="1627330"/>
                  </a:lnTo>
                  <a:lnTo>
                    <a:pt x="41930" y="1642048"/>
                  </a:lnTo>
                  <a:lnTo>
                    <a:pt x="68656" y="1647444"/>
                  </a:lnTo>
                  <a:lnTo>
                    <a:pt x="7744841" y="1647444"/>
                  </a:lnTo>
                  <a:lnTo>
                    <a:pt x="7771596" y="1642048"/>
                  </a:lnTo>
                  <a:lnTo>
                    <a:pt x="7793434" y="1627330"/>
                  </a:lnTo>
                  <a:lnTo>
                    <a:pt x="7808152" y="1605492"/>
                  </a:lnTo>
                  <a:lnTo>
                    <a:pt x="7813548" y="1578737"/>
                  </a:lnTo>
                  <a:lnTo>
                    <a:pt x="7813548" y="68707"/>
                  </a:lnTo>
                  <a:lnTo>
                    <a:pt x="7808152" y="41951"/>
                  </a:lnTo>
                  <a:lnTo>
                    <a:pt x="7793434" y="20113"/>
                  </a:lnTo>
                  <a:lnTo>
                    <a:pt x="7771596" y="5395"/>
                  </a:lnTo>
                  <a:lnTo>
                    <a:pt x="7744841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2271" y="3534155"/>
              <a:ext cx="7813675" cy="1647825"/>
            </a:xfrm>
            <a:custGeom>
              <a:avLst/>
              <a:gdLst/>
              <a:ahLst/>
              <a:cxnLst/>
              <a:rect l="l" t="t" r="r" b="b"/>
              <a:pathLst>
                <a:path w="7813675" h="1647825">
                  <a:moveTo>
                    <a:pt x="0" y="68707"/>
                  </a:moveTo>
                  <a:lnTo>
                    <a:pt x="5394" y="41951"/>
                  </a:lnTo>
                  <a:lnTo>
                    <a:pt x="20107" y="20113"/>
                  </a:lnTo>
                  <a:lnTo>
                    <a:pt x="41930" y="5395"/>
                  </a:lnTo>
                  <a:lnTo>
                    <a:pt x="68656" y="0"/>
                  </a:lnTo>
                  <a:lnTo>
                    <a:pt x="7744841" y="0"/>
                  </a:lnTo>
                  <a:lnTo>
                    <a:pt x="7771596" y="5395"/>
                  </a:lnTo>
                  <a:lnTo>
                    <a:pt x="7793434" y="20113"/>
                  </a:lnTo>
                  <a:lnTo>
                    <a:pt x="7808152" y="41951"/>
                  </a:lnTo>
                  <a:lnTo>
                    <a:pt x="7813548" y="68707"/>
                  </a:lnTo>
                  <a:lnTo>
                    <a:pt x="7813548" y="1578737"/>
                  </a:lnTo>
                  <a:lnTo>
                    <a:pt x="7808152" y="1605492"/>
                  </a:lnTo>
                  <a:lnTo>
                    <a:pt x="7793434" y="1627330"/>
                  </a:lnTo>
                  <a:lnTo>
                    <a:pt x="7771596" y="1642048"/>
                  </a:lnTo>
                  <a:lnTo>
                    <a:pt x="7744841" y="1647444"/>
                  </a:lnTo>
                  <a:lnTo>
                    <a:pt x="68656" y="1647444"/>
                  </a:lnTo>
                  <a:lnTo>
                    <a:pt x="41930" y="1642048"/>
                  </a:lnTo>
                  <a:lnTo>
                    <a:pt x="20107" y="1627330"/>
                  </a:lnTo>
                  <a:lnTo>
                    <a:pt x="5394" y="1605492"/>
                  </a:lnTo>
                  <a:lnTo>
                    <a:pt x="0" y="1578737"/>
                  </a:lnTo>
                  <a:lnTo>
                    <a:pt x="0" y="6870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24967" y="1414652"/>
            <a:ext cx="7928609" cy="3613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latin typeface="Verdana"/>
                <a:cs typeface="Verdana"/>
              </a:rPr>
              <a:t>NPS </a:t>
            </a:r>
            <a:r>
              <a:rPr sz="2000" b="1" dirty="0">
                <a:latin typeface="Verdana"/>
                <a:cs typeface="Verdana"/>
              </a:rPr>
              <a:t>monitoring </a:t>
            </a:r>
            <a:r>
              <a:rPr sz="2000" b="1" spc="-5" dirty="0">
                <a:latin typeface="Verdana"/>
                <a:cs typeface="Verdana"/>
              </a:rPr>
              <a:t>methods</a:t>
            </a:r>
            <a:r>
              <a:rPr sz="2000" b="1" spc="-45" dirty="0">
                <a:latin typeface="Verdana"/>
                <a:cs typeface="Verdana"/>
              </a:rPr>
              <a:t> </a:t>
            </a:r>
            <a:r>
              <a:rPr sz="2000" b="1" dirty="0">
                <a:latin typeface="Verdana"/>
                <a:cs typeface="Verdana"/>
              </a:rPr>
              <a:t>include: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>
              <a:latin typeface="Verdana"/>
              <a:cs typeface="Verdana"/>
            </a:endParaRPr>
          </a:p>
          <a:p>
            <a:pPr marL="408305" indent="-17462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08940" algn="l"/>
              </a:tabLst>
            </a:pPr>
            <a:r>
              <a:rPr sz="1800" b="1" spc="-5" dirty="0">
                <a:latin typeface="Verdana"/>
                <a:cs typeface="Verdana"/>
              </a:rPr>
              <a:t>Event</a:t>
            </a:r>
            <a:r>
              <a:rPr sz="1800" b="1" spc="1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logging</a:t>
            </a:r>
            <a:endParaRPr sz="1800">
              <a:latin typeface="Verdana"/>
              <a:cs typeface="Verdana"/>
            </a:endParaRPr>
          </a:p>
          <a:p>
            <a:pPr marL="754380" lvl="1" indent="-17462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55015" algn="l"/>
              </a:tabLst>
            </a:pPr>
            <a:r>
              <a:rPr sz="1800" spc="-5" dirty="0">
                <a:latin typeface="Verdana"/>
                <a:cs typeface="Verdana"/>
              </a:rPr>
              <a:t>The process </a:t>
            </a:r>
            <a:r>
              <a:rPr sz="1800" dirty="0">
                <a:latin typeface="Verdana"/>
                <a:cs typeface="Verdana"/>
              </a:rPr>
              <a:t>of </a:t>
            </a:r>
            <a:r>
              <a:rPr sz="1800" spc="-5" dirty="0">
                <a:latin typeface="Verdana"/>
                <a:cs typeface="Verdana"/>
              </a:rPr>
              <a:t>logging NPS events </a:t>
            </a:r>
            <a:r>
              <a:rPr sz="1800" dirty="0">
                <a:latin typeface="Verdana"/>
                <a:cs typeface="Verdana"/>
              </a:rPr>
              <a:t>in </a:t>
            </a:r>
            <a:r>
              <a:rPr sz="1800" spc="-5" dirty="0">
                <a:latin typeface="Verdana"/>
                <a:cs typeface="Verdana"/>
              </a:rPr>
              <a:t>the </a:t>
            </a:r>
            <a:r>
              <a:rPr sz="1800" spc="-10" dirty="0">
                <a:latin typeface="Verdana"/>
                <a:cs typeface="Verdana"/>
              </a:rPr>
              <a:t>System </a:t>
            </a:r>
            <a:r>
              <a:rPr sz="1800" spc="-5" dirty="0">
                <a:latin typeface="Verdana"/>
                <a:cs typeface="Verdana"/>
              </a:rPr>
              <a:t>Event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log</a:t>
            </a:r>
            <a:endParaRPr sz="1800">
              <a:latin typeface="Verdana"/>
              <a:cs typeface="Verdana"/>
            </a:endParaRPr>
          </a:p>
          <a:p>
            <a:pPr marL="754380" lvl="1" indent="-17462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55015" algn="l"/>
              </a:tabLst>
            </a:pPr>
            <a:r>
              <a:rPr sz="1800" dirty="0">
                <a:latin typeface="Verdana"/>
                <a:cs typeface="Verdana"/>
              </a:rPr>
              <a:t>Useful for auditing and </a:t>
            </a:r>
            <a:r>
              <a:rPr sz="1800" spc="-5" dirty="0">
                <a:latin typeface="Verdana"/>
                <a:cs typeface="Verdana"/>
              </a:rPr>
              <a:t>troubleshooting connection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attempts</a:t>
            </a:r>
            <a:endParaRPr sz="18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22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 marL="412750" indent="-17462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413384" algn="l"/>
              </a:tabLst>
            </a:pPr>
            <a:r>
              <a:rPr sz="1800" b="1" spc="-5" dirty="0">
                <a:latin typeface="Verdana"/>
                <a:cs typeface="Verdana"/>
              </a:rPr>
              <a:t>Logging user authentication </a:t>
            </a:r>
            <a:r>
              <a:rPr sz="1800" b="1" dirty="0">
                <a:latin typeface="Verdana"/>
                <a:cs typeface="Verdana"/>
              </a:rPr>
              <a:t>and </a:t>
            </a:r>
            <a:r>
              <a:rPr sz="1800" b="1" spc="-5" dirty="0">
                <a:latin typeface="Verdana"/>
                <a:cs typeface="Verdana"/>
              </a:rPr>
              <a:t>accounting</a:t>
            </a:r>
            <a:r>
              <a:rPr sz="1800" b="1" spc="10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requests</a:t>
            </a:r>
            <a:endParaRPr sz="1800">
              <a:latin typeface="Verdana"/>
              <a:cs typeface="Verdana"/>
            </a:endParaRPr>
          </a:p>
          <a:p>
            <a:pPr marL="758825" lvl="1" indent="-174625">
              <a:lnSpc>
                <a:spcPct val="100000"/>
              </a:lnSpc>
              <a:spcBef>
                <a:spcPts val="645"/>
              </a:spcBef>
              <a:buClr>
                <a:srgbClr val="006699"/>
              </a:buClr>
              <a:buChar char="•"/>
              <a:tabLst>
                <a:tab pos="759460" algn="l"/>
              </a:tabLst>
            </a:pPr>
            <a:r>
              <a:rPr sz="1800" dirty="0">
                <a:latin typeface="Verdana"/>
                <a:cs typeface="Verdana"/>
              </a:rPr>
              <a:t>Useful for </a:t>
            </a:r>
            <a:r>
              <a:rPr sz="1800" spc="-5" dirty="0">
                <a:latin typeface="Verdana"/>
                <a:cs typeface="Verdana"/>
              </a:rPr>
              <a:t>connection </a:t>
            </a:r>
            <a:r>
              <a:rPr sz="1800" dirty="0">
                <a:latin typeface="Verdana"/>
                <a:cs typeface="Verdana"/>
              </a:rPr>
              <a:t>analysis and billing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purposes</a:t>
            </a:r>
            <a:endParaRPr sz="1800">
              <a:latin typeface="Verdana"/>
              <a:cs typeface="Verdana"/>
            </a:endParaRPr>
          </a:p>
          <a:p>
            <a:pPr marL="758825" lvl="1" indent="-17462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59460" algn="l"/>
              </a:tabLst>
            </a:pPr>
            <a:r>
              <a:rPr sz="1800" spc="-5" dirty="0">
                <a:latin typeface="Verdana"/>
                <a:cs typeface="Verdana"/>
              </a:rPr>
              <a:t>Can be </a:t>
            </a:r>
            <a:r>
              <a:rPr sz="1800" dirty="0">
                <a:latin typeface="Verdana"/>
                <a:cs typeface="Verdana"/>
              </a:rPr>
              <a:t>in a </a:t>
            </a:r>
            <a:r>
              <a:rPr sz="1800" spc="-5" dirty="0">
                <a:latin typeface="Verdana"/>
                <a:cs typeface="Verdana"/>
              </a:rPr>
              <a:t>text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format</a:t>
            </a:r>
            <a:endParaRPr sz="1800">
              <a:latin typeface="Verdana"/>
              <a:cs typeface="Verdana"/>
            </a:endParaRPr>
          </a:p>
          <a:p>
            <a:pPr marL="758825" lvl="1" indent="-174625">
              <a:lnSpc>
                <a:spcPct val="100000"/>
              </a:lnSpc>
              <a:spcBef>
                <a:spcPts val="650"/>
              </a:spcBef>
              <a:buClr>
                <a:srgbClr val="006699"/>
              </a:buClr>
              <a:buChar char="•"/>
              <a:tabLst>
                <a:tab pos="759460" algn="l"/>
              </a:tabLst>
            </a:pPr>
            <a:r>
              <a:rPr sz="1800" spc="-5" dirty="0">
                <a:latin typeface="Verdana"/>
                <a:cs typeface="Verdana"/>
              </a:rPr>
              <a:t>Can be </a:t>
            </a:r>
            <a:r>
              <a:rPr sz="1800" dirty="0">
                <a:latin typeface="Verdana"/>
                <a:cs typeface="Verdana"/>
              </a:rPr>
              <a:t>in a </a:t>
            </a:r>
            <a:r>
              <a:rPr sz="1800" spc="-5" dirty="0">
                <a:latin typeface="Verdana"/>
                <a:cs typeface="Verdana"/>
              </a:rPr>
              <a:t>database </a:t>
            </a:r>
            <a:r>
              <a:rPr sz="1800" dirty="0">
                <a:latin typeface="Verdana"/>
                <a:cs typeface="Verdana"/>
              </a:rPr>
              <a:t>format within a SQL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instance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3747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Logging </a:t>
            </a:r>
            <a:r>
              <a:rPr dirty="0"/>
              <a:t>NPS</a:t>
            </a:r>
            <a:r>
              <a:rPr spc="-5" dirty="0"/>
              <a:t> Accounting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6549" y="953833"/>
            <a:ext cx="7969884" cy="3905250"/>
            <a:chOff x="586549" y="953833"/>
            <a:chExt cx="7969884" cy="3905250"/>
          </a:xfrm>
        </p:grpSpPr>
        <p:sp>
          <p:nvSpPr>
            <p:cNvPr id="4" name="object 4"/>
            <p:cNvSpPr/>
            <p:nvPr/>
          </p:nvSpPr>
          <p:spPr>
            <a:xfrm>
              <a:off x="591312" y="958596"/>
              <a:ext cx="7960359" cy="3895725"/>
            </a:xfrm>
            <a:custGeom>
              <a:avLst/>
              <a:gdLst/>
              <a:ahLst/>
              <a:cxnLst/>
              <a:rect l="l" t="t" r="r" b="b"/>
              <a:pathLst>
                <a:path w="7960359" h="3895725">
                  <a:moveTo>
                    <a:pt x="7797546" y="0"/>
                  </a:moveTo>
                  <a:lnTo>
                    <a:pt x="162318" y="0"/>
                  </a:lnTo>
                  <a:lnTo>
                    <a:pt x="119166" y="5796"/>
                  </a:lnTo>
                  <a:lnTo>
                    <a:pt x="80391" y="22154"/>
                  </a:lnTo>
                  <a:lnTo>
                    <a:pt x="47540" y="47529"/>
                  </a:lnTo>
                  <a:lnTo>
                    <a:pt x="22160" y="80376"/>
                  </a:lnTo>
                  <a:lnTo>
                    <a:pt x="5797" y="119150"/>
                  </a:lnTo>
                  <a:lnTo>
                    <a:pt x="0" y="162305"/>
                  </a:lnTo>
                  <a:lnTo>
                    <a:pt x="0" y="3733037"/>
                  </a:lnTo>
                  <a:lnTo>
                    <a:pt x="5797" y="3776193"/>
                  </a:lnTo>
                  <a:lnTo>
                    <a:pt x="22160" y="3814967"/>
                  </a:lnTo>
                  <a:lnTo>
                    <a:pt x="47540" y="3847814"/>
                  </a:lnTo>
                  <a:lnTo>
                    <a:pt x="80391" y="3873189"/>
                  </a:lnTo>
                  <a:lnTo>
                    <a:pt x="119166" y="3889547"/>
                  </a:lnTo>
                  <a:lnTo>
                    <a:pt x="162318" y="3895343"/>
                  </a:lnTo>
                  <a:lnTo>
                    <a:pt x="7797546" y="3895343"/>
                  </a:lnTo>
                  <a:lnTo>
                    <a:pt x="7840701" y="3889547"/>
                  </a:lnTo>
                  <a:lnTo>
                    <a:pt x="7879475" y="3873189"/>
                  </a:lnTo>
                  <a:lnTo>
                    <a:pt x="7912322" y="3847814"/>
                  </a:lnTo>
                  <a:lnTo>
                    <a:pt x="7937697" y="3814967"/>
                  </a:lnTo>
                  <a:lnTo>
                    <a:pt x="7954055" y="3776193"/>
                  </a:lnTo>
                  <a:lnTo>
                    <a:pt x="7959852" y="3733037"/>
                  </a:lnTo>
                  <a:lnTo>
                    <a:pt x="7959852" y="162305"/>
                  </a:lnTo>
                  <a:lnTo>
                    <a:pt x="7954055" y="119150"/>
                  </a:lnTo>
                  <a:lnTo>
                    <a:pt x="7937697" y="80376"/>
                  </a:lnTo>
                  <a:lnTo>
                    <a:pt x="7912322" y="47529"/>
                  </a:lnTo>
                  <a:lnTo>
                    <a:pt x="7879475" y="22154"/>
                  </a:lnTo>
                  <a:lnTo>
                    <a:pt x="7840701" y="5796"/>
                  </a:lnTo>
                  <a:lnTo>
                    <a:pt x="7797546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1312" y="958596"/>
              <a:ext cx="7960359" cy="3895725"/>
            </a:xfrm>
            <a:custGeom>
              <a:avLst/>
              <a:gdLst/>
              <a:ahLst/>
              <a:cxnLst/>
              <a:rect l="l" t="t" r="r" b="b"/>
              <a:pathLst>
                <a:path w="7960359" h="3895725">
                  <a:moveTo>
                    <a:pt x="0" y="162305"/>
                  </a:moveTo>
                  <a:lnTo>
                    <a:pt x="5797" y="119150"/>
                  </a:lnTo>
                  <a:lnTo>
                    <a:pt x="22160" y="80376"/>
                  </a:lnTo>
                  <a:lnTo>
                    <a:pt x="47540" y="47529"/>
                  </a:lnTo>
                  <a:lnTo>
                    <a:pt x="80391" y="22154"/>
                  </a:lnTo>
                  <a:lnTo>
                    <a:pt x="119166" y="5796"/>
                  </a:lnTo>
                  <a:lnTo>
                    <a:pt x="162318" y="0"/>
                  </a:lnTo>
                  <a:lnTo>
                    <a:pt x="7797546" y="0"/>
                  </a:lnTo>
                  <a:lnTo>
                    <a:pt x="7840701" y="5796"/>
                  </a:lnTo>
                  <a:lnTo>
                    <a:pt x="7879475" y="22154"/>
                  </a:lnTo>
                  <a:lnTo>
                    <a:pt x="7912322" y="47529"/>
                  </a:lnTo>
                  <a:lnTo>
                    <a:pt x="7937697" y="80376"/>
                  </a:lnTo>
                  <a:lnTo>
                    <a:pt x="7954055" y="119150"/>
                  </a:lnTo>
                  <a:lnTo>
                    <a:pt x="7959852" y="162305"/>
                  </a:lnTo>
                  <a:lnTo>
                    <a:pt x="7959852" y="3733037"/>
                  </a:lnTo>
                  <a:lnTo>
                    <a:pt x="7954055" y="3776193"/>
                  </a:lnTo>
                  <a:lnTo>
                    <a:pt x="7937697" y="3814967"/>
                  </a:lnTo>
                  <a:lnTo>
                    <a:pt x="7912322" y="3847814"/>
                  </a:lnTo>
                  <a:lnTo>
                    <a:pt x="7879475" y="3873189"/>
                  </a:lnTo>
                  <a:lnTo>
                    <a:pt x="7840701" y="3889547"/>
                  </a:lnTo>
                  <a:lnTo>
                    <a:pt x="7797546" y="3895343"/>
                  </a:lnTo>
                  <a:lnTo>
                    <a:pt x="162318" y="3895343"/>
                  </a:lnTo>
                  <a:lnTo>
                    <a:pt x="119166" y="3889547"/>
                  </a:lnTo>
                  <a:lnTo>
                    <a:pt x="80391" y="3873189"/>
                  </a:lnTo>
                  <a:lnTo>
                    <a:pt x="47540" y="3847814"/>
                  </a:lnTo>
                  <a:lnTo>
                    <a:pt x="22160" y="3814967"/>
                  </a:lnTo>
                  <a:lnTo>
                    <a:pt x="5797" y="3776193"/>
                  </a:lnTo>
                  <a:lnTo>
                    <a:pt x="0" y="3733037"/>
                  </a:lnTo>
                  <a:lnTo>
                    <a:pt x="0" y="16230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6991" y="1038224"/>
            <a:ext cx="4809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latin typeface="Verdana"/>
                <a:cs typeface="Verdana"/>
              </a:rPr>
              <a:t>Use the NPS </a:t>
            </a:r>
            <a:r>
              <a:rPr sz="1600" b="1" spc="-10" dirty="0">
                <a:latin typeface="Verdana"/>
                <a:cs typeface="Verdana"/>
              </a:rPr>
              <a:t>console </a:t>
            </a:r>
            <a:r>
              <a:rPr sz="1600" b="1" spc="-5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configure</a:t>
            </a:r>
            <a:r>
              <a:rPr sz="1600" b="1" spc="10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logging: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88885" y="1379029"/>
            <a:ext cx="7140575" cy="558165"/>
            <a:chOff x="988885" y="1379029"/>
            <a:chExt cx="7140575" cy="558165"/>
          </a:xfrm>
        </p:grpSpPr>
        <p:sp>
          <p:nvSpPr>
            <p:cNvPr id="8" name="object 8"/>
            <p:cNvSpPr/>
            <p:nvPr/>
          </p:nvSpPr>
          <p:spPr>
            <a:xfrm>
              <a:off x="993647" y="1383791"/>
              <a:ext cx="7131050" cy="548640"/>
            </a:xfrm>
            <a:custGeom>
              <a:avLst/>
              <a:gdLst/>
              <a:ahLst/>
              <a:cxnLst/>
              <a:rect l="l" t="t" r="r" b="b"/>
              <a:pathLst>
                <a:path w="7131050" h="548639">
                  <a:moveTo>
                    <a:pt x="7107935" y="0"/>
                  </a:moveTo>
                  <a:lnTo>
                    <a:pt x="22860" y="0"/>
                  </a:lnTo>
                  <a:lnTo>
                    <a:pt x="13962" y="1803"/>
                  </a:lnTo>
                  <a:lnTo>
                    <a:pt x="6696" y="6715"/>
                  </a:lnTo>
                  <a:lnTo>
                    <a:pt x="1796" y="13983"/>
                  </a:lnTo>
                  <a:lnTo>
                    <a:pt x="0" y="22860"/>
                  </a:lnTo>
                  <a:lnTo>
                    <a:pt x="0" y="525780"/>
                  </a:lnTo>
                  <a:lnTo>
                    <a:pt x="1796" y="534656"/>
                  </a:lnTo>
                  <a:lnTo>
                    <a:pt x="6696" y="541924"/>
                  </a:lnTo>
                  <a:lnTo>
                    <a:pt x="13962" y="546836"/>
                  </a:lnTo>
                  <a:lnTo>
                    <a:pt x="22860" y="548640"/>
                  </a:lnTo>
                  <a:lnTo>
                    <a:pt x="7107935" y="548640"/>
                  </a:lnTo>
                  <a:lnTo>
                    <a:pt x="7116812" y="546836"/>
                  </a:lnTo>
                  <a:lnTo>
                    <a:pt x="7124080" y="541924"/>
                  </a:lnTo>
                  <a:lnTo>
                    <a:pt x="7128992" y="534656"/>
                  </a:lnTo>
                  <a:lnTo>
                    <a:pt x="7130796" y="525780"/>
                  </a:lnTo>
                  <a:lnTo>
                    <a:pt x="7130796" y="22860"/>
                  </a:lnTo>
                  <a:lnTo>
                    <a:pt x="7128992" y="13983"/>
                  </a:lnTo>
                  <a:lnTo>
                    <a:pt x="7124080" y="6715"/>
                  </a:lnTo>
                  <a:lnTo>
                    <a:pt x="7116812" y="1803"/>
                  </a:lnTo>
                  <a:lnTo>
                    <a:pt x="710793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3647" y="1383791"/>
              <a:ext cx="7131050" cy="548640"/>
            </a:xfrm>
            <a:custGeom>
              <a:avLst/>
              <a:gdLst/>
              <a:ahLst/>
              <a:cxnLst/>
              <a:rect l="l" t="t" r="r" b="b"/>
              <a:pathLst>
                <a:path w="7131050" h="548639">
                  <a:moveTo>
                    <a:pt x="0" y="22860"/>
                  </a:moveTo>
                  <a:lnTo>
                    <a:pt x="1796" y="13983"/>
                  </a:lnTo>
                  <a:lnTo>
                    <a:pt x="6696" y="6715"/>
                  </a:lnTo>
                  <a:lnTo>
                    <a:pt x="13962" y="1803"/>
                  </a:lnTo>
                  <a:lnTo>
                    <a:pt x="22860" y="0"/>
                  </a:lnTo>
                  <a:lnTo>
                    <a:pt x="7107935" y="0"/>
                  </a:lnTo>
                  <a:lnTo>
                    <a:pt x="7116812" y="1803"/>
                  </a:lnTo>
                  <a:lnTo>
                    <a:pt x="7124080" y="6715"/>
                  </a:lnTo>
                  <a:lnTo>
                    <a:pt x="7128992" y="13983"/>
                  </a:lnTo>
                  <a:lnTo>
                    <a:pt x="7130796" y="22860"/>
                  </a:lnTo>
                  <a:lnTo>
                    <a:pt x="7130796" y="525780"/>
                  </a:lnTo>
                  <a:lnTo>
                    <a:pt x="7128992" y="534656"/>
                  </a:lnTo>
                  <a:lnTo>
                    <a:pt x="7124080" y="541924"/>
                  </a:lnTo>
                  <a:lnTo>
                    <a:pt x="7116812" y="546836"/>
                  </a:lnTo>
                  <a:lnTo>
                    <a:pt x="7107935" y="548640"/>
                  </a:lnTo>
                  <a:lnTo>
                    <a:pt x="22860" y="548640"/>
                  </a:lnTo>
                  <a:lnTo>
                    <a:pt x="13962" y="546836"/>
                  </a:lnTo>
                  <a:lnTo>
                    <a:pt x="6696" y="541924"/>
                  </a:lnTo>
                  <a:lnTo>
                    <a:pt x="1796" y="534656"/>
                  </a:lnTo>
                  <a:lnTo>
                    <a:pt x="0" y="525780"/>
                  </a:lnTo>
                  <a:lnTo>
                    <a:pt x="0" y="2286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58264" y="1510029"/>
            <a:ext cx="5074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Open </a:t>
            </a:r>
            <a:r>
              <a:rPr sz="1600" spc="-10" dirty="0">
                <a:latin typeface="Verdana"/>
                <a:cs typeface="Verdana"/>
              </a:rPr>
              <a:t>NPS </a:t>
            </a:r>
            <a:r>
              <a:rPr sz="1600" spc="-5" dirty="0">
                <a:latin typeface="Verdana"/>
                <a:cs typeface="Verdana"/>
              </a:rPr>
              <a:t>from the </a:t>
            </a:r>
            <a:r>
              <a:rPr sz="1600" b="1" spc="-10" dirty="0">
                <a:latin typeface="Verdana"/>
                <a:cs typeface="Verdana"/>
              </a:rPr>
              <a:t>Administrative Tools</a:t>
            </a:r>
            <a:r>
              <a:rPr sz="1600" b="1" spc="1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menu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88885" y="2037397"/>
            <a:ext cx="7140575" cy="556895"/>
            <a:chOff x="988885" y="2037397"/>
            <a:chExt cx="7140575" cy="556895"/>
          </a:xfrm>
        </p:grpSpPr>
        <p:sp>
          <p:nvSpPr>
            <p:cNvPr id="12" name="object 12"/>
            <p:cNvSpPr/>
            <p:nvPr/>
          </p:nvSpPr>
          <p:spPr>
            <a:xfrm>
              <a:off x="993647" y="2042160"/>
              <a:ext cx="7131050" cy="547370"/>
            </a:xfrm>
            <a:custGeom>
              <a:avLst/>
              <a:gdLst/>
              <a:ahLst/>
              <a:cxnLst/>
              <a:rect l="l" t="t" r="r" b="b"/>
              <a:pathLst>
                <a:path w="7131050" h="547369">
                  <a:moveTo>
                    <a:pt x="7108062" y="0"/>
                  </a:moveTo>
                  <a:lnTo>
                    <a:pt x="22796" y="0"/>
                  </a:lnTo>
                  <a:lnTo>
                    <a:pt x="13924" y="1783"/>
                  </a:lnTo>
                  <a:lnTo>
                    <a:pt x="6678" y="6651"/>
                  </a:lnTo>
                  <a:lnTo>
                    <a:pt x="1792" y="13876"/>
                  </a:lnTo>
                  <a:lnTo>
                    <a:pt x="0" y="22732"/>
                  </a:lnTo>
                  <a:lnTo>
                    <a:pt x="0" y="524382"/>
                  </a:lnTo>
                  <a:lnTo>
                    <a:pt x="1792" y="533239"/>
                  </a:lnTo>
                  <a:lnTo>
                    <a:pt x="6678" y="540464"/>
                  </a:lnTo>
                  <a:lnTo>
                    <a:pt x="13924" y="545332"/>
                  </a:lnTo>
                  <a:lnTo>
                    <a:pt x="22796" y="547115"/>
                  </a:lnTo>
                  <a:lnTo>
                    <a:pt x="7108062" y="547115"/>
                  </a:lnTo>
                  <a:lnTo>
                    <a:pt x="7116919" y="545332"/>
                  </a:lnTo>
                  <a:lnTo>
                    <a:pt x="7124144" y="540464"/>
                  </a:lnTo>
                  <a:lnTo>
                    <a:pt x="7129012" y="533239"/>
                  </a:lnTo>
                  <a:lnTo>
                    <a:pt x="7130796" y="524382"/>
                  </a:lnTo>
                  <a:lnTo>
                    <a:pt x="7130796" y="22732"/>
                  </a:lnTo>
                  <a:lnTo>
                    <a:pt x="7129012" y="13876"/>
                  </a:lnTo>
                  <a:lnTo>
                    <a:pt x="7124144" y="6651"/>
                  </a:lnTo>
                  <a:lnTo>
                    <a:pt x="7116919" y="1783"/>
                  </a:lnTo>
                  <a:lnTo>
                    <a:pt x="710806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3647" y="2042160"/>
              <a:ext cx="7131050" cy="547370"/>
            </a:xfrm>
            <a:custGeom>
              <a:avLst/>
              <a:gdLst/>
              <a:ahLst/>
              <a:cxnLst/>
              <a:rect l="l" t="t" r="r" b="b"/>
              <a:pathLst>
                <a:path w="7131050" h="547369">
                  <a:moveTo>
                    <a:pt x="0" y="22732"/>
                  </a:moveTo>
                  <a:lnTo>
                    <a:pt x="1792" y="13876"/>
                  </a:lnTo>
                  <a:lnTo>
                    <a:pt x="6678" y="6651"/>
                  </a:lnTo>
                  <a:lnTo>
                    <a:pt x="13924" y="1783"/>
                  </a:lnTo>
                  <a:lnTo>
                    <a:pt x="22796" y="0"/>
                  </a:lnTo>
                  <a:lnTo>
                    <a:pt x="7108062" y="0"/>
                  </a:lnTo>
                  <a:lnTo>
                    <a:pt x="7116919" y="1783"/>
                  </a:lnTo>
                  <a:lnTo>
                    <a:pt x="7124144" y="6651"/>
                  </a:lnTo>
                  <a:lnTo>
                    <a:pt x="7129012" y="13876"/>
                  </a:lnTo>
                  <a:lnTo>
                    <a:pt x="7130796" y="22732"/>
                  </a:lnTo>
                  <a:lnTo>
                    <a:pt x="7130796" y="524382"/>
                  </a:lnTo>
                  <a:lnTo>
                    <a:pt x="7129012" y="533239"/>
                  </a:lnTo>
                  <a:lnTo>
                    <a:pt x="7124144" y="540464"/>
                  </a:lnTo>
                  <a:lnTo>
                    <a:pt x="7116919" y="545332"/>
                  </a:lnTo>
                  <a:lnTo>
                    <a:pt x="7108062" y="547115"/>
                  </a:lnTo>
                  <a:lnTo>
                    <a:pt x="22796" y="547115"/>
                  </a:lnTo>
                  <a:lnTo>
                    <a:pt x="13924" y="545332"/>
                  </a:lnTo>
                  <a:lnTo>
                    <a:pt x="6678" y="540464"/>
                  </a:lnTo>
                  <a:lnTo>
                    <a:pt x="1792" y="533239"/>
                  </a:lnTo>
                  <a:lnTo>
                    <a:pt x="0" y="524382"/>
                  </a:lnTo>
                  <a:lnTo>
                    <a:pt x="0" y="22732"/>
                  </a:lnTo>
                  <a:close/>
                </a:path>
              </a:pathLst>
            </a:custGeom>
            <a:ln w="9143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64361" y="2167508"/>
            <a:ext cx="38912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Verdana"/>
                <a:cs typeface="Verdana"/>
              </a:rPr>
              <a:t>In </a:t>
            </a:r>
            <a:r>
              <a:rPr sz="1600" spc="-5" dirty="0">
                <a:latin typeface="Verdana"/>
                <a:cs typeface="Verdana"/>
              </a:rPr>
              <a:t>the console tree, </a:t>
            </a:r>
            <a:r>
              <a:rPr sz="1600" spc="-10" dirty="0">
                <a:latin typeface="Verdana"/>
                <a:cs typeface="Verdana"/>
              </a:rPr>
              <a:t>click</a:t>
            </a:r>
            <a:r>
              <a:rPr sz="1600" spc="7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Accounting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98029" y="2703385"/>
            <a:ext cx="7141845" cy="556895"/>
            <a:chOff x="998029" y="2703385"/>
            <a:chExt cx="7141845" cy="556895"/>
          </a:xfrm>
        </p:grpSpPr>
        <p:sp>
          <p:nvSpPr>
            <p:cNvPr id="16" name="object 16"/>
            <p:cNvSpPr/>
            <p:nvPr/>
          </p:nvSpPr>
          <p:spPr>
            <a:xfrm>
              <a:off x="1002791" y="2708148"/>
              <a:ext cx="7132320" cy="547370"/>
            </a:xfrm>
            <a:custGeom>
              <a:avLst/>
              <a:gdLst/>
              <a:ahLst/>
              <a:cxnLst/>
              <a:rect l="l" t="t" r="r" b="b"/>
              <a:pathLst>
                <a:path w="7132320" h="547370">
                  <a:moveTo>
                    <a:pt x="7109459" y="0"/>
                  </a:moveTo>
                  <a:lnTo>
                    <a:pt x="22796" y="0"/>
                  </a:lnTo>
                  <a:lnTo>
                    <a:pt x="13924" y="1785"/>
                  </a:lnTo>
                  <a:lnTo>
                    <a:pt x="6678" y="6667"/>
                  </a:lnTo>
                  <a:lnTo>
                    <a:pt x="1792" y="13930"/>
                  </a:lnTo>
                  <a:lnTo>
                    <a:pt x="0" y="22860"/>
                  </a:lnTo>
                  <a:lnTo>
                    <a:pt x="0" y="524255"/>
                  </a:lnTo>
                  <a:lnTo>
                    <a:pt x="1792" y="533185"/>
                  </a:lnTo>
                  <a:lnTo>
                    <a:pt x="6678" y="540448"/>
                  </a:lnTo>
                  <a:lnTo>
                    <a:pt x="13924" y="545330"/>
                  </a:lnTo>
                  <a:lnTo>
                    <a:pt x="22796" y="547115"/>
                  </a:lnTo>
                  <a:lnTo>
                    <a:pt x="7109459" y="547115"/>
                  </a:lnTo>
                  <a:lnTo>
                    <a:pt x="7118389" y="545330"/>
                  </a:lnTo>
                  <a:lnTo>
                    <a:pt x="7125652" y="540448"/>
                  </a:lnTo>
                  <a:lnTo>
                    <a:pt x="7130534" y="533185"/>
                  </a:lnTo>
                  <a:lnTo>
                    <a:pt x="7132319" y="524255"/>
                  </a:lnTo>
                  <a:lnTo>
                    <a:pt x="7132319" y="22860"/>
                  </a:lnTo>
                  <a:lnTo>
                    <a:pt x="7130534" y="13930"/>
                  </a:lnTo>
                  <a:lnTo>
                    <a:pt x="7125652" y="6667"/>
                  </a:lnTo>
                  <a:lnTo>
                    <a:pt x="7118389" y="1785"/>
                  </a:lnTo>
                  <a:lnTo>
                    <a:pt x="7109459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02791" y="2708148"/>
              <a:ext cx="7132320" cy="547370"/>
            </a:xfrm>
            <a:custGeom>
              <a:avLst/>
              <a:gdLst/>
              <a:ahLst/>
              <a:cxnLst/>
              <a:rect l="l" t="t" r="r" b="b"/>
              <a:pathLst>
                <a:path w="7132320" h="547370">
                  <a:moveTo>
                    <a:pt x="0" y="22860"/>
                  </a:moveTo>
                  <a:lnTo>
                    <a:pt x="1792" y="13930"/>
                  </a:lnTo>
                  <a:lnTo>
                    <a:pt x="6678" y="6667"/>
                  </a:lnTo>
                  <a:lnTo>
                    <a:pt x="13924" y="1785"/>
                  </a:lnTo>
                  <a:lnTo>
                    <a:pt x="22796" y="0"/>
                  </a:lnTo>
                  <a:lnTo>
                    <a:pt x="7109459" y="0"/>
                  </a:lnTo>
                  <a:lnTo>
                    <a:pt x="7118389" y="1785"/>
                  </a:lnTo>
                  <a:lnTo>
                    <a:pt x="7125652" y="6667"/>
                  </a:lnTo>
                  <a:lnTo>
                    <a:pt x="7130534" y="13930"/>
                  </a:lnTo>
                  <a:lnTo>
                    <a:pt x="7132319" y="22860"/>
                  </a:lnTo>
                  <a:lnTo>
                    <a:pt x="7132319" y="524255"/>
                  </a:lnTo>
                  <a:lnTo>
                    <a:pt x="7130534" y="533185"/>
                  </a:lnTo>
                  <a:lnTo>
                    <a:pt x="7125652" y="540448"/>
                  </a:lnTo>
                  <a:lnTo>
                    <a:pt x="7118389" y="545330"/>
                  </a:lnTo>
                  <a:lnTo>
                    <a:pt x="7109459" y="547115"/>
                  </a:lnTo>
                  <a:lnTo>
                    <a:pt x="22796" y="547115"/>
                  </a:lnTo>
                  <a:lnTo>
                    <a:pt x="13924" y="545330"/>
                  </a:lnTo>
                  <a:lnTo>
                    <a:pt x="6678" y="540448"/>
                  </a:lnTo>
                  <a:lnTo>
                    <a:pt x="1792" y="533185"/>
                  </a:lnTo>
                  <a:lnTo>
                    <a:pt x="0" y="524255"/>
                  </a:lnTo>
                  <a:lnTo>
                    <a:pt x="0" y="2286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373886" y="2834386"/>
            <a:ext cx="5836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Verdana"/>
                <a:cs typeface="Verdana"/>
              </a:rPr>
              <a:t>In </a:t>
            </a:r>
            <a:r>
              <a:rPr sz="1600" spc="-5" dirty="0">
                <a:latin typeface="Verdana"/>
                <a:cs typeface="Verdana"/>
              </a:rPr>
              <a:t>the </a:t>
            </a:r>
            <a:r>
              <a:rPr sz="1600" spc="-10" dirty="0">
                <a:latin typeface="Verdana"/>
                <a:cs typeface="Verdana"/>
              </a:rPr>
              <a:t>details pane, click </a:t>
            </a:r>
            <a:r>
              <a:rPr sz="1600" b="1" spc="-10" dirty="0">
                <a:latin typeface="Verdana"/>
                <a:cs typeface="Verdana"/>
              </a:rPr>
              <a:t>Configure Local File</a:t>
            </a:r>
            <a:r>
              <a:rPr sz="1600" b="1" spc="23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Logging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91933" y="3352609"/>
            <a:ext cx="7140575" cy="558165"/>
            <a:chOff x="991933" y="3352609"/>
            <a:chExt cx="7140575" cy="558165"/>
          </a:xfrm>
        </p:grpSpPr>
        <p:sp>
          <p:nvSpPr>
            <p:cNvPr id="20" name="object 20"/>
            <p:cNvSpPr/>
            <p:nvPr/>
          </p:nvSpPr>
          <p:spPr>
            <a:xfrm>
              <a:off x="996696" y="3357371"/>
              <a:ext cx="7131050" cy="548640"/>
            </a:xfrm>
            <a:custGeom>
              <a:avLst/>
              <a:gdLst/>
              <a:ahLst/>
              <a:cxnLst/>
              <a:rect l="l" t="t" r="r" b="b"/>
              <a:pathLst>
                <a:path w="7131050" h="548639">
                  <a:moveTo>
                    <a:pt x="7107935" y="0"/>
                  </a:moveTo>
                  <a:lnTo>
                    <a:pt x="22859" y="0"/>
                  </a:lnTo>
                  <a:lnTo>
                    <a:pt x="13962" y="1803"/>
                  </a:lnTo>
                  <a:lnTo>
                    <a:pt x="6696" y="6715"/>
                  </a:lnTo>
                  <a:lnTo>
                    <a:pt x="1796" y="13983"/>
                  </a:lnTo>
                  <a:lnTo>
                    <a:pt x="0" y="22860"/>
                  </a:lnTo>
                  <a:lnTo>
                    <a:pt x="0" y="525779"/>
                  </a:lnTo>
                  <a:lnTo>
                    <a:pt x="1796" y="534656"/>
                  </a:lnTo>
                  <a:lnTo>
                    <a:pt x="6696" y="541924"/>
                  </a:lnTo>
                  <a:lnTo>
                    <a:pt x="13962" y="546836"/>
                  </a:lnTo>
                  <a:lnTo>
                    <a:pt x="22859" y="548639"/>
                  </a:lnTo>
                  <a:lnTo>
                    <a:pt x="7107935" y="548639"/>
                  </a:lnTo>
                  <a:lnTo>
                    <a:pt x="7116812" y="546836"/>
                  </a:lnTo>
                  <a:lnTo>
                    <a:pt x="7124080" y="541924"/>
                  </a:lnTo>
                  <a:lnTo>
                    <a:pt x="7128992" y="534656"/>
                  </a:lnTo>
                  <a:lnTo>
                    <a:pt x="7130796" y="525779"/>
                  </a:lnTo>
                  <a:lnTo>
                    <a:pt x="7130796" y="22860"/>
                  </a:lnTo>
                  <a:lnTo>
                    <a:pt x="7128992" y="13983"/>
                  </a:lnTo>
                  <a:lnTo>
                    <a:pt x="7124080" y="6715"/>
                  </a:lnTo>
                  <a:lnTo>
                    <a:pt x="7116812" y="1803"/>
                  </a:lnTo>
                  <a:lnTo>
                    <a:pt x="7107935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96696" y="3357371"/>
              <a:ext cx="7131050" cy="548640"/>
            </a:xfrm>
            <a:custGeom>
              <a:avLst/>
              <a:gdLst/>
              <a:ahLst/>
              <a:cxnLst/>
              <a:rect l="l" t="t" r="r" b="b"/>
              <a:pathLst>
                <a:path w="7131050" h="548639">
                  <a:moveTo>
                    <a:pt x="0" y="22860"/>
                  </a:moveTo>
                  <a:lnTo>
                    <a:pt x="1796" y="13983"/>
                  </a:lnTo>
                  <a:lnTo>
                    <a:pt x="6696" y="6715"/>
                  </a:lnTo>
                  <a:lnTo>
                    <a:pt x="13962" y="1803"/>
                  </a:lnTo>
                  <a:lnTo>
                    <a:pt x="22859" y="0"/>
                  </a:lnTo>
                  <a:lnTo>
                    <a:pt x="7107935" y="0"/>
                  </a:lnTo>
                  <a:lnTo>
                    <a:pt x="7116812" y="1803"/>
                  </a:lnTo>
                  <a:lnTo>
                    <a:pt x="7124080" y="6715"/>
                  </a:lnTo>
                  <a:lnTo>
                    <a:pt x="7128992" y="13983"/>
                  </a:lnTo>
                  <a:lnTo>
                    <a:pt x="7130796" y="22860"/>
                  </a:lnTo>
                  <a:lnTo>
                    <a:pt x="7130796" y="525779"/>
                  </a:lnTo>
                  <a:lnTo>
                    <a:pt x="7128992" y="534656"/>
                  </a:lnTo>
                  <a:lnTo>
                    <a:pt x="7124080" y="541924"/>
                  </a:lnTo>
                  <a:lnTo>
                    <a:pt x="7116812" y="546836"/>
                  </a:lnTo>
                  <a:lnTo>
                    <a:pt x="7107935" y="548639"/>
                  </a:lnTo>
                  <a:lnTo>
                    <a:pt x="22859" y="548639"/>
                  </a:lnTo>
                  <a:lnTo>
                    <a:pt x="13962" y="546836"/>
                  </a:lnTo>
                  <a:lnTo>
                    <a:pt x="6696" y="541924"/>
                  </a:lnTo>
                  <a:lnTo>
                    <a:pt x="1796" y="534656"/>
                  </a:lnTo>
                  <a:lnTo>
                    <a:pt x="0" y="525779"/>
                  </a:lnTo>
                  <a:lnTo>
                    <a:pt x="0" y="22860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367789" y="3483990"/>
            <a:ext cx="584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Verdana"/>
                <a:cs typeface="Verdana"/>
              </a:rPr>
              <a:t>On </a:t>
            </a:r>
            <a:r>
              <a:rPr sz="1600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Settings </a:t>
            </a:r>
            <a:r>
              <a:rPr sz="1600" spc="-10" dirty="0">
                <a:latin typeface="Verdana"/>
                <a:cs typeface="Verdana"/>
              </a:rPr>
              <a:t>tab, select </a:t>
            </a:r>
            <a:r>
              <a:rPr sz="1600" spc="-5" dirty="0">
                <a:latin typeface="Verdana"/>
                <a:cs typeface="Verdana"/>
              </a:rPr>
              <a:t>the </a:t>
            </a:r>
            <a:r>
              <a:rPr sz="1600" spc="-10" dirty="0">
                <a:latin typeface="Verdana"/>
                <a:cs typeface="Verdana"/>
              </a:rPr>
              <a:t>information </a:t>
            </a:r>
            <a:r>
              <a:rPr sz="1600" spc="-5" dirty="0">
                <a:latin typeface="Verdana"/>
                <a:cs typeface="Verdana"/>
              </a:rPr>
              <a:t>to be</a:t>
            </a:r>
            <a:r>
              <a:rPr sz="1600" spc="220" dirty="0">
                <a:latin typeface="Verdana"/>
                <a:cs typeface="Verdana"/>
              </a:rPr>
              <a:t> </a:t>
            </a:r>
            <a:r>
              <a:rPr sz="1600" spc="-15" dirty="0">
                <a:latin typeface="Verdana"/>
                <a:cs typeface="Verdana"/>
              </a:rPr>
              <a:t>logged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90409" y="4046029"/>
            <a:ext cx="7140575" cy="570865"/>
            <a:chOff x="990409" y="4046029"/>
            <a:chExt cx="7140575" cy="570865"/>
          </a:xfrm>
        </p:grpSpPr>
        <p:sp>
          <p:nvSpPr>
            <p:cNvPr id="24" name="object 24"/>
            <p:cNvSpPr/>
            <p:nvPr/>
          </p:nvSpPr>
          <p:spPr>
            <a:xfrm>
              <a:off x="995172" y="4050791"/>
              <a:ext cx="7131050" cy="561340"/>
            </a:xfrm>
            <a:custGeom>
              <a:avLst/>
              <a:gdLst/>
              <a:ahLst/>
              <a:cxnLst/>
              <a:rect l="l" t="t" r="r" b="b"/>
              <a:pathLst>
                <a:path w="7131050" h="561339">
                  <a:moveTo>
                    <a:pt x="7107428" y="0"/>
                  </a:moveTo>
                  <a:lnTo>
                    <a:pt x="23368" y="0"/>
                  </a:lnTo>
                  <a:lnTo>
                    <a:pt x="14273" y="1829"/>
                  </a:lnTo>
                  <a:lnTo>
                    <a:pt x="6845" y="6826"/>
                  </a:lnTo>
                  <a:lnTo>
                    <a:pt x="1836" y="14251"/>
                  </a:lnTo>
                  <a:lnTo>
                    <a:pt x="0" y="23367"/>
                  </a:lnTo>
                  <a:lnTo>
                    <a:pt x="0" y="537463"/>
                  </a:lnTo>
                  <a:lnTo>
                    <a:pt x="1836" y="546580"/>
                  </a:lnTo>
                  <a:lnTo>
                    <a:pt x="6845" y="554005"/>
                  </a:lnTo>
                  <a:lnTo>
                    <a:pt x="14273" y="559002"/>
                  </a:lnTo>
                  <a:lnTo>
                    <a:pt x="23368" y="560831"/>
                  </a:lnTo>
                  <a:lnTo>
                    <a:pt x="7107428" y="560831"/>
                  </a:lnTo>
                  <a:lnTo>
                    <a:pt x="7116544" y="559002"/>
                  </a:lnTo>
                  <a:lnTo>
                    <a:pt x="7123969" y="554005"/>
                  </a:lnTo>
                  <a:lnTo>
                    <a:pt x="7128966" y="546580"/>
                  </a:lnTo>
                  <a:lnTo>
                    <a:pt x="7130796" y="537463"/>
                  </a:lnTo>
                  <a:lnTo>
                    <a:pt x="7130796" y="23367"/>
                  </a:lnTo>
                  <a:lnTo>
                    <a:pt x="7128966" y="14251"/>
                  </a:lnTo>
                  <a:lnTo>
                    <a:pt x="7123969" y="6826"/>
                  </a:lnTo>
                  <a:lnTo>
                    <a:pt x="7116544" y="1829"/>
                  </a:lnTo>
                  <a:lnTo>
                    <a:pt x="710742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95172" y="4050791"/>
              <a:ext cx="7131050" cy="561340"/>
            </a:xfrm>
            <a:custGeom>
              <a:avLst/>
              <a:gdLst/>
              <a:ahLst/>
              <a:cxnLst/>
              <a:rect l="l" t="t" r="r" b="b"/>
              <a:pathLst>
                <a:path w="7131050" h="561339">
                  <a:moveTo>
                    <a:pt x="0" y="23367"/>
                  </a:moveTo>
                  <a:lnTo>
                    <a:pt x="1836" y="14251"/>
                  </a:lnTo>
                  <a:lnTo>
                    <a:pt x="6845" y="6826"/>
                  </a:lnTo>
                  <a:lnTo>
                    <a:pt x="14273" y="1829"/>
                  </a:lnTo>
                  <a:lnTo>
                    <a:pt x="23368" y="0"/>
                  </a:lnTo>
                  <a:lnTo>
                    <a:pt x="7107428" y="0"/>
                  </a:lnTo>
                  <a:lnTo>
                    <a:pt x="7116544" y="1829"/>
                  </a:lnTo>
                  <a:lnTo>
                    <a:pt x="7123969" y="6826"/>
                  </a:lnTo>
                  <a:lnTo>
                    <a:pt x="7128966" y="14251"/>
                  </a:lnTo>
                  <a:lnTo>
                    <a:pt x="7130796" y="23367"/>
                  </a:lnTo>
                  <a:lnTo>
                    <a:pt x="7130796" y="537463"/>
                  </a:lnTo>
                  <a:lnTo>
                    <a:pt x="7128966" y="546580"/>
                  </a:lnTo>
                  <a:lnTo>
                    <a:pt x="7123969" y="554005"/>
                  </a:lnTo>
                  <a:lnTo>
                    <a:pt x="7116544" y="559002"/>
                  </a:lnTo>
                  <a:lnTo>
                    <a:pt x="7107428" y="560831"/>
                  </a:lnTo>
                  <a:lnTo>
                    <a:pt x="23368" y="560831"/>
                  </a:lnTo>
                  <a:lnTo>
                    <a:pt x="14273" y="559002"/>
                  </a:lnTo>
                  <a:lnTo>
                    <a:pt x="6845" y="554005"/>
                  </a:lnTo>
                  <a:lnTo>
                    <a:pt x="1836" y="546580"/>
                  </a:lnTo>
                  <a:lnTo>
                    <a:pt x="0" y="537463"/>
                  </a:lnTo>
                  <a:lnTo>
                    <a:pt x="0" y="2336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366266" y="4071365"/>
            <a:ext cx="6029325" cy="4914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295"/>
              </a:spcBef>
            </a:pPr>
            <a:r>
              <a:rPr sz="1600" spc="-10" dirty="0">
                <a:latin typeface="Verdana"/>
                <a:cs typeface="Verdana"/>
              </a:rPr>
              <a:t>On </a:t>
            </a:r>
            <a:r>
              <a:rPr sz="1600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Log File </a:t>
            </a:r>
            <a:r>
              <a:rPr sz="1600" spc="-10" dirty="0">
                <a:latin typeface="Verdana"/>
                <a:cs typeface="Verdana"/>
              </a:rPr>
              <a:t>tab, select </a:t>
            </a:r>
            <a:r>
              <a:rPr sz="1600" spc="-5" dirty="0">
                <a:latin typeface="Verdana"/>
                <a:cs typeface="Verdana"/>
              </a:rPr>
              <a:t>the </a:t>
            </a:r>
            <a:r>
              <a:rPr sz="1600" spc="-10" dirty="0">
                <a:latin typeface="Verdana"/>
                <a:cs typeface="Verdana"/>
              </a:rPr>
              <a:t>log type </a:t>
            </a:r>
            <a:r>
              <a:rPr sz="1600" spc="-5" dirty="0">
                <a:latin typeface="Verdana"/>
                <a:cs typeface="Verdana"/>
              </a:rPr>
              <a:t>and the frequency  or </a:t>
            </a:r>
            <a:r>
              <a:rPr sz="1600" spc="-10" dirty="0">
                <a:latin typeface="Verdana"/>
                <a:cs typeface="Verdana"/>
              </a:rPr>
              <a:t>size </a:t>
            </a:r>
            <a:r>
              <a:rPr sz="1600" spc="-5" dirty="0">
                <a:latin typeface="Verdana"/>
                <a:cs typeface="Verdana"/>
              </a:rPr>
              <a:t>attributes of </a:t>
            </a:r>
            <a:r>
              <a:rPr sz="1600" spc="-10" dirty="0">
                <a:latin typeface="Verdana"/>
                <a:cs typeface="Verdana"/>
              </a:rPr>
              <a:t>the log </a:t>
            </a:r>
            <a:r>
              <a:rPr sz="1600" spc="-5" dirty="0">
                <a:latin typeface="Verdana"/>
                <a:cs typeface="Verdana"/>
              </a:rPr>
              <a:t>files to be</a:t>
            </a:r>
            <a:r>
              <a:rPr sz="1600" spc="13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generated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97051" y="1447609"/>
            <a:ext cx="489584" cy="541655"/>
            <a:chOff x="797051" y="1447609"/>
            <a:chExt cx="489584" cy="541655"/>
          </a:xfrm>
        </p:grpSpPr>
        <p:sp>
          <p:nvSpPr>
            <p:cNvPr id="28" name="object 28"/>
            <p:cNvSpPr/>
            <p:nvPr/>
          </p:nvSpPr>
          <p:spPr>
            <a:xfrm>
              <a:off x="853439" y="1472184"/>
              <a:ext cx="371856" cy="4236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7051" y="1452372"/>
              <a:ext cx="489204" cy="5364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33627" y="1452372"/>
              <a:ext cx="359664" cy="4114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3627" y="1452372"/>
              <a:ext cx="360045" cy="411480"/>
            </a:xfrm>
            <a:custGeom>
              <a:avLst/>
              <a:gdLst/>
              <a:ahLst/>
              <a:cxnLst/>
              <a:rect l="l" t="t" r="r" b="b"/>
              <a:pathLst>
                <a:path w="360044" h="411480">
                  <a:moveTo>
                    <a:pt x="0" y="411479"/>
                  </a:moveTo>
                  <a:lnTo>
                    <a:pt x="359664" y="411479"/>
                  </a:lnTo>
                  <a:lnTo>
                    <a:pt x="359664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912367" y="1489913"/>
            <a:ext cx="2070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97051" y="2104453"/>
            <a:ext cx="489584" cy="541655"/>
            <a:chOff x="797051" y="2104453"/>
            <a:chExt cx="489584" cy="541655"/>
          </a:xfrm>
        </p:grpSpPr>
        <p:sp>
          <p:nvSpPr>
            <p:cNvPr id="34" name="object 34"/>
            <p:cNvSpPr/>
            <p:nvPr/>
          </p:nvSpPr>
          <p:spPr>
            <a:xfrm>
              <a:off x="853439" y="2129028"/>
              <a:ext cx="371856" cy="4236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7051" y="2109216"/>
              <a:ext cx="489204" cy="536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33627" y="2109216"/>
              <a:ext cx="359664" cy="4114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33627" y="2109216"/>
              <a:ext cx="360045" cy="411480"/>
            </a:xfrm>
            <a:custGeom>
              <a:avLst/>
              <a:gdLst/>
              <a:ahLst/>
              <a:cxnLst/>
              <a:rect l="l" t="t" r="r" b="b"/>
              <a:pathLst>
                <a:path w="360044" h="411480">
                  <a:moveTo>
                    <a:pt x="0" y="411479"/>
                  </a:moveTo>
                  <a:lnTo>
                    <a:pt x="359664" y="411479"/>
                  </a:lnTo>
                  <a:lnTo>
                    <a:pt x="359664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25067" y="2147697"/>
            <a:ext cx="2686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7051" y="2771965"/>
            <a:ext cx="489584" cy="539750"/>
            <a:chOff x="797051" y="2771965"/>
            <a:chExt cx="489584" cy="539750"/>
          </a:xfrm>
        </p:grpSpPr>
        <p:sp>
          <p:nvSpPr>
            <p:cNvPr id="40" name="object 40"/>
            <p:cNvSpPr/>
            <p:nvPr/>
          </p:nvSpPr>
          <p:spPr>
            <a:xfrm>
              <a:off x="853439" y="2796539"/>
              <a:ext cx="371856" cy="4236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97051" y="2775203"/>
              <a:ext cx="489204" cy="53644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33627" y="2776727"/>
              <a:ext cx="359664" cy="4114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33627" y="2776727"/>
              <a:ext cx="360045" cy="411480"/>
            </a:xfrm>
            <a:custGeom>
              <a:avLst/>
              <a:gdLst/>
              <a:ahLst/>
              <a:cxnLst/>
              <a:rect l="l" t="t" r="r" b="b"/>
              <a:pathLst>
                <a:path w="360044" h="411480">
                  <a:moveTo>
                    <a:pt x="0" y="411479"/>
                  </a:moveTo>
                  <a:lnTo>
                    <a:pt x="359664" y="411479"/>
                  </a:lnTo>
                  <a:lnTo>
                    <a:pt x="359664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25067" y="2814574"/>
            <a:ext cx="2686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97051" y="3419665"/>
            <a:ext cx="489584" cy="539750"/>
            <a:chOff x="797051" y="3419665"/>
            <a:chExt cx="489584" cy="539750"/>
          </a:xfrm>
        </p:grpSpPr>
        <p:sp>
          <p:nvSpPr>
            <p:cNvPr id="46" name="object 46"/>
            <p:cNvSpPr/>
            <p:nvPr/>
          </p:nvSpPr>
          <p:spPr>
            <a:xfrm>
              <a:off x="853439" y="3444240"/>
              <a:ext cx="371856" cy="42367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97051" y="3422904"/>
              <a:ext cx="489204" cy="536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3627" y="3424428"/>
              <a:ext cx="359664" cy="4114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3627" y="3424428"/>
              <a:ext cx="360045" cy="411480"/>
            </a:xfrm>
            <a:custGeom>
              <a:avLst/>
              <a:gdLst/>
              <a:ahLst/>
              <a:cxnLst/>
              <a:rect l="l" t="t" r="r" b="b"/>
              <a:pathLst>
                <a:path w="360044" h="411479">
                  <a:moveTo>
                    <a:pt x="0" y="411480"/>
                  </a:moveTo>
                  <a:lnTo>
                    <a:pt x="359664" y="411480"/>
                  </a:lnTo>
                  <a:lnTo>
                    <a:pt x="359664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25067" y="3461969"/>
            <a:ext cx="2686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97051" y="4114800"/>
            <a:ext cx="489584" cy="541020"/>
            <a:chOff x="797051" y="4114800"/>
            <a:chExt cx="489584" cy="541020"/>
          </a:xfrm>
        </p:grpSpPr>
        <p:sp>
          <p:nvSpPr>
            <p:cNvPr id="52" name="object 52"/>
            <p:cNvSpPr/>
            <p:nvPr/>
          </p:nvSpPr>
          <p:spPr>
            <a:xfrm>
              <a:off x="853439" y="4139183"/>
              <a:ext cx="371856" cy="4236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97051" y="4119372"/>
              <a:ext cx="489204" cy="5364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3627" y="4119372"/>
              <a:ext cx="359664" cy="4114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3627" y="4119372"/>
              <a:ext cx="360045" cy="411480"/>
            </a:xfrm>
            <a:custGeom>
              <a:avLst/>
              <a:gdLst/>
              <a:ahLst/>
              <a:cxnLst/>
              <a:rect l="l" t="t" r="r" b="b"/>
              <a:pathLst>
                <a:path w="360044" h="411479">
                  <a:moveTo>
                    <a:pt x="0" y="411479"/>
                  </a:moveTo>
                  <a:lnTo>
                    <a:pt x="359664" y="411479"/>
                  </a:lnTo>
                  <a:lnTo>
                    <a:pt x="359664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925067" y="4157852"/>
            <a:ext cx="268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990033"/>
                </a:solidFill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86740" y="5053584"/>
            <a:ext cx="7969250" cy="1329055"/>
            <a:chOff x="586740" y="5053584"/>
            <a:chExt cx="7969250" cy="1329055"/>
          </a:xfrm>
        </p:grpSpPr>
        <p:sp>
          <p:nvSpPr>
            <p:cNvPr id="58" name="object 58"/>
            <p:cNvSpPr/>
            <p:nvPr/>
          </p:nvSpPr>
          <p:spPr>
            <a:xfrm>
              <a:off x="591312" y="5058156"/>
              <a:ext cx="7960359" cy="1320165"/>
            </a:xfrm>
            <a:custGeom>
              <a:avLst/>
              <a:gdLst/>
              <a:ahLst/>
              <a:cxnLst/>
              <a:rect l="l" t="t" r="r" b="b"/>
              <a:pathLst>
                <a:path w="7960359" h="1320164">
                  <a:moveTo>
                    <a:pt x="7904861" y="0"/>
                  </a:moveTo>
                  <a:lnTo>
                    <a:pt x="55003" y="0"/>
                  </a:lnTo>
                  <a:lnTo>
                    <a:pt x="33593" y="4323"/>
                  </a:lnTo>
                  <a:lnTo>
                    <a:pt x="16109" y="16113"/>
                  </a:lnTo>
                  <a:lnTo>
                    <a:pt x="4322" y="33593"/>
                  </a:lnTo>
                  <a:lnTo>
                    <a:pt x="0" y="54991"/>
                  </a:lnTo>
                  <a:lnTo>
                    <a:pt x="0" y="1264780"/>
                  </a:lnTo>
                  <a:lnTo>
                    <a:pt x="4322" y="1286190"/>
                  </a:lnTo>
                  <a:lnTo>
                    <a:pt x="16109" y="1303674"/>
                  </a:lnTo>
                  <a:lnTo>
                    <a:pt x="33593" y="1315461"/>
                  </a:lnTo>
                  <a:lnTo>
                    <a:pt x="55003" y="1319784"/>
                  </a:lnTo>
                  <a:lnTo>
                    <a:pt x="7904861" y="1319784"/>
                  </a:lnTo>
                  <a:lnTo>
                    <a:pt x="7926258" y="1315461"/>
                  </a:lnTo>
                  <a:lnTo>
                    <a:pt x="7943738" y="1303674"/>
                  </a:lnTo>
                  <a:lnTo>
                    <a:pt x="7955528" y="1286190"/>
                  </a:lnTo>
                  <a:lnTo>
                    <a:pt x="7959852" y="1264780"/>
                  </a:lnTo>
                  <a:lnTo>
                    <a:pt x="7959852" y="54991"/>
                  </a:lnTo>
                  <a:lnTo>
                    <a:pt x="7955528" y="33593"/>
                  </a:lnTo>
                  <a:lnTo>
                    <a:pt x="7943738" y="16113"/>
                  </a:lnTo>
                  <a:lnTo>
                    <a:pt x="7926258" y="4323"/>
                  </a:lnTo>
                  <a:lnTo>
                    <a:pt x="790486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91312" y="5058156"/>
              <a:ext cx="7960359" cy="1320165"/>
            </a:xfrm>
            <a:custGeom>
              <a:avLst/>
              <a:gdLst/>
              <a:ahLst/>
              <a:cxnLst/>
              <a:rect l="l" t="t" r="r" b="b"/>
              <a:pathLst>
                <a:path w="7960359" h="1320164">
                  <a:moveTo>
                    <a:pt x="0" y="54991"/>
                  </a:moveTo>
                  <a:lnTo>
                    <a:pt x="4322" y="33593"/>
                  </a:lnTo>
                  <a:lnTo>
                    <a:pt x="16109" y="16113"/>
                  </a:lnTo>
                  <a:lnTo>
                    <a:pt x="33593" y="4323"/>
                  </a:lnTo>
                  <a:lnTo>
                    <a:pt x="55003" y="0"/>
                  </a:lnTo>
                  <a:lnTo>
                    <a:pt x="7904861" y="0"/>
                  </a:lnTo>
                  <a:lnTo>
                    <a:pt x="7926258" y="4323"/>
                  </a:lnTo>
                  <a:lnTo>
                    <a:pt x="7943738" y="16113"/>
                  </a:lnTo>
                  <a:lnTo>
                    <a:pt x="7955528" y="33593"/>
                  </a:lnTo>
                  <a:lnTo>
                    <a:pt x="7959852" y="54991"/>
                  </a:lnTo>
                  <a:lnTo>
                    <a:pt x="7959852" y="1264780"/>
                  </a:lnTo>
                  <a:lnTo>
                    <a:pt x="7955528" y="1286190"/>
                  </a:lnTo>
                  <a:lnTo>
                    <a:pt x="7943738" y="1303674"/>
                  </a:lnTo>
                  <a:lnTo>
                    <a:pt x="7926258" y="1315461"/>
                  </a:lnTo>
                  <a:lnTo>
                    <a:pt x="7904861" y="1319784"/>
                  </a:lnTo>
                  <a:lnTo>
                    <a:pt x="55003" y="1319784"/>
                  </a:lnTo>
                  <a:lnTo>
                    <a:pt x="33593" y="1315461"/>
                  </a:lnTo>
                  <a:lnTo>
                    <a:pt x="16109" y="1303674"/>
                  </a:lnTo>
                  <a:lnTo>
                    <a:pt x="4322" y="1286190"/>
                  </a:lnTo>
                  <a:lnTo>
                    <a:pt x="0" y="1264780"/>
                  </a:lnTo>
                  <a:lnTo>
                    <a:pt x="0" y="54991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95172" y="5702808"/>
              <a:ext cx="7131050" cy="559435"/>
            </a:xfrm>
            <a:custGeom>
              <a:avLst/>
              <a:gdLst/>
              <a:ahLst/>
              <a:cxnLst/>
              <a:rect l="l" t="t" r="r" b="b"/>
              <a:pathLst>
                <a:path w="7131050" h="559435">
                  <a:moveTo>
                    <a:pt x="7107428" y="0"/>
                  </a:moveTo>
                  <a:lnTo>
                    <a:pt x="23304" y="0"/>
                  </a:lnTo>
                  <a:lnTo>
                    <a:pt x="14235" y="1832"/>
                  </a:lnTo>
                  <a:lnTo>
                    <a:pt x="6827" y="6827"/>
                  </a:lnTo>
                  <a:lnTo>
                    <a:pt x="1832" y="14235"/>
                  </a:lnTo>
                  <a:lnTo>
                    <a:pt x="0" y="23304"/>
                  </a:lnTo>
                  <a:lnTo>
                    <a:pt x="0" y="536003"/>
                  </a:lnTo>
                  <a:lnTo>
                    <a:pt x="1832" y="545072"/>
                  </a:lnTo>
                  <a:lnTo>
                    <a:pt x="6827" y="552480"/>
                  </a:lnTo>
                  <a:lnTo>
                    <a:pt x="14235" y="557475"/>
                  </a:lnTo>
                  <a:lnTo>
                    <a:pt x="23304" y="559307"/>
                  </a:lnTo>
                  <a:lnTo>
                    <a:pt x="7107428" y="559307"/>
                  </a:lnTo>
                  <a:lnTo>
                    <a:pt x="7116544" y="557475"/>
                  </a:lnTo>
                  <a:lnTo>
                    <a:pt x="7123969" y="552480"/>
                  </a:lnTo>
                  <a:lnTo>
                    <a:pt x="7128966" y="545072"/>
                  </a:lnTo>
                  <a:lnTo>
                    <a:pt x="7130796" y="536003"/>
                  </a:lnTo>
                  <a:lnTo>
                    <a:pt x="7130796" y="23304"/>
                  </a:lnTo>
                  <a:lnTo>
                    <a:pt x="7128966" y="14235"/>
                  </a:lnTo>
                  <a:lnTo>
                    <a:pt x="7123969" y="6827"/>
                  </a:lnTo>
                  <a:lnTo>
                    <a:pt x="7116544" y="1832"/>
                  </a:lnTo>
                  <a:lnTo>
                    <a:pt x="7107428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95172" y="5702808"/>
              <a:ext cx="7131050" cy="559435"/>
            </a:xfrm>
            <a:custGeom>
              <a:avLst/>
              <a:gdLst/>
              <a:ahLst/>
              <a:cxnLst/>
              <a:rect l="l" t="t" r="r" b="b"/>
              <a:pathLst>
                <a:path w="7131050" h="559435">
                  <a:moveTo>
                    <a:pt x="0" y="23304"/>
                  </a:moveTo>
                  <a:lnTo>
                    <a:pt x="1832" y="14235"/>
                  </a:lnTo>
                  <a:lnTo>
                    <a:pt x="6827" y="6827"/>
                  </a:lnTo>
                  <a:lnTo>
                    <a:pt x="14235" y="1832"/>
                  </a:lnTo>
                  <a:lnTo>
                    <a:pt x="23304" y="0"/>
                  </a:lnTo>
                  <a:lnTo>
                    <a:pt x="7107428" y="0"/>
                  </a:lnTo>
                  <a:lnTo>
                    <a:pt x="7116544" y="1832"/>
                  </a:lnTo>
                  <a:lnTo>
                    <a:pt x="7123969" y="6827"/>
                  </a:lnTo>
                  <a:lnTo>
                    <a:pt x="7128966" y="14235"/>
                  </a:lnTo>
                  <a:lnTo>
                    <a:pt x="7130796" y="23304"/>
                  </a:lnTo>
                  <a:lnTo>
                    <a:pt x="7130796" y="536003"/>
                  </a:lnTo>
                  <a:lnTo>
                    <a:pt x="7128966" y="545072"/>
                  </a:lnTo>
                  <a:lnTo>
                    <a:pt x="7123969" y="552480"/>
                  </a:lnTo>
                  <a:lnTo>
                    <a:pt x="7116544" y="557475"/>
                  </a:lnTo>
                  <a:lnTo>
                    <a:pt x="7107428" y="559307"/>
                  </a:lnTo>
                  <a:lnTo>
                    <a:pt x="23304" y="559307"/>
                  </a:lnTo>
                  <a:lnTo>
                    <a:pt x="14235" y="557475"/>
                  </a:lnTo>
                  <a:lnTo>
                    <a:pt x="6827" y="552480"/>
                  </a:lnTo>
                  <a:lnTo>
                    <a:pt x="1832" y="545072"/>
                  </a:lnTo>
                  <a:lnTo>
                    <a:pt x="0" y="536003"/>
                  </a:lnTo>
                  <a:lnTo>
                    <a:pt x="0" y="23304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85596" y="5106415"/>
            <a:ext cx="7592695" cy="1107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Verdana"/>
                <a:cs typeface="Verdana"/>
              </a:rPr>
              <a:t>Log files </a:t>
            </a:r>
            <a:r>
              <a:rPr sz="1600" b="1" spc="-5" dirty="0">
                <a:latin typeface="Verdana"/>
                <a:cs typeface="Verdana"/>
              </a:rPr>
              <a:t>should </a:t>
            </a:r>
            <a:r>
              <a:rPr sz="1600" b="1" spc="-10" dirty="0">
                <a:latin typeface="Verdana"/>
                <a:cs typeface="Verdana"/>
              </a:rPr>
              <a:t>be stored </a:t>
            </a:r>
            <a:r>
              <a:rPr sz="1600" b="1" spc="-5" dirty="0">
                <a:latin typeface="Verdana"/>
                <a:cs typeface="Verdana"/>
              </a:rPr>
              <a:t>on a </a:t>
            </a:r>
            <a:r>
              <a:rPr sz="1600" b="1" spc="-10" dirty="0">
                <a:latin typeface="Verdana"/>
                <a:cs typeface="Verdana"/>
              </a:rPr>
              <a:t>separate partition from </a:t>
            </a:r>
            <a:r>
              <a:rPr sz="1600" b="1" spc="-5" dirty="0">
                <a:latin typeface="Verdana"/>
                <a:cs typeface="Verdana"/>
              </a:rPr>
              <a:t>the</a:t>
            </a:r>
            <a:r>
              <a:rPr sz="1600" b="1" spc="35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system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Verdana"/>
                <a:cs typeface="Verdana"/>
              </a:rPr>
              <a:t>partition:</a:t>
            </a:r>
            <a:endParaRPr sz="1600">
              <a:latin typeface="Verdana"/>
              <a:cs typeface="Verdana"/>
            </a:endParaRPr>
          </a:p>
          <a:p>
            <a:pPr marL="408305" marR="988694">
              <a:lnSpc>
                <a:spcPts val="1730"/>
              </a:lnSpc>
              <a:spcBef>
                <a:spcPts val="1250"/>
              </a:spcBef>
            </a:pPr>
            <a:r>
              <a:rPr sz="1600" dirty="0">
                <a:latin typeface="Verdana"/>
                <a:cs typeface="Verdana"/>
              </a:rPr>
              <a:t>If </a:t>
            </a:r>
            <a:r>
              <a:rPr sz="1600" spc="-5" dirty="0">
                <a:latin typeface="Verdana"/>
                <a:cs typeface="Verdana"/>
              </a:rPr>
              <a:t>RADIUS </a:t>
            </a:r>
            <a:r>
              <a:rPr sz="1600" spc="-10" dirty="0">
                <a:latin typeface="Verdana"/>
                <a:cs typeface="Verdana"/>
              </a:rPr>
              <a:t>accounting </a:t>
            </a:r>
            <a:r>
              <a:rPr sz="1600" spc="-5" dirty="0">
                <a:latin typeface="Verdana"/>
                <a:cs typeface="Verdana"/>
              </a:rPr>
              <a:t>fails </a:t>
            </a:r>
            <a:r>
              <a:rPr sz="1600" spc="-10" dirty="0">
                <a:latin typeface="Verdana"/>
                <a:cs typeface="Verdana"/>
              </a:rPr>
              <a:t>due </a:t>
            </a:r>
            <a:r>
              <a:rPr sz="1600" spc="-5" dirty="0">
                <a:latin typeface="Verdana"/>
                <a:cs typeface="Verdana"/>
              </a:rPr>
              <a:t>to a full hard </a:t>
            </a:r>
            <a:r>
              <a:rPr sz="1600" spc="-10" dirty="0">
                <a:latin typeface="Verdana"/>
                <a:cs typeface="Verdana"/>
              </a:rPr>
              <a:t>disk, NPS </a:t>
            </a:r>
            <a:r>
              <a:rPr sz="1600" spc="-5" dirty="0">
                <a:latin typeface="Verdana"/>
                <a:cs typeface="Verdana"/>
              </a:rPr>
              <a:t>stops  </a:t>
            </a:r>
            <a:r>
              <a:rPr sz="1600" spc="-10" dirty="0">
                <a:latin typeface="Verdana"/>
                <a:cs typeface="Verdana"/>
              </a:rPr>
              <a:t>processing connection</a:t>
            </a:r>
            <a:r>
              <a:rPr sz="1600" spc="7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requests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4944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Configuring </a:t>
            </a:r>
            <a:r>
              <a:rPr dirty="0"/>
              <a:t>SQL </a:t>
            </a:r>
            <a:r>
              <a:rPr spc="-5" dirty="0"/>
              <a:t>Server</a:t>
            </a:r>
            <a:r>
              <a:rPr spc="25" dirty="0"/>
              <a:t> </a:t>
            </a:r>
            <a:r>
              <a:rPr spc="-10" dirty="0"/>
              <a:t>Logging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40080" y="1431036"/>
            <a:ext cx="7863840" cy="2834640"/>
            <a:chOff x="640080" y="1431036"/>
            <a:chExt cx="7863840" cy="2834640"/>
          </a:xfrm>
        </p:grpSpPr>
        <p:sp>
          <p:nvSpPr>
            <p:cNvPr id="4" name="object 4"/>
            <p:cNvSpPr/>
            <p:nvPr/>
          </p:nvSpPr>
          <p:spPr>
            <a:xfrm>
              <a:off x="644652" y="1435608"/>
              <a:ext cx="7854950" cy="2825750"/>
            </a:xfrm>
            <a:custGeom>
              <a:avLst/>
              <a:gdLst/>
              <a:ahLst/>
              <a:cxnLst/>
              <a:rect l="l" t="t" r="r" b="b"/>
              <a:pathLst>
                <a:path w="7854950" h="2825750">
                  <a:moveTo>
                    <a:pt x="7736967" y="0"/>
                  </a:moveTo>
                  <a:lnTo>
                    <a:pt x="117729" y="0"/>
                  </a:lnTo>
                  <a:lnTo>
                    <a:pt x="71907" y="9251"/>
                  </a:lnTo>
                  <a:lnTo>
                    <a:pt x="34485" y="34480"/>
                  </a:lnTo>
                  <a:lnTo>
                    <a:pt x="9252" y="71901"/>
                  </a:lnTo>
                  <a:lnTo>
                    <a:pt x="0" y="117728"/>
                  </a:lnTo>
                  <a:lnTo>
                    <a:pt x="0" y="2707766"/>
                  </a:lnTo>
                  <a:lnTo>
                    <a:pt x="9252" y="2753594"/>
                  </a:lnTo>
                  <a:lnTo>
                    <a:pt x="34485" y="2791015"/>
                  </a:lnTo>
                  <a:lnTo>
                    <a:pt x="71907" y="2816244"/>
                  </a:lnTo>
                  <a:lnTo>
                    <a:pt x="117729" y="2825496"/>
                  </a:lnTo>
                  <a:lnTo>
                    <a:pt x="7736967" y="2825496"/>
                  </a:lnTo>
                  <a:lnTo>
                    <a:pt x="7782794" y="2816244"/>
                  </a:lnTo>
                  <a:lnTo>
                    <a:pt x="7820215" y="2791015"/>
                  </a:lnTo>
                  <a:lnTo>
                    <a:pt x="7845444" y="2753594"/>
                  </a:lnTo>
                  <a:lnTo>
                    <a:pt x="7854696" y="2707766"/>
                  </a:lnTo>
                  <a:lnTo>
                    <a:pt x="7854696" y="117728"/>
                  </a:lnTo>
                  <a:lnTo>
                    <a:pt x="7845444" y="71901"/>
                  </a:lnTo>
                  <a:lnTo>
                    <a:pt x="7820215" y="34480"/>
                  </a:lnTo>
                  <a:lnTo>
                    <a:pt x="7782794" y="9251"/>
                  </a:lnTo>
                  <a:lnTo>
                    <a:pt x="7736967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2" y="1435608"/>
              <a:ext cx="7854950" cy="2825750"/>
            </a:xfrm>
            <a:custGeom>
              <a:avLst/>
              <a:gdLst/>
              <a:ahLst/>
              <a:cxnLst/>
              <a:rect l="l" t="t" r="r" b="b"/>
              <a:pathLst>
                <a:path w="7854950" h="2825750">
                  <a:moveTo>
                    <a:pt x="0" y="117728"/>
                  </a:moveTo>
                  <a:lnTo>
                    <a:pt x="9252" y="71901"/>
                  </a:lnTo>
                  <a:lnTo>
                    <a:pt x="34485" y="34480"/>
                  </a:lnTo>
                  <a:lnTo>
                    <a:pt x="71907" y="9251"/>
                  </a:lnTo>
                  <a:lnTo>
                    <a:pt x="117729" y="0"/>
                  </a:lnTo>
                  <a:lnTo>
                    <a:pt x="7736967" y="0"/>
                  </a:lnTo>
                  <a:lnTo>
                    <a:pt x="7782794" y="9251"/>
                  </a:lnTo>
                  <a:lnTo>
                    <a:pt x="7820215" y="34480"/>
                  </a:lnTo>
                  <a:lnTo>
                    <a:pt x="7845444" y="71901"/>
                  </a:lnTo>
                  <a:lnTo>
                    <a:pt x="7854696" y="117728"/>
                  </a:lnTo>
                  <a:lnTo>
                    <a:pt x="7854696" y="2707766"/>
                  </a:lnTo>
                  <a:lnTo>
                    <a:pt x="7845444" y="2753594"/>
                  </a:lnTo>
                  <a:lnTo>
                    <a:pt x="7820215" y="2791015"/>
                  </a:lnTo>
                  <a:lnTo>
                    <a:pt x="7782794" y="2816244"/>
                  </a:lnTo>
                  <a:lnTo>
                    <a:pt x="7736967" y="2825496"/>
                  </a:lnTo>
                  <a:lnTo>
                    <a:pt x="117729" y="2825496"/>
                  </a:lnTo>
                  <a:lnTo>
                    <a:pt x="71907" y="2816244"/>
                  </a:lnTo>
                  <a:lnTo>
                    <a:pt x="34485" y="2791015"/>
                  </a:lnTo>
                  <a:lnTo>
                    <a:pt x="9252" y="2753594"/>
                  </a:lnTo>
                  <a:lnTo>
                    <a:pt x="0" y="2707766"/>
                  </a:lnTo>
                  <a:lnTo>
                    <a:pt x="0" y="117728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9368" y="1918716"/>
              <a:ext cx="7065645" cy="641985"/>
            </a:xfrm>
            <a:custGeom>
              <a:avLst/>
              <a:gdLst/>
              <a:ahLst/>
              <a:cxnLst/>
              <a:rect l="l" t="t" r="r" b="b"/>
              <a:pathLst>
                <a:path w="7065645" h="641985">
                  <a:moveTo>
                    <a:pt x="7038466" y="0"/>
                  </a:moveTo>
                  <a:lnTo>
                    <a:pt x="26733" y="0"/>
                  </a:lnTo>
                  <a:lnTo>
                    <a:pt x="16325" y="2097"/>
                  </a:lnTo>
                  <a:lnTo>
                    <a:pt x="7827" y="7826"/>
                  </a:lnTo>
                  <a:lnTo>
                    <a:pt x="2100" y="16341"/>
                  </a:lnTo>
                  <a:lnTo>
                    <a:pt x="0" y="26797"/>
                  </a:lnTo>
                  <a:lnTo>
                    <a:pt x="0" y="614807"/>
                  </a:lnTo>
                  <a:lnTo>
                    <a:pt x="2100" y="625262"/>
                  </a:lnTo>
                  <a:lnTo>
                    <a:pt x="7827" y="633777"/>
                  </a:lnTo>
                  <a:lnTo>
                    <a:pt x="16325" y="639506"/>
                  </a:lnTo>
                  <a:lnTo>
                    <a:pt x="26733" y="641604"/>
                  </a:lnTo>
                  <a:lnTo>
                    <a:pt x="7038466" y="641604"/>
                  </a:lnTo>
                  <a:lnTo>
                    <a:pt x="7048922" y="639506"/>
                  </a:lnTo>
                  <a:lnTo>
                    <a:pt x="7057437" y="633777"/>
                  </a:lnTo>
                  <a:lnTo>
                    <a:pt x="7063166" y="625262"/>
                  </a:lnTo>
                  <a:lnTo>
                    <a:pt x="7065263" y="614807"/>
                  </a:lnTo>
                  <a:lnTo>
                    <a:pt x="7065263" y="26797"/>
                  </a:lnTo>
                  <a:lnTo>
                    <a:pt x="7063166" y="16341"/>
                  </a:lnTo>
                  <a:lnTo>
                    <a:pt x="7057437" y="7826"/>
                  </a:lnTo>
                  <a:lnTo>
                    <a:pt x="7048922" y="2097"/>
                  </a:lnTo>
                  <a:lnTo>
                    <a:pt x="703846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9368" y="1918716"/>
              <a:ext cx="7065645" cy="641985"/>
            </a:xfrm>
            <a:custGeom>
              <a:avLst/>
              <a:gdLst/>
              <a:ahLst/>
              <a:cxnLst/>
              <a:rect l="l" t="t" r="r" b="b"/>
              <a:pathLst>
                <a:path w="7065645" h="641985">
                  <a:moveTo>
                    <a:pt x="0" y="26797"/>
                  </a:moveTo>
                  <a:lnTo>
                    <a:pt x="2100" y="16341"/>
                  </a:lnTo>
                  <a:lnTo>
                    <a:pt x="7827" y="7826"/>
                  </a:lnTo>
                  <a:lnTo>
                    <a:pt x="16325" y="2097"/>
                  </a:lnTo>
                  <a:lnTo>
                    <a:pt x="26733" y="0"/>
                  </a:lnTo>
                  <a:lnTo>
                    <a:pt x="7038466" y="0"/>
                  </a:lnTo>
                  <a:lnTo>
                    <a:pt x="7048922" y="2097"/>
                  </a:lnTo>
                  <a:lnTo>
                    <a:pt x="7057437" y="7826"/>
                  </a:lnTo>
                  <a:lnTo>
                    <a:pt x="7063166" y="16341"/>
                  </a:lnTo>
                  <a:lnTo>
                    <a:pt x="7065263" y="26797"/>
                  </a:lnTo>
                  <a:lnTo>
                    <a:pt x="7065263" y="614807"/>
                  </a:lnTo>
                  <a:lnTo>
                    <a:pt x="7063166" y="625262"/>
                  </a:lnTo>
                  <a:lnTo>
                    <a:pt x="7057437" y="633777"/>
                  </a:lnTo>
                  <a:lnTo>
                    <a:pt x="7048922" y="639506"/>
                  </a:lnTo>
                  <a:lnTo>
                    <a:pt x="7038466" y="641604"/>
                  </a:lnTo>
                  <a:lnTo>
                    <a:pt x="26733" y="641604"/>
                  </a:lnTo>
                  <a:lnTo>
                    <a:pt x="16325" y="639506"/>
                  </a:lnTo>
                  <a:lnTo>
                    <a:pt x="7827" y="633777"/>
                  </a:lnTo>
                  <a:lnTo>
                    <a:pt x="2100" y="625262"/>
                  </a:lnTo>
                  <a:lnTo>
                    <a:pt x="0" y="614807"/>
                  </a:lnTo>
                  <a:lnTo>
                    <a:pt x="0" y="2679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9368" y="2668524"/>
              <a:ext cx="7065645" cy="641985"/>
            </a:xfrm>
            <a:custGeom>
              <a:avLst/>
              <a:gdLst/>
              <a:ahLst/>
              <a:cxnLst/>
              <a:rect l="l" t="t" r="r" b="b"/>
              <a:pathLst>
                <a:path w="7065645" h="641985">
                  <a:moveTo>
                    <a:pt x="7038466" y="0"/>
                  </a:moveTo>
                  <a:lnTo>
                    <a:pt x="26733" y="0"/>
                  </a:lnTo>
                  <a:lnTo>
                    <a:pt x="16325" y="2097"/>
                  </a:lnTo>
                  <a:lnTo>
                    <a:pt x="7827" y="7826"/>
                  </a:lnTo>
                  <a:lnTo>
                    <a:pt x="2100" y="16341"/>
                  </a:lnTo>
                  <a:lnTo>
                    <a:pt x="0" y="26797"/>
                  </a:lnTo>
                  <a:lnTo>
                    <a:pt x="0" y="614806"/>
                  </a:lnTo>
                  <a:lnTo>
                    <a:pt x="2100" y="625262"/>
                  </a:lnTo>
                  <a:lnTo>
                    <a:pt x="7827" y="633777"/>
                  </a:lnTo>
                  <a:lnTo>
                    <a:pt x="16325" y="639506"/>
                  </a:lnTo>
                  <a:lnTo>
                    <a:pt x="26733" y="641603"/>
                  </a:lnTo>
                  <a:lnTo>
                    <a:pt x="7038466" y="641603"/>
                  </a:lnTo>
                  <a:lnTo>
                    <a:pt x="7048922" y="639506"/>
                  </a:lnTo>
                  <a:lnTo>
                    <a:pt x="7057437" y="633777"/>
                  </a:lnTo>
                  <a:lnTo>
                    <a:pt x="7063166" y="625262"/>
                  </a:lnTo>
                  <a:lnTo>
                    <a:pt x="7065263" y="614806"/>
                  </a:lnTo>
                  <a:lnTo>
                    <a:pt x="7065263" y="26797"/>
                  </a:lnTo>
                  <a:lnTo>
                    <a:pt x="7063166" y="16341"/>
                  </a:lnTo>
                  <a:lnTo>
                    <a:pt x="7057437" y="7826"/>
                  </a:lnTo>
                  <a:lnTo>
                    <a:pt x="7048922" y="2097"/>
                  </a:lnTo>
                  <a:lnTo>
                    <a:pt x="703846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9368" y="2668524"/>
              <a:ext cx="7065645" cy="641985"/>
            </a:xfrm>
            <a:custGeom>
              <a:avLst/>
              <a:gdLst/>
              <a:ahLst/>
              <a:cxnLst/>
              <a:rect l="l" t="t" r="r" b="b"/>
              <a:pathLst>
                <a:path w="7065645" h="641985">
                  <a:moveTo>
                    <a:pt x="0" y="26797"/>
                  </a:moveTo>
                  <a:lnTo>
                    <a:pt x="2100" y="16341"/>
                  </a:lnTo>
                  <a:lnTo>
                    <a:pt x="7827" y="7826"/>
                  </a:lnTo>
                  <a:lnTo>
                    <a:pt x="16325" y="2097"/>
                  </a:lnTo>
                  <a:lnTo>
                    <a:pt x="26733" y="0"/>
                  </a:lnTo>
                  <a:lnTo>
                    <a:pt x="7038466" y="0"/>
                  </a:lnTo>
                  <a:lnTo>
                    <a:pt x="7048922" y="2097"/>
                  </a:lnTo>
                  <a:lnTo>
                    <a:pt x="7057437" y="7826"/>
                  </a:lnTo>
                  <a:lnTo>
                    <a:pt x="7063166" y="16341"/>
                  </a:lnTo>
                  <a:lnTo>
                    <a:pt x="7065263" y="26797"/>
                  </a:lnTo>
                  <a:lnTo>
                    <a:pt x="7065263" y="614806"/>
                  </a:lnTo>
                  <a:lnTo>
                    <a:pt x="7063166" y="625262"/>
                  </a:lnTo>
                  <a:lnTo>
                    <a:pt x="7057437" y="633777"/>
                  </a:lnTo>
                  <a:lnTo>
                    <a:pt x="7048922" y="639506"/>
                  </a:lnTo>
                  <a:lnTo>
                    <a:pt x="7038466" y="641603"/>
                  </a:lnTo>
                  <a:lnTo>
                    <a:pt x="26733" y="641603"/>
                  </a:lnTo>
                  <a:lnTo>
                    <a:pt x="16325" y="639506"/>
                  </a:lnTo>
                  <a:lnTo>
                    <a:pt x="7827" y="633777"/>
                  </a:lnTo>
                  <a:lnTo>
                    <a:pt x="2100" y="625262"/>
                  </a:lnTo>
                  <a:lnTo>
                    <a:pt x="0" y="614806"/>
                  </a:lnTo>
                  <a:lnTo>
                    <a:pt x="0" y="26797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6320" y="3418331"/>
              <a:ext cx="7065645" cy="641985"/>
            </a:xfrm>
            <a:custGeom>
              <a:avLst/>
              <a:gdLst/>
              <a:ahLst/>
              <a:cxnLst/>
              <a:rect l="l" t="t" r="r" b="b"/>
              <a:pathLst>
                <a:path w="7065645" h="641985">
                  <a:moveTo>
                    <a:pt x="7038466" y="0"/>
                  </a:moveTo>
                  <a:lnTo>
                    <a:pt x="26733" y="0"/>
                  </a:lnTo>
                  <a:lnTo>
                    <a:pt x="16325" y="2097"/>
                  </a:lnTo>
                  <a:lnTo>
                    <a:pt x="7827" y="7826"/>
                  </a:lnTo>
                  <a:lnTo>
                    <a:pt x="2100" y="16341"/>
                  </a:lnTo>
                  <a:lnTo>
                    <a:pt x="0" y="26796"/>
                  </a:lnTo>
                  <a:lnTo>
                    <a:pt x="0" y="614806"/>
                  </a:lnTo>
                  <a:lnTo>
                    <a:pt x="2100" y="625262"/>
                  </a:lnTo>
                  <a:lnTo>
                    <a:pt x="7827" y="633777"/>
                  </a:lnTo>
                  <a:lnTo>
                    <a:pt x="16325" y="639506"/>
                  </a:lnTo>
                  <a:lnTo>
                    <a:pt x="26733" y="641603"/>
                  </a:lnTo>
                  <a:lnTo>
                    <a:pt x="7038466" y="641603"/>
                  </a:lnTo>
                  <a:lnTo>
                    <a:pt x="7048922" y="639506"/>
                  </a:lnTo>
                  <a:lnTo>
                    <a:pt x="7057437" y="633777"/>
                  </a:lnTo>
                  <a:lnTo>
                    <a:pt x="7063166" y="625262"/>
                  </a:lnTo>
                  <a:lnTo>
                    <a:pt x="7065263" y="614806"/>
                  </a:lnTo>
                  <a:lnTo>
                    <a:pt x="7065263" y="26796"/>
                  </a:lnTo>
                  <a:lnTo>
                    <a:pt x="7063166" y="16341"/>
                  </a:lnTo>
                  <a:lnTo>
                    <a:pt x="7057437" y="7826"/>
                  </a:lnTo>
                  <a:lnTo>
                    <a:pt x="7048922" y="2097"/>
                  </a:lnTo>
                  <a:lnTo>
                    <a:pt x="703846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36320" y="3418331"/>
              <a:ext cx="7065645" cy="641985"/>
            </a:xfrm>
            <a:custGeom>
              <a:avLst/>
              <a:gdLst/>
              <a:ahLst/>
              <a:cxnLst/>
              <a:rect l="l" t="t" r="r" b="b"/>
              <a:pathLst>
                <a:path w="7065645" h="641985">
                  <a:moveTo>
                    <a:pt x="0" y="26796"/>
                  </a:moveTo>
                  <a:lnTo>
                    <a:pt x="2100" y="16341"/>
                  </a:lnTo>
                  <a:lnTo>
                    <a:pt x="7827" y="7826"/>
                  </a:lnTo>
                  <a:lnTo>
                    <a:pt x="16325" y="2097"/>
                  </a:lnTo>
                  <a:lnTo>
                    <a:pt x="26733" y="0"/>
                  </a:lnTo>
                  <a:lnTo>
                    <a:pt x="7038466" y="0"/>
                  </a:lnTo>
                  <a:lnTo>
                    <a:pt x="7048922" y="2097"/>
                  </a:lnTo>
                  <a:lnTo>
                    <a:pt x="7057437" y="7826"/>
                  </a:lnTo>
                  <a:lnTo>
                    <a:pt x="7063166" y="16341"/>
                  </a:lnTo>
                  <a:lnTo>
                    <a:pt x="7065263" y="26796"/>
                  </a:lnTo>
                  <a:lnTo>
                    <a:pt x="7065263" y="614806"/>
                  </a:lnTo>
                  <a:lnTo>
                    <a:pt x="7063166" y="625262"/>
                  </a:lnTo>
                  <a:lnTo>
                    <a:pt x="7057437" y="633777"/>
                  </a:lnTo>
                  <a:lnTo>
                    <a:pt x="7048922" y="639506"/>
                  </a:lnTo>
                  <a:lnTo>
                    <a:pt x="7038466" y="641603"/>
                  </a:lnTo>
                  <a:lnTo>
                    <a:pt x="26733" y="641603"/>
                  </a:lnTo>
                  <a:lnTo>
                    <a:pt x="16325" y="639506"/>
                  </a:lnTo>
                  <a:lnTo>
                    <a:pt x="7827" y="633777"/>
                  </a:lnTo>
                  <a:lnTo>
                    <a:pt x="2100" y="625262"/>
                  </a:lnTo>
                  <a:lnTo>
                    <a:pt x="0" y="614806"/>
                  </a:lnTo>
                  <a:lnTo>
                    <a:pt x="0" y="2679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57834" y="1501521"/>
            <a:ext cx="7092950" cy="237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You </a:t>
            </a:r>
            <a:r>
              <a:rPr sz="1800" b="1" spc="-5" dirty="0">
                <a:latin typeface="Verdana"/>
                <a:cs typeface="Verdana"/>
              </a:rPr>
              <a:t>can use </a:t>
            </a:r>
            <a:r>
              <a:rPr sz="1800" b="1" dirty="0">
                <a:latin typeface="Verdana"/>
                <a:cs typeface="Verdana"/>
              </a:rPr>
              <a:t>SQL to log </a:t>
            </a:r>
            <a:r>
              <a:rPr sz="1800" b="1" spc="-5" dirty="0">
                <a:latin typeface="Verdana"/>
                <a:cs typeface="Verdana"/>
              </a:rPr>
              <a:t>RADIUS accounting</a:t>
            </a:r>
            <a:r>
              <a:rPr sz="1800" b="1" spc="1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data:</a:t>
            </a:r>
            <a:endParaRPr sz="1800">
              <a:latin typeface="Verdana"/>
              <a:cs typeface="Verdana"/>
            </a:endParaRPr>
          </a:p>
          <a:p>
            <a:pPr marL="609600" indent="-229235">
              <a:lnSpc>
                <a:spcPts val="2055"/>
              </a:lnSpc>
              <a:spcBef>
                <a:spcPts val="1385"/>
              </a:spcBef>
              <a:buClr>
                <a:srgbClr val="006699"/>
              </a:buClr>
              <a:buFont typeface="Verdana"/>
              <a:buChar char="•"/>
              <a:tabLst>
                <a:tab pos="610235" algn="l"/>
              </a:tabLst>
            </a:pPr>
            <a:r>
              <a:rPr sz="1800" b="1" spc="-5" dirty="0">
                <a:latin typeface="Verdana"/>
                <a:cs typeface="Verdana"/>
              </a:rPr>
              <a:t>Requires </a:t>
            </a:r>
            <a:r>
              <a:rPr sz="1800" b="1" dirty="0">
                <a:latin typeface="Verdana"/>
                <a:cs typeface="Verdana"/>
              </a:rPr>
              <a:t>SQL </a:t>
            </a:r>
            <a:r>
              <a:rPr sz="1800" b="1" spc="-5" dirty="0">
                <a:latin typeface="Verdana"/>
                <a:cs typeface="Verdana"/>
              </a:rPr>
              <a:t>to have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stored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procedure</a:t>
            </a:r>
            <a:endParaRPr sz="1800">
              <a:latin typeface="Verdana"/>
              <a:cs typeface="Verdana"/>
            </a:endParaRPr>
          </a:p>
          <a:p>
            <a:pPr marL="609600">
              <a:lnSpc>
                <a:spcPts val="2055"/>
              </a:lnSpc>
            </a:pPr>
            <a:r>
              <a:rPr sz="1800" b="1" spc="-5" dirty="0">
                <a:latin typeface="Verdana"/>
                <a:cs typeface="Verdana"/>
              </a:rPr>
              <a:t>named </a:t>
            </a:r>
            <a:r>
              <a:rPr sz="1800" b="1" i="1" dirty="0">
                <a:latin typeface="Verdana"/>
                <a:cs typeface="Verdana"/>
              </a:rPr>
              <a:t>report_event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>
              <a:latin typeface="Verdana"/>
              <a:cs typeface="Verdana"/>
            </a:endParaRPr>
          </a:p>
          <a:p>
            <a:pPr marL="609600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10235" algn="l"/>
              </a:tabLst>
            </a:pPr>
            <a:r>
              <a:rPr sz="1800" b="1" dirty="0">
                <a:latin typeface="Verdana"/>
                <a:cs typeface="Verdana"/>
              </a:rPr>
              <a:t>NPS </a:t>
            </a:r>
            <a:r>
              <a:rPr sz="1800" b="1" spc="-5" dirty="0">
                <a:latin typeface="Verdana"/>
                <a:cs typeface="Verdana"/>
              </a:rPr>
              <a:t>formats accounting data </a:t>
            </a:r>
            <a:r>
              <a:rPr sz="1800" b="1" dirty="0">
                <a:latin typeface="Verdana"/>
                <a:cs typeface="Verdana"/>
              </a:rPr>
              <a:t>as an XML</a:t>
            </a:r>
            <a:r>
              <a:rPr sz="1800" b="1" spc="5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document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99"/>
              </a:buClr>
              <a:buFont typeface="Verdana"/>
              <a:buChar char="•"/>
            </a:pPr>
            <a:endParaRPr sz="3050">
              <a:latin typeface="Verdana"/>
              <a:cs typeface="Verdana"/>
            </a:endParaRPr>
          </a:p>
          <a:p>
            <a:pPr marL="606425" indent="-229235">
              <a:lnSpc>
                <a:spcPct val="100000"/>
              </a:lnSpc>
              <a:buClr>
                <a:srgbClr val="006699"/>
              </a:buClr>
              <a:buFont typeface="Verdana"/>
              <a:buChar char="•"/>
              <a:tabLst>
                <a:tab pos="607060" algn="l"/>
              </a:tabLst>
            </a:pPr>
            <a:r>
              <a:rPr sz="1800" b="1" dirty="0">
                <a:latin typeface="Verdana"/>
                <a:cs typeface="Verdana"/>
              </a:rPr>
              <a:t>Can </a:t>
            </a:r>
            <a:r>
              <a:rPr sz="1800" b="1" spc="-5" dirty="0">
                <a:latin typeface="Verdana"/>
                <a:cs typeface="Verdana"/>
              </a:rPr>
              <a:t>be </a:t>
            </a:r>
            <a:r>
              <a:rPr sz="1800" b="1" dirty="0">
                <a:latin typeface="Verdana"/>
                <a:cs typeface="Verdana"/>
              </a:rPr>
              <a:t>a </a:t>
            </a:r>
            <a:r>
              <a:rPr sz="1800" b="1" spc="-5" dirty="0">
                <a:latin typeface="Verdana"/>
                <a:cs typeface="Verdana"/>
              </a:rPr>
              <a:t>local </a:t>
            </a:r>
            <a:r>
              <a:rPr sz="1800" b="1" dirty="0">
                <a:latin typeface="Verdana"/>
                <a:cs typeface="Verdana"/>
              </a:rPr>
              <a:t>or remote SQL </a:t>
            </a:r>
            <a:r>
              <a:rPr sz="1800" b="1" spc="-5" dirty="0">
                <a:latin typeface="Verdana"/>
                <a:cs typeface="Verdana"/>
              </a:rPr>
              <a:t>Server</a:t>
            </a:r>
            <a:r>
              <a:rPr sz="1800" b="1" spc="-30" dirty="0">
                <a:latin typeface="Verdana"/>
                <a:cs typeface="Verdana"/>
              </a:rPr>
              <a:t> </a:t>
            </a:r>
            <a:r>
              <a:rPr sz="1800" b="1" spc="-5" dirty="0">
                <a:latin typeface="Verdana"/>
                <a:cs typeface="Verdana"/>
              </a:rPr>
              <a:t>database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852" y="315848"/>
            <a:ext cx="8336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Configuring </a:t>
            </a:r>
            <a:r>
              <a:rPr dirty="0"/>
              <a:t>NPS </a:t>
            </a:r>
            <a:r>
              <a:rPr spc="-5" dirty="0"/>
              <a:t>Events to Record </a:t>
            </a:r>
            <a:r>
              <a:rPr spc="-10" dirty="0"/>
              <a:t>in </a:t>
            </a:r>
            <a:r>
              <a:rPr spc="-5" dirty="0"/>
              <a:t>the Event</a:t>
            </a:r>
            <a:r>
              <a:rPr spc="125" dirty="0"/>
              <a:t> </a:t>
            </a:r>
            <a:r>
              <a:rPr spc="-10" dirty="0"/>
              <a:t>Viewer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9831" y="1126236"/>
            <a:ext cx="8760460" cy="2906395"/>
            <a:chOff x="179831" y="1126236"/>
            <a:chExt cx="8760460" cy="2906395"/>
          </a:xfrm>
        </p:grpSpPr>
        <p:sp>
          <p:nvSpPr>
            <p:cNvPr id="4" name="object 4"/>
            <p:cNvSpPr/>
            <p:nvPr/>
          </p:nvSpPr>
          <p:spPr>
            <a:xfrm>
              <a:off x="184403" y="1130808"/>
              <a:ext cx="8750935" cy="2897505"/>
            </a:xfrm>
            <a:custGeom>
              <a:avLst/>
              <a:gdLst/>
              <a:ahLst/>
              <a:cxnLst/>
              <a:rect l="l" t="t" r="r" b="b"/>
              <a:pathLst>
                <a:path w="8750935" h="2897504">
                  <a:moveTo>
                    <a:pt x="8630031" y="0"/>
                  </a:moveTo>
                  <a:lnTo>
                    <a:pt x="120726" y="0"/>
                  </a:lnTo>
                  <a:lnTo>
                    <a:pt x="73734" y="9495"/>
                  </a:lnTo>
                  <a:lnTo>
                    <a:pt x="35359" y="35385"/>
                  </a:lnTo>
                  <a:lnTo>
                    <a:pt x="9487" y="73777"/>
                  </a:lnTo>
                  <a:lnTo>
                    <a:pt x="0" y="120776"/>
                  </a:lnTo>
                  <a:lnTo>
                    <a:pt x="0" y="2776347"/>
                  </a:lnTo>
                  <a:lnTo>
                    <a:pt x="9487" y="2823346"/>
                  </a:lnTo>
                  <a:lnTo>
                    <a:pt x="35359" y="2861738"/>
                  </a:lnTo>
                  <a:lnTo>
                    <a:pt x="73734" y="2887628"/>
                  </a:lnTo>
                  <a:lnTo>
                    <a:pt x="120726" y="2897123"/>
                  </a:lnTo>
                  <a:lnTo>
                    <a:pt x="8630031" y="2897123"/>
                  </a:lnTo>
                  <a:lnTo>
                    <a:pt x="8677030" y="2887628"/>
                  </a:lnTo>
                  <a:lnTo>
                    <a:pt x="8715422" y="2861738"/>
                  </a:lnTo>
                  <a:lnTo>
                    <a:pt x="8741312" y="2823346"/>
                  </a:lnTo>
                  <a:lnTo>
                    <a:pt x="8750808" y="2776347"/>
                  </a:lnTo>
                  <a:lnTo>
                    <a:pt x="8750808" y="120776"/>
                  </a:lnTo>
                  <a:lnTo>
                    <a:pt x="8741312" y="73777"/>
                  </a:lnTo>
                  <a:lnTo>
                    <a:pt x="8715422" y="35385"/>
                  </a:lnTo>
                  <a:lnTo>
                    <a:pt x="8677030" y="9495"/>
                  </a:lnTo>
                  <a:lnTo>
                    <a:pt x="8630031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4403" y="1130808"/>
              <a:ext cx="8750935" cy="2897505"/>
            </a:xfrm>
            <a:custGeom>
              <a:avLst/>
              <a:gdLst/>
              <a:ahLst/>
              <a:cxnLst/>
              <a:rect l="l" t="t" r="r" b="b"/>
              <a:pathLst>
                <a:path w="8750935" h="2897504">
                  <a:moveTo>
                    <a:pt x="0" y="120776"/>
                  </a:moveTo>
                  <a:lnTo>
                    <a:pt x="9487" y="73777"/>
                  </a:lnTo>
                  <a:lnTo>
                    <a:pt x="35359" y="35385"/>
                  </a:lnTo>
                  <a:lnTo>
                    <a:pt x="73734" y="9495"/>
                  </a:lnTo>
                  <a:lnTo>
                    <a:pt x="120726" y="0"/>
                  </a:lnTo>
                  <a:lnTo>
                    <a:pt x="8630031" y="0"/>
                  </a:lnTo>
                  <a:lnTo>
                    <a:pt x="8677030" y="9495"/>
                  </a:lnTo>
                  <a:lnTo>
                    <a:pt x="8715422" y="35385"/>
                  </a:lnTo>
                  <a:lnTo>
                    <a:pt x="8741312" y="73777"/>
                  </a:lnTo>
                  <a:lnTo>
                    <a:pt x="8750808" y="120776"/>
                  </a:lnTo>
                  <a:lnTo>
                    <a:pt x="8750808" y="2776347"/>
                  </a:lnTo>
                  <a:lnTo>
                    <a:pt x="8741312" y="2823346"/>
                  </a:lnTo>
                  <a:lnTo>
                    <a:pt x="8715422" y="2861738"/>
                  </a:lnTo>
                  <a:lnTo>
                    <a:pt x="8677030" y="2887628"/>
                  </a:lnTo>
                  <a:lnTo>
                    <a:pt x="8630031" y="2897123"/>
                  </a:lnTo>
                  <a:lnTo>
                    <a:pt x="120726" y="2897123"/>
                  </a:lnTo>
                  <a:lnTo>
                    <a:pt x="73734" y="2887628"/>
                  </a:lnTo>
                  <a:lnTo>
                    <a:pt x="35359" y="2861738"/>
                  </a:lnTo>
                  <a:lnTo>
                    <a:pt x="9487" y="2823346"/>
                  </a:lnTo>
                  <a:lnTo>
                    <a:pt x="0" y="2776347"/>
                  </a:lnTo>
                  <a:lnTo>
                    <a:pt x="0" y="120776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4152" y="1591055"/>
              <a:ext cx="8209915" cy="2242185"/>
            </a:xfrm>
            <a:custGeom>
              <a:avLst/>
              <a:gdLst/>
              <a:ahLst/>
              <a:cxnLst/>
              <a:rect l="l" t="t" r="r" b="b"/>
              <a:pathLst>
                <a:path w="8209915" h="2242185">
                  <a:moveTo>
                    <a:pt x="8116316" y="0"/>
                  </a:moveTo>
                  <a:lnTo>
                    <a:pt x="93421" y="0"/>
                  </a:lnTo>
                  <a:lnTo>
                    <a:pt x="57055" y="7336"/>
                  </a:lnTo>
                  <a:lnTo>
                    <a:pt x="27360" y="27352"/>
                  </a:lnTo>
                  <a:lnTo>
                    <a:pt x="7340" y="57060"/>
                  </a:lnTo>
                  <a:lnTo>
                    <a:pt x="0" y="93472"/>
                  </a:lnTo>
                  <a:lnTo>
                    <a:pt x="0" y="2148332"/>
                  </a:lnTo>
                  <a:lnTo>
                    <a:pt x="7340" y="2184743"/>
                  </a:lnTo>
                  <a:lnTo>
                    <a:pt x="27360" y="2214451"/>
                  </a:lnTo>
                  <a:lnTo>
                    <a:pt x="57055" y="2234467"/>
                  </a:lnTo>
                  <a:lnTo>
                    <a:pt x="93421" y="2241804"/>
                  </a:lnTo>
                  <a:lnTo>
                    <a:pt x="8116316" y="2241804"/>
                  </a:lnTo>
                  <a:lnTo>
                    <a:pt x="8152727" y="2234467"/>
                  </a:lnTo>
                  <a:lnTo>
                    <a:pt x="8182435" y="2214451"/>
                  </a:lnTo>
                  <a:lnTo>
                    <a:pt x="8202451" y="2184743"/>
                  </a:lnTo>
                  <a:lnTo>
                    <a:pt x="8209788" y="2148332"/>
                  </a:lnTo>
                  <a:lnTo>
                    <a:pt x="8209788" y="93472"/>
                  </a:lnTo>
                  <a:lnTo>
                    <a:pt x="8202451" y="57060"/>
                  </a:lnTo>
                  <a:lnTo>
                    <a:pt x="8182435" y="27352"/>
                  </a:lnTo>
                  <a:lnTo>
                    <a:pt x="8152727" y="7336"/>
                  </a:lnTo>
                  <a:lnTo>
                    <a:pt x="8116316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4152" y="1591055"/>
              <a:ext cx="8209915" cy="2242185"/>
            </a:xfrm>
            <a:custGeom>
              <a:avLst/>
              <a:gdLst/>
              <a:ahLst/>
              <a:cxnLst/>
              <a:rect l="l" t="t" r="r" b="b"/>
              <a:pathLst>
                <a:path w="8209915" h="2242185">
                  <a:moveTo>
                    <a:pt x="0" y="93472"/>
                  </a:moveTo>
                  <a:lnTo>
                    <a:pt x="7340" y="57060"/>
                  </a:lnTo>
                  <a:lnTo>
                    <a:pt x="27360" y="27352"/>
                  </a:lnTo>
                  <a:lnTo>
                    <a:pt x="57055" y="7336"/>
                  </a:lnTo>
                  <a:lnTo>
                    <a:pt x="93421" y="0"/>
                  </a:lnTo>
                  <a:lnTo>
                    <a:pt x="8116316" y="0"/>
                  </a:lnTo>
                  <a:lnTo>
                    <a:pt x="8152727" y="7336"/>
                  </a:lnTo>
                  <a:lnTo>
                    <a:pt x="8182435" y="27352"/>
                  </a:lnTo>
                  <a:lnTo>
                    <a:pt x="8202451" y="57060"/>
                  </a:lnTo>
                  <a:lnTo>
                    <a:pt x="8209788" y="93472"/>
                  </a:lnTo>
                  <a:lnTo>
                    <a:pt x="8209788" y="2148332"/>
                  </a:lnTo>
                  <a:lnTo>
                    <a:pt x="8202451" y="2184743"/>
                  </a:lnTo>
                  <a:lnTo>
                    <a:pt x="8182435" y="2214451"/>
                  </a:lnTo>
                  <a:lnTo>
                    <a:pt x="8152727" y="2234467"/>
                  </a:lnTo>
                  <a:lnTo>
                    <a:pt x="8116316" y="2241804"/>
                  </a:lnTo>
                  <a:lnTo>
                    <a:pt x="93421" y="2241804"/>
                  </a:lnTo>
                  <a:lnTo>
                    <a:pt x="57055" y="2234467"/>
                  </a:lnTo>
                  <a:lnTo>
                    <a:pt x="27360" y="2214451"/>
                  </a:lnTo>
                  <a:lnTo>
                    <a:pt x="7340" y="2184743"/>
                  </a:lnTo>
                  <a:lnTo>
                    <a:pt x="0" y="2148332"/>
                  </a:lnTo>
                  <a:lnTo>
                    <a:pt x="0" y="93472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9831" y="4148328"/>
            <a:ext cx="8760460" cy="2258695"/>
            <a:chOff x="179831" y="4148328"/>
            <a:chExt cx="8760460" cy="2258695"/>
          </a:xfrm>
        </p:grpSpPr>
        <p:sp>
          <p:nvSpPr>
            <p:cNvPr id="9" name="object 9"/>
            <p:cNvSpPr/>
            <p:nvPr/>
          </p:nvSpPr>
          <p:spPr>
            <a:xfrm>
              <a:off x="184403" y="4152900"/>
              <a:ext cx="8750935" cy="2249805"/>
            </a:xfrm>
            <a:custGeom>
              <a:avLst/>
              <a:gdLst/>
              <a:ahLst/>
              <a:cxnLst/>
              <a:rect l="l" t="t" r="r" b="b"/>
              <a:pathLst>
                <a:path w="8750935" h="2249804">
                  <a:moveTo>
                    <a:pt x="8657082" y="0"/>
                  </a:moveTo>
                  <a:lnTo>
                    <a:pt x="93725" y="0"/>
                  </a:lnTo>
                  <a:lnTo>
                    <a:pt x="57242" y="7358"/>
                  </a:lnTo>
                  <a:lnTo>
                    <a:pt x="27451" y="27431"/>
                  </a:lnTo>
                  <a:lnTo>
                    <a:pt x="7365" y="57221"/>
                  </a:lnTo>
                  <a:lnTo>
                    <a:pt x="0" y="93725"/>
                  </a:lnTo>
                  <a:lnTo>
                    <a:pt x="0" y="2155698"/>
                  </a:lnTo>
                  <a:lnTo>
                    <a:pt x="7365" y="2192181"/>
                  </a:lnTo>
                  <a:lnTo>
                    <a:pt x="27451" y="2221972"/>
                  </a:lnTo>
                  <a:lnTo>
                    <a:pt x="57242" y="2242058"/>
                  </a:lnTo>
                  <a:lnTo>
                    <a:pt x="93725" y="2249424"/>
                  </a:lnTo>
                  <a:lnTo>
                    <a:pt x="8657082" y="2249424"/>
                  </a:lnTo>
                  <a:lnTo>
                    <a:pt x="8693586" y="2242058"/>
                  </a:lnTo>
                  <a:lnTo>
                    <a:pt x="8723376" y="2221972"/>
                  </a:lnTo>
                  <a:lnTo>
                    <a:pt x="8743449" y="2192181"/>
                  </a:lnTo>
                  <a:lnTo>
                    <a:pt x="8750808" y="2155698"/>
                  </a:lnTo>
                  <a:lnTo>
                    <a:pt x="8750808" y="93725"/>
                  </a:lnTo>
                  <a:lnTo>
                    <a:pt x="8743449" y="57221"/>
                  </a:lnTo>
                  <a:lnTo>
                    <a:pt x="8723376" y="27431"/>
                  </a:lnTo>
                  <a:lnTo>
                    <a:pt x="8693586" y="7358"/>
                  </a:lnTo>
                  <a:lnTo>
                    <a:pt x="8657082" y="0"/>
                  </a:lnTo>
                  <a:close/>
                </a:path>
              </a:pathLst>
            </a:custGeom>
            <a:solidFill>
              <a:srgbClr val="DE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4403" y="4152900"/>
              <a:ext cx="8750935" cy="2249805"/>
            </a:xfrm>
            <a:custGeom>
              <a:avLst/>
              <a:gdLst/>
              <a:ahLst/>
              <a:cxnLst/>
              <a:rect l="l" t="t" r="r" b="b"/>
              <a:pathLst>
                <a:path w="8750935" h="2249804">
                  <a:moveTo>
                    <a:pt x="0" y="93725"/>
                  </a:moveTo>
                  <a:lnTo>
                    <a:pt x="7365" y="57221"/>
                  </a:lnTo>
                  <a:lnTo>
                    <a:pt x="27451" y="27431"/>
                  </a:lnTo>
                  <a:lnTo>
                    <a:pt x="57242" y="7358"/>
                  </a:lnTo>
                  <a:lnTo>
                    <a:pt x="93725" y="0"/>
                  </a:lnTo>
                  <a:lnTo>
                    <a:pt x="8657082" y="0"/>
                  </a:lnTo>
                  <a:lnTo>
                    <a:pt x="8693586" y="7358"/>
                  </a:lnTo>
                  <a:lnTo>
                    <a:pt x="8723376" y="27431"/>
                  </a:lnTo>
                  <a:lnTo>
                    <a:pt x="8743449" y="57221"/>
                  </a:lnTo>
                  <a:lnTo>
                    <a:pt x="8750808" y="93725"/>
                  </a:lnTo>
                  <a:lnTo>
                    <a:pt x="8750808" y="2155698"/>
                  </a:lnTo>
                  <a:lnTo>
                    <a:pt x="8743449" y="2192181"/>
                  </a:lnTo>
                  <a:lnTo>
                    <a:pt x="8723376" y="2221972"/>
                  </a:lnTo>
                  <a:lnTo>
                    <a:pt x="8693586" y="2242058"/>
                  </a:lnTo>
                  <a:lnTo>
                    <a:pt x="8657082" y="2249424"/>
                  </a:lnTo>
                  <a:lnTo>
                    <a:pt x="93725" y="2249424"/>
                  </a:lnTo>
                  <a:lnTo>
                    <a:pt x="57242" y="2242058"/>
                  </a:lnTo>
                  <a:lnTo>
                    <a:pt x="27451" y="2221972"/>
                  </a:lnTo>
                  <a:lnTo>
                    <a:pt x="7365" y="2192181"/>
                  </a:lnTo>
                  <a:lnTo>
                    <a:pt x="0" y="2155698"/>
                  </a:lnTo>
                  <a:lnTo>
                    <a:pt x="0" y="9372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4152" y="4613148"/>
              <a:ext cx="8209915" cy="1518285"/>
            </a:xfrm>
            <a:custGeom>
              <a:avLst/>
              <a:gdLst/>
              <a:ahLst/>
              <a:cxnLst/>
              <a:rect l="l" t="t" r="r" b="b"/>
              <a:pathLst>
                <a:path w="8209915" h="1518285">
                  <a:moveTo>
                    <a:pt x="8146542" y="0"/>
                  </a:moveTo>
                  <a:lnTo>
                    <a:pt x="63246" y="0"/>
                  </a:lnTo>
                  <a:lnTo>
                    <a:pt x="38629" y="4970"/>
                  </a:lnTo>
                  <a:lnTo>
                    <a:pt x="18526" y="18526"/>
                  </a:lnTo>
                  <a:lnTo>
                    <a:pt x="4970" y="38629"/>
                  </a:lnTo>
                  <a:lnTo>
                    <a:pt x="0" y="63245"/>
                  </a:lnTo>
                  <a:lnTo>
                    <a:pt x="0" y="1454645"/>
                  </a:lnTo>
                  <a:lnTo>
                    <a:pt x="4970" y="1479268"/>
                  </a:lnTo>
                  <a:lnTo>
                    <a:pt x="18526" y="1499376"/>
                  </a:lnTo>
                  <a:lnTo>
                    <a:pt x="38629" y="1512932"/>
                  </a:lnTo>
                  <a:lnTo>
                    <a:pt x="63246" y="1517903"/>
                  </a:lnTo>
                  <a:lnTo>
                    <a:pt x="8146542" y="1517903"/>
                  </a:lnTo>
                  <a:lnTo>
                    <a:pt x="8171158" y="1512932"/>
                  </a:lnTo>
                  <a:lnTo>
                    <a:pt x="8191261" y="1499376"/>
                  </a:lnTo>
                  <a:lnTo>
                    <a:pt x="8204817" y="1479268"/>
                  </a:lnTo>
                  <a:lnTo>
                    <a:pt x="8209788" y="1454645"/>
                  </a:lnTo>
                  <a:lnTo>
                    <a:pt x="8209788" y="63245"/>
                  </a:lnTo>
                  <a:lnTo>
                    <a:pt x="8204817" y="38629"/>
                  </a:lnTo>
                  <a:lnTo>
                    <a:pt x="8191261" y="18526"/>
                  </a:lnTo>
                  <a:lnTo>
                    <a:pt x="8171158" y="4970"/>
                  </a:lnTo>
                  <a:lnTo>
                    <a:pt x="8146542" y="0"/>
                  </a:lnTo>
                  <a:close/>
                </a:path>
              </a:pathLst>
            </a:custGeom>
            <a:solidFill>
              <a:srgbClr val="F1E7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4152" y="4613148"/>
              <a:ext cx="8209915" cy="1518285"/>
            </a:xfrm>
            <a:custGeom>
              <a:avLst/>
              <a:gdLst/>
              <a:ahLst/>
              <a:cxnLst/>
              <a:rect l="l" t="t" r="r" b="b"/>
              <a:pathLst>
                <a:path w="8209915" h="1518285">
                  <a:moveTo>
                    <a:pt x="0" y="63245"/>
                  </a:moveTo>
                  <a:lnTo>
                    <a:pt x="4970" y="38629"/>
                  </a:lnTo>
                  <a:lnTo>
                    <a:pt x="18526" y="18526"/>
                  </a:lnTo>
                  <a:lnTo>
                    <a:pt x="38629" y="4970"/>
                  </a:lnTo>
                  <a:lnTo>
                    <a:pt x="63246" y="0"/>
                  </a:lnTo>
                  <a:lnTo>
                    <a:pt x="8146542" y="0"/>
                  </a:lnTo>
                  <a:lnTo>
                    <a:pt x="8171158" y="4970"/>
                  </a:lnTo>
                  <a:lnTo>
                    <a:pt x="8191261" y="18526"/>
                  </a:lnTo>
                  <a:lnTo>
                    <a:pt x="8204817" y="38629"/>
                  </a:lnTo>
                  <a:lnTo>
                    <a:pt x="8209788" y="63245"/>
                  </a:lnTo>
                  <a:lnTo>
                    <a:pt x="8209788" y="1454645"/>
                  </a:lnTo>
                  <a:lnTo>
                    <a:pt x="8204817" y="1479268"/>
                  </a:lnTo>
                  <a:lnTo>
                    <a:pt x="8191261" y="1499376"/>
                  </a:lnTo>
                  <a:lnTo>
                    <a:pt x="8171158" y="1512932"/>
                  </a:lnTo>
                  <a:lnTo>
                    <a:pt x="8146542" y="1517903"/>
                  </a:lnTo>
                  <a:lnTo>
                    <a:pt x="63246" y="1517903"/>
                  </a:lnTo>
                  <a:lnTo>
                    <a:pt x="38629" y="1512932"/>
                  </a:lnTo>
                  <a:lnTo>
                    <a:pt x="18526" y="1499376"/>
                  </a:lnTo>
                  <a:lnTo>
                    <a:pt x="4970" y="1479268"/>
                  </a:lnTo>
                  <a:lnTo>
                    <a:pt x="0" y="1454645"/>
                  </a:lnTo>
                  <a:lnTo>
                    <a:pt x="0" y="63245"/>
                  </a:lnTo>
                  <a:close/>
                </a:path>
              </a:pathLst>
            </a:custGeom>
            <a:ln w="91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0271" y="1197051"/>
            <a:ext cx="8232140" cy="483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Verdana"/>
                <a:cs typeface="Verdana"/>
              </a:rPr>
              <a:t>How </a:t>
            </a:r>
            <a:r>
              <a:rPr sz="1800" b="1" spc="-5" dirty="0">
                <a:latin typeface="Verdana"/>
                <a:cs typeface="Verdana"/>
              </a:rPr>
              <a:t>do </a:t>
            </a:r>
            <a:r>
              <a:rPr sz="1800" b="1" dirty="0">
                <a:latin typeface="Verdana"/>
                <a:cs typeface="Verdana"/>
              </a:rPr>
              <a:t>I </a:t>
            </a:r>
            <a:r>
              <a:rPr sz="1800" b="1" spc="-5" dirty="0">
                <a:latin typeface="Verdana"/>
                <a:cs typeface="Verdana"/>
              </a:rPr>
              <a:t>configure </a:t>
            </a:r>
            <a:r>
              <a:rPr sz="1800" b="1" dirty="0">
                <a:latin typeface="Verdana"/>
                <a:cs typeface="Verdana"/>
              </a:rPr>
              <a:t>NPS </a:t>
            </a:r>
            <a:r>
              <a:rPr sz="1800" b="1" spc="-5" dirty="0">
                <a:latin typeface="Verdana"/>
                <a:cs typeface="Verdana"/>
              </a:rPr>
              <a:t>events to </a:t>
            </a:r>
            <a:r>
              <a:rPr sz="1800" b="1" dirty="0">
                <a:latin typeface="Verdana"/>
                <a:cs typeface="Verdana"/>
              </a:rPr>
              <a:t>be </a:t>
            </a:r>
            <a:r>
              <a:rPr sz="1800" b="1" spc="-5" dirty="0">
                <a:latin typeface="Verdana"/>
                <a:cs typeface="Verdana"/>
              </a:rPr>
              <a:t>recorded </a:t>
            </a:r>
            <a:r>
              <a:rPr sz="1800" b="1" dirty="0">
                <a:latin typeface="Verdana"/>
                <a:cs typeface="Verdana"/>
              </a:rPr>
              <a:t>in </a:t>
            </a:r>
            <a:r>
              <a:rPr sz="1800" b="1" spc="-5" dirty="0">
                <a:latin typeface="Verdana"/>
                <a:cs typeface="Verdana"/>
              </a:rPr>
              <a:t>Event</a:t>
            </a:r>
            <a:r>
              <a:rPr sz="1800" b="1" spc="7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Viewer?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Verdana"/>
              <a:cs typeface="Verdana"/>
            </a:endParaRPr>
          </a:p>
          <a:p>
            <a:pPr marL="455930" marR="779780" indent="-173990">
              <a:lnSpc>
                <a:spcPts val="1730"/>
              </a:lnSpc>
              <a:buClr>
                <a:srgbClr val="006699"/>
              </a:buClr>
              <a:buFont typeface="Verdana"/>
              <a:buChar char="•"/>
              <a:tabLst>
                <a:tab pos="456565" algn="l"/>
              </a:tabLst>
            </a:pPr>
            <a:r>
              <a:rPr sz="1600" b="1" spc="-5" dirty="0">
                <a:latin typeface="Verdana"/>
                <a:cs typeface="Verdana"/>
              </a:rPr>
              <a:t>NPS </a:t>
            </a:r>
            <a:r>
              <a:rPr sz="1600" b="1" spc="-10" dirty="0">
                <a:latin typeface="Verdana"/>
                <a:cs typeface="Verdana"/>
              </a:rPr>
              <a:t>is configured by default </a:t>
            </a:r>
            <a:r>
              <a:rPr sz="1600" b="1" spc="-5" dirty="0">
                <a:latin typeface="Verdana"/>
                <a:cs typeface="Verdana"/>
              </a:rPr>
              <a:t>to </a:t>
            </a:r>
            <a:r>
              <a:rPr sz="1600" b="1" spc="-10" dirty="0">
                <a:latin typeface="Verdana"/>
                <a:cs typeface="Verdana"/>
              </a:rPr>
              <a:t>record failed connections </a:t>
            </a:r>
            <a:r>
              <a:rPr sz="1600" b="1" spc="-5" dirty="0">
                <a:latin typeface="Verdana"/>
                <a:cs typeface="Verdana"/>
              </a:rPr>
              <a:t>and  </a:t>
            </a:r>
            <a:r>
              <a:rPr sz="1600" b="1" spc="-10" dirty="0">
                <a:latin typeface="Verdana"/>
                <a:cs typeface="Verdana"/>
              </a:rPr>
              <a:t>successful connections in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event</a:t>
            </a:r>
            <a:r>
              <a:rPr sz="1600" b="1" spc="9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log</a:t>
            </a:r>
            <a:endParaRPr sz="1600">
              <a:latin typeface="Verdana"/>
              <a:cs typeface="Verdana"/>
            </a:endParaRPr>
          </a:p>
          <a:p>
            <a:pPr marL="802005" lvl="1" indent="-173990">
              <a:lnSpc>
                <a:spcPts val="1825"/>
              </a:lnSpc>
              <a:spcBef>
                <a:spcPts val="550"/>
              </a:spcBef>
              <a:buClr>
                <a:srgbClr val="006699"/>
              </a:buClr>
              <a:buChar char="•"/>
              <a:tabLst>
                <a:tab pos="802640" algn="l"/>
              </a:tabLst>
            </a:pPr>
            <a:r>
              <a:rPr sz="1600" spc="-35" dirty="0">
                <a:latin typeface="Verdana"/>
                <a:cs typeface="Verdana"/>
              </a:rPr>
              <a:t>You </a:t>
            </a:r>
            <a:r>
              <a:rPr sz="1600" spc="-5" dirty="0">
                <a:latin typeface="Verdana"/>
                <a:cs typeface="Verdana"/>
              </a:rPr>
              <a:t>can change this </a:t>
            </a:r>
            <a:r>
              <a:rPr sz="1600" spc="-10" dirty="0">
                <a:latin typeface="Verdana"/>
                <a:cs typeface="Verdana"/>
              </a:rPr>
              <a:t>behavior </a:t>
            </a:r>
            <a:r>
              <a:rPr sz="1600" spc="-5" dirty="0">
                <a:latin typeface="Verdana"/>
                <a:cs typeface="Verdana"/>
              </a:rPr>
              <a:t>on the </a:t>
            </a:r>
            <a:r>
              <a:rPr sz="1600" b="1" spc="-10" dirty="0">
                <a:latin typeface="Verdana"/>
                <a:cs typeface="Verdana"/>
              </a:rPr>
              <a:t>General </a:t>
            </a:r>
            <a:r>
              <a:rPr sz="1600" spc="-5" dirty="0">
                <a:latin typeface="Verdana"/>
                <a:cs typeface="Verdana"/>
              </a:rPr>
              <a:t>tab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2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the</a:t>
            </a:r>
            <a:endParaRPr sz="1600">
              <a:latin typeface="Verdana"/>
              <a:cs typeface="Verdana"/>
            </a:endParaRPr>
          </a:p>
          <a:p>
            <a:pPr marL="802005">
              <a:lnSpc>
                <a:spcPts val="1825"/>
              </a:lnSpc>
            </a:pPr>
            <a:r>
              <a:rPr sz="1600" b="1" spc="-10" dirty="0">
                <a:latin typeface="Verdana"/>
                <a:cs typeface="Verdana"/>
              </a:rPr>
              <a:t>Properties </a:t>
            </a:r>
            <a:r>
              <a:rPr sz="1600" spc="-10" dirty="0">
                <a:latin typeface="Verdana"/>
                <a:cs typeface="Verdana"/>
              </a:rPr>
              <a:t>sheet </a:t>
            </a:r>
            <a:r>
              <a:rPr sz="1600" spc="-5" dirty="0">
                <a:latin typeface="Verdana"/>
                <a:cs typeface="Verdana"/>
              </a:rPr>
              <a:t>for </a:t>
            </a:r>
            <a:r>
              <a:rPr sz="1600" spc="-10" dirty="0">
                <a:latin typeface="Verdana"/>
                <a:cs typeface="Verdana"/>
              </a:rPr>
              <a:t>the </a:t>
            </a:r>
            <a:r>
              <a:rPr sz="1600" spc="-5" dirty="0">
                <a:latin typeface="Verdana"/>
                <a:cs typeface="Verdana"/>
              </a:rPr>
              <a:t>network</a:t>
            </a:r>
            <a:r>
              <a:rPr sz="1600" spc="14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policy</a:t>
            </a:r>
            <a:endParaRPr sz="1600">
              <a:latin typeface="Verdana"/>
              <a:cs typeface="Verdana"/>
            </a:endParaRPr>
          </a:p>
          <a:p>
            <a:pPr marL="455930" indent="-17399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Font typeface="Verdana"/>
              <a:buChar char="•"/>
              <a:tabLst>
                <a:tab pos="456565" algn="l"/>
              </a:tabLst>
            </a:pPr>
            <a:r>
              <a:rPr sz="1600" b="1" spc="-10" dirty="0">
                <a:latin typeface="Verdana"/>
                <a:cs typeface="Verdana"/>
              </a:rPr>
              <a:t>Common request failure</a:t>
            </a:r>
            <a:r>
              <a:rPr sz="1600" b="1" spc="9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events</a:t>
            </a:r>
            <a:endParaRPr sz="1600">
              <a:latin typeface="Verdana"/>
              <a:cs typeface="Verdana"/>
            </a:endParaRPr>
          </a:p>
          <a:p>
            <a:pPr marL="455930" indent="-17399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Font typeface="Verdana"/>
              <a:buChar char="•"/>
              <a:tabLst>
                <a:tab pos="456565" algn="l"/>
              </a:tabLst>
            </a:pPr>
            <a:r>
              <a:rPr sz="1600" b="1" spc="-10" dirty="0">
                <a:latin typeface="Verdana"/>
                <a:cs typeface="Verdana"/>
              </a:rPr>
              <a:t>What information does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failure event</a:t>
            </a:r>
            <a:r>
              <a:rPr sz="1600" b="1" spc="15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record?</a:t>
            </a:r>
            <a:endParaRPr sz="1600">
              <a:latin typeface="Verdana"/>
              <a:cs typeface="Verdana"/>
            </a:endParaRPr>
          </a:p>
          <a:p>
            <a:pPr marL="455930" indent="-17399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Font typeface="Verdana"/>
              <a:buChar char="•"/>
              <a:tabLst>
                <a:tab pos="456565" algn="l"/>
              </a:tabLst>
            </a:pPr>
            <a:r>
              <a:rPr sz="1600" b="1" spc="-10" dirty="0">
                <a:latin typeface="Verdana"/>
                <a:cs typeface="Verdana"/>
              </a:rPr>
              <a:t>What information does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success event</a:t>
            </a:r>
            <a:r>
              <a:rPr sz="1600" b="1" spc="1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record?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buClr>
                <a:srgbClr val="006699"/>
              </a:buClr>
              <a:buFont typeface="Verdana"/>
              <a:buChar char="•"/>
            </a:pP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99"/>
              </a:buClr>
              <a:buFont typeface="Verdana"/>
              <a:buChar char="•"/>
            </a:pP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Verdana"/>
                <a:cs typeface="Verdana"/>
              </a:rPr>
              <a:t>What </a:t>
            </a:r>
            <a:r>
              <a:rPr sz="1800" b="1" dirty="0">
                <a:latin typeface="Verdana"/>
                <a:cs typeface="Verdana"/>
              </a:rPr>
              <a:t>is Schannel logging, and </a:t>
            </a:r>
            <a:r>
              <a:rPr sz="1800" b="1" spc="-5" dirty="0">
                <a:latin typeface="Verdana"/>
                <a:cs typeface="Verdana"/>
              </a:rPr>
              <a:t>how </a:t>
            </a:r>
            <a:r>
              <a:rPr sz="1800" b="1" dirty="0">
                <a:latin typeface="Verdana"/>
                <a:cs typeface="Verdana"/>
              </a:rPr>
              <a:t>do I </a:t>
            </a:r>
            <a:r>
              <a:rPr sz="1800" b="1" spc="-5" dirty="0">
                <a:latin typeface="Verdana"/>
                <a:cs typeface="Verdana"/>
              </a:rPr>
              <a:t>configure</a:t>
            </a:r>
            <a:r>
              <a:rPr sz="1800" b="1" spc="50" dirty="0">
                <a:latin typeface="Verdana"/>
                <a:cs typeface="Verdana"/>
              </a:rPr>
              <a:t> </a:t>
            </a:r>
            <a:r>
              <a:rPr sz="1800" b="1" dirty="0">
                <a:latin typeface="Verdana"/>
                <a:cs typeface="Verdana"/>
              </a:rPr>
              <a:t>it?</a:t>
            </a:r>
            <a:endParaRPr sz="1800">
              <a:latin typeface="Verdana"/>
              <a:cs typeface="Verdana"/>
            </a:endParaRPr>
          </a:p>
          <a:p>
            <a:pPr marL="447040" indent="-173990">
              <a:lnSpc>
                <a:spcPts val="1825"/>
              </a:lnSpc>
              <a:spcBef>
                <a:spcPts val="1580"/>
              </a:spcBef>
              <a:buClr>
                <a:srgbClr val="006699"/>
              </a:buClr>
              <a:buFont typeface="Verdana"/>
              <a:buChar char="•"/>
              <a:tabLst>
                <a:tab pos="447675" algn="l"/>
              </a:tabLst>
            </a:pPr>
            <a:r>
              <a:rPr sz="1600" b="1" spc="-10" dirty="0">
                <a:latin typeface="Verdana"/>
                <a:cs typeface="Verdana"/>
              </a:rPr>
              <a:t>Schannel is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security support provider </a:t>
            </a:r>
            <a:r>
              <a:rPr sz="1600" b="1" spc="-5" dirty="0">
                <a:latin typeface="Verdana"/>
                <a:cs typeface="Verdana"/>
              </a:rPr>
              <a:t>that </a:t>
            </a:r>
            <a:r>
              <a:rPr sz="1600" b="1" spc="-10" dirty="0">
                <a:latin typeface="Verdana"/>
                <a:cs typeface="Verdana"/>
              </a:rPr>
              <a:t>supports </a:t>
            </a:r>
            <a:r>
              <a:rPr sz="1600" b="1" spc="-5" dirty="0">
                <a:latin typeface="Verdana"/>
                <a:cs typeface="Verdana"/>
              </a:rPr>
              <a:t>a </a:t>
            </a:r>
            <a:r>
              <a:rPr sz="1600" b="1" spc="-10" dirty="0">
                <a:latin typeface="Verdana"/>
                <a:cs typeface="Verdana"/>
              </a:rPr>
              <a:t>set</a:t>
            </a:r>
            <a:r>
              <a:rPr sz="1600" b="1" spc="270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of</a:t>
            </a:r>
            <a:endParaRPr sz="1600">
              <a:latin typeface="Verdana"/>
              <a:cs typeface="Verdana"/>
            </a:endParaRPr>
          </a:p>
          <a:p>
            <a:pPr marL="447040">
              <a:lnSpc>
                <a:spcPts val="1825"/>
              </a:lnSpc>
            </a:pPr>
            <a:r>
              <a:rPr sz="1600" b="1" spc="-5" dirty="0">
                <a:latin typeface="Verdana"/>
                <a:cs typeface="Verdana"/>
              </a:rPr>
              <a:t>Internet </a:t>
            </a:r>
            <a:r>
              <a:rPr sz="1600" b="1" spc="-10" dirty="0">
                <a:latin typeface="Verdana"/>
                <a:cs typeface="Verdana"/>
              </a:rPr>
              <a:t>security</a:t>
            </a:r>
            <a:r>
              <a:rPr sz="1600" b="1" spc="25" dirty="0">
                <a:latin typeface="Verdana"/>
                <a:cs typeface="Verdana"/>
              </a:rPr>
              <a:t> </a:t>
            </a:r>
            <a:r>
              <a:rPr sz="1600" b="1" spc="-10" dirty="0">
                <a:latin typeface="Verdana"/>
                <a:cs typeface="Verdana"/>
              </a:rPr>
              <a:t>protocols</a:t>
            </a:r>
            <a:endParaRPr sz="1600">
              <a:latin typeface="Verdana"/>
              <a:cs typeface="Verdana"/>
            </a:endParaRPr>
          </a:p>
          <a:p>
            <a:pPr marL="447040" indent="-173990">
              <a:lnSpc>
                <a:spcPct val="100000"/>
              </a:lnSpc>
              <a:spcBef>
                <a:spcPts val="575"/>
              </a:spcBef>
              <a:buClr>
                <a:srgbClr val="006699"/>
              </a:buClr>
              <a:buFont typeface="Verdana"/>
              <a:buChar char="•"/>
              <a:tabLst>
                <a:tab pos="447675" algn="l"/>
              </a:tabLst>
            </a:pPr>
            <a:r>
              <a:rPr sz="1600" b="1" spc="-5" dirty="0">
                <a:latin typeface="Verdana"/>
                <a:cs typeface="Verdana"/>
              </a:rPr>
              <a:t>You </a:t>
            </a:r>
            <a:r>
              <a:rPr sz="1600" b="1" spc="-10" dirty="0">
                <a:latin typeface="Verdana"/>
                <a:cs typeface="Verdana"/>
              </a:rPr>
              <a:t>can configure Schannel logging in </a:t>
            </a:r>
            <a:r>
              <a:rPr sz="1600" b="1" spc="-5" dirty="0">
                <a:latin typeface="Verdana"/>
                <a:cs typeface="Verdana"/>
              </a:rPr>
              <a:t>the </a:t>
            </a:r>
            <a:r>
              <a:rPr sz="1600" b="1" spc="-10" dirty="0">
                <a:latin typeface="Verdana"/>
                <a:cs typeface="Verdana"/>
              </a:rPr>
              <a:t>following Registry</a:t>
            </a:r>
            <a:r>
              <a:rPr sz="1600" b="1" spc="310" dirty="0">
                <a:latin typeface="Verdana"/>
                <a:cs typeface="Verdana"/>
              </a:rPr>
              <a:t> </a:t>
            </a:r>
            <a:r>
              <a:rPr sz="1600" b="1" spc="-5" dirty="0">
                <a:latin typeface="Verdana"/>
                <a:cs typeface="Verdana"/>
              </a:rPr>
              <a:t>key:</a:t>
            </a:r>
            <a:endParaRPr sz="1600">
              <a:latin typeface="Verdana"/>
              <a:cs typeface="Verdana"/>
            </a:endParaRPr>
          </a:p>
          <a:p>
            <a:pPr marL="848360" marR="1149350">
              <a:lnSpc>
                <a:spcPts val="1730"/>
              </a:lnSpc>
              <a:spcBef>
                <a:spcPts val="795"/>
              </a:spcBef>
            </a:pPr>
            <a:r>
              <a:rPr sz="1600" spc="-5" dirty="0">
                <a:latin typeface="Verdana"/>
                <a:cs typeface="Verdana"/>
              </a:rPr>
              <a:t>HKEY_LOCAL_MACHINE\SYSTEM\CurrentControlSet\Control\  SecurityProviders\SCHANNEL\EventLogging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1117</Words>
  <Application>Microsoft Office PowerPoint</Application>
  <PresentationFormat>On-screen Show (4:3)</PresentationFormat>
  <Paragraphs>180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Verdana</vt:lpstr>
      <vt:lpstr>Office Theme</vt:lpstr>
      <vt:lpstr>PowerPoint Presentation</vt:lpstr>
      <vt:lpstr>Module Overview</vt:lpstr>
      <vt:lpstr>  1: Installing and Configuring a Network  Policy Server</vt:lpstr>
      <vt:lpstr>What Is a Network Policy Server?</vt:lpstr>
      <vt:lpstr>Tools Used for Managing a Network Policy Server</vt:lpstr>
      <vt:lpstr>  2: Configuring RADIUS Clients and Servers</vt:lpstr>
      <vt:lpstr>What Is a RADIUS Client?</vt:lpstr>
      <vt:lpstr>What Is a RADIUS Proxy?</vt:lpstr>
      <vt:lpstr>What Is a Connection Request Policy?</vt:lpstr>
      <vt:lpstr>Configuring Connection Request Processing</vt:lpstr>
      <vt:lpstr>  3: NPS Authentication Methods</vt:lpstr>
      <vt:lpstr>Password-Based Authentication Methods</vt:lpstr>
      <vt:lpstr>Using Certificates for Authentication</vt:lpstr>
      <vt:lpstr>Required Certificates for NPS Authentication Methods</vt:lpstr>
      <vt:lpstr>Deploying Certificates for PEAP and EAP</vt:lpstr>
      <vt:lpstr>  4: Monitoring and Troubleshooting a  Network Policy Server</vt:lpstr>
      <vt:lpstr>Methods Used to Monitor NPS</vt:lpstr>
      <vt:lpstr>Logging NPS Accounting</vt:lpstr>
      <vt:lpstr>Configuring SQL Server Logging</vt:lpstr>
      <vt:lpstr>Configuring NPS Events to Record in the Event Viewer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3</cp:revision>
  <dcterms:created xsi:type="dcterms:W3CDTF">2020-11-09T02:49:16Z</dcterms:created>
  <dcterms:modified xsi:type="dcterms:W3CDTF">2020-11-09T03:06:08Z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2020-11-09T00:00:00Z</vt:filetime>
  </property>
</Properties>
</file>