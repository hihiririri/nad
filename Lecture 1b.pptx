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730" r:id="rId2"/>
  </p:sldMasterIdLst>
  <p:notesMasterIdLst>
    <p:notesMasterId r:id="rId31"/>
  </p:notesMasterIdLst>
  <p:sldIdLst>
    <p:sldId id="258" r:id="rId3"/>
    <p:sldId id="259" r:id="rId4"/>
    <p:sldId id="260" r:id="rId5"/>
    <p:sldId id="261" r:id="rId6"/>
    <p:sldId id="262" r:id="rId7"/>
    <p:sldId id="263" r:id="rId8"/>
    <p:sldId id="264" r:id="rId9"/>
    <p:sldId id="265" r:id="rId10"/>
    <p:sldId id="266" r:id="rId11"/>
    <p:sldId id="267"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7" r:id="rId29"/>
    <p:sldId id="286" r:id="rId30"/>
  </p:sldIdLst>
  <p:sldSz cx="9144000" cy="6858000" type="screen4x3"/>
  <p:notesSz cx="6858000" cy="9144000"/>
  <p:embeddedFontLst>
    <p:embeddedFont>
      <p:font typeface="Verdana" panose="020B0604030504040204" pitchFamily="34" charset="0"/>
      <p:regular r:id="rId32"/>
      <p:bold r:id="rId33"/>
      <p:italic r:id="rId34"/>
      <p:boldItalic r:id="rId35"/>
    </p:embeddedFont>
    <p:embeddedFont>
      <p:font typeface="Calibri" panose="020F0502020204030204" pitchFamily="34" charset="0"/>
      <p:regular r:id="rId36"/>
      <p:bold r:id="rId37"/>
      <p:italic r:id="rId38"/>
      <p:boldItalic r:id="rId39"/>
    </p:embeddedFont>
    <p:embeddedFont>
      <p:font typeface="Segoe UI Light" panose="020B0502040204020203" pitchFamily="34" charset="0"/>
      <p:regular r:id="rId40"/>
      <p:italic r:id="rId41"/>
    </p:embeddedFont>
    <p:embeddedFont>
      <p:font typeface="Segoe UI" panose="020B0502040204020203" pitchFamily="34" charset="0"/>
      <p:regular r:id="rId42"/>
      <p:bold r:id="rId43"/>
      <p:italic r:id="rId44"/>
      <p:boldItalic r:id="rId45"/>
    </p:embeddedFont>
    <p:embeddedFont>
      <p:font typeface="Corbel" panose="020B0503020204020204" pitchFamily="34" charset="0"/>
      <p:regular r:id="rId46"/>
      <p:bold r:id="rId47"/>
      <p:italic r:id="rId48"/>
      <p:boldItalic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53" autoAdjust="0"/>
    <p:restoredTop sz="85237" autoAdjust="0"/>
  </p:normalViewPr>
  <p:slideViewPr>
    <p:cSldViewPr>
      <p:cViewPr varScale="1">
        <p:scale>
          <a:sx n="60" d="100"/>
          <a:sy n="60" d="100"/>
        </p:scale>
        <p:origin x="1236" y="40"/>
      </p:cViewPr>
      <p:guideLst>
        <p:guide orient="horz" pos="2160"/>
        <p:guide pos="2880"/>
      </p:guideLst>
    </p:cSldViewPr>
  </p:slideViewPr>
  <p:notesTextViewPr>
    <p:cViewPr>
      <p:scale>
        <a:sx n="1" d="1"/>
        <a:sy n="1" d="1"/>
      </p:scale>
      <p:origin x="0" y="0"/>
    </p:cViewPr>
  </p:notesTextViewPr>
  <p:notesViewPr>
    <p:cSldViewPr>
      <p:cViewPr varScale="1">
        <p:scale>
          <a:sx n="83" d="100"/>
          <a:sy n="83" d="100"/>
        </p:scale>
        <p:origin x="-310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8.fntdata"/><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8.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49"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AB9B6A-98F4-4B0B-819C-70AF57CAAE51}" type="datetimeFigureOut">
              <a:rPr lang="en-CA" smtClean="0"/>
              <a:pPr/>
              <a:t>2020-09-09</a:t>
            </a:fld>
            <a:endParaRPr lang="en-CA"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D9920D8-7138-493A-9F79-EC5FE439D321}" type="slidenum">
              <a:rPr lang="en-CA" smtClean="0"/>
              <a:pPr/>
              <a:t>‹#›</a:t>
            </a:fld>
            <a:endParaRPr lang="en-CA" dirty="0"/>
          </a:p>
        </p:txBody>
      </p:sp>
    </p:spTree>
    <p:extLst>
      <p:ext uri="{BB962C8B-B14F-4D97-AF65-F5344CB8AC3E}">
        <p14:creationId xmlns:p14="http://schemas.microsoft.com/office/powerpoint/2010/main" val="3319085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 </a:t>
            </a:r>
          </a:p>
        </p:txBody>
      </p:sp>
      <p:sp>
        <p:nvSpPr>
          <p:cNvPr id="4" name="Slide Number Placeholder 3"/>
          <p:cNvSpPr>
            <a:spLocks noGrp="1"/>
          </p:cNvSpPr>
          <p:nvPr>
            <p:ph type="sldNum" sz="quarter" idx="10"/>
          </p:nvPr>
        </p:nvSpPr>
        <p:spPr/>
        <p:txBody>
          <a:bodyPr/>
          <a:lstStyle/>
          <a:p>
            <a:fld id="{2D9920D8-7138-493A-9F79-EC5FE439D321}" type="slidenum">
              <a:rPr lang="en-CA" smtClean="0"/>
              <a:pPr/>
              <a:t>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1576109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Discuss with students the need for locally deployed servers, and the role that they play now that organizations are moving some of their infrastructure to cloud computing.</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What is the difference between a server and a client operating system?</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The difference between a server and a client operating system is that a </a:t>
            </a:r>
            <a:r>
              <a:rPr lang="en-CA" sz="1000" i="1" dirty="0">
                <a:latin typeface="Arial"/>
                <a:ea typeface="Calibri"/>
                <a:cs typeface="Times New Roman"/>
              </a:rPr>
              <a:t>server</a:t>
            </a:r>
            <a:r>
              <a:rPr lang="en-CA" sz="1000" dirty="0">
                <a:latin typeface="Arial"/>
                <a:ea typeface="Calibri"/>
                <a:cs typeface="Segoe UI"/>
              </a:rPr>
              <a:t> provides resources to many users on a network, and a </a:t>
            </a:r>
            <a:r>
              <a:rPr lang="en-CA" sz="1000" i="1" dirty="0">
                <a:latin typeface="Arial"/>
                <a:ea typeface="Calibri"/>
                <a:cs typeface="Times New Roman"/>
              </a:rPr>
              <a:t>client operating system</a:t>
            </a:r>
            <a:r>
              <a:rPr lang="en-CA" sz="1000" dirty="0">
                <a:latin typeface="Arial"/>
                <a:ea typeface="Calibri"/>
                <a:cs typeface="Segoe UI"/>
              </a:rPr>
              <a:t> is used by only one user at a time.</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How has the role of the server evolved over time from the Microsoft Windows NT 4.0 Server operating system to Windows Server 2012?</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Answers will vary. Solicit class discussion about their experience with different versions of Windows Server.</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2690882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solidFill>
                  <a:srgbClr val="000000"/>
                </a:solidFill>
                <a:latin typeface="Arial"/>
                <a:ea typeface="Calibri"/>
                <a:cs typeface="Segoe UI"/>
              </a:rPr>
              <a:t>Ask students the extent to which they have adopted cloud services in their organizations. </a:t>
            </a:r>
            <a:endParaRPr lang="en-CA" sz="1000" dirty="0">
              <a:latin typeface="Arial"/>
              <a:ea typeface="Calibri"/>
              <a:cs typeface="Times New Roman"/>
            </a:endParaRPr>
          </a:p>
          <a:p>
            <a:pPr>
              <a:lnSpc>
                <a:spcPct val="115000"/>
              </a:lnSpc>
              <a:spcAft>
                <a:spcPts val="1000"/>
              </a:spcAft>
            </a:pPr>
            <a:r>
              <a:rPr lang="en-CA" sz="1000" dirty="0">
                <a:solidFill>
                  <a:srgbClr val="000000"/>
                </a:solidFill>
                <a:latin typeface="Arial"/>
                <a:ea typeface="Calibri"/>
                <a:cs typeface="Segoe UI"/>
              </a:rPr>
              <a:t>If they have adopted cloud services in their organizations, ask how they have integrated cloud services into information technology infrastructure. If they have not, ask if and how they are planning to utilize cloud services in the future.</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Which type of cloud would you use to deploy a custom virtual machine running Windows Server 2012?</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would deploy a custom virtual machine to an IaaS cloud, which could be either a public cloud or a private cloud.</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849491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Describe for students in what type of environment they would deploy each edition, and why they should not use the Windows Server 2012 Standard edition as a “one size fits all” solution.</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2190053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Inform students that they can run remote administration tools from client computers that are running appropriate editions of the Windows</a:t>
            </a:r>
            <a:r>
              <a:rPr lang="en-CA" sz="1000" baseline="30000" dirty="0">
                <a:latin typeface="Arial"/>
                <a:ea typeface="Calibri"/>
                <a:cs typeface="Segoe UI"/>
              </a:rPr>
              <a:t>®</a:t>
            </a:r>
            <a:r>
              <a:rPr lang="en-CA" sz="1000" dirty="0">
                <a:latin typeface="Arial"/>
                <a:ea typeface="Calibri"/>
                <a:cs typeface="Segoe UI"/>
              </a:rPr>
              <a:t> 7 and Windows 8 operating systems.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1379075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Ask students about roles that are commonly deployed on their network. Ask which roles they deploy often, and which roles they are unlikely to deploy.</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Which roles are often co‑located on the same server?</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Answers may vary. Domain Name System (DNS) and Active Directory</a:t>
            </a:r>
            <a:r>
              <a:rPr lang="en-CA" sz="1000" baseline="30000" dirty="0">
                <a:latin typeface="Arial"/>
                <a:ea typeface="Calibri"/>
                <a:cs typeface="Segoe UI"/>
              </a:rPr>
              <a:t>®</a:t>
            </a:r>
            <a:r>
              <a:rPr lang="en-CA" sz="1000" dirty="0">
                <a:latin typeface="Arial"/>
                <a:ea typeface="Calibri"/>
                <a:cs typeface="Segoe UI"/>
              </a:rPr>
              <a:t> Domain Services (AD DS) are often co‑located.</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1326515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Choose several features to point out and discuss. For example, point out that you need to install the Wireless local area network (LAN) Service to use a wireless adapter with Windows Server 2012. Also point out that by default no roles and features are installed.</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Which feature do you need to install to support NetBIOS name resolution for client computers running a Microsoft Windows NT</a:t>
            </a:r>
            <a:r>
              <a:rPr lang="en-CA" sz="1000" baseline="30000" dirty="0">
                <a:latin typeface="Arial"/>
                <a:ea typeface="Calibri"/>
                <a:cs typeface="Segoe UI"/>
              </a:rPr>
              <a:t>®</a:t>
            </a:r>
            <a:r>
              <a:rPr lang="en-CA" sz="1000" dirty="0">
                <a:latin typeface="Arial"/>
                <a:ea typeface="Calibri"/>
                <a:cs typeface="Segoe UI"/>
              </a:rPr>
              <a:t> 4.0 operating system workstation?</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need to install the Windows Internet Name Service (WINS) server role to support NetBIOS name resolution.</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3716868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Briefly present the lesson content.</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2094883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Demonstrate different Server Manager windows to illustrate the bulleted points on the slide.</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17680647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Describe each administrative tool and its function.</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10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999679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Ask students how often they perform server management when they are signed in locally using a keyboard and mouse, compared to how often they perform remote server management.</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Ask students which management technologies they use most frequently. Ask them what the benefits and drawbacks are of these technologies.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11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599133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 </a:t>
            </a:r>
          </a:p>
        </p:txBody>
      </p:sp>
      <p:sp>
        <p:nvSpPr>
          <p:cNvPr id="4" name="Slide Number Placeholder 3"/>
          <p:cNvSpPr>
            <a:spLocks noGrp="1"/>
          </p:cNvSpPr>
          <p:nvPr>
            <p:ph type="sldNum" sz="quarter" idx="10"/>
          </p:nvPr>
        </p:nvSpPr>
        <p:spPr/>
        <p:txBody>
          <a:bodyPr/>
          <a:lstStyle/>
          <a:p>
            <a:fld id="{2D9920D8-7138-493A-9F79-EC5FE439D321}" type="slidenum">
              <a:rPr lang="en-CA" smtClean="0"/>
              <a:pPr/>
              <a:t>12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1009491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Ask students which deployment method they most frequently use in their organization. Answer is likely to differ between clients and servers. Ask them if they have already deployed Windows Server 2012, and if so, what method they used for this deployment.</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What is another method that you can use to deploy Windows Server 2012?</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can also configure Windows Server 2012 to boot to either a .vhd or a .vhdx file. Deployment involves copying the .vhd file to a computer, either from a network share or from local media.</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13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3818322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 </a:t>
            </a:r>
          </a:p>
        </p:txBody>
      </p:sp>
      <p:sp>
        <p:nvSpPr>
          <p:cNvPr id="4" name="Slide Number Placeholder 3"/>
          <p:cNvSpPr>
            <a:spLocks noGrp="1"/>
          </p:cNvSpPr>
          <p:nvPr>
            <p:ph type="sldNum" sz="quarter" idx="10"/>
          </p:nvPr>
        </p:nvSpPr>
        <p:spPr/>
        <p:txBody>
          <a:bodyPr/>
          <a:lstStyle/>
          <a:p>
            <a:fld id="{2D9920D8-7138-493A-9F79-EC5FE439D321}" type="slidenum">
              <a:rPr lang="en-CA" smtClean="0"/>
              <a:pPr/>
              <a:t>14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1177538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Remind students that the minimum hardware requirements are for the operating system itself, and do not include any applications that they might want to deploy on the operating system. Hardware requirements also vary depending on the server role. For example, a SQL Server database server requires a more powerful processor and more RAM than a server that functions as a file server.</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Why does a server need more hard disk drive space if it has more than 16 GB of RAM?</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A server needs more hard disk drive space because it requires additional hard disk space for virtual memory.</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15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3856266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lvl="0" eaLnBrk="0" fontAlgn="base" hangingPunct="0">
              <a:spcBef>
                <a:spcPct val="0"/>
              </a:spcBef>
              <a:spcAft>
                <a:spcPct val="60000"/>
              </a:spcAft>
            </a:pPr>
            <a:r>
              <a:rPr lang="en-US" sz="1000" dirty="0">
                <a:solidFill>
                  <a:srgbClr val="000000"/>
                </a:solidFill>
                <a:latin typeface="Arial" charset="0"/>
              </a:rPr>
              <a:t>This is an animated build slide with seven screens. The first screen is present at slide load. Click six times to see the remaining six screens. The screens are:</a:t>
            </a:r>
          </a:p>
          <a:p>
            <a:pPr marL="228600" lvl="0" indent="-228600" eaLnBrk="0" fontAlgn="base" hangingPunct="0">
              <a:spcBef>
                <a:spcPct val="0"/>
              </a:spcBef>
              <a:spcAft>
                <a:spcPct val="60000"/>
              </a:spcAft>
              <a:buFont typeface="+mj-lt"/>
              <a:buAutoNum type="arabicPeriod"/>
            </a:pPr>
            <a:r>
              <a:rPr lang="en-US" sz="1000" dirty="0">
                <a:solidFill>
                  <a:srgbClr val="000000"/>
                </a:solidFill>
                <a:latin typeface="Arial" charset="0"/>
              </a:rPr>
              <a:t>Screen </a:t>
            </a:r>
            <a:r>
              <a:rPr lang="en-US" sz="1000" dirty="0" smtClean="0">
                <a:solidFill>
                  <a:srgbClr val="000000"/>
                </a:solidFill>
                <a:latin typeface="Arial" charset="0"/>
              </a:rPr>
              <a:t>1 (present at slide load): </a:t>
            </a:r>
            <a:r>
              <a:rPr lang="en-US" sz="1000" dirty="0">
                <a:solidFill>
                  <a:srgbClr val="000000"/>
                </a:solidFill>
                <a:latin typeface="Arial" charset="0"/>
              </a:rPr>
              <a:t>Choose installation language, currency format, time format, and keyboard input method.</a:t>
            </a:r>
          </a:p>
          <a:p>
            <a:pPr marL="228600" lvl="0" indent="-228600" eaLnBrk="0" fontAlgn="base" hangingPunct="0">
              <a:spcBef>
                <a:spcPct val="0"/>
              </a:spcBef>
              <a:spcAft>
                <a:spcPct val="60000"/>
              </a:spcAft>
              <a:buFont typeface="+mj-lt"/>
              <a:buAutoNum type="arabicPeriod"/>
            </a:pPr>
            <a:r>
              <a:rPr lang="en-US" sz="1000" dirty="0">
                <a:solidFill>
                  <a:srgbClr val="000000"/>
                </a:solidFill>
                <a:latin typeface="Arial" charset="0"/>
              </a:rPr>
              <a:t>Screen 2: Click Install Now or choose to repair your computer.</a:t>
            </a:r>
          </a:p>
          <a:p>
            <a:pPr marL="228600" lvl="0" indent="-228600" eaLnBrk="0" fontAlgn="base" hangingPunct="0">
              <a:spcBef>
                <a:spcPct val="0"/>
              </a:spcBef>
              <a:spcAft>
                <a:spcPct val="60000"/>
              </a:spcAft>
              <a:buFont typeface="+mj-lt"/>
              <a:buAutoNum type="arabicPeriod"/>
            </a:pPr>
            <a:r>
              <a:rPr lang="en-US" sz="1000" dirty="0">
                <a:solidFill>
                  <a:srgbClr val="000000"/>
                </a:solidFill>
                <a:latin typeface="Arial" charset="0"/>
              </a:rPr>
              <a:t>Screen 3: Select the operating system you want to install.</a:t>
            </a:r>
          </a:p>
          <a:p>
            <a:pPr marL="228600" lvl="0" indent="-228600" eaLnBrk="0" fontAlgn="base" hangingPunct="0">
              <a:spcBef>
                <a:spcPct val="0"/>
              </a:spcBef>
              <a:spcAft>
                <a:spcPct val="60000"/>
              </a:spcAft>
              <a:buFont typeface="+mj-lt"/>
              <a:buAutoNum type="arabicPeriod"/>
            </a:pPr>
            <a:r>
              <a:rPr lang="en-US" sz="1000" dirty="0">
                <a:solidFill>
                  <a:srgbClr val="000000"/>
                </a:solidFill>
                <a:latin typeface="Arial" charset="0"/>
              </a:rPr>
              <a:t>Screen 4: Review and accept the license terms.</a:t>
            </a:r>
          </a:p>
          <a:p>
            <a:pPr marL="228600" lvl="0" indent="-228600" eaLnBrk="0" fontAlgn="base" hangingPunct="0">
              <a:spcBef>
                <a:spcPct val="0"/>
              </a:spcBef>
              <a:spcAft>
                <a:spcPct val="60000"/>
              </a:spcAft>
              <a:buFont typeface="+mj-lt"/>
              <a:buAutoNum type="arabicPeriod"/>
            </a:pPr>
            <a:r>
              <a:rPr lang="en-US" sz="1000" dirty="0">
                <a:solidFill>
                  <a:srgbClr val="000000"/>
                </a:solidFill>
                <a:latin typeface="Arial" charset="0"/>
              </a:rPr>
              <a:t>Screen 5: Select the installation type, Upgrade or Custom.</a:t>
            </a:r>
          </a:p>
          <a:p>
            <a:pPr marL="228600" lvl="0" indent="-228600" eaLnBrk="0" fontAlgn="base" hangingPunct="0">
              <a:spcBef>
                <a:spcPct val="0"/>
              </a:spcBef>
              <a:spcAft>
                <a:spcPct val="60000"/>
              </a:spcAft>
              <a:buFont typeface="+mj-lt"/>
              <a:buAutoNum type="arabicPeriod"/>
            </a:pPr>
            <a:r>
              <a:rPr lang="en-US" sz="1000" dirty="0">
                <a:solidFill>
                  <a:srgbClr val="000000"/>
                </a:solidFill>
                <a:latin typeface="Arial" charset="0"/>
              </a:rPr>
              <a:t>Screen 6: Select the installation location.</a:t>
            </a:r>
          </a:p>
          <a:p>
            <a:pPr marL="228600" lvl="0" indent="-228600" eaLnBrk="0" fontAlgn="base" hangingPunct="0">
              <a:spcBef>
                <a:spcPct val="0"/>
              </a:spcBef>
              <a:spcAft>
                <a:spcPct val="60000"/>
              </a:spcAft>
              <a:buFont typeface="+mj-lt"/>
              <a:buAutoNum type="arabicPeriod"/>
            </a:pPr>
            <a:r>
              <a:rPr lang="en-US" sz="1000" dirty="0">
                <a:solidFill>
                  <a:srgbClr val="000000"/>
                </a:solidFill>
                <a:latin typeface="Arial" charset="0"/>
              </a:rPr>
              <a:t>Screen 7: Provide the password for the local administrator account.</a:t>
            </a:r>
          </a:p>
          <a:p>
            <a:pPr>
              <a:lnSpc>
                <a:spcPct val="115000"/>
              </a:lnSpc>
              <a:spcAft>
                <a:spcPts val="1000"/>
              </a:spcAft>
            </a:pPr>
            <a:endParaRPr lang="en-CA" sz="1000" dirty="0" smtClean="0">
              <a:latin typeface="Arial"/>
              <a:ea typeface="Calibri"/>
              <a:cs typeface="Segoe UI"/>
            </a:endParaRPr>
          </a:p>
          <a:p>
            <a:pPr>
              <a:lnSpc>
                <a:spcPct val="115000"/>
              </a:lnSpc>
              <a:spcAft>
                <a:spcPts val="1000"/>
              </a:spcAft>
            </a:pPr>
            <a:r>
              <a:rPr lang="en-CA" sz="1000" dirty="0" smtClean="0">
                <a:latin typeface="Arial"/>
                <a:ea typeface="Calibri"/>
                <a:cs typeface="Segoe UI"/>
              </a:rPr>
              <a:t>Use </a:t>
            </a:r>
            <a:r>
              <a:rPr lang="en-CA" sz="1000" dirty="0">
                <a:latin typeface="Arial"/>
                <a:ea typeface="Calibri"/>
                <a:cs typeface="Segoe UI"/>
              </a:rPr>
              <a:t>this animated slide to demonstrate each part of the Windows Server 2012 installation process.</a:t>
            </a:r>
            <a:endParaRPr lang="en-CA" sz="1000" dirty="0">
              <a:latin typeface="Arial"/>
              <a:ea typeface="Calibri"/>
              <a:cs typeface="Times New Roman"/>
            </a:endParaRPr>
          </a:p>
          <a:p>
            <a:pPr marL="342900" marR="0" lvl="0" indent="-342900">
              <a:lnSpc>
                <a:spcPct val="115000"/>
              </a:lnSpc>
              <a:spcBef>
                <a:spcPts val="0"/>
              </a:spcBef>
              <a:spcAft>
                <a:spcPts val="995"/>
              </a:spcAft>
              <a:buFont typeface="Symbol"/>
              <a:buChar char=""/>
            </a:pPr>
            <a:r>
              <a:rPr lang="en-US" sz="1000" dirty="0" smtClean="0">
                <a:effectLst/>
                <a:latin typeface="Arial"/>
                <a:ea typeface="Times New Roman"/>
                <a:cs typeface="Segoe UI"/>
              </a:rPr>
              <a:t>Reinforce that only a small number of choices are required to deploy Windows Server 2012. </a:t>
            </a:r>
            <a:endParaRPr lang="en-CA" sz="1000" dirty="0" smtClean="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en-US" sz="1000" dirty="0" smtClean="0">
                <a:effectLst/>
                <a:latin typeface="Arial"/>
                <a:ea typeface="Times New Roman"/>
                <a:cs typeface="Segoe UI"/>
              </a:rPr>
              <a:t>Remind students that in almost all cases, they will use the Custom rather than the Upgrade installation option. </a:t>
            </a:r>
            <a:endParaRPr lang="en-CA" sz="1000" dirty="0" smtClean="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en-US" sz="1000" dirty="0" smtClean="0">
                <a:effectLst/>
                <a:latin typeface="Arial"/>
                <a:ea typeface="Times New Roman"/>
                <a:cs typeface="Segoe UI"/>
              </a:rPr>
              <a:t>Remind them that upgrades must be launched from within the Windows Server operating system, but that they can launch a fresh installation from bootable media.</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16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3147228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 </a:t>
            </a:r>
          </a:p>
        </p:txBody>
      </p:sp>
      <p:sp>
        <p:nvSpPr>
          <p:cNvPr id="4" name="Slide Number Placeholder 3"/>
          <p:cNvSpPr>
            <a:spLocks noGrp="1"/>
          </p:cNvSpPr>
          <p:nvPr>
            <p:ph type="sldNum" sz="quarter" idx="10"/>
          </p:nvPr>
        </p:nvSpPr>
        <p:spPr/>
        <p:txBody>
          <a:bodyPr/>
          <a:lstStyle/>
          <a:p>
            <a:fld id="{2D9920D8-7138-493A-9F79-EC5FE439D321}" type="slidenum">
              <a:rPr lang="en-CA" smtClean="0"/>
              <a:pPr/>
              <a:t>17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38821879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Use this animated slide to discuss the properties outlined on the slide. </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Click once for each of the following </a:t>
            </a:r>
            <a:r>
              <a:rPr lang="en-CA" sz="1000" dirty="0" smtClean="0">
                <a:latin typeface="Arial"/>
                <a:ea typeface="Calibri"/>
                <a:cs typeface="Segoe UI"/>
              </a:rPr>
              <a:t>properties (seven</a:t>
            </a:r>
            <a:r>
              <a:rPr lang="en-CA" sz="1000" baseline="0" dirty="0" smtClean="0">
                <a:latin typeface="Arial"/>
                <a:ea typeface="Calibri"/>
                <a:cs typeface="Segoe UI"/>
              </a:rPr>
              <a:t> times total)</a:t>
            </a:r>
            <a:r>
              <a:rPr lang="en-CA" sz="1000" dirty="0" smtClean="0">
                <a:latin typeface="Arial"/>
                <a:ea typeface="Calibri"/>
                <a:cs typeface="Segoe UI"/>
              </a:rPr>
              <a:t>, </a:t>
            </a:r>
            <a:r>
              <a:rPr lang="en-CA" sz="1000" dirty="0">
                <a:latin typeface="Arial"/>
                <a:ea typeface="Calibri"/>
                <a:cs typeface="Segoe UI"/>
              </a:rPr>
              <a:t>which appear in this order:</a:t>
            </a:r>
            <a:endParaRPr lang="en-CA" sz="1000" dirty="0">
              <a:latin typeface="Arial"/>
              <a:ea typeface="Calibri"/>
              <a:cs typeface="Times New Roman"/>
            </a:endParaRPr>
          </a:p>
          <a:p>
            <a:pPr marL="342900" marR="0" lvl="0" indent="-342900">
              <a:lnSpc>
                <a:spcPct val="115000"/>
              </a:lnSpc>
              <a:spcBef>
                <a:spcPts val="0"/>
              </a:spcBef>
              <a:spcAft>
                <a:spcPts val="995"/>
              </a:spcAft>
              <a:buFont typeface="+mj-lt"/>
              <a:buAutoNum type="arabicPeriod"/>
            </a:pPr>
            <a:r>
              <a:rPr lang="en-US" sz="1000" dirty="0" smtClean="0">
                <a:effectLst/>
                <a:latin typeface="Arial"/>
                <a:ea typeface="Times New Roman"/>
                <a:cs typeface="Segoe UI"/>
              </a:rPr>
              <a:t>Computer name</a:t>
            </a:r>
            <a:endParaRPr lang="en-CA" sz="1000" dirty="0" smtClean="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smtClean="0">
                <a:effectLst/>
                <a:latin typeface="Arial"/>
                <a:ea typeface="Times New Roman"/>
                <a:cs typeface="Segoe UI"/>
              </a:rPr>
              <a:t>Domain</a:t>
            </a:r>
            <a:endParaRPr lang="en-CA" sz="1000" dirty="0" smtClean="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smtClean="0">
                <a:effectLst/>
                <a:latin typeface="Arial"/>
                <a:ea typeface="Times New Roman"/>
                <a:cs typeface="Segoe UI"/>
              </a:rPr>
              <a:t>Windows Firewall</a:t>
            </a:r>
            <a:endParaRPr lang="en-CA" sz="1000" dirty="0" smtClean="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smtClean="0">
                <a:effectLst/>
                <a:latin typeface="Arial"/>
                <a:ea typeface="Times New Roman"/>
                <a:cs typeface="Segoe UI"/>
              </a:rPr>
              <a:t>Remote Desktop</a:t>
            </a:r>
            <a:endParaRPr lang="en-CA" sz="1000" dirty="0" smtClean="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smtClean="0">
                <a:effectLst/>
                <a:latin typeface="Arial"/>
                <a:ea typeface="Times New Roman"/>
                <a:cs typeface="Segoe UI"/>
              </a:rPr>
              <a:t>Local Area Connection</a:t>
            </a:r>
            <a:endParaRPr lang="en-CA" sz="1000" dirty="0" smtClean="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smtClean="0">
                <a:effectLst/>
                <a:latin typeface="Arial"/>
                <a:ea typeface="Times New Roman"/>
                <a:cs typeface="Segoe UI"/>
              </a:rPr>
              <a:t>(all three together) Last installed updates, Windows Update, Last checked for updates</a:t>
            </a:r>
            <a:endParaRPr lang="en-CA" sz="1000" dirty="0" smtClean="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smtClean="0">
                <a:effectLst/>
                <a:latin typeface="Arial"/>
                <a:ea typeface="Times New Roman"/>
                <a:cs typeface="Segoe UI"/>
              </a:rPr>
              <a:t>Time zone</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18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33783922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Refer to slide that shows a screen capture of the local server node for the Server Manager console. In the local server node, the Local Area Connection and IP address display. Also note that the Network adapter teaming status displays.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19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21770983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Display the </a:t>
            </a:r>
            <a:r>
              <a:rPr lang="en-CA" sz="1000" b="1" dirty="0">
                <a:latin typeface="Arial"/>
                <a:ea typeface="Calibri"/>
                <a:cs typeface="Times New Roman"/>
              </a:rPr>
              <a:t>Computer Name/Domain Changes</a:t>
            </a:r>
            <a:r>
              <a:rPr lang="en-CA" sz="1000" dirty="0">
                <a:latin typeface="Arial"/>
                <a:ea typeface="Calibri"/>
                <a:cs typeface="Segoe UI"/>
              </a:rPr>
              <a:t> dialog box, and review the list of information necessary for domain join.</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20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18900289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Discuss the scenarios for offline domain join. Ask students how they might utilize this feature in their own environments. Students from organizations that do not have branch offices will find this feature less useful than students from organizations that have remote branches.</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In what situation would you perform an offline domain join rather than a traditional domain join?</a:t>
            </a:r>
            <a:endParaRPr lang="en-CA" sz="1000" dirty="0">
              <a:latin typeface="Arial"/>
              <a:ea typeface="Calibri"/>
              <a:cs typeface="Times New Roman"/>
            </a:endParaRPr>
          </a:p>
          <a:p>
            <a:pPr>
              <a:lnSpc>
                <a:spcPct val="115000"/>
              </a:lnSpc>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would you perform an offline domain join when deploying a server to a remote site with intermittent network connectivity.</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21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27079712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D</a:t>
            </a:r>
            <a:r>
              <a:rPr lang="en-CA" sz="1000" dirty="0">
                <a:solidFill>
                  <a:srgbClr val="000000"/>
                </a:solidFill>
                <a:latin typeface="Arial"/>
                <a:ea typeface="Calibri"/>
                <a:cs typeface="Segoe UI"/>
              </a:rPr>
              <a:t>iscuss the traditional activation process. Ask students about the last time they performed a telephone activation. Ask students if they have ever had any problems with activation, and how they resolved the problem. Ask students if they use any automatic activation technologies in their environment.</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22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5231653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Discuss with students the functionality of sconfig.cmd. </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Sconfig is a menu‑driven command‑line tool that presents menu options in a numerical format. Administrators can run commands and perform configurations based on the numbered menu options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This tool simplifies the process of performing common basic administrative tasks on Server Core, something that was a problem for many administrators with the version of Server Core that was available with Windows Server 2008.</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23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41164326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24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3255220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 </a:t>
            </a:r>
            <a:r>
              <a:rPr lang="en-US" sz="1200" b="0" i="0" kern="1200" dirty="0" smtClean="0">
                <a:solidFill>
                  <a:schemeClr val="tx1"/>
                </a:solidFill>
                <a:effectLst/>
                <a:latin typeface="+mn-lt"/>
                <a:ea typeface="+mn-ea"/>
                <a:cs typeface="+mn-cs"/>
              </a:rPr>
              <a:t>A cmdlet or "Command let" is a lightweight command used in the Windows PowerShell environment. </a:t>
            </a:r>
          </a:p>
          <a:p>
            <a:r>
              <a:rPr lang="en-US" sz="1200" b="0" i="0" kern="1200" dirty="0" smtClean="0">
                <a:solidFill>
                  <a:schemeClr val="tx1"/>
                </a:solidFill>
                <a:effectLst/>
                <a:latin typeface="+mn-lt"/>
                <a:ea typeface="+mn-ea"/>
                <a:cs typeface="+mn-cs"/>
              </a:rPr>
              <a:t>The Windows PowerShell runtime invokes these cmdlets at command prompt. </a:t>
            </a:r>
          </a:p>
          <a:p>
            <a:endParaRPr lang="en-US" sz="1200" b="0" i="0" kern="1200" dirty="0" smtClean="0">
              <a:solidFill>
                <a:schemeClr val="tx1"/>
              </a:solidFill>
              <a:effectLst/>
              <a:latin typeface="+mn-lt"/>
              <a:ea typeface="+mn-ea"/>
              <a:cs typeface="+mn-cs"/>
            </a:endParaRPr>
          </a:p>
          <a:p>
            <a:r>
              <a:rPr lang="en-US" dirty="0" smtClean="0"/>
              <a:t>Windows PowerShell is a </a:t>
            </a:r>
            <a:r>
              <a:rPr lang="en-US" b="1" dirty="0" smtClean="0"/>
              <a:t>command-line shell</a:t>
            </a:r>
            <a:r>
              <a:rPr lang="en-US" dirty="0" smtClean="0"/>
              <a:t> and </a:t>
            </a:r>
            <a:r>
              <a:rPr lang="en-US" b="1" dirty="0" smtClean="0"/>
              <a:t>scripting language</a:t>
            </a:r>
            <a:r>
              <a:rPr lang="en-US" dirty="0" smtClean="0"/>
              <a:t> designed especially for system administration. Its analogue in Linux is called as Bash Scripting. Built on the .NET Framework, Windows PowerShell helps IT professionals to control and automate the administration of the Windows operating system and applications that run on Windows Server environment.</a:t>
            </a:r>
          </a:p>
          <a:p>
            <a:endParaRPr lang="en-US" dirty="0" smtClean="0"/>
          </a:p>
          <a:p>
            <a:r>
              <a:rPr lang="en-US" dirty="0" smtClean="0"/>
              <a:t>Windows PowerShell commands, called </a:t>
            </a:r>
            <a:r>
              <a:rPr lang="en-US" b="1" dirty="0" smtClean="0"/>
              <a:t>cmdlets</a:t>
            </a:r>
            <a:r>
              <a:rPr lang="en-US" dirty="0" smtClean="0"/>
              <a:t>, let you manage the computers from the command line. Windows PowerShell providers let you access data stores, such as the Registry and Certificate Store, as easily as you access the file system.</a:t>
            </a:r>
          </a:p>
          <a:p>
            <a:r>
              <a:rPr lang="en-US" dirty="0" smtClean="0"/>
              <a:t>In addition, Windows PowerShell has a rich expression parser and a fully developed scripting language. So in simple words you can complete all the tasks that you do with GUI and much more.</a:t>
            </a:r>
          </a:p>
          <a:p>
            <a:pPr>
              <a:lnSpc>
                <a:spcPct val="115000"/>
              </a:lnSpc>
              <a:spcAft>
                <a:spcPts val="1000"/>
              </a:spcAft>
            </a:pPr>
            <a:endParaRPr lang="en-US" sz="12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25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19854725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When discussing Windows PowerShell, remind students that they should consider automating repetitive tasks because it gives them more time to perform non‑repetitive tasks. Students should try to automate any task that they need to perform more than a few times</a:t>
            </a:r>
            <a:r>
              <a:rPr lang="en-CA" sz="1000" dirty="0" smtClean="0">
                <a:latin typeface="Arial"/>
                <a:ea typeface="Calibri"/>
                <a:cs typeface="Segoe UI"/>
              </a:rPr>
              <a:t>.</a:t>
            </a:r>
          </a:p>
          <a:p>
            <a:pPr>
              <a:lnSpc>
                <a:spcPct val="115000"/>
              </a:lnSpc>
              <a:spcAft>
                <a:spcPts val="1000"/>
              </a:spcAft>
            </a:pPr>
            <a:endParaRPr lang="en-CA" sz="1000" dirty="0" smtClean="0">
              <a:latin typeface="Arial"/>
              <a:ea typeface="Calibri"/>
              <a:cs typeface="Segoe UI"/>
            </a:endParaRPr>
          </a:p>
          <a:p>
            <a:r>
              <a:rPr lang="en-US" sz="1200" b="0" i="0" kern="1200" dirty="0" smtClean="0">
                <a:solidFill>
                  <a:schemeClr val="tx1"/>
                </a:solidFill>
                <a:effectLst/>
                <a:latin typeface="+mn-lt"/>
                <a:ea typeface="+mn-ea"/>
                <a:cs typeface="+mn-cs"/>
              </a:rPr>
              <a:t>Getting Help</a:t>
            </a:r>
          </a:p>
          <a:p>
            <a:r>
              <a:rPr lang="en-US" sz="1200" b="0" i="0" kern="1200" dirty="0" smtClean="0">
                <a:solidFill>
                  <a:schemeClr val="tx1"/>
                </a:solidFill>
                <a:effectLst/>
                <a:latin typeface="+mn-lt"/>
                <a:ea typeface="+mn-ea"/>
                <a:cs typeface="+mn-cs"/>
              </a:rPr>
              <a:t>The first step is to go to the Get-Help command which gives you an explanation about how to give a command and its parameter.</a:t>
            </a:r>
          </a:p>
          <a:p>
            <a:r>
              <a:rPr lang="en-US" sz="1000" dirty="0" smtClean="0"/>
              <a:t/>
            </a:r>
            <a:br>
              <a:rPr lang="en-US" sz="1000" dirty="0" smtClean="0"/>
            </a:b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26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8477950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Discuss these common systems administration cmdlets. Discuss how these cmdlets can be used on both Server Core and full GUI servers, and that they are often quicker to use than opening the Services console, Task Manager, or the Add Roles and Features wizard. </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D9920D8-7138-493A-9F79-EC5FE439D321}" type="slidenum">
              <a:rPr lang="en-CA" smtClean="0"/>
              <a:pPr/>
              <a:t>28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20410B</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 Deploying and Managing Windows Server 2012</a:t>
            </a:r>
            <a:endParaRPr lang="en-CA" sz="1200" b="1" dirty="0">
              <a:solidFill>
                <a:srgbClr val="336699"/>
              </a:solidFill>
              <a:latin typeface="Arial"/>
            </a:endParaRPr>
          </a:p>
        </p:txBody>
      </p:sp>
    </p:spTree>
    <p:extLst>
      <p:ext uri="{BB962C8B-B14F-4D97-AF65-F5344CB8AC3E}">
        <p14:creationId xmlns:p14="http://schemas.microsoft.com/office/powerpoint/2010/main" val="154447011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81199" y="-2"/>
            <a:ext cx="6324601" cy="740664"/>
          </a:xfrm>
        </p:spPr>
        <p:txBody>
          <a:bodyPr/>
          <a:lstStyle>
            <a:lvl1pPr algn="ctr">
              <a:defRPr sz="2400">
                <a:solidFill>
                  <a:schemeClr val="tx1"/>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825789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5132" y="2059012"/>
            <a:ext cx="9146751"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74319" y="2166365"/>
            <a:ext cx="8603674" cy="1739347"/>
          </a:xfrm>
        </p:spPr>
        <p:txBody>
          <a:bodyPr tIns="45720" bIns="45720" anchor="ctr">
            <a:normAutofit/>
          </a:bodyPr>
          <a:lstStyle>
            <a:lvl1pPr algn="ctr">
              <a:lnSpc>
                <a:spcPct val="80000"/>
              </a:lnSpc>
              <a:defRPr sz="6000" spc="0" baseline="0"/>
            </a:lvl1pPr>
          </a:lstStyle>
          <a:p>
            <a:r>
              <a:rPr lang="en-US" smtClean="0"/>
              <a:t>Click to edit Master title style</a:t>
            </a:r>
            <a:endParaRPr lang="en-US" dirty="0"/>
          </a:p>
        </p:txBody>
      </p:sp>
      <p:sp>
        <p:nvSpPr>
          <p:cNvPr id="3" name="Subtitle 2"/>
          <p:cNvSpPr>
            <a:spLocks noGrp="1"/>
          </p:cNvSpPr>
          <p:nvPr>
            <p:ph type="subTitle" idx="1"/>
          </p:nvPr>
        </p:nvSpPr>
        <p:spPr>
          <a:xfrm>
            <a:off x="1143000" y="3970315"/>
            <a:ext cx="6858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905113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smtClean="0"/>
              <a:t>9/9/2020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20998696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5132" y="2059012"/>
            <a:ext cx="9146751"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24893" y="2208879"/>
            <a:ext cx="7886700" cy="1676400"/>
          </a:xfrm>
        </p:spPr>
        <p:txBody>
          <a:bodyPr anchor="ctr">
            <a:noAutofit/>
          </a:bodyPr>
          <a:lstStyle>
            <a:lvl1pPr algn="ctr">
              <a:lnSpc>
                <a:spcPct val="80000"/>
              </a:lnSpc>
              <a:defRPr sz="6000" b="0" spc="0" baseline="0">
                <a:solidFill>
                  <a:schemeClr val="bg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24893" y="3984400"/>
            <a:ext cx="78867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9/9/2020</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71236184"/>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797" y="2011680"/>
            <a:ext cx="365760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00600" y="2011680"/>
            <a:ext cx="365760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9/9/2020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34128941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85800" y="1913470"/>
            <a:ext cx="3657600" cy="743094"/>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0" y="2656566"/>
            <a:ext cx="365760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800428" y="1913470"/>
            <a:ext cx="3657600" cy="743094"/>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800428" y="2656564"/>
            <a:ext cx="365760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939123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129303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39910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685800" y="2148840"/>
            <a:ext cx="4572000" cy="38404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892568" y="2147487"/>
            <a:ext cx="2560320" cy="3432319"/>
          </a:xfrm>
        </p:spPr>
        <p:txBody>
          <a:bodyPr>
            <a:normAutofit/>
          </a:bodyPr>
          <a:lstStyle>
            <a:lvl1pPr marL="0" indent="0">
              <a:lnSpc>
                <a:spcPct val="95000"/>
              </a:lnSpc>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9/9/2020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118034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5800" y="2211494"/>
            <a:ext cx="4754880" cy="384048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5885351" y="2150621"/>
            <a:ext cx="2560320" cy="3429000"/>
          </a:xfrm>
        </p:spPr>
        <p:txBody>
          <a:bodyPr>
            <a:normAutofit/>
          </a:bodyPr>
          <a:lstStyle>
            <a:lvl1pPr marL="0" indent="0">
              <a:lnSpc>
                <a:spcPct val="95000"/>
              </a:lnSpc>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9/9/2020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75071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4839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6764484" y="0"/>
            <a:ext cx="20574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870468" y="609600"/>
            <a:ext cx="1801785"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609600"/>
            <a:ext cx="5979968" cy="5638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28650" y="6422855"/>
            <a:ext cx="2057397" cy="365125"/>
          </a:xfrm>
        </p:spPr>
        <p:txBody>
          <a:bodyPr/>
          <a:lstStyle/>
          <a:p>
            <a:fld id="{B61BEF0D-F0BB-DE4B-95CE-6DB70DBA9567}" type="datetimeFigureOut">
              <a:rPr lang="en-US" smtClean="0"/>
              <a:pPr/>
              <a:t>9/9/2020</a:t>
            </a:fld>
            <a:endParaRPr lang="en-US" dirty="0"/>
          </a:p>
        </p:txBody>
      </p:sp>
      <p:sp>
        <p:nvSpPr>
          <p:cNvPr id="5" name="Footer Placeholder 4"/>
          <p:cNvSpPr>
            <a:spLocks noGrp="1"/>
          </p:cNvSpPr>
          <p:nvPr>
            <p:ph type="ftr" sz="quarter" idx="11"/>
          </p:nvPr>
        </p:nvSpPr>
        <p:spPr>
          <a:xfrm>
            <a:off x="2832102" y="6422855"/>
            <a:ext cx="3209752" cy="365125"/>
          </a:xfrm>
        </p:spPr>
        <p:txBody>
          <a:bodyPr/>
          <a:lstStyle/>
          <a:p>
            <a:endParaRPr lang="en-US" dirty="0"/>
          </a:p>
        </p:txBody>
      </p:sp>
      <p:sp>
        <p:nvSpPr>
          <p:cNvPr id="6" name="Slide Number Placeholder 5"/>
          <p:cNvSpPr>
            <a:spLocks noGrp="1"/>
          </p:cNvSpPr>
          <p:nvPr>
            <p:ph type="sldNum" sz="quarter" idx="12"/>
          </p:nvPr>
        </p:nvSpPr>
        <p:spPr>
          <a:xfrm>
            <a:off x="6054787" y="6422855"/>
            <a:ext cx="659819"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14422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732218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362" y="176109"/>
            <a:ext cx="9141714"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685019" y="284176"/>
            <a:ext cx="7772400" cy="15087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019" y="2011680"/>
            <a:ext cx="7772400" cy="420624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81557" y="6422855"/>
            <a:ext cx="2595043" cy="365125"/>
          </a:xfrm>
          <a:prstGeom prst="rect">
            <a:avLst/>
          </a:prstGeom>
        </p:spPr>
        <p:txBody>
          <a:bodyPr vert="horz" lIns="91440" tIns="45720" rIns="45720" bIns="45720" rtlCol="0" anchor="ctr"/>
          <a:lstStyle>
            <a:lvl1pPr algn="l">
              <a:defRPr sz="1050">
                <a:solidFill>
                  <a:schemeClr val="tx1"/>
                </a:solidFill>
              </a:defRPr>
            </a:lvl1pPr>
          </a:lstStyle>
          <a:p>
            <a:fld id="{96DFF08F-DC6B-4601-B491-B0F83F6DD2DA}" type="datetimeFigureOut">
              <a:rPr lang="en-US" dirty="0"/>
              <a:pPr/>
              <a:t>9/9/2020</a:t>
            </a:fld>
            <a:endParaRPr lang="en-US" dirty="0"/>
          </a:p>
        </p:txBody>
      </p:sp>
      <p:sp>
        <p:nvSpPr>
          <p:cNvPr id="5" name="Footer Placeholder 4"/>
          <p:cNvSpPr>
            <a:spLocks noGrp="1"/>
          </p:cNvSpPr>
          <p:nvPr>
            <p:ph type="ftr" sz="quarter" idx="3"/>
          </p:nvPr>
        </p:nvSpPr>
        <p:spPr>
          <a:xfrm>
            <a:off x="4191000" y="6422855"/>
            <a:ext cx="4060627" cy="365125"/>
          </a:xfrm>
          <a:prstGeom prst="rect">
            <a:avLst/>
          </a:prstGeom>
        </p:spPr>
        <p:txBody>
          <a:bodyPr vert="horz" lIns="91440" tIns="45720" rIns="91440" bIns="45720" rtlCol="0" anchor="ctr"/>
          <a:lstStyle>
            <a:lvl1pPr algn="r">
              <a:defRPr sz="1050">
                <a:solidFill>
                  <a:schemeClr val="tx1"/>
                </a:solidFill>
              </a:defRPr>
            </a:lvl1pPr>
          </a:lstStyle>
          <a:p>
            <a:endParaRPr lang="en-US" dirty="0"/>
          </a:p>
        </p:txBody>
      </p:sp>
      <p:sp>
        <p:nvSpPr>
          <p:cNvPr id="6" name="Slide Number Placeholder 5"/>
          <p:cNvSpPr>
            <a:spLocks noGrp="1"/>
          </p:cNvSpPr>
          <p:nvPr>
            <p:ph type="sldNum" sz="quarter" idx="4"/>
          </p:nvPr>
        </p:nvSpPr>
        <p:spPr>
          <a:xfrm>
            <a:off x="8265139" y="6422855"/>
            <a:ext cx="709698" cy="365125"/>
          </a:xfrm>
          <a:prstGeom prst="rect">
            <a:avLst/>
          </a:prstGeom>
        </p:spPr>
        <p:txBody>
          <a:bodyPr vert="horz" lIns="45720" tIns="45720" rIns="91440" bIns="45720" rtlCol="0" anchor="ctr"/>
          <a:lstStyle>
            <a:lvl1pPr algn="l">
              <a:defRPr sz="1200" b="0">
                <a:solidFill>
                  <a:schemeClr val="tx1"/>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3772036558"/>
      </p:ext>
    </p:extLst>
  </p:cSld>
  <p:clrMap bg1="dk1" tx1="lt1" bg2="dk2" tx2="lt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8.xml"/><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8.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8.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18.xml"/><Relationship Id="rId6" Type="http://schemas.openxmlformats.org/officeDocument/2006/relationships/image" Target="../media/image41.png"/><Relationship Id="rId5" Type="http://schemas.openxmlformats.org/officeDocument/2006/relationships/image" Target="../media/image40.jpe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ab9776ab-dc62-4cc6-aaac-66589787981c">
    <p:spTree>
      <p:nvGrpSpPr>
        <p:cNvPr id="1" name=""/>
        <p:cNvGrpSpPr/>
        <p:nvPr/>
      </p:nvGrpSpPr>
      <p:grpSpPr>
        <a:xfrm>
          <a:off x="0" y="0"/>
          <a:ext cx="0" cy="0"/>
          <a:chOff x="0" y="0"/>
          <a:chExt cx="0" cy="0"/>
        </a:xfrm>
      </p:grpSpPr>
      <p:sp>
        <p:nvSpPr>
          <p:cNvPr id="2" name="Title 1"/>
          <p:cNvSpPr>
            <a:spLocks noGrp="1"/>
          </p:cNvSpPr>
          <p:nvPr>
            <p:ph type="title"/>
          </p:nvPr>
        </p:nvSpPr>
        <p:spPr>
          <a:xfrm>
            <a:off x="1370818" y="762000"/>
            <a:ext cx="6400801" cy="740664"/>
          </a:xfrm>
        </p:spPr>
        <p:txBody>
          <a:bodyPr/>
          <a:lstStyle/>
          <a:p>
            <a:pPr algn="ctr"/>
            <a:r>
              <a:rPr lang="en-CA" sz="2400" dirty="0" smtClean="0">
                <a:solidFill>
                  <a:schemeClr val="tx1"/>
                </a:solidFill>
              </a:rPr>
              <a:t>Lesson 1: Windows Server 2012 Overview</a:t>
            </a:r>
            <a:endParaRPr lang="en-CA" sz="2400" dirty="0">
              <a:solidFill>
                <a:schemeClr val="tx1"/>
              </a:solidFill>
            </a:endParaRPr>
          </a:p>
        </p:txBody>
      </p:sp>
      <p:sp>
        <p:nvSpPr>
          <p:cNvPr id="3" name="Text Placeholder 2"/>
          <p:cNvSpPr>
            <a:spLocks noGrp="1"/>
          </p:cNvSpPr>
          <p:nvPr>
            <p:ph type="body" idx="1"/>
          </p:nvPr>
        </p:nvSpPr>
        <p:spPr/>
        <p:txBody>
          <a:bodyPr/>
          <a:lstStyle/>
          <a:p>
            <a:r>
              <a:rPr lang="en-CA" dirty="0" smtClean="0"/>
              <a:t>On-Premises Servers
What Is Cloud Computing?
Windows Server 2012 Editions
What Is Server Core?
Windows Server 2012 Roles
What Are the Windows Server 2012 Features?</a:t>
            </a:r>
            <a:endParaRPr lang="en-CA" dirty="0"/>
          </a:p>
        </p:txBody>
      </p:sp>
    </p:spTree>
    <p:extLst>
      <p:ext uri="{BB962C8B-B14F-4D97-AF65-F5344CB8AC3E}">
        <p14:creationId xmlns:p14="http://schemas.microsoft.com/office/powerpoint/2010/main" val="2935171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name="04010b67-e67f-482c-b3d9-76e0c28935d6">
    <p:spTree>
      <p:nvGrpSpPr>
        <p:cNvPr id="1" name=""/>
        <p:cNvGrpSpPr/>
        <p:nvPr/>
      </p:nvGrpSpPr>
      <p:grpSpPr>
        <a:xfrm>
          <a:off x="0" y="0"/>
          <a:ext cx="0" cy="0"/>
          <a:chOff x="0" y="0"/>
          <a:chExt cx="0" cy="0"/>
        </a:xfrm>
      </p:grpSpPr>
      <p:sp>
        <p:nvSpPr>
          <p:cNvPr id="2" name="Title 1"/>
          <p:cNvSpPr>
            <a:spLocks noGrp="1"/>
          </p:cNvSpPr>
          <p:nvPr>
            <p:ph type="title"/>
          </p:nvPr>
        </p:nvSpPr>
        <p:spPr>
          <a:xfrm>
            <a:off x="1981199" y="-2"/>
            <a:ext cx="6400801" cy="740664"/>
          </a:xfrm>
        </p:spPr>
        <p:txBody>
          <a:bodyPr/>
          <a:lstStyle/>
          <a:p>
            <a:pPr algn="ctr"/>
            <a:r>
              <a:rPr lang="en-CA" sz="2400" dirty="0" smtClean="0">
                <a:solidFill>
                  <a:schemeClr val="tx1"/>
                </a:solidFill>
              </a:rPr>
              <a:t>On-Premises Servers</a:t>
            </a:r>
            <a:endParaRPr lang="en-CA" sz="2400" dirty="0">
              <a:solidFill>
                <a:schemeClr val="tx1"/>
              </a:solidFill>
            </a:endParaRPr>
          </a:p>
        </p:txBody>
      </p:sp>
      <p:sp>
        <p:nvSpPr>
          <p:cNvPr id="4" name="TextBox 12"/>
          <p:cNvSpPr txBox="1"/>
          <p:nvPr/>
        </p:nvSpPr>
        <p:spPr>
          <a:xfrm>
            <a:off x="6782238" y="5121483"/>
            <a:ext cx="1728591" cy="461665"/>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dirty="0">
                <a:latin typeface="Segoe UI" pitchFamily="34" charset="0"/>
                <a:ea typeface="Segoe UI" pitchFamily="34" charset="0"/>
                <a:cs typeface="Segoe UI" pitchFamily="34" charset="0"/>
              </a:rPr>
              <a:t>C</a:t>
            </a:r>
            <a:r>
              <a:rPr lang="en-US" sz="2400" dirty="0" smtClean="0">
                <a:latin typeface="Segoe UI" pitchFamily="34" charset="0"/>
                <a:ea typeface="Segoe UI" pitchFamily="34" charset="0"/>
                <a:cs typeface="Segoe UI" pitchFamily="34" charset="0"/>
              </a:rPr>
              <a:t>lients</a:t>
            </a:r>
            <a:endParaRPr lang="en-US" sz="2400" dirty="0">
              <a:latin typeface="Segoe UI" pitchFamily="34" charset="0"/>
              <a:ea typeface="Segoe UI" pitchFamily="34" charset="0"/>
              <a:cs typeface="Segoe UI" pitchFamily="34" charset="0"/>
            </a:endParaRPr>
          </a:p>
        </p:txBody>
      </p:sp>
      <p:sp>
        <p:nvSpPr>
          <p:cNvPr id="5" name="TextBox 11"/>
          <p:cNvSpPr txBox="1"/>
          <p:nvPr/>
        </p:nvSpPr>
        <p:spPr>
          <a:xfrm>
            <a:off x="470937" y="5121483"/>
            <a:ext cx="1727424" cy="461665"/>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dirty="0" smtClean="0">
                <a:latin typeface="Segoe UI" pitchFamily="34" charset="0"/>
                <a:ea typeface="Segoe UI" pitchFamily="34" charset="0"/>
                <a:cs typeface="Segoe UI" pitchFamily="34" charset="0"/>
              </a:rPr>
              <a:t>Servers</a:t>
            </a:r>
            <a:endParaRPr lang="en-US" sz="2400" dirty="0">
              <a:latin typeface="Segoe UI" pitchFamily="34" charset="0"/>
              <a:ea typeface="Segoe UI" pitchFamily="34" charset="0"/>
              <a:cs typeface="Segoe UI" pitchFamily="34" charset="0"/>
            </a:endParaRPr>
          </a:p>
        </p:txBody>
      </p:sp>
      <p:sp>
        <p:nvSpPr>
          <p:cNvPr id="6" name="TextBox 23"/>
          <p:cNvSpPr txBox="1"/>
          <p:nvPr/>
        </p:nvSpPr>
        <p:spPr>
          <a:xfrm>
            <a:off x="2441587" y="5121483"/>
            <a:ext cx="3837592" cy="830997"/>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dirty="0" smtClean="0">
                <a:latin typeface="Segoe UI" pitchFamily="34" charset="0"/>
                <a:ea typeface="Segoe UI" pitchFamily="34" charset="0"/>
                <a:cs typeface="Segoe UI" pitchFamily="34" charset="0"/>
              </a:rPr>
              <a:t>Resources provided</a:t>
            </a:r>
          </a:p>
          <a:p>
            <a:pPr algn="ctr"/>
            <a:r>
              <a:rPr lang="en-US" sz="2400" dirty="0" smtClean="0">
                <a:latin typeface="Segoe UI" pitchFamily="34" charset="0"/>
                <a:ea typeface="Segoe UI" pitchFamily="34" charset="0"/>
                <a:cs typeface="Segoe UI" pitchFamily="34" charset="0"/>
              </a:rPr>
              <a:t>to clients</a:t>
            </a:r>
            <a:endParaRPr lang="en-US" sz="2400" dirty="0">
              <a:latin typeface="Segoe UI" pitchFamily="34" charset="0"/>
              <a:ea typeface="Segoe UI" pitchFamily="34" charset="0"/>
              <a:cs typeface="Segoe UI" pitchFamily="34" charset="0"/>
            </a:endParaRPr>
          </a:p>
        </p:txBody>
      </p:sp>
      <p:grpSp>
        <p:nvGrpSpPr>
          <p:cNvPr id="7" name="Group 6" descr="A graphical representation of the locally-deployed servers that provide resources such as files, printers, applications to clients such as laptops, tablet computers, workstations. &#10;&#10;"/>
          <p:cNvGrpSpPr/>
          <p:nvPr/>
        </p:nvGrpSpPr>
        <p:grpSpPr>
          <a:xfrm>
            <a:off x="185568" y="1896781"/>
            <a:ext cx="8654430" cy="2852210"/>
            <a:chOff x="227712" y="2069628"/>
            <a:chExt cx="8654430" cy="2852210"/>
          </a:xfrm>
        </p:grpSpPr>
        <p:sp>
          <p:nvSpPr>
            <p:cNvPr id="8" name="Right Arrow 7"/>
            <p:cNvSpPr/>
            <p:nvPr/>
          </p:nvSpPr>
          <p:spPr bwMode="auto">
            <a:xfrm>
              <a:off x="2766515" y="2069628"/>
              <a:ext cx="3313447" cy="2852210"/>
            </a:xfrm>
            <a:prstGeom prst="rightArrow">
              <a:avLst/>
            </a:prstGeom>
            <a:solidFill>
              <a:schemeClr val="bg1">
                <a:lumMod val="75000"/>
              </a:schemeClr>
            </a:solidFill>
            <a:ln w="9525" cap="flat" cmpd="sng" algn="ctr">
              <a:no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eaLnBrk="0" hangingPunct="0"/>
              <a:endParaRPr lang="en-US" sz="2000" dirty="0">
                <a:latin typeface="Segoe UI" pitchFamily="34" charset="0"/>
                <a:ea typeface="Segoe UI" pitchFamily="34" charset="0"/>
                <a:cs typeface="Segoe UI" pitchFamily="34" charset="0"/>
              </a:endParaRPr>
            </a:p>
          </p:txBody>
        </p:sp>
        <p:sp>
          <p:nvSpPr>
            <p:cNvPr id="9" name="Oval 8"/>
            <p:cNvSpPr/>
            <p:nvPr/>
          </p:nvSpPr>
          <p:spPr bwMode="auto">
            <a:xfrm>
              <a:off x="6179709" y="2069628"/>
              <a:ext cx="2702433" cy="2752893"/>
            </a:xfrm>
            <a:prstGeom prst="ellipse">
              <a:avLst/>
            </a:prstGeom>
            <a:solidFill>
              <a:schemeClr val="bg1">
                <a:lumMod val="75000"/>
              </a:schemeClr>
            </a:solidFill>
            <a:ln w="9525" cap="flat" cmpd="sng" algn="ctr">
              <a:no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0138" y="2221307"/>
              <a:ext cx="1132477" cy="1415597"/>
            </a:xfrm>
            <a:prstGeom prst="rect">
              <a:avLst/>
            </a:prstGeom>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41814" y="3322886"/>
              <a:ext cx="999799" cy="1098680"/>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30925" y="3636904"/>
              <a:ext cx="605834" cy="969334"/>
            </a:xfrm>
            <a:prstGeom prst="rect">
              <a:avLst/>
            </a:prstGeom>
          </p:spPr>
        </p:pic>
        <p:pic>
          <p:nvPicPr>
            <p:cNvPr id="13" name="Picture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41713" y="2421335"/>
              <a:ext cx="367580" cy="725186"/>
            </a:xfrm>
            <a:prstGeom prst="rect">
              <a:avLst/>
            </a:prstGeom>
          </p:spPr>
        </p:pic>
        <p:sp>
          <p:nvSpPr>
            <p:cNvPr id="14" name="Oval 13"/>
            <p:cNvSpPr/>
            <p:nvPr/>
          </p:nvSpPr>
          <p:spPr bwMode="auto">
            <a:xfrm>
              <a:off x="227712" y="2069628"/>
              <a:ext cx="2213875" cy="2752893"/>
            </a:xfrm>
            <a:prstGeom prst="ellipse">
              <a:avLst/>
            </a:prstGeom>
            <a:solidFill>
              <a:schemeClr val="bg1">
                <a:lumMod val="75000"/>
              </a:schemeClr>
            </a:solidFill>
            <a:ln w="9525" cap="flat" cmpd="sng" algn="ctr">
              <a:no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eaLnBrk="0" hangingPunct="0"/>
              <a:endParaRPr lang="en-US" sz="2000" dirty="0">
                <a:latin typeface="Segoe UI" pitchFamily="34" charset="0"/>
                <a:ea typeface="Segoe UI" pitchFamily="34" charset="0"/>
                <a:cs typeface="Segoe UI" pitchFamily="34" charset="0"/>
              </a:endParaRPr>
            </a:p>
          </p:txBody>
        </p:sp>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88328" y="2450529"/>
              <a:ext cx="846214" cy="995545"/>
            </a:xfrm>
            <a:prstGeom prst="rect">
              <a:avLst/>
            </a:prstGeom>
          </p:spPr>
        </p:pic>
        <p:pic>
          <p:nvPicPr>
            <p:cNvPr id="16" name="Picture 1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434542" y="2677128"/>
              <a:ext cx="926300" cy="1089765"/>
            </a:xfrm>
            <a:prstGeom prst="rect">
              <a:avLst/>
            </a:prstGeom>
          </p:spPr>
        </p:pic>
        <p:pic>
          <p:nvPicPr>
            <p:cNvPr id="17" name="Picture 1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88328" y="3404342"/>
              <a:ext cx="1017314" cy="1196840"/>
            </a:xfrm>
            <a:prstGeom prst="rect">
              <a:avLst/>
            </a:prstGeom>
          </p:spPr>
        </p:pic>
        <p:pic>
          <p:nvPicPr>
            <p:cNvPr id="18" name="Picture 1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478904" y="2554295"/>
              <a:ext cx="1226753" cy="1082609"/>
            </a:xfrm>
            <a:prstGeom prst="rect">
              <a:avLst/>
            </a:prstGeom>
          </p:spPr>
        </p:pic>
        <p:pic>
          <p:nvPicPr>
            <p:cNvPr id="19" name="Picture 1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766515" y="2589190"/>
              <a:ext cx="1542830" cy="1122058"/>
            </a:xfrm>
            <a:prstGeom prst="rect">
              <a:avLst/>
            </a:prstGeom>
          </p:spPr>
        </p:pic>
        <p:pic>
          <p:nvPicPr>
            <p:cNvPr id="20" name="Picture 1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537930" y="3093064"/>
              <a:ext cx="1152971" cy="1344572"/>
            </a:xfrm>
            <a:prstGeom prst="rect">
              <a:avLst/>
            </a:prstGeom>
          </p:spPr>
        </p:pic>
      </p:grpSp>
    </p:spTree>
    <p:extLst>
      <p:ext uri="{BB962C8B-B14F-4D97-AF65-F5344CB8AC3E}">
        <p14:creationId xmlns:p14="http://schemas.microsoft.com/office/powerpoint/2010/main" val="2621474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5818e18f-0a98-4179-9402-69fa22e691bf">
    <p:spTree>
      <p:nvGrpSpPr>
        <p:cNvPr id="1" name=""/>
        <p:cNvGrpSpPr/>
        <p:nvPr/>
      </p:nvGrpSpPr>
      <p:grpSpPr>
        <a:xfrm>
          <a:off x="0" y="0"/>
          <a:ext cx="0" cy="0"/>
          <a:chOff x="0" y="0"/>
          <a:chExt cx="0" cy="0"/>
        </a:xfrm>
      </p:grpSpPr>
      <p:sp>
        <p:nvSpPr>
          <p:cNvPr id="2" name="Title 1"/>
          <p:cNvSpPr>
            <a:spLocks noGrp="1"/>
          </p:cNvSpPr>
          <p:nvPr>
            <p:ph type="title"/>
          </p:nvPr>
        </p:nvSpPr>
        <p:spPr>
          <a:xfrm>
            <a:off x="1981199" y="-2"/>
            <a:ext cx="6400801" cy="740664"/>
          </a:xfrm>
        </p:spPr>
        <p:txBody>
          <a:bodyPr/>
          <a:lstStyle/>
          <a:p>
            <a:pPr algn="ctr"/>
            <a:r>
              <a:rPr lang="en-CA" sz="2400" dirty="0" smtClean="0">
                <a:solidFill>
                  <a:schemeClr val="tx1"/>
                </a:solidFill>
              </a:rPr>
              <a:t>What Is Cloud Computing?</a:t>
            </a:r>
            <a:endParaRPr lang="en-CA" sz="2400" dirty="0">
              <a:solidFill>
                <a:schemeClr val="tx1"/>
              </a:solidFill>
            </a:endParaRPr>
          </a:p>
        </p:txBody>
      </p:sp>
      <p:sp>
        <p:nvSpPr>
          <p:cNvPr id="4" name="Rounded Rectangle 3"/>
          <p:cNvSpPr>
            <a:spLocks noChangeArrowheads="1"/>
          </p:cNvSpPr>
          <p:nvPr/>
        </p:nvSpPr>
        <p:spPr bwMode="auto">
          <a:xfrm>
            <a:off x="442633" y="3477310"/>
            <a:ext cx="8308813" cy="2429302"/>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latin typeface="Segoe UI" pitchFamily="34" charset="0"/>
                <a:ea typeface="Segoe UI" pitchFamily="34" charset="0"/>
                <a:cs typeface="Segoe UI" pitchFamily="34" charset="0"/>
              </a:rPr>
              <a:t>Private </a:t>
            </a:r>
            <a:r>
              <a:rPr lang="en-US" sz="2400" dirty="0">
                <a:latin typeface="Segoe UI" pitchFamily="34" charset="0"/>
                <a:ea typeface="Segoe UI" pitchFamily="34" charset="0"/>
                <a:cs typeface="Segoe UI" pitchFamily="34" charset="0"/>
              </a:rPr>
              <a:t>clouds have a single </a:t>
            </a:r>
            <a:r>
              <a:rPr lang="en-US" sz="2400" dirty="0" smtClean="0">
                <a:latin typeface="Segoe UI" pitchFamily="34" charset="0"/>
                <a:ea typeface="Segoe UI" pitchFamily="34" charset="0"/>
                <a:cs typeface="Segoe UI" pitchFamily="34" charset="0"/>
              </a:rPr>
              <a:t>tenant, which:</a:t>
            </a:r>
            <a:endParaRPr lang="en-US" sz="2400" dirty="0">
              <a:latin typeface="Segoe UI" pitchFamily="34" charset="0"/>
              <a:ea typeface="Segoe UI" pitchFamily="34" charset="0"/>
              <a:cs typeface="Segoe UI" pitchFamily="34" charset="0"/>
            </a:endParaRPr>
          </a:p>
          <a:p>
            <a:endParaRPr lang="en-US" sz="2400" dirty="0" smtClean="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a:p>
            <a:endParaRPr lang="en-US" sz="2400" dirty="0" smtClean="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a:p>
            <a:endParaRPr lang="en-US" sz="2400" dirty="0" smtClean="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a:p>
            <a:endParaRPr lang="en-US" sz="2400" dirty="0" smtClean="0">
              <a:latin typeface="Segoe UI" pitchFamily="34" charset="0"/>
              <a:ea typeface="Segoe UI" pitchFamily="34" charset="0"/>
              <a:cs typeface="Segoe UI" pitchFamily="34" charset="0"/>
            </a:endParaRPr>
          </a:p>
          <a:p>
            <a:endParaRPr lang="en-US" sz="2400" dirty="0" smtClean="0">
              <a:latin typeface="Segoe UI" pitchFamily="34" charset="0"/>
              <a:ea typeface="Segoe UI" pitchFamily="34" charset="0"/>
              <a:cs typeface="Segoe UI" pitchFamily="34" charset="0"/>
            </a:endParaRPr>
          </a:p>
          <a:p>
            <a:endParaRPr lang="en-US" sz="2400" dirty="0" smtClean="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a:p>
            <a:endParaRPr lang="en-US" sz="2400" dirty="0" smtClean="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p:txBody>
      </p:sp>
      <p:sp>
        <p:nvSpPr>
          <p:cNvPr id="5" name="Rounded Rectangle 4"/>
          <p:cNvSpPr>
            <a:spLocks noChangeArrowheads="1"/>
          </p:cNvSpPr>
          <p:nvPr/>
        </p:nvSpPr>
        <p:spPr bwMode="auto">
          <a:xfrm>
            <a:off x="442633" y="1015982"/>
            <a:ext cx="8308813" cy="2013821"/>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a:latin typeface="Segoe UI" pitchFamily="34" charset="0"/>
                <a:ea typeface="Segoe UI" pitchFamily="34" charset="0"/>
                <a:cs typeface="Segoe UI" pitchFamily="34" charset="0"/>
              </a:rPr>
              <a:t>Types of </a:t>
            </a:r>
            <a:r>
              <a:rPr lang="en-US" sz="2400" dirty="0" smtClean="0">
                <a:latin typeface="Segoe UI" pitchFamily="34" charset="0"/>
                <a:ea typeface="Segoe UI" pitchFamily="34" charset="0"/>
                <a:cs typeface="Segoe UI" pitchFamily="34" charset="0"/>
              </a:rPr>
              <a:t>cloud services: </a:t>
            </a:r>
            <a:endParaRPr lang="en-US" sz="2400" dirty="0">
              <a:latin typeface="Segoe UI" pitchFamily="34" charset="0"/>
              <a:ea typeface="Segoe UI" pitchFamily="34" charset="0"/>
              <a:cs typeface="Segoe UI" pitchFamily="34" charset="0"/>
            </a:endParaRPr>
          </a:p>
          <a:p>
            <a:endParaRPr lang="en-US" sz="2400" dirty="0" smtClean="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p:txBody>
      </p:sp>
      <p:sp>
        <p:nvSpPr>
          <p:cNvPr id="6" name="AutoShape 4"/>
          <p:cNvSpPr>
            <a:spLocks noChangeArrowheads="1"/>
          </p:cNvSpPr>
          <p:nvPr/>
        </p:nvSpPr>
        <p:spPr bwMode="auto">
          <a:xfrm>
            <a:off x="950329" y="1450620"/>
            <a:ext cx="7470340" cy="1347169"/>
          </a:xfrm>
          <a:prstGeom prst="roundRect">
            <a:avLst>
              <a:gd name="adj" fmla="val 4167"/>
            </a:avLst>
          </a:prstGeom>
          <a:noFill/>
          <a:ln w="9525" algn="ctr">
            <a:noFill/>
            <a:round/>
            <a:headEnd/>
            <a:tailEnd/>
          </a:ln>
          <a:effec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28600" indent="-228600">
              <a:spcBef>
                <a:spcPts val="600"/>
              </a:spcBef>
              <a:buClr>
                <a:srgbClr val="006699"/>
              </a:buClr>
              <a:buFontTx/>
              <a:buChar char="•"/>
            </a:pPr>
            <a:r>
              <a:rPr lang="en-US" altLang="ja-JP" sz="2400" b="0" dirty="0" smtClean="0">
                <a:latin typeface="Segoe UI" pitchFamily="34" charset="0"/>
                <a:ea typeface="Segoe UI" pitchFamily="34" charset="0"/>
                <a:cs typeface="Segoe UI" pitchFamily="34" charset="0"/>
              </a:rPr>
              <a:t>IaaS</a:t>
            </a:r>
            <a:endParaRPr lang="en-US" altLang="ja-JP" sz="2400" b="0" dirty="0">
              <a:latin typeface="Segoe UI" pitchFamily="34" charset="0"/>
              <a:ea typeface="Segoe UI" pitchFamily="34" charset="0"/>
              <a:cs typeface="Segoe UI" pitchFamily="34" charset="0"/>
            </a:endParaRPr>
          </a:p>
          <a:p>
            <a:pPr marL="228600" indent="-228600">
              <a:spcBef>
                <a:spcPts val="600"/>
              </a:spcBef>
              <a:buClr>
                <a:srgbClr val="006699"/>
              </a:buClr>
              <a:buFontTx/>
              <a:buChar char="•"/>
            </a:pPr>
            <a:r>
              <a:rPr lang="en-US" altLang="ja-JP" sz="2400" b="0" dirty="0" smtClean="0">
                <a:latin typeface="Segoe UI" pitchFamily="34" charset="0"/>
                <a:ea typeface="Segoe UI" pitchFamily="34" charset="0"/>
                <a:cs typeface="Segoe UI" pitchFamily="34" charset="0"/>
              </a:rPr>
              <a:t>PaaS</a:t>
            </a:r>
            <a:endParaRPr lang="en-US" altLang="ja-JP" sz="2400" b="0" dirty="0">
              <a:latin typeface="Segoe UI" pitchFamily="34" charset="0"/>
              <a:ea typeface="Segoe UI" pitchFamily="34" charset="0"/>
              <a:cs typeface="Segoe UI" pitchFamily="34" charset="0"/>
            </a:endParaRPr>
          </a:p>
          <a:p>
            <a:pPr marL="228600" indent="-228600">
              <a:spcBef>
                <a:spcPts val="600"/>
              </a:spcBef>
              <a:buClr>
                <a:srgbClr val="006699"/>
              </a:buClr>
              <a:buFontTx/>
              <a:buChar char="•"/>
            </a:pPr>
            <a:r>
              <a:rPr lang="en-US" altLang="ja-JP" sz="2400" b="0" dirty="0" smtClean="0">
                <a:latin typeface="Segoe UI" pitchFamily="34" charset="0"/>
                <a:ea typeface="Segoe UI" pitchFamily="34" charset="0"/>
                <a:cs typeface="Segoe UI" pitchFamily="34" charset="0"/>
              </a:rPr>
              <a:t>SaaS</a:t>
            </a:r>
            <a:endParaRPr lang="en-US" altLang="ja-JP" sz="2400" b="0" dirty="0">
              <a:latin typeface="Segoe UI" pitchFamily="34" charset="0"/>
              <a:ea typeface="Segoe UI" pitchFamily="34" charset="0"/>
              <a:cs typeface="Segoe UI" pitchFamily="34" charset="0"/>
            </a:endParaRPr>
          </a:p>
        </p:txBody>
      </p:sp>
      <p:sp>
        <p:nvSpPr>
          <p:cNvPr id="7" name="AutoShape 4"/>
          <p:cNvSpPr>
            <a:spLocks noChangeArrowheads="1"/>
          </p:cNvSpPr>
          <p:nvPr/>
        </p:nvSpPr>
        <p:spPr bwMode="auto">
          <a:xfrm>
            <a:off x="950329" y="4167963"/>
            <a:ext cx="7470340" cy="1850701"/>
          </a:xfrm>
          <a:prstGeom prst="roundRect">
            <a:avLst>
              <a:gd name="adj" fmla="val 4167"/>
            </a:avLst>
          </a:prstGeom>
          <a:noFill/>
          <a:ln w="9525" algn="ctr">
            <a:noFill/>
            <a:round/>
            <a:headEnd/>
            <a:tailEnd/>
          </a:ln>
          <a:effec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28600" indent="-228600">
              <a:spcBef>
                <a:spcPts val="600"/>
              </a:spcBef>
              <a:buClr>
                <a:srgbClr val="006699"/>
              </a:buClr>
              <a:buFontTx/>
              <a:buChar char="•"/>
            </a:pPr>
            <a:r>
              <a:rPr lang="en-US" altLang="ja-JP" sz="2400" b="0" dirty="0" smtClean="0">
                <a:latin typeface="Segoe UI" pitchFamily="34" charset="0"/>
                <a:ea typeface="Segoe UI" pitchFamily="34" charset="0"/>
                <a:cs typeface="Segoe UI" pitchFamily="34" charset="0"/>
              </a:rPr>
              <a:t>Is </a:t>
            </a:r>
            <a:r>
              <a:rPr lang="en-US" altLang="ja-JP" sz="2400" b="0" dirty="0">
                <a:latin typeface="Segoe UI" pitchFamily="34" charset="0"/>
                <a:ea typeface="Segoe UI" pitchFamily="34" charset="0"/>
                <a:cs typeface="Segoe UI" pitchFamily="34" charset="0"/>
              </a:rPr>
              <a:t>usually </a:t>
            </a:r>
            <a:r>
              <a:rPr lang="en-US" altLang="ja-JP" sz="2400" b="0" dirty="0" smtClean="0">
                <a:latin typeface="Segoe UI" pitchFamily="34" charset="0"/>
                <a:ea typeface="Segoe UI" pitchFamily="34" charset="0"/>
                <a:cs typeface="Segoe UI" pitchFamily="34" charset="0"/>
              </a:rPr>
              <a:t>on-premises</a:t>
            </a:r>
            <a:endParaRPr lang="en-US" altLang="ja-JP" sz="2400" b="0" dirty="0">
              <a:latin typeface="Segoe UI" pitchFamily="34" charset="0"/>
              <a:ea typeface="Segoe UI" pitchFamily="34" charset="0"/>
              <a:cs typeface="Segoe UI" pitchFamily="34" charset="0"/>
            </a:endParaRPr>
          </a:p>
          <a:p>
            <a:pPr marL="228600" indent="-228600">
              <a:spcBef>
                <a:spcPts val="600"/>
              </a:spcBef>
              <a:buClr>
                <a:srgbClr val="006699"/>
              </a:buClr>
              <a:buFontTx/>
              <a:buChar char="•"/>
            </a:pPr>
            <a:r>
              <a:rPr lang="en-US" altLang="ja-JP" sz="2400" b="0" dirty="0">
                <a:latin typeface="Segoe UI" pitchFamily="34" charset="0"/>
                <a:ea typeface="Segoe UI" pitchFamily="34" charset="0"/>
                <a:cs typeface="Segoe UI" pitchFamily="34" charset="0"/>
              </a:rPr>
              <a:t>Is highly automated</a:t>
            </a:r>
          </a:p>
          <a:p>
            <a:pPr marL="228600" indent="-228600">
              <a:spcBef>
                <a:spcPts val="600"/>
              </a:spcBef>
              <a:buClr>
                <a:srgbClr val="006699"/>
              </a:buClr>
              <a:buFontTx/>
              <a:buChar char="•"/>
            </a:pPr>
            <a:r>
              <a:rPr lang="en-US" altLang="ja-JP" sz="2400" b="0" dirty="0">
                <a:latin typeface="Segoe UI" pitchFamily="34" charset="0"/>
                <a:ea typeface="Segoe UI" pitchFamily="34" charset="0"/>
                <a:cs typeface="Segoe UI" pitchFamily="34" charset="0"/>
              </a:rPr>
              <a:t>Uses System </a:t>
            </a:r>
            <a:r>
              <a:rPr lang="en-US" altLang="ja-JP" sz="2400" b="0" dirty="0" smtClean="0">
                <a:latin typeface="Segoe UI" pitchFamily="34" charset="0"/>
                <a:ea typeface="Segoe UI" pitchFamily="34" charset="0"/>
                <a:cs typeface="Segoe UI" pitchFamily="34" charset="0"/>
              </a:rPr>
              <a:t>Center 2012 </a:t>
            </a:r>
            <a:r>
              <a:rPr lang="en-US" altLang="ja-JP" sz="2400" b="0" dirty="0">
                <a:latin typeface="Segoe UI" pitchFamily="34" charset="0"/>
                <a:ea typeface="Segoe UI" pitchFamily="34" charset="0"/>
                <a:cs typeface="Segoe UI" pitchFamily="34" charset="0"/>
              </a:rPr>
              <a:t>to provide automation and self-service</a:t>
            </a:r>
          </a:p>
          <a:p>
            <a:pPr marL="228600" indent="-228600">
              <a:spcBef>
                <a:spcPts val="600"/>
              </a:spcBef>
              <a:buClr>
                <a:srgbClr val="006699"/>
              </a:buClr>
              <a:buFontTx/>
              <a:buChar char="•"/>
            </a:pPr>
            <a:r>
              <a:rPr lang="en-US" altLang="ja-JP" sz="2400" b="0" dirty="0">
                <a:latin typeface="Segoe UI" pitchFamily="34" charset="0"/>
                <a:ea typeface="Segoe UI" pitchFamily="34" charset="0"/>
                <a:cs typeface="Segoe UI" pitchFamily="34" charset="0"/>
              </a:rPr>
              <a:t>Requires minimal direct configuration once </a:t>
            </a:r>
            <a:r>
              <a:rPr lang="en-US" altLang="ja-JP" sz="2400" b="0" dirty="0" smtClean="0">
                <a:latin typeface="Segoe UI" pitchFamily="34" charset="0"/>
                <a:ea typeface="Segoe UI" pitchFamily="34" charset="0"/>
                <a:cs typeface="Segoe UI" pitchFamily="34" charset="0"/>
              </a:rPr>
              <a:t>set </a:t>
            </a:r>
            <a:r>
              <a:rPr lang="en-US" altLang="ja-JP" sz="2400" b="0" dirty="0">
                <a:latin typeface="Segoe UI" pitchFamily="34" charset="0"/>
                <a:ea typeface="Segoe UI" pitchFamily="34" charset="0"/>
                <a:cs typeface="Segoe UI" pitchFamily="34" charset="0"/>
              </a:rPr>
              <a:t>up</a:t>
            </a:r>
          </a:p>
        </p:txBody>
      </p:sp>
      <p:sp>
        <p:nvSpPr>
          <p:cNvPr id="8" name="Rounded Rectangle 7"/>
          <p:cNvSpPr>
            <a:spLocks noChangeArrowheads="1"/>
          </p:cNvSpPr>
          <p:nvPr/>
        </p:nvSpPr>
        <p:spPr bwMode="auto">
          <a:xfrm>
            <a:off x="442633" y="3008255"/>
            <a:ext cx="8308813" cy="518615"/>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a:latin typeface="Segoe UI" pitchFamily="34" charset="0"/>
                <a:ea typeface="Segoe UI" pitchFamily="34" charset="0"/>
                <a:cs typeface="Segoe UI" pitchFamily="34" charset="0"/>
              </a:rPr>
              <a:t>Public clouds have multiple </a:t>
            </a:r>
            <a:r>
              <a:rPr lang="en-US" sz="2400" dirty="0" smtClean="0">
                <a:latin typeface="Segoe UI" pitchFamily="34" charset="0"/>
                <a:ea typeface="Segoe UI" pitchFamily="34" charset="0"/>
                <a:cs typeface="Segoe UI" pitchFamily="34" charset="0"/>
              </a:rPr>
              <a:t>tenants</a:t>
            </a:r>
            <a:endParaRPr lang="en-US" sz="2400" dirty="0">
              <a:latin typeface="Segoe UI" pitchFamily="34" charset="0"/>
              <a:ea typeface="Segoe UI" pitchFamily="34" charset="0"/>
              <a:cs typeface="Segoe UI" pitchFamily="34" charset="0"/>
            </a:endParaRPr>
          </a:p>
        </p:txBody>
      </p:sp>
      <p:sp>
        <p:nvSpPr>
          <p:cNvPr id="9" name="Cloud 8"/>
          <p:cNvSpPr/>
          <p:nvPr/>
        </p:nvSpPr>
        <p:spPr bwMode="auto">
          <a:xfrm>
            <a:off x="4807974" y="1323573"/>
            <a:ext cx="2433484" cy="1474216"/>
          </a:xfrm>
          <a:prstGeom prst="cloud">
            <a:avLst/>
          </a:prstGeom>
          <a:noFill/>
          <a:ln w="63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1245" y="1786049"/>
            <a:ext cx="1862445" cy="943461"/>
          </a:xfrm>
          <a:prstGeom prst="rect">
            <a:avLst/>
          </a:prstGeom>
          <a:noFill/>
          <a:ln>
            <a:noFill/>
          </a:ln>
          <a:effectLst/>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64309" y="1334540"/>
            <a:ext cx="810110" cy="953070"/>
          </a:xfrm>
          <a:prstGeom prst="rect">
            <a:avLst/>
          </a:prstGeom>
          <a:noFill/>
          <a:ln>
            <a:noFill/>
          </a:ln>
          <a:effectLst/>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12468" y="1323573"/>
            <a:ext cx="970773" cy="1095162"/>
          </a:xfrm>
          <a:prstGeom prst="rect">
            <a:avLst/>
          </a:prstGeom>
          <a:noFill/>
          <a:ln>
            <a:noFill/>
          </a:ln>
          <a:effectLst/>
        </p:spPr>
      </p:pic>
    </p:spTree>
    <p:extLst>
      <p:ext uri="{BB962C8B-B14F-4D97-AF65-F5344CB8AC3E}">
        <p14:creationId xmlns:p14="http://schemas.microsoft.com/office/powerpoint/2010/main" val="501389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357740b6-bbb1-4477-a606-63f360a1048f">
    <p:spTree>
      <p:nvGrpSpPr>
        <p:cNvPr id="1" name=""/>
        <p:cNvGrpSpPr/>
        <p:nvPr/>
      </p:nvGrpSpPr>
      <p:grpSpPr>
        <a:xfrm>
          <a:off x="0" y="0"/>
          <a:ext cx="0" cy="0"/>
          <a:chOff x="0" y="0"/>
          <a:chExt cx="0" cy="0"/>
        </a:xfrm>
      </p:grpSpPr>
      <p:sp>
        <p:nvSpPr>
          <p:cNvPr id="2" name="Title 1"/>
          <p:cNvSpPr>
            <a:spLocks noGrp="1"/>
          </p:cNvSpPr>
          <p:nvPr>
            <p:ph type="title"/>
          </p:nvPr>
        </p:nvSpPr>
        <p:spPr>
          <a:xfrm>
            <a:off x="2057399" y="-2"/>
            <a:ext cx="6324601" cy="740664"/>
          </a:xfrm>
        </p:spPr>
        <p:txBody>
          <a:bodyPr/>
          <a:lstStyle/>
          <a:p>
            <a:pPr algn="ctr"/>
            <a:r>
              <a:rPr lang="en-CA" sz="2400" dirty="0" smtClean="0">
                <a:solidFill>
                  <a:schemeClr val="tx1"/>
                </a:solidFill>
              </a:rPr>
              <a:t>Windows Server 2012 Editions</a:t>
            </a:r>
            <a:endParaRPr lang="en-CA" sz="2400" dirty="0">
              <a:solidFill>
                <a:schemeClr val="tx1"/>
              </a:solidFill>
            </a:endParaRPr>
          </a:p>
        </p:txBody>
      </p:sp>
      <p:sp>
        <p:nvSpPr>
          <p:cNvPr id="4" name="Rounded Rectangle 3"/>
          <p:cNvSpPr>
            <a:spLocks noChangeArrowheads="1"/>
          </p:cNvSpPr>
          <p:nvPr/>
        </p:nvSpPr>
        <p:spPr bwMode="auto">
          <a:xfrm>
            <a:off x="466697" y="1015982"/>
            <a:ext cx="7011342" cy="4157268"/>
          </a:xfrm>
          <a:prstGeom prst="roundRect">
            <a:avLst>
              <a:gd name="adj" fmla="val 4167"/>
            </a:avLst>
          </a:prstGeom>
          <a:noFill/>
          <a:ln w="9525" algn="ctr">
            <a:noFill/>
            <a:round/>
            <a:headEnd/>
            <a:tailEnd/>
          </a:ln>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a:latin typeface="Segoe UI" pitchFamily="34" charset="0"/>
                <a:ea typeface="Segoe UI" pitchFamily="34" charset="0"/>
                <a:cs typeface="Segoe UI" pitchFamily="34" charset="0"/>
              </a:rPr>
              <a:t>Windows Server 2012 editions:</a:t>
            </a:r>
          </a:p>
          <a:p>
            <a:endParaRPr lang="en-US" sz="2400" dirty="0" smtClean="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a:p>
            <a:endParaRPr lang="en-US" sz="2400" dirty="0" smtClean="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a:p>
            <a:endParaRPr lang="en-US" sz="2400" dirty="0" smtClean="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a:p>
            <a:endParaRPr lang="en-US" sz="2400" dirty="0" smtClean="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a:p>
            <a:endParaRPr lang="en-US" sz="2400" dirty="0" smtClean="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a:p>
            <a:endParaRPr lang="en-US" sz="2400" dirty="0" smtClean="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p:txBody>
      </p:sp>
      <p:sp>
        <p:nvSpPr>
          <p:cNvPr id="5" name="AutoShape 4"/>
          <p:cNvSpPr>
            <a:spLocks noChangeArrowheads="1"/>
          </p:cNvSpPr>
          <p:nvPr/>
        </p:nvSpPr>
        <p:spPr bwMode="auto">
          <a:xfrm>
            <a:off x="682388" y="1598951"/>
            <a:ext cx="8038530" cy="4611861"/>
          </a:xfrm>
          <a:prstGeom prst="roundRect">
            <a:avLst>
              <a:gd name="adj" fmla="val 4167"/>
            </a:avLst>
          </a:prstGeom>
          <a:noFill/>
          <a:ln w="9525" algn="ctr">
            <a:noFill/>
            <a:round/>
            <a:headEnd/>
            <a:tailEnd/>
          </a:ln>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28600" indent="-228600">
              <a:spcBef>
                <a:spcPct val="40000"/>
              </a:spcBef>
              <a:buClr>
                <a:srgbClr val="006699"/>
              </a:buClr>
              <a:buFontTx/>
              <a:buChar char="•"/>
            </a:pPr>
            <a:r>
              <a:rPr lang="en-US" altLang="ja-JP" sz="2000" b="0" dirty="0">
                <a:latin typeface="Segoe UI" pitchFamily="34" charset="0"/>
                <a:ea typeface="Segoe UI" pitchFamily="34" charset="0"/>
                <a:cs typeface="Segoe UI" pitchFamily="34" charset="0"/>
              </a:rPr>
              <a:t>Windows Server 2012 Standard </a:t>
            </a:r>
            <a:r>
              <a:rPr lang="en-US" altLang="ja-JP" sz="2000" b="0" dirty="0" smtClean="0">
                <a:latin typeface="Segoe UI" pitchFamily="34" charset="0"/>
                <a:ea typeface="Segoe UI" pitchFamily="34" charset="0"/>
                <a:cs typeface="Segoe UI" pitchFamily="34" charset="0"/>
              </a:rPr>
              <a:t>operating system</a:t>
            </a:r>
            <a:endParaRPr lang="en-US" altLang="ja-JP" sz="2000" b="0" dirty="0">
              <a:latin typeface="Segoe UI" pitchFamily="34" charset="0"/>
              <a:ea typeface="Segoe UI" pitchFamily="34" charset="0"/>
              <a:cs typeface="Segoe UI" pitchFamily="34" charset="0"/>
            </a:endParaRPr>
          </a:p>
          <a:p>
            <a:pPr marL="228600" indent="-228600">
              <a:spcBef>
                <a:spcPct val="40000"/>
              </a:spcBef>
              <a:buClr>
                <a:srgbClr val="006699"/>
              </a:buClr>
              <a:buFontTx/>
              <a:buChar char="•"/>
            </a:pPr>
            <a:r>
              <a:rPr lang="en-US" altLang="ja-JP" sz="2000" b="0" dirty="0" smtClean="0">
                <a:latin typeface="Segoe UI" pitchFamily="34" charset="0"/>
                <a:ea typeface="Segoe UI" pitchFamily="34" charset="0"/>
                <a:cs typeface="Segoe UI" pitchFamily="34" charset="0"/>
              </a:rPr>
              <a:t>Windows </a:t>
            </a:r>
            <a:r>
              <a:rPr lang="en-US" altLang="ja-JP" sz="2000" b="0" dirty="0">
                <a:latin typeface="Segoe UI" pitchFamily="34" charset="0"/>
                <a:ea typeface="Segoe UI" pitchFamily="34" charset="0"/>
                <a:cs typeface="Segoe UI" pitchFamily="34" charset="0"/>
              </a:rPr>
              <a:t>Server 2012 Datacenter operating system</a:t>
            </a:r>
          </a:p>
          <a:p>
            <a:pPr marL="228600" indent="-228600">
              <a:spcBef>
                <a:spcPct val="40000"/>
              </a:spcBef>
              <a:buClr>
                <a:srgbClr val="006699"/>
              </a:buClr>
              <a:buFontTx/>
              <a:buChar char="•"/>
            </a:pPr>
            <a:r>
              <a:rPr lang="en-US" altLang="ja-JP" sz="2000" b="0" dirty="0">
                <a:latin typeface="Segoe UI" pitchFamily="34" charset="0"/>
                <a:ea typeface="Segoe UI" pitchFamily="34" charset="0"/>
                <a:cs typeface="Segoe UI" pitchFamily="34" charset="0"/>
              </a:rPr>
              <a:t>Windows Server 2012 Foundation operating system</a:t>
            </a:r>
          </a:p>
          <a:p>
            <a:pPr marL="228600" indent="-228600">
              <a:spcBef>
                <a:spcPct val="40000"/>
              </a:spcBef>
              <a:buClr>
                <a:srgbClr val="006699"/>
              </a:buClr>
              <a:buFontTx/>
              <a:buChar char="•"/>
            </a:pPr>
            <a:r>
              <a:rPr lang="en-US" altLang="ja-JP" sz="2000" b="0" dirty="0">
                <a:latin typeface="Segoe UI" pitchFamily="34" charset="0"/>
                <a:ea typeface="Segoe UI" pitchFamily="34" charset="0"/>
                <a:cs typeface="Segoe UI" pitchFamily="34" charset="0"/>
              </a:rPr>
              <a:t>Windows </a:t>
            </a:r>
            <a:r>
              <a:rPr lang="en-US" altLang="ja-JP" sz="2000" b="0" dirty="0" smtClean="0">
                <a:latin typeface="Segoe UI" pitchFamily="34" charset="0"/>
                <a:ea typeface="Segoe UI" pitchFamily="34" charset="0"/>
                <a:cs typeface="Segoe UI" pitchFamily="34" charset="0"/>
              </a:rPr>
              <a:t>Server 2012 </a:t>
            </a:r>
            <a:r>
              <a:rPr lang="en-US" altLang="ja-JP" sz="2000" b="0" dirty="0">
                <a:latin typeface="Segoe UI" pitchFamily="34" charset="0"/>
                <a:ea typeface="Segoe UI" pitchFamily="34" charset="0"/>
                <a:cs typeface="Segoe UI" pitchFamily="34" charset="0"/>
              </a:rPr>
              <a:t>Essentials operating system</a:t>
            </a:r>
            <a:endParaRPr lang="en-US" altLang="ja-JP" sz="2000" b="0" dirty="0" smtClean="0">
              <a:latin typeface="Segoe UI" pitchFamily="34" charset="0"/>
              <a:ea typeface="Segoe UI" pitchFamily="34" charset="0"/>
              <a:cs typeface="Segoe UI" pitchFamily="34" charset="0"/>
            </a:endParaRPr>
          </a:p>
          <a:p>
            <a:pPr marL="228600" indent="-228600">
              <a:spcBef>
                <a:spcPct val="40000"/>
              </a:spcBef>
              <a:buClr>
                <a:srgbClr val="006699"/>
              </a:buClr>
              <a:buFontTx/>
              <a:buChar char="•"/>
            </a:pPr>
            <a:r>
              <a:rPr lang="nn-NO" altLang="ja-JP" sz="2000" b="0" dirty="0">
                <a:latin typeface="Segoe UI" pitchFamily="34" charset="0"/>
                <a:ea typeface="Segoe UI" pitchFamily="34" charset="0"/>
                <a:cs typeface="Segoe UI" pitchFamily="34" charset="0"/>
              </a:rPr>
              <a:t>Microsoft </a:t>
            </a:r>
            <a:r>
              <a:rPr lang="nn-NO" altLang="ja-JP" sz="2000" b="0" dirty="0" smtClean="0">
                <a:latin typeface="Segoe UI" pitchFamily="34" charset="0"/>
                <a:ea typeface="Segoe UI" pitchFamily="34" charset="0"/>
                <a:cs typeface="Segoe UI" pitchFamily="34" charset="0"/>
              </a:rPr>
              <a:t>Hyper-V </a:t>
            </a:r>
            <a:r>
              <a:rPr lang="nn-NO" altLang="ja-JP" sz="2000" b="0" dirty="0">
                <a:latin typeface="Segoe UI" pitchFamily="34" charset="0"/>
                <a:ea typeface="Segoe UI" pitchFamily="34" charset="0"/>
                <a:cs typeface="Segoe UI" pitchFamily="34" charset="0"/>
              </a:rPr>
              <a:t>Server </a:t>
            </a:r>
            <a:r>
              <a:rPr lang="nn-NO" altLang="ja-JP" sz="2000" b="0" dirty="0" smtClean="0">
                <a:latin typeface="Segoe UI" pitchFamily="34" charset="0"/>
                <a:ea typeface="Segoe UI" pitchFamily="34" charset="0"/>
                <a:cs typeface="Segoe UI" pitchFamily="34" charset="0"/>
              </a:rPr>
              <a:t>2012</a:t>
            </a:r>
          </a:p>
          <a:p>
            <a:pPr marL="228600" indent="-228600">
              <a:spcBef>
                <a:spcPct val="40000"/>
              </a:spcBef>
              <a:buClr>
                <a:srgbClr val="006699"/>
              </a:buClr>
              <a:buFontTx/>
              <a:buChar char="•"/>
            </a:pPr>
            <a:r>
              <a:rPr lang="en-US" altLang="ja-JP" sz="2000" b="0" dirty="0" smtClean="0">
                <a:latin typeface="Segoe UI" pitchFamily="34" charset="0"/>
                <a:ea typeface="Segoe UI" pitchFamily="34" charset="0"/>
                <a:cs typeface="Segoe UI" pitchFamily="34" charset="0"/>
              </a:rPr>
              <a:t>Windows Storage Server 2012 Workgroup operating system</a:t>
            </a:r>
          </a:p>
          <a:p>
            <a:pPr marL="228600" indent="-228600">
              <a:spcBef>
                <a:spcPct val="40000"/>
              </a:spcBef>
              <a:buClr>
                <a:srgbClr val="006699"/>
              </a:buClr>
              <a:buFontTx/>
              <a:buChar char="•"/>
            </a:pPr>
            <a:r>
              <a:rPr lang="en-US" altLang="ja-JP" sz="2000" b="0" dirty="0" smtClean="0">
                <a:latin typeface="Segoe UI" pitchFamily="34" charset="0"/>
                <a:ea typeface="Segoe UI" pitchFamily="34" charset="0"/>
                <a:cs typeface="Segoe UI" pitchFamily="34" charset="0"/>
              </a:rPr>
              <a:t>Windows Storage Server 2012 </a:t>
            </a:r>
            <a:r>
              <a:rPr lang="en-US" altLang="ja-JP" sz="2000" b="0" dirty="0">
                <a:latin typeface="Segoe UI" pitchFamily="34" charset="0"/>
                <a:ea typeface="Segoe UI" pitchFamily="34" charset="0"/>
                <a:cs typeface="Segoe UI" pitchFamily="34" charset="0"/>
              </a:rPr>
              <a:t>Standard operating system</a:t>
            </a:r>
            <a:endParaRPr lang="en-US" altLang="ja-JP" sz="2000" b="0" dirty="0" smtClean="0">
              <a:latin typeface="Segoe UI" pitchFamily="34" charset="0"/>
              <a:ea typeface="Segoe UI" pitchFamily="34" charset="0"/>
              <a:cs typeface="Segoe UI" pitchFamily="34" charset="0"/>
            </a:endParaRPr>
          </a:p>
          <a:p>
            <a:pPr marL="228600" indent="-228600">
              <a:spcBef>
                <a:spcPct val="40000"/>
              </a:spcBef>
              <a:buClr>
                <a:srgbClr val="006699"/>
              </a:buClr>
              <a:buFontTx/>
              <a:buChar char="•"/>
            </a:pPr>
            <a:r>
              <a:rPr lang="en-US" altLang="ja-JP" sz="2000" b="0" dirty="0" smtClean="0">
                <a:latin typeface="Segoe UI" pitchFamily="34" charset="0"/>
                <a:ea typeface="Segoe UI" pitchFamily="34" charset="0"/>
                <a:cs typeface="Segoe UI" pitchFamily="34" charset="0"/>
              </a:rPr>
              <a:t>Windows MultiPoint Server 2012 </a:t>
            </a:r>
            <a:r>
              <a:rPr lang="en-US" altLang="ja-JP" sz="2000" b="0" dirty="0">
                <a:latin typeface="Segoe UI" pitchFamily="34" charset="0"/>
                <a:ea typeface="Segoe UI" pitchFamily="34" charset="0"/>
                <a:cs typeface="Segoe UI" pitchFamily="34" charset="0"/>
              </a:rPr>
              <a:t>Standard operating system</a:t>
            </a:r>
            <a:endParaRPr lang="en-US" altLang="ja-JP" sz="2000" b="0" dirty="0" smtClean="0">
              <a:latin typeface="Segoe UI" pitchFamily="34" charset="0"/>
              <a:ea typeface="Segoe UI" pitchFamily="34" charset="0"/>
              <a:cs typeface="Segoe UI" pitchFamily="34" charset="0"/>
            </a:endParaRPr>
          </a:p>
          <a:p>
            <a:pPr marL="228600" indent="-228600">
              <a:spcBef>
                <a:spcPct val="40000"/>
              </a:spcBef>
              <a:buClr>
                <a:srgbClr val="006699"/>
              </a:buClr>
              <a:buFontTx/>
              <a:buChar char="•"/>
            </a:pPr>
            <a:r>
              <a:rPr lang="en-US" altLang="ja-JP" sz="2000" b="0" dirty="0" smtClean="0">
                <a:latin typeface="Segoe UI" pitchFamily="34" charset="0"/>
                <a:ea typeface="Segoe UI" pitchFamily="34" charset="0"/>
                <a:cs typeface="Segoe UI" pitchFamily="34" charset="0"/>
              </a:rPr>
              <a:t>Windows MultiPoint Server 2012 </a:t>
            </a:r>
            <a:r>
              <a:rPr lang="en-US" altLang="ja-JP" sz="2000" b="0" dirty="0">
                <a:latin typeface="Segoe UI" pitchFamily="34" charset="0"/>
                <a:ea typeface="Segoe UI" pitchFamily="34" charset="0"/>
                <a:cs typeface="Segoe UI" pitchFamily="34" charset="0"/>
              </a:rPr>
              <a:t>Premium operating system</a:t>
            </a:r>
            <a:endParaRPr lang="en-US" altLang="ja-JP" sz="2000" b="0" dirty="0" smtClean="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926163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031d81f6-4855-436d-a45d-158bbe721a79">
    <p:spTree>
      <p:nvGrpSpPr>
        <p:cNvPr id="1" name=""/>
        <p:cNvGrpSpPr/>
        <p:nvPr/>
      </p:nvGrpSpPr>
      <p:grpSpPr>
        <a:xfrm>
          <a:off x="0" y="0"/>
          <a:ext cx="0" cy="0"/>
          <a:chOff x="0" y="0"/>
          <a:chExt cx="0" cy="0"/>
        </a:xfrm>
      </p:grpSpPr>
      <p:sp>
        <p:nvSpPr>
          <p:cNvPr id="2" name="Title 1"/>
          <p:cNvSpPr>
            <a:spLocks noGrp="1"/>
          </p:cNvSpPr>
          <p:nvPr>
            <p:ph type="title"/>
          </p:nvPr>
        </p:nvSpPr>
        <p:spPr>
          <a:xfrm>
            <a:off x="2057399" y="-2"/>
            <a:ext cx="6248401" cy="740664"/>
          </a:xfrm>
        </p:spPr>
        <p:txBody>
          <a:bodyPr/>
          <a:lstStyle/>
          <a:p>
            <a:pPr algn="ctr"/>
            <a:r>
              <a:rPr lang="en-CA" sz="2400" dirty="0" smtClean="0">
                <a:solidFill>
                  <a:schemeClr val="tx1"/>
                </a:solidFill>
              </a:rPr>
              <a:t>What Is Server Core?</a:t>
            </a:r>
            <a:endParaRPr lang="en-CA" sz="2400" dirty="0">
              <a:solidFill>
                <a:schemeClr val="tx1"/>
              </a:solidFill>
            </a:endParaRPr>
          </a:p>
        </p:txBody>
      </p:sp>
      <p:sp>
        <p:nvSpPr>
          <p:cNvPr id="4" name="AutoShape 3"/>
          <p:cNvSpPr>
            <a:spLocks noChangeArrowheads="1"/>
          </p:cNvSpPr>
          <p:nvPr/>
        </p:nvSpPr>
        <p:spPr bwMode="auto">
          <a:xfrm>
            <a:off x="580558" y="1041616"/>
            <a:ext cx="7985218" cy="4969219"/>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latin typeface="Segoe UI" pitchFamily="34" charset="0"/>
                <a:ea typeface="Segoe UI" pitchFamily="34" charset="0"/>
                <a:cs typeface="Segoe UI" pitchFamily="34" charset="0"/>
              </a:rPr>
              <a:t>Server Core</a:t>
            </a:r>
            <a:endParaRPr lang="en-US" sz="2400" dirty="0">
              <a:latin typeface="Segoe UI" pitchFamily="34" charset="0"/>
              <a:ea typeface="Segoe UI" pitchFamily="34" charset="0"/>
              <a:cs typeface="Segoe UI" pitchFamily="34" charset="0"/>
            </a:endParaRPr>
          </a:p>
        </p:txBody>
      </p:sp>
      <p:sp>
        <p:nvSpPr>
          <p:cNvPr id="5" name="Rounded Rectangle 4"/>
          <p:cNvSpPr>
            <a:spLocks noChangeArrowheads="1"/>
          </p:cNvSpPr>
          <p:nvPr/>
        </p:nvSpPr>
        <p:spPr bwMode="auto">
          <a:xfrm>
            <a:off x="798932" y="1627684"/>
            <a:ext cx="7766844" cy="4011116"/>
          </a:xfrm>
          <a:prstGeom prst="roundRect">
            <a:avLst>
              <a:gd name="adj" fmla="val 4167"/>
            </a:avLst>
          </a:prstGeom>
          <a:noFill/>
          <a:ln w="9525" algn="ctr">
            <a:noFill/>
            <a:round/>
            <a:headEnd/>
            <a:tailEnd/>
          </a:ln>
          <a:effectLst/>
        </p:spPr>
        <p:txBody>
          <a:bodyPr anchor="t" anchorCtr="0">
            <a:no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93688" lvl="1" indent="-285750" eaLnBrk="0" hangingPunct="0">
              <a:spcBef>
                <a:spcPts val="600"/>
              </a:spcBef>
              <a:buClr>
                <a:srgbClr val="006699"/>
              </a:buClr>
              <a:buFontTx/>
              <a:buChar char="•"/>
            </a:pPr>
            <a:r>
              <a:rPr lang="en-US" sz="2600" b="0" dirty="0" smtClean="0">
                <a:latin typeface="Segoe UI" pitchFamily="34" charset="0"/>
                <a:ea typeface="Segoe UI" pitchFamily="34" charset="0"/>
                <a:cs typeface="Segoe UI" pitchFamily="34" charset="0"/>
              </a:rPr>
              <a:t>Is a </a:t>
            </a:r>
            <a:r>
              <a:rPr lang="en-US" sz="2600" b="0" dirty="0">
                <a:latin typeface="Segoe UI" pitchFamily="34" charset="0"/>
                <a:ea typeface="Segoe UI" pitchFamily="34" charset="0"/>
                <a:cs typeface="Segoe UI" pitchFamily="34" charset="0"/>
              </a:rPr>
              <a:t>more secure, less resource-intensive installation option</a:t>
            </a:r>
          </a:p>
          <a:p>
            <a:pPr marL="293688" lvl="1" indent="-285750" eaLnBrk="0" hangingPunct="0">
              <a:spcBef>
                <a:spcPts val="600"/>
              </a:spcBef>
              <a:buClr>
                <a:srgbClr val="006699"/>
              </a:buClr>
              <a:buFontTx/>
              <a:buChar char="•"/>
            </a:pPr>
            <a:r>
              <a:rPr lang="en-US" sz="2600" b="0" dirty="0">
                <a:latin typeface="Segoe UI" pitchFamily="34" charset="0"/>
                <a:ea typeface="Segoe UI" pitchFamily="34" charset="0"/>
                <a:cs typeface="Segoe UI" pitchFamily="34" charset="0"/>
              </a:rPr>
              <a:t>Can be converted to the full version of Windows Server 2012</a:t>
            </a:r>
          </a:p>
          <a:p>
            <a:pPr marL="293688" lvl="1" indent="-285750" eaLnBrk="0" hangingPunct="0">
              <a:spcBef>
                <a:spcPts val="600"/>
              </a:spcBef>
              <a:buClr>
                <a:srgbClr val="006699"/>
              </a:buClr>
              <a:buFontTx/>
              <a:buChar char="•"/>
            </a:pPr>
            <a:r>
              <a:rPr lang="en-US" sz="2600" b="0" dirty="0" smtClean="0">
                <a:latin typeface="Segoe UI" pitchFamily="34" charset="0"/>
                <a:ea typeface="Segoe UI" pitchFamily="34" charset="0"/>
                <a:cs typeface="Segoe UI" pitchFamily="34" charset="0"/>
              </a:rPr>
              <a:t>Is the default </a:t>
            </a:r>
            <a:r>
              <a:rPr lang="en-US" sz="2600" b="0" dirty="0">
                <a:latin typeface="Segoe UI" pitchFamily="34" charset="0"/>
                <a:ea typeface="Segoe UI" pitchFamily="34" charset="0"/>
                <a:cs typeface="Segoe UI" pitchFamily="34" charset="0"/>
              </a:rPr>
              <a:t>installation option for Windows Server 2012</a:t>
            </a:r>
          </a:p>
          <a:p>
            <a:pPr marL="293688" lvl="1" indent="-285750" eaLnBrk="0" hangingPunct="0">
              <a:spcBef>
                <a:spcPts val="600"/>
              </a:spcBef>
              <a:buClr>
                <a:srgbClr val="006699"/>
              </a:buClr>
              <a:buFontTx/>
              <a:buChar char="•"/>
            </a:pPr>
            <a:r>
              <a:rPr lang="en-US" sz="2600" b="0" dirty="0" smtClean="0">
                <a:latin typeface="Segoe UI" pitchFamily="34" charset="0"/>
                <a:ea typeface="Segoe UI" pitchFamily="34" charset="0"/>
                <a:cs typeface="Segoe UI" pitchFamily="34" charset="0"/>
              </a:rPr>
              <a:t>Is managed </a:t>
            </a:r>
            <a:r>
              <a:rPr lang="en-US" sz="2600" b="0" dirty="0">
                <a:latin typeface="Segoe UI" pitchFamily="34" charset="0"/>
                <a:ea typeface="Segoe UI" pitchFamily="34" charset="0"/>
                <a:cs typeface="Segoe UI" pitchFamily="34" charset="0"/>
              </a:rPr>
              <a:t>locally using </a:t>
            </a:r>
            <a:r>
              <a:rPr lang="en-US" sz="2600" b="0" dirty="0" smtClean="0">
                <a:latin typeface="Segoe UI" pitchFamily="34" charset="0"/>
                <a:ea typeface="Segoe UI" pitchFamily="34" charset="0"/>
                <a:cs typeface="Segoe UI" pitchFamily="34" charset="0"/>
              </a:rPr>
              <a:t>sconfig.cmd</a:t>
            </a:r>
          </a:p>
          <a:p>
            <a:pPr marL="293688" lvl="1" indent="-285750" eaLnBrk="0" hangingPunct="0">
              <a:spcBef>
                <a:spcPts val="600"/>
              </a:spcBef>
              <a:buClr>
                <a:srgbClr val="006699"/>
              </a:buClr>
              <a:buFontTx/>
              <a:buChar char="•"/>
            </a:pPr>
            <a:r>
              <a:rPr lang="en-US" sz="2600" b="0" dirty="0">
                <a:latin typeface="Segoe UI" pitchFamily="34" charset="0"/>
                <a:ea typeface="Segoe UI" pitchFamily="34" charset="0"/>
                <a:cs typeface="Segoe UI" pitchFamily="34" charset="0"/>
              </a:rPr>
              <a:t>If you enable remote management, you will rarely need to log on locally</a:t>
            </a:r>
          </a:p>
          <a:p>
            <a:pPr marL="293688" lvl="1" indent="-285750" eaLnBrk="0" hangingPunct="0">
              <a:spcBef>
                <a:spcPts val="600"/>
              </a:spcBef>
              <a:buClr>
                <a:srgbClr val="006699"/>
              </a:buClr>
              <a:buFontTx/>
              <a:buChar char="•"/>
            </a:pPr>
            <a:endParaRPr lang="en-US" sz="26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602441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fbd282cd-a5a7-41ba-9a5c-8cf391000bba">
    <p:spTree>
      <p:nvGrpSpPr>
        <p:cNvPr id="1" name=""/>
        <p:cNvGrpSpPr/>
        <p:nvPr/>
      </p:nvGrpSpPr>
      <p:grpSpPr>
        <a:xfrm>
          <a:off x="0" y="0"/>
          <a:ext cx="0" cy="0"/>
          <a:chOff x="0" y="0"/>
          <a:chExt cx="0" cy="0"/>
        </a:xfrm>
      </p:grpSpPr>
      <p:sp>
        <p:nvSpPr>
          <p:cNvPr id="2" name="Title 1"/>
          <p:cNvSpPr>
            <a:spLocks noGrp="1"/>
          </p:cNvSpPr>
          <p:nvPr>
            <p:ph type="title"/>
          </p:nvPr>
        </p:nvSpPr>
        <p:spPr>
          <a:xfrm>
            <a:off x="2057399" y="-2"/>
            <a:ext cx="6324601" cy="740664"/>
          </a:xfrm>
        </p:spPr>
        <p:txBody>
          <a:bodyPr/>
          <a:lstStyle/>
          <a:p>
            <a:pPr algn="ctr"/>
            <a:r>
              <a:rPr lang="en-CA" sz="2400" dirty="0" smtClean="0">
                <a:solidFill>
                  <a:schemeClr val="tx1"/>
                </a:solidFill>
              </a:rPr>
              <a:t>Windows Server 2012 Roles</a:t>
            </a:r>
            <a:endParaRPr lang="en-CA" sz="2400" dirty="0">
              <a:solidFill>
                <a:schemeClr val="tx1"/>
              </a:solidFill>
            </a:endParaRPr>
          </a:p>
        </p:txBody>
      </p:sp>
      <p:sp>
        <p:nvSpPr>
          <p:cNvPr id="4" name="AutoShape 3"/>
          <p:cNvSpPr>
            <a:spLocks noChangeArrowheads="1"/>
          </p:cNvSpPr>
          <p:nvPr/>
        </p:nvSpPr>
        <p:spPr bwMode="auto">
          <a:xfrm>
            <a:off x="580558" y="3027488"/>
            <a:ext cx="7985218" cy="3060698"/>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latin typeface="Segoe UI" pitchFamily="34" charset="0"/>
                <a:ea typeface="Segoe UI" pitchFamily="34" charset="0"/>
                <a:cs typeface="Segoe UI" pitchFamily="34" charset="0"/>
              </a:rPr>
              <a:t>Roles</a:t>
            </a:r>
            <a:endParaRPr lang="en-US" sz="2400" dirty="0">
              <a:latin typeface="Segoe UI" pitchFamily="34" charset="0"/>
              <a:ea typeface="Segoe UI" pitchFamily="34" charset="0"/>
              <a:cs typeface="Segoe UI" pitchFamily="34" charset="0"/>
            </a:endParaRPr>
          </a:p>
        </p:txBody>
      </p:sp>
      <p:sp>
        <p:nvSpPr>
          <p:cNvPr id="5" name="AutoShape 3"/>
          <p:cNvSpPr>
            <a:spLocks noChangeArrowheads="1"/>
          </p:cNvSpPr>
          <p:nvPr/>
        </p:nvSpPr>
        <p:spPr bwMode="auto">
          <a:xfrm>
            <a:off x="580558" y="1041617"/>
            <a:ext cx="7985218" cy="2082584"/>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latin typeface="Segoe UI" pitchFamily="34" charset="0"/>
                <a:ea typeface="Segoe UI" pitchFamily="34" charset="0"/>
                <a:cs typeface="Segoe UI" pitchFamily="34" charset="0"/>
              </a:rPr>
              <a:t>Functions</a:t>
            </a:r>
            <a:endParaRPr lang="en-US" sz="2400" dirty="0">
              <a:latin typeface="Segoe UI" pitchFamily="34" charset="0"/>
              <a:ea typeface="Segoe UI" pitchFamily="34" charset="0"/>
              <a:cs typeface="Segoe UI" pitchFamily="34" charset="0"/>
            </a:endParaRPr>
          </a:p>
        </p:txBody>
      </p:sp>
      <p:sp>
        <p:nvSpPr>
          <p:cNvPr id="6" name="Rounded Rectangle 5"/>
          <p:cNvSpPr>
            <a:spLocks noChangeArrowheads="1"/>
          </p:cNvSpPr>
          <p:nvPr/>
        </p:nvSpPr>
        <p:spPr bwMode="auto">
          <a:xfrm>
            <a:off x="798932" y="1627685"/>
            <a:ext cx="7565139" cy="1275172"/>
          </a:xfrm>
          <a:prstGeom prst="roundRect">
            <a:avLst>
              <a:gd name="adj" fmla="val 4167"/>
            </a:avLst>
          </a:prstGeom>
          <a:noFill/>
          <a:ln w="9525" algn="ctr">
            <a:noFill/>
            <a:round/>
            <a:headEnd/>
            <a:tailEnd/>
          </a:ln>
          <a:effectLst/>
        </p:spPr>
        <p:txBody>
          <a:bodyPr anchor="ctr" anchorCtr="0">
            <a:no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93688" lvl="1" indent="-285750" eaLnBrk="0" hangingPunct="0">
              <a:lnSpc>
                <a:spcPct val="90000"/>
              </a:lnSpc>
              <a:spcBef>
                <a:spcPts val="600"/>
              </a:spcBef>
              <a:buClr>
                <a:srgbClr val="006699"/>
              </a:buClr>
              <a:buFontTx/>
              <a:buChar char="•"/>
            </a:pPr>
            <a:r>
              <a:rPr lang="en-US" sz="2600" b="0" dirty="0">
                <a:latin typeface="Segoe UI" pitchFamily="34" charset="0"/>
                <a:ea typeface="Segoe UI" pitchFamily="34" charset="0"/>
                <a:cs typeface="Segoe UI" pitchFamily="34" charset="0"/>
              </a:rPr>
              <a:t>Web Server</a:t>
            </a:r>
          </a:p>
          <a:p>
            <a:pPr marL="293688" lvl="1" indent="-285750" eaLnBrk="0" hangingPunct="0">
              <a:lnSpc>
                <a:spcPct val="90000"/>
              </a:lnSpc>
              <a:spcBef>
                <a:spcPts val="600"/>
              </a:spcBef>
              <a:buClr>
                <a:srgbClr val="006699"/>
              </a:buClr>
              <a:buFontTx/>
              <a:buChar char="•"/>
            </a:pPr>
            <a:r>
              <a:rPr lang="en-US" sz="2600" b="0" dirty="0">
                <a:latin typeface="Segoe UI" pitchFamily="34" charset="0"/>
                <a:ea typeface="Segoe UI" pitchFamily="34" charset="0"/>
                <a:cs typeface="Segoe UI" pitchFamily="34" charset="0"/>
              </a:rPr>
              <a:t>Domain Controller</a:t>
            </a:r>
          </a:p>
          <a:p>
            <a:pPr marL="293688" lvl="1" indent="-285750" eaLnBrk="0" hangingPunct="0">
              <a:lnSpc>
                <a:spcPct val="90000"/>
              </a:lnSpc>
              <a:spcBef>
                <a:spcPts val="600"/>
              </a:spcBef>
              <a:buClr>
                <a:srgbClr val="006699"/>
              </a:buClr>
              <a:buFontTx/>
              <a:buChar char="•"/>
            </a:pPr>
            <a:r>
              <a:rPr lang="en-US" sz="2600" b="0" dirty="0">
                <a:latin typeface="Segoe UI" pitchFamily="34" charset="0"/>
                <a:ea typeface="Segoe UI" pitchFamily="34" charset="0"/>
                <a:cs typeface="Segoe UI" pitchFamily="34" charset="0"/>
              </a:rPr>
              <a:t>Certificate Server</a:t>
            </a:r>
          </a:p>
        </p:txBody>
      </p:sp>
      <p:sp>
        <p:nvSpPr>
          <p:cNvPr id="7" name="Rounded Rectangle 6"/>
          <p:cNvSpPr>
            <a:spLocks noChangeArrowheads="1"/>
          </p:cNvSpPr>
          <p:nvPr/>
        </p:nvSpPr>
        <p:spPr bwMode="auto">
          <a:xfrm>
            <a:off x="790596" y="3449522"/>
            <a:ext cx="8048604" cy="2830254"/>
          </a:xfrm>
          <a:prstGeom prst="roundRect">
            <a:avLst>
              <a:gd name="adj" fmla="val 8914"/>
            </a:avLst>
          </a:prstGeom>
          <a:noFill/>
          <a:ln w="9525" algn="ctr">
            <a:noFill/>
            <a:round/>
            <a:headEnd/>
            <a:tailEnd/>
          </a:ln>
          <a:effectLst/>
        </p:spPr>
        <p:txBody>
          <a:bodyPr anchor="t" anchorCtr="0">
            <a:no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93688" lvl="1" indent="-285750" eaLnBrk="0" hangingPunct="0">
              <a:lnSpc>
                <a:spcPct val="90000"/>
              </a:lnSpc>
              <a:spcBef>
                <a:spcPts val="600"/>
              </a:spcBef>
              <a:buClr>
                <a:srgbClr val="006699"/>
              </a:buClr>
              <a:buFontTx/>
              <a:buChar char="•"/>
            </a:pPr>
            <a:r>
              <a:rPr lang="en-US" sz="2600" b="0" dirty="0" smtClean="0">
                <a:latin typeface="Segoe UI" pitchFamily="34" charset="0"/>
                <a:ea typeface="Segoe UI" pitchFamily="34" charset="0"/>
                <a:cs typeface="Segoe UI" pitchFamily="34" charset="0"/>
              </a:rPr>
              <a:t>Are made </a:t>
            </a:r>
            <a:r>
              <a:rPr lang="en-US" sz="2600" b="0" dirty="0">
                <a:latin typeface="Segoe UI" pitchFamily="34" charset="0"/>
                <a:ea typeface="Segoe UI" pitchFamily="34" charset="0"/>
                <a:cs typeface="Segoe UI" pitchFamily="34" charset="0"/>
              </a:rPr>
              <a:t>up of role services components that provide additional functionality associated with the role</a:t>
            </a:r>
          </a:p>
          <a:p>
            <a:pPr marL="293688" lvl="1" indent="-285750" eaLnBrk="0" hangingPunct="0">
              <a:lnSpc>
                <a:spcPct val="90000"/>
              </a:lnSpc>
              <a:spcBef>
                <a:spcPts val="600"/>
              </a:spcBef>
              <a:buClr>
                <a:srgbClr val="006699"/>
              </a:buClr>
              <a:buFontTx/>
              <a:buChar char="•"/>
            </a:pPr>
            <a:r>
              <a:rPr lang="en-US" sz="2600" b="0" dirty="0" smtClean="0">
                <a:latin typeface="Segoe UI" pitchFamily="34" charset="0"/>
                <a:ea typeface="Segoe UI" pitchFamily="34" charset="0"/>
                <a:cs typeface="Segoe UI" pitchFamily="34" charset="0"/>
              </a:rPr>
              <a:t>In Server Manager 2012, console </a:t>
            </a:r>
            <a:r>
              <a:rPr lang="en-US" sz="2600" b="0" dirty="0">
                <a:latin typeface="Segoe UI" pitchFamily="34" charset="0"/>
                <a:ea typeface="Segoe UI" pitchFamily="34" charset="0"/>
                <a:cs typeface="Segoe UI" pitchFamily="34" charset="0"/>
              </a:rPr>
              <a:t>servers with a similar role are grouped together</a:t>
            </a:r>
          </a:p>
          <a:p>
            <a:pPr marL="293688" lvl="1" indent="-285750" eaLnBrk="0" hangingPunct="0">
              <a:lnSpc>
                <a:spcPct val="90000"/>
              </a:lnSpc>
              <a:spcBef>
                <a:spcPts val="600"/>
              </a:spcBef>
              <a:buClr>
                <a:srgbClr val="006699"/>
              </a:buClr>
              <a:buFontTx/>
              <a:buChar char="•"/>
            </a:pPr>
            <a:r>
              <a:rPr lang="en-US" sz="2600" b="0" dirty="0">
                <a:latin typeface="Segoe UI" pitchFamily="34" charset="0"/>
                <a:ea typeface="Segoe UI" pitchFamily="34" charset="0"/>
                <a:cs typeface="Segoe UI" pitchFamily="34" charset="0"/>
              </a:rPr>
              <a:t>Role deployment also includes the </a:t>
            </a:r>
            <a:r>
              <a:rPr lang="en-US" sz="2600" b="0" dirty="0" smtClean="0">
                <a:latin typeface="Segoe UI" pitchFamily="34" charset="0"/>
                <a:ea typeface="Segoe UI" pitchFamily="34" charset="0"/>
                <a:cs typeface="Segoe UI" pitchFamily="34" charset="0"/>
              </a:rPr>
              <a:t>configuration </a:t>
            </a:r>
            <a:r>
              <a:rPr lang="en-US" sz="2600" b="0" dirty="0">
                <a:latin typeface="Segoe UI" pitchFamily="34" charset="0"/>
                <a:ea typeface="Segoe UI" pitchFamily="34" charset="0"/>
                <a:cs typeface="Segoe UI" pitchFamily="34" charset="0"/>
              </a:rPr>
              <a:t>of dependencies</a:t>
            </a:r>
          </a:p>
        </p:txBody>
      </p:sp>
    </p:spTree>
    <p:extLst>
      <p:ext uri="{BB962C8B-B14F-4D97-AF65-F5344CB8AC3E}">
        <p14:creationId xmlns:p14="http://schemas.microsoft.com/office/powerpoint/2010/main" val="1828284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7ed5fdb9-f667-416f-8992-83ab1ee998ac">
    <p:spTree>
      <p:nvGrpSpPr>
        <p:cNvPr id="1" name=""/>
        <p:cNvGrpSpPr/>
        <p:nvPr/>
      </p:nvGrpSpPr>
      <p:grpSpPr>
        <a:xfrm>
          <a:off x="0" y="0"/>
          <a:ext cx="0" cy="0"/>
          <a:chOff x="0" y="0"/>
          <a:chExt cx="0" cy="0"/>
        </a:xfrm>
      </p:grpSpPr>
      <p:sp>
        <p:nvSpPr>
          <p:cNvPr id="2" name="Title 1"/>
          <p:cNvSpPr>
            <a:spLocks noGrp="1"/>
          </p:cNvSpPr>
          <p:nvPr>
            <p:ph type="title"/>
          </p:nvPr>
        </p:nvSpPr>
        <p:spPr>
          <a:xfrm>
            <a:off x="1905000" y="288205"/>
            <a:ext cx="6176963" cy="740664"/>
          </a:xfrm>
        </p:spPr>
        <p:txBody>
          <a:bodyPr/>
          <a:lstStyle/>
          <a:p>
            <a:pPr algn="ctr"/>
            <a:r>
              <a:rPr lang="en-CA" sz="2400" dirty="0" smtClean="0">
                <a:solidFill>
                  <a:schemeClr val="tx1"/>
                </a:solidFill>
              </a:rPr>
              <a:t>What Are the Windows Server 2012 Features?</a:t>
            </a:r>
            <a:endParaRPr lang="en-CA" sz="2400" dirty="0">
              <a:solidFill>
                <a:schemeClr val="tx1"/>
              </a:solidFill>
            </a:endParaRPr>
          </a:p>
        </p:txBody>
      </p:sp>
      <p:sp>
        <p:nvSpPr>
          <p:cNvPr id="5" name="AutoShape 3"/>
          <p:cNvSpPr>
            <a:spLocks noChangeArrowheads="1"/>
          </p:cNvSpPr>
          <p:nvPr/>
        </p:nvSpPr>
        <p:spPr bwMode="auto">
          <a:xfrm>
            <a:off x="358923" y="1001437"/>
            <a:ext cx="8327878" cy="577981"/>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800" b="1" dirty="0" smtClean="0">
                <a:latin typeface="Segoe UI" pitchFamily="34" charset="0"/>
                <a:ea typeface="Segoe UI" pitchFamily="34" charset="0"/>
                <a:cs typeface="Segoe UI" pitchFamily="34" charset="0"/>
              </a:rPr>
              <a:t>Features:</a:t>
            </a:r>
          </a:p>
        </p:txBody>
      </p:sp>
      <p:sp>
        <p:nvSpPr>
          <p:cNvPr id="6" name="Rounded Rectangle 5"/>
          <p:cNvSpPr>
            <a:spLocks noChangeArrowheads="1"/>
          </p:cNvSpPr>
          <p:nvPr/>
        </p:nvSpPr>
        <p:spPr bwMode="auto">
          <a:xfrm>
            <a:off x="561166" y="1662538"/>
            <a:ext cx="7923389" cy="1921644"/>
          </a:xfrm>
          <a:prstGeom prst="roundRect">
            <a:avLst>
              <a:gd name="adj" fmla="val 4167"/>
            </a:avLst>
          </a:prstGeom>
          <a:noFill/>
          <a:ln w="9525" algn="ctr">
            <a:noFill/>
            <a:miter lim="800000"/>
            <a:headEnd/>
            <a:tailEnd/>
          </a:ln>
          <a:effec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69863" lvl="1" indent="-169863" eaLnBrk="0" hangingPunct="0">
              <a:lnSpc>
                <a:spcPct val="90000"/>
              </a:lnSpc>
              <a:spcBef>
                <a:spcPts val="600"/>
              </a:spcBef>
              <a:buClr>
                <a:srgbClr val="006699"/>
              </a:buClr>
              <a:buFontTx/>
              <a:buChar char="•"/>
            </a:pPr>
            <a:r>
              <a:rPr lang="en-US" altLang="zh-TW" sz="2800" b="0" dirty="0" smtClean="0">
                <a:solidFill>
                  <a:srgbClr val="000000"/>
                </a:solidFill>
                <a:latin typeface="Segoe UI" pitchFamily="34" charset="0"/>
                <a:ea typeface="Segoe UI" pitchFamily="34" charset="0"/>
                <a:cs typeface="Segoe UI" pitchFamily="34" charset="0"/>
              </a:rPr>
              <a:t>Are components that support the server such as Windows Server Backup or Failover clustering</a:t>
            </a:r>
          </a:p>
          <a:p>
            <a:pPr marL="169863" lvl="1" indent="-169863" eaLnBrk="0" hangingPunct="0">
              <a:lnSpc>
                <a:spcPct val="90000"/>
              </a:lnSpc>
              <a:spcBef>
                <a:spcPts val="600"/>
              </a:spcBef>
              <a:buClr>
                <a:srgbClr val="006699"/>
              </a:buClr>
              <a:buFontTx/>
              <a:buChar char="•"/>
            </a:pPr>
            <a:r>
              <a:rPr lang="en-US" altLang="zh-TW" sz="2800" b="0" dirty="0" smtClean="0">
                <a:solidFill>
                  <a:srgbClr val="000000"/>
                </a:solidFill>
                <a:latin typeface="Segoe UI" pitchFamily="34" charset="0"/>
                <a:ea typeface="Segoe UI" pitchFamily="34" charset="0"/>
                <a:cs typeface="Segoe UI" pitchFamily="34" charset="0"/>
              </a:rPr>
              <a:t>Usually do not provide a service directly to clients on the network</a:t>
            </a:r>
          </a:p>
        </p:txBody>
      </p:sp>
      <p:sp>
        <p:nvSpPr>
          <p:cNvPr id="7" name="AutoShape 3"/>
          <p:cNvSpPr>
            <a:spLocks noChangeArrowheads="1"/>
          </p:cNvSpPr>
          <p:nvPr/>
        </p:nvSpPr>
        <p:spPr bwMode="auto">
          <a:xfrm>
            <a:off x="358923" y="3878883"/>
            <a:ext cx="8327878" cy="526862"/>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800" b="1" dirty="0" smtClean="0">
                <a:latin typeface="Segoe UI" pitchFamily="34" charset="0"/>
                <a:ea typeface="Segoe UI" pitchFamily="34" charset="0"/>
                <a:cs typeface="Segoe UI" pitchFamily="34" charset="0"/>
              </a:rPr>
              <a:t>Keep in mind the following points:</a:t>
            </a:r>
          </a:p>
        </p:txBody>
      </p:sp>
      <p:sp>
        <p:nvSpPr>
          <p:cNvPr id="8" name="Rounded Rectangle 7"/>
          <p:cNvSpPr>
            <a:spLocks noChangeArrowheads="1"/>
          </p:cNvSpPr>
          <p:nvPr/>
        </p:nvSpPr>
        <p:spPr bwMode="auto">
          <a:xfrm>
            <a:off x="561166" y="4558145"/>
            <a:ext cx="7923389" cy="1260504"/>
          </a:xfrm>
          <a:prstGeom prst="roundRect">
            <a:avLst>
              <a:gd name="adj" fmla="val 4167"/>
            </a:avLst>
          </a:prstGeom>
          <a:noFill/>
          <a:ln w="9525" algn="ctr">
            <a:noFill/>
            <a:miter lim="800000"/>
            <a:headEnd/>
            <a:tailEnd/>
          </a:ln>
          <a:effec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69863" lvl="1" indent="-169863" eaLnBrk="0" hangingPunct="0">
              <a:lnSpc>
                <a:spcPct val="90000"/>
              </a:lnSpc>
              <a:spcBef>
                <a:spcPts val="600"/>
              </a:spcBef>
              <a:buClr>
                <a:srgbClr val="006699"/>
              </a:buClr>
              <a:buFontTx/>
              <a:buChar char="•"/>
            </a:pPr>
            <a:r>
              <a:rPr lang="en-US" altLang="zh-TW" sz="2800" b="0" dirty="0" smtClean="0">
                <a:solidFill>
                  <a:srgbClr val="000000"/>
                </a:solidFill>
                <a:latin typeface="Segoe UI" pitchFamily="34" charset="0"/>
                <a:ea typeface="Segoe UI" pitchFamily="34" charset="0"/>
                <a:cs typeface="Segoe UI" pitchFamily="34" charset="0"/>
              </a:rPr>
              <a:t>Roles can have features as dependencies</a:t>
            </a:r>
          </a:p>
          <a:p>
            <a:pPr marL="169863" lvl="1" indent="-169863" eaLnBrk="0" hangingPunct="0">
              <a:lnSpc>
                <a:spcPct val="90000"/>
              </a:lnSpc>
              <a:spcBef>
                <a:spcPts val="600"/>
              </a:spcBef>
              <a:buClr>
                <a:srgbClr val="006699"/>
              </a:buClr>
              <a:buFontTx/>
              <a:buChar char="•"/>
            </a:pPr>
            <a:r>
              <a:rPr lang="en-US" altLang="zh-TW" sz="2800" b="0" dirty="0" smtClean="0">
                <a:solidFill>
                  <a:srgbClr val="000000"/>
                </a:solidFill>
                <a:latin typeface="Segoe UI" pitchFamily="34" charset="0"/>
                <a:ea typeface="Segoe UI" pitchFamily="34" charset="0"/>
                <a:cs typeface="Segoe UI" pitchFamily="34" charset="0"/>
              </a:rPr>
              <a:t>Features on Demand are features that need to be installed using a mounted image as a source</a:t>
            </a:r>
          </a:p>
        </p:txBody>
      </p:sp>
    </p:spTree>
    <p:extLst>
      <p:ext uri="{BB962C8B-B14F-4D97-AF65-F5344CB8AC3E}">
        <p14:creationId xmlns:p14="http://schemas.microsoft.com/office/powerpoint/2010/main" val="2462900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10680cba-cd17-48d7-a9da-1093e1fd194d">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6248401" cy="685800"/>
          </a:xfrm>
        </p:spPr>
        <p:txBody>
          <a:bodyPr>
            <a:normAutofit fontScale="90000"/>
          </a:bodyPr>
          <a:lstStyle/>
          <a:p>
            <a:pPr algn="ctr"/>
            <a:r>
              <a:rPr lang="en-CA" sz="2400" dirty="0" smtClean="0">
                <a:solidFill>
                  <a:schemeClr val="tx1"/>
                </a:solidFill>
              </a:rPr>
              <a:t>Lesson 2: Overview of Windows Server 2012 Management</a:t>
            </a:r>
            <a:endParaRPr lang="en-CA" sz="2400" dirty="0">
              <a:solidFill>
                <a:schemeClr val="tx1"/>
              </a:solidFill>
            </a:endParaRPr>
          </a:p>
        </p:txBody>
      </p:sp>
      <p:sp>
        <p:nvSpPr>
          <p:cNvPr id="3" name="Text Placeholder 2"/>
          <p:cNvSpPr>
            <a:spLocks noGrp="1"/>
          </p:cNvSpPr>
          <p:nvPr>
            <p:ph type="body" idx="1"/>
          </p:nvPr>
        </p:nvSpPr>
        <p:spPr/>
        <p:txBody>
          <a:bodyPr/>
          <a:lstStyle/>
          <a:p>
            <a:r>
              <a:rPr lang="en-CA" dirty="0" smtClean="0"/>
              <a:t>What Is Server Manager?
Administrative Tools and Remote Server Administration Tools
</a:t>
            </a:r>
            <a:r>
              <a:rPr lang="en-CA" dirty="0" smtClean="0"/>
              <a:t>Configuring </a:t>
            </a:r>
            <a:r>
              <a:rPr lang="en-CA" dirty="0" smtClean="0"/>
              <a:t>Services
Configuring Windows Remote Management</a:t>
            </a:r>
            <a:endParaRPr lang="en-CA" dirty="0"/>
          </a:p>
        </p:txBody>
      </p:sp>
    </p:spTree>
    <p:extLst>
      <p:ext uri="{BB962C8B-B14F-4D97-AF65-F5344CB8AC3E}">
        <p14:creationId xmlns:p14="http://schemas.microsoft.com/office/powerpoint/2010/main" val="2525069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e353bf62-c801-4df4-9b97-64d3c014666b">
    <p:spTree>
      <p:nvGrpSpPr>
        <p:cNvPr id="1" name=""/>
        <p:cNvGrpSpPr/>
        <p:nvPr/>
      </p:nvGrpSpPr>
      <p:grpSpPr>
        <a:xfrm>
          <a:off x="0" y="0"/>
          <a:ext cx="0" cy="0"/>
          <a:chOff x="0" y="0"/>
          <a:chExt cx="0" cy="0"/>
        </a:xfrm>
      </p:grpSpPr>
      <p:sp>
        <p:nvSpPr>
          <p:cNvPr id="2" name="Title 1"/>
          <p:cNvSpPr>
            <a:spLocks noGrp="1"/>
          </p:cNvSpPr>
          <p:nvPr>
            <p:ph type="title"/>
          </p:nvPr>
        </p:nvSpPr>
        <p:spPr>
          <a:xfrm>
            <a:off x="1981199" y="-2"/>
            <a:ext cx="6400801" cy="740664"/>
          </a:xfrm>
        </p:spPr>
        <p:txBody>
          <a:bodyPr/>
          <a:lstStyle/>
          <a:p>
            <a:pPr algn="ctr"/>
            <a:r>
              <a:rPr lang="en-CA" sz="2400" dirty="0" smtClean="0">
                <a:solidFill>
                  <a:schemeClr val="tx1"/>
                </a:solidFill>
              </a:rPr>
              <a:t>What Is Server Manager?</a:t>
            </a:r>
            <a:endParaRPr lang="en-CA" sz="2400" dirty="0">
              <a:solidFill>
                <a:schemeClr val="tx1"/>
              </a:solidFill>
            </a:endParaRPr>
          </a:p>
        </p:txBody>
      </p:sp>
      <p:sp>
        <p:nvSpPr>
          <p:cNvPr id="4" name="AutoShape 3"/>
          <p:cNvSpPr>
            <a:spLocks noChangeArrowheads="1"/>
          </p:cNvSpPr>
          <p:nvPr/>
        </p:nvSpPr>
        <p:spPr bwMode="auto">
          <a:xfrm>
            <a:off x="522288" y="959925"/>
            <a:ext cx="8355012" cy="4968928"/>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800" dirty="0">
                <a:latin typeface="Segoe UI" pitchFamily="34" charset="0"/>
                <a:ea typeface="Segoe UI" pitchFamily="34" charset="0"/>
                <a:cs typeface="Segoe UI" pitchFamily="34" charset="0"/>
              </a:rPr>
              <a:t>You can use Server Manager to:</a:t>
            </a:r>
          </a:p>
          <a:p>
            <a:endParaRPr lang="en-US" sz="2800" dirty="0">
              <a:latin typeface="Segoe UI" pitchFamily="34" charset="0"/>
              <a:ea typeface="Segoe UI" pitchFamily="34" charset="0"/>
              <a:cs typeface="Segoe UI" pitchFamily="34" charset="0"/>
            </a:endParaRPr>
          </a:p>
          <a:p>
            <a:endParaRPr lang="en-US" sz="2800" dirty="0">
              <a:latin typeface="Segoe UI" pitchFamily="34" charset="0"/>
              <a:ea typeface="Segoe UI" pitchFamily="34" charset="0"/>
              <a:cs typeface="Segoe UI" pitchFamily="34" charset="0"/>
            </a:endParaRPr>
          </a:p>
          <a:p>
            <a:endParaRPr lang="en-US" sz="2800" dirty="0">
              <a:latin typeface="Segoe UI" pitchFamily="34" charset="0"/>
              <a:ea typeface="Segoe UI" pitchFamily="34" charset="0"/>
              <a:cs typeface="Segoe UI" pitchFamily="34" charset="0"/>
            </a:endParaRPr>
          </a:p>
        </p:txBody>
      </p:sp>
      <p:sp>
        <p:nvSpPr>
          <p:cNvPr id="5" name="Rounded Rectangle 4"/>
          <p:cNvSpPr>
            <a:spLocks noChangeArrowheads="1"/>
          </p:cNvSpPr>
          <p:nvPr/>
        </p:nvSpPr>
        <p:spPr bwMode="auto">
          <a:xfrm>
            <a:off x="716731" y="2808542"/>
            <a:ext cx="7710487" cy="489418"/>
          </a:xfrm>
          <a:prstGeom prst="roundRect">
            <a:avLst>
              <a:gd name="adj" fmla="val 4167"/>
            </a:avLst>
          </a:prstGeom>
          <a:noFill/>
          <a:ln w="9525" algn="ctr">
            <a:noFill/>
            <a:round/>
            <a:headEnd/>
            <a:tailEnd/>
          </a:ln>
          <a:effectLst/>
        </p:spPr>
        <p:txBody>
          <a:bodyPr wrap="square"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85750" indent="-285750" eaLnBrk="0" hangingPunct="0">
              <a:lnSpc>
                <a:spcPct val="90000"/>
              </a:lnSpc>
              <a:spcBef>
                <a:spcPct val="40000"/>
              </a:spcBef>
              <a:buClr>
                <a:srgbClr val="006699"/>
              </a:buClr>
              <a:buFontTx/>
              <a:buChar char="•"/>
            </a:pPr>
            <a:r>
              <a:rPr lang="en-US" sz="2800" b="0" dirty="0" smtClean="0">
                <a:latin typeface="Segoe UI" pitchFamily="34" charset="0"/>
                <a:ea typeface="Segoe UI" pitchFamily="34" charset="0"/>
                <a:cs typeface="Segoe UI" pitchFamily="34" charset="0"/>
              </a:rPr>
              <a:t>Add </a:t>
            </a:r>
            <a:r>
              <a:rPr lang="en-US" sz="2800" b="0" dirty="0">
                <a:latin typeface="Segoe UI" pitchFamily="34" charset="0"/>
                <a:ea typeface="Segoe UI" pitchFamily="34" charset="0"/>
                <a:cs typeface="Segoe UI" pitchFamily="34" charset="0"/>
              </a:rPr>
              <a:t>roles and features </a:t>
            </a:r>
          </a:p>
        </p:txBody>
      </p:sp>
      <p:sp>
        <p:nvSpPr>
          <p:cNvPr id="6" name="Rounded Rectangle 5"/>
          <p:cNvSpPr>
            <a:spLocks noChangeArrowheads="1"/>
          </p:cNvSpPr>
          <p:nvPr/>
        </p:nvSpPr>
        <p:spPr bwMode="auto">
          <a:xfrm>
            <a:off x="716731" y="3644084"/>
            <a:ext cx="7710487" cy="489418"/>
          </a:xfrm>
          <a:prstGeom prst="roundRect">
            <a:avLst>
              <a:gd name="adj" fmla="val 4167"/>
            </a:avLst>
          </a:prstGeom>
          <a:noFill/>
          <a:ln w="9525" algn="ctr">
            <a:noFill/>
            <a:round/>
            <a:headEnd/>
            <a:tailEnd/>
          </a:ln>
          <a:effectLst/>
        </p:spPr>
        <p:txBody>
          <a:bodyPr wrap="square"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85750" indent="-285750" eaLnBrk="0" hangingPunct="0">
              <a:lnSpc>
                <a:spcPct val="90000"/>
              </a:lnSpc>
              <a:spcBef>
                <a:spcPct val="40000"/>
              </a:spcBef>
              <a:buClr>
                <a:srgbClr val="006699"/>
              </a:buClr>
              <a:buFontTx/>
              <a:buChar char="•"/>
            </a:pPr>
            <a:r>
              <a:rPr lang="en-US" sz="2800" b="0" dirty="0" smtClean="0">
                <a:latin typeface="Segoe UI" pitchFamily="34" charset="0"/>
                <a:ea typeface="Segoe UI" pitchFamily="34" charset="0"/>
                <a:cs typeface="Segoe UI" pitchFamily="34" charset="0"/>
              </a:rPr>
              <a:t>Launch Windows PowerShell sessions</a:t>
            </a:r>
            <a:endParaRPr lang="en-US" sz="2800" b="0" dirty="0">
              <a:latin typeface="Segoe UI" pitchFamily="34" charset="0"/>
              <a:ea typeface="Segoe UI" pitchFamily="34" charset="0"/>
              <a:cs typeface="Segoe UI" pitchFamily="34" charset="0"/>
            </a:endParaRPr>
          </a:p>
        </p:txBody>
      </p:sp>
      <p:sp>
        <p:nvSpPr>
          <p:cNvPr id="7" name="Rounded Rectangle 6"/>
          <p:cNvSpPr>
            <a:spLocks noChangeArrowheads="1"/>
          </p:cNvSpPr>
          <p:nvPr/>
        </p:nvSpPr>
        <p:spPr bwMode="auto">
          <a:xfrm>
            <a:off x="716731" y="4479626"/>
            <a:ext cx="7710487" cy="489418"/>
          </a:xfrm>
          <a:prstGeom prst="roundRect">
            <a:avLst>
              <a:gd name="adj" fmla="val 4167"/>
            </a:avLst>
          </a:prstGeom>
          <a:noFill/>
          <a:ln w="9525" algn="ctr">
            <a:noFill/>
            <a:round/>
            <a:headEnd/>
            <a:tailEnd/>
          </a:ln>
          <a:effectLst/>
        </p:spPr>
        <p:txBody>
          <a:bodyPr wrap="square"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85750" indent="-285750" eaLnBrk="0" hangingPunct="0">
              <a:lnSpc>
                <a:spcPct val="90000"/>
              </a:lnSpc>
              <a:spcBef>
                <a:spcPct val="40000"/>
              </a:spcBef>
              <a:buClr>
                <a:srgbClr val="006699"/>
              </a:buClr>
              <a:buFontTx/>
              <a:buChar char="•"/>
            </a:pPr>
            <a:r>
              <a:rPr lang="en-US" sz="2800" b="0" dirty="0" smtClean="0">
                <a:latin typeface="Segoe UI" pitchFamily="34" charset="0"/>
                <a:ea typeface="Segoe UI" pitchFamily="34" charset="0"/>
                <a:cs typeface="Segoe UI" pitchFamily="34" charset="0"/>
              </a:rPr>
              <a:t>View </a:t>
            </a:r>
            <a:r>
              <a:rPr lang="en-US" sz="2800" b="0" dirty="0">
                <a:latin typeface="Segoe UI" pitchFamily="34" charset="0"/>
                <a:ea typeface="Segoe UI" pitchFamily="34" charset="0"/>
                <a:cs typeface="Segoe UI" pitchFamily="34" charset="0"/>
              </a:rPr>
              <a:t>events </a:t>
            </a:r>
          </a:p>
        </p:txBody>
      </p:sp>
      <p:sp>
        <p:nvSpPr>
          <p:cNvPr id="8" name="Rounded Rectangle 7"/>
          <p:cNvSpPr>
            <a:spLocks noChangeArrowheads="1"/>
          </p:cNvSpPr>
          <p:nvPr/>
        </p:nvSpPr>
        <p:spPr bwMode="auto">
          <a:xfrm>
            <a:off x="716731" y="5315167"/>
            <a:ext cx="7710487" cy="489418"/>
          </a:xfrm>
          <a:prstGeom prst="roundRect">
            <a:avLst>
              <a:gd name="adj" fmla="val 4167"/>
            </a:avLst>
          </a:prstGeom>
          <a:noFill/>
          <a:ln w="9525" algn="ctr">
            <a:noFill/>
            <a:round/>
            <a:headEnd/>
            <a:tailEnd/>
          </a:ln>
          <a:effectLst/>
        </p:spPr>
        <p:txBody>
          <a:bodyPr wrap="square"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85750" indent="-285750" eaLnBrk="0" hangingPunct="0">
              <a:lnSpc>
                <a:spcPct val="90000"/>
              </a:lnSpc>
              <a:spcBef>
                <a:spcPct val="40000"/>
              </a:spcBef>
              <a:buClr>
                <a:srgbClr val="006699"/>
              </a:buClr>
              <a:buFontTx/>
              <a:buChar char="•"/>
            </a:pPr>
            <a:r>
              <a:rPr lang="en-US" sz="2800" b="0" dirty="0" smtClean="0">
                <a:latin typeface="Segoe UI" pitchFamily="34" charset="0"/>
                <a:ea typeface="Segoe UI" pitchFamily="34" charset="0"/>
                <a:cs typeface="Segoe UI" pitchFamily="34" charset="0"/>
              </a:rPr>
              <a:t>Perform </a:t>
            </a:r>
            <a:r>
              <a:rPr lang="en-US" sz="2800" b="0" dirty="0">
                <a:latin typeface="Segoe UI" pitchFamily="34" charset="0"/>
                <a:ea typeface="Segoe UI" pitchFamily="34" charset="0"/>
                <a:cs typeface="Segoe UI" pitchFamily="34" charset="0"/>
              </a:rPr>
              <a:t>server configuration </a:t>
            </a:r>
            <a:r>
              <a:rPr lang="en-US" sz="2800" b="0" dirty="0" smtClean="0">
                <a:latin typeface="Segoe UI" pitchFamily="34" charset="0"/>
                <a:ea typeface="Segoe UI" pitchFamily="34" charset="0"/>
                <a:cs typeface="Segoe UI" pitchFamily="34" charset="0"/>
              </a:rPr>
              <a:t>tasks</a:t>
            </a:r>
            <a:endParaRPr lang="en-US" sz="2800" b="0" dirty="0">
              <a:latin typeface="Segoe UI" pitchFamily="34" charset="0"/>
              <a:ea typeface="Segoe UI" pitchFamily="34" charset="0"/>
              <a:cs typeface="Segoe UI" pitchFamily="34" charset="0"/>
            </a:endParaRPr>
          </a:p>
        </p:txBody>
      </p:sp>
      <p:sp>
        <p:nvSpPr>
          <p:cNvPr id="9" name="Rounded Rectangle 8"/>
          <p:cNvSpPr>
            <a:spLocks noChangeArrowheads="1"/>
          </p:cNvSpPr>
          <p:nvPr/>
        </p:nvSpPr>
        <p:spPr bwMode="auto">
          <a:xfrm>
            <a:off x="716731" y="1577700"/>
            <a:ext cx="5914513" cy="884718"/>
          </a:xfrm>
          <a:prstGeom prst="roundRect">
            <a:avLst>
              <a:gd name="adj" fmla="val 4167"/>
            </a:avLst>
          </a:prstGeom>
          <a:noFill/>
          <a:ln w="9525" algn="ctr">
            <a:noFill/>
            <a:round/>
            <a:headEnd/>
            <a:tailEnd/>
          </a:ln>
          <a:effectLst/>
        </p:spPr>
        <p:txBody>
          <a:bodyPr wrap="square"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85750" indent="-285750" eaLnBrk="0" hangingPunct="0">
              <a:lnSpc>
                <a:spcPct val="90000"/>
              </a:lnSpc>
              <a:spcBef>
                <a:spcPct val="40000"/>
              </a:spcBef>
              <a:buClr>
                <a:srgbClr val="006699"/>
              </a:buClr>
              <a:buFontTx/>
              <a:buChar char="•"/>
            </a:pPr>
            <a:r>
              <a:rPr lang="en-US" sz="2800" b="0" dirty="0" smtClean="0">
                <a:latin typeface="Segoe UI" pitchFamily="34" charset="0"/>
                <a:ea typeface="Segoe UI" pitchFamily="34" charset="0"/>
                <a:cs typeface="Segoe UI" pitchFamily="34" charset="0"/>
              </a:rPr>
              <a:t>Manage </a:t>
            </a:r>
            <a:r>
              <a:rPr lang="en-US" sz="2800" b="0" dirty="0">
                <a:latin typeface="Segoe UI" pitchFamily="34" charset="0"/>
                <a:ea typeface="Segoe UI" pitchFamily="34" charset="0"/>
                <a:cs typeface="Segoe UI" pitchFamily="34" charset="0"/>
              </a:rPr>
              <a:t>multiple servers on a network </a:t>
            </a:r>
            <a:r>
              <a:rPr lang="en-US" sz="2800" b="0" dirty="0" smtClean="0">
                <a:latin typeface="Segoe UI" pitchFamily="34" charset="0"/>
                <a:ea typeface="Segoe UI" pitchFamily="34" charset="0"/>
                <a:cs typeface="Segoe UI" pitchFamily="34" charset="0"/>
              </a:rPr>
              <a:t>from </a:t>
            </a:r>
            <a:r>
              <a:rPr lang="en-US" sz="2800" b="0" dirty="0">
                <a:latin typeface="Segoe UI" pitchFamily="34" charset="0"/>
                <a:ea typeface="Segoe UI" pitchFamily="34" charset="0"/>
                <a:cs typeface="Segoe UI" pitchFamily="34" charset="0"/>
              </a:rPr>
              <a:t>one </a:t>
            </a:r>
            <a:r>
              <a:rPr lang="en-US" sz="2800" b="0" dirty="0" smtClean="0">
                <a:latin typeface="Segoe UI" pitchFamily="34" charset="0"/>
                <a:ea typeface="Segoe UI" pitchFamily="34" charset="0"/>
                <a:cs typeface="Segoe UI" pitchFamily="34" charset="0"/>
              </a:rPr>
              <a:t>console</a:t>
            </a:r>
            <a:endParaRPr lang="en-US" sz="2800" b="0" dirty="0">
              <a:latin typeface="Segoe UI" pitchFamily="34" charset="0"/>
              <a:ea typeface="Segoe UI" pitchFamily="34" charset="0"/>
              <a:cs typeface="Segoe UI" pitchFamily="34" charset="0"/>
            </a:endParaRP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18405" y="1239941"/>
            <a:ext cx="563711" cy="663190"/>
          </a:xfrm>
          <a:prstGeom prst="rect">
            <a:avLst/>
          </a:prstGeom>
          <a:noFill/>
          <a:ln>
            <a:noFill/>
          </a:ln>
          <a:effectLst/>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56871" y="1314348"/>
            <a:ext cx="563711" cy="663190"/>
          </a:xfrm>
          <a:prstGeom prst="rect">
            <a:avLst/>
          </a:prstGeom>
          <a:noFill/>
          <a:ln>
            <a:noFill/>
          </a:ln>
          <a:effectLst/>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7900" y="1645943"/>
            <a:ext cx="563711" cy="663190"/>
          </a:xfrm>
          <a:prstGeom prst="rect">
            <a:avLst/>
          </a:prstGeom>
          <a:noFill/>
          <a:ln>
            <a:noFill/>
          </a:ln>
          <a:effectLst/>
        </p:spPr>
      </p:pic>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3746" y="1645943"/>
            <a:ext cx="563711" cy="663190"/>
          </a:xfrm>
          <a:prstGeom prst="rect">
            <a:avLst/>
          </a:prstGeom>
          <a:noFill/>
          <a:ln>
            <a:noFill/>
          </a:ln>
          <a:effectLst/>
        </p:spPr>
      </p:pic>
      <p:cxnSp>
        <p:nvCxnSpPr>
          <p:cNvPr id="14" name="Straight Connector 13"/>
          <p:cNvCxnSpPr/>
          <p:nvPr/>
        </p:nvCxnSpPr>
        <p:spPr bwMode="auto">
          <a:xfrm flipV="1">
            <a:off x="6990736" y="1764510"/>
            <a:ext cx="527669" cy="304420"/>
          </a:xfrm>
          <a:prstGeom prst="line">
            <a:avLst/>
          </a:prstGeom>
          <a:gradFill rotWithShape="1">
            <a:gsLst>
              <a:gs pos="0">
                <a:srgbClr val="E4CD9A"/>
              </a:gs>
              <a:gs pos="100000">
                <a:srgbClr val="EEEFD7"/>
              </a:gs>
            </a:gsLst>
            <a:lin ang="2700000" scaled="1"/>
          </a:gradFill>
          <a:ln w="38100" cap="flat" cmpd="sng" algn="ctr">
            <a:noFill/>
            <a:prstDash val="solid"/>
            <a:round/>
            <a:headEnd type="none" w="med" len="med"/>
            <a:tailEnd type="arrow" w="med" len="med"/>
          </a:ln>
          <a:effectLst/>
        </p:spPr>
      </p:cxnSp>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91478" y="1764510"/>
            <a:ext cx="756145" cy="922128"/>
          </a:xfrm>
          <a:prstGeom prst="rect">
            <a:avLst/>
          </a:prstGeom>
          <a:noFill/>
          <a:ln>
            <a:noFill/>
          </a:ln>
          <a:effectLst/>
        </p:spPr>
      </p:pic>
      <p:pic>
        <p:nvPicPr>
          <p:cNvPr id="16" name="Picture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94061" y="2485245"/>
            <a:ext cx="1391333" cy="1011878"/>
          </a:xfrm>
          <a:prstGeom prst="rect">
            <a:avLst/>
          </a:prstGeom>
          <a:noFill/>
          <a:ln>
            <a:noFill/>
          </a:ln>
          <a:effectLst/>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94061" y="2714541"/>
            <a:ext cx="385272" cy="606727"/>
          </a:xfrm>
          <a:prstGeom prst="rect">
            <a:avLst/>
          </a:prstGeom>
          <a:noFill/>
          <a:ln>
            <a:noFill/>
          </a:ln>
          <a:effectLst/>
        </p:spPr>
      </p:pic>
      <p:pic>
        <p:nvPicPr>
          <p:cNvPr id="18" name="Picture 1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521067" y="4306940"/>
            <a:ext cx="895103" cy="983088"/>
          </a:xfrm>
          <a:prstGeom prst="rect">
            <a:avLst/>
          </a:prstGeom>
          <a:noFill/>
          <a:ln>
            <a:noFill/>
          </a:ln>
          <a:effectLst/>
        </p:spPr>
      </p:pic>
      <p:pic>
        <p:nvPicPr>
          <p:cNvPr id="19" name="Picture 1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402422" y="4634238"/>
            <a:ext cx="1093526" cy="1286501"/>
          </a:xfrm>
          <a:prstGeom prst="rect">
            <a:avLst/>
          </a:prstGeom>
          <a:noFill/>
          <a:ln>
            <a:noFill/>
          </a:ln>
          <a:effectLst/>
        </p:spPr>
      </p:pic>
    </p:spTree>
    <p:extLst>
      <p:ext uri="{BB962C8B-B14F-4D97-AF65-F5344CB8AC3E}">
        <p14:creationId xmlns:p14="http://schemas.microsoft.com/office/powerpoint/2010/main" val="2987050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name="b2e7debd-3a38-40a7-aedd-c3cd6f70d6e8">
    <p:spTree>
      <p:nvGrpSpPr>
        <p:cNvPr id="1" name=""/>
        <p:cNvGrpSpPr/>
        <p:nvPr/>
      </p:nvGrpSpPr>
      <p:grpSpPr>
        <a:xfrm>
          <a:off x="0" y="0"/>
          <a:ext cx="0" cy="0"/>
          <a:chOff x="0" y="0"/>
          <a:chExt cx="0" cy="0"/>
        </a:xfrm>
      </p:grpSpPr>
      <p:sp>
        <p:nvSpPr>
          <p:cNvPr id="2" name="Title 1"/>
          <p:cNvSpPr>
            <a:spLocks noGrp="1"/>
          </p:cNvSpPr>
          <p:nvPr>
            <p:ph type="title"/>
          </p:nvPr>
        </p:nvSpPr>
        <p:spPr>
          <a:xfrm>
            <a:off x="1676400" y="511010"/>
            <a:ext cx="6400801" cy="685802"/>
          </a:xfrm>
        </p:spPr>
        <p:txBody>
          <a:bodyPr>
            <a:normAutofit fontScale="90000"/>
          </a:bodyPr>
          <a:lstStyle/>
          <a:p>
            <a:pPr algn="ctr"/>
            <a:r>
              <a:rPr lang="en-CA" sz="2400" dirty="0" smtClean="0">
                <a:solidFill>
                  <a:schemeClr val="tx1"/>
                </a:solidFill>
              </a:rPr>
              <a:t>Administrative Tools and Remote Server </a:t>
            </a:r>
            <a:br>
              <a:rPr lang="en-CA" sz="2400" dirty="0" smtClean="0">
                <a:solidFill>
                  <a:schemeClr val="tx1"/>
                </a:solidFill>
              </a:rPr>
            </a:br>
            <a:r>
              <a:rPr lang="en-CA" sz="2400" dirty="0" smtClean="0">
                <a:solidFill>
                  <a:schemeClr val="tx1"/>
                </a:solidFill>
              </a:rPr>
              <a:t>Administration Tools</a:t>
            </a:r>
            <a:endParaRPr lang="en-CA" sz="2400" dirty="0">
              <a:solidFill>
                <a:schemeClr val="tx1"/>
              </a:solidFill>
            </a:endParaRPr>
          </a:p>
        </p:txBody>
      </p:sp>
      <p:sp>
        <p:nvSpPr>
          <p:cNvPr id="4" name="AutoShape 3"/>
          <p:cNvSpPr>
            <a:spLocks noChangeArrowheads="1"/>
          </p:cNvSpPr>
          <p:nvPr/>
        </p:nvSpPr>
        <p:spPr bwMode="auto">
          <a:xfrm>
            <a:off x="1231278" y="1214872"/>
            <a:ext cx="7571527" cy="4708850"/>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r>
              <a:rPr lang="en-US" sz="2400" dirty="0">
                <a:latin typeface="Segoe UI" pitchFamily="34" charset="0"/>
                <a:ea typeface="Segoe UI" pitchFamily="34" charset="0"/>
                <a:cs typeface="Segoe UI" pitchFamily="34" charset="0"/>
              </a:rPr>
              <a:t>Administrative </a:t>
            </a:r>
            <a:r>
              <a:rPr lang="en-US" sz="2400" dirty="0" smtClean="0">
                <a:latin typeface="Segoe UI" pitchFamily="34" charset="0"/>
                <a:ea typeface="Segoe UI" pitchFamily="34" charset="0"/>
                <a:cs typeface="Segoe UI" pitchFamily="34" charset="0"/>
              </a:rPr>
              <a:t>tools:</a:t>
            </a:r>
            <a:endParaRPr lang="en-US" sz="2400" dirty="0">
              <a:latin typeface="Segoe UI" pitchFamily="34" charset="0"/>
              <a:ea typeface="Segoe UI" pitchFamily="34" charset="0"/>
              <a:cs typeface="Segoe UI" pitchFamily="34" charset="0"/>
            </a:endParaRPr>
          </a:p>
        </p:txBody>
      </p:sp>
      <p:sp>
        <p:nvSpPr>
          <p:cNvPr id="5" name="Rounded Rectangle 4"/>
          <p:cNvSpPr>
            <a:spLocks noChangeArrowheads="1"/>
          </p:cNvSpPr>
          <p:nvPr/>
        </p:nvSpPr>
        <p:spPr bwMode="auto">
          <a:xfrm>
            <a:off x="1529660" y="1864554"/>
            <a:ext cx="6889359" cy="3635100"/>
          </a:xfrm>
          <a:prstGeom prst="roundRect">
            <a:avLst>
              <a:gd name="adj" fmla="val 4167"/>
            </a:avLst>
          </a:prstGeom>
          <a:noFill/>
          <a:ln w="9525" algn="ctr">
            <a:noFill/>
            <a:round/>
            <a:headEnd/>
            <a:tailEnd/>
          </a:ln>
          <a:effectLst/>
        </p:spPr>
        <p:txBody>
          <a:bodyPr anchor="t" anchorCtr="0">
            <a:no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93688" lvl="1" indent="-285750" eaLnBrk="0" hangingPunct="0">
              <a:lnSpc>
                <a:spcPct val="90000"/>
              </a:lnSpc>
              <a:spcBef>
                <a:spcPts val="600"/>
              </a:spcBef>
              <a:buClr>
                <a:srgbClr val="006699"/>
              </a:buClr>
              <a:buFontTx/>
              <a:buChar char="•"/>
            </a:pPr>
            <a:r>
              <a:rPr lang="en-US" sz="2400" b="0" dirty="0">
                <a:latin typeface="Segoe UI" pitchFamily="34" charset="0"/>
                <a:ea typeface="Segoe UI" pitchFamily="34" charset="0"/>
                <a:cs typeface="Segoe UI" pitchFamily="34" charset="0"/>
              </a:rPr>
              <a:t>Active Directory Administrative Center</a:t>
            </a:r>
          </a:p>
          <a:p>
            <a:pPr marL="293688" lvl="1" indent="-285750" eaLnBrk="0" hangingPunct="0">
              <a:lnSpc>
                <a:spcPct val="90000"/>
              </a:lnSpc>
              <a:spcBef>
                <a:spcPts val="600"/>
              </a:spcBef>
              <a:buClr>
                <a:srgbClr val="006699"/>
              </a:buClr>
              <a:buFontTx/>
              <a:buChar char="•"/>
            </a:pPr>
            <a:r>
              <a:rPr lang="en-US" sz="2400" b="0" dirty="0">
                <a:latin typeface="Segoe UI" pitchFamily="34" charset="0"/>
                <a:ea typeface="Segoe UI" pitchFamily="34" charset="0"/>
                <a:cs typeface="Segoe UI" pitchFamily="34" charset="0"/>
              </a:rPr>
              <a:t>Active Directory Users and Computers</a:t>
            </a:r>
          </a:p>
          <a:p>
            <a:pPr marL="293688" lvl="1" indent="-285750" eaLnBrk="0" hangingPunct="0">
              <a:lnSpc>
                <a:spcPct val="90000"/>
              </a:lnSpc>
              <a:spcBef>
                <a:spcPts val="600"/>
              </a:spcBef>
              <a:buClr>
                <a:srgbClr val="006699"/>
              </a:buClr>
              <a:buFontTx/>
              <a:buChar char="•"/>
            </a:pPr>
            <a:r>
              <a:rPr lang="en-US" sz="2400" b="0" dirty="0">
                <a:latin typeface="Segoe UI" pitchFamily="34" charset="0"/>
                <a:ea typeface="Segoe UI" pitchFamily="34" charset="0"/>
                <a:cs typeface="Segoe UI" pitchFamily="34" charset="0"/>
              </a:rPr>
              <a:t>DNS </a:t>
            </a:r>
            <a:r>
              <a:rPr lang="en-US" sz="2400" b="0" dirty="0" smtClean="0">
                <a:latin typeface="Segoe UI" pitchFamily="34" charset="0"/>
                <a:ea typeface="Segoe UI" pitchFamily="34" charset="0"/>
                <a:cs typeface="Segoe UI" pitchFamily="34" charset="0"/>
              </a:rPr>
              <a:t>console</a:t>
            </a:r>
            <a:endParaRPr lang="en-US" sz="2400" b="0" dirty="0">
              <a:latin typeface="Segoe UI" pitchFamily="34" charset="0"/>
              <a:ea typeface="Segoe UI" pitchFamily="34" charset="0"/>
              <a:cs typeface="Segoe UI" pitchFamily="34" charset="0"/>
            </a:endParaRPr>
          </a:p>
          <a:p>
            <a:pPr marL="293688" lvl="1" indent="-285750" eaLnBrk="0" hangingPunct="0">
              <a:lnSpc>
                <a:spcPct val="90000"/>
              </a:lnSpc>
              <a:spcBef>
                <a:spcPts val="600"/>
              </a:spcBef>
              <a:buClr>
                <a:srgbClr val="006699"/>
              </a:buClr>
              <a:buFontTx/>
              <a:buChar char="•"/>
            </a:pPr>
            <a:r>
              <a:rPr lang="en-US" sz="2400" b="0" dirty="0">
                <a:latin typeface="Segoe UI" pitchFamily="34" charset="0"/>
                <a:ea typeface="Segoe UI" pitchFamily="34" charset="0"/>
                <a:cs typeface="Segoe UI" pitchFamily="34" charset="0"/>
              </a:rPr>
              <a:t>Event Viewer</a:t>
            </a:r>
          </a:p>
          <a:p>
            <a:pPr marL="293688" lvl="1" indent="-285750" eaLnBrk="0" hangingPunct="0">
              <a:lnSpc>
                <a:spcPct val="90000"/>
              </a:lnSpc>
              <a:spcBef>
                <a:spcPts val="600"/>
              </a:spcBef>
              <a:buClr>
                <a:srgbClr val="006699"/>
              </a:buClr>
              <a:buFontTx/>
              <a:buChar char="•"/>
            </a:pPr>
            <a:r>
              <a:rPr lang="en-US" sz="2400" b="0" dirty="0">
                <a:latin typeface="Segoe UI" pitchFamily="34" charset="0"/>
                <a:ea typeface="Segoe UI" pitchFamily="34" charset="0"/>
                <a:cs typeface="Segoe UI" pitchFamily="34" charset="0"/>
              </a:rPr>
              <a:t>Group Policy Management </a:t>
            </a:r>
            <a:r>
              <a:rPr lang="en-US" sz="2400" b="0" dirty="0" smtClean="0">
                <a:latin typeface="Segoe UI" pitchFamily="34" charset="0"/>
                <a:ea typeface="Segoe UI" pitchFamily="34" charset="0"/>
                <a:cs typeface="Segoe UI" pitchFamily="34" charset="0"/>
              </a:rPr>
              <a:t>Console</a:t>
            </a:r>
            <a:endParaRPr lang="en-US" sz="2400" b="0" dirty="0">
              <a:latin typeface="Segoe UI" pitchFamily="34" charset="0"/>
              <a:ea typeface="Segoe UI" pitchFamily="34" charset="0"/>
              <a:cs typeface="Segoe UI" pitchFamily="34" charset="0"/>
            </a:endParaRPr>
          </a:p>
          <a:p>
            <a:pPr marL="293688" lvl="1" indent="-285750" eaLnBrk="0" hangingPunct="0">
              <a:lnSpc>
                <a:spcPct val="90000"/>
              </a:lnSpc>
              <a:spcBef>
                <a:spcPts val="600"/>
              </a:spcBef>
              <a:buClr>
                <a:srgbClr val="006699"/>
              </a:buClr>
              <a:buFontTx/>
              <a:buChar char="•"/>
            </a:pPr>
            <a:r>
              <a:rPr lang="en-US" sz="2400" b="0" dirty="0" smtClean="0">
                <a:latin typeface="Segoe UI" pitchFamily="34" charset="0"/>
                <a:ea typeface="Segoe UI" pitchFamily="34" charset="0"/>
                <a:cs typeface="Segoe UI" pitchFamily="34" charset="0"/>
              </a:rPr>
              <a:t>IIS </a:t>
            </a:r>
            <a:r>
              <a:rPr lang="en-US" sz="2400" b="0" dirty="0">
                <a:latin typeface="Segoe UI" pitchFamily="34" charset="0"/>
                <a:ea typeface="Segoe UI" pitchFamily="34" charset="0"/>
                <a:cs typeface="Segoe UI" pitchFamily="34" charset="0"/>
              </a:rPr>
              <a:t>Manager</a:t>
            </a:r>
          </a:p>
          <a:p>
            <a:pPr marL="293688" lvl="1" indent="-285750" eaLnBrk="0" hangingPunct="0">
              <a:lnSpc>
                <a:spcPct val="90000"/>
              </a:lnSpc>
              <a:spcBef>
                <a:spcPts val="600"/>
              </a:spcBef>
              <a:buClr>
                <a:srgbClr val="006699"/>
              </a:buClr>
              <a:buFontTx/>
              <a:buChar char="•"/>
            </a:pPr>
            <a:r>
              <a:rPr lang="en-US" sz="2400" b="0" dirty="0">
                <a:latin typeface="Segoe UI" pitchFamily="34" charset="0"/>
                <a:ea typeface="Segoe UI" pitchFamily="34" charset="0"/>
                <a:cs typeface="Segoe UI" pitchFamily="34" charset="0"/>
              </a:rPr>
              <a:t>Performance Monitor</a:t>
            </a:r>
          </a:p>
          <a:p>
            <a:pPr marL="293688" lvl="1" indent="-285750" eaLnBrk="0" hangingPunct="0">
              <a:lnSpc>
                <a:spcPct val="90000"/>
              </a:lnSpc>
              <a:spcBef>
                <a:spcPts val="600"/>
              </a:spcBef>
              <a:buClr>
                <a:srgbClr val="006699"/>
              </a:buClr>
              <a:buFontTx/>
              <a:buChar char="•"/>
            </a:pPr>
            <a:r>
              <a:rPr lang="en-US" sz="2400" b="0" dirty="0">
                <a:latin typeface="Segoe UI" pitchFamily="34" charset="0"/>
                <a:ea typeface="Segoe UI" pitchFamily="34" charset="0"/>
                <a:cs typeface="Segoe UI" pitchFamily="34" charset="0"/>
              </a:rPr>
              <a:t>Resource Monitor</a:t>
            </a:r>
          </a:p>
          <a:p>
            <a:pPr marL="293688" lvl="1" indent="-285750" eaLnBrk="0" hangingPunct="0">
              <a:lnSpc>
                <a:spcPct val="90000"/>
              </a:lnSpc>
              <a:spcBef>
                <a:spcPts val="600"/>
              </a:spcBef>
              <a:buClr>
                <a:srgbClr val="006699"/>
              </a:buClr>
              <a:buFontTx/>
              <a:buChar char="•"/>
            </a:pPr>
            <a:r>
              <a:rPr lang="en-US" sz="2400" b="0" dirty="0">
                <a:latin typeface="Segoe UI" pitchFamily="34" charset="0"/>
                <a:ea typeface="Segoe UI" pitchFamily="34" charset="0"/>
                <a:cs typeface="Segoe UI" pitchFamily="34" charset="0"/>
              </a:rPr>
              <a:t>Task Scheduler</a:t>
            </a:r>
          </a:p>
          <a:p>
            <a:pPr marL="293688" lvl="1" indent="-285750" eaLnBrk="0" hangingPunct="0">
              <a:lnSpc>
                <a:spcPct val="90000"/>
              </a:lnSpc>
              <a:spcBef>
                <a:spcPts val="600"/>
              </a:spcBef>
              <a:buClr>
                <a:srgbClr val="006699"/>
              </a:buClr>
              <a:buFontTx/>
              <a:buChar char="•"/>
            </a:pPr>
            <a:endParaRPr lang="en-US" sz="28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190867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name="fdae77df-2b10-4a89-9f1f-a9735767a7fa">
    <p:spTree>
      <p:nvGrpSpPr>
        <p:cNvPr id="1" name=""/>
        <p:cNvGrpSpPr/>
        <p:nvPr/>
      </p:nvGrpSpPr>
      <p:grpSpPr>
        <a:xfrm>
          <a:off x="0" y="0"/>
          <a:ext cx="0" cy="0"/>
          <a:chOff x="0" y="0"/>
          <a:chExt cx="0" cy="0"/>
        </a:xfrm>
      </p:grpSpPr>
      <p:sp>
        <p:nvSpPr>
          <p:cNvPr id="2" name="Title 1"/>
          <p:cNvSpPr>
            <a:spLocks noGrp="1"/>
          </p:cNvSpPr>
          <p:nvPr>
            <p:ph type="title"/>
          </p:nvPr>
        </p:nvSpPr>
        <p:spPr>
          <a:xfrm>
            <a:off x="1600200" y="357904"/>
            <a:ext cx="6400801" cy="740664"/>
          </a:xfrm>
        </p:spPr>
        <p:txBody>
          <a:bodyPr/>
          <a:lstStyle/>
          <a:p>
            <a:pPr algn="ctr"/>
            <a:r>
              <a:rPr lang="en-CA" sz="2400" dirty="0" smtClean="0">
                <a:solidFill>
                  <a:schemeClr val="tx1"/>
                </a:solidFill>
              </a:rPr>
              <a:t>Configuring Windows Remote Management</a:t>
            </a:r>
            <a:endParaRPr lang="en-CA" sz="2400" dirty="0">
              <a:solidFill>
                <a:schemeClr val="tx1"/>
              </a:solidFill>
            </a:endParaRPr>
          </a:p>
        </p:txBody>
      </p:sp>
      <p:sp>
        <p:nvSpPr>
          <p:cNvPr id="4" name="AutoShape 3"/>
          <p:cNvSpPr>
            <a:spLocks noChangeArrowheads="1"/>
          </p:cNvSpPr>
          <p:nvPr/>
        </p:nvSpPr>
        <p:spPr bwMode="auto">
          <a:xfrm>
            <a:off x="480725" y="1071136"/>
            <a:ext cx="8067530" cy="1348503"/>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latin typeface="Segoe UI" pitchFamily="34" charset="0"/>
                <a:ea typeface="Segoe UI" pitchFamily="34" charset="0"/>
                <a:cs typeface="Segoe UI" pitchFamily="34" charset="0"/>
              </a:rPr>
              <a:t>When deciding to use Remote Management, consider the following:</a:t>
            </a:r>
            <a:endParaRPr lang="en-US" sz="2400" dirty="0">
              <a:latin typeface="Segoe UI" pitchFamily="34" charset="0"/>
              <a:ea typeface="Segoe UI" pitchFamily="34" charset="0"/>
              <a:cs typeface="Segoe UI" pitchFamily="34" charset="0"/>
            </a:endParaRPr>
          </a:p>
        </p:txBody>
      </p:sp>
      <p:sp>
        <p:nvSpPr>
          <p:cNvPr id="5" name="Rounded Rectangle 4"/>
          <p:cNvSpPr>
            <a:spLocks noChangeArrowheads="1"/>
          </p:cNvSpPr>
          <p:nvPr/>
        </p:nvSpPr>
        <p:spPr bwMode="auto">
          <a:xfrm>
            <a:off x="818862" y="2062264"/>
            <a:ext cx="7729393" cy="4155656"/>
          </a:xfrm>
          <a:prstGeom prst="roundRect">
            <a:avLst>
              <a:gd name="adj" fmla="val 4167"/>
            </a:avLst>
          </a:prstGeom>
          <a:noFill/>
          <a:ln w="9525" algn="ctr">
            <a:noFill/>
            <a:round/>
            <a:headEnd/>
            <a:tailEnd/>
          </a:ln>
          <a:effectLst/>
        </p:spPr>
        <p:txBody>
          <a:bodyPr anchor="t" anchorCtr="0">
            <a:no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93688" lvl="1" indent="-285750" eaLnBrk="0" hangingPunct="0">
              <a:spcBef>
                <a:spcPts val="1800"/>
              </a:spcBef>
              <a:buClr>
                <a:srgbClr val="006699"/>
              </a:buClr>
              <a:buFontTx/>
              <a:buChar char="•"/>
            </a:pPr>
            <a:r>
              <a:rPr lang="en-US" sz="2400" b="0" dirty="0">
                <a:latin typeface="Segoe UI" pitchFamily="34" charset="0"/>
                <a:ea typeface="Segoe UI" pitchFamily="34" charset="0"/>
                <a:cs typeface="Segoe UI" pitchFamily="34" charset="0"/>
              </a:rPr>
              <a:t>You are more likely to manage a server remotely </a:t>
            </a:r>
            <a:r>
              <a:rPr lang="en-US" sz="2400" b="0" dirty="0" smtClean="0">
                <a:latin typeface="Segoe UI" pitchFamily="34" charset="0"/>
                <a:ea typeface="Segoe UI" pitchFamily="34" charset="0"/>
                <a:cs typeface="Segoe UI" pitchFamily="34" charset="0"/>
              </a:rPr>
              <a:t>than </a:t>
            </a:r>
            <a:r>
              <a:rPr lang="en-US" sz="2400" b="0" dirty="0">
                <a:latin typeface="Segoe UI" pitchFamily="34" charset="0"/>
                <a:ea typeface="Segoe UI" pitchFamily="34" charset="0"/>
                <a:cs typeface="Segoe UI" pitchFamily="34" charset="0"/>
              </a:rPr>
              <a:t>by locally logging </a:t>
            </a:r>
            <a:r>
              <a:rPr lang="en-US" sz="2400" b="0" dirty="0" smtClean="0">
                <a:latin typeface="Segoe UI" pitchFamily="34" charset="0"/>
                <a:ea typeface="Segoe UI" pitchFamily="34" charset="0"/>
                <a:cs typeface="Segoe UI" pitchFamily="34" charset="0"/>
              </a:rPr>
              <a:t>on</a:t>
            </a:r>
            <a:endParaRPr lang="en-US" sz="2400" b="0" dirty="0">
              <a:latin typeface="Segoe UI" pitchFamily="34" charset="0"/>
              <a:ea typeface="Segoe UI" pitchFamily="34" charset="0"/>
              <a:cs typeface="Segoe UI" pitchFamily="34" charset="0"/>
            </a:endParaRPr>
          </a:p>
          <a:p>
            <a:pPr marL="293688" lvl="1" indent="-285750" eaLnBrk="0" hangingPunct="0">
              <a:spcBef>
                <a:spcPts val="1800"/>
              </a:spcBef>
              <a:buClr>
                <a:srgbClr val="006699"/>
              </a:buClr>
              <a:buFontTx/>
              <a:buChar char="•"/>
            </a:pPr>
            <a:r>
              <a:rPr lang="en-US" sz="2400" b="0" dirty="0" smtClean="0">
                <a:latin typeface="Segoe UI" pitchFamily="34" charset="0"/>
                <a:ea typeface="Segoe UI" pitchFamily="34" charset="0"/>
                <a:cs typeface="Segoe UI" pitchFamily="34" charset="0"/>
              </a:rPr>
              <a:t>With WinRM, you can </a:t>
            </a:r>
            <a:r>
              <a:rPr lang="en-US" sz="2400" b="0" dirty="0">
                <a:latin typeface="Segoe UI" pitchFamily="34" charset="0"/>
                <a:ea typeface="Segoe UI" pitchFamily="34" charset="0"/>
                <a:cs typeface="Segoe UI" pitchFamily="34" charset="0"/>
              </a:rPr>
              <a:t>use consoles, </a:t>
            </a:r>
            <a:r>
              <a:rPr lang="en-US" sz="2400" b="0" dirty="0" smtClean="0">
                <a:latin typeface="Segoe UI" pitchFamily="34" charset="0"/>
                <a:ea typeface="Segoe UI" pitchFamily="34" charset="0"/>
                <a:cs typeface="Segoe UI" pitchFamily="34" charset="0"/>
              </a:rPr>
              <a:t>command-line </a:t>
            </a:r>
            <a:r>
              <a:rPr lang="en-US" sz="2400" b="0" dirty="0">
                <a:latin typeface="Segoe UI" pitchFamily="34" charset="0"/>
                <a:ea typeface="Segoe UI" pitchFamily="34" charset="0"/>
                <a:cs typeface="Segoe UI" pitchFamily="34" charset="0"/>
              </a:rPr>
              <a:t>utilities, or </a:t>
            </a:r>
            <a:r>
              <a:rPr lang="en-US" sz="2400" b="0" dirty="0" smtClean="0">
                <a:latin typeface="Segoe UI" pitchFamily="34" charset="0"/>
                <a:ea typeface="Segoe UI" pitchFamily="34" charset="0"/>
                <a:cs typeface="Segoe UI" pitchFamily="34" charset="0"/>
              </a:rPr>
              <a:t>Windows PowerShell </a:t>
            </a:r>
            <a:r>
              <a:rPr lang="en-US" sz="2400" b="0" dirty="0">
                <a:latin typeface="Segoe UI" pitchFamily="34" charset="0"/>
                <a:ea typeface="Segoe UI" pitchFamily="34" charset="0"/>
                <a:cs typeface="Segoe UI" pitchFamily="34" charset="0"/>
              </a:rPr>
              <a:t>to perform remote management </a:t>
            </a:r>
            <a:r>
              <a:rPr lang="en-US" sz="2400" b="0" dirty="0" smtClean="0">
                <a:latin typeface="Segoe UI" pitchFamily="34" charset="0"/>
                <a:ea typeface="Segoe UI" pitchFamily="34" charset="0"/>
                <a:cs typeface="Segoe UI" pitchFamily="34" charset="0"/>
              </a:rPr>
              <a:t>tasks</a:t>
            </a:r>
            <a:endParaRPr lang="en-US" sz="2400" b="0" dirty="0">
              <a:latin typeface="Segoe UI" pitchFamily="34" charset="0"/>
              <a:ea typeface="Segoe UI" pitchFamily="34" charset="0"/>
              <a:cs typeface="Segoe UI" pitchFamily="34" charset="0"/>
            </a:endParaRPr>
          </a:p>
          <a:p>
            <a:pPr marL="293688" lvl="1" indent="-285750" eaLnBrk="0" hangingPunct="0">
              <a:spcBef>
                <a:spcPts val="1800"/>
              </a:spcBef>
              <a:buClr>
                <a:srgbClr val="006699"/>
              </a:buClr>
              <a:buFontTx/>
              <a:buChar char="•"/>
            </a:pPr>
            <a:r>
              <a:rPr lang="en-US" sz="2400" b="0" dirty="0" smtClean="0">
                <a:latin typeface="Segoe UI" pitchFamily="34" charset="0"/>
                <a:ea typeface="Segoe UI" pitchFamily="34" charset="0"/>
                <a:cs typeface="Segoe UI" pitchFamily="34" charset="0"/>
              </a:rPr>
              <a:t>With Remote Desktop, </a:t>
            </a:r>
            <a:r>
              <a:rPr lang="en-US" sz="2400" b="0" dirty="0">
                <a:latin typeface="Segoe UI" pitchFamily="34" charset="0"/>
                <a:ea typeface="Segoe UI" pitchFamily="34" charset="0"/>
                <a:cs typeface="Segoe UI" pitchFamily="34" charset="0"/>
              </a:rPr>
              <a:t>you </a:t>
            </a:r>
            <a:r>
              <a:rPr lang="en-US" sz="2400" b="0" dirty="0" smtClean="0">
                <a:latin typeface="Segoe UI" pitchFamily="34" charset="0"/>
                <a:ea typeface="Segoe UI" pitchFamily="34" charset="0"/>
                <a:cs typeface="Segoe UI" pitchFamily="34" charset="0"/>
              </a:rPr>
              <a:t>can log </a:t>
            </a:r>
            <a:r>
              <a:rPr lang="en-US" sz="2400" b="0" dirty="0">
                <a:latin typeface="Segoe UI" pitchFamily="34" charset="0"/>
                <a:ea typeface="Segoe UI" pitchFamily="34" charset="0"/>
                <a:cs typeface="Segoe UI" pitchFamily="34" charset="0"/>
              </a:rPr>
              <a:t>on to a server </a:t>
            </a:r>
            <a:r>
              <a:rPr lang="en-US" sz="2400" b="0" dirty="0" smtClean="0">
                <a:latin typeface="Segoe UI" pitchFamily="34" charset="0"/>
                <a:ea typeface="Segoe UI" pitchFamily="34" charset="0"/>
                <a:cs typeface="Segoe UI" pitchFamily="34" charset="0"/>
              </a:rPr>
              <a:t>locally or from </a:t>
            </a:r>
            <a:r>
              <a:rPr lang="en-US" sz="2400" b="0" dirty="0">
                <a:latin typeface="Segoe UI" pitchFamily="34" charset="0"/>
                <a:ea typeface="Segoe UI" pitchFamily="34" charset="0"/>
                <a:cs typeface="Segoe UI" pitchFamily="34" charset="0"/>
              </a:rPr>
              <a:t>across the </a:t>
            </a:r>
            <a:r>
              <a:rPr lang="en-US" sz="2400" b="0" dirty="0" smtClean="0">
                <a:latin typeface="Segoe UI" pitchFamily="34" charset="0"/>
                <a:ea typeface="Segoe UI" pitchFamily="34" charset="0"/>
                <a:cs typeface="Segoe UI" pitchFamily="34" charset="0"/>
              </a:rPr>
              <a:t>network</a:t>
            </a:r>
            <a:endParaRPr lang="en-US" sz="24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823859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name="54016f2b-c6e7-49f6-87b6-dfea7cec3699">
    <p:spTree>
      <p:nvGrpSpPr>
        <p:cNvPr id="1" name=""/>
        <p:cNvGrpSpPr/>
        <p:nvPr/>
      </p:nvGrpSpPr>
      <p:grpSpPr>
        <a:xfrm>
          <a:off x="0" y="0"/>
          <a:ext cx="0" cy="0"/>
          <a:chOff x="0" y="0"/>
          <a:chExt cx="0" cy="0"/>
        </a:xfrm>
      </p:grpSpPr>
      <p:sp>
        <p:nvSpPr>
          <p:cNvPr id="2" name="Title 1"/>
          <p:cNvSpPr>
            <a:spLocks noGrp="1"/>
          </p:cNvSpPr>
          <p:nvPr>
            <p:ph type="title"/>
          </p:nvPr>
        </p:nvSpPr>
        <p:spPr>
          <a:xfrm>
            <a:off x="1370818" y="914400"/>
            <a:ext cx="6400801" cy="740664"/>
          </a:xfrm>
        </p:spPr>
        <p:txBody>
          <a:bodyPr/>
          <a:lstStyle/>
          <a:p>
            <a:pPr algn="ctr"/>
            <a:r>
              <a:rPr lang="en-CA" sz="2400" dirty="0" smtClean="0">
                <a:solidFill>
                  <a:schemeClr val="tx1"/>
                </a:solidFill>
              </a:rPr>
              <a:t>Lesson 3: Installing Windows Server 2012</a:t>
            </a:r>
            <a:endParaRPr lang="en-CA" sz="2400" dirty="0">
              <a:solidFill>
                <a:schemeClr val="tx1"/>
              </a:solidFill>
            </a:endParaRPr>
          </a:p>
        </p:txBody>
      </p:sp>
      <p:sp>
        <p:nvSpPr>
          <p:cNvPr id="3" name="Text Placeholder 2"/>
          <p:cNvSpPr>
            <a:spLocks noGrp="1"/>
          </p:cNvSpPr>
          <p:nvPr>
            <p:ph type="body" idx="1"/>
          </p:nvPr>
        </p:nvSpPr>
        <p:spPr/>
        <p:txBody>
          <a:bodyPr/>
          <a:lstStyle/>
          <a:p>
            <a:r>
              <a:rPr lang="en-CA" dirty="0" smtClean="0"/>
              <a:t>Installation Methods
Installation Types
Hardware Requirements for Windows Server 2012
Installing Windows Server 2012</a:t>
            </a:r>
            <a:endParaRPr lang="en-CA" dirty="0"/>
          </a:p>
        </p:txBody>
      </p:sp>
    </p:spTree>
    <p:extLst>
      <p:ext uri="{BB962C8B-B14F-4D97-AF65-F5344CB8AC3E}">
        <p14:creationId xmlns:p14="http://schemas.microsoft.com/office/powerpoint/2010/main" val="3246526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name="f227a4b2-fd7a-4968-904c-0db7357a2877">
    <p:spTree>
      <p:nvGrpSpPr>
        <p:cNvPr id="1" name=""/>
        <p:cNvGrpSpPr/>
        <p:nvPr/>
      </p:nvGrpSpPr>
      <p:grpSpPr>
        <a:xfrm>
          <a:off x="0" y="0"/>
          <a:ext cx="0" cy="0"/>
          <a:chOff x="0" y="0"/>
          <a:chExt cx="0" cy="0"/>
        </a:xfrm>
      </p:grpSpPr>
      <p:sp>
        <p:nvSpPr>
          <p:cNvPr id="2" name="Title 1"/>
          <p:cNvSpPr>
            <a:spLocks noGrp="1"/>
          </p:cNvSpPr>
          <p:nvPr>
            <p:ph type="title"/>
          </p:nvPr>
        </p:nvSpPr>
        <p:spPr>
          <a:xfrm>
            <a:off x="1981199" y="-2"/>
            <a:ext cx="6400801" cy="740664"/>
          </a:xfrm>
        </p:spPr>
        <p:txBody>
          <a:bodyPr/>
          <a:lstStyle/>
          <a:p>
            <a:pPr algn="ctr"/>
            <a:r>
              <a:rPr lang="en-CA" sz="2400" dirty="0" smtClean="0">
                <a:solidFill>
                  <a:schemeClr val="tx1"/>
                </a:solidFill>
              </a:rPr>
              <a:t>Installation Methods</a:t>
            </a:r>
            <a:endParaRPr lang="en-CA" sz="2400" dirty="0">
              <a:solidFill>
                <a:schemeClr val="tx1"/>
              </a:solidFill>
            </a:endParaRPr>
          </a:p>
        </p:txBody>
      </p:sp>
      <p:sp>
        <p:nvSpPr>
          <p:cNvPr id="4" name="TextBox 5"/>
          <p:cNvSpPr txBox="1"/>
          <p:nvPr/>
        </p:nvSpPr>
        <p:spPr>
          <a:xfrm>
            <a:off x="504397" y="810248"/>
            <a:ext cx="8093124" cy="1200329"/>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dirty="0">
                <a:latin typeface="Segoe UI" pitchFamily="34" charset="0"/>
                <a:ea typeface="Segoe UI" pitchFamily="34" charset="0"/>
                <a:cs typeface="Segoe UI" pitchFamily="34" charset="0"/>
              </a:rPr>
              <a:t>Windows Server 2012 deployment </a:t>
            </a:r>
            <a:r>
              <a:rPr lang="en-US" sz="2400" dirty="0" smtClean="0">
                <a:latin typeface="Segoe UI" pitchFamily="34" charset="0"/>
                <a:ea typeface="Segoe UI" pitchFamily="34" charset="0"/>
                <a:cs typeface="Segoe UI" pitchFamily="34" charset="0"/>
              </a:rPr>
              <a:t>method </a:t>
            </a:r>
            <a:br>
              <a:rPr lang="en-US" sz="2400" dirty="0" smtClean="0">
                <a:latin typeface="Segoe UI" pitchFamily="34" charset="0"/>
                <a:ea typeface="Segoe UI" pitchFamily="34" charset="0"/>
                <a:cs typeface="Segoe UI" pitchFamily="34" charset="0"/>
              </a:rPr>
            </a:br>
            <a:r>
              <a:rPr lang="en-US" sz="2400" dirty="0" smtClean="0">
                <a:latin typeface="Segoe UI" pitchFamily="34" charset="0"/>
                <a:ea typeface="Segoe UI" pitchFamily="34" charset="0"/>
                <a:cs typeface="Segoe UI" pitchFamily="34" charset="0"/>
              </a:rPr>
              <a:t>options include:</a:t>
            </a:r>
            <a:endParaRPr lang="en-US" sz="2400" dirty="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p:txBody>
      </p:sp>
      <p:sp>
        <p:nvSpPr>
          <p:cNvPr id="5" name="Oval 4" descr="Slide shows optical disk icon, Windows Deployment Services icon, and USB media icon.&#10;&#10;"/>
          <p:cNvSpPr/>
          <p:nvPr/>
        </p:nvSpPr>
        <p:spPr bwMode="auto">
          <a:xfrm>
            <a:off x="1241377" y="1697209"/>
            <a:ext cx="6619164" cy="4513091"/>
          </a:xfrm>
          <a:prstGeom prst="ellipse">
            <a:avLst/>
          </a:prstGeom>
          <a:solidFill>
            <a:schemeClr val="bg1">
              <a:lumMod val="95000"/>
            </a:schemeClr>
          </a:solidFill>
          <a:ln w="9525" cap="flat" cmpd="sng" algn="ctr">
            <a:no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0560" y="2619460"/>
            <a:ext cx="971550" cy="828675"/>
          </a:xfrm>
          <a:prstGeom prst="rect">
            <a:avLst/>
          </a:prstGeom>
        </p:spPr>
      </p:pic>
      <p:sp>
        <p:nvSpPr>
          <p:cNvPr id="7" name="TextBox 8"/>
          <p:cNvSpPr txBox="1"/>
          <p:nvPr/>
        </p:nvSpPr>
        <p:spPr>
          <a:xfrm>
            <a:off x="5694529" y="3557317"/>
            <a:ext cx="1907274" cy="461665"/>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latin typeface="Segoe UI" pitchFamily="34" charset="0"/>
                <a:ea typeface="Segoe UI" pitchFamily="34" charset="0"/>
                <a:cs typeface="Segoe UI" pitchFamily="34" charset="0"/>
              </a:rPr>
              <a:t>USB media</a:t>
            </a:r>
            <a:endParaRPr lang="en-US" sz="2400" dirty="0">
              <a:latin typeface="Segoe UI" pitchFamily="34" charset="0"/>
              <a:ea typeface="Segoe UI" pitchFamily="34" charset="0"/>
              <a:cs typeface="Segoe UI" pitchFamily="34" charset="0"/>
            </a:endParaRPr>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51435" y="2360148"/>
            <a:ext cx="1638610" cy="1191716"/>
          </a:xfrm>
          <a:prstGeom prst="rect">
            <a:avLst/>
          </a:prstGeom>
        </p:spPr>
      </p:pic>
      <p:sp>
        <p:nvSpPr>
          <p:cNvPr id="9" name="TextBox 9"/>
          <p:cNvSpPr txBox="1"/>
          <p:nvPr/>
        </p:nvSpPr>
        <p:spPr>
          <a:xfrm>
            <a:off x="1556340" y="3551864"/>
            <a:ext cx="2128556" cy="461665"/>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latin typeface="Segoe UI" pitchFamily="34" charset="0"/>
                <a:ea typeface="Segoe UI" pitchFamily="34" charset="0"/>
                <a:cs typeface="Segoe UI" pitchFamily="34" charset="0"/>
              </a:rPr>
              <a:t>Optical disk</a:t>
            </a:r>
            <a:endParaRPr lang="en-US" sz="2400" dirty="0">
              <a:latin typeface="Segoe UI" pitchFamily="34" charset="0"/>
              <a:ea typeface="Segoe UI" pitchFamily="34" charset="0"/>
              <a:cs typeface="Segoe UI" pitchFamily="34" charset="0"/>
            </a:endParaRPr>
          </a:p>
        </p:txBody>
      </p:sp>
      <p:sp>
        <p:nvSpPr>
          <p:cNvPr id="10" name="TextBox 10"/>
          <p:cNvSpPr txBox="1"/>
          <p:nvPr/>
        </p:nvSpPr>
        <p:spPr>
          <a:xfrm>
            <a:off x="2784143" y="4918056"/>
            <a:ext cx="3712192" cy="461665"/>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dirty="0" smtClean="0">
                <a:latin typeface="Segoe UI" pitchFamily="34" charset="0"/>
                <a:ea typeface="Segoe UI" pitchFamily="34" charset="0"/>
                <a:cs typeface="Segoe UI" pitchFamily="34" charset="0"/>
              </a:rPr>
              <a:t>Windows DS</a:t>
            </a:r>
            <a:endParaRPr lang="en-US" sz="2400" dirty="0">
              <a:latin typeface="Segoe UI" pitchFamily="34" charset="0"/>
              <a:ea typeface="Segoe UI" pitchFamily="34" charset="0"/>
              <a:cs typeface="Segoe UI" pitchFamily="34" charset="0"/>
            </a:endParaRPr>
          </a:p>
        </p:txBody>
      </p:sp>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78851" y="3484886"/>
            <a:ext cx="1950635" cy="1418644"/>
          </a:xfrm>
          <a:prstGeom prst="rect">
            <a:avLst/>
          </a:prstGeom>
        </p:spPr>
      </p:pic>
    </p:spTree>
    <p:extLst>
      <p:ext uri="{BB962C8B-B14F-4D97-AF65-F5344CB8AC3E}">
        <p14:creationId xmlns:p14="http://schemas.microsoft.com/office/powerpoint/2010/main" val="2030441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name="0c24a83e-8dae-4b34-b51f-6aa629441010">
    <p:spTree>
      <p:nvGrpSpPr>
        <p:cNvPr id="1" name=""/>
        <p:cNvGrpSpPr/>
        <p:nvPr/>
      </p:nvGrpSpPr>
      <p:grpSpPr>
        <a:xfrm>
          <a:off x="0" y="0"/>
          <a:ext cx="0" cy="0"/>
          <a:chOff x="0" y="0"/>
          <a:chExt cx="0" cy="0"/>
        </a:xfrm>
      </p:grpSpPr>
      <p:sp>
        <p:nvSpPr>
          <p:cNvPr id="2" name="Title 1"/>
          <p:cNvSpPr>
            <a:spLocks noGrp="1"/>
          </p:cNvSpPr>
          <p:nvPr>
            <p:ph type="title"/>
          </p:nvPr>
        </p:nvSpPr>
        <p:spPr>
          <a:xfrm>
            <a:off x="2057399" y="-2"/>
            <a:ext cx="6248401" cy="740664"/>
          </a:xfrm>
        </p:spPr>
        <p:txBody>
          <a:bodyPr/>
          <a:lstStyle/>
          <a:p>
            <a:pPr algn="ctr"/>
            <a:r>
              <a:rPr lang="en-CA" sz="2400" dirty="0" smtClean="0">
                <a:solidFill>
                  <a:schemeClr val="tx1"/>
                </a:solidFill>
              </a:rPr>
              <a:t>Installation Types</a:t>
            </a:r>
            <a:endParaRPr lang="en-CA" sz="2400" dirty="0">
              <a:solidFill>
                <a:schemeClr val="tx1"/>
              </a:solidFill>
            </a:endParaRPr>
          </a:p>
        </p:txBody>
      </p:sp>
      <p:pic>
        <p:nvPicPr>
          <p:cNvPr id="4" name="Content Placeholder 3" descr="Screen shot of the Windows Setup process that asks the user to choose the type of installation: upgrade (install Windows and keep files, settings and application) or custom (install Windows only)."/>
          <p:cNvPicPr>
            <a:picLocks noGrp="1" noChangeAspect="1"/>
          </p:cNvPicPr>
          <p:nvPr/>
        </p:nvPicPr>
        <p:blipFill rotWithShape="1">
          <a:blip r:embed="rId3">
            <a:extLst>
              <a:ext uri="{28A0092B-C50C-407E-A947-70E740481C1C}">
                <a14:useLocalDpi xmlns:a14="http://schemas.microsoft.com/office/drawing/2010/main" val="0"/>
              </a:ext>
            </a:extLst>
          </a:blip>
          <a:srcRect l="16961" t="11354" r="17192" b="22300"/>
          <a:stretch/>
        </p:blipFill>
        <p:spPr bwMode="auto">
          <a:xfrm>
            <a:off x="953016" y="762000"/>
            <a:ext cx="7200384" cy="5441198"/>
          </a:xfrm>
          <a:prstGeom prst="rect">
            <a:avLst/>
          </a:prstGeom>
          <a:noFill/>
          <a:ln w="9525">
            <a:noFill/>
            <a:miter lim="800000"/>
            <a:headEnd/>
            <a:tailEnd/>
          </a:ln>
        </p:spPr>
      </p:pic>
    </p:spTree>
    <p:extLst>
      <p:ext uri="{BB962C8B-B14F-4D97-AF65-F5344CB8AC3E}">
        <p14:creationId xmlns:p14="http://schemas.microsoft.com/office/powerpoint/2010/main" val="34139075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name="f008e909-817d-4a45-aab5-d12af99dfd76">
    <p:spTree>
      <p:nvGrpSpPr>
        <p:cNvPr id="1" name=""/>
        <p:cNvGrpSpPr/>
        <p:nvPr/>
      </p:nvGrpSpPr>
      <p:grpSpPr>
        <a:xfrm>
          <a:off x="0" y="0"/>
          <a:ext cx="0" cy="0"/>
          <a:chOff x="0" y="0"/>
          <a:chExt cx="0" cy="0"/>
        </a:xfrm>
      </p:grpSpPr>
      <p:sp>
        <p:nvSpPr>
          <p:cNvPr id="2" name="Title 1"/>
          <p:cNvSpPr>
            <a:spLocks noGrp="1"/>
          </p:cNvSpPr>
          <p:nvPr>
            <p:ph type="title"/>
          </p:nvPr>
        </p:nvSpPr>
        <p:spPr>
          <a:xfrm>
            <a:off x="1981201" y="-2"/>
            <a:ext cx="6400800" cy="740664"/>
          </a:xfrm>
        </p:spPr>
        <p:txBody>
          <a:bodyPr>
            <a:normAutofit/>
          </a:bodyPr>
          <a:lstStyle/>
          <a:p>
            <a:pPr algn="ctr"/>
            <a:r>
              <a:rPr lang="en-CA" sz="2400" dirty="0" smtClean="0">
                <a:solidFill>
                  <a:schemeClr val="tx1"/>
                </a:solidFill>
              </a:rPr>
              <a:t>Hardware Requirements for Windows </a:t>
            </a:r>
            <a:br>
              <a:rPr lang="en-CA" sz="2400" dirty="0" smtClean="0">
                <a:solidFill>
                  <a:schemeClr val="tx1"/>
                </a:solidFill>
              </a:rPr>
            </a:br>
            <a:r>
              <a:rPr lang="en-CA" sz="2400" dirty="0" smtClean="0">
                <a:solidFill>
                  <a:schemeClr val="tx1"/>
                </a:solidFill>
              </a:rPr>
              <a:t>Server 2012</a:t>
            </a:r>
            <a:endParaRPr lang="en-CA" sz="2400" dirty="0">
              <a:solidFill>
                <a:schemeClr val="tx1"/>
              </a:solidFill>
            </a:endParaRPr>
          </a:p>
        </p:txBody>
      </p:sp>
      <p:sp>
        <p:nvSpPr>
          <p:cNvPr id="4" name="AutoShape 3"/>
          <p:cNvSpPr>
            <a:spLocks noChangeArrowheads="1"/>
          </p:cNvSpPr>
          <p:nvPr/>
        </p:nvSpPr>
        <p:spPr bwMode="auto">
          <a:xfrm>
            <a:off x="465138" y="1003876"/>
            <a:ext cx="8177212" cy="4608648"/>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600" dirty="0">
                <a:latin typeface="Segoe UI" pitchFamily="34" charset="0"/>
                <a:ea typeface="Segoe UI" pitchFamily="34" charset="0"/>
                <a:cs typeface="Segoe UI" pitchFamily="34" charset="0"/>
              </a:rPr>
              <a:t>Windows Server 2012 has the following minimum hardware requirements:</a:t>
            </a:r>
          </a:p>
        </p:txBody>
      </p:sp>
      <p:sp>
        <p:nvSpPr>
          <p:cNvPr id="5" name="Rounded Rectangle 4"/>
          <p:cNvSpPr>
            <a:spLocks noChangeArrowheads="1"/>
          </p:cNvSpPr>
          <p:nvPr/>
        </p:nvSpPr>
        <p:spPr bwMode="auto">
          <a:xfrm>
            <a:off x="803275" y="1992573"/>
            <a:ext cx="7403253" cy="3273110"/>
          </a:xfrm>
          <a:prstGeom prst="roundRect">
            <a:avLst>
              <a:gd name="adj" fmla="val 4167"/>
            </a:avLst>
          </a:prstGeom>
          <a:noFill/>
          <a:ln w="9525" algn="ctr">
            <a:noFill/>
            <a:round/>
            <a:headEnd/>
            <a:tailEnd/>
          </a:ln>
          <a:effectLst/>
        </p:spPr>
        <p:txBody>
          <a:bodyPr anchor="t" anchorCtr="0">
            <a:no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93688" lvl="1" indent="-285750" eaLnBrk="0" hangingPunct="0">
              <a:spcBef>
                <a:spcPts val="600"/>
              </a:spcBef>
              <a:buClr>
                <a:srgbClr val="006699"/>
              </a:buClr>
              <a:buFontTx/>
              <a:buChar char="•"/>
              <a:tabLst>
                <a:tab pos="5035550" algn="r"/>
              </a:tabLst>
            </a:pPr>
            <a:r>
              <a:rPr lang="en-US" sz="2600" b="0" dirty="0" smtClean="0">
                <a:latin typeface="Segoe UI" pitchFamily="34" charset="0"/>
                <a:ea typeface="Segoe UI" pitchFamily="34" charset="0"/>
                <a:cs typeface="Segoe UI" pitchFamily="34" charset="0"/>
              </a:rPr>
              <a:t>Processor </a:t>
            </a:r>
            <a:r>
              <a:rPr lang="en-US" sz="2600" b="0" dirty="0">
                <a:latin typeface="Segoe UI" pitchFamily="34" charset="0"/>
                <a:ea typeface="Segoe UI" pitchFamily="34" charset="0"/>
                <a:cs typeface="Segoe UI" pitchFamily="34" charset="0"/>
              </a:rPr>
              <a:t>architecture </a:t>
            </a:r>
            <a:r>
              <a:rPr lang="en-US" sz="2600" b="0" dirty="0" smtClean="0">
                <a:latin typeface="Segoe UI" pitchFamily="34" charset="0"/>
                <a:ea typeface="Segoe UI" pitchFamily="34" charset="0"/>
                <a:cs typeface="Segoe UI" pitchFamily="34" charset="0"/>
              </a:rPr>
              <a:t>	x86-64</a:t>
            </a:r>
            <a:endParaRPr lang="en-US" sz="2600" b="0" dirty="0">
              <a:latin typeface="Segoe UI" pitchFamily="34" charset="0"/>
              <a:ea typeface="Segoe UI" pitchFamily="34" charset="0"/>
              <a:cs typeface="Segoe UI" pitchFamily="34" charset="0"/>
            </a:endParaRPr>
          </a:p>
          <a:p>
            <a:pPr marL="293688" lvl="1" indent="-285750" eaLnBrk="0" hangingPunct="0">
              <a:spcBef>
                <a:spcPts val="600"/>
              </a:spcBef>
              <a:buClr>
                <a:srgbClr val="006699"/>
              </a:buClr>
              <a:buFontTx/>
              <a:buChar char="•"/>
              <a:tabLst>
                <a:tab pos="5035550" algn="r"/>
              </a:tabLst>
            </a:pPr>
            <a:r>
              <a:rPr lang="en-US" sz="2600" b="0" dirty="0">
                <a:latin typeface="Segoe UI" pitchFamily="34" charset="0"/>
                <a:ea typeface="Segoe UI" pitchFamily="34" charset="0"/>
                <a:cs typeface="Segoe UI" pitchFamily="34" charset="0"/>
              </a:rPr>
              <a:t>Processor speed </a:t>
            </a:r>
            <a:r>
              <a:rPr lang="en-US" sz="2600" b="0" dirty="0" smtClean="0">
                <a:latin typeface="Segoe UI" pitchFamily="34" charset="0"/>
                <a:ea typeface="Segoe UI" pitchFamily="34" charset="0"/>
                <a:cs typeface="Segoe UI" pitchFamily="34" charset="0"/>
              </a:rPr>
              <a:t>	1.4 </a:t>
            </a:r>
            <a:r>
              <a:rPr lang="en-US" sz="2600" b="0" dirty="0">
                <a:latin typeface="Segoe UI" pitchFamily="34" charset="0"/>
                <a:ea typeface="Segoe UI" pitchFamily="34" charset="0"/>
                <a:cs typeface="Segoe UI" pitchFamily="34" charset="0"/>
              </a:rPr>
              <a:t>GHz</a:t>
            </a:r>
          </a:p>
          <a:p>
            <a:pPr marL="293688" lvl="1" indent="-285750" eaLnBrk="0" hangingPunct="0">
              <a:spcBef>
                <a:spcPts val="600"/>
              </a:spcBef>
              <a:buClr>
                <a:srgbClr val="006699"/>
              </a:buClr>
              <a:buFontTx/>
              <a:buChar char="•"/>
              <a:tabLst>
                <a:tab pos="5035550" algn="r"/>
              </a:tabLst>
            </a:pPr>
            <a:r>
              <a:rPr lang="en-US" sz="2600" b="0" dirty="0">
                <a:latin typeface="Segoe UI" pitchFamily="34" charset="0"/>
                <a:ea typeface="Segoe UI" pitchFamily="34" charset="0"/>
                <a:cs typeface="Segoe UI" pitchFamily="34" charset="0"/>
              </a:rPr>
              <a:t>Memory (RAM) </a:t>
            </a:r>
            <a:r>
              <a:rPr lang="en-US" sz="2600" b="0" dirty="0" smtClean="0">
                <a:latin typeface="Segoe UI" pitchFamily="34" charset="0"/>
                <a:ea typeface="Segoe UI" pitchFamily="34" charset="0"/>
                <a:cs typeface="Segoe UI" pitchFamily="34" charset="0"/>
              </a:rPr>
              <a:t>	512 </a:t>
            </a:r>
            <a:r>
              <a:rPr lang="en-US" sz="2600" b="0" dirty="0">
                <a:latin typeface="Segoe UI" pitchFamily="34" charset="0"/>
                <a:ea typeface="Segoe UI" pitchFamily="34" charset="0"/>
                <a:cs typeface="Segoe UI" pitchFamily="34" charset="0"/>
              </a:rPr>
              <a:t>MB</a:t>
            </a:r>
          </a:p>
          <a:p>
            <a:pPr marL="293688" lvl="1" indent="-285750" eaLnBrk="0" hangingPunct="0">
              <a:spcBef>
                <a:spcPts val="600"/>
              </a:spcBef>
              <a:buClr>
                <a:srgbClr val="006699"/>
              </a:buClr>
              <a:buFontTx/>
              <a:buChar char="•"/>
              <a:tabLst>
                <a:tab pos="5035550" algn="r"/>
              </a:tabLst>
            </a:pPr>
            <a:r>
              <a:rPr lang="en-US" sz="2600" b="0" dirty="0" smtClean="0">
                <a:latin typeface="Segoe UI" pitchFamily="34" charset="0"/>
                <a:ea typeface="Segoe UI" pitchFamily="34" charset="0"/>
                <a:cs typeface="Segoe UI" pitchFamily="34" charset="0"/>
              </a:rPr>
              <a:t>Hard disk drive </a:t>
            </a:r>
            <a:r>
              <a:rPr lang="en-US" sz="2600" b="0" dirty="0">
                <a:latin typeface="Segoe UI" pitchFamily="34" charset="0"/>
                <a:ea typeface="Segoe UI" pitchFamily="34" charset="0"/>
                <a:cs typeface="Segoe UI" pitchFamily="34" charset="0"/>
              </a:rPr>
              <a:t>space </a:t>
            </a:r>
            <a:r>
              <a:rPr lang="en-US" sz="2600" b="0" dirty="0" smtClean="0">
                <a:latin typeface="Segoe UI" pitchFamily="34" charset="0"/>
                <a:ea typeface="Segoe UI" pitchFamily="34" charset="0"/>
                <a:cs typeface="Segoe UI" pitchFamily="34" charset="0"/>
              </a:rPr>
              <a:t>	32 GB</a:t>
            </a:r>
          </a:p>
          <a:p>
            <a:pPr marL="922338" lvl="2" indent="-457200" eaLnBrk="0" hangingPunct="0">
              <a:spcBef>
                <a:spcPts val="600"/>
              </a:spcBef>
              <a:buClr>
                <a:srgbClr val="006699"/>
              </a:buClr>
              <a:buSzPct val="75000"/>
              <a:buFont typeface="Courier New" pitchFamily="49" charset="0"/>
              <a:buChar char="o"/>
              <a:tabLst>
                <a:tab pos="5827713" algn="r"/>
              </a:tabLst>
            </a:pPr>
            <a:r>
              <a:rPr lang="en-US" sz="2600" b="0" dirty="0" smtClean="0">
                <a:latin typeface="Segoe UI" pitchFamily="34" charset="0"/>
                <a:ea typeface="Segoe UI" pitchFamily="34" charset="0"/>
                <a:cs typeface="Segoe UI" pitchFamily="34" charset="0"/>
              </a:rPr>
              <a:t>More hard disk drive space</a:t>
            </a:r>
            <a:br>
              <a:rPr lang="en-US" sz="2600" b="0" dirty="0" smtClean="0">
                <a:latin typeface="Segoe UI" pitchFamily="34" charset="0"/>
                <a:ea typeface="Segoe UI" pitchFamily="34" charset="0"/>
                <a:cs typeface="Segoe UI" pitchFamily="34" charset="0"/>
              </a:rPr>
            </a:br>
            <a:r>
              <a:rPr lang="en-US" sz="2600" b="0" dirty="0" smtClean="0">
                <a:latin typeface="Segoe UI" pitchFamily="34" charset="0"/>
                <a:ea typeface="Segoe UI" pitchFamily="34" charset="0"/>
                <a:cs typeface="Segoe UI" pitchFamily="34" charset="0"/>
              </a:rPr>
              <a:t>is needed if </a:t>
            </a:r>
            <a:r>
              <a:rPr lang="en-US" sz="2600" b="0" dirty="0">
                <a:latin typeface="Segoe UI" pitchFamily="34" charset="0"/>
                <a:ea typeface="Segoe UI" pitchFamily="34" charset="0"/>
                <a:cs typeface="Segoe UI" pitchFamily="34" charset="0"/>
              </a:rPr>
              <a:t>the server has </a:t>
            </a:r>
            <a:r>
              <a:rPr lang="en-US" sz="2600" b="0" dirty="0" smtClean="0">
                <a:latin typeface="Segoe UI" pitchFamily="34" charset="0"/>
                <a:ea typeface="Segoe UI" pitchFamily="34" charset="0"/>
                <a:cs typeface="Segoe UI" pitchFamily="34" charset="0"/>
              </a:rPr>
              <a:t/>
            </a:r>
            <a:br>
              <a:rPr lang="en-US" sz="2600" b="0" dirty="0" smtClean="0">
                <a:latin typeface="Segoe UI" pitchFamily="34" charset="0"/>
                <a:ea typeface="Segoe UI" pitchFamily="34" charset="0"/>
                <a:cs typeface="Segoe UI" pitchFamily="34" charset="0"/>
              </a:rPr>
            </a:br>
            <a:r>
              <a:rPr lang="en-US" sz="2600" b="0" dirty="0" smtClean="0">
                <a:latin typeface="Segoe UI" pitchFamily="34" charset="0"/>
                <a:ea typeface="Segoe UI" pitchFamily="34" charset="0"/>
                <a:cs typeface="Segoe UI" pitchFamily="34" charset="0"/>
              </a:rPr>
              <a:t>more </a:t>
            </a:r>
            <a:r>
              <a:rPr lang="en-US" sz="2600" b="0" dirty="0">
                <a:latin typeface="Segoe UI" pitchFamily="34" charset="0"/>
                <a:ea typeface="Segoe UI" pitchFamily="34" charset="0"/>
                <a:cs typeface="Segoe UI" pitchFamily="34" charset="0"/>
              </a:rPr>
              <a:t>than 16 GB of </a:t>
            </a:r>
            <a:r>
              <a:rPr lang="en-US" sz="2600" b="0" dirty="0" smtClean="0">
                <a:latin typeface="Segoe UI" pitchFamily="34" charset="0"/>
                <a:ea typeface="Segoe UI" pitchFamily="34" charset="0"/>
                <a:cs typeface="Segoe UI" pitchFamily="34" charset="0"/>
              </a:rPr>
              <a:t>RAM</a:t>
            </a:r>
            <a:endParaRPr lang="en-US" sz="2600" b="0" dirty="0">
              <a:latin typeface="Segoe UI" pitchFamily="34" charset="0"/>
              <a:ea typeface="Segoe UI" pitchFamily="34" charset="0"/>
              <a:cs typeface="Segoe UI"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37404" y="2532318"/>
            <a:ext cx="1318999" cy="1551764"/>
          </a:xfrm>
          <a:prstGeom prst="rect">
            <a:avLst/>
          </a:prstGeom>
          <a:noFill/>
          <a:ln>
            <a:noFill/>
          </a:ln>
          <a:effectLst/>
        </p:spPr>
      </p:pic>
    </p:spTree>
    <p:extLst>
      <p:ext uri="{BB962C8B-B14F-4D97-AF65-F5344CB8AC3E}">
        <p14:creationId xmlns:p14="http://schemas.microsoft.com/office/powerpoint/2010/main" val="22926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name="ca7cc430-939d-4e69-82a3-6a64fa83380e">
    <p:spTree>
      <p:nvGrpSpPr>
        <p:cNvPr id="1" name=""/>
        <p:cNvGrpSpPr/>
        <p:nvPr/>
      </p:nvGrpSpPr>
      <p:grpSpPr>
        <a:xfrm>
          <a:off x="0" y="0"/>
          <a:ext cx="0" cy="0"/>
          <a:chOff x="0" y="0"/>
          <a:chExt cx="0" cy="0"/>
        </a:xfrm>
      </p:grpSpPr>
      <p:sp>
        <p:nvSpPr>
          <p:cNvPr id="2" name="Title 1"/>
          <p:cNvSpPr>
            <a:spLocks noGrp="1"/>
          </p:cNvSpPr>
          <p:nvPr>
            <p:ph type="title"/>
          </p:nvPr>
        </p:nvSpPr>
        <p:spPr>
          <a:xfrm>
            <a:off x="2057400" y="42205"/>
            <a:ext cx="6248400" cy="643595"/>
          </a:xfrm>
        </p:spPr>
        <p:txBody>
          <a:bodyPr/>
          <a:lstStyle/>
          <a:p>
            <a:pPr algn="ctr"/>
            <a:r>
              <a:rPr lang="en-CA" sz="2400" dirty="0" smtClean="0">
                <a:solidFill>
                  <a:schemeClr val="tx1"/>
                </a:solidFill>
              </a:rPr>
              <a:t>Installing Windows Server 2012</a:t>
            </a:r>
            <a:endParaRPr lang="en-CA" sz="2400" dirty="0">
              <a:solidFill>
                <a:schemeClr val="tx1"/>
              </a:solidFill>
            </a:endParaRPr>
          </a:p>
        </p:txBody>
      </p:sp>
      <p:pic>
        <p:nvPicPr>
          <p:cNvPr id="5" name="just blue"/>
          <p:cNvPicPr>
            <a:picLocks noChangeAspect="1"/>
          </p:cNvPicPr>
          <p:nvPr/>
        </p:nvPicPr>
        <p:blipFill rotWithShape="1">
          <a:blip r:embed="rId3" cstate="print">
            <a:extLst>
              <a:ext uri="{28A0092B-C50C-407E-A947-70E740481C1C}">
                <a14:useLocalDpi xmlns:a14="http://schemas.microsoft.com/office/drawing/2010/main" val="0"/>
              </a:ext>
            </a:extLst>
          </a:blip>
          <a:srcRect r="-261"/>
          <a:stretch/>
        </p:blipFill>
        <p:spPr>
          <a:xfrm>
            <a:off x="674691" y="838200"/>
            <a:ext cx="7631109" cy="5029200"/>
          </a:xfrm>
          <a:prstGeom prst="rect">
            <a:avLst/>
          </a:prstGeom>
        </p:spPr>
      </p:pic>
      <p:pic>
        <p:nvPicPr>
          <p:cNvPr id="6" name="7-password" descr="Screen shot seven to provide the password for the local administrator account. This is the last click."/>
          <p:cNvPicPr>
            <a:picLocks noChangeAspect="1"/>
          </p:cNvPicPr>
          <p:nvPr/>
        </p:nvPicPr>
        <p:blipFill rotWithShape="1">
          <a:blip r:embed="rId4" cstate="print">
            <a:extLst>
              <a:ext uri="{28A0092B-C50C-407E-A947-70E740481C1C}">
                <a14:useLocalDpi xmlns:a14="http://schemas.microsoft.com/office/drawing/2010/main" val="0"/>
              </a:ext>
            </a:extLst>
          </a:blip>
          <a:srcRect l="-3197" t="3867" b="2998"/>
          <a:stretch/>
        </p:blipFill>
        <p:spPr>
          <a:xfrm>
            <a:off x="998893" y="1091918"/>
            <a:ext cx="6916627" cy="4681685"/>
          </a:xfrm>
          <a:prstGeom prst="rect">
            <a:avLst/>
          </a:prstGeom>
        </p:spPr>
      </p:pic>
      <p:grpSp>
        <p:nvGrpSpPr>
          <p:cNvPr id="7" name="6 - where do you want to install" descr="Screen shot six to select the installation location."/>
          <p:cNvGrpSpPr/>
          <p:nvPr/>
        </p:nvGrpSpPr>
        <p:grpSpPr>
          <a:xfrm>
            <a:off x="674691" y="823686"/>
            <a:ext cx="7631109" cy="5029200"/>
            <a:chOff x="85373" y="774981"/>
            <a:chExt cx="8782050" cy="5787715"/>
          </a:xfrm>
        </p:grpSpPr>
        <p:pic>
          <p:nvPicPr>
            <p:cNvPr id="8" name="just blue"/>
            <p:cNvPicPr>
              <a:picLocks noChangeAspect="1"/>
            </p:cNvPicPr>
            <p:nvPr/>
          </p:nvPicPr>
          <p:blipFill rotWithShape="1">
            <a:blip r:embed="rId3" cstate="print">
              <a:extLst>
                <a:ext uri="{28A0092B-C50C-407E-A947-70E740481C1C}">
                  <a14:useLocalDpi xmlns:a14="http://schemas.microsoft.com/office/drawing/2010/main" val="0"/>
                </a:ext>
              </a:extLst>
            </a:blip>
            <a:srcRect r="-261"/>
            <a:stretch/>
          </p:blipFill>
          <p:spPr>
            <a:xfrm>
              <a:off x="85373" y="774981"/>
              <a:ext cx="8782050" cy="5787715"/>
            </a:xfrm>
            <a:prstGeom prst="rect">
              <a:avLst/>
            </a:prstGeom>
          </p:spPr>
        </p:pic>
        <p:pic>
          <p:nvPicPr>
            <p:cNvPr id="9" name="6-where do you want to install windows"/>
            <p:cNvPicPr>
              <a:picLocks noChangeAspect="1"/>
            </p:cNvPicPr>
            <p:nvPr/>
          </p:nvPicPr>
          <p:blipFill rotWithShape="1">
            <a:blip r:embed="rId5" cstate="print">
              <a:extLst>
                <a:ext uri="{28A0092B-C50C-407E-A947-70E740481C1C}">
                  <a14:useLocalDpi xmlns:a14="http://schemas.microsoft.com/office/drawing/2010/main" val="0"/>
                </a:ext>
              </a:extLst>
            </a:blip>
            <a:srcRect l="3132" t="4315" r="2452" b="4815"/>
            <a:stretch/>
          </p:blipFill>
          <p:spPr>
            <a:xfrm>
              <a:off x="1557454" y="1574705"/>
              <a:ext cx="5413828" cy="4067629"/>
            </a:xfrm>
            <a:prstGeom prst="rect">
              <a:avLst/>
            </a:prstGeom>
          </p:spPr>
        </p:pic>
      </p:grpSp>
      <p:pic>
        <p:nvPicPr>
          <p:cNvPr id="10" name="5-upgrade or custom" descr="Screen shot five showing option to select the installation type, Upgrade or Custom."/>
          <p:cNvPicPr>
            <a:picLocks noChangeAspect="1"/>
          </p:cNvPicPr>
          <p:nvPr/>
        </p:nvPicPr>
        <p:blipFill rotWithShape="1">
          <a:blip r:embed="rId6" cstate="print">
            <a:extLst>
              <a:ext uri="{28A0092B-C50C-407E-A947-70E740481C1C}">
                <a14:useLocalDpi xmlns:a14="http://schemas.microsoft.com/office/drawing/2010/main" val="0"/>
              </a:ext>
            </a:extLst>
          </a:blip>
          <a:srcRect/>
          <a:stretch/>
        </p:blipFill>
        <p:spPr>
          <a:xfrm>
            <a:off x="2146773" y="1637922"/>
            <a:ext cx="4704314" cy="3518777"/>
          </a:xfrm>
          <a:prstGeom prst="rect">
            <a:avLst/>
          </a:prstGeom>
        </p:spPr>
      </p:pic>
      <p:pic>
        <p:nvPicPr>
          <p:cNvPr id="11" name="4-License terms" descr="Screen shot four with checkbox to review and accept the license terms."/>
          <p:cNvPicPr>
            <a:picLocks noChangeAspect="1"/>
          </p:cNvPicPr>
          <p:nvPr/>
        </p:nvPicPr>
        <p:blipFill rotWithShape="1">
          <a:blip r:embed="rId7" cstate="print">
            <a:extLst>
              <a:ext uri="{28A0092B-C50C-407E-A947-70E740481C1C}">
                <a14:useLocalDpi xmlns:a14="http://schemas.microsoft.com/office/drawing/2010/main" val="0"/>
              </a:ext>
            </a:extLst>
          </a:blip>
          <a:srcRect l="3532" t="4495" r="4086" b="5305"/>
          <a:stretch/>
        </p:blipFill>
        <p:spPr>
          <a:xfrm>
            <a:off x="2117743" y="1608894"/>
            <a:ext cx="4939396" cy="3717811"/>
          </a:xfrm>
          <a:prstGeom prst="rect">
            <a:avLst/>
          </a:prstGeom>
        </p:spPr>
      </p:pic>
      <p:pic>
        <p:nvPicPr>
          <p:cNvPr id="12" name="3-OS to install" descr="Screen shot three showing option to select the operating system you want to install."/>
          <p:cNvPicPr>
            <a:picLocks noChangeAspect="1"/>
          </p:cNvPicPr>
          <p:nvPr/>
        </p:nvPicPr>
        <p:blipFill rotWithShape="1">
          <a:blip r:embed="rId8" cstate="print">
            <a:extLst>
              <a:ext uri="{28A0092B-C50C-407E-A947-70E740481C1C}">
                <a14:useLocalDpi xmlns:a14="http://schemas.microsoft.com/office/drawing/2010/main" val="0"/>
              </a:ext>
            </a:extLst>
          </a:blip>
          <a:srcRect/>
          <a:stretch/>
        </p:blipFill>
        <p:spPr>
          <a:xfrm>
            <a:off x="2132258" y="1623408"/>
            <a:ext cx="4921740" cy="3732789"/>
          </a:xfrm>
          <a:prstGeom prst="rect">
            <a:avLst/>
          </a:prstGeom>
        </p:spPr>
      </p:pic>
      <p:pic>
        <p:nvPicPr>
          <p:cNvPr id="13" name="2-install now" descr="Screen shot two  showing options to either Click Install Now or choose to repair your compute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033512" y="1609855"/>
            <a:ext cx="5071230" cy="3750084"/>
          </a:xfrm>
          <a:prstGeom prst="rect">
            <a:avLst/>
          </a:prstGeom>
        </p:spPr>
      </p:pic>
      <p:pic>
        <p:nvPicPr>
          <p:cNvPr id="14" name="1-language to install" descr="This animated slide requires six clicks to advance through the Windows Server 2012 installation process screens. This is the first of seven screen shots and is a screen shot of the step to choose installation language, currency format, time format, and keyboard input method.&#10;&#10;Click six more times to advance through the rest of the steps.&#10;&#10;"/>
          <p:cNvPicPr>
            <a:picLocks noChangeAspect="1"/>
          </p:cNvPicPr>
          <p:nvPr/>
        </p:nvPicPr>
        <p:blipFill rotWithShape="1">
          <a:blip r:embed="rId10" cstate="print">
            <a:extLst>
              <a:ext uri="{28A0092B-C50C-407E-A947-70E740481C1C}">
                <a14:useLocalDpi xmlns:a14="http://schemas.microsoft.com/office/drawing/2010/main" val="0"/>
              </a:ext>
            </a:extLst>
          </a:blip>
          <a:srcRect/>
          <a:stretch/>
        </p:blipFill>
        <p:spPr>
          <a:xfrm>
            <a:off x="1805944" y="1289926"/>
            <a:ext cx="5296633" cy="4123553"/>
          </a:xfrm>
          <a:prstGeom prst="rect">
            <a:avLst/>
          </a:prstGeom>
        </p:spPr>
      </p:pic>
      <p:grpSp>
        <p:nvGrpSpPr>
          <p:cNvPr id="15" name="play button"/>
          <p:cNvGrpSpPr>
            <a:grpSpLocks/>
          </p:cNvGrpSpPr>
          <p:nvPr/>
        </p:nvGrpSpPr>
        <p:grpSpPr bwMode="auto">
          <a:xfrm>
            <a:off x="7315200" y="6019800"/>
            <a:ext cx="816358" cy="379833"/>
            <a:chOff x="384" y="3024"/>
            <a:chExt cx="720" cy="336"/>
          </a:xfrm>
        </p:grpSpPr>
        <p:sp>
          <p:nvSpPr>
            <p:cNvPr id="16" name="Oval 47"/>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a:noFill/>
            </a:ln>
            <a:effectLst>
              <a:outerShdw dist="17961" dir="2700000" algn="ctr" rotWithShape="0">
                <a:srgbClr val="969696"/>
              </a:outerShdw>
            </a:effectLst>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en-US" b="1" i="0" dirty="0"/>
            </a:p>
          </p:txBody>
        </p:sp>
        <p:grpSp>
          <p:nvGrpSpPr>
            <p:cNvPr id="17" name="Group 48"/>
            <p:cNvGrpSpPr>
              <a:grpSpLocks/>
            </p:cNvGrpSpPr>
            <p:nvPr/>
          </p:nvGrpSpPr>
          <p:grpSpPr bwMode="auto">
            <a:xfrm>
              <a:off x="480" y="3096"/>
              <a:ext cx="240" cy="192"/>
              <a:chOff x="480" y="3096"/>
              <a:chExt cx="240" cy="192"/>
            </a:xfrm>
          </p:grpSpPr>
          <p:sp>
            <p:nvSpPr>
              <p:cNvPr id="18" name="Oval 49"/>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en-US" b="1" i="0" dirty="0"/>
              </a:p>
            </p:txBody>
          </p:sp>
          <p:sp>
            <p:nvSpPr>
              <p:cNvPr id="19" name="Freeform 50"/>
              <p:cNvSpPr>
                <a:spLocks/>
              </p:cNvSpPr>
              <p:nvPr/>
            </p:nvSpPr>
            <p:spPr bwMode="auto">
              <a:xfrm>
                <a:off x="539" y="3123"/>
                <a:ext cx="139" cy="133"/>
              </a:xfrm>
              <a:custGeom>
                <a:avLst/>
                <a:gdLst>
                  <a:gd name="T0" fmla="*/ 0 w 432"/>
                  <a:gd name="T1" fmla="*/ 0 h 576"/>
                  <a:gd name="T2" fmla="*/ 0 w 432"/>
                  <a:gd name="T3" fmla="*/ 576 h 576"/>
                  <a:gd name="T4" fmla="*/ 432 w 432"/>
                  <a:gd name="T5" fmla="*/ 288 h 576"/>
                  <a:gd name="T6" fmla="*/ 0 w 432"/>
                  <a:gd name="T7" fmla="*/ 0 h 5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en-US" dirty="0"/>
              </a:p>
            </p:txBody>
          </p:sp>
        </p:grpSp>
      </p:grpSp>
      <p:grpSp>
        <p:nvGrpSpPr>
          <p:cNvPr id="20" name="stop" descr="stop button appears at end of slide"/>
          <p:cNvGrpSpPr>
            <a:grpSpLocks/>
          </p:cNvGrpSpPr>
          <p:nvPr/>
        </p:nvGrpSpPr>
        <p:grpSpPr bwMode="auto">
          <a:xfrm>
            <a:off x="7802563" y="6110287"/>
            <a:ext cx="272120" cy="218263"/>
            <a:chOff x="768" y="3096"/>
            <a:chExt cx="240" cy="192"/>
          </a:xfrm>
        </p:grpSpPr>
        <p:sp>
          <p:nvSpPr>
            <p:cNvPr id="21" name="Oval 52"/>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en-US" b="1" i="0" dirty="0"/>
            </a:p>
          </p:txBody>
        </p:sp>
        <p:sp>
          <p:nvSpPr>
            <p:cNvPr id="22" name="Rectangle 53"/>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en-US" b="1" i="0" dirty="0"/>
            </a:p>
          </p:txBody>
        </p:sp>
      </p:grpSp>
    </p:spTree>
    <p:extLst>
      <p:ext uri="{BB962C8B-B14F-4D97-AF65-F5344CB8AC3E}">
        <p14:creationId xmlns:p14="http://schemas.microsoft.com/office/powerpoint/2010/main" val="2856002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12"/>
                                        </p:tgtEl>
                                      </p:cBhvr>
                                    </p:animEffect>
                                    <p:set>
                                      <p:cBhvr>
                                        <p:cTn id="17" dur="1" fill="hold">
                                          <p:stCondLst>
                                            <p:cond delay="499"/>
                                          </p:stCondLst>
                                        </p:cTn>
                                        <p:tgtEl>
                                          <p:spTgt spid="1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7"/>
                                        </p:tgtEl>
                                      </p:cBhvr>
                                    </p:animEffect>
                                    <p:set>
                                      <p:cBhvr>
                                        <p:cTn id="32" dur="1" fill="hold">
                                          <p:stCondLst>
                                            <p:cond delay="499"/>
                                          </p:stCondLst>
                                        </p:cTn>
                                        <p:tgtEl>
                                          <p:spTgt spid="7"/>
                                        </p:tgtEl>
                                        <p:attrNameLst>
                                          <p:attrName>style.visibility</p:attrName>
                                        </p:attrNameLst>
                                      </p:cBhvr>
                                      <p:to>
                                        <p:strVal val="hidden"/>
                                      </p:to>
                                    </p:set>
                                  </p:childTnLst>
                                </p:cTn>
                              </p:par>
                              <p:par>
                                <p:cTn id="33" presetID="10"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name="36dfcc01-68c0-4664-a398-ded68ee4a2ba">
    <p:spTree>
      <p:nvGrpSpPr>
        <p:cNvPr id="1" name=""/>
        <p:cNvGrpSpPr/>
        <p:nvPr/>
      </p:nvGrpSpPr>
      <p:grpSpPr>
        <a:xfrm>
          <a:off x="0" y="0"/>
          <a:ext cx="0" cy="0"/>
          <a:chOff x="0" y="0"/>
          <a:chExt cx="0" cy="0"/>
        </a:xfrm>
      </p:grpSpPr>
      <p:sp>
        <p:nvSpPr>
          <p:cNvPr id="2" name="Title 1"/>
          <p:cNvSpPr>
            <a:spLocks noGrp="1"/>
          </p:cNvSpPr>
          <p:nvPr>
            <p:ph type="title"/>
          </p:nvPr>
        </p:nvSpPr>
        <p:spPr>
          <a:xfrm>
            <a:off x="1981199" y="-2"/>
            <a:ext cx="6400801" cy="685802"/>
          </a:xfrm>
        </p:spPr>
        <p:txBody>
          <a:bodyPr>
            <a:normAutofit fontScale="90000"/>
          </a:bodyPr>
          <a:lstStyle/>
          <a:p>
            <a:pPr algn="ctr"/>
            <a:r>
              <a:rPr lang="en-CA" sz="2400" dirty="0" smtClean="0">
                <a:solidFill>
                  <a:schemeClr val="tx1"/>
                </a:solidFill>
              </a:rPr>
              <a:t>Lesson 4: Post-Installation Configuration of Windows Server 2012</a:t>
            </a:r>
            <a:endParaRPr lang="en-CA" sz="2400" dirty="0">
              <a:solidFill>
                <a:schemeClr val="tx1"/>
              </a:solidFill>
            </a:endParaRPr>
          </a:p>
        </p:txBody>
      </p:sp>
      <p:sp>
        <p:nvSpPr>
          <p:cNvPr id="3" name="Text Placeholder 2"/>
          <p:cNvSpPr>
            <a:spLocks noGrp="1"/>
          </p:cNvSpPr>
          <p:nvPr>
            <p:ph type="body" idx="1"/>
          </p:nvPr>
        </p:nvSpPr>
        <p:spPr/>
        <p:txBody>
          <a:bodyPr/>
          <a:lstStyle/>
          <a:p>
            <a:r>
              <a:rPr lang="en-CA" dirty="0" smtClean="0"/>
              <a:t>Overview of Post-Installation Configuration
Configuring Server Network Settings
How to Join a Domain
Performing an Offline Domain Join
Activating Windows Server 2012
Configuring a Server Core Installation</a:t>
            </a:r>
            <a:endParaRPr lang="en-CA" dirty="0"/>
          </a:p>
        </p:txBody>
      </p:sp>
    </p:spTree>
    <p:extLst>
      <p:ext uri="{BB962C8B-B14F-4D97-AF65-F5344CB8AC3E}">
        <p14:creationId xmlns:p14="http://schemas.microsoft.com/office/powerpoint/2010/main" val="3702857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name="d7ba6655-b58b-4a41-99d0-b2484aa7052e">
    <p:spTree>
      <p:nvGrpSpPr>
        <p:cNvPr id="1" name=""/>
        <p:cNvGrpSpPr/>
        <p:nvPr/>
      </p:nvGrpSpPr>
      <p:grpSpPr>
        <a:xfrm>
          <a:off x="0" y="0"/>
          <a:ext cx="0" cy="0"/>
          <a:chOff x="0" y="0"/>
          <a:chExt cx="0" cy="0"/>
        </a:xfrm>
      </p:grpSpPr>
      <p:sp>
        <p:nvSpPr>
          <p:cNvPr id="2" name="Title 1"/>
          <p:cNvSpPr>
            <a:spLocks noGrp="1"/>
          </p:cNvSpPr>
          <p:nvPr>
            <p:ph type="title"/>
          </p:nvPr>
        </p:nvSpPr>
        <p:spPr>
          <a:xfrm>
            <a:off x="1981199" y="-2"/>
            <a:ext cx="6477001" cy="740664"/>
          </a:xfrm>
        </p:spPr>
        <p:txBody>
          <a:bodyPr/>
          <a:lstStyle/>
          <a:p>
            <a:pPr algn="ctr"/>
            <a:r>
              <a:rPr lang="en-CA" sz="2400" dirty="0" smtClean="0">
                <a:solidFill>
                  <a:schemeClr val="tx1"/>
                </a:solidFill>
              </a:rPr>
              <a:t>Overview of Post-Installation Configuration</a:t>
            </a:r>
            <a:endParaRPr lang="en-CA" sz="2400" dirty="0">
              <a:solidFill>
                <a:schemeClr val="tx1"/>
              </a:solidFill>
            </a:endParaRPr>
          </a:p>
        </p:txBody>
      </p:sp>
      <p:pic>
        <p:nvPicPr>
          <p:cNvPr id="5" name="Picture 4" descr="This  animated slide shows a screen shot of the properties dialog box for the LON-SVR1 virtual machine. Click seven times to show all the slides. Each click highlights a different property on the screen. Showing now is a screen shot of the properties dialog box for the LON-SVR1 virtual machin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 y="775132"/>
            <a:ext cx="9144781" cy="4939868"/>
          </a:xfrm>
          <a:prstGeom prst="rect">
            <a:avLst/>
          </a:prstGeom>
        </p:spPr>
      </p:pic>
      <p:sp>
        <p:nvSpPr>
          <p:cNvPr id="6" name="Rectangle 5" descr="Box appears around Local Area Connection (172.16.0.20, IPv6 enabled)."/>
          <p:cNvSpPr/>
          <p:nvPr/>
        </p:nvSpPr>
        <p:spPr>
          <a:xfrm>
            <a:off x="214782" y="3661044"/>
            <a:ext cx="3976095" cy="1828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descr="A box appears around Computer name (LON-SVR1).&#10;"/>
          <p:cNvSpPr/>
          <p:nvPr/>
        </p:nvSpPr>
        <p:spPr>
          <a:xfrm>
            <a:off x="214779" y="1559704"/>
            <a:ext cx="3976098" cy="1828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descr="Box appears around Domain (Adatum.com)&#10;"/>
          <p:cNvSpPr/>
          <p:nvPr/>
        </p:nvSpPr>
        <p:spPr>
          <a:xfrm>
            <a:off x="215758" y="1792750"/>
            <a:ext cx="3976098" cy="1828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descr="Box appears around Time zone (UTC-8 ). This is the last click."/>
          <p:cNvSpPr/>
          <p:nvPr/>
        </p:nvSpPr>
        <p:spPr>
          <a:xfrm>
            <a:off x="4903588" y="3409878"/>
            <a:ext cx="4114800" cy="1828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descr="Box appears around (all three together) Last installed updates (Never), Windows Update (Never check), Last checked for updates (Never)."/>
          <p:cNvSpPr/>
          <p:nvPr/>
        </p:nvSpPr>
        <p:spPr>
          <a:xfrm>
            <a:off x="4903588" y="1520297"/>
            <a:ext cx="4114800" cy="77119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descr="Box appears around Windows Firewall (Public On).&#10;"/>
          <p:cNvSpPr/>
          <p:nvPr/>
        </p:nvSpPr>
        <p:spPr>
          <a:xfrm>
            <a:off x="206221" y="2682058"/>
            <a:ext cx="3976108" cy="1828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descr="Box appears around Remote Desktop (Disabled)."/>
          <p:cNvSpPr/>
          <p:nvPr/>
        </p:nvSpPr>
        <p:spPr>
          <a:xfrm>
            <a:off x="214772" y="3172249"/>
            <a:ext cx="3976103" cy="1828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46"/>
          <p:cNvGrpSpPr>
            <a:grpSpLocks/>
          </p:cNvGrpSpPr>
          <p:nvPr/>
        </p:nvGrpSpPr>
        <p:grpSpPr bwMode="auto">
          <a:xfrm>
            <a:off x="7162800" y="6019800"/>
            <a:ext cx="914400" cy="425450"/>
            <a:chOff x="384" y="3024"/>
            <a:chExt cx="720" cy="336"/>
          </a:xfrm>
        </p:grpSpPr>
        <p:sp>
          <p:nvSpPr>
            <p:cNvPr id="14" name="Oval 47"/>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a:noFill/>
            </a:ln>
            <a:effectLst>
              <a:outerShdw dist="17961" dir="2700000" algn="ctr" rotWithShape="0">
                <a:srgbClr val="969696"/>
              </a:outerShdw>
            </a:effectLst>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en-US" b="1" i="0" dirty="0"/>
            </a:p>
          </p:txBody>
        </p:sp>
        <p:grpSp>
          <p:nvGrpSpPr>
            <p:cNvPr id="15" name="Group 48"/>
            <p:cNvGrpSpPr>
              <a:grpSpLocks/>
            </p:cNvGrpSpPr>
            <p:nvPr/>
          </p:nvGrpSpPr>
          <p:grpSpPr bwMode="auto">
            <a:xfrm>
              <a:off x="480" y="3096"/>
              <a:ext cx="240" cy="192"/>
              <a:chOff x="480" y="3096"/>
              <a:chExt cx="240" cy="192"/>
            </a:xfrm>
          </p:grpSpPr>
          <p:sp>
            <p:nvSpPr>
              <p:cNvPr id="16" name="Oval 49"/>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en-US" b="1" i="0" dirty="0"/>
              </a:p>
            </p:txBody>
          </p:sp>
          <p:sp>
            <p:nvSpPr>
              <p:cNvPr id="17" name="Freeform 50"/>
              <p:cNvSpPr>
                <a:spLocks/>
              </p:cNvSpPr>
              <p:nvPr/>
            </p:nvSpPr>
            <p:spPr bwMode="auto">
              <a:xfrm>
                <a:off x="539" y="3123"/>
                <a:ext cx="139" cy="133"/>
              </a:xfrm>
              <a:custGeom>
                <a:avLst/>
                <a:gdLst>
                  <a:gd name="T0" fmla="*/ 0 w 432"/>
                  <a:gd name="T1" fmla="*/ 0 h 576"/>
                  <a:gd name="T2" fmla="*/ 0 w 432"/>
                  <a:gd name="T3" fmla="*/ 576 h 576"/>
                  <a:gd name="T4" fmla="*/ 432 w 432"/>
                  <a:gd name="T5" fmla="*/ 288 h 576"/>
                  <a:gd name="T6" fmla="*/ 0 w 432"/>
                  <a:gd name="T7" fmla="*/ 0 h 5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en-US" dirty="0"/>
              </a:p>
            </p:txBody>
          </p:sp>
        </p:grpSp>
      </p:grpSp>
      <p:grpSp>
        <p:nvGrpSpPr>
          <p:cNvPr id="18" name="stop" descr="Stop button appears at end of slide."/>
          <p:cNvGrpSpPr>
            <a:grpSpLocks/>
          </p:cNvGrpSpPr>
          <p:nvPr/>
        </p:nvGrpSpPr>
        <p:grpSpPr bwMode="auto">
          <a:xfrm>
            <a:off x="7650163" y="6110287"/>
            <a:ext cx="304800" cy="244475"/>
            <a:chOff x="768" y="3096"/>
            <a:chExt cx="240" cy="192"/>
          </a:xfrm>
        </p:grpSpPr>
        <p:sp>
          <p:nvSpPr>
            <p:cNvPr id="19" name="Oval 52"/>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en-US" b="1" i="0" dirty="0"/>
            </a:p>
          </p:txBody>
        </p:sp>
        <p:sp>
          <p:nvSpPr>
            <p:cNvPr id="20" name="Rectangle 53"/>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en-US" b="1" i="0" dirty="0"/>
            </a:p>
          </p:txBody>
        </p:sp>
      </p:grpSp>
    </p:spTree>
    <p:extLst>
      <p:ext uri="{BB962C8B-B14F-4D97-AF65-F5344CB8AC3E}">
        <p14:creationId xmlns:p14="http://schemas.microsoft.com/office/powerpoint/2010/main" val="947568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xit" presetSubtype="0" fill="hold" grpId="1" nodeType="withEffect">
                                  <p:stCondLst>
                                    <p:cond delay="0"/>
                                  </p:stCondLst>
                                  <p:childTnLst>
                                    <p:animEffect transition="out" filter="fade">
                                      <p:cBhvr>
                                        <p:cTn id="14" dur="500"/>
                                        <p:tgtEl>
                                          <p:spTgt spid="7"/>
                                        </p:tgtEl>
                                      </p:cBhvr>
                                    </p:animEffect>
                                    <p:set>
                                      <p:cBhvr>
                                        <p:cTn id="15" dur="1" fill="hold">
                                          <p:stCondLst>
                                            <p:cond delay="499"/>
                                          </p:stCondLst>
                                        </p:cTn>
                                        <p:tgtEl>
                                          <p:spTgt spid="7"/>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xit" presetSubtype="0" fill="hold" grpId="1" nodeType="withEffect">
                                  <p:stCondLst>
                                    <p:cond delay="0"/>
                                  </p:stCondLst>
                                  <p:childTnLst>
                                    <p:animEffect transition="out" filter="fade">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xit" presetSubtype="0" fill="hold" grpId="1" nodeType="withEffect">
                                  <p:stCondLst>
                                    <p:cond delay="0"/>
                                  </p:stCondLst>
                                  <p:childTnLst>
                                    <p:animEffect transition="out" filter="fade">
                                      <p:cBhvr>
                                        <p:cTn id="30" dur="500"/>
                                        <p:tgtEl>
                                          <p:spTgt spid="11"/>
                                        </p:tgtEl>
                                      </p:cBhvr>
                                    </p:animEffect>
                                    <p:set>
                                      <p:cBhvr>
                                        <p:cTn id="31" dur="1" fill="hold">
                                          <p:stCondLst>
                                            <p:cond delay="499"/>
                                          </p:stCondLst>
                                        </p:cTn>
                                        <p:tgtEl>
                                          <p:spTgt spid="11"/>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par>
                                <p:cTn id="37" presetID="10" presetClass="exit" presetSubtype="0" fill="hold" grpId="1" nodeType="withEffect">
                                  <p:stCondLst>
                                    <p:cond delay="0"/>
                                  </p:stCondLst>
                                  <p:childTnLst>
                                    <p:animEffect transition="out" filter="fade">
                                      <p:cBhvr>
                                        <p:cTn id="38" dur="500"/>
                                        <p:tgtEl>
                                          <p:spTgt spid="12"/>
                                        </p:tgtEl>
                                      </p:cBhvr>
                                    </p:animEffect>
                                    <p:set>
                                      <p:cBhvr>
                                        <p:cTn id="39" dur="1" fill="hold">
                                          <p:stCondLst>
                                            <p:cond delay="499"/>
                                          </p:stCondLst>
                                        </p:cTn>
                                        <p:tgtEl>
                                          <p:spTgt spid="1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5" presetID="10" presetClass="exit" presetSubtype="0" fill="hold" grpId="1" nodeType="withEffect">
                                  <p:stCondLst>
                                    <p:cond delay="0"/>
                                  </p:stCondLst>
                                  <p:childTnLst>
                                    <p:animEffect transition="out" filter="fade">
                                      <p:cBhvr>
                                        <p:cTn id="46" dur="500"/>
                                        <p:tgtEl>
                                          <p:spTgt spid="6"/>
                                        </p:tgtEl>
                                      </p:cBhvr>
                                    </p:animEffect>
                                    <p:set>
                                      <p:cBhvr>
                                        <p:cTn id="47" dur="1" fill="hold">
                                          <p:stCondLst>
                                            <p:cond delay="499"/>
                                          </p:stCondLst>
                                        </p:cTn>
                                        <p:tgtEl>
                                          <p:spTgt spid="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par>
                                <p:cTn id="53" presetID="10" presetClass="exit" presetSubtype="0" fill="hold" grpId="1" nodeType="withEffect">
                                  <p:stCondLst>
                                    <p:cond delay="0"/>
                                  </p:stCondLst>
                                  <p:childTnLst>
                                    <p:animEffect transition="out" filter="fade">
                                      <p:cBhvr>
                                        <p:cTn id="54" dur="500"/>
                                        <p:tgtEl>
                                          <p:spTgt spid="10"/>
                                        </p:tgtEl>
                                      </p:cBhvr>
                                    </p:animEffect>
                                    <p:set>
                                      <p:cBhvr>
                                        <p:cTn id="55" dur="1" fill="hold">
                                          <p:stCondLst>
                                            <p:cond delay="499"/>
                                          </p:stCondLst>
                                        </p:cTn>
                                        <p:tgtEl>
                                          <p:spTgt spid="10"/>
                                        </p:tgtEl>
                                        <p:attrNameLst>
                                          <p:attrName>style.visibility</p:attrName>
                                        </p:attrNameLst>
                                      </p:cBhvr>
                                      <p:to>
                                        <p:strVal val="hidden"/>
                                      </p:to>
                                    </p:set>
                                  </p:childTnLst>
                                </p:cTn>
                              </p:par>
                              <p:par>
                                <p:cTn id="56" presetID="10"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10" grpId="0" animBg="1"/>
      <p:bldP spid="10" grpId="1" animBg="1"/>
      <p:bldP spid="11" grpId="0" animBg="1"/>
      <p:bldP spid="11" grpId="1" animBg="1"/>
      <p:bldP spid="12" grpId="0" animBg="1"/>
      <p:bldP spid="12" grpId="1"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name="5bb8f16a-f4e3-40ce-8491-f5b07d6f8abf">
    <p:spTree>
      <p:nvGrpSpPr>
        <p:cNvPr id="1" name=""/>
        <p:cNvGrpSpPr/>
        <p:nvPr/>
      </p:nvGrpSpPr>
      <p:grpSpPr>
        <a:xfrm>
          <a:off x="0" y="0"/>
          <a:ext cx="0" cy="0"/>
          <a:chOff x="0" y="0"/>
          <a:chExt cx="0" cy="0"/>
        </a:xfrm>
      </p:grpSpPr>
      <p:sp>
        <p:nvSpPr>
          <p:cNvPr id="2" name="Title 1"/>
          <p:cNvSpPr>
            <a:spLocks noGrp="1"/>
          </p:cNvSpPr>
          <p:nvPr>
            <p:ph type="title"/>
          </p:nvPr>
        </p:nvSpPr>
        <p:spPr>
          <a:xfrm>
            <a:off x="2133599" y="-2"/>
            <a:ext cx="6248401" cy="740664"/>
          </a:xfrm>
        </p:spPr>
        <p:txBody>
          <a:bodyPr/>
          <a:lstStyle/>
          <a:p>
            <a:pPr algn="ctr"/>
            <a:r>
              <a:rPr lang="en-CA" sz="2400" dirty="0" smtClean="0">
                <a:solidFill>
                  <a:schemeClr val="tx1"/>
                </a:solidFill>
              </a:rPr>
              <a:t>Configuring Server Network Settings</a:t>
            </a:r>
            <a:endParaRPr lang="en-CA" sz="2400" dirty="0">
              <a:solidFill>
                <a:schemeClr val="tx1"/>
              </a:solidFill>
            </a:endParaRPr>
          </a:p>
        </p:txBody>
      </p:sp>
      <p:grpSp>
        <p:nvGrpSpPr>
          <p:cNvPr id="4" name="Group 3" descr="Screen shot of the properties  window of the local server. Three properties are circled for emphasis: the domain is set to Adatum.com, network adapter teaming is disabled, and the local IPv4 address is set to 172.16.0.20."/>
          <p:cNvGrpSpPr/>
          <p:nvPr/>
        </p:nvGrpSpPr>
        <p:grpSpPr>
          <a:xfrm>
            <a:off x="533400" y="972914"/>
            <a:ext cx="7620000" cy="5199285"/>
            <a:chOff x="321589" y="821442"/>
            <a:chExt cx="7831811" cy="5343808"/>
          </a:xfrm>
        </p:grpSpPr>
        <p:pic>
          <p:nvPicPr>
            <p:cNvPr id="5" name="Picture 4" descr="Screen shot of the properties window of the local server. Three properties are circled for emphasis: the domain is set to Adatum.com, network adapter teaming is disabled, and the local IPv4 address is set to 172.16.0.20.&#10;&#10;&#10;"/>
            <p:cNvPicPr>
              <a:picLocks noChangeAspect="1"/>
            </p:cNvPicPr>
            <p:nvPr/>
          </p:nvPicPr>
          <p:blipFill rotWithShape="1">
            <a:blip r:embed="rId3">
              <a:extLst>
                <a:ext uri="{28A0092B-C50C-407E-A947-70E740481C1C}">
                  <a14:useLocalDpi xmlns:a14="http://schemas.microsoft.com/office/drawing/2010/main" val="0"/>
                </a:ext>
              </a:extLst>
            </a:blip>
            <a:srcRect r="46084" b="31897"/>
            <a:stretch/>
          </p:blipFill>
          <p:spPr>
            <a:xfrm>
              <a:off x="321589" y="821442"/>
              <a:ext cx="7831811" cy="5343808"/>
            </a:xfrm>
            <a:prstGeom prst="rect">
              <a:avLst/>
            </a:prstGeom>
          </p:spPr>
        </p:pic>
        <p:sp>
          <p:nvSpPr>
            <p:cNvPr id="6" name="Rectangle 5"/>
            <p:cNvSpPr/>
            <p:nvPr/>
          </p:nvSpPr>
          <p:spPr>
            <a:xfrm>
              <a:off x="691699" y="2460169"/>
              <a:ext cx="5589358" cy="39188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7" name="Rectangle 6"/>
            <p:cNvSpPr/>
            <p:nvPr/>
          </p:nvSpPr>
          <p:spPr>
            <a:xfrm>
              <a:off x="691699" y="4942114"/>
              <a:ext cx="5589358" cy="39188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8" name="Rectangle 7"/>
            <p:cNvSpPr/>
            <p:nvPr/>
          </p:nvSpPr>
          <p:spPr>
            <a:xfrm>
              <a:off x="691699" y="5334000"/>
              <a:ext cx="6220730" cy="39188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spTree>
    <p:extLst>
      <p:ext uri="{BB962C8B-B14F-4D97-AF65-F5344CB8AC3E}">
        <p14:creationId xmlns:p14="http://schemas.microsoft.com/office/powerpoint/2010/main" val="7606459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name="9c80e8bf-6591-497b-85be-d0713cd896d0">
    <p:spTree>
      <p:nvGrpSpPr>
        <p:cNvPr id="1" name=""/>
        <p:cNvGrpSpPr/>
        <p:nvPr/>
      </p:nvGrpSpPr>
      <p:grpSpPr>
        <a:xfrm>
          <a:off x="0" y="0"/>
          <a:ext cx="0" cy="0"/>
          <a:chOff x="0" y="0"/>
          <a:chExt cx="0" cy="0"/>
        </a:xfrm>
      </p:grpSpPr>
      <p:sp>
        <p:nvSpPr>
          <p:cNvPr id="2" name="Title 1"/>
          <p:cNvSpPr>
            <a:spLocks noGrp="1"/>
          </p:cNvSpPr>
          <p:nvPr>
            <p:ph type="title"/>
          </p:nvPr>
        </p:nvSpPr>
        <p:spPr>
          <a:xfrm>
            <a:off x="2057399" y="-2"/>
            <a:ext cx="6324601" cy="740664"/>
          </a:xfrm>
        </p:spPr>
        <p:txBody>
          <a:bodyPr/>
          <a:lstStyle/>
          <a:p>
            <a:pPr algn="ctr"/>
            <a:r>
              <a:rPr lang="en-CA" sz="2400" dirty="0" smtClean="0">
                <a:solidFill>
                  <a:schemeClr val="tx1"/>
                </a:solidFill>
              </a:rPr>
              <a:t>How to Join a Domain</a:t>
            </a:r>
            <a:endParaRPr lang="en-CA" sz="2400" dirty="0">
              <a:solidFill>
                <a:schemeClr val="tx1"/>
              </a:solidFill>
            </a:endParaRPr>
          </a:p>
        </p:txBody>
      </p:sp>
      <p:pic>
        <p:nvPicPr>
          <p:cNvPr id="4" name="Picture 3" descr="Screen shot of the Computer Name/Domain Changes dialog box.&#10;&#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9097" y="810705"/>
            <a:ext cx="4229103" cy="4994608"/>
          </a:xfrm>
          <a:prstGeom prst="rect">
            <a:avLst/>
          </a:prstGeom>
          <a:noFill/>
          <a:ln>
            <a:noFill/>
          </a:ln>
          <a:effectLst/>
          <a:extLst/>
        </p:spPr>
      </p:pic>
      <p:sp>
        <p:nvSpPr>
          <p:cNvPr id="5" name="AutoShape 3"/>
          <p:cNvSpPr>
            <a:spLocks noChangeArrowheads="1"/>
          </p:cNvSpPr>
          <p:nvPr/>
        </p:nvSpPr>
        <p:spPr bwMode="auto">
          <a:xfrm>
            <a:off x="261257" y="1136996"/>
            <a:ext cx="4092575" cy="2656678"/>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0" hangingPunct="0">
              <a:spcBef>
                <a:spcPct val="40000"/>
              </a:spcBef>
              <a:buClr>
                <a:srgbClr val="006699"/>
              </a:buClr>
            </a:pPr>
            <a:r>
              <a:rPr lang="en-US" sz="2600" dirty="0" smtClean="0">
                <a:latin typeface="Segoe UI" pitchFamily="34" charset="0"/>
                <a:ea typeface="Segoe UI" pitchFamily="34" charset="0"/>
                <a:cs typeface="Segoe UI" pitchFamily="34" charset="0"/>
              </a:rPr>
              <a:t>Information necessary for a domain join:</a:t>
            </a:r>
            <a:endParaRPr lang="en-US" sz="2600" dirty="0">
              <a:latin typeface="Segoe UI" pitchFamily="34" charset="0"/>
              <a:ea typeface="Segoe UI" pitchFamily="34" charset="0"/>
              <a:cs typeface="Segoe UI" pitchFamily="34" charset="0"/>
            </a:endParaRPr>
          </a:p>
        </p:txBody>
      </p:sp>
      <p:sp>
        <p:nvSpPr>
          <p:cNvPr id="6" name="Rounded Rectangle 5"/>
          <p:cNvSpPr>
            <a:spLocks noChangeArrowheads="1"/>
          </p:cNvSpPr>
          <p:nvPr/>
        </p:nvSpPr>
        <p:spPr bwMode="auto">
          <a:xfrm>
            <a:off x="479090" y="2061925"/>
            <a:ext cx="3607480" cy="1888653"/>
          </a:xfrm>
          <a:prstGeom prst="roundRect">
            <a:avLst>
              <a:gd name="adj" fmla="val 4167"/>
            </a:avLst>
          </a:prstGeom>
          <a:noFill/>
          <a:ln w="9525" algn="ctr">
            <a:noFill/>
            <a:round/>
            <a:headEnd/>
            <a:tailEnd/>
          </a:ln>
          <a:effectLst/>
        </p:spPr>
        <p:txBody>
          <a:bodyPr wrap="square"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85750" indent="-285750" eaLnBrk="0" hangingPunct="0">
              <a:spcBef>
                <a:spcPct val="40000"/>
              </a:spcBef>
              <a:buClr>
                <a:srgbClr val="006699"/>
              </a:buClr>
              <a:buFontTx/>
              <a:buChar char="•"/>
            </a:pPr>
            <a:r>
              <a:rPr lang="en-US" sz="2600" b="0" dirty="0" smtClean="0">
                <a:latin typeface="Segoe UI" pitchFamily="34" charset="0"/>
                <a:ea typeface="Segoe UI" pitchFamily="34" charset="0"/>
                <a:cs typeface="Segoe UI" pitchFamily="34" charset="0"/>
              </a:rPr>
              <a:t>Domain name</a:t>
            </a:r>
          </a:p>
          <a:p>
            <a:pPr marL="285750" indent="-285750" eaLnBrk="0" hangingPunct="0">
              <a:spcBef>
                <a:spcPct val="40000"/>
              </a:spcBef>
              <a:buClr>
                <a:srgbClr val="006699"/>
              </a:buClr>
              <a:buFontTx/>
              <a:buChar char="•"/>
            </a:pPr>
            <a:r>
              <a:rPr lang="en-US" sz="2600" b="0" dirty="0" smtClean="0">
                <a:latin typeface="Segoe UI" pitchFamily="34" charset="0"/>
                <a:ea typeface="Segoe UI" pitchFamily="34" charset="0"/>
                <a:cs typeface="Segoe UI" pitchFamily="34" charset="0"/>
              </a:rPr>
              <a:t>Account with permission to join computer to domain</a:t>
            </a:r>
            <a:endParaRPr lang="en-US" sz="26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8931869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name="9064f4e5-ea0e-4082-9898-3334c2fdcc39">
    <p:spTree>
      <p:nvGrpSpPr>
        <p:cNvPr id="1" name=""/>
        <p:cNvGrpSpPr/>
        <p:nvPr/>
      </p:nvGrpSpPr>
      <p:grpSpPr>
        <a:xfrm>
          <a:off x="0" y="0"/>
          <a:ext cx="0" cy="0"/>
          <a:chOff x="0" y="0"/>
          <a:chExt cx="0" cy="0"/>
        </a:xfrm>
      </p:grpSpPr>
      <p:sp>
        <p:nvSpPr>
          <p:cNvPr id="2" name="Title 1"/>
          <p:cNvSpPr>
            <a:spLocks noGrp="1"/>
          </p:cNvSpPr>
          <p:nvPr>
            <p:ph type="title"/>
          </p:nvPr>
        </p:nvSpPr>
        <p:spPr>
          <a:xfrm>
            <a:off x="1981199" y="-2"/>
            <a:ext cx="6324601" cy="740664"/>
          </a:xfrm>
        </p:spPr>
        <p:txBody>
          <a:bodyPr/>
          <a:lstStyle/>
          <a:p>
            <a:pPr algn="ctr"/>
            <a:r>
              <a:rPr lang="en-CA" sz="2400" dirty="0" smtClean="0">
                <a:solidFill>
                  <a:schemeClr val="tx1"/>
                </a:solidFill>
              </a:rPr>
              <a:t>Performing an Offline Domain Join</a:t>
            </a:r>
            <a:endParaRPr lang="en-CA" sz="2400" dirty="0">
              <a:solidFill>
                <a:schemeClr val="tx1"/>
              </a:solidFill>
            </a:endParaRPr>
          </a:p>
        </p:txBody>
      </p:sp>
      <p:sp>
        <p:nvSpPr>
          <p:cNvPr id="4" name="Content Placeholder 2"/>
          <p:cNvSpPr txBox="1">
            <a:spLocks/>
          </p:cNvSpPr>
          <p:nvPr/>
        </p:nvSpPr>
        <p:spPr>
          <a:xfrm>
            <a:off x="-5332413" y="1643934"/>
            <a:ext cx="5027613" cy="3799251"/>
          </a:xfrm>
          <a:prstGeom prst="rect">
            <a:avLst/>
          </a:prstGeom>
          <a:noFill/>
          <a:ln>
            <a:noFill/>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342900" indent="-342900">
              <a:lnSpc>
                <a:spcPct val="100000"/>
              </a:lnSpc>
              <a:spcBef>
                <a:spcPts val="600"/>
              </a:spcBef>
              <a:buFont typeface="+mj-lt"/>
              <a:buAutoNum type="arabicPeriod"/>
            </a:pPr>
            <a:endParaRPr lang="hr-HR" b="0" dirty="0" smtClean="0">
              <a:latin typeface="Segoe UI" pitchFamily="34" charset="0"/>
              <a:ea typeface="Segoe UI" pitchFamily="34" charset="0"/>
              <a:cs typeface="Segoe UI" pitchFamily="34" charset="0"/>
            </a:endParaRPr>
          </a:p>
        </p:txBody>
      </p:sp>
      <p:sp>
        <p:nvSpPr>
          <p:cNvPr id="5" name="AutoShape 3"/>
          <p:cNvSpPr>
            <a:spLocks noChangeArrowheads="1"/>
          </p:cNvSpPr>
          <p:nvPr/>
        </p:nvSpPr>
        <p:spPr bwMode="auto">
          <a:xfrm>
            <a:off x="152400" y="762000"/>
            <a:ext cx="8636268" cy="3735844"/>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indent="0">
              <a:buNone/>
            </a:pPr>
            <a:r>
              <a:rPr lang="en-US" sz="2400" dirty="0">
                <a:latin typeface="Segoe UI" pitchFamily="34" charset="0"/>
                <a:ea typeface="Segoe UI" pitchFamily="34" charset="0"/>
                <a:cs typeface="Segoe UI" pitchFamily="34" charset="0"/>
              </a:rPr>
              <a:t>Process for performing an offline join:</a:t>
            </a:r>
          </a:p>
          <a:p>
            <a:endParaRPr lang="en-US" sz="2000" dirty="0" smtClean="0">
              <a:latin typeface="Segoe UI" pitchFamily="34" charset="0"/>
              <a:ea typeface="Segoe UI" pitchFamily="34" charset="0"/>
              <a:cs typeface="Segoe UI" pitchFamily="34" charset="0"/>
            </a:endParaRPr>
          </a:p>
          <a:p>
            <a:endParaRPr lang="en-US" sz="2000" dirty="0">
              <a:latin typeface="Segoe UI" pitchFamily="34" charset="0"/>
              <a:ea typeface="Segoe UI" pitchFamily="34" charset="0"/>
              <a:cs typeface="Segoe UI" pitchFamily="34" charset="0"/>
            </a:endParaRPr>
          </a:p>
          <a:p>
            <a:endParaRPr lang="en-US" sz="2000" dirty="0">
              <a:latin typeface="Segoe UI" pitchFamily="34" charset="0"/>
              <a:ea typeface="Segoe UI" pitchFamily="34" charset="0"/>
              <a:cs typeface="Segoe UI" pitchFamily="34" charset="0"/>
            </a:endParaRPr>
          </a:p>
        </p:txBody>
      </p:sp>
      <p:sp>
        <p:nvSpPr>
          <p:cNvPr id="6" name="Rounded Rectangle 5"/>
          <p:cNvSpPr>
            <a:spLocks noChangeArrowheads="1"/>
          </p:cNvSpPr>
          <p:nvPr/>
        </p:nvSpPr>
        <p:spPr bwMode="auto">
          <a:xfrm>
            <a:off x="404586" y="1242718"/>
            <a:ext cx="8492053" cy="3661845"/>
          </a:xfrm>
          <a:prstGeom prst="roundRect">
            <a:avLst>
              <a:gd name="adj" fmla="val 4167"/>
            </a:avLst>
          </a:prstGeom>
          <a:noFill/>
          <a:ln w="9525" algn="ctr">
            <a:noFill/>
            <a:miter lim="800000"/>
            <a:headEnd/>
            <a:tailEnd/>
          </a:ln>
          <a:effec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342900" indent="-342900">
              <a:lnSpc>
                <a:spcPct val="100000"/>
              </a:lnSpc>
              <a:spcBef>
                <a:spcPts val="600"/>
              </a:spcBef>
              <a:buFont typeface="+mj-lt"/>
              <a:buAutoNum type="arabicPeriod"/>
            </a:pPr>
            <a:r>
              <a:rPr lang="en-US" sz="2350" b="0" dirty="0" smtClean="0">
                <a:latin typeface="Segoe UI" pitchFamily="34" charset="0"/>
                <a:ea typeface="Segoe UI" pitchFamily="34" charset="0"/>
                <a:cs typeface="Segoe UI" pitchFamily="34" charset="0"/>
              </a:rPr>
              <a:t>Ensure the user performing </a:t>
            </a:r>
            <a:r>
              <a:rPr lang="en-US" sz="2350" b="0" dirty="0">
                <a:latin typeface="Segoe UI" pitchFamily="34" charset="0"/>
                <a:ea typeface="Segoe UI" pitchFamily="34" charset="0"/>
                <a:cs typeface="Segoe UI" pitchFamily="34" charset="0"/>
              </a:rPr>
              <a:t>the offline domain join is </a:t>
            </a:r>
            <a:r>
              <a:rPr lang="en-US" sz="2350" b="0" dirty="0" smtClean="0">
                <a:latin typeface="Segoe UI" pitchFamily="34" charset="0"/>
                <a:ea typeface="Segoe UI" pitchFamily="34" charset="0"/>
                <a:cs typeface="Segoe UI" pitchFamily="34" charset="0"/>
              </a:rPr>
              <a:t>an </a:t>
            </a:r>
            <a:r>
              <a:rPr lang="en-US" sz="2350" b="0" dirty="0">
                <a:latin typeface="Segoe UI" pitchFamily="34" charset="0"/>
                <a:ea typeface="Segoe UI" pitchFamily="34" charset="0"/>
                <a:cs typeface="Segoe UI" pitchFamily="34" charset="0"/>
              </a:rPr>
              <a:t>administrator, </a:t>
            </a:r>
            <a:r>
              <a:rPr lang="en-US" sz="2350" b="0" dirty="0" smtClean="0">
                <a:latin typeface="Segoe UI" pitchFamily="34" charset="0"/>
                <a:ea typeface="Segoe UI" pitchFamily="34" charset="0"/>
                <a:cs typeface="Segoe UI" pitchFamily="34" charset="0"/>
              </a:rPr>
              <a:t>or </a:t>
            </a:r>
            <a:r>
              <a:rPr lang="en-US" sz="2350" b="0" dirty="0">
                <a:latin typeface="Segoe UI" pitchFamily="34" charset="0"/>
                <a:ea typeface="Segoe UI" pitchFamily="34" charset="0"/>
                <a:cs typeface="Segoe UI" pitchFamily="34" charset="0"/>
              </a:rPr>
              <a:t>delegate the appropriate </a:t>
            </a:r>
            <a:r>
              <a:rPr lang="en-US" sz="2350" b="0" dirty="0" smtClean="0">
                <a:latin typeface="Segoe UI" pitchFamily="34" charset="0"/>
                <a:ea typeface="Segoe UI" pitchFamily="34" charset="0"/>
                <a:cs typeface="Segoe UI" pitchFamily="34" charset="0"/>
              </a:rPr>
              <a:t>rights</a:t>
            </a:r>
            <a:endParaRPr lang="hr-HR" sz="2350" b="0" dirty="0">
              <a:latin typeface="Segoe UI" pitchFamily="34" charset="0"/>
              <a:ea typeface="Segoe UI" pitchFamily="34" charset="0"/>
              <a:cs typeface="Segoe UI" pitchFamily="34" charset="0"/>
            </a:endParaRPr>
          </a:p>
          <a:p>
            <a:pPr marL="342900" indent="-342900">
              <a:lnSpc>
                <a:spcPct val="100000"/>
              </a:lnSpc>
              <a:spcBef>
                <a:spcPts val="600"/>
              </a:spcBef>
              <a:buFont typeface="+mj-lt"/>
              <a:buAutoNum type="arabicPeriod"/>
            </a:pPr>
            <a:r>
              <a:rPr lang="en-CA" sz="2350" b="0" dirty="0">
                <a:latin typeface="Segoe UI" pitchFamily="34" charset="0"/>
                <a:ea typeface="Segoe UI" pitchFamily="34" charset="0"/>
                <a:cs typeface="Segoe UI" pitchFamily="34" charset="0"/>
              </a:rPr>
              <a:t>To </a:t>
            </a:r>
            <a:r>
              <a:rPr lang="hr-HR" sz="2350" b="0" dirty="0">
                <a:latin typeface="Segoe UI" pitchFamily="34" charset="0"/>
                <a:ea typeface="Segoe UI" pitchFamily="34" charset="0"/>
                <a:cs typeface="Segoe UI" pitchFamily="34" charset="0"/>
              </a:rPr>
              <a:t>provisio</a:t>
            </a:r>
            <a:r>
              <a:rPr lang="en-CA" sz="2350" b="0" dirty="0">
                <a:latin typeface="Segoe UI" pitchFamily="34" charset="0"/>
                <a:ea typeface="Segoe UI" pitchFamily="34" charset="0"/>
                <a:cs typeface="Segoe UI" pitchFamily="34" charset="0"/>
              </a:rPr>
              <a:t>n</a:t>
            </a:r>
            <a:r>
              <a:rPr lang="hr-HR" sz="2350" b="0" dirty="0">
                <a:latin typeface="Segoe UI" pitchFamily="34" charset="0"/>
                <a:ea typeface="Segoe UI" pitchFamily="34" charset="0"/>
                <a:cs typeface="Segoe UI" pitchFamily="34" charset="0"/>
              </a:rPr>
              <a:t> </a:t>
            </a:r>
            <a:r>
              <a:rPr lang="en-CA" sz="2350" b="0" dirty="0">
                <a:latin typeface="Segoe UI" pitchFamily="34" charset="0"/>
                <a:ea typeface="Segoe UI" pitchFamily="34" charset="0"/>
                <a:cs typeface="Segoe UI" pitchFamily="34" charset="0"/>
              </a:rPr>
              <a:t>the </a:t>
            </a:r>
            <a:r>
              <a:rPr lang="hr-HR" sz="2350" b="0" dirty="0">
                <a:latin typeface="Segoe UI" pitchFamily="34" charset="0"/>
                <a:ea typeface="Segoe UI" pitchFamily="34" charset="0"/>
                <a:cs typeface="Segoe UI" pitchFamily="34" charset="0"/>
              </a:rPr>
              <a:t>computer account </a:t>
            </a:r>
            <a:r>
              <a:rPr lang="hr-HR" sz="2350" b="0" dirty="0" smtClean="0">
                <a:latin typeface="Segoe UI" pitchFamily="34" charset="0"/>
                <a:ea typeface="Segoe UI" pitchFamily="34" charset="0"/>
                <a:cs typeface="Segoe UI" pitchFamily="34" charset="0"/>
              </a:rPr>
              <a:t>object </a:t>
            </a:r>
            <a:r>
              <a:rPr lang="hr-HR" sz="2350" b="0" dirty="0">
                <a:latin typeface="Segoe UI" pitchFamily="34" charset="0"/>
                <a:ea typeface="Segoe UI" pitchFamily="34" charset="0"/>
                <a:cs typeface="Segoe UI" pitchFamily="34" charset="0"/>
              </a:rPr>
              <a:t>and create </a:t>
            </a:r>
            <a:r>
              <a:rPr lang="en-CA" sz="2350" b="0" dirty="0">
                <a:latin typeface="Segoe UI" pitchFamily="34" charset="0"/>
                <a:ea typeface="Segoe UI" pitchFamily="34" charset="0"/>
                <a:cs typeface="Segoe UI" pitchFamily="34" charset="0"/>
              </a:rPr>
              <a:t>the </a:t>
            </a:r>
            <a:r>
              <a:rPr lang="en-AU" sz="2350" b="0" dirty="0">
                <a:latin typeface="Segoe UI" pitchFamily="34" charset="0"/>
                <a:ea typeface="Segoe UI" pitchFamily="34" charset="0"/>
                <a:cs typeface="Segoe UI" pitchFamily="34" charset="0"/>
              </a:rPr>
              <a:t>binary</a:t>
            </a:r>
            <a:r>
              <a:rPr lang="hr-HR" sz="2350" b="0" dirty="0">
                <a:latin typeface="Segoe UI" pitchFamily="34" charset="0"/>
                <a:ea typeface="Segoe UI" pitchFamily="34" charset="0"/>
                <a:cs typeface="Segoe UI" pitchFamily="34" charset="0"/>
              </a:rPr>
              <a:t> file</a:t>
            </a:r>
            <a:r>
              <a:rPr lang="en-US" sz="2350" b="0" dirty="0">
                <a:latin typeface="Segoe UI" pitchFamily="34" charset="0"/>
                <a:ea typeface="Segoe UI" pitchFamily="34" charset="0"/>
                <a:cs typeface="Segoe UI" pitchFamily="34" charset="0"/>
              </a:rPr>
              <a:t>, run </a:t>
            </a:r>
            <a:r>
              <a:rPr lang="en-US" sz="2350" dirty="0" smtClean="0">
                <a:latin typeface="Segoe UI" pitchFamily="34" charset="0"/>
                <a:ea typeface="Segoe UI" pitchFamily="34" charset="0"/>
                <a:cs typeface="Segoe UI" pitchFamily="34" charset="0"/>
              </a:rPr>
              <a:t>djoin </a:t>
            </a:r>
            <a:r>
              <a:rPr lang="en-CA" sz="2350" b="0" dirty="0" smtClean="0">
                <a:latin typeface="Segoe UI" pitchFamily="34" charset="0"/>
                <a:ea typeface="Segoe UI" pitchFamily="34" charset="0"/>
                <a:cs typeface="Segoe UI" pitchFamily="34" charset="0"/>
              </a:rPr>
              <a:t>on </a:t>
            </a:r>
            <a:r>
              <a:rPr lang="en-CA" sz="2350" b="0" dirty="0">
                <a:latin typeface="Segoe UI" pitchFamily="34" charset="0"/>
                <a:ea typeface="Segoe UI" pitchFamily="34" charset="0"/>
                <a:cs typeface="Segoe UI" pitchFamily="34" charset="0"/>
              </a:rPr>
              <a:t>the domain </a:t>
            </a:r>
            <a:r>
              <a:rPr lang="en-CA" sz="2350" b="0" dirty="0" smtClean="0">
                <a:latin typeface="Segoe UI" pitchFamily="34" charset="0"/>
                <a:ea typeface="Segoe UI" pitchFamily="34" charset="0"/>
                <a:cs typeface="Segoe UI" pitchFamily="34" charset="0"/>
              </a:rPr>
              <a:t>controller</a:t>
            </a:r>
          </a:p>
          <a:p>
            <a:pPr marL="342900" indent="-342900">
              <a:lnSpc>
                <a:spcPct val="100000"/>
              </a:lnSpc>
              <a:spcBef>
                <a:spcPts val="600"/>
              </a:spcBef>
              <a:buFont typeface="+mj-lt"/>
              <a:buAutoNum type="arabicPeriod"/>
            </a:pPr>
            <a:r>
              <a:rPr lang="hr-HR" sz="2350" b="0" dirty="0" smtClean="0">
                <a:latin typeface="Segoe UI" pitchFamily="34" charset="0"/>
                <a:ea typeface="Segoe UI" pitchFamily="34" charset="0"/>
                <a:cs typeface="Segoe UI" pitchFamily="34" charset="0"/>
              </a:rPr>
              <a:t>Transfer</a:t>
            </a:r>
            <a:r>
              <a:rPr lang="en-CA" sz="2350" b="0" dirty="0" smtClean="0">
                <a:latin typeface="Segoe UI" pitchFamily="34" charset="0"/>
                <a:ea typeface="Segoe UI" pitchFamily="34" charset="0"/>
                <a:cs typeface="Segoe UI" pitchFamily="34" charset="0"/>
              </a:rPr>
              <a:t> </a:t>
            </a:r>
            <a:r>
              <a:rPr lang="en-CA" sz="2350" b="0" dirty="0">
                <a:latin typeface="Segoe UI" pitchFamily="34" charset="0"/>
                <a:ea typeface="Segoe UI" pitchFamily="34" charset="0"/>
                <a:cs typeface="Segoe UI" pitchFamily="34" charset="0"/>
              </a:rPr>
              <a:t>the</a:t>
            </a:r>
            <a:r>
              <a:rPr lang="hr-HR" sz="2350" b="0" dirty="0">
                <a:latin typeface="Segoe UI" pitchFamily="34" charset="0"/>
                <a:ea typeface="Segoe UI" pitchFamily="34" charset="0"/>
                <a:cs typeface="Segoe UI" pitchFamily="34" charset="0"/>
              </a:rPr>
              <a:t> </a:t>
            </a:r>
            <a:r>
              <a:rPr lang="en-AU" sz="2350" b="0" dirty="0">
                <a:latin typeface="Segoe UI" pitchFamily="34" charset="0"/>
                <a:ea typeface="Segoe UI" pitchFamily="34" charset="0"/>
                <a:cs typeface="Segoe UI" pitchFamily="34" charset="0"/>
              </a:rPr>
              <a:t>binary</a:t>
            </a:r>
            <a:r>
              <a:rPr lang="hr-HR" sz="2350" b="0" dirty="0">
                <a:latin typeface="Segoe UI" pitchFamily="34" charset="0"/>
                <a:ea typeface="Segoe UI" pitchFamily="34" charset="0"/>
                <a:cs typeface="Segoe UI" pitchFamily="34" charset="0"/>
              </a:rPr>
              <a:t> file with </a:t>
            </a:r>
            <a:r>
              <a:rPr lang="en-US" sz="2350" b="0" dirty="0" smtClean="0">
                <a:latin typeface="Segoe UI" pitchFamily="34" charset="0"/>
                <a:ea typeface="Segoe UI" pitchFamily="34" charset="0"/>
                <a:cs typeface="Segoe UI" pitchFamily="34" charset="0"/>
              </a:rPr>
              <a:t>the </a:t>
            </a:r>
            <a:r>
              <a:rPr lang="hr-HR" sz="2350" b="0" dirty="0" smtClean="0">
                <a:latin typeface="Segoe UI" pitchFamily="34" charset="0"/>
                <a:ea typeface="Segoe UI" pitchFamily="34" charset="0"/>
                <a:cs typeface="Segoe UI" pitchFamily="34" charset="0"/>
              </a:rPr>
              <a:t>domain information </a:t>
            </a:r>
            <a:r>
              <a:rPr lang="hr-HR" sz="2350" b="0" dirty="0">
                <a:latin typeface="Segoe UI" pitchFamily="34" charset="0"/>
                <a:ea typeface="Segoe UI" pitchFamily="34" charset="0"/>
                <a:cs typeface="Segoe UI" pitchFamily="34" charset="0"/>
              </a:rPr>
              <a:t>to client computer </a:t>
            </a:r>
            <a:r>
              <a:rPr lang="hr-HR" sz="2350" b="0" dirty="0" smtClean="0">
                <a:latin typeface="Segoe UI" pitchFamily="34" charset="0"/>
                <a:ea typeface="Segoe UI" pitchFamily="34" charset="0"/>
                <a:cs typeface="Segoe UI" pitchFamily="34" charset="0"/>
              </a:rPr>
              <a:t>system</a:t>
            </a:r>
            <a:r>
              <a:rPr lang="en-US" sz="2350" b="0" dirty="0" smtClean="0">
                <a:latin typeface="Segoe UI" pitchFamily="34" charset="0"/>
                <a:ea typeface="Segoe UI" pitchFamily="34" charset="0"/>
                <a:cs typeface="Segoe UI" pitchFamily="34" charset="0"/>
              </a:rPr>
              <a:t>’s</a:t>
            </a:r>
            <a:r>
              <a:rPr lang="hr-HR" sz="2350" b="0" dirty="0" smtClean="0">
                <a:latin typeface="Segoe UI" pitchFamily="34" charset="0"/>
                <a:ea typeface="Segoe UI" pitchFamily="34" charset="0"/>
                <a:cs typeface="Segoe UI" pitchFamily="34" charset="0"/>
              </a:rPr>
              <a:t> hard </a:t>
            </a:r>
            <a:r>
              <a:rPr lang="en-CA" sz="2350" b="0" dirty="0">
                <a:latin typeface="Segoe UI" pitchFamily="34" charset="0"/>
                <a:ea typeface="Segoe UI" pitchFamily="34" charset="0"/>
                <a:cs typeface="Segoe UI" pitchFamily="34" charset="0"/>
              </a:rPr>
              <a:t>disk </a:t>
            </a:r>
            <a:r>
              <a:rPr lang="hr-HR" sz="2350" b="0" dirty="0">
                <a:latin typeface="Segoe UI" pitchFamily="34" charset="0"/>
                <a:ea typeface="Segoe UI" pitchFamily="34" charset="0"/>
                <a:cs typeface="Segoe UI" pitchFamily="34" charset="0"/>
              </a:rPr>
              <a:t>drive </a:t>
            </a:r>
            <a:endParaRPr lang="en-CA" sz="2350" b="0" dirty="0">
              <a:latin typeface="Segoe UI" pitchFamily="34" charset="0"/>
              <a:ea typeface="Segoe UI" pitchFamily="34" charset="0"/>
              <a:cs typeface="Segoe UI" pitchFamily="34" charset="0"/>
            </a:endParaRPr>
          </a:p>
          <a:p>
            <a:pPr marL="342900" indent="-342900">
              <a:lnSpc>
                <a:spcPct val="100000"/>
              </a:lnSpc>
              <a:spcBef>
                <a:spcPts val="600"/>
              </a:spcBef>
              <a:buFont typeface="+mj-lt"/>
              <a:buAutoNum type="arabicPeriod"/>
            </a:pPr>
            <a:r>
              <a:rPr lang="en-CA" sz="2350" b="0" dirty="0">
                <a:latin typeface="Segoe UI" pitchFamily="34" charset="0"/>
                <a:ea typeface="Segoe UI" pitchFamily="34" charset="0"/>
                <a:cs typeface="Segoe UI" pitchFamily="34" charset="0"/>
              </a:rPr>
              <a:t>To load the binary file, in the destination computer, run </a:t>
            </a:r>
            <a:r>
              <a:rPr lang="en-CA" sz="2350" dirty="0" smtClean="0">
                <a:latin typeface="Segoe UI" pitchFamily="34" charset="0"/>
                <a:ea typeface="Segoe UI" pitchFamily="34" charset="0"/>
                <a:cs typeface="Segoe UI" pitchFamily="34" charset="0"/>
              </a:rPr>
              <a:t>djoin </a:t>
            </a:r>
          </a:p>
          <a:p>
            <a:pPr marL="342900" indent="-342900">
              <a:lnSpc>
                <a:spcPct val="100000"/>
              </a:lnSpc>
              <a:spcBef>
                <a:spcPts val="600"/>
              </a:spcBef>
              <a:buFont typeface="+mj-lt"/>
              <a:buAutoNum type="arabicPeriod"/>
            </a:pPr>
            <a:r>
              <a:rPr lang="hr-HR" sz="2350" b="0" dirty="0" smtClean="0">
                <a:latin typeface="Segoe UI" pitchFamily="34" charset="0"/>
                <a:ea typeface="Segoe UI" pitchFamily="34" charset="0"/>
                <a:cs typeface="Segoe UI" pitchFamily="34" charset="0"/>
              </a:rPr>
              <a:t>Restart </a:t>
            </a:r>
            <a:r>
              <a:rPr lang="en-CA" sz="2350" b="0" dirty="0">
                <a:latin typeface="Segoe UI" pitchFamily="34" charset="0"/>
                <a:ea typeface="Segoe UI" pitchFamily="34" charset="0"/>
                <a:cs typeface="Segoe UI" pitchFamily="34" charset="0"/>
              </a:rPr>
              <a:t>the </a:t>
            </a:r>
            <a:r>
              <a:rPr lang="hr-HR" sz="2350" b="0" dirty="0">
                <a:latin typeface="Segoe UI" pitchFamily="34" charset="0"/>
                <a:ea typeface="Segoe UI" pitchFamily="34" charset="0"/>
                <a:cs typeface="Segoe UI" pitchFamily="34" charset="0"/>
              </a:rPr>
              <a:t>client computer</a:t>
            </a:r>
          </a:p>
        </p:txBody>
      </p:sp>
      <p:pic>
        <p:nvPicPr>
          <p:cNvPr id="7" name="Picture 6" descr="I:\AVS-Work\Evergreen\MSL_Flash_Object_Library\MSL_PNG_Object_Library\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6413" y="5106823"/>
            <a:ext cx="847362" cy="996896"/>
          </a:xfrm>
          <a:prstGeom prst="rect">
            <a:avLst/>
          </a:prstGeom>
          <a:noFill/>
          <a:ln>
            <a:noFill/>
          </a:ln>
          <a:effectLst/>
          <a:extLst/>
        </p:spPr>
      </p:pic>
      <p:sp>
        <p:nvSpPr>
          <p:cNvPr id="8" name="TextBox 12"/>
          <p:cNvSpPr txBox="1">
            <a:spLocks noChangeArrowheads="1"/>
          </p:cNvSpPr>
          <p:nvPr/>
        </p:nvSpPr>
        <p:spPr bwMode="auto">
          <a:xfrm>
            <a:off x="4615636" y="5943604"/>
            <a:ext cx="2062284" cy="584775"/>
          </a:xfrm>
          <a:prstGeom prst="rect">
            <a:avLst/>
          </a:prstGeom>
          <a:noFill/>
          <a:ln>
            <a:noFill/>
          </a:ln>
          <a:effectLst/>
          <a:extLst/>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eaLnBrk="1" hangingPunct="1"/>
            <a:r>
              <a:rPr lang="hr-HR" sz="1600" dirty="0" smtClean="0">
                <a:latin typeface="Segoe UI" pitchFamily="34" charset="0"/>
                <a:ea typeface="Segoe UI" pitchFamily="34" charset="0"/>
                <a:cs typeface="Segoe UI" pitchFamily="34" charset="0"/>
              </a:rPr>
              <a:t>Win</a:t>
            </a:r>
            <a:r>
              <a:rPr lang="en-US" sz="1600" dirty="0" smtClean="0">
                <a:latin typeface="Segoe UI" pitchFamily="34" charset="0"/>
                <a:ea typeface="Segoe UI" pitchFamily="34" charset="0"/>
                <a:cs typeface="Segoe UI" pitchFamily="34" charset="0"/>
              </a:rPr>
              <a:t>dows Server 2012</a:t>
            </a:r>
            <a:endParaRPr lang="hr-HR" sz="1600" dirty="0">
              <a:latin typeface="Segoe UI" pitchFamily="34" charset="0"/>
              <a:ea typeface="Segoe UI" pitchFamily="34" charset="0"/>
              <a:cs typeface="Segoe UI" pitchFamily="34" charset="0"/>
            </a:endParaRPr>
          </a:p>
        </p:txBody>
      </p:sp>
      <p:pic>
        <p:nvPicPr>
          <p:cNvPr id="9" name="Picture 8" descr="I:\AVS-Work\Evergreen\MSL_Flash_Object_Library\MSL_PNG_Object_Library\HardDiskDriv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14983" y="5260080"/>
            <a:ext cx="1106009" cy="705081"/>
          </a:xfrm>
          <a:prstGeom prst="rect">
            <a:avLst/>
          </a:prstGeom>
          <a:noFill/>
          <a:ln>
            <a:noFill/>
          </a:ln>
          <a:effectLst/>
          <a:extLst/>
        </p:spPr>
      </p:pic>
      <p:pic>
        <p:nvPicPr>
          <p:cNvPr id="10" name="Picture 9"/>
          <p:cNvPicPr>
            <a:picLocks noChangeAspect="1"/>
          </p:cNvPicPr>
          <p:nvPr/>
        </p:nvPicPr>
        <p:blipFill>
          <a:blip r:embed="rId5">
            <a:clrChange>
              <a:clrFrom>
                <a:srgbClr val="FBFFFF"/>
              </a:clrFrom>
              <a:clrTo>
                <a:srgbClr val="FBFFFF">
                  <a:alpha val="0"/>
                </a:srgbClr>
              </a:clrTo>
            </a:clrChange>
            <a:extLst>
              <a:ext uri="{28A0092B-C50C-407E-A947-70E740481C1C}">
                <a14:useLocalDpi xmlns:a14="http://schemas.microsoft.com/office/drawing/2010/main" val="0"/>
              </a:ext>
            </a:extLst>
          </a:blip>
          <a:srcRect/>
          <a:stretch>
            <a:fillRect/>
          </a:stretch>
        </p:blipFill>
        <p:spPr bwMode="auto">
          <a:xfrm>
            <a:off x="5664000" y="5161036"/>
            <a:ext cx="630319" cy="597856"/>
          </a:xfrm>
          <a:prstGeom prst="rect">
            <a:avLst/>
          </a:prstGeom>
          <a:noFill/>
          <a:ln>
            <a:noFill/>
          </a:ln>
          <a:effectLst/>
          <a:extLst/>
        </p:spPr>
      </p:pic>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29067" y="5157833"/>
            <a:ext cx="454984" cy="740343"/>
          </a:xfrm>
          <a:prstGeom prst="rect">
            <a:avLst/>
          </a:prstGeom>
          <a:noFill/>
          <a:ln>
            <a:noFill/>
          </a:ln>
          <a:effectLst/>
        </p:spPr>
      </p:pic>
      <p:grpSp>
        <p:nvGrpSpPr>
          <p:cNvPr id="12" name="Group 11"/>
          <p:cNvGrpSpPr/>
          <p:nvPr/>
        </p:nvGrpSpPr>
        <p:grpSpPr>
          <a:xfrm>
            <a:off x="752244" y="5014519"/>
            <a:ext cx="676815" cy="1065851"/>
            <a:chOff x="3362325" y="1524000"/>
            <a:chExt cx="2419350" cy="3810000"/>
          </a:xfrm>
          <a:noFill/>
          <a:effectLst/>
        </p:grpSpPr>
        <p:pic>
          <p:nvPicPr>
            <p:cNvPr id="13" name="Picture 1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362325" y="1524000"/>
              <a:ext cx="2419350" cy="3810000"/>
            </a:xfrm>
            <a:prstGeom prst="rect">
              <a:avLst/>
            </a:prstGeom>
            <a:grpFill/>
            <a:ln>
              <a:noFill/>
            </a:ln>
          </p:spPr>
        </p:pic>
        <p:pic>
          <p:nvPicPr>
            <p:cNvPr id="14" name="Picture 1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89872" y="3447676"/>
              <a:ext cx="764256" cy="555822"/>
            </a:xfrm>
            <a:prstGeom prst="rect">
              <a:avLst/>
            </a:prstGeom>
            <a:grpFill/>
            <a:ln>
              <a:noFill/>
            </a:ln>
          </p:spPr>
        </p:pic>
      </p:grpSp>
      <p:pic>
        <p:nvPicPr>
          <p:cNvPr id="15" name="Picture 1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282203" y="5077140"/>
            <a:ext cx="866134" cy="1056261"/>
          </a:xfrm>
          <a:prstGeom prst="rect">
            <a:avLst/>
          </a:prstGeom>
          <a:noFill/>
          <a:ln>
            <a:noFill/>
          </a:ln>
          <a:effectLst/>
        </p:spPr>
      </p:pic>
      <p:pic>
        <p:nvPicPr>
          <p:cNvPr id="16" name="Picture 15" descr="I:\AVS-Work\Evergreen\MSL_Flash_Object_Library\MSL_PNG_Object_Library\arrow12_02.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545176" y="5482983"/>
            <a:ext cx="508000" cy="387350"/>
          </a:xfrm>
          <a:prstGeom prst="rect">
            <a:avLst/>
          </a:prstGeom>
          <a:noFill/>
          <a:ln>
            <a:noFill/>
          </a:ln>
          <a:effectLst/>
          <a:extLst/>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559999" y="5235100"/>
            <a:ext cx="454984" cy="740343"/>
          </a:xfrm>
          <a:prstGeom prst="rect">
            <a:avLst/>
          </a:prstGeom>
          <a:noFill/>
          <a:ln>
            <a:noFill/>
          </a:ln>
          <a:effectLst/>
        </p:spPr>
      </p:pic>
      <p:pic>
        <p:nvPicPr>
          <p:cNvPr id="18" name="Picture 17" descr="I:\AVS-Work\Evergreen\MSL_Flash_Object_Library\MSL_PNG_Object_Library\arrow12_02.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720339" y="5482983"/>
            <a:ext cx="508000" cy="387350"/>
          </a:xfrm>
          <a:prstGeom prst="rect">
            <a:avLst/>
          </a:prstGeom>
          <a:noFill/>
          <a:ln>
            <a:noFill/>
          </a:ln>
          <a:effectLst/>
          <a:extLst/>
        </p:spPr>
      </p:pic>
      <p:pic>
        <p:nvPicPr>
          <p:cNvPr id="19" name="Picture 18" descr="I:\AVS-Work\Evergreen\MSL_Flash_Object_Library\MSL_PNG_Object_Library\arrow12_02.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348336" y="5482983"/>
            <a:ext cx="508000" cy="387350"/>
          </a:xfrm>
          <a:prstGeom prst="rect">
            <a:avLst/>
          </a:prstGeom>
          <a:noFill/>
          <a:ln>
            <a:noFill/>
          </a:ln>
          <a:effectLst/>
          <a:extLst/>
        </p:spPr>
      </p:pic>
    </p:spTree>
    <p:extLst>
      <p:ext uri="{BB962C8B-B14F-4D97-AF65-F5344CB8AC3E}">
        <p14:creationId xmlns:p14="http://schemas.microsoft.com/office/powerpoint/2010/main" val="11658943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name="c470649b-5fa1-4360-8a2f-6d8367b55869">
    <p:spTree>
      <p:nvGrpSpPr>
        <p:cNvPr id="1" name=""/>
        <p:cNvGrpSpPr/>
        <p:nvPr/>
      </p:nvGrpSpPr>
      <p:grpSpPr>
        <a:xfrm>
          <a:off x="0" y="0"/>
          <a:ext cx="0" cy="0"/>
          <a:chOff x="0" y="0"/>
          <a:chExt cx="0" cy="0"/>
        </a:xfrm>
      </p:grpSpPr>
      <p:sp>
        <p:nvSpPr>
          <p:cNvPr id="2" name="Title 1"/>
          <p:cNvSpPr>
            <a:spLocks noGrp="1"/>
          </p:cNvSpPr>
          <p:nvPr>
            <p:ph type="title"/>
          </p:nvPr>
        </p:nvSpPr>
        <p:spPr>
          <a:xfrm>
            <a:off x="2057399" y="-2"/>
            <a:ext cx="6248401" cy="740664"/>
          </a:xfrm>
        </p:spPr>
        <p:txBody>
          <a:bodyPr/>
          <a:lstStyle/>
          <a:p>
            <a:pPr algn="ctr"/>
            <a:r>
              <a:rPr lang="en-CA" sz="2400" dirty="0" smtClean="0">
                <a:solidFill>
                  <a:schemeClr val="tx1"/>
                </a:solidFill>
              </a:rPr>
              <a:t>Activating Windows Server 2012</a:t>
            </a:r>
            <a:endParaRPr lang="en-CA" sz="2400" dirty="0">
              <a:solidFill>
                <a:schemeClr val="tx1"/>
              </a:solidFill>
            </a:endParaRPr>
          </a:p>
        </p:txBody>
      </p:sp>
      <p:pic>
        <p:nvPicPr>
          <p:cNvPr id="4" name="Content Placeholder 1" descr="Screen shot of the Windows Activation window, during the Enter a product key to activate Windows step."/>
          <p:cNvPicPr>
            <a:picLocks noGrp="1" noChangeAspect="1"/>
          </p:cNvPicPr>
          <p:nvPr/>
        </p:nvPicPr>
        <p:blipFill>
          <a:blip r:embed="rId3">
            <a:extLst>
              <a:ext uri="{28A0092B-C50C-407E-A947-70E740481C1C}">
                <a14:useLocalDpi xmlns:a14="http://schemas.microsoft.com/office/drawing/2010/main" val="0"/>
              </a:ext>
            </a:extLst>
          </a:blip>
          <a:stretch>
            <a:fillRect/>
          </a:stretch>
        </p:blipFill>
        <p:spPr bwMode="auto">
          <a:xfrm>
            <a:off x="835573" y="838200"/>
            <a:ext cx="7394027" cy="5105399"/>
          </a:xfrm>
          <a:prstGeom prst="rect">
            <a:avLst/>
          </a:prstGeom>
          <a:noFill/>
          <a:ln w="9525">
            <a:noFill/>
            <a:miter lim="800000"/>
            <a:headEnd/>
            <a:tailEnd/>
          </a:ln>
        </p:spPr>
      </p:pic>
    </p:spTree>
    <p:extLst>
      <p:ext uri="{BB962C8B-B14F-4D97-AF65-F5344CB8AC3E}">
        <p14:creationId xmlns:p14="http://schemas.microsoft.com/office/powerpoint/2010/main" val="4329064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name="b2b11383-439b-4a76-8f9b-10b661d0f44a">
    <p:spTree>
      <p:nvGrpSpPr>
        <p:cNvPr id="1" name=""/>
        <p:cNvGrpSpPr/>
        <p:nvPr/>
      </p:nvGrpSpPr>
      <p:grpSpPr>
        <a:xfrm>
          <a:off x="0" y="0"/>
          <a:ext cx="0" cy="0"/>
          <a:chOff x="0" y="0"/>
          <a:chExt cx="0" cy="0"/>
        </a:xfrm>
      </p:grpSpPr>
      <p:sp>
        <p:nvSpPr>
          <p:cNvPr id="2" name="Title 1"/>
          <p:cNvSpPr>
            <a:spLocks noGrp="1"/>
          </p:cNvSpPr>
          <p:nvPr>
            <p:ph type="title"/>
          </p:nvPr>
        </p:nvSpPr>
        <p:spPr>
          <a:xfrm>
            <a:off x="1981199" y="-2"/>
            <a:ext cx="6400801" cy="740664"/>
          </a:xfrm>
        </p:spPr>
        <p:txBody>
          <a:bodyPr/>
          <a:lstStyle/>
          <a:p>
            <a:pPr algn="ctr"/>
            <a:r>
              <a:rPr lang="en-CA" sz="2400" dirty="0" smtClean="0">
                <a:solidFill>
                  <a:schemeClr val="tx1"/>
                </a:solidFill>
              </a:rPr>
              <a:t>Configuring a Server Core Installation</a:t>
            </a:r>
            <a:endParaRPr lang="en-CA" sz="2400" dirty="0">
              <a:solidFill>
                <a:schemeClr val="tx1"/>
              </a:solidFill>
            </a:endParaRPr>
          </a:p>
        </p:txBody>
      </p:sp>
      <p:pic>
        <p:nvPicPr>
          <p:cNvPr id="4" name="Content Placeholder 1" descr="Screen shot of the sconfig.cmd menu driven command line tool, including its 16 numerical menu options."/>
          <p:cNvPicPr>
            <a:picLocks noGrp="1" noChangeAspect="1"/>
          </p:cNvPicPr>
          <p:nvPr/>
        </p:nvPicPr>
        <p:blipFill>
          <a:blip r:embed="rId3">
            <a:extLst>
              <a:ext uri="{28A0092B-C50C-407E-A947-70E740481C1C}">
                <a14:useLocalDpi xmlns:a14="http://schemas.microsoft.com/office/drawing/2010/main" val="0"/>
              </a:ext>
            </a:extLst>
          </a:blip>
          <a:stretch>
            <a:fillRect/>
          </a:stretch>
        </p:blipFill>
        <p:spPr bwMode="auto">
          <a:xfrm>
            <a:off x="304800" y="1295400"/>
            <a:ext cx="8610761" cy="4266709"/>
          </a:xfrm>
          <a:prstGeom prst="rect">
            <a:avLst/>
          </a:prstGeom>
          <a:noFill/>
          <a:ln w="9525">
            <a:noFill/>
            <a:miter lim="800000"/>
            <a:headEnd/>
            <a:tailEnd/>
          </a:ln>
        </p:spPr>
      </p:pic>
    </p:spTree>
    <p:extLst>
      <p:ext uri="{BB962C8B-B14F-4D97-AF65-F5344CB8AC3E}">
        <p14:creationId xmlns:p14="http://schemas.microsoft.com/office/powerpoint/2010/main" val="2967706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name="a704ddec-35f4-4638-b9d8-3de31b883bd8">
    <p:spTree>
      <p:nvGrpSpPr>
        <p:cNvPr id="1" name=""/>
        <p:cNvGrpSpPr/>
        <p:nvPr/>
      </p:nvGrpSpPr>
      <p:grpSpPr>
        <a:xfrm>
          <a:off x="0" y="0"/>
          <a:ext cx="0" cy="0"/>
          <a:chOff x="0" y="0"/>
          <a:chExt cx="0" cy="0"/>
        </a:xfrm>
      </p:grpSpPr>
      <p:sp>
        <p:nvSpPr>
          <p:cNvPr id="2" name="Title 1"/>
          <p:cNvSpPr>
            <a:spLocks noGrp="1"/>
          </p:cNvSpPr>
          <p:nvPr>
            <p:ph type="title"/>
          </p:nvPr>
        </p:nvSpPr>
        <p:spPr>
          <a:xfrm>
            <a:off x="1981199" y="-2"/>
            <a:ext cx="6477001" cy="740664"/>
          </a:xfrm>
        </p:spPr>
        <p:txBody>
          <a:bodyPr/>
          <a:lstStyle/>
          <a:p>
            <a:pPr algn="ctr"/>
            <a:r>
              <a:rPr lang="en-CA" sz="2400" dirty="0" smtClean="0">
                <a:solidFill>
                  <a:schemeClr val="tx1"/>
                </a:solidFill>
              </a:rPr>
              <a:t>Lesson 5: Introduction to Windows PowerShell</a:t>
            </a:r>
            <a:endParaRPr lang="en-CA" sz="2400" dirty="0">
              <a:solidFill>
                <a:schemeClr val="tx1"/>
              </a:solidFill>
            </a:endParaRPr>
          </a:p>
        </p:txBody>
      </p:sp>
      <p:sp>
        <p:nvSpPr>
          <p:cNvPr id="3" name="Text Placeholder 2"/>
          <p:cNvSpPr>
            <a:spLocks noGrp="1"/>
          </p:cNvSpPr>
          <p:nvPr>
            <p:ph type="body" idx="1"/>
          </p:nvPr>
        </p:nvSpPr>
        <p:spPr/>
        <p:txBody>
          <a:bodyPr/>
          <a:lstStyle/>
          <a:p>
            <a:r>
              <a:rPr lang="en-CA" dirty="0" smtClean="0"/>
              <a:t>What Is Windows PowerShell?
Windows PowerShell Cmdlet Syntax
Common Cmdlets for Server Administration
What Is Windows PowerShell ISE?
Demonstration: Using Windows PowerShell
Demonstration: Using Windows PowerShell ISE</a:t>
            </a:r>
            <a:endParaRPr lang="en-CA" dirty="0"/>
          </a:p>
        </p:txBody>
      </p:sp>
    </p:spTree>
    <p:extLst>
      <p:ext uri="{BB962C8B-B14F-4D97-AF65-F5344CB8AC3E}">
        <p14:creationId xmlns:p14="http://schemas.microsoft.com/office/powerpoint/2010/main" val="3593964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name="462f8c7e-cae7-41d7-95ab-6f7f14098afc">
    <p:spTree>
      <p:nvGrpSpPr>
        <p:cNvPr id="1" name=""/>
        <p:cNvGrpSpPr/>
        <p:nvPr/>
      </p:nvGrpSpPr>
      <p:grpSpPr>
        <a:xfrm>
          <a:off x="0" y="0"/>
          <a:ext cx="0" cy="0"/>
          <a:chOff x="0" y="0"/>
          <a:chExt cx="0" cy="0"/>
        </a:xfrm>
      </p:grpSpPr>
      <p:sp>
        <p:nvSpPr>
          <p:cNvPr id="2" name="Title 1"/>
          <p:cNvSpPr>
            <a:spLocks noGrp="1"/>
          </p:cNvSpPr>
          <p:nvPr>
            <p:ph type="title"/>
          </p:nvPr>
        </p:nvSpPr>
        <p:spPr>
          <a:xfrm>
            <a:off x="1981199" y="-2"/>
            <a:ext cx="6400801" cy="740664"/>
          </a:xfrm>
        </p:spPr>
        <p:txBody>
          <a:bodyPr/>
          <a:lstStyle/>
          <a:p>
            <a:pPr algn="ctr"/>
            <a:r>
              <a:rPr lang="en-CA" sz="2400" dirty="0" smtClean="0">
                <a:solidFill>
                  <a:schemeClr val="tx1"/>
                </a:solidFill>
              </a:rPr>
              <a:t>What Is Windows PowerShell?</a:t>
            </a:r>
            <a:endParaRPr lang="en-CA" sz="2400" dirty="0">
              <a:solidFill>
                <a:schemeClr val="tx1"/>
              </a:solidFill>
            </a:endParaRPr>
          </a:p>
        </p:txBody>
      </p:sp>
      <p:pic>
        <p:nvPicPr>
          <p:cNvPr id="4" name="Content Placeholder 1" descr="Screen shot of a Windows PowerShell window, with a list of Windows PowerShell cmdlets and their associated modules."/>
          <p:cNvPicPr>
            <a:picLocks noGrp="1" noChangeAspect="1"/>
          </p:cNvPicPr>
          <p:nvPr/>
        </p:nvPicPr>
        <p:blipFill rotWithShape="1">
          <a:blip r:embed="rId3">
            <a:extLst>
              <a:ext uri="{28A0092B-C50C-407E-A947-70E740481C1C}">
                <a14:useLocalDpi xmlns:a14="http://schemas.microsoft.com/office/drawing/2010/main" val="0"/>
              </a:ext>
            </a:extLst>
          </a:blip>
          <a:srcRect l="12695" t="668" r="18186" b="26201"/>
          <a:stretch/>
        </p:blipFill>
        <p:spPr bwMode="auto">
          <a:xfrm>
            <a:off x="870857" y="794945"/>
            <a:ext cx="7260771" cy="5636565"/>
          </a:xfrm>
          <a:prstGeom prst="rect">
            <a:avLst/>
          </a:prstGeom>
          <a:noFill/>
          <a:ln w="9525">
            <a:noFill/>
            <a:miter lim="800000"/>
            <a:headEnd/>
            <a:tailEnd/>
          </a:ln>
        </p:spPr>
      </p:pic>
    </p:spTree>
    <p:extLst>
      <p:ext uri="{BB962C8B-B14F-4D97-AF65-F5344CB8AC3E}">
        <p14:creationId xmlns:p14="http://schemas.microsoft.com/office/powerpoint/2010/main" val="1575920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name="60971315-e218-47ea-96b8-cacfcd0588fe">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smtClean="0"/>
              <a:t>Windows PowerShell Cmdlet Syntax</a:t>
            </a:r>
            <a:endParaRPr lang="en-CA" dirty="0"/>
          </a:p>
        </p:txBody>
      </p:sp>
      <p:pic>
        <p:nvPicPr>
          <p:cNvPr id="4" name="Content Placeholder 1" descr="Screen capture of Windows PowerShell cmdlets."/>
          <p:cNvPicPr>
            <a:picLocks noChangeAspect="1"/>
          </p:cNvPicPr>
          <p:nvPr/>
        </p:nvPicPr>
        <p:blipFill rotWithShape="1">
          <a:blip r:embed="rId3">
            <a:extLst>
              <a:ext uri="{28A0092B-C50C-407E-A947-70E740481C1C}">
                <a14:useLocalDpi xmlns:a14="http://schemas.microsoft.com/office/drawing/2010/main" val="0"/>
              </a:ext>
            </a:extLst>
          </a:blip>
          <a:srcRect l="1038" t="5455" r="57632" b="52232"/>
          <a:stretch/>
        </p:blipFill>
        <p:spPr bwMode="auto">
          <a:xfrm>
            <a:off x="3810000" y="1905000"/>
            <a:ext cx="4985657" cy="374503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AutoShape 3"/>
          <p:cNvSpPr>
            <a:spLocks noChangeArrowheads="1"/>
          </p:cNvSpPr>
          <p:nvPr/>
        </p:nvSpPr>
        <p:spPr bwMode="auto">
          <a:xfrm>
            <a:off x="459710" y="773415"/>
            <a:ext cx="4469732" cy="2758983"/>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latin typeface="Segoe UI" pitchFamily="34" charset="0"/>
                <a:ea typeface="Segoe UI" pitchFamily="34" charset="0"/>
                <a:cs typeface="Segoe UI" pitchFamily="34" charset="0"/>
              </a:rPr>
              <a:t>Windows PowerShell </a:t>
            </a:r>
            <a:r>
              <a:rPr lang="en-US" sz="2400" dirty="0">
                <a:latin typeface="Segoe UI" pitchFamily="34" charset="0"/>
                <a:ea typeface="Segoe UI" pitchFamily="34" charset="0"/>
                <a:cs typeface="Segoe UI" pitchFamily="34" charset="0"/>
              </a:rPr>
              <a:t>Cmdlet Syntax:</a:t>
            </a:r>
          </a:p>
        </p:txBody>
      </p:sp>
      <p:sp>
        <p:nvSpPr>
          <p:cNvPr id="6" name="Rounded Rectangle 5"/>
          <p:cNvSpPr>
            <a:spLocks noChangeArrowheads="1"/>
          </p:cNvSpPr>
          <p:nvPr/>
        </p:nvSpPr>
        <p:spPr bwMode="auto">
          <a:xfrm>
            <a:off x="473887" y="2531826"/>
            <a:ext cx="3943623" cy="2277678"/>
          </a:xfrm>
          <a:prstGeom prst="roundRect">
            <a:avLst>
              <a:gd name="adj" fmla="val 4167"/>
            </a:avLst>
          </a:prstGeom>
          <a:noFill/>
          <a:ln w="9525" algn="ctr">
            <a:noFill/>
            <a:round/>
            <a:headEnd/>
            <a:tailEnd/>
          </a:ln>
          <a:effectLst/>
        </p:spPr>
        <p:txBody>
          <a:bodyPr wrap="square"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85750" indent="-285750" eaLnBrk="0" hangingPunct="0">
              <a:spcBef>
                <a:spcPct val="40000"/>
              </a:spcBef>
              <a:buClr>
                <a:srgbClr val="006699"/>
              </a:buClr>
              <a:buFontTx/>
              <a:buChar char="•"/>
            </a:pPr>
            <a:r>
              <a:rPr lang="en-US" sz="2400" b="0" dirty="0">
                <a:latin typeface="Segoe UI" pitchFamily="34" charset="0"/>
                <a:ea typeface="Segoe UI" pitchFamily="34" charset="0"/>
                <a:cs typeface="Segoe UI" pitchFamily="34" charset="0"/>
              </a:rPr>
              <a:t>Get-Help -Noun </a:t>
            </a:r>
            <a:r>
              <a:rPr lang="en-US" sz="2400" b="0" i="1" dirty="0" err="1" smtClean="0">
                <a:latin typeface="Segoe UI" pitchFamily="34" charset="0"/>
                <a:ea typeface="Segoe UI" pitchFamily="34" charset="0"/>
                <a:cs typeface="Segoe UI" pitchFamily="34" charset="0"/>
              </a:rPr>
              <a:t>NounName</a:t>
            </a:r>
            <a:r>
              <a:rPr lang="en-US" sz="2400" b="0" i="1" dirty="0" smtClean="0">
                <a:latin typeface="Segoe UI" pitchFamily="34" charset="0"/>
                <a:ea typeface="Segoe UI" pitchFamily="34" charset="0"/>
                <a:cs typeface="Segoe UI" pitchFamily="34" charset="0"/>
              </a:rPr>
              <a:t>/</a:t>
            </a:r>
            <a:r>
              <a:rPr lang="en-US" sz="2400" b="0" dirty="0" smtClean="0">
                <a:latin typeface="Segoe UI" pitchFamily="34" charset="0"/>
                <a:ea typeface="Segoe UI" pitchFamily="34" charset="0"/>
                <a:cs typeface="Segoe UI" pitchFamily="34" charset="0"/>
              </a:rPr>
              <a:t>Verb </a:t>
            </a:r>
            <a:r>
              <a:rPr lang="en-US" sz="2400" b="0" i="1" dirty="0">
                <a:latin typeface="Segoe UI" pitchFamily="34" charset="0"/>
                <a:ea typeface="Segoe UI" pitchFamily="34" charset="0"/>
                <a:cs typeface="Segoe UI" pitchFamily="34" charset="0"/>
              </a:rPr>
              <a:t>VerbName</a:t>
            </a:r>
          </a:p>
          <a:p>
            <a:pPr marL="285750" indent="-285750" eaLnBrk="0" hangingPunct="0">
              <a:spcBef>
                <a:spcPct val="40000"/>
              </a:spcBef>
              <a:buClr>
                <a:srgbClr val="006699"/>
              </a:buClr>
              <a:buFontTx/>
              <a:buChar char="•"/>
            </a:pPr>
            <a:r>
              <a:rPr lang="en-US" sz="2400" b="0" dirty="0">
                <a:latin typeface="Segoe UI" pitchFamily="34" charset="0"/>
                <a:ea typeface="Segoe UI" pitchFamily="34" charset="0"/>
                <a:cs typeface="Segoe UI" pitchFamily="34" charset="0"/>
              </a:rPr>
              <a:t>Help </a:t>
            </a:r>
            <a:r>
              <a:rPr lang="en-US" sz="2400" b="0" i="1" dirty="0">
                <a:latin typeface="Segoe UI" pitchFamily="34" charset="0"/>
                <a:ea typeface="Segoe UI" pitchFamily="34" charset="0"/>
                <a:cs typeface="Segoe UI" pitchFamily="34" charset="0"/>
              </a:rPr>
              <a:t>CmdltName</a:t>
            </a:r>
          </a:p>
          <a:p>
            <a:pPr marL="285750" indent="-285750" eaLnBrk="0" hangingPunct="0">
              <a:spcBef>
                <a:spcPct val="40000"/>
              </a:spcBef>
              <a:buClr>
                <a:srgbClr val="006699"/>
              </a:buClr>
              <a:buFontTx/>
              <a:buChar char="•"/>
            </a:pPr>
            <a:r>
              <a:rPr lang="en-US" sz="2400" b="0" dirty="0">
                <a:latin typeface="Segoe UI" pitchFamily="34" charset="0"/>
                <a:ea typeface="Segoe UI" pitchFamily="34" charset="0"/>
                <a:cs typeface="Segoe UI" pitchFamily="34" charset="0"/>
              </a:rPr>
              <a:t>Get-Command</a:t>
            </a:r>
          </a:p>
        </p:txBody>
      </p:sp>
    </p:spTree>
    <p:extLst>
      <p:ext uri="{BB962C8B-B14F-4D97-AF65-F5344CB8AC3E}">
        <p14:creationId xmlns:p14="http://schemas.microsoft.com/office/powerpoint/2010/main" val="2319932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a:blip r:embed="rId2"/>
          <a:stretch>
            <a:fillRect/>
          </a:stretch>
        </p:blipFill>
        <p:spPr>
          <a:xfrm>
            <a:off x="0" y="284176"/>
            <a:ext cx="9144000" cy="6573824"/>
          </a:xfrm>
          <a:prstGeom prst="rect">
            <a:avLst/>
          </a:prstGeom>
        </p:spPr>
      </p:pic>
    </p:spTree>
    <p:extLst>
      <p:ext uri="{BB962C8B-B14F-4D97-AF65-F5344CB8AC3E}">
        <p14:creationId xmlns:p14="http://schemas.microsoft.com/office/powerpoint/2010/main" val="21902621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name="83a5e683-f75f-49b6-92c8-eaff67c28c83">
    <p:spTree>
      <p:nvGrpSpPr>
        <p:cNvPr id="1" name=""/>
        <p:cNvGrpSpPr/>
        <p:nvPr/>
      </p:nvGrpSpPr>
      <p:grpSpPr>
        <a:xfrm>
          <a:off x="0" y="0"/>
          <a:ext cx="0" cy="0"/>
          <a:chOff x="0" y="0"/>
          <a:chExt cx="0" cy="0"/>
        </a:xfrm>
      </p:grpSpPr>
      <p:sp>
        <p:nvSpPr>
          <p:cNvPr id="2" name="Title 1"/>
          <p:cNvSpPr>
            <a:spLocks noGrp="1"/>
          </p:cNvSpPr>
          <p:nvPr>
            <p:ph type="title"/>
          </p:nvPr>
        </p:nvSpPr>
        <p:spPr>
          <a:xfrm>
            <a:off x="1981199" y="-2"/>
            <a:ext cx="6400801" cy="740664"/>
          </a:xfrm>
        </p:spPr>
        <p:txBody>
          <a:bodyPr/>
          <a:lstStyle/>
          <a:p>
            <a:pPr algn="ctr"/>
            <a:r>
              <a:rPr lang="en-CA" sz="2400" dirty="0" smtClean="0">
                <a:solidFill>
                  <a:schemeClr val="tx1"/>
                </a:solidFill>
              </a:rPr>
              <a:t>Common Cmdlets for Server Administration</a:t>
            </a:r>
            <a:endParaRPr lang="en-CA" sz="2400" dirty="0">
              <a:solidFill>
                <a:schemeClr val="tx1"/>
              </a:solidFill>
            </a:endParaRPr>
          </a:p>
        </p:txBody>
      </p:sp>
      <p:sp>
        <p:nvSpPr>
          <p:cNvPr id="4" name="Content Placeholder 2"/>
          <p:cNvSpPr>
            <a:spLocks noGrp="1"/>
          </p:cNvSpPr>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sz="2600" dirty="0"/>
              <a:t>Service </a:t>
            </a:r>
            <a:r>
              <a:rPr lang="en-US" sz="2600" dirty="0" smtClean="0"/>
              <a:t>Cmdlets</a:t>
            </a:r>
          </a:p>
          <a:p>
            <a:pPr lvl="1"/>
            <a:r>
              <a:rPr lang="en-US" sz="2600" dirty="0" smtClean="0"/>
              <a:t>Use the Service noun</a:t>
            </a:r>
            <a:endParaRPr lang="en-US" sz="2600" dirty="0"/>
          </a:p>
          <a:p>
            <a:r>
              <a:rPr lang="en-US" sz="2600" dirty="0" smtClean="0"/>
              <a:t>Event </a:t>
            </a:r>
            <a:r>
              <a:rPr lang="en-US" sz="2600" dirty="0"/>
              <a:t>Log </a:t>
            </a:r>
            <a:r>
              <a:rPr lang="en-US" sz="2600" dirty="0" smtClean="0"/>
              <a:t>Cmdlets</a:t>
            </a:r>
          </a:p>
          <a:p>
            <a:pPr lvl="1"/>
            <a:r>
              <a:rPr lang="en-US" sz="2600" dirty="0" smtClean="0"/>
              <a:t>Use the Eventlog noun</a:t>
            </a:r>
            <a:endParaRPr lang="en-US" sz="2600" dirty="0"/>
          </a:p>
          <a:p>
            <a:r>
              <a:rPr lang="en-US" sz="2600" dirty="0" smtClean="0"/>
              <a:t>Process Cmdlets</a:t>
            </a:r>
          </a:p>
          <a:p>
            <a:pPr lvl="1"/>
            <a:r>
              <a:rPr lang="en-US" sz="2600" dirty="0" smtClean="0"/>
              <a:t>Use the Process noun</a:t>
            </a:r>
            <a:endParaRPr lang="en-US" sz="2600" dirty="0"/>
          </a:p>
          <a:p>
            <a:r>
              <a:rPr lang="en-US" sz="2600" dirty="0" smtClean="0"/>
              <a:t>ServerManager module</a:t>
            </a:r>
          </a:p>
          <a:p>
            <a:pPr lvl="1"/>
            <a:r>
              <a:rPr lang="en-US" sz="2600" dirty="0" smtClean="0"/>
              <a:t>Allows the WindowsFeature noun</a:t>
            </a:r>
            <a:endParaRPr lang="en-US" sz="2600" dirty="0"/>
          </a:p>
          <a:p>
            <a:endParaRPr lang="en-US" sz="2600" dirty="0"/>
          </a:p>
        </p:txBody>
      </p:sp>
    </p:spTree>
    <p:extLst>
      <p:ext uri="{BB962C8B-B14F-4D97-AF65-F5344CB8AC3E}">
        <p14:creationId xmlns:p14="http://schemas.microsoft.com/office/powerpoint/2010/main" val="2786807471"/>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anded">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NG_MOC_Core_ModuleNew</Template>
  <TotalTime>544</TotalTime>
  <Words>2296</Words>
  <Application>Microsoft Office PowerPoint</Application>
  <PresentationFormat>On-screen Show (4:3)</PresentationFormat>
  <Paragraphs>326</Paragraphs>
  <Slides>28</Slides>
  <Notes>27</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28</vt:i4>
      </vt:variant>
    </vt:vector>
  </HeadingPairs>
  <TitlesOfParts>
    <vt:vector size="41" baseType="lpstr">
      <vt:lpstr>Arial</vt:lpstr>
      <vt:lpstr>Verdana</vt:lpstr>
      <vt:lpstr>Calibri</vt:lpstr>
      <vt:lpstr>Times New Roman</vt:lpstr>
      <vt:lpstr>Segoe Light</vt:lpstr>
      <vt:lpstr>Wingdings</vt:lpstr>
      <vt:lpstr>Segoe UI Light</vt:lpstr>
      <vt:lpstr>Courier New</vt:lpstr>
      <vt:lpstr>Segoe UI</vt:lpstr>
      <vt:lpstr>Corbel</vt:lpstr>
      <vt:lpstr>Symbol</vt:lpstr>
      <vt:lpstr>Presentation1</vt:lpstr>
      <vt:lpstr>Banded</vt:lpstr>
      <vt:lpstr>Lesson 1: Windows Server 2012 Overview</vt:lpstr>
      <vt:lpstr>On-Premises Servers</vt:lpstr>
      <vt:lpstr>What Is Cloud Computing?</vt:lpstr>
      <vt:lpstr>Windows Server 2012 Editions</vt:lpstr>
      <vt:lpstr>What Is Server Core?</vt:lpstr>
      <vt:lpstr>Windows Server 2012 Roles</vt:lpstr>
      <vt:lpstr>What Are the Windows Server 2012 Features?</vt:lpstr>
      <vt:lpstr>Lesson 2: Overview of Windows Server 2012 Management</vt:lpstr>
      <vt:lpstr>What Is Server Manager?</vt:lpstr>
      <vt:lpstr>Administrative Tools and Remote Server  Administration Tools</vt:lpstr>
      <vt:lpstr>Configuring Windows Remote Management</vt:lpstr>
      <vt:lpstr>Lesson 3: Installing Windows Server 2012</vt:lpstr>
      <vt:lpstr>Installation Methods</vt:lpstr>
      <vt:lpstr>Installation Types</vt:lpstr>
      <vt:lpstr>Hardware Requirements for Windows  Server 2012</vt:lpstr>
      <vt:lpstr>Installing Windows Server 2012</vt:lpstr>
      <vt:lpstr>Lesson 4: Post-Installation Configuration of Windows Server 2012</vt:lpstr>
      <vt:lpstr>Overview of Post-Installation Configuration</vt:lpstr>
      <vt:lpstr>Configuring Server Network Settings</vt:lpstr>
      <vt:lpstr>How to Join a Domain</vt:lpstr>
      <vt:lpstr>Performing an Offline Domain Join</vt:lpstr>
      <vt:lpstr>Activating Windows Server 2012</vt:lpstr>
      <vt:lpstr>Configuring a Server Core Installation</vt:lpstr>
      <vt:lpstr>Lesson 5: Introduction to Windows PowerShell</vt:lpstr>
      <vt:lpstr>What Is Windows PowerShell?</vt:lpstr>
      <vt:lpstr>Windows PowerShell Cmdlet Syntax</vt:lpstr>
      <vt:lpstr>PowerPoint Presentation</vt:lpstr>
      <vt:lpstr>Common Cmdlets for Server Administration</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Module1</dc:title>
  <dc:creator>Karin Carlson</dc:creator>
  <cp:lastModifiedBy>ADMIN</cp:lastModifiedBy>
  <cp:revision>24</cp:revision>
  <dcterms:created xsi:type="dcterms:W3CDTF">2012-11-14T18:51:19Z</dcterms:created>
  <dcterms:modified xsi:type="dcterms:W3CDTF">2020-09-09T02:28:46Z</dcterms:modified>
</cp:coreProperties>
</file>