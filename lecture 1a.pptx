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5" r:id="rId1"/>
  </p:sldMasterIdLst>
  <p:notesMasterIdLst>
    <p:notesMasterId r:id="rId15"/>
  </p:notesMasterIdLst>
  <p:handoutMasterIdLst>
    <p:handoutMasterId r:id="rId16"/>
  </p:handoutMasterIdLst>
  <p:sldIdLst>
    <p:sldId id="257" r:id="rId2"/>
    <p:sldId id="258" r:id="rId3"/>
    <p:sldId id="270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71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03" autoAdjust="0"/>
    <p:restoredTop sz="90929"/>
  </p:normalViewPr>
  <p:slideViewPr>
    <p:cSldViewPr>
      <p:cViewPr varScale="1">
        <p:scale>
          <a:sx n="64" d="100"/>
          <a:sy n="64" d="100"/>
        </p:scale>
        <p:origin x="1128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ms-MY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627E0-4A5C-4A61-AFAF-9BE3202BE4A3}" type="datetimeFigureOut">
              <a:rPr lang="ms-MY" smtClean="0"/>
              <a:pPr/>
              <a:t>9/09/2020</a:t>
            </a:fld>
            <a:endParaRPr lang="ms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ms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39ACA4-9E64-4F81-84ED-7F4034F59170}" type="slidenum">
              <a:rPr lang="ms-MY" smtClean="0"/>
              <a:pPr/>
              <a:t>‹#›</a:t>
            </a:fld>
            <a:endParaRPr lang="ms-MY"/>
          </a:p>
        </p:txBody>
      </p:sp>
    </p:spTree>
    <p:extLst>
      <p:ext uri="{BB962C8B-B14F-4D97-AF65-F5344CB8AC3E}">
        <p14:creationId xmlns:p14="http://schemas.microsoft.com/office/powerpoint/2010/main" val="2932623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dirty="0">
                <a:latin typeface="Times" pitchFamily="-11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dirty="0">
                <a:latin typeface="Times" pitchFamily="-11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dirty="0">
                <a:latin typeface="Times" pitchFamily="-111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" pitchFamily="-111" charset="0"/>
              </a:defRPr>
            </a:lvl1pPr>
          </a:lstStyle>
          <a:p>
            <a:pPr>
              <a:defRPr/>
            </a:pPr>
            <a:fld id="{8A1BAB3D-3090-4F19-B461-852646594BC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923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1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ＭＳ Ｐ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ＭＳ Ｐ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ＭＳ Ｐ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804C35-ADED-4972-98B8-E4A0A77016F4}" type="slidenum">
              <a:rPr lang="en-US" smtClean="0">
                <a:latin typeface="Times" pitchFamily="18" charset="0"/>
              </a:rPr>
              <a:pPr/>
              <a:t>2</a:t>
            </a:fld>
            <a:endParaRPr lang="en-US" smtClean="0">
              <a:latin typeface="Times" pitchFamily="18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 lIns="92075" tIns="46038" rIns="92075" bIns="46038"/>
          <a:lstStyle/>
          <a:p>
            <a:endParaRPr 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791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804C35-ADED-4972-98B8-E4A0A77016F4}" type="slidenum">
              <a:rPr lang="en-US" smtClean="0">
                <a:latin typeface="Times" pitchFamily="18" charset="0"/>
              </a:rPr>
              <a:pPr/>
              <a:t>3</a:t>
            </a:fld>
            <a:endParaRPr lang="en-US" smtClean="0">
              <a:latin typeface="Times" pitchFamily="18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 lIns="92075" tIns="46038" rIns="92075" bIns="46038"/>
          <a:lstStyle/>
          <a:p>
            <a:endParaRPr 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897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804C35-ADED-4972-98B8-E4A0A77016F4}" type="slidenum">
              <a:rPr lang="en-US" smtClean="0">
                <a:latin typeface="Times" pitchFamily="18" charset="0"/>
              </a:rPr>
              <a:pPr/>
              <a:t>4</a:t>
            </a:fld>
            <a:endParaRPr lang="en-US" smtClean="0">
              <a:latin typeface="Times" pitchFamily="18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 lIns="92075" tIns="46038" rIns="92075" bIns="46038"/>
          <a:lstStyle/>
          <a:p>
            <a:endParaRPr 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389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804C35-ADED-4972-98B8-E4A0A77016F4}" type="slidenum">
              <a:rPr lang="en-US" smtClean="0">
                <a:latin typeface="Times" pitchFamily="18" charset="0"/>
              </a:rPr>
              <a:pPr/>
              <a:t>5</a:t>
            </a:fld>
            <a:endParaRPr lang="en-US" smtClean="0">
              <a:latin typeface="Times" pitchFamily="18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 lIns="92075" tIns="46038" rIns="92075" bIns="46038"/>
          <a:lstStyle/>
          <a:p>
            <a:endParaRPr 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983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804C35-ADED-4972-98B8-E4A0A77016F4}" type="slidenum">
              <a:rPr lang="en-US" smtClean="0">
                <a:latin typeface="Times" pitchFamily="18" charset="0"/>
              </a:rPr>
              <a:pPr/>
              <a:t>6</a:t>
            </a:fld>
            <a:endParaRPr lang="en-US" smtClean="0">
              <a:latin typeface="Times" pitchFamily="18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 lIns="92075" tIns="46038" rIns="92075" bIns="46038"/>
          <a:lstStyle/>
          <a:p>
            <a:endParaRPr 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034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804C35-ADED-4972-98B8-E4A0A77016F4}" type="slidenum">
              <a:rPr lang="en-US" smtClean="0">
                <a:latin typeface="Times" pitchFamily="18" charset="0"/>
              </a:rPr>
              <a:pPr/>
              <a:t>7</a:t>
            </a:fld>
            <a:endParaRPr lang="en-US" smtClean="0">
              <a:latin typeface="Times" pitchFamily="18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 lIns="92075" tIns="46038" rIns="92075" bIns="46038"/>
          <a:lstStyle/>
          <a:p>
            <a:endParaRPr 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145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804C35-ADED-4972-98B8-E4A0A77016F4}" type="slidenum">
              <a:rPr lang="en-US" smtClean="0">
                <a:latin typeface="Times" pitchFamily="18" charset="0"/>
              </a:rPr>
              <a:pPr/>
              <a:t>8</a:t>
            </a:fld>
            <a:endParaRPr lang="en-US" smtClean="0">
              <a:latin typeface="Times" pitchFamily="18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 lIns="92075" tIns="46038" rIns="92075" bIns="46038"/>
          <a:lstStyle/>
          <a:p>
            <a:endParaRPr 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400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804C35-ADED-4972-98B8-E4A0A77016F4}" type="slidenum">
              <a:rPr lang="en-US" smtClean="0">
                <a:latin typeface="Times" pitchFamily="18" charset="0"/>
              </a:rPr>
              <a:pPr/>
              <a:t>9</a:t>
            </a:fld>
            <a:endParaRPr lang="en-US" smtClean="0">
              <a:latin typeface="Times" pitchFamily="18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 lIns="92075" tIns="46038" rIns="92075" bIns="46038"/>
          <a:lstStyle/>
          <a:p>
            <a:endParaRPr 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522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804C35-ADED-4972-98B8-E4A0A77016F4}" type="slidenum">
              <a:rPr lang="en-US" smtClean="0">
                <a:latin typeface="Times" pitchFamily="18" charset="0"/>
              </a:rPr>
              <a:pPr/>
              <a:t>10</a:t>
            </a:fld>
            <a:endParaRPr lang="en-US" smtClean="0">
              <a:latin typeface="Times" pitchFamily="18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 lIns="92075" tIns="46038" rIns="92075" bIns="46038"/>
          <a:lstStyle/>
          <a:p>
            <a:endParaRPr 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578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804C35-ADED-4972-98B8-E4A0A77016F4}" type="slidenum">
              <a:rPr lang="en-US" smtClean="0">
                <a:latin typeface="Times" pitchFamily="18" charset="0"/>
              </a:rPr>
              <a:pPr/>
              <a:t>11</a:t>
            </a:fld>
            <a:endParaRPr lang="en-US" smtClean="0">
              <a:latin typeface="Times" pitchFamily="18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 lIns="92075" tIns="46038" rIns="92075" bIns="46038"/>
          <a:lstStyle/>
          <a:p>
            <a:endParaRPr 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2039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804C35-ADED-4972-98B8-E4A0A77016F4}" type="slidenum">
              <a:rPr lang="en-US" smtClean="0">
                <a:latin typeface="Times" pitchFamily="18" charset="0"/>
              </a:rPr>
              <a:pPr/>
              <a:t>12</a:t>
            </a:fld>
            <a:endParaRPr lang="en-US" smtClean="0">
              <a:latin typeface="Times" pitchFamily="18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 lIns="92075" tIns="46038" rIns="92075" bIns="46038"/>
          <a:lstStyle/>
          <a:p>
            <a:endParaRPr 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159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804C35-ADED-4972-98B8-E4A0A77016F4}" type="slidenum">
              <a:rPr lang="en-US" smtClean="0">
                <a:latin typeface="Times" pitchFamily="18" charset="0"/>
              </a:rPr>
              <a:pPr/>
              <a:t>13</a:t>
            </a:fld>
            <a:endParaRPr lang="en-US" smtClean="0">
              <a:latin typeface="Times" pitchFamily="18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 lIns="92075" tIns="46038" rIns="92075" bIns="46038"/>
          <a:lstStyle/>
          <a:p>
            <a:endParaRPr lang="en-US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703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 descr="Canvas"/>
          <p:cNvSpPr>
            <a:spLocks noChangeArrowheads="1"/>
          </p:cNvSpPr>
          <p:nvPr/>
        </p:nvSpPr>
        <p:spPr bwMode="white">
          <a:xfrm>
            <a:off x="528638" y="201613"/>
            <a:ext cx="8397875" cy="646747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kumimoji="1" lang="en-US" dirty="0">
              <a:latin typeface="Times New Roman" pitchFamily="-111" charset="0"/>
            </a:endParaRPr>
          </a:p>
        </p:txBody>
      </p:sp>
      <p:pic>
        <p:nvPicPr>
          <p:cNvPr id="5" name="Picture 3" descr="A:\minispir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ltGray">
          <a:xfrm>
            <a:off x="0" y="50800"/>
            <a:ext cx="1181100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 descr="Canvas"/>
          <p:cNvSpPr>
            <a:spLocks noChangeArrowheads="1"/>
          </p:cNvSpPr>
          <p:nvPr/>
        </p:nvSpPr>
        <p:spPr bwMode="white">
          <a:xfrm>
            <a:off x="596900" y="4130675"/>
            <a:ext cx="1041400" cy="4572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dirty="0">
              <a:latin typeface="Times New Roman" pitchFamily="-111" charset="0"/>
            </a:endParaRPr>
          </a:p>
        </p:txBody>
      </p:sp>
      <p:pic>
        <p:nvPicPr>
          <p:cNvPr id="7" name="Picture 5" descr="A:\minispir.GIF"/>
          <p:cNvPicPr>
            <a:picLocks noChangeAspect="1" noChangeArrowheads="1"/>
          </p:cNvPicPr>
          <p:nvPr/>
        </p:nvPicPr>
        <p:blipFill>
          <a:blip r:embed="rId3"/>
          <a:srcRect t="39999"/>
          <a:stretch>
            <a:fillRect/>
          </a:stretch>
        </p:blipFill>
        <p:spPr bwMode="ltGray">
          <a:xfrm>
            <a:off x="0" y="4222750"/>
            <a:ext cx="1181100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26" name="Rectangle 6"/>
          <p:cNvSpPr>
            <a:spLocks noGrp="1" noChangeArrowheads="1"/>
          </p:cNvSpPr>
          <p:nvPr>
            <p:ph type="ctrTitle"/>
          </p:nvPr>
        </p:nvSpPr>
        <p:spPr>
          <a:xfrm>
            <a:off x="914400" y="2057400"/>
            <a:ext cx="7721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625600" y="3886200"/>
            <a:ext cx="6400800" cy="17716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Rectangle 8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265E6-AE68-491F-B62B-DBF092005A08}" type="datetime1">
              <a:rPr lang="en-US" smtClean="0"/>
              <a:pPr>
                <a:defRPr/>
              </a:pPr>
              <a:t>9/9/2020</a:t>
            </a:fld>
            <a:endParaRPr lang="en-US" dirty="0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smtClean="0"/>
              <a:t>Principles of Network &amp; System Administration</a:t>
            </a:r>
            <a:endParaRPr lang="en-US" dirty="0"/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ED997-C1EE-4CD7-B637-75AE2488A81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>
          <a:outerShdw blurRad="63500" dist="107763" dir="2700000" algn="ctr" rotWithShape="0">
            <a:srgbClr val="000000">
              <a:alpha val="74998"/>
            </a:srgbClr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81000"/>
            <a:ext cx="7620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752600"/>
            <a:ext cx="7620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5" name="Rectangle 8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1084263" y="60960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84381AA1-0F77-4147-9AC5-5A8ACBC53297}" type="datetime1">
              <a:rPr lang="en-US" smtClean="0"/>
              <a:pPr>
                <a:defRPr/>
              </a:pPr>
              <a:t>9/9/2020</a:t>
            </a:fld>
            <a:endParaRPr lang="en-US" dirty="0"/>
          </a:p>
        </p:txBody>
      </p:sp>
      <p:sp>
        <p:nvSpPr>
          <p:cNvPr id="16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22663" y="60960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/>
            </a:lvl1pPr>
          </a:lstStyle>
          <a:p>
            <a:pPr>
              <a:defRPr/>
            </a:pPr>
            <a:r>
              <a:rPr lang="en-US" smtClean="0"/>
              <a:t>Principles of Network &amp; System Administration</a:t>
            </a:r>
            <a:endParaRPr lang="en-US" dirty="0"/>
          </a:p>
        </p:txBody>
      </p:sp>
      <p:sp>
        <p:nvSpPr>
          <p:cNvPr id="17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51663" y="60960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-111" charset="0"/>
              </a:defRPr>
            </a:lvl1pPr>
          </a:lstStyle>
          <a:p>
            <a:pPr>
              <a:defRPr/>
            </a:pPr>
            <a:fld id="{213464E6-451B-4C51-980D-0288596E01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charset="0"/>
          <a:ea typeface="ＭＳ Ｐゴシック" pitchFamily="-111" charset="-128"/>
          <a:cs typeface="ＭＳ Ｐゴシック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charset="0"/>
          <a:ea typeface="ＭＳ Ｐゴシック" pitchFamily="-111" charset="-128"/>
          <a:cs typeface="ＭＳ Ｐゴシック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ea typeface="ＭＳ Ｐゴシック" pitchFamily="-111" charset="-128"/>
          <a:cs typeface="ＭＳ Ｐゴシック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ＭＳ Ｐゴシック" pitchFamily="-111" charset="-128"/>
          <a:cs typeface="ＭＳ Ｐゴシック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1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1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1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1" charset="-12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ungvt@hanu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62DDB82-6020-4CB8-B26C-0C1F34BD6477}" type="slidenum">
              <a:rPr lang="en-US" smtClean="0">
                <a:latin typeface="Times New Roman" pitchFamily="18" charset="0"/>
              </a:rPr>
              <a:pPr/>
              <a:t>1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3295650"/>
            <a:ext cx="7721600" cy="1143000"/>
          </a:xfrm>
        </p:spPr>
        <p:txBody>
          <a:bodyPr/>
          <a:lstStyle/>
          <a:p>
            <a:pPr eaLnBrk="1" hangingPunct="1"/>
            <a:r>
              <a:rPr kumimoji="1" lang="en-US" dirty="0" smtClean="0">
                <a:latin typeface="Times New Roman" pitchFamily="18" charset="0"/>
              </a:rPr>
              <a:t>Chapter 1: Introduction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1524000"/>
            <a:ext cx="6400800" cy="177165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Times New Roman" pitchFamily="18" charset="0"/>
              </a:rPr>
              <a:t>Network Administration</a:t>
            </a:r>
            <a:endParaRPr kumimoji="1" lang="en-US" dirty="0" smtClean="0">
              <a:latin typeface="Times New Roman" pitchFamily="18" charset="0"/>
            </a:endParaRPr>
          </a:p>
          <a:p>
            <a:pPr eaLnBrk="1" hangingPunct="1"/>
            <a:endParaRPr kumimoji="1" lang="en-US" dirty="0" smtClean="0">
              <a:latin typeface="Times New Roman" pitchFamily="18" charset="0"/>
            </a:endParaRPr>
          </a:p>
          <a:p>
            <a:pPr eaLnBrk="1" hangingPunct="1"/>
            <a:endParaRPr kumimoji="1" lang="en-US" dirty="0" smtClean="0">
              <a:latin typeface="Times New Roman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hlinkClick r:id="rId2"/>
              </a:rPr>
              <a:t>Mrs</a:t>
            </a:r>
            <a:r>
              <a:rPr lang="en-US" dirty="0" smtClean="0">
                <a:hlinkClick r:id="rId2"/>
              </a:rPr>
              <a:t> </a:t>
            </a:r>
            <a:r>
              <a:rPr lang="en-US" dirty="0" err="1" smtClean="0">
                <a:hlinkClick r:id="rId2"/>
              </a:rPr>
              <a:t>Nhung</a:t>
            </a:r>
            <a:r>
              <a:rPr lang="en-US" dirty="0" smtClean="0">
                <a:hlinkClick r:id="rId2"/>
              </a:rPr>
              <a:t> </a:t>
            </a:r>
            <a:r>
              <a:rPr lang="en-US" dirty="0" err="1" smtClean="0">
                <a:hlinkClick r:id="rId2"/>
              </a:rPr>
              <a:t>Vuong</a:t>
            </a:r>
            <a:endParaRPr lang="en-US" dirty="0" smtClean="0">
              <a:hlinkClick r:id="rId2"/>
            </a:endParaRPr>
          </a:p>
          <a:p>
            <a:pPr>
              <a:defRPr/>
            </a:pPr>
            <a:r>
              <a:rPr lang="en-US" dirty="0" smtClean="0">
                <a:hlinkClick r:id="rId2"/>
              </a:rPr>
              <a:t>Nhungvt@hanu.edu.vn</a:t>
            </a:r>
            <a:endParaRPr lang="en-US" dirty="0" smtClean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058D54-8506-40FF-8553-9E28C601EFDE}" type="slidenum">
              <a:rPr lang="en-US" smtClean="0">
                <a:latin typeface="Times New Roman" pitchFamily="18" charset="0"/>
              </a:rPr>
              <a:pPr/>
              <a:t>2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kumimoji="1" lang="en-US" dirty="0" smtClean="0">
                <a:latin typeface="Times New Roman" pitchFamily="18" charset="0"/>
              </a:rPr>
              <a:t>What is network &amp; system administration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66800" y="1752600"/>
            <a:ext cx="7620000" cy="45720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A branch of </a:t>
            </a:r>
            <a:r>
              <a:rPr kumimoji="1" lang="en-US" sz="2400" b="1" dirty="0" smtClean="0">
                <a:latin typeface="Times" pitchFamily="18" charset="0"/>
                <a:ea typeface="ＭＳ Ｐゴシック"/>
              </a:rPr>
              <a:t>engineering</a:t>
            </a:r>
            <a:r>
              <a:rPr kumimoji="1" lang="en-US" sz="2400" dirty="0" smtClean="0">
                <a:latin typeface="Times" pitchFamily="18" charset="0"/>
                <a:ea typeface="ＭＳ Ｐゴシック"/>
              </a:rPr>
              <a:t> that concern the</a:t>
            </a:r>
            <a:r>
              <a:rPr kumimoji="1" lang="en-US" sz="2400" b="1" dirty="0" smtClean="0">
                <a:latin typeface="Times" pitchFamily="18" charset="0"/>
                <a:ea typeface="ＭＳ Ｐゴシック"/>
              </a:rPr>
              <a:t> operational management of human-computer systems.</a:t>
            </a:r>
          </a:p>
          <a:p>
            <a:pPr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It involves both </a:t>
            </a:r>
            <a:r>
              <a:rPr kumimoji="1" lang="en-US" sz="2400" dirty="0" smtClean="0">
                <a:solidFill>
                  <a:srgbClr val="FF0000"/>
                </a:solidFill>
                <a:latin typeface="Times" pitchFamily="18" charset="0"/>
                <a:ea typeface="ＭＳ Ｐゴシック"/>
              </a:rPr>
              <a:t>technology</a:t>
            </a:r>
            <a:r>
              <a:rPr kumimoji="1" lang="en-US" sz="2400" dirty="0" smtClean="0">
                <a:latin typeface="Times" pitchFamily="18" charset="0"/>
                <a:ea typeface="ＭＳ Ｐゴシック"/>
              </a:rPr>
              <a:t> of computer systems and the </a:t>
            </a:r>
            <a:r>
              <a:rPr kumimoji="1" lang="en-US" sz="2400" dirty="0">
                <a:solidFill>
                  <a:srgbClr val="FF0000"/>
                </a:solidFill>
                <a:latin typeface="Times" pitchFamily="18" charset="0"/>
                <a:ea typeface="ＭＳ Ｐゴシック"/>
              </a:rPr>
              <a:t>users.</a:t>
            </a:r>
          </a:p>
          <a:p>
            <a:pPr eaLnBrk="1" hangingPunct="1">
              <a:lnSpc>
                <a:spcPct val="80000"/>
              </a:lnSpc>
            </a:pPr>
            <a:r>
              <a:rPr kumimoji="1" lang="en-US" sz="2000" dirty="0" smtClean="0">
                <a:latin typeface="Times" pitchFamily="18" charset="0"/>
                <a:ea typeface="ＭＳ Ｐゴシック"/>
              </a:rPr>
              <a:t>Also about putting together a network of computer (</a:t>
            </a:r>
            <a:r>
              <a:rPr kumimoji="1" lang="en-US" sz="2000" dirty="0" err="1" smtClean="0">
                <a:latin typeface="Times" pitchFamily="18" charset="0"/>
                <a:ea typeface="ＭＳ Ｐゴシック"/>
              </a:rPr>
              <a:t>Workstation,PCs</a:t>
            </a:r>
            <a:r>
              <a:rPr kumimoji="1" lang="en-US" sz="2000" dirty="0" smtClean="0">
                <a:latin typeface="Times" pitchFamily="18" charset="0"/>
                <a:ea typeface="ＭＳ Ｐゴシック"/>
              </a:rPr>
              <a:t> and Super Computer). </a:t>
            </a:r>
            <a:endParaRPr kumimoji="1" lang="en-US" sz="2000" dirty="0">
              <a:latin typeface="Times" pitchFamily="18" charset="0"/>
              <a:ea typeface="ＭＳ Ｐゴシック"/>
            </a:endParaRPr>
          </a:p>
          <a:p>
            <a:pPr eaLnBrk="1" hangingPunct="1">
              <a:lnSpc>
                <a:spcPct val="80000"/>
              </a:lnSpc>
            </a:pPr>
            <a:r>
              <a:rPr kumimoji="1" lang="en-US" sz="2000" dirty="0" smtClean="0">
                <a:latin typeface="Times" pitchFamily="18" charset="0"/>
                <a:ea typeface="ＭＳ Ｐゴシック"/>
              </a:rPr>
              <a:t>Getting &amp; putting them running in spite of activities of user who tend to cause the system fail.</a:t>
            </a:r>
          </a:p>
          <a:p>
            <a:pPr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System administrators work for use and can use the systems to produce their work. </a:t>
            </a:r>
          </a:p>
          <a:p>
            <a:pPr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They also should not just cater for one or two selfish need but  work for the benefit of whole community</a:t>
            </a:r>
          </a:p>
          <a:p>
            <a:pPr eaLnBrk="1" hangingPunct="1">
              <a:lnSpc>
                <a:spcPct val="80000"/>
              </a:lnSpc>
            </a:pPr>
            <a:endParaRPr kumimoji="1" lang="en-US" sz="2400" dirty="0" smtClean="0">
              <a:latin typeface="Times" pitchFamily="18" charset="0"/>
              <a:ea typeface="ＭＳ Ｐ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Principles of Network &amp; System Administration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058D54-8506-40FF-8553-9E28C601EFDE}" type="slidenum">
              <a:rPr lang="en-US" smtClean="0">
                <a:latin typeface="Times New Roman" pitchFamily="18" charset="0"/>
              </a:rPr>
              <a:pPr/>
              <a:t>3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kumimoji="1" lang="en-US" dirty="0" smtClean="0">
                <a:latin typeface="Times New Roman" pitchFamily="18" charset="0"/>
              </a:rPr>
              <a:t>What is network &amp; system administration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60463" y="2133600"/>
            <a:ext cx="7526337" cy="4114800"/>
          </a:xfrm>
        </p:spPr>
        <p:txBody>
          <a:bodyPr lIns="92075" tIns="46038" rIns="92075" bIns="46038"/>
          <a:lstStyle/>
          <a:p>
            <a:pPr algn="just"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System administrators jobs about </a:t>
            </a:r>
            <a:r>
              <a:rPr kumimoji="1" lang="en-US" sz="2400" dirty="0" smtClean="0">
                <a:solidFill>
                  <a:srgbClr val="FF0000"/>
                </a:solidFill>
                <a:latin typeface="Times" pitchFamily="18" charset="0"/>
                <a:ea typeface="ＭＳ Ｐゴシック"/>
              </a:rPr>
              <a:t>hardware, software, user support, diagnosis repair and prevent</a:t>
            </a:r>
            <a:r>
              <a:rPr kumimoji="1" lang="en-US" sz="2400" dirty="0" smtClean="0">
                <a:latin typeface="Times" pitchFamily="18" charset="0"/>
                <a:ea typeface="ＭＳ Ｐゴシック"/>
              </a:rPr>
              <a:t>ion.</a:t>
            </a:r>
          </a:p>
          <a:p>
            <a:pPr algn="just"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Need to know several skills , </a:t>
            </a:r>
            <a:r>
              <a:rPr kumimoji="1" lang="en-US" sz="2400" dirty="0" err="1" smtClean="0">
                <a:latin typeface="Times" pitchFamily="18" charset="0"/>
                <a:ea typeface="ＭＳ Ｐゴシック"/>
              </a:rPr>
              <a:t>ie</a:t>
            </a:r>
            <a:r>
              <a:rPr kumimoji="1" lang="en-US" sz="2400" dirty="0" smtClean="0">
                <a:latin typeface="Times" pitchFamily="18" charset="0"/>
                <a:ea typeface="ＭＳ Ｐゴシック"/>
              </a:rPr>
              <a:t> : technical, administrative and socio-psychological skills</a:t>
            </a:r>
          </a:p>
          <a:p>
            <a:pPr algn="just" eaLnBrk="1" hangingPunct="1">
              <a:lnSpc>
                <a:spcPct val="80000"/>
              </a:lnSpc>
            </a:pPr>
            <a:endParaRPr kumimoji="1" lang="en-US" sz="2400" dirty="0" smtClean="0">
              <a:latin typeface="Times" pitchFamily="18" charset="0"/>
              <a:ea typeface="ＭＳ Ｐゴシック"/>
            </a:endParaRPr>
          </a:p>
          <a:p>
            <a:pPr algn="just" eaLnBrk="1" hangingPunct="1">
              <a:lnSpc>
                <a:spcPct val="80000"/>
              </a:lnSpc>
            </a:pPr>
            <a:r>
              <a:rPr kumimoji="1" lang="en-US" sz="2400" dirty="0">
                <a:latin typeface="Times" pitchFamily="18" charset="0"/>
                <a:ea typeface="ＭＳ Ｐゴシック"/>
              </a:rPr>
              <a:t>Today system administration its not just do </a:t>
            </a:r>
            <a:r>
              <a:rPr kumimoji="1" lang="en-US" sz="2400" dirty="0">
                <a:solidFill>
                  <a:srgbClr val="FF0000"/>
                </a:solidFill>
                <a:latin typeface="Times" pitchFamily="18" charset="0"/>
                <a:ea typeface="ＭＳ Ｐゴシック"/>
              </a:rPr>
              <a:t>administrative job </a:t>
            </a:r>
            <a:r>
              <a:rPr kumimoji="1" lang="en-US" sz="2400" dirty="0">
                <a:latin typeface="Times" pitchFamily="18" charset="0"/>
                <a:ea typeface="ＭＳ Ｐゴシック"/>
              </a:rPr>
              <a:t>but it can become extremely demanding </a:t>
            </a:r>
            <a:r>
              <a:rPr kumimoji="1" lang="en-US" sz="2400" dirty="0">
                <a:solidFill>
                  <a:srgbClr val="FF0000"/>
                </a:solidFill>
                <a:latin typeface="Times" pitchFamily="18" charset="0"/>
                <a:ea typeface="ＭＳ Ｐゴシック"/>
              </a:rPr>
              <a:t>engineer jobs</a:t>
            </a:r>
          </a:p>
          <a:p>
            <a:pPr algn="just"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In </a:t>
            </a:r>
            <a:r>
              <a:rPr kumimoji="1" lang="en-US" sz="2400" dirty="0">
                <a:latin typeface="Times" pitchFamily="18" charset="0"/>
                <a:ea typeface="ＭＳ Ｐゴシック"/>
              </a:rPr>
              <a:t>future, improvement of technology might make system administration’s jobs become easier</a:t>
            </a:r>
          </a:p>
          <a:p>
            <a:pPr algn="just" eaLnBrk="1" hangingPunct="1">
              <a:lnSpc>
                <a:spcPct val="80000"/>
              </a:lnSpc>
            </a:pPr>
            <a:endParaRPr kumimoji="1" lang="en-US" sz="2400" dirty="0" smtClean="0">
              <a:latin typeface="Times" pitchFamily="18" charset="0"/>
              <a:ea typeface="ＭＳ Ｐ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Principles of Network &amp; System Administration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058D54-8506-40FF-8553-9E28C601EFDE}" type="slidenum">
              <a:rPr lang="en-US" smtClean="0">
                <a:latin typeface="Times New Roman" pitchFamily="18" charset="0"/>
              </a:rPr>
              <a:pPr/>
              <a:t>4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kumimoji="1" lang="en-US" dirty="0" smtClean="0">
                <a:latin typeface="Times New Roman" pitchFamily="18" charset="0"/>
              </a:rPr>
              <a:t>What is network &amp; system administration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80052" y="1752600"/>
            <a:ext cx="7620000" cy="4114800"/>
          </a:xfrm>
        </p:spPr>
        <p:txBody>
          <a:bodyPr lIns="92075" tIns="46038" rIns="92075" bIns="46038"/>
          <a:lstStyle/>
          <a:p>
            <a:pPr algn="just"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Term “network administration &amp; system administration”  exist separately and use both variously and inconsistently by industry and academics.</a:t>
            </a:r>
          </a:p>
          <a:p>
            <a:pPr algn="just" eaLnBrk="1" hangingPunct="1">
              <a:lnSpc>
                <a:spcPct val="80000"/>
              </a:lnSpc>
            </a:pPr>
            <a:endParaRPr kumimoji="1" lang="en-US" sz="2400" dirty="0" smtClean="0">
              <a:latin typeface="Times" pitchFamily="18" charset="0"/>
              <a:ea typeface="ＭＳ Ｐゴシック"/>
            </a:endParaRPr>
          </a:p>
          <a:p>
            <a:pPr algn="just"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System administration term used traditionally by </a:t>
            </a:r>
            <a:r>
              <a:rPr kumimoji="1" lang="en-US" sz="2400" dirty="0" smtClean="0">
                <a:solidFill>
                  <a:srgbClr val="FF0000"/>
                </a:solidFill>
                <a:latin typeface="Times" pitchFamily="18" charset="0"/>
                <a:ea typeface="ＭＳ Ｐゴシック"/>
              </a:rPr>
              <a:t>mainframe and </a:t>
            </a:r>
            <a:r>
              <a:rPr kumimoji="1" lang="en-US" sz="2400" dirty="0" err="1" smtClean="0">
                <a:solidFill>
                  <a:srgbClr val="FF0000"/>
                </a:solidFill>
                <a:latin typeface="Times" pitchFamily="18" charset="0"/>
                <a:ea typeface="ＭＳ Ｐゴシック"/>
              </a:rPr>
              <a:t>unix</a:t>
            </a:r>
            <a:r>
              <a:rPr kumimoji="1" lang="en-US" sz="2400" dirty="0" smtClean="0">
                <a:solidFill>
                  <a:srgbClr val="FF0000"/>
                </a:solidFill>
                <a:latin typeface="Times" pitchFamily="18" charset="0"/>
                <a:ea typeface="ＭＳ Ｐゴシック"/>
              </a:rPr>
              <a:t> engineer </a:t>
            </a:r>
            <a:r>
              <a:rPr kumimoji="1" lang="en-US" sz="2400" dirty="0" smtClean="0">
                <a:latin typeface="Times" pitchFamily="18" charset="0"/>
                <a:ea typeface="ＭＳ Ｐゴシック"/>
              </a:rPr>
              <a:t>to describe  the management of computers whether they are coupled by network or not.</a:t>
            </a:r>
          </a:p>
          <a:p>
            <a:pPr algn="just"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In the community, Network administration mean the management of network infrastructure devices (routers and Switches).</a:t>
            </a:r>
          </a:p>
          <a:p>
            <a:pPr algn="just"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 In the community also, system administration mean the management of PCs in a network.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Principles of Network &amp; System Administration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058D54-8506-40FF-8553-9E28C601EFDE}" type="slidenum">
              <a:rPr lang="en-US" smtClean="0">
                <a:latin typeface="Times New Roman" pitchFamily="18" charset="0"/>
              </a:rPr>
              <a:pPr/>
              <a:t>5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kumimoji="1" lang="en-US" dirty="0" smtClean="0">
                <a:latin typeface="Times New Roman" pitchFamily="18" charset="0"/>
              </a:rPr>
              <a:t>Applying Technology in an Environment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60463" y="2133600"/>
            <a:ext cx="7620000" cy="5174974"/>
          </a:xfrm>
        </p:spPr>
        <p:txBody>
          <a:bodyPr lIns="92075" tIns="46038" rIns="92075" bIns="46038"/>
          <a:lstStyle/>
          <a:p>
            <a:pPr algn="just"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Task of Network &amp; System Administration is to build </a:t>
            </a:r>
            <a:r>
              <a:rPr kumimoji="1" lang="en-US" sz="2400" dirty="0" smtClean="0">
                <a:solidFill>
                  <a:srgbClr val="FF0000"/>
                </a:solidFill>
                <a:latin typeface="Times" pitchFamily="18" charset="0"/>
                <a:ea typeface="ＭＳ Ｐゴシック"/>
              </a:rPr>
              <a:t>hardware configuration </a:t>
            </a:r>
            <a:r>
              <a:rPr kumimoji="1" lang="en-US" sz="2400" dirty="0" smtClean="0">
                <a:latin typeface="Times" pitchFamily="18" charset="0"/>
                <a:ea typeface="ＭＳ Ｐゴシック"/>
              </a:rPr>
              <a:t>and </a:t>
            </a:r>
            <a:r>
              <a:rPr kumimoji="1" lang="en-US" sz="2400" dirty="0" smtClean="0">
                <a:solidFill>
                  <a:srgbClr val="FF0000"/>
                </a:solidFill>
                <a:latin typeface="Times" pitchFamily="18" charset="0"/>
                <a:ea typeface="ＭＳ Ｐゴシック"/>
              </a:rPr>
              <a:t>software system configuration</a:t>
            </a:r>
            <a:r>
              <a:rPr kumimoji="1" lang="en-US" sz="2400" dirty="0" smtClean="0">
                <a:latin typeface="Times" pitchFamily="18" charset="0"/>
                <a:ea typeface="ＭＳ Ｐゴシック"/>
              </a:rPr>
              <a:t>.</a:t>
            </a:r>
          </a:p>
          <a:p>
            <a:pPr lvl="1" algn="just" eaLnBrk="1" hangingPunct="1">
              <a:lnSpc>
                <a:spcPct val="80000"/>
              </a:lnSpc>
            </a:pPr>
            <a:r>
              <a:rPr kumimoji="1" lang="en-US" sz="2000" u="sng" dirty="0" smtClean="0">
                <a:latin typeface="Times" pitchFamily="18" charset="0"/>
                <a:ea typeface="ＭＳ Ｐゴシック"/>
              </a:rPr>
              <a:t>Hardware</a:t>
            </a:r>
            <a:r>
              <a:rPr kumimoji="1" lang="en-US" sz="2000" dirty="0" smtClean="0">
                <a:latin typeface="Times" pitchFamily="18" charset="0"/>
                <a:ea typeface="ＭＳ Ｐゴシック"/>
              </a:rPr>
              <a:t> requires power, a temperature (usually indoor) climate, and </a:t>
            </a:r>
            <a:r>
              <a:rPr kumimoji="1" lang="en-US" sz="2000" u="sng" dirty="0" smtClean="0">
                <a:latin typeface="Times" pitchFamily="18" charset="0"/>
                <a:ea typeface="ＭＳ Ｐゴシック"/>
              </a:rPr>
              <a:t>conformance to basic standards </a:t>
            </a:r>
            <a:r>
              <a:rPr kumimoji="1" lang="en-US" sz="2000" dirty="0" smtClean="0">
                <a:latin typeface="Times" pitchFamily="18" charset="0"/>
                <a:ea typeface="ＭＳ Ｐゴシック"/>
              </a:rPr>
              <a:t>in order to work systematically.</a:t>
            </a:r>
          </a:p>
          <a:p>
            <a:pPr lvl="1" algn="just" eaLnBrk="1" hangingPunct="1">
              <a:lnSpc>
                <a:spcPct val="80000"/>
              </a:lnSpc>
            </a:pPr>
            <a:r>
              <a:rPr kumimoji="1" lang="en-US" sz="2000" u="sng" dirty="0" smtClean="0">
                <a:latin typeface="Times" pitchFamily="18" charset="0"/>
                <a:ea typeface="ＭＳ Ｐゴシック"/>
              </a:rPr>
              <a:t>Software</a:t>
            </a:r>
            <a:r>
              <a:rPr kumimoji="1" lang="en-US" sz="2000" dirty="0" smtClean="0">
                <a:latin typeface="Times" pitchFamily="18" charset="0"/>
                <a:ea typeface="ＭＳ Ｐゴシック"/>
              </a:rPr>
              <a:t> requires </a:t>
            </a:r>
            <a:r>
              <a:rPr kumimoji="1" lang="en-US" sz="2000" i="1" dirty="0" smtClean="0">
                <a:latin typeface="Times" pitchFamily="18" charset="0"/>
                <a:ea typeface="ＭＳ Ｐゴシック"/>
              </a:rPr>
              <a:t>hardware, </a:t>
            </a:r>
            <a:r>
              <a:rPr kumimoji="1" lang="en-US" sz="2000" dirty="0" smtClean="0">
                <a:latin typeface="Times" pitchFamily="18" charset="0"/>
                <a:ea typeface="ＭＳ Ｐゴシック"/>
              </a:rPr>
              <a:t>basic </a:t>
            </a:r>
            <a:r>
              <a:rPr kumimoji="1" lang="en-US" sz="2000" i="1" dirty="0" smtClean="0">
                <a:latin typeface="Times" pitchFamily="18" charset="0"/>
                <a:ea typeface="ＭＳ Ｐゴシック"/>
              </a:rPr>
              <a:t>OS </a:t>
            </a:r>
            <a:r>
              <a:rPr kumimoji="1" lang="en-US" sz="2000" dirty="0" smtClean="0">
                <a:latin typeface="Times" pitchFamily="18" charset="0"/>
                <a:ea typeface="ＭＳ Ｐゴシック"/>
              </a:rPr>
              <a:t>infrastructure and </a:t>
            </a:r>
            <a:r>
              <a:rPr kumimoji="1" lang="en-US" sz="2000" i="1" dirty="0" smtClean="0">
                <a:latin typeface="Times" pitchFamily="18" charset="0"/>
                <a:ea typeface="ＭＳ Ｐゴシック"/>
              </a:rPr>
              <a:t>conformance to  certain standards  </a:t>
            </a:r>
            <a:r>
              <a:rPr kumimoji="1" lang="en-US" sz="2000" dirty="0" smtClean="0">
                <a:latin typeface="Times" pitchFamily="18" charset="0"/>
                <a:ea typeface="ＭＳ Ｐゴシック"/>
              </a:rPr>
              <a:t>but not limit by physical concern as long as </a:t>
            </a:r>
            <a:r>
              <a:rPr kumimoji="1" lang="en-US" sz="2000" i="1" dirty="0" smtClean="0">
                <a:latin typeface="Times" pitchFamily="18" charset="0"/>
                <a:ea typeface="ＭＳ Ｐゴシック"/>
              </a:rPr>
              <a:t>it has hardware to run</a:t>
            </a:r>
          </a:p>
          <a:p>
            <a:pPr algn="just"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Modern software need to inter-operate and survive in the environment of the possible hostilities and incompatibilities and competition.</a:t>
            </a:r>
          </a:p>
          <a:p>
            <a:pPr eaLnBrk="1" hangingPunct="1">
              <a:lnSpc>
                <a:spcPct val="80000"/>
              </a:lnSpc>
            </a:pPr>
            <a:endParaRPr kumimoji="1" lang="en-US" sz="2400" dirty="0" smtClean="0">
              <a:latin typeface="Times" pitchFamily="18" charset="0"/>
              <a:ea typeface="ＭＳ Ｐゴシック"/>
            </a:endParaRPr>
          </a:p>
          <a:p>
            <a:pPr eaLnBrk="1" hangingPunct="1">
              <a:lnSpc>
                <a:spcPct val="80000"/>
              </a:lnSpc>
            </a:pPr>
            <a:endParaRPr kumimoji="1" lang="en-US" sz="2400" dirty="0" smtClean="0">
              <a:latin typeface="Times" pitchFamily="18" charset="0"/>
              <a:ea typeface="ＭＳ Ｐ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Principles of Network &amp; System Administration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058D54-8506-40FF-8553-9E28C601EFDE}" type="slidenum">
              <a:rPr lang="en-US" smtClean="0">
                <a:latin typeface="Times New Roman" pitchFamily="18" charset="0"/>
              </a:rPr>
              <a:pPr/>
              <a:t>6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kumimoji="1" lang="en-US" dirty="0" smtClean="0">
                <a:latin typeface="Times New Roman" pitchFamily="18" charset="0"/>
              </a:rPr>
              <a:t>Human Role in System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66800" y="1828800"/>
            <a:ext cx="7620000" cy="4572000"/>
          </a:xfrm>
        </p:spPr>
        <p:txBody>
          <a:bodyPr lIns="92075" tIns="46038" rIns="92075" bIns="46038"/>
          <a:lstStyle/>
          <a:p>
            <a:pPr algn="just"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The task of system administration is a balancing act. </a:t>
            </a:r>
          </a:p>
          <a:p>
            <a:pPr lvl="1" algn="just"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Requires </a:t>
            </a:r>
            <a:r>
              <a:rPr kumimoji="1" lang="en-US" sz="2400" dirty="0">
                <a:latin typeface="Times" pitchFamily="18" charset="0"/>
                <a:ea typeface="ＭＳ Ｐゴシック"/>
              </a:rPr>
              <a:t>patience, understanding, knowledge and experience.</a:t>
            </a:r>
          </a:p>
          <a:p>
            <a:pPr lvl="1" algn="just" eaLnBrk="1" hangingPunct="1">
              <a:lnSpc>
                <a:spcPct val="80000"/>
              </a:lnSpc>
            </a:pPr>
            <a:r>
              <a:rPr kumimoji="1" lang="en-US" sz="2400" dirty="0">
                <a:latin typeface="Times" pitchFamily="18" charset="0"/>
                <a:ea typeface="ＭＳ Ｐゴシック"/>
              </a:rPr>
              <a:t>Work with </a:t>
            </a:r>
            <a:r>
              <a:rPr kumimoji="1" lang="en-US" sz="2400" u="sng" dirty="0">
                <a:latin typeface="Times" pitchFamily="18" charset="0"/>
                <a:ea typeface="ＭＳ Ｐゴシック"/>
              </a:rPr>
              <a:t>limited </a:t>
            </a:r>
            <a:r>
              <a:rPr kumimoji="1" lang="en-US" sz="2400" u="sng" dirty="0" smtClean="0">
                <a:latin typeface="Times" pitchFamily="18" charset="0"/>
                <a:ea typeface="ＭＳ Ｐゴシック"/>
              </a:rPr>
              <a:t>resources</a:t>
            </a:r>
            <a:endParaRPr kumimoji="1" lang="en-US" sz="2400" dirty="0">
              <a:latin typeface="Times" pitchFamily="18" charset="0"/>
              <a:ea typeface="ＭＳ Ｐゴシック"/>
            </a:endParaRPr>
          </a:p>
          <a:p>
            <a:pPr lvl="1" algn="just"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Need </a:t>
            </a:r>
            <a:r>
              <a:rPr kumimoji="1" lang="en-US" sz="2400" dirty="0">
                <a:latin typeface="Times" pitchFamily="18" charset="0"/>
                <a:ea typeface="ＭＳ Ｐゴシック"/>
              </a:rPr>
              <a:t>to know a lot of </a:t>
            </a:r>
            <a:r>
              <a:rPr kumimoji="1" lang="en-US" sz="2400" dirty="0" smtClean="0">
                <a:latin typeface="Times" pitchFamily="18" charset="0"/>
                <a:ea typeface="ＭＳ Ｐゴシック"/>
              </a:rPr>
              <a:t>facts </a:t>
            </a:r>
            <a:r>
              <a:rPr kumimoji="1" lang="en-US" sz="2400" dirty="0">
                <a:latin typeface="Times" pitchFamily="18" charset="0"/>
                <a:ea typeface="ＭＳ Ｐゴシック"/>
              </a:rPr>
              <a:t>and figures about computer works.</a:t>
            </a:r>
          </a:p>
          <a:p>
            <a:pPr lvl="1" algn="just" eaLnBrk="1" hangingPunct="1">
              <a:lnSpc>
                <a:spcPct val="80000"/>
              </a:lnSpc>
            </a:pPr>
            <a:r>
              <a:rPr kumimoji="1" lang="en-US" sz="2400" dirty="0">
                <a:latin typeface="Times" pitchFamily="18" charset="0"/>
                <a:ea typeface="ＭＳ Ｐゴシック"/>
              </a:rPr>
              <a:t>Require the best of organizational skill and professional </a:t>
            </a:r>
            <a:r>
              <a:rPr kumimoji="1" lang="en-US" sz="2400" dirty="0" smtClean="0">
                <a:latin typeface="Times" pitchFamily="18" charset="0"/>
                <a:ea typeface="ＭＳ Ｐゴシック"/>
              </a:rPr>
              <a:t> </a:t>
            </a:r>
            <a:r>
              <a:rPr kumimoji="1" lang="en-US" sz="2400" dirty="0" smtClean="0">
                <a:latin typeface="Times" pitchFamily="18" charset="0"/>
                <a:ea typeface="ＭＳ Ｐゴシック"/>
              </a:rPr>
              <a:t>attitude.</a:t>
            </a:r>
          </a:p>
          <a:p>
            <a:pPr lvl="1" algn="just" eaLnBrk="1" hangingPunct="1">
              <a:lnSpc>
                <a:spcPct val="80000"/>
              </a:lnSpc>
            </a:pPr>
            <a:r>
              <a:rPr kumimoji="1" lang="en-US" sz="2400" dirty="0">
                <a:latin typeface="Times" pitchFamily="18" charset="0"/>
                <a:ea typeface="ＭＳ Ｐゴシック"/>
              </a:rPr>
              <a:t>Need to know </a:t>
            </a:r>
            <a:r>
              <a:rPr kumimoji="1" lang="en-US" sz="2400" dirty="0">
                <a:solidFill>
                  <a:srgbClr val="FF0000"/>
                </a:solidFill>
                <a:latin typeface="Times" pitchFamily="18" charset="0"/>
                <a:ea typeface="ＭＳ Ｐゴシック"/>
              </a:rPr>
              <a:t>many facts and build confidence </a:t>
            </a:r>
            <a:r>
              <a:rPr kumimoji="1" lang="en-US" sz="2400" dirty="0">
                <a:latin typeface="Times" pitchFamily="18" charset="0"/>
                <a:ea typeface="ＭＳ Ｐゴシック"/>
              </a:rPr>
              <a:t>through experience and know your limitation in order to avoid careless mistakes.</a:t>
            </a:r>
          </a:p>
          <a:p>
            <a:pPr eaLnBrk="1" hangingPunct="1">
              <a:lnSpc>
                <a:spcPct val="80000"/>
              </a:lnSpc>
            </a:pPr>
            <a:endParaRPr kumimoji="1" lang="en-US" sz="2400" dirty="0" smtClean="0">
              <a:latin typeface="Times" pitchFamily="18" charset="0"/>
              <a:ea typeface="ＭＳ Ｐゴシック"/>
            </a:endParaRPr>
          </a:p>
          <a:p>
            <a:pPr eaLnBrk="1" hangingPunct="1">
              <a:lnSpc>
                <a:spcPct val="80000"/>
              </a:lnSpc>
            </a:pPr>
            <a:endParaRPr kumimoji="1" lang="en-US" sz="2400" dirty="0" smtClean="0">
              <a:latin typeface="Times" pitchFamily="18" charset="0"/>
              <a:ea typeface="ＭＳ Ｐ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Principles of Network &amp; System Administration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058D54-8506-40FF-8553-9E28C601EFDE}" type="slidenum">
              <a:rPr lang="en-US" smtClean="0">
                <a:latin typeface="Times New Roman" pitchFamily="18" charset="0"/>
              </a:rPr>
              <a:pPr/>
              <a:t>7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kumimoji="1" lang="en-US" dirty="0" smtClean="0">
                <a:latin typeface="Times New Roman" pitchFamily="18" charset="0"/>
              </a:rPr>
              <a:t>Ethical Issues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26724" y="1550504"/>
            <a:ext cx="7620000" cy="46482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</a:pPr>
            <a:endParaRPr kumimoji="1" lang="en-US" sz="2400" dirty="0" smtClean="0">
              <a:latin typeface="Times" pitchFamily="18" charset="0"/>
              <a:ea typeface="ＭＳ Ｐゴシック"/>
            </a:endParaRPr>
          </a:p>
          <a:p>
            <a:pPr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There are some ethical issue to be consider in their administration because of computer system.</a:t>
            </a:r>
            <a:endParaRPr kumimoji="1" lang="en-US" sz="2000" dirty="0" smtClean="0">
              <a:latin typeface="Times" pitchFamily="18" charset="0"/>
              <a:ea typeface="ＭＳ Ｐゴシック"/>
            </a:endParaRPr>
          </a:p>
          <a:p>
            <a:pPr lvl="1" eaLnBrk="1" hangingPunct="1">
              <a:lnSpc>
                <a:spcPct val="80000"/>
              </a:lnSpc>
            </a:pPr>
            <a:r>
              <a:rPr kumimoji="1" lang="en-US" sz="1600" dirty="0" smtClean="0">
                <a:latin typeface="Times" pitchFamily="18" charset="0"/>
                <a:ea typeface="ＭＳ Ｐゴシック"/>
              </a:rPr>
              <a:t>Maximizing productivity or maximizing the cost.</a:t>
            </a:r>
          </a:p>
          <a:p>
            <a:pPr lvl="1" eaLnBrk="1" hangingPunct="1">
              <a:lnSpc>
                <a:spcPct val="80000"/>
              </a:lnSpc>
            </a:pPr>
            <a:r>
              <a:rPr kumimoji="1" lang="en-US" sz="1600" dirty="0" smtClean="0">
                <a:latin typeface="Times" pitchFamily="18" charset="0"/>
                <a:ea typeface="ＭＳ Ｐゴシック"/>
              </a:rPr>
              <a:t>User policies and management of computer and users.</a:t>
            </a:r>
          </a:p>
          <a:p>
            <a:pPr lvl="1" eaLnBrk="1" hangingPunct="1">
              <a:lnSpc>
                <a:spcPct val="80000"/>
              </a:lnSpc>
            </a:pPr>
            <a:r>
              <a:rPr kumimoji="1" lang="en-US" sz="1600" dirty="0" smtClean="0">
                <a:latin typeface="Times" pitchFamily="18" charset="0"/>
                <a:ea typeface="ＭＳ Ｐゴシック"/>
              </a:rPr>
              <a:t>To protect the right of individuals.</a:t>
            </a:r>
          </a:p>
          <a:p>
            <a:pPr lvl="1" eaLnBrk="1" hangingPunct="1">
              <a:lnSpc>
                <a:spcPct val="80000"/>
              </a:lnSpc>
              <a:buNone/>
            </a:pPr>
            <a:endParaRPr kumimoji="1" lang="en-US" sz="1600" dirty="0" smtClean="0">
              <a:latin typeface="Times" pitchFamily="18" charset="0"/>
              <a:ea typeface="ＭＳ Ｐゴシック"/>
            </a:endParaRPr>
          </a:p>
          <a:p>
            <a:pPr eaLnBrk="1" hangingPunct="1">
              <a:lnSpc>
                <a:spcPct val="80000"/>
              </a:lnSpc>
            </a:pPr>
            <a:r>
              <a:rPr kumimoji="1" lang="en-US" sz="2000" dirty="0" smtClean="0">
                <a:latin typeface="Times" pitchFamily="18" charset="0"/>
                <a:ea typeface="ＭＳ Ｐゴシック"/>
              </a:rPr>
              <a:t>A system administrator have many responsibilities and constraint to consider.</a:t>
            </a:r>
            <a:endParaRPr kumimoji="1" lang="en-US" sz="2400" dirty="0" smtClean="0">
              <a:latin typeface="Times" pitchFamily="18" charset="0"/>
              <a:ea typeface="ＭＳ Ｐゴシック"/>
            </a:endParaRPr>
          </a:p>
          <a:p>
            <a:pPr lvl="1" eaLnBrk="1" hangingPunct="1">
              <a:lnSpc>
                <a:spcPct val="80000"/>
              </a:lnSpc>
            </a:pPr>
            <a:r>
              <a:rPr kumimoji="1" lang="en-US" sz="1600" dirty="0" smtClean="0">
                <a:latin typeface="Times" pitchFamily="18" charset="0"/>
                <a:ea typeface="ＭＳ Ｐゴシック"/>
              </a:rPr>
              <a:t>Must be the greater network community</a:t>
            </a:r>
          </a:p>
          <a:p>
            <a:pPr lvl="1" eaLnBrk="1" hangingPunct="1">
              <a:lnSpc>
                <a:spcPct val="80000"/>
              </a:lnSpc>
            </a:pPr>
            <a:r>
              <a:rPr kumimoji="1" lang="en-US" sz="1600" dirty="0" smtClean="0">
                <a:latin typeface="Times" pitchFamily="18" charset="0"/>
                <a:ea typeface="ＭＳ Ｐゴシック"/>
              </a:rPr>
              <a:t>Must be greater than to the user of our system</a:t>
            </a:r>
            <a:endParaRPr kumimoji="1" lang="en-US" sz="800" dirty="0" smtClean="0">
              <a:latin typeface="Times" pitchFamily="18" charset="0"/>
              <a:ea typeface="ＭＳ Ｐ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Principles of Network &amp; System Administration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058D54-8506-40FF-8553-9E28C601EFDE}" type="slidenum">
              <a:rPr lang="en-US" smtClean="0">
                <a:latin typeface="Times New Roman" pitchFamily="18" charset="0"/>
              </a:rPr>
              <a:pPr/>
              <a:t>8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kumimoji="1" lang="en-US" dirty="0" smtClean="0">
                <a:latin typeface="Times New Roman" pitchFamily="18" charset="0"/>
              </a:rPr>
              <a:t>The Challenges of system administration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</a:pPr>
            <a:r>
              <a:rPr kumimoji="1" lang="en-US" sz="2000" dirty="0" smtClean="0">
                <a:latin typeface="Times" pitchFamily="18" charset="0"/>
                <a:ea typeface="ＭＳ Ｐゴシック"/>
              </a:rPr>
              <a:t>System administration is about planning and designing an efficient network of computers so that real user will be able to get their job done.</a:t>
            </a:r>
          </a:p>
          <a:p>
            <a:pPr lvl="1" eaLnBrk="1" hangingPunct="1">
              <a:lnSpc>
                <a:spcPct val="80000"/>
              </a:lnSpc>
            </a:pPr>
            <a:r>
              <a:rPr kumimoji="1" lang="en-US" sz="2000" dirty="0" smtClean="0">
                <a:latin typeface="Times" pitchFamily="18" charset="0"/>
                <a:ea typeface="ＭＳ Ｐゴシック"/>
              </a:rPr>
              <a:t>Designing a network which is logical and efficient</a:t>
            </a:r>
          </a:p>
          <a:p>
            <a:pPr lvl="1" eaLnBrk="1" hangingPunct="1">
              <a:lnSpc>
                <a:spcPct val="80000"/>
              </a:lnSpc>
            </a:pPr>
            <a:r>
              <a:rPr kumimoji="1" lang="en-US" sz="2000" dirty="0" smtClean="0">
                <a:latin typeface="Times" pitchFamily="18" charset="0"/>
                <a:ea typeface="ＭＳ Ｐゴシック"/>
              </a:rPr>
              <a:t>Deploy large number of machines which can easy to upgrade</a:t>
            </a:r>
          </a:p>
          <a:p>
            <a:pPr lvl="1" eaLnBrk="1" hangingPunct="1">
              <a:lnSpc>
                <a:spcPct val="80000"/>
              </a:lnSpc>
            </a:pPr>
            <a:r>
              <a:rPr kumimoji="1" lang="en-US" sz="2000" dirty="0" smtClean="0">
                <a:latin typeface="Times" pitchFamily="18" charset="0"/>
                <a:ea typeface="ＭＳ Ｐゴシック"/>
              </a:rPr>
              <a:t>Deciding what services are needed</a:t>
            </a:r>
          </a:p>
          <a:p>
            <a:pPr lvl="1" eaLnBrk="1" hangingPunct="1">
              <a:lnSpc>
                <a:spcPct val="80000"/>
              </a:lnSpc>
            </a:pPr>
            <a:r>
              <a:rPr kumimoji="1" lang="en-US" sz="2000" dirty="0" smtClean="0">
                <a:latin typeface="Times" pitchFamily="18" charset="0"/>
                <a:ea typeface="ＭＳ Ｐゴシック"/>
              </a:rPr>
              <a:t>Planning and implementing adequate security</a:t>
            </a:r>
          </a:p>
          <a:p>
            <a:pPr lvl="1" eaLnBrk="1" hangingPunct="1">
              <a:lnSpc>
                <a:spcPct val="80000"/>
              </a:lnSpc>
            </a:pPr>
            <a:r>
              <a:rPr kumimoji="1" lang="en-US" sz="2000" dirty="0" smtClean="0">
                <a:latin typeface="Times" pitchFamily="18" charset="0"/>
                <a:ea typeface="ＭＳ Ｐゴシック"/>
              </a:rPr>
              <a:t>Providing comfortable environment for user</a:t>
            </a:r>
          </a:p>
          <a:p>
            <a:pPr lvl="1" eaLnBrk="1" hangingPunct="1">
              <a:lnSpc>
                <a:spcPct val="80000"/>
              </a:lnSpc>
            </a:pPr>
            <a:r>
              <a:rPr kumimoji="1" lang="en-US" sz="2000" dirty="0" smtClean="0">
                <a:latin typeface="Times" pitchFamily="18" charset="0"/>
                <a:ea typeface="ＭＳ Ｐゴシック"/>
              </a:rPr>
              <a:t>Developing ways of fixing errors and problem which occur</a:t>
            </a:r>
          </a:p>
          <a:p>
            <a:pPr lvl="1" eaLnBrk="1" hangingPunct="1">
              <a:lnSpc>
                <a:spcPct val="80000"/>
              </a:lnSpc>
            </a:pPr>
            <a:r>
              <a:rPr kumimoji="1" lang="en-US" sz="2000" dirty="0" smtClean="0">
                <a:latin typeface="Times" pitchFamily="18" charset="0"/>
                <a:ea typeface="ＭＳ Ｐゴシック"/>
              </a:rPr>
              <a:t>Keeping track of and understanding how to use the enormous amount of knowledge which increases every year.</a:t>
            </a:r>
          </a:p>
          <a:p>
            <a:pPr lvl="1" eaLnBrk="1" hangingPunct="1">
              <a:lnSpc>
                <a:spcPct val="80000"/>
              </a:lnSpc>
              <a:buNone/>
            </a:pPr>
            <a:endParaRPr kumimoji="1" lang="en-US" sz="2000" dirty="0" smtClean="0">
              <a:latin typeface="Times" pitchFamily="18" charset="0"/>
              <a:ea typeface="ＭＳ Ｐゴシック"/>
            </a:endParaRPr>
          </a:p>
          <a:p>
            <a:pPr eaLnBrk="1" hangingPunct="1">
              <a:lnSpc>
                <a:spcPct val="80000"/>
              </a:lnSpc>
            </a:pPr>
            <a:endParaRPr kumimoji="1" lang="en-US" sz="2000" dirty="0" smtClean="0">
              <a:latin typeface="Times" pitchFamily="18" charset="0"/>
              <a:ea typeface="ＭＳ Ｐ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Principles of Network &amp; System Administration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058D54-8506-40FF-8553-9E28C601EFDE}" type="slidenum">
              <a:rPr lang="en-US" smtClean="0">
                <a:latin typeface="Times New Roman" pitchFamily="18" charset="0"/>
              </a:rPr>
              <a:pPr/>
              <a:t>9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kumimoji="1" lang="en-US" dirty="0" smtClean="0">
                <a:latin typeface="Times New Roman" pitchFamily="18" charset="0"/>
              </a:rPr>
              <a:t>The Challenges of system administration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algn="just" eaLnBrk="1" hangingPunct="1">
              <a:lnSpc>
                <a:spcPct val="80000"/>
              </a:lnSpc>
            </a:pPr>
            <a:r>
              <a:rPr kumimoji="1" lang="en-US" sz="2000" dirty="0" smtClean="0">
                <a:latin typeface="Times" pitchFamily="18" charset="0"/>
                <a:ea typeface="ＭＳ Ｐゴシック"/>
              </a:rPr>
              <a:t>System administrator also responsible for </a:t>
            </a:r>
            <a:r>
              <a:rPr kumimoji="1" lang="en-US" sz="2000" dirty="0" smtClean="0">
                <a:solidFill>
                  <a:srgbClr val="FF0000"/>
                </a:solidFill>
                <a:latin typeface="Times" pitchFamily="18" charset="0"/>
                <a:ea typeface="ＭＳ Ｐゴシック"/>
              </a:rPr>
              <a:t>both hardware of the network and the computers</a:t>
            </a:r>
            <a:r>
              <a:rPr kumimoji="1" lang="en-US" sz="2000" dirty="0" smtClean="0">
                <a:latin typeface="Times" pitchFamily="18" charset="0"/>
                <a:ea typeface="ＭＳ Ｐゴシック"/>
              </a:rPr>
              <a:t> which it connects. </a:t>
            </a:r>
          </a:p>
          <a:p>
            <a:pPr algn="just" eaLnBrk="1" hangingPunct="1">
              <a:lnSpc>
                <a:spcPct val="80000"/>
              </a:lnSpc>
            </a:pPr>
            <a:r>
              <a:rPr kumimoji="1" lang="en-US" sz="2000" dirty="0" smtClean="0">
                <a:latin typeface="Times" pitchFamily="18" charset="0"/>
                <a:ea typeface="ＭＳ Ｐゴシック"/>
              </a:rPr>
              <a:t>Also understanding of how </a:t>
            </a:r>
            <a:r>
              <a:rPr kumimoji="1" lang="en-US" sz="2000" dirty="0" smtClean="0">
                <a:solidFill>
                  <a:srgbClr val="FF0000"/>
                </a:solidFill>
                <a:latin typeface="Times" pitchFamily="18" charset="0"/>
                <a:ea typeface="ＭＳ Ｐゴシック"/>
              </a:rPr>
              <a:t>data  flow from machine to machine</a:t>
            </a:r>
            <a:r>
              <a:rPr kumimoji="1" lang="en-US" sz="2000" dirty="0" smtClean="0">
                <a:latin typeface="Times" pitchFamily="18" charset="0"/>
                <a:ea typeface="ＭＳ Ｐゴシック"/>
              </a:rPr>
              <a:t> and how machine affect each others</a:t>
            </a:r>
          </a:p>
          <a:p>
            <a:pPr algn="just" eaLnBrk="1" hangingPunct="1">
              <a:lnSpc>
                <a:spcPct val="80000"/>
              </a:lnSpc>
            </a:pPr>
            <a:endParaRPr kumimoji="1" lang="en-US" sz="2000" dirty="0" smtClean="0">
              <a:latin typeface="Times" pitchFamily="18" charset="0"/>
              <a:ea typeface="ＭＳ Ｐゴシック"/>
            </a:endParaRPr>
          </a:p>
          <a:p>
            <a:pPr algn="just" eaLnBrk="1" hangingPunct="1">
              <a:lnSpc>
                <a:spcPct val="80000"/>
              </a:lnSpc>
            </a:pPr>
            <a:r>
              <a:rPr kumimoji="1" lang="en-US" sz="2000" dirty="0" smtClean="0">
                <a:latin typeface="Times" pitchFamily="18" charset="0"/>
                <a:ea typeface="ＭＳ Ｐゴシック"/>
              </a:rPr>
              <a:t>There are three issues of  internationalization, or tailoring the input/output hardware and software to local languages : -</a:t>
            </a:r>
          </a:p>
          <a:p>
            <a:pPr lvl="1" algn="just" eaLnBrk="1" hangingPunct="1">
              <a:lnSpc>
                <a:spcPct val="80000"/>
              </a:lnSpc>
            </a:pPr>
            <a:r>
              <a:rPr kumimoji="1" lang="en-US" sz="2000" dirty="0" smtClean="0">
                <a:latin typeface="Times" pitchFamily="18" charset="0"/>
                <a:ea typeface="ＭＳ Ｐゴシック"/>
              </a:rPr>
              <a:t>Choice of keyboard, </a:t>
            </a:r>
            <a:r>
              <a:rPr kumimoji="1" lang="en-US" sz="2000" dirty="0" err="1" smtClean="0">
                <a:latin typeface="Times" pitchFamily="18" charset="0"/>
                <a:ea typeface="ＭＳ Ｐゴシック"/>
              </a:rPr>
              <a:t>eg</a:t>
            </a:r>
            <a:r>
              <a:rPr kumimoji="1" lang="en-US" sz="2000" dirty="0" smtClean="0">
                <a:latin typeface="Times" pitchFamily="18" charset="0"/>
                <a:ea typeface="ＭＳ Ｐゴシック"/>
              </a:rPr>
              <a:t> Thai, British, </a:t>
            </a:r>
            <a:r>
              <a:rPr kumimoji="1" lang="en-US" sz="2000" dirty="0" err="1" smtClean="0">
                <a:latin typeface="Times" pitchFamily="18" charset="0"/>
                <a:ea typeface="ＭＳ Ｐゴシック"/>
              </a:rPr>
              <a:t>German,etc</a:t>
            </a:r>
            <a:endParaRPr kumimoji="1" lang="en-US" sz="2000" dirty="0" smtClean="0">
              <a:latin typeface="Times" pitchFamily="18" charset="0"/>
              <a:ea typeface="ＭＳ Ｐゴシック"/>
            </a:endParaRPr>
          </a:p>
          <a:p>
            <a:pPr lvl="1" algn="just" eaLnBrk="1" hangingPunct="1">
              <a:lnSpc>
                <a:spcPct val="80000"/>
              </a:lnSpc>
            </a:pPr>
            <a:r>
              <a:rPr kumimoji="1" lang="en-US" sz="2000" dirty="0" smtClean="0">
                <a:latin typeface="Times" pitchFamily="18" charset="0"/>
                <a:ea typeface="ＭＳ Ｐゴシック"/>
              </a:rPr>
              <a:t>Font : Roman, </a:t>
            </a:r>
            <a:r>
              <a:rPr kumimoji="1" lang="en-US" sz="2000" dirty="0" err="1" smtClean="0">
                <a:latin typeface="Times" pitchFamily="18" charset="0"/>
                <a:ea typeface="ＭＳ Ｐゴシック"/>
              </a:rPr>
              <a:t>Cyrilic</a:t>
            </a:r>
            <a:r>
              <a:rPr kumimoji="1" lang="en-US" sz="2000" dirty="0" smtClean="0">
                <a:latin typeface="Times" pitchFamily="18" charset="0"/>
                <a:ea typeface="ＭＳ Ｐゴシック"/>
              </a:rPr>
              <a:t>, Greek, Persian, etc</a:t>
            </a:r>
          </a:p>
          <a:p>
            <a:pPr lvl="1" algn="just" eaLnBrk="1" hangingPunct="1">
              <a:lnSpc>
                <a:spcPct val="80000"/>
              </a:lnSpc>
            </a:pPr>
            <a:r>
              <a:rPr kumimoji="1" lang="en-US" sz="2000" dirty="0" smtClean="0">
                <a:latin typeface="Times" pitchFamily="18" charset="0"/>
                <a:ea typeface="ＭＳ Ｐゴシック"/>
              </a:rPr>
              <a:t>Translation of program text message.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Principles of Network &amp; System Administration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058D54-8506-40FF-8553-9E28C601EFDE}" type="slidenum">
              <a:rPr lang="en-US" smtClean="0">
                <a:latin typeface="Times New Roman" pitchFamily="18" charset="0"/>
              </a:rPr>
              <a:pPr/>
              <a:t>10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kumimoji="1" lang="en-US" dirty="0" smtClean="0">
                <a:latin typeface="Times New Roman" pitchFamily="18" charset="0"/>
              </a:rPr>
              <a:t>Common &amp; Good Practice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</a:pPr>
            <a:r>
              <a:rPr kumimoji="1" lang="en-US" sz="2800" dirty="0" smtClean="0">
                <a:latin typeface="Times" pitchFamily="18" charset="0"/>
                <a:ea typeface="ＭＳ Ｐゴシック"/>
              </a:rPr>
              <a:t>Its Common to speak  of “best practice” in system administration world.</a:t>
            </a:r>
          </a:p>
          <a:p>
            <a:pPr eaLnBrk="1" hangingPunct="1">
              <a:lnSpc>
                <a:spcPct val="80000"/>
              </a:lnSpc>
            </a:pPr>
            <a:endParaRPr kumimoji="1" lang="en-US" sz="2800" dirty="0" smtClean="0">
              <a:latin typeface="Times" pitchFamily="18" charset="0"/>
              <a:ea typeface="ＭＳ Ｐゴシック"/>
            </a:endParaRPr>
          </a:p>
          <a:p>
            <a:pPr lvl="1"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What sense is a best practice, who and when and how to evaluate it ?</a:t>
            </a:r>
          </a:p>
          <a:p>
            <a:pPr lvl="1" eaLnBrk="1" hangingPunct="1">
              <a:lnSpc>
                <a:spcPct val="80000"/>
              </a:lnSpc>
            </a:pPr>
            <a:endParaRPr kumimoji="1" lang="en-US" sz="2400" dirty="0" smtClean="0">
              <a:latin typeface="Times" pitchFamily="18" charset="0"/>
              <a:ea typeface="ＭＳ Ｐゴシック"/>
            </a:endParaRPr>
          </a:p>
          <a:p>
            <a:pPr eaLnBrk="1" hangingPunct="1">
              <a:lnSpc>
                <a:spcPct val="80000"/>
              </a:lnSpc>
            </a:pPr>
            <a:r>
              <a:rPr kumimoji="1" lang="en-US" sz="2800" dirty="0" smtClean="0">
                <a:latin typeface="Times" pitchFamily="18" charset="0"/>
                <a:ea typeface="ＭＳ Ｐゴシック"/>
              </a:rPr>
              <a:t>The good ideas is to see what others have done in the past but history has no the same story</a:t>
            </a:r>
          </a:p>
          <a:p>
            <a:pPr eaLnBrk="1" hangingPunct="1">
              <a:lnSpc>
                <a:spcPct val="80000"/>
              </a:lnSpc>
            </a:pPr>
            <a:endParaRPr kumimoji="1" lang="en-US" sz="2400" dirty="0" smtClean="0">
              <a:latin typeface="Times" pitchFamily="18" charset="0"/>
              <a:ea typeface="ＭＳ Ｐ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Principles of Network &amp; System Administration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058D54-8506-40FF-8553-9E28C601EFDE}" type="slidenum">
              <a:rPr lang="en-US" smtClean="0">
                <a:latin typeface="Times New Roman" pitchFamily="18" charset="0"/>
              </a:rPr>
              <a:pPr/>
              <a:t>11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kumimoji="1" lang="en-US" dirty="0" smtClean="0">
                <a:latin typeface="Times New Roman" pitchFamily="18" charset="0"/>
              </a:rPr>
              <a:t>Common &amp; Good Practice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marL="457200" lvl="1" indent="0" eaLnBrk="1" hangingPunct="1">
              <a:lnSpc>
                <a:spcPct val="80000"/>
              </a:lnSpc>
              <a:buNone/>
            </a:pPr>
            <a:r>
              <a:rPr kumimoji="1" lang="en-US" dirty="0">
                <a:latin typeface="Times" pitchFamily="18" charset="0"/>
                <a:ea typeface="ＭＳ Ｐゴシック"/>
                <a:cs typeface="+mn-cs"/>
              </a:rPr>
              <a:t>3 reason why idea catch on and every one does it</a:t>
            </a:r>
          </a:p>
          <a:p>
            <a:pPr lvl="1" eaLnBrk="1" hangingPunct="1">
              <a:lnSpc>
                <a:spcPct val="80000"/>
              </a:lnSpc>
            </a:pPr>
            <a:r>
              <a:rPr kumimoji="1" lang="en-US" dirty="0" smtClean="0">
                <a:latin typeface="Times" pitchFamily="18" charset="0"/>
                <a:ea typeface="ＭＳ Ｐゴシック"/>
              </a:rPr>
              <a:t>Someone did once – the idea was copied without  thinking and no one has about it.</a:t>
            </a:r>
          </a:p>
          <a:p>
            <a:pPr lvl="1" eaLnBrk="1" hangingPunct="1">
              <a:lnSpc>
                <a:spcPct val="80000"/>
              </a:lnSpc>
            </a:pPr>
            <a:r>
              <a:rPr kumimoji="1" lang="en-US" dirty="0" smtClean="0">
                <a:latin typeface="Times" pitchFamily="18" charset="0"/>
                <a:ea typeface="ＭＳ Ｐゴシック"/>
              </a:rPr>
              <a:t>Expert  have thought a lot about it and it really is the best solution.</a:t>
            </a:r>
          </a:p>
          <a:p>
            <a:pPr lvl="1" eaLnBrk="1" hangingPunct="1">
              <a:lnSpc>
                <a:spcPct val="80000"/>
              </a:lnSpc>
            </a:pPr>
            <a:r>
              <a:rPr kumimoji="1" lang="en-US" dirty="0" smtClean="0">
                <a:latin typeface="Times" pitchFamily="18" charset="0"/>
                <a:ea typeface="ＭＳ Ｐゴシック"/>
              </a:rPr>
              <a:t>An arbitrary choice had to be made and now it’s a matter convention.</a:t>
            </a:r>
          </a:p>
          <a:p>
            <a:pPr eaLnBrk="1" hangingPunct="1">
              <a:lnSpc>
                <a:spcPct val="80000"/>
              </a:lnSpc>
            </a:pPr>
            <a:endParaRPr kumimoji="1" lang="en-US" sz="2400" dirty="0" smtClean="0">
              <a:latin typeface="Times" pitchFamily="18" charset="0"/>
              <a:ea typeface="ＭＳ Ｐ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Principles of Network &amp; System Administration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058D54-8506-40FF-8553-9E28C601EFDE}" type="slidenum">
              <a:rPr lang="en-US" smtClean="0">
                <a:latin typeface="Times New Roman" pitchFamily="18" charset="0"/>
              </a:rPr>
              <a:pPr/>
              <a:t>12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kumimoji="1" lang="en-US" dirty="0" smtClean="0">
                <a:latin typeface="Times New Roman" pitchFamily="18" charset="0"/>
              </a:rPr>
              <a:t>Bug &amp; Emergent Phenomena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Operating systems &amp; program are full of bugs and emergent features that were not planned and designed for.</a:t>
            </a:r>
          </a:p>
          <a:p>
            <a:pPr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Tolerate with bugs is a matter of survival for system administrator</a:t>
            </a:r>
          </a:p>
          <a:p>
            <a:pPr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Bugs may come from:</a:t>
            </a:r>
          </a:p>
          <a:p>
            <a:pPr lvl="1"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Poor quality control in software or procedure</a:t>
            </a:r>
          </a:p>
          <a:p>
            <a:pPr lvl="1"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Problem in operating systems and their subsystems</a:t>
            </a:r>
          </a:p>
          <a:p>
            <a:pPr lvl="1"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Unfortunate clashes between incompatible software.  </a:t>
            </a:r>
            <a:r>
              <a:rPr kumimoji="1" lang="en-US" sz="2400" dirty="0" err="1" smtClean="0">
                <a:latin typeface="Times" pitchFamily="18" charset="0"/>
                <a:ea typeface="ＭＳ Ｐゴシック"/>
              </a:rPr>
              <a:t>Eg</a:t>
            </a:r>
            <a:r>
              <a:rPr kumimoji="1" lang="en-US" sz="2400" dirty="0" smtClean="0">
                <a:latin typeface="Times" pitchFamily="18" charset="0"/>
                <a:ea typeface="ＭＳ Ｐゴシック"/>
              </a:rPr>
              <a:t>: software package interfere with the operation of another.</a:t>
            </a:r>
          </a:p>
          <a:p>
            <a:pPr lvl="1"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Inexplicable phenomena, cosmic rays, viruses and other attacks</a:t>
            </a:r>
          </a:p>
          <a:p>
            <a:pPr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SA must be prepared to work around this uncertainties, no matter what reason for their existence 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324600" y="6394174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Principles of Network &amp; System Administration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058D54-8506-40FF-8553-9E28C601EFDE}" type="slidenum">
              <a:rPr lang="en-US" smtClean="0">
                <a:latin typeface="Times New Roman" pitchFamily="18" charset="0"/>
              </a:rPr>
              <a:pPr/>
              <a:t>13</a:t>
            </a:fld>
            <a:endParaRPr lang="en-US" smtClean="0">
              <a:latin typeface="Times New Roman" pitchFamily="18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kumimoji="1" lang="en-US" dirty="0" smtClean="0">
                <a:latin typeface="Times New Roman" pitchFamily="18" charset="0"/>
              </a:rPr>
              <a:t>The Meta Principle of System Administration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60463" y="2057400"/>
            <a:ext cx="7620000" cy="4114800"/>
          </a:xfrm>
        </p:spPr>
        <p:txBody>
          <a:bodyPr lIns="92075" tIns="46038" rIns="92075" bIns="46038"/>
          <a:lstStyle/>
          <a:p>
            <a:pPr algn="just" eaLnBrk="1" hangingPunct="1">
              <a:lnSpc>
                <a:spcPct val="80000"/>
              </a:lnSpc>
            </a:pPr>
            <a:r>
              <a:rPr kumimoji="1" lang="en-US" sz="2400" b="1" dirty="0" smtClean="0">
                <a:latin typeface="Times" pitchFamily="18" charset="0"/>
                <a:ea typeface="ＭＳ Ｐゴシック"/>
              </a:rPr>
              <a:t>Policy is foundation </a:t>
            </a:r>
            <a:r>
              <a:rPr kumimoji="1" lang="en-US" sz="2400" dirty="0" smtClean="0">
                <a:latin typeface="Times" pitchFamily="18" charset="0"/>
                <a:ea typeface="ＭＳ Ｐゴシック"/>
              </a:rPr>
              <a:t>– system administration begins with a policy – a decision about what we want and what should be, in relation to what can effort</a:t>
            </a:r>
          </a:p>
          <a:p>
            <a:pPr algn="just" eaLnBrk="1" hangingPunct="1">
              <a:lnSpc>
                <a:spcPct val="80000"/>
              </a:lnSpc>
            </a:pPr>
            <a:r>
              <a:rPr kumimoji="1" lang="en-US" sz="2400" b="1" dirty="0" smtClean="0">
                <a:latin typeface="Times" pitchFamily="18" charset="0"/>
                <a:ea typeface="ＭＳ Ｐゴシック"/>
              </a:rPr>
              <a:t>Predictability </a:t>
            </a:r>
            <a:r>
              <a:rPr kumimoji="1" lang="en-US" sz="2400" dirty="0" smtClean="0">
                <a:latin typeface="Times" pitchFamily="18" charset="0"/>
                <a:ea typeface="ＭＳ Ｐゴシック"/>
              </a:rPr>
              <a:t>– the highest level aim in system administration is to work towards a predictable system. Predictability has limits. It is the basis of reliability, hence trust and therefore security.</a:t>
            </a:r>
          </a:p>
          <a:p>
            <a:pPr algn="just" eaLnBrk="1" hangingPunct="1">
              <a:lnSpc>
                <a:spcPct val="80000"/>
              </a:lnSpc>
            </a:pPr>
            <a:r>
              <a:rPr kumimoji="1" lang="en-US" sz="2400" dirty="0" smtClean="0">
                <a:latin typeface="Times" pitchFamily="18" charset="0"/>
                <a:ea typeface="ＭＳ Ｐゴシック"/>
              </a:rPr>
              <a:t> </a:t>
            </a:r>
            <a:r>
              <a:rPr kumimoji="1" lang="en-US" sz="2400" b="1" dirty="0">
                <a:latin typeface="Times" pitchFamily="18" charset="0"/>
                <a:ea typeface="ＭＳ Ｐゴシック"/>
              </a:rPr>
              <a:t>S</a:t>
            </a:r>
            <a:r>
              <a:rPr kumimoji="1" lang="en-US" sz="2400" b="1" dirty="0" smtClean="0">
                <a:latin typeface="Times" pitchFamily="18" charset="0"/>
                <a:ea typeface="ＭＳ Ｐゴシック"/>
              </a:rPr>
              <a:t>calability</a:t>
            </a:r>
            <a:r>
              <a:rPr kumimoji="1" lang="en-US" sz="2400" dirty="0" smtClean="0">
                <a:latin typeface="Times" pitchFamily="18" charset="0"/>
                <a:ea typeface="ＭＳ Ｐゴシック"/>
              </a:rPr>
              <a:t> – scalable systems are those that grow in accordance with policy.  </a:t>
            </a:r>
            <a:r>
              <a:rPr kumimoji="1" lang="en-US" sz="2400" dirty="0" err="1" smtClean="0">
                <a:latin typeface="Times" pitchFamily="18" charset="0"/>
                <a:ea typeface="ＭＳ Ｐゴシック"/>
              </a:rPr>
              <a:t>Eg</a:t>
            </a:r>
            <a:r>
              <a:rPr kumimoji="1" lang="en-US" sz="2400" dirty="0" smtClean="0">
                <a:latin typeface="Times" pitchFamily="18" charset="0"/>
                <a:ea typeface="ＭＳ Ｐゴシック"/>
              </a:rPr>
              <a:t>: they continue to function predictably, even as they increase in size.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Principles of Network &amp; System Administration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otebook">
  <a:themeElements>
    <a:clrScheme name="Notebook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Notebook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11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111" charset="0"/>
          </a:defRPr>
        </a:defPPr>
      </a:lstStyle>
    </a:lnDef>
  </a:objectDefaults>
  <a:extraClrSchemeLst>
    <a:extraClrScheme>
      <a:clrScheme name="Notebook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book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book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2009</TotalTime>
  <Words>1070</Words>
  <Application>Microsoft Office PowerPoint</Application>
  <PresentationFormat>On-screen Show (4:3)</PresentationFormat>
  <Paragraphs>123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ＭＳ Ｐゴシック</vt:lpstr>
      <vt:lpstr>Arial</vt:lpstr>
      <vt:lpstr>Times</vt:lpstr>
      <vt:lpstr>Times New Roman</vt:lpstr>
      <vt:lpstr>Notebook</vt:lpstr>
      <vt:lpstr>Chapter 1: Introduction</vt:lpstr>
      <vt:lpstr>What is network &amp; system administration</vt:lpstr>
      <vt:lpstr>What is network &amp; system administration</vt:lpstr>
      <vt:lpstr>What is network &amp; system administration</vt:lpstr>
      <vt:lpstr>Applying Technology in an Environment</vt:lpstr>
      <vt:lpstr>Human Role in System</vt:lpstr>
      <vt:lpstr>Ethical Issues</vt:lpstr>
      <vt:lpstr>The Challenges of system administration</vt:lpstr>
      <vt:lpstr>The Challenges of system administration</vt:lpstr>
      <vt:lpstr>Common &amp; Good Practice</vt:lpstr>
      <vt:lpstr>Common &amp; Good Practice</vt:lpstr>
      <vt:lpstr>Bug &amp; Emergent Phenomena</vt:lpstr>
      <vt:lpstr>The Meta Principle of System Administration</vt:lpstr>
    </vt:vector>
  </TitlesOfParts>
  <Company>Rochester Institute of Technology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</dc:title>
  <dc:creator>Elizabeth Lane Lawley</dc:creator>
  <cp:lastModifiedBy>ADMIN</cp:lastModifiedBy>
  <cp:revision>140</cp:revision>
  <dcterms:created xsi:type="dcterms:W3CDTF">2008-10-09T16:38:00Z</dcterms:created>
  <dcterms:modified xsi:type="dcterms:W3CDTF">2020-09-09T02:31:25Z</dcterms:modified>
</cp:coreProperties>
</file>