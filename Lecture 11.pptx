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1280" y="4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11/25/2020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11/25/2020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11/25/2020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528815"/>
            <a:ext cx="9144000" cy="32918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9144000" cy="70103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23059" y="1985899"/>
            <a:ext cx="5897880" cy="422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56246" y="1757426"/>
            <a:ext cx="7273925" cy="2829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32.png"/><Relationship Id="rId2" Type="http://schemas.openxmlformats.org/officeDocument/2006/relationships/image" Target="../media/image10.png"/><Relationship Id="rId16" Type="http://schemas.openxmlformats.org/officeDocument/2006/relationships/image" Target="../media/image31.png"/><Relationship Id="rId20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27.png"/><Relationship Id="rId5" Type="http://schemas.openxmlformats.org/officeDocument/2006/relationships/image" Target="../media/image14.png"/><Relationship Id="rId15" Type="http://schemas.openxmlformats.org/officeDocument/2006/relationships/image" Target="../media/image30.png"/><Relationship Id="rId10" Type="http://schemas.openxmlformats.org/officeDocument/2006/relationships/image" Target="../media/image18.png"/><Relationship Id="rId19" Type="http://schemas.openxmlformats.org/officeDocument/2006/relationships/image" Target="../media/image34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7.png"/><Relationship Id="rId18" Type="http://schemas.openxmlformats.org/officeDocument/2006/relationships/image" Target="../media/image30.png"/><Relationship Id="rId3" Type="http://schemas.openxmlformats.org/officeDocument/2006/relationships/image" Target="../media/image11.png"/><Relationship Id="rId21" Type="http://schemas.openxmlformats.org/officeDocument/2006/relationships/image" Target="../media/image39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9.png"/><Relationship Id="rId2" Type="http://schemas.openxmlformats.org/officeDocument/2006/relationships/image" Target="../media/image10.png"/><Relationship Id="rId16" Type="http://schemas.openxmlformats.org/officeDocument/2006/relationships/image" Target="../media/image28.png"/><Relationship Id="rId20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27.png"/><Relationship Id="rId5" Type="http://schemas.openxmlformats.org/officeDocument/2006/relationships/image" Target="../media/image14.png"/><Relationship Id="rId15" Type="http://schemas.openxmlformats.org/officeDocument/2006/relationships/image" Target="../media/image9.png"/><Relationship Id="rId23" Type="http://schemas.openxmlformats.org/officeDocument/2006/relationships/image" Target="../media/image40.png"/><Relationship Id="rId10" Type="http://schemas.openxmlformats.org/officeDocument/2006/relationships/image" Target="../media/image18.png"/><Relationship Id="rId19" Type="http://schemas.openxmlformats.org/officeDocument/2006/relationships/image" Target="../media/image37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36.png"/><Relationship Id="rId22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41.png"/><Relationship Id="rId18" Type="http://schemas.openxmlformats.org/officeDocument/2006/relationships/image" Target="../media/image30.png"/><Relationship Id="rId3" Type="http://schemas.openxmlformats.org/officeDocument/2006/relationships/image" Target="../media/image11.png"/><Relationship Id="rId21" Type="http://schemas.openxmlformats.org/officeDocument/2006/relationships/image" Target="../media/image33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9.png"/><Relationship Id="rId2" Type="http://schemas.openxmlformats.org/officeDocument/2006/relationships/image" Target="../media/image10.png"/><Relationship Id="rId16" Type="http://schemas.openxmlformats.org/officeDocument/2006/relationships/image" Target="../media/image28.png"/><Relationship Id="rId20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9.png"/><Relationship Id="rId5" Type="http://schemas.openxmlformats.org/officeDocument/2006/relationships/image" Target="../media/image14.png"/><Relationship Id="rId15" Type="http://schemas.openxmlformats.org/officeDocument/2006/relationships/image" Target="../media/image43.png"/><Relationship Id="rId23" Type="http://schemas.openxmlformats.org/officeDocument/2006/relationships/image" Target="../media/image44.png"/><Relationship Id="rId10" Type="http://schemas.openxmlformats.org/officeDocument/2006/relationships/image" Target="../media/image18.png"/><Relationship Id="rId19" Type="http://schemas.openxmlformats.org/officeDocument/2006/relationships/image" Target="../media/image31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42.png"/><Relationship Id="rId22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3" Type="http://schemas.openxmlformats.org/officeDocument/2006/relationships/image" Target="../media/image11.png"/><Relationship Id="rId21" Type="http://schemas.openxmlformats.org/officeDocument/2006/relationships/image" Target="../media/image46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32.png"/><Relationship Id="rId2" Type="http://schemas.openxmlformats.org/officeDocument/2006/relationships/image" Target="../media/image10.png"/><Relationship Id="rId16" Type="http://schemas.openxmlformats.org/officeDocument/2006/relationships/image" Target="../media/image31.png"/><Relationship Id="rId20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9.png"/><Relationship Id="rId5" Type="http://schemas.openxmlformats.org/officeDocument/2006/relationships/image" Target="../media/image14.png"/><Relationship Id="rId15" Type="http://schemas.openxmlformats.org/officeDocument/2006/relationships/image" Target="../media/image30.png"/><Relationship Id="rId23" Type="http://schemas.openxmlformats.org/officeDocument/2006/relationships/image" Target="../media/image43.png"/><Relationship Id="rId10" Type="http://schemas.openxmlformats.org/officeDocument/2006/relationships/image" Target="../media/image18.png"/><Relationship Id="rId19" Type="http://schemas.openxmlformats.org/officeDocument/2006/relationships/image" Target="../media/image34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9.png"/><Relationship Id="rId22" Type="http://schemas.openxmlformats.org/officeDocument/2006/relationships/image" Target="../media/image4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jpg"/><Relationship Id="rId4" Type="http://schemas.openxmlformats.org/officeDocument/2006/relationships/image" Target="../media/image5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3999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90600" y="1985899"/>
            <a:ext cx="6530339" cy="4135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525010">
              <a:lnSpc>
                <a:spcPct val="100000"/>
              </a:lnSpc>
              <a:spcBef>
                <a:spcPts val="105"/>
              </a:spcBef>
            </a:pPr>
            <a:r>
              <a:rPr lang="en-US" dirty="0" smtClean="0"/>
              <a:t>Lecture 11</a:t>
            </a:r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4204208" y="2600070"/>
            <a:ext cx="3316604" cy="79883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657225" marR="5080" indent="-645160">
              <a:lnSpc>
                <a:spcPts val="2960"/>
              </a:lnSpc>
              <a:spcBef>
                <a:spcPts val="335"/>
              </a:spcBef>
            </a:pPr>
            <a:r>
              <a:rPr sz="2600" dirty="0">
                <a:latin typeface="Arial"/>
                <a:cs typeface="Arial"/>
              </a:rPr>
              <a:t>Implementing</a:t>
            </a:r>
            <a:r>
              <a:rPr sz="2600" spc="-6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Network  Access</a:t>
            </a:r>
            <a:r>
              <a:rPr sz="2600" spc="-8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Protection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26479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Verdana"/>
                <a:cs typeface="Verdana"/>
              </a:rPr>
              <a:t>Module</a:t>
            </a:r>
            <a:r>
              <a:rPr sz="2400" spc="-6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Overview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6328" y="946150"/>
            <a:ext cx="5186045" cy="1794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7960" indent="-175260">
              <a:lnSpc>
                <a:spcPct val="100000"/>
              </a:lnSpc>
              <a:spcBef>
                <a:spcPts val="10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Overview </a:t>
            </a:r>
            <a:r>
              <a:rPr sz="2000" dirty="0">
                <a:latin typeface="Verdana"/>
                <a:cs typeface="Verdana"/>
              </a:rPr>
              <a:t>of </a:t>
            </a:r>
            <a:r>
              <a:rPr sz="2000" spc="-5" dirty="0">
                <a:latin typeface="Verdana"/>
                <a:cs typeface="Verdana"/>
              </a:rPr>
              <a:t>Network </a:t>
            </a:r>
            <a:r>
              <a:rPr sz="2000" dirty="0">
                <a:latin typeface="Verdana"/>
                <a:cs typeface="Verdana"/>
              </a:rPr>
              <a:t>Access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Protection</a:t>
            </a:r>
            <a:endParaRPr sz="200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3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dirty="0">
                <a:latin typeface="Verdana"/>
                <a:cs typeface="Verdana"/>
              </a:rPr>
              <a:t>How NAP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Works</a:t>
            </a:r>
            <a:endParaRPr sz="200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4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Configuring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NAP</a:t>
            </a:r>
            <a:endParaRPr sz="200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40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Monitoring </a:t>
            </a:r>
            <a:r>
              <a:rPr sz="2000" dirty="0">
                <a:latin typeface="Verdana"/>
                <a:cs typeface="Verdana"/>
              </a:rPr>
              <a:t>and </a:t>
            </a:r>
            <a:r>
              <a:rPr sz="2000" spc="-5" dirty="0">
                <a:latin typeface="Verdana"/>
                <a:cs typeface="Verdana"/>
              </a:rPr>
              <a:t>Troubleshooting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NAP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76212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 smtClean="0">
                <a:latin typeface="Verdana"/>
                <a:cs typeface="Verdana"/>
              </a:rPr>
              <a:t>1</a:t>
            </a:r>
            <a:r>
              <a:rPr sz="2400" spc="-5" dirty="0">
                <a:latin typeface="Verdana"/>
                <a:cs typeface="Verdana"/>
              </a:rPr>
              <a:t>: </a:t>
            </a:r>
            <a:r>
              <a:rPr sz="2400" spc="-10" dirty="0">
                <a:latin typeface="Verdana"/>
                <a:cs typeface="Verdana"/>
              </a:rPr>
              <a:t>Overview </a:t>
            </a:r>
            <a:r>
              <a:rPr sz="2400" dirty="0">
                <a:latin typeface="Verdana"/>
                <a:cs typeface="Verdana"/>
              </a:rPr>
              <a:t>of </a:t>
            </a:r>
            <a:r>
              <a:rPr sz="2400" spc="-5" dirty="0">
                <a:latin typeface="Verdana"/>
                <a:cs typeface="Verdana"/>
              </a:rPr>
              <a:t>Network </a:t>
            </a:r>
            <a:r>
              <a:rPr sz="2400" dirty="0">
                <a:latin typeface="Verdana"/>
                <a:cs typeface="Verdana"/>
              </a:rPr>
              <a:t>Access</a:t>
            </a:r>
            <a:r>
              <a:rPr sz="2400" spc="9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Protection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6328" y="946150"/>
            <a:ext cx="4798060" cy="1794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7960" indent="-175260">
              <a:lnSpc>
                <a:spcPct val="100000"/>
              </a:lnSpc>
              <a:spcBef>
                <a:spcPts val="10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dirty="0">
                <a:latin typeface="Verdana"/>
                <a:cs typeface="Verdana"/>
              </a:rPr>
              <a:t>What Is </a:t>
            </a:r>
            <a:r>
              <a:rPr sz="2000" spc="-5" dirty="0">
                <a:latin typeface="Verdana"/>
                <a:cs typeface="Verdana"/>
              </a:rPr>
              <a:t>Network </a:t>
            </a:r>
            <a:r>
              <a:rPr sz="2000" dirty="0">
                <a:latin typeface="Verdana"/>
                <a:cs typeface="Verdana"/>
              </a:rPr>
              <a:t>Access</a:t>
            </a:r>
            <a:r>
              <a:rPr sz="2000" spc="-1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Protection?</a:t>
            </a:r>
            <a:endParaRPr sz="200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3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dirty="0">
                <a:latin typeface="Verdana"/>
                <a:cs typeface="Verdana"/>
              </a:rPr>
              <a:t>NAP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Scenarios</a:t>
            </a:r>
            <a:endParaRPr sz="200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4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NAP Enforcement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Methods</a:t>
            </a:r>
            <a:endParaRPr sz="200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40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NAP Platform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Architecture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55499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Verdana"/>
                <a:cs typeface="Verdana"/>
              </a:rPr>
              <a:t>What </a:t>
            </a:r>
            <a:r>
              <a:rPr sz="2400" spc="-10" dirty="0">
                <a:latin typeface="Verdana"/>
                <a:cs typeface="Verdana"/>
              </a:rPr>
              <a:t>Is </a:t>
            </a:r>
            <a:r>
              <a:rPr sz="2400" spc="-5" dirty="0">
                <a:latin typeface="Verdana"/>
                <a:cs typeface="Verdana"/>
              </a:rPr>
              <a:t>Network Access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Protection?</a:t>
            </a:r>
            <a:endParaRPr sz="2400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57200" y="1161288"/>
            <a:ext cx="8239125" cy="4607560"/>
            <a:chOff x="457200" y="1161288"/>
            <a:chExt cx="8239125" cy="4607560"/>
          </a:xfrm>
        </p:grpSpPr>
        <p:sp>
          <p:nvSpPr>
            <p:cNvPr id="4" name="object 4"/>
            <p:cNvSpPr/>
            <p:nvPr/>
          </p:nvSpPr>
          <p:spPr>
            <a:xfrm>
              <a:off x="483107" y="1187196"/>
              <a:ext cx="8212835" cy="458114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96823" y="1223772"/>
              <a:ext cx="4357116" cy="48310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61772" y="1165860"/>
              <a:ext cx="8200644" cy="456895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61772" y="1165860"/>
              <a:ext cx="8201025" cy="4569460"/>
            </a:xfrm>
            <a:custGeom>
              <a:avLst/>
              <a:gdLst/>
              <a:ahLst/>
              <a:cxnLst/>
              <a:rect l="l" t="t" r="r" b="b"/>
              <a:pathLst>
                <a:path w="8201025" h="4569460">
                  <a:moveTo>
                    <a:pt x="0" y="190373"/>
                  </a:moveTo>
                  <a:lnTo>
                    <a:pt x="5028" y="146717"/>
                  </a:lnTo>
                  <a:lnTo>
                    <a:pt x="19351" y="106644"/>
                  </a:lnTo>
                  <a:lnTo>
                    <a:pt x="41826" y="71297"/>
                  </a:lnTo>
                  <a:lnTo>
                    <a:pt x="71310" y="41817"/>
                  </a:lnTo>
                  <a:lnTo>
                    <a:pt x="106660" y="19346"/>
                  </a:lnTo>
                  <a:lnTo>
                    <a:pt x="146733" y="5027"/>
                  </a:lnTo>
                  <a:lnTo>
                    <a:pt x="190385" y="0"/>
                  </a:lnTo>
                  <a:lnTo>
                    <a:pt x="8010271" y="0"/>
                  </a:lnTo>
                  <a:lnTo>
                    <a:pt x="8053926" y="5027"/>
                  </a:lnTo>
                  <a:lnTo>
                    <a:pt x="8093999" y="19346"/>
                  </a:lnTo>
                  <a:lnTo>
                    <a:pt x="8129346" y="41817"/>
                  </a:lnTo>
                  <a:lnTo>
                    <a:pt x="8158826" y="71297"/>
                  </a:lnTo>
                  <a:lnTo>
                    <a:pt x="8181297" y="106644"/>
                  </a:lnTo>
                  <a:lnTo>
                    <a:pt x="8195616" y="146717"/>
                  </a:lnTo>
                  <a:lnTo>
                    <a:pt x="8200644" y="190373"/>
                  </a:lnTo>
                  <a:lnTo>
                    <a:pt x="8200644" y="4378579"/>
                  </a:lnTo>
                  <a:lnTo>
                    <a:pt x="8195616" y="4422226"/>
                  </a:lnTo>
                  <a:lnTo>
                    <a:pt x="8181297" y="4462296"/>
                  </a:lnTo>
                  <a:lnTo>
                    <a:pt x="8158826" y="4497643"/>
                  </a:lnTo>
                  <a:lnTo>
                    <a:pt x="8129346" y="4527126"/>
                  </a:lnTo>
                  <a:lnTo>
                    <a:pt x="8093999" y="4549600"/>
                  </a:lnTo>
                  <a:lnTo>
                    <a:pt x="8053926" y="4563923"/>
                  </a:lnTo>
                  <a:lnTo>
                    <a:pt x="8010271" y="4568952"/>
                  </a:lnTo>
                  <a:lnTo>
                    <a:pt x="190385" y="4568952"/>
                  </a:lnTo>
                  <a:lnTo>
                    <a:pt x="146733" y="4563923"/>
                  </a:lnTo>
                  <a:lnTo>
                    <a:pt x="106660" y="4549600"/>
                  </a:lnTo>
                  <a:lnTo>
                    <a:pt x="71310" y="4527126"/>
                  </a:lnTo>
                  <a:lnTo>
                    <a:pt x="41826" y="4497643"/>
                  </a:lnTo>
                  <a:lnTo>
                    <a:pt x="19351" y="4462296"/>
                  </a:lnTo>
                  <a:lnTo>
                    <a:pt x="5028" y="4422226"/>
                  </a:lnTo>
                  <a:lnTo>
                    <a:pt x="0" y="4378579"/>
                  </a:lnTo>
                  <a:lnTo>
                    <a:pt x="0" y="190373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43711" y="1661160"/>
              <a:ext cx="7637145" cy="547370"/>
            </a:xfrm>
            <a:custGeom>
              <a:avLst/>
              <a:gdLst/>
              <a:ahLst/>
              <a:cxnLst/>
              <a:rect l="l" t="t" r="r" b="b"/>
              <a:pathLst>
                <a:path w="7637145" h="547369">
                  <a:moveTo>
                    <a:pt x="7613904" y="0"/>
                  </a:moveTo>
                  <a:lnTo>
                    <a:pt x="22796" y="0"/>
                  </a:lnTo>
                  <a:lnTo>
                    <a:pt x="13924" y="1785"/>
                  </a:lnTo>
                  <a:lnTo>
                    <a:pt x="6678" y="6667"/>
                  </a:lnTo>
                  <a:lnTo>
                    <a:pt x="1792" y="13930"/>
                  </a:lnTo>
                  <a:lnTo>
                    <a:pt x="0" y="22860"/>
                  </a:lnTo>
                  <a:lnTo>
                    <a:pt x="0" y="524255"/>
                  </a:lnTo>
                  <a:lnTo>
                    <a:pt x="1792" y="533185"/>
                  </a:lnTo>
                  <a:lnTo>
                    <a:pt x="6678" y="540448"/>
                  </a:lnTo>
                  <a:lnTo>
                    <a:pt x="13924" y="545330"/>
                  </a:lnTo>
                  <a:lnTo>
                    <a:pt x="22796" y="547115"/>
                  </a:lnTo>
                  <a:lnTo>
                    <a:pt x="7613904" y="547115"/>
                  </a:lnTo>
                  <a:lnTo>
                    <a:pt x="7622833" y="545330"/>
                  </a:lnTo>
                  <a:lnTo>
                    <a:pt x="7630096" y="540448"/>
                  </a:lnTo>
                  <a:lnTo>
                    <a:pt x="7634978" y="533185"/>
                  </a:lnTo>
                  <a:lnTo>
                    <a:pt x="7636763" y="524255"/>
                  </a:lnTo>
                  <a:lnTo>
                    <a:pt x="7636763" y="22860"/>
                  </a:lnTo>
                  <a:lnTo>
                    <a:pt x="7634978" y="13930"/>
                  </a:lnTo>
                  <a:lnTo>
                    <a:pt x="7630096" y="6667"/>
                  </a:lnTo>
                  <a:lnTo>
                    <a:pt x="7622833" y="1785"/>
                  </a:lnTo>
                  <a:lnTo>
                    <a:pt x="7613904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43711" y="1661160"/>
              <a:ext cx="7637145" cy="547370"/>
            </a:xfrm>
            <a:custGeom>
              <a:avLst/>
              <a:gdLst/>
              <a:ahLst/>
              <a:cxnLst/>
              <a:rect l="l" t="t" r="r" b="b"/>
              <a:pathLst>
                <a:path w="7637145" h="547369">
                  <a:moveTo>
                    <a:pt x="0" y="22860"/>
                  </a:moveTo>
                  <a:lnTo>
                    <a:pt x="1792" y="13930"/>
                  </a:lnTo>
                  <a:lnTo>
                    <a:pt x="6678" y="6667"/>
                  </a:lnTo>
                  <a:lnTo>
                    <a:pt x="13924" y="1785"/>
                  </a:lnTo>
                  <a:lnTo>
                    <a:pt x="22796" y="0"/>
                  </a:lnTo>
                  <a:lnTo>
                    <a:pt x="7613904" y="0"/>
                  </a:lnTo>
                  <a:lnTo>
                    <a:pt x="7622833" y="1785"/>
                  </a:lnTo>
                  <a:lnTo>
                    <a:pt x="7630096" y="6667"/>
                  </a:lnTo>
                  <a:lnTo>
                    <a:pt x="7634978" y="13930"/>
                  </a:lnTo>
                  <a:lnTo>
                    <a:pt x="7636763" y="22860"/>
                  </a:lnTo>
                  <a:lnTo>
                    <a:pt x="7636763" y="524255"/>
                  </a:lnTo>
                  <a:lnTo>
                    <a:pt x="7634978" y="533185"/>
                  </a:lnTo>
                  <a:lnTo>
                    <a:pt x="7630096" y="540448"/>
                  </a:lnTo>
                  <a:lnTo>
                    <a:pt x="7622833" y="545330"/>
                  </a:lnTo>
                  <a:lnTo>
                    <a:pt x="7613904" y="547115"/>
                  </a:lnTo>
                  <a:lnTo>
                    <a:pt x="22796" y="547115"/>
                  </a:lnTo>
                  <a:lnTo>
                    <a:pt x="13924" y="545330"/>
                  </a:lnTo>
                  <a:lnTo>
                    <a:pt x="6678" y="540448"/>
                  </a:lnTo>
                  <a:lnTo>
                    <a:pt x="1792" y="533185"/>
                  </a:lnTo>
                  <a:lnTo>
                    <a:pt x="0" y="524255"/>
                  </a:lnTo>
                  <a:lnTo>
                    <a:pt x="0" y="22860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43711" y="2353055"/>
              <a:ext cx="7637145" cy="547370"/>
            </a:xfrm>
            <a:custGeom>
              <a:avLst/>
              <a:gdLst/>
              <a:ahLst/>
              <a:cxnLst/>
              <a:rect l="l" t="t" r="r" b="b"/>
              <a:pathLst>
                <a:path w="7637145" h="547369">
                  <a:moveTo>
                    <a:pt x="7613904" y="0"/>
                  </a:moveTo>
                  <a:lnTo>
                    <a:pt x="22796" y="0"/>
                  </a:lnTo>
                  <a:lnTo>
                    <a:pt x="13924" y="1785"/>
                  </a:lnTo>
                  <a:lnTo>
                    <a:pt x="6678" y="6667"/>
                  </a:lnTo>
                  <a:lnTo>
                    <a:pt x="1792" y="13930"/>
                  </a:lnTo>
                  <a:lnTo>
                    <a:pt x="0" y="22860"/>
                  </a:lnTo>
                  <a:lnTo>
                    <a:pt x="0" y="524256"/>
                  </a:lnTo>
                  <a:lnTo>
                    <a:pt x="1792" y="533185"/>
                  </a:lnTo>
                  <a:lnTo>
                    <a:pt x="6678" y="540448"/>
                  </a:lnTo>
                  <a:lnTo>
                    <a:pt x="13924" y="545330"/>
                  </a:lnTo>
                  <a:lnTo>
                    <a:pt x="22796" y="547116"/>
                  </a:lnTo>
                  <a:lnTo>
                    <a:pt x="7613904" y="547116"/>
                  </a:lnTo>
                  <a:lnTo>
                    <a:pt x="7622833" y="545330"/>
                  </a:lnTo>
                  <a:lnTo>
                    <a:pt x="7630096" y="540448"/>
                  </a:lnTo>
                  <a:lnTo>
                    <a:pt x="7634978" y="533185"/>
                  </a:lnTo>
                  <a:lnTo>
                    <a:pt x="7636763" y="524256"/>
                  </a:lnTo>
                  <a:lnTo>
                    <a:pt x="7636763" y="22860"/>
                  </a:lnTo>
                  <a:lnTo>
                    <a:pt x="7634978" y="13930"/>
                  </a:lnTo>
                  <a:lnTo>
                    <a:pt x="7630096" y="6667"/>
                  </a:lnTo>
                  <a:lnTo>
                    <a:pt x="7622833" y="1785"/>
                  </a:lnTo>
                  <a:lnTo>
                    <a:pt x="7613904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43711" y="2353055"/>
              <a:ext cx="7637145" cy="547370"/>
            </a:xfrm>
            <a:custGeom>
              <a:avLst/>
              <a:gdLst/>
              <a:ahLst/>
              <a:cxnLst/>
              <a:rect l="l" t="t" r="r" b="b"/>
              <a:pathLst>
                <a:path w="7637145" h="547369">
                  <a:moveTo>
                    <a:pt x="0" y="22860"/>
                  </a:moveTo>
                  <a:lnTo>
                    <a:pt x="1792" y="13930"/>
                  </a:lnTo>
                  <a:lnTo>
                    <a:pt x="6678" y="6667"/>
                  </a:lnTo>
                  <a:lnTo>
                    <a:pt x="13924" y="1785"/>
                  </a:lnTo>
                  <a:lnTo>
                    <a:pt x="22796" y="0"/>
                  </a:lnTo>
                  <a:lnTo>
                    <a:pt x="7613904" y="0"/>
                  </a:lnTo>
                  <a:lnTo>
                    <a:pt x="7622833" y="1785"/>
                  </a:lnTo>
                  <a:lnTo>
                    <a:pt x="7630096" y="6667"/>
                  </a:lnTo>
                  <a:lnTo>
                    <a:pt x="7634978" y="13930"/>
                  </a:lnTo>
                  <a:lnTo>
                    <a:pt x="7636763" y="22860"/>
                  </a:lnTo>
                  <a:lnTo>
                    <a:pt x="7636763" y="524256"/>
                  </a:lnTo>
                  <a:lnTo>
                    <a:pt x="7634978" y="533185"/>
                  </a:lnTo>
                  <a:lnTo>
                    <a:pt x="7630096" y="540448"/>
                  </a:lnTo>
                  <a:lnTo>
                    <a:pt x="7622833" y="545330"/>
                  </a:lnTo>
                  <a:lnTo>
                    <a:pt x="7613904" y="547116"/>
                  </a:lnTo>
                  <a:lnTo>
                    <a:pt x="22796" y="547116"/>
                  </a:lnTo>
                  <a:lnTo>
                    <a:pt x="13924" y="545330"/>
                  </a:lnTo>
                  <a:lnTo>
                    <a:pt x="6678" y="540448"/>
                  </a:lnTo>
                  <a:lnTo>
                    <a:pt x="1792" y="533185"/>
                  </a:lnTo>
                  <a:lnTo>
                    <a:pt x="0" y="524256"/>
                  </a:lnTo>
                  <a:lnTo>
                    <a:pt x="0" y="22860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46759" y="3054095"/>
              <a:ext cx="7637145" cy="631190"/>
            </a:xfrm>
            <a:custGeom>
              <a:avLst/>
              <a:gdLst/>
              <a:ahLst/>
              <a:cxnLst/>
              <a:rect l="l" t="t" r="r" b="b"/>
              <a:pathLst>
                <a:path w="7637145" h="631189">
                  <a:moveTo>
                    <a:pt x="7610475" y="0"/>
                  </a:moveTo>
                  <a:lnTo>
                    <a:pt x="26289" y="0"/>
                  </a:lnTo>
                  <a:lnTo>
                    <a:pt x="16057" y="2071"/>
                  </a:lnTo>
                  <a:lnTo>
                    <a:pt x="7700" y="7715"/>
                  </a:lnTo>
                  <a:lnTo>
                    <a:pt x="2066" y="16073"/>
                  </a:lnTo>
                  <a:lnTo>
                    <a:pt x="0" y="26288"/>
                  </a:lnTo>
                  <a:lnTo>
                    <a:pt x="0" y="604646"/>
                  </a:lnTo>
                  <a:lnTo>
                    <a:pt x="2066" y="614862"/>
                  </a:lnTo>
                  <a:lnTo>
                    <a:pt x="7700" y="623220"/>
                  </a:lnTo>
                  <a:lnTo>
                    <a:pt x="16057" y="628864"/>
                  </a:lnTo>
                  <a:lnTo>
                    <a:pt x="26289" y="630935"/>
                  </a:lnTo>
                  <a:lnTo>
                    <a:pt x="7610475" y="630935"/>
                  </a:lnTo>
                  <a:lnTo>
                    <a:pt x="7620690" y="628864"/>
                  </a:lnTo>
                  <a:lnTo>
                    <a:pt x="7629048" y="623220"/>
                  </a:lnTo>
                  <a:lnTo>
                    <a:pt x="7634692" y="614862"/>
                  </a:lnTo>
                  <a:lnTo>
                    <a:pt x="7636764" y="604646"/>
                  </a:lnTo>
                  <a:lnTo>
                    <a:pt x="7636764" y="26288"/>
                  </a:lnTo>
                  <a:lnTo>
                    <a:pt x="7634692" y="16073"/>
                  </a:lnTo>
                  <a:lnTo>
                    <a:pt x="7629048" y="7715"/>
                  </a:lnTo>
                  <a:lnTo>
                    <a:pt x="7620690" y="2071"/>
                  </a:lnTo>
                  <a:lnTo>
                    <a:pt x="7610475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46759" y="3054095"/>
              <a:ext cx="7637145" cy="631190"/>
            </a:xfrm>
            <a:custGeom>
              <a:avLst/>
              <a:gdLst/>
              <a:ahLst/>
              <a:cxnLst/>
              <a:rect l="l" t="t" r="r" b="b"/>
              <a:pathLst>
                <a:path w="7637145" h="631189">
                  <a:moveTo>
                    <a:pt x="0" y="26288"/>
                  </a:moveTo>
                  <a:lnTo>
                    <a:pt x="2066" y="16073"/>
                  </a:lnTo>
                  <a:lnTo>
                    <a:pt x="7700" y="7715"/>
                  </a:lnTo>
                  <a:lnTo>
                    <a:pt x="16057" y="2071"/>
                  </a:lnTo>
                  <a:lnTo>
                    <a:pt x="26289" y="0"/>
                  </a:lnTo>
                  <a:lnTo>
                    <a:pt x="7610475" y="0"/>
                  </a:lnTo>
                  <a:lnTo>
                    <a:pt x="7620690" y="2071"/>
                  </a:lnTo>
                  <a:lnTo>
                    <a:pt x="7629048" y="7715"/>
                  </a:lnTo>
                  <a:lnTo>
                    <a:pt x="7634692" y="16073"/>
                  </a:lnTo>
                  <a:lnTo>
                    <a:pt x="7636764" y="26288"/>
                  </a:lnTo>
                  <a:lnTo>
                    <a:pt x="7636764" y="604646"/>
                  </a:lnTo>
                  <a:lnTo>
                    <a:pt x="7634692" y="614862"/>
                  </a:lnTo>
                  <a:lnTo>
                    <a:pt x="7629048" y="623220"/>
                  </a:lnTo>
                  <a:lnTo>
                    <a:pt x="7620690" y="628864"/>
                  </a:lnTo>
                  <a:lnTo>
                    <a:pt x="7610475" y="630935"/>
                  </a:lnTo>
                  <a:lnTo>
                    <a:pt x="26289" y="630935"/>
                  </a:lnTo>
                  <a:lnTo>
                    <a:pt x="16057" y="628864"/>
                  </a:lnTo>
                  <a:lnTo>
                    <a:pt x="7700" y="623220"/>
                  </a:lnTo>
                  <a:lnTo>
                    <a:pt x="2066" y="614862"/>
                  </a:lnTo>
                  <a:lnTo>
                    <a:pt x="0" y="604646"/>
                  </a:lnTo>
                  <a:lnTo>
                    <a:pt x="0" y="26288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39140" y="4279392"/>
              <a:ext cx="7638415" cy="548640"/>
            </a:xfrm>
            <a:custGeom>
              <a:avLst/>
              <a:gdLst/>
              <a:ahLst/>
              <a:cxnLst/>
              <a:rect l="l" t="t" r="r" b="b"/>
              <a:pathLst>
                <a:path w="7638415" h="548639">
                  <a:moveTo>
                    <a:pt x="7615428" y="0"/>
                  </a:moveTo>
                  <a:lnTo>
                    <a:pt x="22859" y="0"/>
                  </a:lnTo>
                  <a:lnTo>
                    <a:pt x="13962" y="1803"/>
                  </a:lnTo>
                  <a:lnTo>
                    <a:pt x="6696" y="6715"/>
                  </a:lnTo>
                  <a:lnTo>
                    <a:pt x="1796" y="13983"/>
                  </a:lnTo>
                  <a:lnTo>
                    <a:pt x="0" y="22859"/>
                  </a:lnTo>
                  <a:lnTo>
                    <a:pt x="0" y="525779"/>
                  </a:lnTo>
                  <a:lnTo>
                    <a:pt x="1796" y="534656"/>
                  </a:lnTo>
                  <a:lnTo>
                    <a:pt x="6696" y="541924"/>
                  </a:lnTo>
                  <a:lnTo>
                    <a:pt x="13962" y="546836"/>
                  </a:lnTo>
                  <a:lnTo>
                    <a:pt x="22859" y="548639"/>
                  </a:lnTo>
                  <a:lnTo>
                    <a:pt x="7615428" y="548639"/>
                  </a:lnTo>
                  <a:lnTo>
                    <a:pt x="7624304" y="546836"/>
                  </a:lnTo>
                  <a:lnTo>
                    <a:pt x="7631572" y="541924"/>
                  </a:lnTo>
                  <a:lnTo>
                    <a:pt x="7636484" y="534656"/>
                  </a:lnTo>
                  <a:lnTo>
                    <a:pt x="7638287" y="525779"/>
                  </a:lnTo>
                  <a:lnTo>
                    <a:pt x="7638287" y="22859"/>
                  </a:lnTo>
                  <a:lnTo>
                    <a:pt x="7636484" y="13983"/>
                  </a:lnTo>
                  <a:lnTo>
                    <a:pt x="7631572" y="6715"/>
                  </a:lnTo>
                  <a:lnTo>
                    <a:pt x="7624304" y="1803"/>
                  </a:lnTo>
                  <a:lnTo>
                    <a:pt x="7615428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39140" y="4279392"/>
              <a:ext cx="7638415" cy="548640"/>
            </a:xfrm>
            <a:custGeom>
              <a:avLst/>
              <a:gdLst/>
              <a:ahLst/>
              <a:cxnLst/>
              <a:rect l="l" t="t" r="r" b="b"/>
              <a:pathLst>
                <a:path w="7638415" h="548639">
                  <a:moveTo>
                    <a:pt x="0" y="22859"/>
                  </a:moveTo>
                  <a:lnTo>
                    <a:pt x="1796" y="13983"/>
                  </a:lnTo>
                  <a:lnTo>
                    <a:pt x="6696" y="6715"/>
                  </a:lnTo>
                  <a:lnTo>
                    <a:pt x="13962" y="1803"/>
                  </a:lnTo>
                  <a:lnTo>
                    <a:pt x="22859" y="0"/>
                  </a:lnTo>
                  <a:lnTo>
                    <a:pt x="7615428" y="0"/>
                  </a:lnTo>
                  <a:lnTo>
                    <a:pt x="7624304" y="1803"/>
                  </a:lnTo>
                  <a:lnTo>
                    <a:pt x="7631572" y="6715"/>
                  </a:lnTo>
                  <a:lnTo>
                    <a:pt x="7636484" y="13983"/>
                  </a:lnTo>
                  <a:lnTo>
                    <a:pt x="7638287" y="22859"/>
                  </a:lnTo>
                  <a:lnTo>
                    <a:pt x="7638287" y="525779"/>
                  </a:lnTo>
                  <a:lnTo>
                    <a:pt x="7636484" y="534656"/>
                  </a:lnTo>
                  <a:lnTo>
                    <a:pt x="7631572" y="541924"/>
                  </a:lnTo>
                  <a:lnTo>
                    <a:pt x="7624304" y="546836"/>
                  </a:lnTo>
                  <a:lnTo>
                    <a:pt x="7615428" y="548639"/>
                  </a:lnTo>
                  <a:lnTo>
                    <a:pt x="22859" y="548639"/>
                  </a:lnTo>
                  <a:lnTo>
                    <a:pt x="13962" y="546836"/>
                  </a:lnTo>
                  <a:lnTo>
                    <a:pt x="6696" y="541924"/>
                  </a:lnTo>
                  <a:lnTo>
                    <a:pt x="1796" y="534656"/>
                  </a:lnTo>
                  <a:lnTo>
                    <a:pt x="0" y="525779"/>
                  </a:lnTo>
                  <a:lnTo>
                    <a:pt x="0" y="22859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39140" y="4972811"/>
              <a:ext cx="7638415" cy="547370"/>
            </a:xfrm>
            <a:custGeom>
              <a:avLst/>
              <a:gdLst/>
              <a:ahLst/>
              <a:cxnLst/>
              <a:rect l="l" t="t" r="r" b="b"/>
              <a:pathLst>
                <a:path w="7638415" h="547370">
                  <a:moveTo>
                    <a:pt x="7615555" y="0"/>
                  </a:moveTo>
                  <a:lnTo>
                    <a:pt x="22796" y="0"/>
                  </a:lnTo>
                  <a:lnTo>
                    <a:pt x="13924" y="1783"/>
                  </a:lnTo>
                  <a:lnTo>
                    <a:pt x="6678" y="6651"/>
                  </a:lnTo>
                  <a:lnTo>
                    <a:pt x="1792" y="13876"/>
                  </a:lnTo>
                  <a:lnTo>
                    <a:pt x="0" y="22732"/>
                  </a:lnTo>
                  <a:lnTo>
                    <a:pt x="0" y="524256"/>
                  </a:lnTo>
                  <a:lnTo>
                    <a:pt x="1792" y="533185"/>
                  </a:lnTo>
                  <a:lnTo>
                    <a:pt x="6678" y="540448"/>
                  </a:lnTo>
                  <a:lnTo>
                    <a:pt x="13924" y="545330"/>
                  </a:lnTo>
                  <a:lnTo>
                    <a:pt x="22796" y="547116"/>
                  </a:lnTo>
                  <a:lnTo>
                    <a:pt x="7615555" y="547116"/>
                  </a:lnTo>
                  <a:lnTo>
                    <a:pt x="7624411" y="545330"/>
                  </a:lnTo>
                  <a:lnTo>
                    <a:pt x="7631636" y="540448"/>
                  </a:lnTo>
                  <a:lnTo>
                    <a:pt x="7636504" y="533185"/>
                  </a:lnTo>
                  <a:lnTo>
                    <a:pt x="7638287" y="524256"/>
                  </a:lnTo>
                  <a:lnTo>
                    <a:pt x="7638287" y="22732"/>
                  </a:lnTo>
                  <a:lnTo>
                    <a:pt x="7636504" y="13876"/>
                  </a:lnTo>
                  <a:lnTo>
                    <a:pt x="7631636" y="6651"/>
                  </a:lnTo>
                  <a:lnTo>
                    <a:pt x="7624411" y="1783"/>
                  </a:lnTo>
                  <a:lnTo>
                    <a:pt x="7615555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39140" y="4972811"/>
              <a:ext cx="7638415" cy="547370"/>
            </a:xfrm>
            <a:custGeom>
              <a:avLst/>
              <a:gdLst/>
              <a:ahLst/>
              <a:cxnLst/>
              <a:rect l="l" t="t" r="r" b="b"/>
              <a:pathLst>
                <a:path w="7638415" h="547370">
                  <a:moveTo>
                    <a:pt x="0" y="22732"/>
                  </a:moveTo>
                  <a:lnTo>
                    <a:pt x="1792" y="13876"/>
                  </a:lnTo>
                  <a:lnTo>
                    <a:pt x="6678" y="6651"/>
                  </a:lnTo>
                  <a:lnTo>
                    <a:pt x="13924" y="1783"/>
                  </a:lnTo>
                  <a:lnTo>
                    <a:pt x="22796" y="0"/>
                  </a:lnTo>
                  <a:lnTo>
                    <a:pt x="7615555" y="0"/>
                  </a:lnTo>
                  <a:lnTo>
                    <a:pt x="7624411" y="1783"/>
                  </a:lnTo>
                  <a:lnTo>
                    <a:pt x="7631636" y="6651"/>
                  </a:lnTo>
                  <a:lnTo>
                    <a:pt x="7636504" y="13876"/>
                  </a:lnTo>
                  <a:lnTo>
                    <a:pt x="7638287" y="22732"/>
                  </a:lnTo>
                  <a:lnTo>
                    <a:pt x="7638287" y="524256"/>
                  </a:lnTo>
                  <a:lnTo>
                    <a:pt x="7636504" y="533185"/>
                  </a:lnTo>
                  <a:lnTo>
                    <a:pt x="7631636" y="540448"/>
                  </a:lnTo>
                  <a:lnTo>
                    <a:pt x="7624411" y="545330"/>
                  </a:lnTo>
                  <a:lnTo>
                    <a:pt x="7615555" y="547116"/>
                  </a:lnTo>
                  <a:lnTo>
                    <a:pt x="22796" y="547116"/>
                  </a:lnTo>
                  <a:lnTo>
                    <a:pt x="13924" y="545330"/>
                  </a:lnTo>
                  <a:lnTo>
                    <a:pt x="6678" y="540448"/>
                  </a:lnTo>
                  <a:lnTo>
                    <a:pt x="1792" y="533185"/>
                  </a:lnTo>
                  <a:lnTo>
                    <a:pt x="0" y="524256"/>
                  </a:lnTo>
                  <a:lnTo>
                    <a:pt x="0" y="22732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88975" y="1252854"/>
            <a:ext cx="7769225" cy="41294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Verdana"/>
                <a:cs typeface="Verdana"/>
              </a:rPr>
              <a:t>Network </a:t>
            </a:r>
            <a:r>
              <a:rPr sz="1800" b="1" spc="-5" dirty="0">
                <a:latin typeface="Verdana"/>
                <a:cs typeface="Verdana"/>
              </a:rPr>
              <a:t>Access Protection</a:t>
            </a:r>
            <a:r>
              <a:rPr sz="1800" b="1" spc="5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can:</a:t>
            </a:r>
            <a:endParaRPr sz="1800">
              <a:latin typeface="Verdana"/>
              <a:cs typeface="Verdana"/>
            </a:endParaRPr>
          </a:p>
          <a:p>
            <a:pPr marL="422909" indent="-171450">
              <a:lnSpc>
                <a:spcPct val="100000"/>
              </a:lnSpc>
              <a:spcBef>
                <a:spcPts val="1910"/>
              </a:spcBef>
              <a:buClr>
                <a:srgbClr val="006699"/>
              </a:buClr>
              <a:buFont typeface="Verdana"/>
              <a:buChar char="•"/>
              <a:tabLst>
                <a:tab pos="423545" algn="l"/>
              </a:tabLst>
            </a:pPr>
            <a:r>
              <a:rPr sz="1800" b="1" spc="-5" dirty="0">
                <a:latin typeface="Verdana"/>
                <a:cs typeface="Verdana"/>
              </a:rPr>
              <a:t>Enforce health-requirement </a:t>
            </a:r>
            <a:r>
              <a:rPr sz="1800" b="1" spc="-10" dirty="0">
                <a:latin typeface="Verdana"/>
                <a:cs typeface="Verdana"/>
              </a:rPr>
              <a:t>policies </a:t>
            </a:r>
            <a:r>
              <a:rPr sz="1800" b="1" dirty="0">
                <a:latin typeface="Verdana"/>
                <a:cs typeface="Verdana"/>
              </a:rPr>
              <a:t>on </a:t>
            </a:r>
            <a:r>
              <a:rPr sz="1800" b="1" spc="-5" dirty="0">
                <a:latin typeface="Verdana"/>
                <a:cs typeface="Verdana"/>
              </a:rPr>
              <a:t>client</a:t>
            </a:r>
            <a:r>
              <a:rPr sz="1800" b="1" spc="9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computers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006699"/>
              </a:buClr>
              <a:buFont typeface="Verdana"/>
              <a:buChar char="•"/>
            </a:pPr>
            <a:endParaRPr sz="2700">
              <a:latin typeface="Verdana"/>
              <a:cs typeface="Verdana"/>
            </a:endParaRPr>
          </a:p>
          <a:p>
            <a:pPr marL="422909" indent="-171450">
              <a:lnSpc>
                <a:spcPct val="100000"/>
              </a:lnSpc>
              <a:spcBef>
                <a:spcPts val="5"/>
              </a:spcBef>
              <a:buClr>
                <a:srgbClr val="006699"/>
              </a:buClr>
              <a:buFont typeface="Verdana"/>
              <a:buChar char="•"/>
              <a:tabLst>
                <a:tab pos="423545" algn="l"/>
              </a:tabLst>
            </a:pPr>
            <a:r>
              <a:rPr sz="1800" b="1" spc="-5" dirty="0">
                <a:latin typeface="Verdana"/>
                <a:cs typeface="Verdana"/>
              </a:rPr>
              <a:t>Ensure client computers </a:t>
            </a:r>
            <a:r>
              <a:rPr sz="1800" b="1" dirty="0">
                <a:latin typeface="Verdana"/>
                <a:cs typeface="Verdana"/>
              </a:rPr>
              <a:t>are </a:t>
            </a:r>
            <a:r>
              <a:rPr sz="1800" b="1" spc="-5" dirty="0">
                <a:latin typeface="Verdana"/>
                <a:cs typeface="Verdana"/>
              </a:rPr>
              <a:t>compliant with</a:t>
            </a:r>
            <a:r>
              <a:rPr sz="1800" b="1" spc="50" dirty="0">
                <a:latin typeface="Verdana"/>
                <a:cs typeface="Verdana"/>
              </a:rPr>
              <a:t> </a:t>
            </a:r>
            <a:r>
              <a:rPr sz="1800" b="1" spc="-10" dirty="0">
                <a:latin typeface="Verdana"/>
                <a:cs typeface="Verdana"/>
              </a:rPr>
              <a:t>policies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006699"/>
              </a:buClr>
              <a:buFont typeface="Verdana"/>
              <a:buChar char="•"/>
            </a:pPr>
            <a:endParaRPr sz="2400">
              <a:latin typeface="Verdana"/>
              <a:cs typeface="Verdana"/>
            </a:endParaRPr>
          </a:p>
          <a:p>
            <a:pPr marL="426720" marR="589280" indent="-170815">
              <a:lnSpc>
                <a:spcPts val="1939"/>
              </a:lnSpc>
              <a:spcBef>
                <a:spcPts val="5"/>
              </a:spcBef>
              <a:buClr>
                <a:srgbClr val="006699"/>
              </a:buClr>
              <a:buFont typeface="Verdana"/>
              <a:buChar char="•"/>
              <a:tabLst>
                <a:tab pos="427355" algn="l"/>
              </a:tabLst>
            </a:pPr>
            <a:r>
              <a:rPr sz="1800" b="1" spc="-5" dirty="0">
                <a:latin typeface="Verdana"/>
                <a:cs typeface="Verdana"/>
              </a:rPr>
              <a:t>Offer remediation support for computers </a:t>
            </a:r>
            <a:r>
              <a:rPr sz="1800" b="1" dirty="0">
                <a:latin typeface="Verdana"/>
                <a:cs typeface="Verdana"/>
              </a:rPr>
              <a:t>that </a:t>
            </a:r>
            <a:r>
              <a:rPr sz="1800" b="1" spc="-5" dirty="0">
                <a:latin typeface="Verdana"/>
                <a:cs typeface="Verdana"/>
              </a:rPr>
              <a:t>do not  meet health</a:t>
            </a:r>
            <a:r>
              <a:rPr sz="1800" b="1" spc="2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requirements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006699"/>
              </a:buClr>
              <a:buFont typeface="Verdana"/>
              <a:buChar char="•"/>
            </a:pP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Verdana"/>
                <a:cs typeface="Verdana"/>
              </a:rPr>
              <a:t>Network </a:t>
            </a:r>
            <a:r>
              <a:rPr sz="1800" b="1" spc="-5" dirty="0">
                <a:latin typeface="Verdana"/>
                <a:cs typeface="Verdana"/>
              </a:rPr>
              <a:t>Access Protection</a:t>
            </a:r>
            <a:r>
              <a:rPr sz="1800" b="1" spc="4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cannot:</a:t>
            </a:r>
            <a:endParaRPr sz="1800">
              <a:latin typeface="Verdana"/>
              <a:cs typeface="Verdana"/>
            </a:endParaRPr>
          </a:p>
          <a:p>
            <a:pPr marL="419734" indent="-171450">
              <a:lnSpc>
                <a:spcPct val="100000"/>
              </a:lnSpc>
              <a:spcBef>
                <a:spcPts val="1770"/>
              </a:spcBef>
              <a:buClr>
                <a:srgbClr val="006699"/>
              </a:buClr>
              <a:buFont typeface="Verdana"/>
              <a:buChar char="•"/>
              <a:tabLst>
                <a:tab pos="420370" algn="l"/>
              </a:tabLst>
            </a:pPr>
            <a:r>
              <a:rPr sz="1800" b="1" spc="-5" dirty="0">
                <a:latin typeface="Verdana"/>
                <a:cs typeface="Verdana"/>
              </a:rPr>
              <a:t>Enforce health requirement policies </a:t>
            </a:r>
            <a:r>
              <a:rPr sz="1800" b="1" dirty="0">
                <a:latin typeface="Verdana"/>
                <a:cs typeface="Verdana"/>
              </a:rPr>
              <a:t>on </a:t>
            </a:r>
            <a:r>
              <a:rPr sz="1800" b="1" spc="-5" dirty="0">
                <a:latin typeface="Verdana"/>
                <a:cs typeface="Verdana"/>
              </a:rPr>
              <a:t>client</a:t>
            </a:r>
            <a:r>
              <a:rPr sz="1800" b="1" spc="4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computers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006699"/>
              </a:buClr>
              <a:buFont typeface="Verdana"/>
              <a:buChar char="•"/>
            </a:pPr>
            <a:endParaRPr sz="2700">
              <a:latin typeface="Verdana"/>
              <a:cs typeface="Verdana"/>
            </a:endParaRPr>
          </a:p>
          <a:p>
            <a:pPr marL="419734" indent="-171450">
              <a:lnSpc>
                <a:spcPct val="100000"/>
              </a:lnSpc>
              <a:buClr>
                <a:srgbClr val="006699"/>
              </a:buClr>
              <a:buFont typeface="Verdana"/>
              <a:buChar char="•"/>
              <a:tabLst>
                <a:tab pos="420370" algn="l"/>
              </a:tabLst>
            </a:pPr>
            <a:r>
              <a:rPr sz="1800" b="1" spc="-5" dirty="0">
                <a:latin typeface="Verdana"/>
                <a:cs typeface="Verdana"/>
              </a:rPr>
              <a:t>Ensure client computers </a:t>
            </a:r>
            <a:r>
              <a:rPr sz="1800" b="1" dirty="0">
                <a:latin typeface="Verdana"/>
                <a:cs typeface="Verdana"/>
              </a:rPr>
              <a:t>are </a:t>
            </a:r>
            <a:r>
              <a:rPr sz="1800" b="1" spc="-5" dirty="0">
                <a:latin typeface="Verdana"/>
                <a:cs typeface="Verdana"/>
              </a:rPr>
              <a:t>compliant with</a:t>
            </a:r>
            <a:r>
              <a:rPr sz="1800" b="1" spc="50" dirty="0">
                <a:latin typeface="Verdana"/>
                <a:cs typeface="Verdana"/>
              </a:rPr>
              <a:t> </a:t>
            </a:r>
            <a:r>
              <a:rPr sz="1800" b="1" spc="-10" dirty="0">
                <a:latin typeface="Verdana"/>
                <a:cs typeface="Verdana"/>
              </a:rPr>
              <a:t>policies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2235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Verdana"/>
                <a:cs typeface="Verdana"/>
              </a:rPr>
              <a:t>NAP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Scenarios</a:t>
            </a:r>
            <a:endParaRPr sz="2400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74129" y="1196149"/>
            <a:ext cx="8624570" cy="4326890"/>
            <a:chOff x="274129" y="1196149"/>
            <a:chExt cx="8624570" cy="4326890"/>
          </a:xfrm>
        </p:grpSpPr>
        <p:sp>
          <p:nvSpPr>
            <p:cNvPr id="4" name="object 4"/>
            <p:cNvSpPr/>
            <p:nvPr/>
          </p:nvSpPr>
          <p:spPr>
            <a:xfrm>
              <a:off x="300227" y="1222247"/>
              <a:ext cx="8598408" cy="430072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10895" y="1255775"/>
              <a:ext cx="5489448" cy="48310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78891" y="1200911"/>
              <a:ext cx="8586216" cy="428853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8891" y="1200911"/>
              <a:ext cx="8586470" cy="4288790"/>
            </a:xfrm>
            <a:custGeom>
              <a:avLst/>
              <a:gdLst/>
              <a:ahLst/>
              <a:cxnLst/>
              <a:rect l="l" t="t" r="r" b="b"/>
              <a:pathLst>
                <a:path w="8586470" h="4288790">
                  <a:moveTo>
                    <a:pt x="0" y="178688"/>
                  </a:moveTo>
                  <a:lnTo>
                    <a:pt x="6383" y="131189"/>
                  </a:lnTo>
                  <a:lnTo>
                    <a:pt x="24398" y="88504"/>
                  </a:lnTo>
                  <a:lnTo>
                    <a:pt x="52341" y="52339"/>
                  </a:lnTo>
                  <a:lnTo>
                    <a:pt x="88508" y="24398"/>
                  </a:lnTo>
                  <a:lnTo>
                    <a:pt x="131196" y="6383"/>
                  </a:lnTo>
                  <a:lnTo>
                    <a:pt x="178701" y="0"/>
                  </a:lnTo>
                  <a:lnTo>
                    <a:pt x="8407527" y="0"/>
                  </a:lnTo>
                  <a:lnTo>
                    <a:pt x="8455026" y="6383"/>
                  </a:lnTo>
                  <a:lnTo>
                    <a:pt x="8497711" y="24398"/>
                  </a:lnTo>
                  <a:lnTo>
                    <a:pt x="8533876" y="52339"/>
                  </a:lnTo>
                  <a:lnTo>
                    <a:pt x="8561817" y="88504"/>
                  </a:lnTo>
                  <a:lnTo>
                    <a:pt x="8579832" y="131189"/>
                  </a:lnTo>
                  <a:lnTo>
                    <a:pt x="8586216" y="178688"/>
                  </a:lnTo>
                  <a:lnTo>
                    <a:pt x="8586216" y="4109847"/>
                  </a:lnTo>
                  <a:lnTo>
                    <a:pt x="8579832" y="4157346"/>
                  </a:lnTo>
                  <a:lnTo>
                    <a:pt x="8561817" y="4200031"/>
                  </a:lnTo>
                  <a:lnTo>
                    <a:pt x="8533876" y="4236196"/>
                  </a:lnTo>
                  <a:lnTo>
                    <a:pt x="8497711" y="4264137"/>
                  </a:lnTo>
                  <a:lnTo>
                    <a:pt x="8455026" y="4282152"/>
                  </a:lnTo>
                  <a:lnTo>
                    <a:pt x="8407527" y="4288536"/>
                  </a:lnTo>
                  <a:lnTo>
                    <a:pt x="178701" y="4288536"/>
                  </a:lnTo>
                  <a:lnTo>
                    <a:pt x="131196" y="4282152"/>
                  </a:lnTo>
                  <a:lnTo>
                    <a:pt x="88508" y="4264137"/>
                  </a:lnTo>
                  <a:lnTo>
                    <a:pt x="52341" y="4236196"/>
                  </a:lnTo>
                  <a:lnTo>
                    <a:pt x="24398" y="4200031"/>
                  </a:lnTo>
                  <a:lnTo>
                    <a:pt x="6383" y="4157346"/>
                  </a:lnTo>
                  <a:lnTo>
                    <a:pt x="0" y="4109847"/>
                  </a:lnTo>
                  <a:lnTo>
                    <a:pt x="0" y="178688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2751" y="1760219"/>
              <a:ext cx="7772400" cy="777240"/>
            </a:xfrm>
            <a:custGeom>
              <a:avLst/>
              <a:gdLst/>
              <a:ahLst/>
              <a:cxnLst/>
              <a:rect l="l" t="t" r="r" b="b"/>
              <a:pathLst>
                <a:path w="7772400" h="777239">
                  <a:moveTo>
                    <a:pt x="7740015" y="0"/>
                  </a:moveTo>
                  <a:lnTo>
                    <a:pt x="32385" y="0"/>
                  </a:lnTo>
                  <a:lnTo>
                    <a:pt x="19781" y="2541"/>
                  </a:lnTo>
                  <a:lnTo>
                    <a:pt x="9486" y="9477"/>
                  </a:lnTo>
                  <a:lnTo>
                    <a:pt x="2545" y="19770"/>
                  </a:lnTo>
                  <a:lnTo>
                    <a:pt x="0" y="32384"/>
                  </a:lnTo>
                  <a:lnTo>
                    <a:pt x="0" y="744854"/>
                  </a:lnTo>
                  <a:lnTo>
                    <a:pt x="2545" y="757469"/>
                  </a:lnTo>
                  <a:lnTo>
                    <a:pt x="9486" y="767762"/>
                  </a:lnTo>
                  <a:lnTo>
                    <a:pt x="19781" y="774698"/>
                  </a:lnTo>
                  <a:lnTo>
                    <a:pt x="32385" y="777239"/>
                  </a:lnTo>
                  <a:lnTo>
                    <a:pt x="7740015" y="777239"/>
                  </a:lnTo>
                  <a:lnTo>
                    <a:pt x="7752629" y="774698"/>
                  </a:lnTo>
                  <a:lnTo>
                    <a:pt x="7762922" y="767762"/>
                  </a:lnTo>
                  <a:lnTo>
                    <a:pt x="7769858" y="757469"/>
                  </a:lnTo>
                  <a:lnTo>
                    <a:pt x="7772400" y="744854"/>
                  </a:lnTo>
                  <a:lnTo>
                    <a:pt x="7772400" y="32384"/>
                  </a:lnTo>
                  <a:lnTo>
                    <a:pt x="7769858" y="19770"/>
                  </a:lnTo>
                  <a:lnTo>
                    <a:pt x="7762922" y="9477"/>
                  </a:lnTo>
                  <a:lnTo>
                    <a:pt x="7752629" y="2541"/>
                  </a:lnTo>
                  <a:lnTo>
                    <a:pt x="7740015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82751" y="1760219"/>
              <a:ext cx="7772400" cy="777240"/>
            </a:xfrm>
            <a:custGeom>
              <a:avLst/>
              <a:gdLst/>
              <a:ahLst/>
              <a:cxnLst/>
              <a:rect l="l" t="t" r="r" b="b"/>
              <a:pathLst>
                <a:path w="7772400" h="777239">
                  <a:moveTo>
                    <a:pt x="0" y="32384"/>
                  </a:moveTo>
                  <a:lnTo>
                    <a:pt x="2545" y="19770"/>
                  </a:lnTo>
                  <a:lnTo>
                    <a:pt x="9486" y="9477"/>
                  </a:lnTo>
                  <a:lnTo>
                    <a:pt x="19781" y="2541"/>
                  </a:lnTo>
                  <a:lnTo>
                    <a:pt x="32385" y="0"/>
                  </a:lnTo>
                  <a:lnTo>
                    <a:pt x="7740015" y="0"/>
                  </a:lnTo>
                  <a:lnTo>
                    <a:pt x="7752629" y="2541"/>
                  </a:lnTo>
                  <a:lnTo>
                    <a:pt x="7762922" y="9477"/>
                  </a:lnTo>
                  <a:lnTo>
                    <a:pt x="7769858" y="19770"/>
                  </a:lnTo>
                  <a:lnTo>
                    <a:pt x="7772400" y="32384"/>
                  </a:lnTo>
                  <a:lnTo>
                    <a:pt x="7772400" y="744854"/>
                  </a:lnTo>
                  <a:lnTo>
                    <a:pt x="7769858" y="757469"/>
                  </a:lnTo>
                  <a:lnTo>
                    <a:pt x="7762922" y="767762"/>
                  </a:lnTo>
                  <a:lnTo>
                    <a:pt x="7752629" y="774698"/>
                  </a:lnTo>
                  <a:lnTo>
                    <a:pt x="7740015" y="777239"/>
                  </a:lnTo>
                  <a:lnTo>
                    <a:pt x="32385" y="777239"/>
                  </a:lnTo>
                  <a:lnTo>
                    <a:pt x="19781" y="774698"/>
                  </a:lnTo>
                  <a:lnTo>
                    <a:pt x="9486" y="767762"/>
                  </a:lnTo>
                  <a:lnTo>
                    <a:pt x="2545" y="757469"/>
                  </a:lnTo>
                  <a:lnTo>
                    <a:pt x="0" y="744854"/>
                  </a:lnTo>
                  <a:lnTo>
                    <a:pt x="0" y="32384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10667" y="1284478"/>
            <a:ext cx="5240020" cy="985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Verdana"/>
                <a:cs typeface="Verdana"/>
              </a:rPr>
              <a:t>NAP helps </a:t>
            </a:r>
            <a:r>
              <a:rPr sz="1800" b="1" dirty="0">
                <a:latin typeface="Verdana"/>
                <a:cs typeface="Verdana"/>
              </a:rPr>
              <a:t>you </a:t>
            </a:r>
            <a:r>
              <a:rPr sz="1800" b="1" spc="-5" dirty="0">
                <a:latin typeface="Verdana"/>
                <a:cs typeface="Verdana"/>
              </a:rPr>
              <a:t>verify </a:t>
            </a:r>
            <a:r>
              <a:rPr sz="1800" b="1" dirty="0">
                <a:latin typeface="Verdana"/>
                <a:cs typeface="Verdana"/>
              </a:rPr>
              <a:t>the </a:t>
            </a:r>
            <a:r>
              <a:rPr sz="1800" b="1" spc="-5" dirty="0">
                <a:latin typeface="Verdana"/>
                <a:cs typeface="Verdana"/>
              </a:rPr>
              <a:t>health state</a:t>
            </a:r>
            <a:r>
              <a:rPr sz="1800" b="1" spc="40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of: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850">
              <a:latin typeface="Verdana"/>
              <a:cs typeface="Verdana"/>
            </a:endParaRPr>
          </a:p>
          <a:p>
            <a:pPr marL="601345" indent="-229235">
              <a:lnSpc>
                <a:spcPct val="100000"/>
              </a:lnSpc>
              <a:buClr>
                <a:srgbClr val="006699"/>
              </a:buClr>
              <a:buFont typeface="Verdana"/>
              <a:buChar char="•"/>
              <a:tabLst>
                <a:tab pos="601980" algn="l"/>
              </a:tabLst>
            </a:pPr>
            <a:r>
              <a:rPr sz="1600" b="1" spc="-10" dirty="0">
                <a:latin typeface="Verdana"/>
                <a:cs typeface="Verdana"/>
              </a:rPr>
              <a:t>Roaming</a:t>
            </a:r>
            <a:r>
              <a:rPr sz="1600" b="1" spc="20" dirty="0">
                <a:latin typeface="Verdana"/>
                <a:cs typeface="Verdana"/>
              </a:rPr>
              <a:t> </a:t>
            </a:r>
            <a:r>
              <a:rPr sz="1600" b="1" spc="-5" dirty="0">
                <a:latin typeface="Verdana"/>
                <a:cs typeface="Verdana"/>
              </a:rPr>
              <a:t>laptops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77989" y="2642425"/>
            <a:ext cx="7781925" cy="785495"/>
            <a:chOff x="677989" y="2642425"/>
            <a:chExt cx="7781925" cy="785495"/>
          </a:xfrm>
        </p:grpSpPr>
        <p:sp>
          <p:nvSpPr>
            <p:cNvPr id="12" name="object 12"/>
            <p:cNvSpPr/>
            <p:nvPr/>
          </p:nvSpPr>
          <p:spPr>
            <a:xfrm>
              <a:off x="682751" y="2647188"/>
              <a:ext cx="7772400" cy="775970"/>
            </a:xfrm>
            <a:custGeom>
              <a:avLst/>
              <a:gdLst/>
              <a:ahLst/>
              <a:cxnLst/>
              <a:rect l="l" t="t" r="r" b="b"/>
              <a:pathLst>
                <a:path w="7772400" h="775970">
                  <a:moveTo>
                    <a:pt x="7740015" y="0"/>
                  </a:moveTo>
                  <a:lnTo>
                    <a:pt x="32321" y="0"/>
                  </a:lnTo>
                  <a:lnTo>
                    <a:pt x="19743" y="2541"/>
                  </a:lnTo>
                  <a:lnTo>
                    <a:pt x="9469" y="9477"/>
                  </a:lnTo>
                  <a:lnTo>
                    <a:pt x="2540" y="19770"/>
                  </a:lnTo>
                  <a:lnTo>
                    <a:pt x="0" y="32385"/>
                  </a:lnTo>
                  <a:lnTo>
                    <a:pt x="0" y="743331"/>
                  </a:lnTo>
                  <a:lnTo>
                    <a:pt x="2540" y="755945"/>
                  </a:lnTo>
                  <a:lnTo>
                    <a:pt x="9469" y="766238"/>
                  </a:lnTo>
                  <a:lnTo>
                    <a:pt x="19743" y="773174"/>
                  </a:lnTo>
                  <a:lnTo>
                    <a:pt x="32321" y="775715"/>
                  </a:lnTo>
                  <a:lnTo>
                    <a:pt x="7740015" y="775715"/>
                  </a:lnTo>
                  <a:lnTo>
                    <a:pt x="7752629" y="773174"/>
                  </a:lnTo>
                  <a:lnTo>
                    <a:pt x="7762922" y="766238"/>
                  </a:lnTo>
                  <a:lnTo>
                    <a:pt x="7769858" y="755945"/>
                  </a:lnTo>
                  <a:lnTo>
                    <a:pt x="7772400" y="743331"/>
                  </a:lnTo>
                  <a:lnTo>
                    <a:pt x="7772400" y="32385"/>
                  </a:lnTo>
                  <a:lnTo>
                    <a:pt x="7769858" y="19770"/>
                  </a:lnTo>
                  <a:lnTo>
                    <a:pt x="7762922" y="9477"/>
                  </a:lnTo>
                  <a:lnTo>
                    <a:pt x="7752629" y="2541"/>
                  </a:lnTo>
                  <a:lnTo>
                    <a:pt x="7740015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82751" y="2647188"/>
              <a:ext cx="7772400" cy="775970"/>
            </a:xfrm>
            <a:custGeom>
              <a:avLst/>
              <a:gdLst/>
              <a:ahLst/>
              <a:cxnLst/>
              <a:rect l="l" t="t" r="r" b="b"/>
              <a:pathLst>
                <a:path w="7772400" h="775970">
                  <a:moveTo>
                    <a:pt x="0" y="32385"/>
                  </a:moveTo>
                  <a:lnTo>
                    <a:pt x="2540" y="19770"/>
                  </a:lnTo>
                  <a:lnTo>
                    <a:pt x="9469" y="9477"/>
                  </a:lnTo>
                  <a:lnTo>
                    <a:pt x="19743" y="2541"/>
                  </a:lnTo>
                  <a:lnTo>
                    <a:pt x="32321" y="0"/>
                  </a:lnTo>
                  <a:lnTo>
                    <a:pt x="7740015" y="0"/>
                  </a:lnTo>
                  <a:lnTo>
                    <a:pt x="7752629" y="2541"/>
                  </a:lnTo>
                  <a:lnTo>
                    <a:pt x="7762922" y="9477"/>
                  </a:lnTo>
                  <a:lnTo>
                    <a:pt x="7769858" y="19770"/>
                  </a:lnTo>
                  <a:lnTo>
                    <a:pt x="7772400" y="32385"/>
                  </a:lnTo>
                  <a:lnTo>
                    <a:pt x="7772400" y="743331"/>
                  </a:lnTo>
                  <a:lnTo>
                    <a:pt x="7769858" y="755945"/>
                  </a:lnTo>
                  <a:lnTo>
                    <a:pt x="7762922" y="766238"/>
                  </a:lnTo>
                  <a:lnTo>
                    <a:pt x="7752629" y="773174"/>
                  </a:lnTo>
                  <a:lnTo>
                    <a:pt x="7740015" y="775715"/>
                  </a:lnTo>
                  <a:lnTo>
                    <a:pt x="32321" y="775715"/>
                  </a:lnTo>
                  <a:lnTo>
                    <a:pt x="19743" y="773174"/>
                  </a:lnTo>
                  <a:lnTo>
                    <a:pt x="9469" y="766238"/>
                  </a:lnTo>
                  <a:lnTo>
                    <a:pt x="2540" y="755945"/>
                  </a:lnTo>
                  <a:lnTo>
                    <a:pt x="0" y="743331"/>
                  </a:lnTo>
                  <a:lnTo>
                    <a:pt x="0" y="32385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70940" y="2887217"/>
            <a:ext cx="24650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Clr>
                <a:srgbClr val="006699"/>
              </a:buClr>
              <a:buFont typeface="Verdana"/>
              <a:buChar char="•"/>
              <a:tabLst>
                <a:tab pos="241300" algn="l"/>
              </a:tabLst>
            </a:pPr>
            <a:r>
              <a:rPr sz="1600" b="1" spc="-10" dirty="0">
                <a:latin typeface="Verdana"/>
                <a:cs typeface="Verdana"/>
              </a:rPr>
              <a:t>Desktop</a:t>
            </a:r>
            <a:r>
              <a:rPr sz="1600" b="1" spc="-45" dirty="0">
                <a:latin typeface="Verdana"/>
                <a:cs typeface="Verdana"/>
              </a:rPr>
              <a:t> </a:t>
            </a:r>
            <a:r>
              <a:rPr sz="1600" b="1" spc="-5" dirty="0">
                <a:latin typeface="Verdana"/>
                <a:cs typeface="Verdana"/>
              </a:rPr>
              <a:t>computers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74941" y="3527869"/>
            <a:ext cx="7781925" cy="785495"/>
            <a:chOff x="674941" y="3527869"/>
            <a:chExt cx="7781925" cy="785495"/>
          </a:xfrm>
        </p:grpSpPr>
        <p:sp>
          <p:nvSpPr>
            <p:cNvPr id="16" name="object 16"/>
            <p:cNvSpPr/>
            <p:nvPr/>
          </p:nvSpPr>
          <p:spPr>
            <a:xfrm>
              <a:off x="679704" y="3532632"/>
              <a:ext cx="7772400" cy="775970"/>
            </a:xfrm>
            <a:custGeom>
              <a:avLst/>
              <a:gdLst/>
              <a:ahLst/>
              <a:cxnLst/>
              <a:rect l="l" t="t" r="r" b="b"/>
              <a:pathLst>
                <a:path w="7772400" h="775970">
                  <a:moveTo>
                    <a:pt x="7740015" y="0"/>
                  </a:moveTo>
                  <a:lnTo>
                    <a:pt x="32321" y="0"/>
                  </a:lnTo>
                  <a:lnTo>
                    <a:pt x="19743" y="2541"/>
                  </a:lnTo>
                  <a:lnTo>
                    <a:pt x="9469" y="9477"/>
                  </a:lnTo>
                  <a:lnTo>
                    <a:pt x="2540" y="19770"/>
                  </a:lnTo>
                  <a:lnTo>
                    <a:pt x="0" y="32384"/>
                  </a:lnTo>
                  <a:lnTo>
                    <a:pt x="0" y="743330"/>
                  </a:lnTo>
                  <a:lnTo>
                    <a:pt x="2540" y="755945"/>
                  </a:lnTo>
                  <a:lnTo>
                    <a:pt x="9469" y="766238"/>
                  </a:lnTo>
                  <a:lnTo>
                    <a:pt x="19743" y="773174"/>
                  </a:lnTo>
                  <a:lnTo>
                    <a:pt x="32321" y="775715"/>
                  </a:lnTo>
                  <a:lnTo>
                    <a:pt x="7740015" y="775715"/>
                  </a:lnTo>
                  <a:lnTo>
                    <a:pt x="7752629" y="773174"/>
                  </a:lnTo>
                  <a:lnTo>
                    <a:pt x="7762922" y="766238"/>
                  </a:lnTo>
                  <a:lnTo>
                    <a:pt x="7769858" y="755945"/>
                  </a:lnTo>
                  <a:lnTo>
                    <a:pt x="7772400" y="743330"/>
                  </a:lnTo>
                  <a:lnTo>
                    <a:pt x="7772400" y="32384"/>
                  </a:lnTo>
                  <a:lnTo>
                    <a:pt x="7769858" y="19770"/>
                  </a:lnTo>
                  <a:lnTo>
                    <a:pt x="7762922" y="9477"/>
                  </a:lnTo>
                  <a:lnTo>
                    <a:pt x="7752629" y="2541"/>
                  </a:lnTo>
                  <a:lnTo>
                    <a:pt x="7740015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79704" y="3532632"/>
              <a:ext cx="7772400" cy="775970"/>
            </a:xfrm>
            <a:custGeom>
              <a:avLst/>
              <a:gdLst/>
              <a:ahLst/>
              <a:cxnLst/>
              <a:rect l="l" t="t" r="r" b="b"/>
              <a:pathLst>
                <a:path w="7772400" h="775970">
                  <a:moveTo>
                    <a:pt x="0" y="32384"/>
                  </a:moveTo>
                  <a:lnTo>
                    <a:pt x="2540" y="19770"/>
                  </a:lnTo>
                  <a:lnTo>
                    <a:pt x="9469" y="9477"/>
                  </a:lnTo>
                  <a:lnTo>
                    <a:pt x="19743" y="2541"/>
                  </a:lnTo>
                  <a:lnTo>
                    <a:pt x="32321" y="0"/>
                  </a:lnTo>
                  <a:lnTo>
                    <a:pt x="7740015" y="0"/>
                  </a:lnTo>
                  <a:lnTo>
                    <a:pt x="7752629" y="2541"/>
                  </a:lnTo>
                  <a:lnTo>
                    <a:pt x="7762922" y="9477"/>
                  </a:lnTo>
                  <a:lnTo>
                    <a:pt x="7769858" y="19770"/>
                  </a:lnTo>
                  <a:lnTo>
                    <a:pt x="7772400" y="32384"/>
                  </a:lnTo>
                  <a:lnTo>
                    <a:pt x="7772400" y="743330"/>
                  </a:lnTo>
                  <a:lnTo>
                    <a:pt x="7769858" y="755945"/>
                  </a:lnTo>
                  <a:lnTo>
                    <a:pt x="7762922" y="766238"/>
                  </a:lnTo>
                  <a:lnTo>
                    <a:pt x="7752629" y="773174"/>
                  </a:lnTo>
                  <a:lnTo>
                    <a:pt x="7740015" y="775715"/>
                  </a:lnTo>
                  <a:lnTo>
                    <a:pt x="32321" y="775715"/>
                  </a:lnTo>
                  <a:lnTo>
                    <a:pt x="19743" y="773174"/>
                  </a:lnTo>
                  <a:lnTo>
                    <a:pt x="9469" y="766238"/>
                  </a:lnTo>
                  <a:lnTo>
                    <a:pt x="2540" y="755945"/>
                  </a:lnTo>
                  <a:lnTo>
                    <a:pt x="0" y="743330"/>
                  </a:lnTo>
                  <a:lnTo>
                    <a:pt x="0" y="32384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67892" y="3773170"/>
            <a:ext cx="20307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Clr>
                <a:srgbClr val="006699"/>
              </a:buClr>
              <a:buFont typeface="Verdana"/>
              <a:buChar char="•"/>
              <a:tabLst>
                <a:tab pos="241300" algn="l"/>
              </a:tabLst>
            </a:pPr>
            <a:r>
              <a:rPr sz="1600" b="1" spc="-5" dirty="0">
                <a:latin typeface="Verdana"/>
                <a:cs typeface="Verdana"/>
              </a:rPr>
              <a:t>Visiting</a:t>
            </a:r>
            <a:r>
              <a:rPr sz="1600" b="1" spc="-25" dirty="0">
                <a:latin typeface="Verdana"/>
                <a:cs typeface="Verdana"/>
              </a:rPr>
              <a:t> </a:t>
            </a:r>
            <a:r>
              <a:rPr sz="1600" b="1" spc="-5" dirty="0">
                <a:latin typeface="Verdana"/>
                <a:cs typeface="Verdana"/>
              </a:rPr>
              <a:t>laptops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75131" y="4413503"/>
            <a:ext cx="7781925" cy="784860"/>
            <a:chOff x="675131" y="4413503"/>
            <a:chExt cx="7781925" cy="784860"/>
          </a:xfrm>
        </p:grpSpPr>
        <p:sp>
          <p:nvSpPr>
            <p:cNvPr id="20" name="object 20"/>
            <p:cNvSpPr/>
            <p:nvPr/>
          </p:nvSpPr>
          <p:spPr>
            <a:xfrm>
              <a:off x="679703" y="4418075"/>
              <a:ext cx="7772400" cy="775970"/>
            </a:xfrm>
            <a:custGeom>
              <a:avLst/>
              <a:gdLst/>
              <a:ahLst/>
              <a:cxnLst/>
              <a:rect l="l" t="t" r="r" b="b"/>
              <a:pathLst>
                <a:path w="7772400" h="775970">
                  <a:moveTo>
                    <a:pt x="7740015" y="0"/>
                  </a:moveTo>
                  <a:lnTo>
                    <a:pt x="32321" y="0"/>
                  </a:lnTo>
                  <a:lnTo>
                    <a:pt x="19743" y="2541"/>
                  </a:lnTo>
                  <a:lnTo>
                    <a:pt x="9469" y="9477"/>
                  </a:lnTo>
                  <a:lnTo>
                    <a:pt x="2540" y="19770"/>
                  </a:lnTo>
                  <a:lnTo>
                    <a:pt x="0" y="32385"/>
                  </a:lnTo>
                  <a:lnTo>
                    <a:pt x="0" y="743331"/>
                  </a:lnTo>
                  <a:lnTo>
                    <a:pt x="2540" y="755945"/>
                  </a:lnTo>
                  <a:lnTo>
                    <a:pt x="9469" y="766238"/>
                  </a:lnTo>
                  <a:lnTo>
                    <a:pt x="19743" y="773174"/>
                  </a:lnTo>
                  <a:lnTo>
                    <a:pt x="32321" y="775716"/>
                  </a:lnTo>
                  <a:lnTo>
                    <a:pt x="7740015" y="775716"/>
                  </a:lnTo>
                  <a:lnTo>
                    <a:pt x="7752629" y="773174"/>
                  </a:lnTo>
                  <a:lnTo>
                    <a:pt x="7762922" y="766238"/>
                  </a:lnTo>
                  <a:lnTo>
                    <a:pt x="7769858" y="755945"/>
                  </a:lnTo>
                  <a:lnTo>
                    <a:pt x="7772400" y="743331"/>
                  </a:lnTo>
                  <a:lnTo>
                    <a:pt x="7772400" y="32385"/>
                  </a:lnTo>
                  <a:lnTo>
                    <a:pt x="7769858" y="19770"/>
                  </a:lnTo>
                  <a:lnTo>
                    <a:pt x="7762922" y="9477"/>
                  </a:lnTo>
                  <a:lnTo>
                    <a:pt x="7752629" y="2541"/>
                  </a:lnTo>
                  <a:lnTo>
                    <a:pt x="7740015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79703" y="4418075"/>
              <a:ext cx="7772400" cy="775970"/>
            </a:xfrm>
            <a:custGeom>
              <a:avLst/>
              <a:gdLst/>
              <a:ahLst/>
              <a:cxnLst/>
              <a:rect l="l" t="t" r="r" b="b"/>
              <a:pathLst>
                <a:path w="7772400" h="775970">
                  <a:moveTo>
                    <a:pt x="0" y="32385"/>
                  </a:moveTo>
                  <a:lnTo>
                    <a:pt x="2540" y="19770"/>
                  </a:lnTo>
                  <a:lnTo>
                    <a:pt x="9469" y="9477"/>
                  </a:lnTo>
                  <a:lnTo>
                    <a:pt x="19743" y="2541"/>
                  </a:lnTo>
                  <a:lnTo>
                    <a:pt x="32321" y="0"/>
                  </a:lnTo>
                  <a:lnTo>
                    <a:pt x="7740015" y="0"/>
                  </a:lnTo>
                  <a:lnTo>
                    <a:pt x="7752629" y="2541"/>
                  </a:lnTo>
                  <a:lnTo>
                    <a:pt x="7762922" y="9477"/>
                  </a:lnTo>
                  <a:lnTo>
                    <a:pt x="7769858" y="19770"/>
                  </a:lnTo>
                  <a:lnTo>
                    <a:pt x="7772400" y="32385"/>
                  </a:lnTo>
                  <a:lnTo>
                    <a:pt x="7772400" y="743331"/>
                  </a:lnTo>
                  <a:lnTo>
                    <a:pt x="7769858" y="755945"/>
                  </a:lnTo>
                  <a:lnTo>
                    <a:pt x="7762922" y="766238"/>
                  </a:lnTo>
                  <a:lnTo>
                    <a:pt x="7752629" y="773174"/>
                  </a:lnTo>
                  <a:lnTo>
                    <a:pt x="7740015" y="775716"/>
                  </a:lnTo>
                  <a:lnTo>
                    <a:pt x="32321" y="775716"/>
                  </a:lnTo>
                  <a:lnTo>
                    <a:pt x="19743" y="773174"/>
                  </a:lnTo>
                  <a:lnTo>
                    <a:pt x="9469" y="766238"/>
                  </a:lnTo>
                  <a:lnTo>
                    <a:pt x="2540" y="755945"/>
                  </a:lnTo>
                  <a:lnTo>
                    <a:pt x="0" y="743331"/>
                  </a:lnTo>
                  <a:lnTo>
                    <a:pt x="0" y="32385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67892" y="4658690"/>
            <a:ext cx="359600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Clr>
                <a:srgbClr val="006699"/>
              </a:buClr>
              <a:buFont typeface="Verdana"/>
              <a:buChar char="•"/>
              <a:tabLst>
                <a:tab pos="241300" algn="l"/>
              </a:tabLst>
            </a:pPr>
            <a:r>
              <a:rPr sz="1600" b="1" spc="-5" dirty="0">
                <a:latin typeface="Verdana"/>
                <a:cs typeface="Verdana"/>
              </a:rPr>
              <a:t>Unmanaged home</a:t>
            </a:r>
            <a:r>
              <a:rPr sz="1600" b="1" spc="-10" dirty="0">
                <a:latin typeface="Verdana"/>
                <a:cs typeface="Verdana"/>
              </a:rPr>
              <a:t> computers</a:t>
            </a:r>
            <a:endParaRPr sz="1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408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Verdana"/>
                <a:cs typeface="Verdana"/>
              </a:rPr>
              <a:t>NAP Enforcement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Methods</a:t>
            </a:r>
            <a:endParaRPr sz="2400">
              <a:latin typeface="Verdana"/>
              <a:cs typeface="Verdan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03200" y="772794"/>
          <a:ext cx="8691245" cy="5587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76600"/>
                <a:gridCol w="5414645"/>
              </a:tblGrid>
              <a:tr h="42989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800" b="1" dirty="0">
                          <a:latin typeface="Verdana"/>
                          <a:cs typeface="Verdana"/>
                        </a:rPr>
                        <a:t>Method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  <a:solidFill>
                      <a:srgbClr val="E3CD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800" b="1" dirty="0">
                          <a:latin typeface="Verdana"/>
                          <a:cs typeface="Verdana"/>
                        </a:rPr>
                        <a:t>Key</a:t>
                      </a:r>
                      <a:r>
                        <a:rPr sz="1800" b="1" spc="-5" dirty="0">
                          <a:latin typeface="Verdana"/>
                          <a:cs typeface="Verdana"/>
                        </a:rPr>
                        <a:t> Points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  <a:solidFill>
                      <a:srgbClr val="E3CD9A"/>
                    </a:solidFill>
                  </a:tcPr>
                </a:tc>
              </a:tr>
              <a:tr h="12315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  <a:p>
                      <a:pPr marL="91440" marR="222885">
                        <a:lnSpc>
                          <a:spcPts val="1730"/>
                        </a:lnSpc>
                      </a:pPr>
                      <a:r>
                        <a:rPr sz="1600" spc="-5" dirty="0">
                          <a:latin typeface="Verdana"/>
                          <a:cs typeface="Verdana"/>
                        </a:rPr>
                        <a:t>IPsec enforcement for IPsec-  protected</a:t>
                      </a:r>
                      <a:r>
                        <a:rPr sz="1600" spc="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communications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3175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  <a:solidFill>
                      <a:srgbClr val="F1E7CE"/>
                    </a:solidFill>
                  </a:tcPr>
                </a:tc>
                <a:tc>
                  <a:txBody>
                    <a:bodyPr/>
                    <a:lstStyle/>
                    <a:p>
                      <a:pPr marL="267335" marR="456565" indent="-175260">
                        <a:lnSpc>
                          <a:spcPts val="1730"/>
                        </a:lnSpc>
                        <a:spcBef>
                          <a:spcPts val="730"/>
                        </a:spcBef>
                        <a:buClr>
                          <a:srgbClr val="006699"/>
                        </a:buClr>
                        <a:buSzPct val="90625"/>
                        <a:buChar char="•"/>
                        <a:tabLst>
                          <a:tab pos="267970" algn="l"/>
                        </a:tabLst>
                      </a:pPr>
                      <a:r>
                        <a:rPr sz="1600" spc="-10" dirty="0">
                          <a:latin typeface="Verdana"/>
                          <a:cs typeface="Verdana"/>
                        </a:rPr>
                        <a:t>Computer must 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be compliant to communicate 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with 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other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compliant</a:t>
                      </a:r>
                      <a:r>
                        <a:rPr sz="1600" spc="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computers</a:t>
                      </a:r>
                      <a:endParaRPr sz="1600">
                        <a:latin typeface="Verdana"/>
                        <a:cs typeface="Verdana"/>
                      </a:endParaRPr>
                    </a:p>
                    <a:p>
                      <a:pPr marL="267335" marR="12065" indent="-267970">
                        <a:lnSpc>
                          <a:spcPts val="1825"/>
                        </a:lnSpc>
                        <a:spcBef>
                          <a:spcPts val="1125"/>
                        </a:spcBef>
                        <a:buClr>
                          <a:srgbClr val="006699"/>
                        </a:buClr>
                        <a:buSzPct val="90625"/>
                        <a:buChar char="•"/>
                        <a:tabLst>
                          <a:tab pos="267970" algn="l"/>
                        </a:tabLst>
                      </a:pPr>
                      <a:r>
                        <a:rPr sz="1600" spc="-10" dirty="0">
                          <a:latin typeface="Verdana"/>
                          <a:cs typeface="Verdana"/>
                        </a:rPr>
                        <a:t>The 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strongest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NAP 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enforcement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type, 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and can</a:t>
                      </a:r>
                      <a:r>
                        <a:rPr sz="1600" spc="1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be</a:t>
                      </a:r>
                      <a:endParaRPr sz="1600">
                        <a:latin typeface="Verdana"/>
                        <a:cs typeface="Verdana"/>
                      </a:endParaRPr>
                    </a:p>
                    <a:p>
                      <a:pPr marR="53340" algn="ctr">
                        <a:lnSpc>
                          <a:spcPts val="1825"/>
                        </a:lnSpc>
                      </a:pPr>
                      <a:r>
                        <a:rPr sz="1600" spc="-5" dirty="0">
                          <a:latin typeface="Verdana"/>
                          <a:cs typeface="Verdana"/>
                        </a:rPr>
                        <a:t>applied per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IP 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address or protocol port</a:t>
                      </a:r>
                      <a:r>
                        <a:rPr sz="1600" spc="10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number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2710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</a:tcPr>
                </a:tc>
              </a:tr>
              <a:tr h="841375">
                <a:tc>
                  <a:txBody>
                    <a:bodyPr/>
                    <a:lstStyle/>
                    <a:p>
                      <a:pPr marL="91440" marR="196215">
                        <a:lnSpc>
                          <a:spcPts val="1730"/>
                        </a:lnSpc>
                        <a:spcBef>
                          <a:spcPts val="730"/>
                        </a:spcBef>
                      </a:pPr>
                      <a:r>
                        <a:rPr sz="1600" spc="-5" dirty="0">
                          <a:latin typeface="Verdana"/>
                          <a:cs typeface="Verdana"/>
                        </a:rPr>
                        <a:t>802.1X enforcement for IEEE 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802.1X-authenticated wired  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or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wireless</a:t>
                      </a:r>
                      <a:r>
                        <a:rPr sz="1600" spc="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connections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2710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  <a:solidFill>
                      <a:srgbClr val="F1E7CE"/>
                    </a:solidFill>
                  </a:tcPr>
                </a:tc>
                <a:tc>
                  <a:txBody>
                    <a:bodyPr/>
                    <a:lstStyle/>
                    <a:p>
                      <a:pPr marL="267335" marR="165735" indent="-175260">
                        <a:lnSpc>
                          <a:spcPts val="1730"/>
                        </a:lnSpc>
                        <a:spcBef>
                          <a:spcPts val="730"/>
                        </a:spcBef>
                        <a:buClr>
                          <a:srgbClr val="006699"/>
                        </a:buClr>
                        <a:buSzPct val="90625"/>
                        <a:buChar char="•"/>
                        <a:tabLst>
                          <a:tab pos="267970" algn="l"/>
                        </a:tabLst>
                      </a:pPr>
                      <a:r>
                        <a:rPr sz="1600" spc="-10" dirty="0">
                          <a:latin typeface="Verdana"/>
                          <a:cs typeface="Verdana"/>
                        </a:rPr>
                        <a:t>Computer must 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be compliant to obtain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unlimited  access 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through an 802.1X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connection  (authentication 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switch or access</a:t>
                      </a:r>
                      <a:r>
                        <a:rPr sz="1600" spc="1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point)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2710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</a:tcPr>
                </a:tc>
              </a:tr>
              <a:tr h="621791">
                <a:tc>
                  <a:txBody>
                    <a:bodyPr/>
                    <a:lstStyle/>
                    <a:p>
                      <a:pPr marL="91440" marR="252729">
                        <a:lnSpc>
                          <a:spcPts val="1730"/>
                        </a:lnSpc>
                        <a:spcBef>
                          <a:spcPts val="735"/>
                        </a:spcBef>
                      </a:pPr>
                      <a:r>
                        <a:rPr sz="1600" spc="-5" dirty="0">
                          <a:latin typeface="Verdana"/>
                          <a:cs typeface="Verdana"/>
                        </a:rPr>
                        <a:t>VPN enforcement for remote 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access</a:t>
                      </a:r>
                      <a:r>
                        <a:rPr sz="1600" spc="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connections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  <a:solidFill>
                      <a:srgbClr val="F1E7CE"/>
                    </a:solidFill>
                  </a:tcPr>
                </a:tc>
                <a:tc>
                  <a:txBody>
                    <a:bodyPr/>
                    <a:lstStyle/>
                    <a:p>
                      <a:pPr marL="267335" marR="165735" indent="-175260">
                        <a:lnSpc>
                          <a:spcPts val="1730"/>
                        </a:lnSpc>
                        <a:spcBef>
                          <a:spcPts val="735"/>
                        </a:spcBef>
                        <a:buClr>
                          <a:srgbClr val="006699"/>
                        </a:buClr>
                        <a:buSzPct val="90625"/>
                        <a:buChar char="•"/>
                        <a:tabLst>
                          <a:tab pos="267970" algn="l"/>
                        </a:tabLst>
                      </a:pPr>
                      <a:r>
                        <a:rPr sz="1600" spc="-10" dirty="0">
                          <a:latin typeface="Verdana"/>
                          <a:cs typeface="Verdana"/>
                        </a:rPr>
                        <a:t>Computer must 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be compliant to obtain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unlimited  access 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through a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RAS</a:t>
                      </a:r>
                      <a:r>
                        <a:rPr sz="1600" spc="10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connection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</a:tcPr>
                </a:tc>
              </a:tr>
              <a:tr h="12315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1600"/>
                        </a:spcBef>
                      </a:pPr>
                      <a:r>
                        <a:rPr sz="1600" spc="-10" dirty="0">
                          <a:latin typeface="Verdana"/>
                          <a:cs typeface="Verdana"/>
                        </a:rPr>
                        <a:t>DirectAccess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  <a:solidFill>
                      <a:srgbClr val="F1E7CE"/>
                    </a:solidFill>
                  </a:tcPr>
                </a:tc>
                <a:tc>
                  <a:txBody>
                    <a:bodyPr/>
                    <a:lstStyle/>
                    <a:p>
                      <a:pPr marL="267335" marR="165735" indent="-175260">
                        <a:lnSpc>
                          <a:spcPts val="1730"/>
                        </a:lnSpc>
                        <a:spcBef>
                          <a:spcPts val="735"/>
                        </a:spcBef>
                        <a:buClr>
                          <a:srgbClr val="006699"/>
                        </a:buClr>
                        <a:buSzPct val="90625"/>
                        <a:buChar char="•"/>
                        <a:tabLst>
                          <a:tab pos="267970" algn="l"/>
                        </a:tabLst>
                      </a:pPr>
                      <a:r>
                        <a:rPr sz="1600" spc="-10" dirty="0">
                          <a:latin typeface="Verdana"/>
                          <a:cs typeface="Verdana"/>
                        </a:rPr>
                        <a:t>Computer must 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be compliant to obtain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unlimited  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network</a:t>
                      </a:r>
                      <a:r>
                        <a:rPr sz="1600" spc="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access</a:t>
                      </a:r>
                      <a:endParaRPr sz="1600">
                        <a:latin typeface="Verdana"/>
                        <a:cs typeface="Verdana"/>
                      </a:endParaRPr>
                    </a:p>
                    <a:p>
                      <a:pPr marL="267335" marR="86995" indent="-175260">
                        <a:lnSpc>
                          <a:spcPts val="1730"/>
                        </a:lnSpc>
                        <a:spcBef>
                          <a:spcPts val="1340"/>
                        </a:spcBef>
                        <a:buClr>
                          <a:srgbClr val="006699"/>
                        </a:buClr>
                        <a:buSzPct val="90625"/>
                        <a:buChar char="•"/>
                        <a:tabLst>
                          <a:tab pos="267970" algn="l"/>
                        </a:tabLst>
                      </a:pPr>
                      <a:r>
                        <a:rPr sz="1600" spc="-20" dirty="0">
                          <a:latin typeface="Verdana"/>
                          <a:cs typeface="Verdana"/>
                        </a:rPr>
                        <a:t>For 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noncompliant computers,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access 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restricted to 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defined 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group of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infrastructure</a:t>
                      </a:r>
                      <a:r>
                        <a:rPr sz="1600" spc="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servers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</a:tcPr>
                </a:tc>
              </a:tr>
              <a:tr h="123158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ts val="1825"/>
                        </a:lnSpc>
                      </a:pPr>
                      <a:r>
                        <a:rPr sz="1600" spc="-10" dirty="0">
                          <a:latin typeface="Verdana"/>
                          <a:cs typeface="Verdana"/>
                        </a:rPr>
                        <a:t>DHCP 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enforcement for</a:t>
                      </a:r>
                      <a:r>
                        <a:rPr sz="1600" spc="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DHCP-</a:t>
                      </a:r>
                      <a:endParaRPr sz="1600">
                        <a:latin typeface="Verdana"/>
                        <a:cs typeface="Verdana"/>
                      </a:endParaRPr>
                    </a:p>
                    <a:p>
                      <a:pPr marL="91440">
                        <a:lnSpc>
                          <a:spcPts val="1825"/>
                        </a:lnSpc>
                      </a:pPr>
                      <a:r>
                        <a:rPr sz="1600" spc="-5" dirty="0">
                          <a:latin typeface="Verdana"/>
                          <a:cs typeface="Verdana"/>
                        </a:rPr>
                        <a:t>based address</a:t>
                      </a:r>
                      <a:r>
                        <a:rPr sz="1600" spc="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configuration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715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  <a:solidFill>
                      <a:srgbClr val="F1E7CE"/>
                    </a:solidFill>
                  </a:tcPr>
                </a:tc>
                <a:tc>
                  <a:txBody>
                    <a:bodyPr/>
                    <a:lstStyle/>
                    <a:p>
                      <a:pPr marL="267335" marR="95885" indent="-175260">
                        <a:lnSpc>
                          <a:spcPts val="1730"/>
                        </a:lnSpc>
                        <a:spcBef>
                          <a:spcPts val="735"/>
                        </a:spcBef>
                        <a:buClr>
                          <a:srgbClr val="006699"/>
                        </a:buClr>
                        <a:buSzPct val="90625"/>
                        <a:buChar char="•"/>
                        <a:tabLst>
                          <a:tab pos="267970" algn="l"/>
                        </a:tabLst>
                      </a:pPr>
                      <a:r>
                        <a:rPr sz="1600" spc="-10" dirty="0">
                          <a:latin typeface="Verdana"/>
                          <a:cs typeface="Verdana"/>
                        </a:rPr>
                        <a:t>Computer must 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be compliant to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receive 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an 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unlimited access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IPv4 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address configuration from 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DHCP</a:t>
                      </a:r>
                      <a:endParaRPr sz="1600">
                        <a:latin typeface="Verdana"/>
                        <a:cs typeface="Verdana"/>
                      </a:endParaRPr>
                    </a:p>
                    <a:p>
                      <a:pPr marL="267335" indent="-175895">
                        <a:lnSpc>
                          <a:spcPct val="100000"/>
                        </a:lnSpc>
                        <a:spcBef>
                          <a:spcPts val="1125"/>
                        </a:spcBef>
                        <a:buClr>
                          <a:srgbClr val="006699"/>
                        </a:buClr>
                        <a:buSzPct val="90625"/>
                        <a:buChar char="•"/>
                        <a:tabLst>
                          <a:tab pos="267970" algn="l"/>
                        </a:tabLst>
                      </a:pPr>
                      <a:r>
                        <a:rPr sz="1600" spc="-10" dirty="0">
                          <a:latin typeface="Verdana"/>
                          <a:cs typeface="Verdana"/>
                        </a:rPr>
                        <a:t>This 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is the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weakest 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form of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NAP</a:t>
                      </a:r>
                      <a:r>
                        <a:rPr sz="1600" spc="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enforcement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40138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Verdana"/>
                <a:cs typeface="Verdana"/>
              </a:rPr>
              <a:t>NAP </a:t>
            </a:r>
            <a:r>
              <a:rPr sz="2400" spc="-10" dirty="0">
                <a:latin typeface="Verdana"/>
                <a:cs typeface="Verdana"/>
              </a:rPr>
              <a:t>Platform</a:t>
            </a:r>
            <a:r>
              <a:rPr sz="2400" spc="4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Architecture</a:t>
            </a:r>
            <a:endParaRPr sz="2400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720339" y="1342644"/>
            <a:ext cx="6198235" cy="2813685"/>
            <a:chOff x="2720339" y="1342644"/>
            <a:chExt cx="6198235" cy="2813685"/>
          </a:xfrm>
        </p:grpSpPr>
        <p:sp>
          <p:nvSpPr>
            <p:cNvPr id="4" name="object 4"/>
            <p:cNvSpPr/>
            <p:nvPr/>
          </p:nvSpPr>
          <p:spPr>
            <a:xfrm>
              <a:off x="2739389" y="1770126"/>
              <a:ext cx="2100580" cy="0"/>
            </a:xfrm>
            <a:custGeom>
              <a:avLst/>
              <a:gdLst/>
              <a:ahLst/>
              <a:cxnLst/>
              <a:rect l="l" t="t" r="r" b="b"/>
              <a:pathLst>
                <a:path w="2100579">
                  <a:moveTo>
                    <a:pt x="2100072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796283" y="1367028"/>
              <a:ext cx="5122164" cy="278892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771900" y="1342644"/>
              <a:ext cx="5119116" cy="278587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607177" y="3803396"/>
            <a:ext cx="9817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Verdana"/>
                <a:cs typeface="Verdana"/>
              </a:rPr>
              <a:t>I</a:t>
            </a:r>
            <a:r>
              <a:rPr sz="1600" b="1" dirty="0">
                <a:latin typeface="Verdana"/>
                <a:cs typeface="Verdana"/>
              </a:rPr>
              <a:t>n</a:t>
            </a:r>
            <a:r>
              <a:rPr sz="1600" b="1" spc="-5" dirty="0">
                <a:latin typeface="Verdana"/>
                <a:cs typeface="Verdana"/>
              </a:rPr>
              <a:t>tra</a:t>
            </a:r>
            <a:r>
              <a:rPr sz="1600" b="1" spc="-10" dirty="0">
                <a:latin typeface="Verdana"/>
                <a:cs typeface="Verdana"/>
              </a:rPr>
              <a:t>net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51459" y="2046732"/>
            <a:ext cx="6400800" cy="1656714"/>
            <a:chOff x="251459" y="2046732"/>
            <a:chExt cx="6400800" cy="1656714"/>
          </a:xfrm>
        </p:grpSpPr>
        <p:sp>
          <p:nvSpPr>
            <p:cNvPr id="9" name="object 9"/>
            <p:cNvSpPr/>
            <p:nvPr/>
          </p:nvSpPr>
          <p:spPr>
            <a:xfrm>
              <a:off x="4632959" y="2897124"/>
              <a:ext cx="675132" cy="80619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975604" y="2046732"/>
              <a:ext cx="676655" cy="80619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51459" y="2491740"/>
              <a:ext cx="926591" cy="920496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2237232" y="5388864"/>
            <a:ext cx="1313815" cy="512445"/>
          </a:xfrm>
          <a:custGeom>
            <a:avLst/>
            <a:gdLst/>
            <a:ahLst/>
            <a:cxnLst/>
            <a:rect l="l" t="t" r="r" b="b"/>
            <a:pathLst>
              <a:path w="1313814" h="512445">
                <a:moveTo>
                  <a:pt x="1313688" y="56642"/>
                </a:moveTo>
                <a:lnTo>
                  <a:pt x="1309231" y="34611"/>
                </a:lnTo>
                <a:lnTo>
                  <a:pt x="1297082" y="16605"/>
                </a:lnTo>
                <a:lnTo>
                  <a:pt x="1279076" y="4456"/>
                </a:lnTo>
                <a:lnTo>
                  <a:pt x="1257045" y="0"/>
                </a:lnTo>
                <a:lnTo>
                  <a:pt x="56642" y="0"/>
                </a:lnTo>
                <a:lnTo>
                  <a:pt x="34611" y="4456"/>
                </a:lnTo>
                <a:lnTo>
                  <a:pt x="16605" y="16605"/>
                </a:lnTo>
                <a:lnTo>
                  <a:pt x="4456" y="34611"/>
                </a:lnTo>
                <a:lnTo>
                  <a:pt x="0" y="56642"/>
                </a:lnTo>
                <a:lnTo>
                  <a:pt x="0" y="455434"/>
                </a:lnTo>
                <a:lnTo>
                  <a:pt x="4456" y="477473"/>
                </a:lnTo>
                <a:lnTo>
                  <a:pt x="16605" y="495474"/>
                </a:lnTo>
                <a:lnTo>
                  <a:pt x="34611" y="507612"/>
                </a:lnTo>
                <a:lnTo>
                  <a:pt x="56642" y="512064"/>
                </a:lnTo>
                <a:lnTo>
                  <a:pt x="1257045" y="512064"/>
                </a:lnTo>
                <a:lnTo>
                  <a:pt x="1279076" y="507612"/>
                </a:lnTo>
                <a:lnTo>
                  <a:pt x="1297082" y="495474"/>
                </a:lnTo>
                <a:lnTo>
                  <a:pt x="1309231" y="477473"/>
                </a:lnTo>
                <a:lnTo>
                  <a:pt x="1313688" y="455434"/>
                </a:lnTo>
                <a:lnTo>
                  <a:pt x="1313688" y="56642"/>
                </a:lnTo>
                <a:close/>
              </a:path>
            </a:pathLst>
          </a:custGeom>
          <a:ln w="9144">
            <a:solidFill>
              <a:srgbClr val="77777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332482" y="5449316"/>
            <a:ext cx="11029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Verdana"/>
                <a:cs typeface="Verdana"/>
              </a:rPr>
              <a:t>R</a:t>
            </a:r>
            <a:r>
              <a:rPr sz="1200" b="1" spc="-10" dirty="0">
                <a:latin typeface="Verdana"/>
                <a:cs typeface="Verdana"/>
              </a:rPr>
              <a:t>e</a:t>
            </a:r>
            <a:r>
              <a:rPr sz="1200" b="1" spc="-5" dirty="0">
                <a:latin typeface="Verdana"/>
                <a:cs typeface="Verdana"/>
              </a:rPr>
              <a:t>medi</a:t>
            </a:r>
            <a:r>
              <a:rPr sz="1200" b="1" dirty="0">
                <a:latin typeface="Verdana"/>
                <a:cs typeface="Verdana"/>
              </a:rPr>
              <a:t>a</a:t>
            </a:r>
            <a:r>
              <a:rPr sz="1200" b="1" spc="5" dirty="0">
                <a:latin typeface="Verdana"/>
                <a:cs typeface="Verdana"/>
              </a:rPr>
              <a:t>t</a:t>
            </a:r>
            <a:r>
              <a:rPr sz="1200" b="1" dirty="0">
                <a:latin typeface="Verdana"/>
                <a:cs typeface="Verdana"/>
              </a:rPr>
              <a:t>ion  </a:t>
            </a:r>
            <a:r>
              <a:rPr sz="1200" b="1" spc="-5" dirty="0">
                <a:latin typeface="Verdana"/>
                <a:cs typeface="Verdana"/>
              </a:rPr>
              <a:t>Servers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0660" y="3434841"/>
            <a:ext cx="9810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Verdana"/>
                <a:cs typeface="Verdana"/>
              </a:rPr>
              <a:t>I</a:t>
            </a:r>
            <a:r>
              <a:rPr sz="1600" b="1" dirty="0">
                <a:latin typeface="Verdana"/>
                <a:cs typeface="Verdana"/>
              </a:rPr>
              <a:t>n</a:t>
            </a:r>
            <a:r>
              <a:rPr sz="1600" b="1" spc="-5" dirty="0">
                <a:latin typeface="Verdana"/>
                <a:cs typeface="Verdana"/>
              </a:rPr>
              <a:t>ternet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168146" y="2587751"/>
            <a:ext cx="7840980" cy="1468120"/>
            <a:chOff x="1168146" y="2587751"/>
            <a:chExt cx="7840980" cy="1468120"/>
          </a:xfrm>
        </p:grpSpPr>
        <p:sp>
          <p:nvSpPr>
            <p:cNvPr id="16" name="object 16"/>
            <p:cNvSpPr/>
            <p:nvPr/>
          </p:nvSpPr>
          <p:spPr>
            <a:xfrm>
              <a:off x="3074669" y="2949701"/>
              <a:ext cx="1013460" cy="0"/>
            </a:xfrm>
            <a:custGeom>
              <a:avLst/>
              <a:gdLst/>
              <a:ahLst/>
              <a:cxnLst/>
              <a:rect l="l" t="t" r="r" b="b"/>
              <a:pathLst>
                <a:path w="1013460">
                  <a:moveTo>
                    <a:pt x="1013459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874263" y="2589275"/>
              <a:ext cx="1024127" cy="82296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24534" y="2949701"/>
              <a:ext cx="2100580" cy="0"/>
            </a:xfrm>
            <a:custGeom>
              <a:avLst/>
              <a:gdLst/>
              <a:ahLst/>
              <a:cxnLst/>
              <a:rect l="l" t="t" r="r" b="b"/>
              <a:pathLst>
                <a:path w="2100579">
                  <a:moveTo>
                    <a:pt x="2100071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527048" y="2587751"/>
              <a:ext cx="1024128" cy="82296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168146" y="2892551"/>
              <a:ext cx="734695" cy="114300"/>
            </a:xfrm>
            <a:custGeom>
              <a:avLst/>
              <a:gdLst/>
              <a:ahLst/>
              <a:cxnLst/>
              <a:rect l="l" t="t" r="r" b="b"/>
              <a:pathLst>
                <a:path w="734694" h="114300">
                  <a:moveTo>
                    <a:pt x="114300" y="0"/>
                  </a:moveTo>
                  <a:lnTo>
                    <a:pt x="0" y="57150"/>
                  </a:lnTo>
                  <a:lnTo>
                    <a:pt x="114300" y="114300"/>
                  </a:lnTo>
                  <a:lnTo>
                    <a:pt x="114300" y="76200"/>
                  </a:lnTo>
                  <a:lnTo>
                    <a:pt x="95250" y="76200"/>
                  </a:lnTo>
                  <a:lnTo>
                    <a:pt x="95250" y="38100"/>
                  </a:lnTo>
                  <a:lnTo>
                    <a:pt x="114300" y="38100"/>
                  </a:lnTo>
                  <a:lnTo>
                    <a:pt x="114300" y="0"/>
                  </a:lnTo>
                  <a:close/>
                </a:path>
                <a:path w="734694" h="114300">
                  <a:moveTo>
                    <a:pt x="114300" y="38100"/>
                  </a:moveTo>
                  <a:lnTo>
                    <a:pt x="95250" y="38100"/>
                  </a:lnTo>
                  <a:lnTo>
                    <a:pt x="95250" y="76200"/>
                  </a:lnTo>
                  <a:lnTo>
                    <a:pt x="114300" y="76200"/>
                  </a:lnTo>
                  <a:lnTo>
                    <a:pt x="114300" y="38100"/>
                  </a:lnTo>
                  <a:close/>
                </a:path>
                <a:path w="734694" h="114300">
                  <a:moveTo>
                    <a:pt x="734567" y="38100"/>
                  </a:moveTo>
                  <a:lnTo>
                    <a:pt x="114300" y="38100"/>
                  </a:lnTo>
                  <a:lnTo>
                    <a:pt x="114300" y="76200"/>
                  </a:lnTo>
                  <a:lnTo>
                    <a:pt x="734567" y="76200"/>
                  </a:lnTo>
                  <a:lnTo>
                    <a:pt x="734567" y="3810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284719" y="2904743"/>
              <a:ext cx="676655" cy="80619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653528" y="3617975"/>
              <a:ext cx="1350645" cy="433070"/>
            </a:xfrm>
            <a:custGeom>
              <a:avLst/>
              <a:gdLst/>
              <a:ahLst/>
              <a:cxnLst/>
              <a:rect l="l" t="t" r="r" b="b"/>
              <a:pathLst>
                <a:path w="1350645" h="433070">
                  <a:moveTo>
                    <a:pt x="1302385" y="0"/>
                  </a:moveTo>
                  <a:lnTo>
                    <a:pt x="47878" y="0"/>
                  </a:lnTo>
                  <a:lnTo>
                    <a:pt x="29253" y="3766"/>
                  </a:lnTo>
                  <a:lnTo>
                    <a:pt x="14033" y="14033"/>
                  </a:lnTo>
                  <a:lnTo>
                    <a:pt x="3766" y="29253"/>
                  </a:lnTo>
                  <a:lnTo>
                    <a:pt x="0" y="47879"/>
                  </a:lnTo>
                  <a:lnTo>
                    <a:pt x="0" y="384937"/>
                  </a:lnTo>
                  <a:lnTo>
                    <a:pt x="3766" y="403562"/>
                  </a:lnTo>
                  <a:lnTo>
                    <a:pt x="14033" y="418782"/>
                  </a:lnTo>
                  <a:lnTo>
                    <a:pt x="29253" y="429049"/>
                  </a:lnTo>
                  <a:lnTo>
                    <a:pt x="47878" y="432816"/>
                  </a:lnTo>
                  <a:lnTo>
                    <a:pt x="1302385" y="432816"/>
                  </a:lnTo>
                  <a:lnTo>
                    <a:pt x="1321010" y="429049"/>
                  </a:lnTo>
                  <a:lnTo>
                    <a:pt x="1336230" y="418782"/>
                  </a:lnTo>
                  <a:lnTo>
                    <a:pt x="1346497" y="403562"/>
                  </a:lnTo>
                  <a:lnTo>
                    <a:pt x="1350264" y="384937"/>
                  </a:lnTo>
                  <a:lnTo>
                    <a:pt x="1350264" y="47879"/>
                  </a:lnTo>
                  <a:lnTo>
                    <a:pt x="1346497" y="29253"/>
                  </a:lnTo>
                  <a:lnTo>
                    <a:pt x="1336230" y="14033"/>
                  </a:lnTo>
                  <a:lnTo>
                    <a:pt x="1321010" y="3766"/>
                  </a:lnTo>
                  <a:lnTo>
                    <a:pt x="13023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653528" y="3617975"/>
              <a:ext cx="1350645" cy="433070"/>
            </a:xfrm>
            <a:custGeom>
              <a:avLst/>
              <a:gdLst/>
              <a:ahLst/>
              <a:cxnLst/>
              <a:rect l="l" t="t" r="r" b="b"/>
              <a:pathLst>
                <a:path w="1350645" h="433070">
                  <a:moveTo>
                    <a:pt x="0" y="47879"/>
                  </a:moveTo>
                  <a:lnTo>
                    <a:pt x="3766" y="29253"/>
                  </a:lnTo>
                  <a:lnTo>
                    <a:pt x="14033" y="14033"/>
                  </a:lnTo>
                  <a:lnTo>
                    <a:pt x="29253" y="3766"/>
                  </a:lnTo>
                  <a:lnTo>
                    <a:pt x="47878" y="0"/>
                  </a:lnTo>
                  <a:lnTo>
                    <a:pt x="1302385" y="0"/>
                  </a:lnTo>
                  <a:lnTo>
                    <a:pt x="1321010" y="3766"/>
                  </a:lnTo>
                  <a:lnTo>
                    <a:pt x="1336230" y="14033"/>
                  </a:lnTo>
                  <a:lnTo>
                    <a:pt x="1346497" y="29253"/>
                  </a:lnTo>
                  <a:lnTo>
                    <a:pt x="1350264" y="47879"/>
                  </a:lnTo>
                  <a:lnTo>
                    <a:pt x="1350264" y="384937"/>
                  </a:lnTo>
                  <a:lnTo>
                    <a:pt x="1346497" y="403562"/>
                  </a:lnTo>
                  <a:lnTo>
                    <a:pt x="1336230" y="418782"/>
                  </a:lnTo>
                  <a:lnTo>
                    <a:pt x="1321010" y="429049"/>
                  </a:lnTo>
                  <a:lnTo>
                    <a:pt x="1302385" y="432816"/>
                  </a:lnTo>
                  <a:lnTo>
                    <a:pt x="47878" y="432816"/>
                  </a:lnTo>
                  <a:lnTo>
                    <a:pt x="29253" y="429049"/>
                  </a:lnTo>
                  <a:lnTo>
                    <a:pt x="14033" y="418782"/>
                  </a:lnTo>
                  <a:lnTo>
                    <a:pt x="3766" y="403562"/>
                  </a:lnTo>
                  <a:lnTo>
                    <a:pt x="0" y="384937"/>
                  </a:lnTo>
                  <a:lnTo>
                    <a:pt x="0" y="47879"/>
                  </a:lnTo>
                  <a:close/>
                </a:path>
              </a:pathLst>
            </a:custGeom>
            <a:ln w="9144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7665116" y="3637864"/>
            <a:ext cx="1327150" cy="392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Verdana"/>
                <a:cs typeface="Verdana"/>
              </a:rPr>
              <a:t>NAP</a:t>
            </a:r>
            <a:r>
              <a:rPr sz="1200" b="1" spc="-20" dirty="0">
                <a:latin typeface="Verdana"/>
                <a:cs typeface="Verdana"/>
              </a:rPr>
              <a:t> </a:t>
            </a:r>
            <a:r>
              <a:rPr sz="1200" b="1" spc="-5" dirty="0">
                <a:latin typeface="Verdana"/>
                <a:cs typeface="Verdana"/>
              </a:rPr>
              <a:t>Health</a:t>
            </a:r>
            <a:endParaRPr sz="1200">
              <a:latin typeface="Verdana"/>
              <a:cs typeface="Verdana"/>
            </a:endParaRPr>
          </a:p>
          <a:p>
            <a:pPr marL="94615">
              <a:lnSpc>
                <a:spcPct val="100000"/>
              </a:lnSpc>
              <a:spcBef>
                <a:spcPts val="5"/>
              </a:spcBef>
            </a:pPr>
            <a:r>
              <a:rPr sz="1200" b="1" spc="-5" dirty="0">
                <a:latin typeface="Verdana"/>
                <a:cs typeface="Verdana"/>
              </a:rPr>
              <a:t>Policy</a:t>
            </a:r>
            <a:r>
              <a:rPr sz="1200" b="1" spc="-30" dirty="0">
                <a:latin typeface="Verdana"/>
                <a:cs typeface="Verdana"/>
              </a:rPr>
              <a:t> </a:t>
            </a:r>
            <a:r>
              <a:rPr sz="1200" b="1" spc="-5" dirty="0">
                <a:latin typeface="Verdana"/>
                <a:cs typeface="Verdana"/>
              </a:rPr>
              <a:t>Server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840289" y="3680269"/>
            <a:ext cx="1337310" cy="297815"/>
            <a:chOff x="3840289" y="3680269"/>
            <a:chExt cx="1337310" cy="297815"/>
          </a:xfrm>
        </p:grpSpPr>
        <p:sp>
          <p:nvSpPr>
            <p:cNvPr id="26" name="object 26"/>
            <p:cNvSpPr/>
            <p:nvPr/>
          </p:nvSpPr>
          <p:spPr>
            <a:xfrm>
              <a:off x="3845052" y="3685032"/>
              <a:ext cx="1327785" cy="288290"/>
            </a:xfrm>
            <a:custGeom>
              <a:avLst/>
              <a:gdLst/>
              <a:ahLst/>
              <a:cxnLst/>
              <a:rect l="l" t="t" r="r" b="b"/>
              <a:pathLst>
                <a:path w="1327785" h="288289">
                  <a:moveTo>
                    <a:pt x="1295527" y="0"/>
                  </a:moveTo>
                  <a:lnTo>
                    <a:pt x="31876" y="0"/>
                  </a:lnTo>
                  <a:lnTo>
                    <a:pt x="19448" y="2498"/>
                  </a:lnTo>
                  <a:lnTo>
                    <a:pt x="9318" y="9318"/>
                  </a:lnTo>
                  <a:lnTo>
                    <a:pt x="2498" y="19448"/>
                  </a:lnTo>
                  <a:lnTo>
                    <a:pt x="0" y="31877"/>
                  </a:lnTo>
                  <a:lnTo>
                    <a:pt x="0" y="256159"/>
                  </a:lnTo>
                  <a:lnTo>
                    <a:pt x="2498" y="268587"/>
                  </a:lnTo>
                  <a:lnTo>
                    <a:pt x="9318" y="278717"/>
                  </a:lnTo>
                  <a:lnTo>
                    <a:pt x="19448" y="285537"/>
                  </a:lnTo>
                  <a:lnTo>
                    <a:pt x="31876" y="288036"/>
                  </a:lnTo>
                  <a:lnTo>
                    <a:pt x="1295527" y="288036"/>
                  </a:lnTo>
                  <a:lnTo>
                    <a:pt x="1307955" y="285537"/>
                  </a:lnTo>
                  <a:lnTo>
                    <a:pt x="1318085" y="278717"/>
                  </a:lnTo>
                  <a:lnTo>
                    <a:pt x="1324905" y="268587"/>
                  </a:lnTo>
                  <a:lnTo>
                    <a:pt x="1327403" y="256159"/>
                  </a:lnTo>
                  <a:lnTo>
                    <a:pt x="1327403" y="31877"/>
                  </a:lnTo>
                  <a:lnTo>
                    <a:pt x="1324905" y="19448"/>
                  </a:lnTo>
                  <a:lnTo>
                    <a:pt x="1318085" y="9318"/>
                  </a:lnTo>
                  <a:lnTo>
                    <a:pt x="1307955" y="2498"/>
                  </a:lnTo>
                  <a:lnTo>
                    <a:pt x="12955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845052" y="3685032"/>
              <a:ext cx="1327785" cy="288290"/>
            </a:xfrm>
            <a:custGeom>
              <a:avLst/>
              <a:gdLst/>
              <a:ahLst/>
              <a:cxnLst/>
              <a:rect l="l" t="t" r="r" b="b"/>
              <a:pathLst>
                <a:path w="1327785" h="288289">
                  <a:moveTo>
                    <a:pt x="0" y="31877"/>
                  </a:moveTo>
                  <a:lnTo>
                    <a:pt x="2498" y="19448"/>
                  </a:lnTo>
                  <a:lnTo>
                    <a:pt x="9318" y="9318"/>
                  </a:lnTo>
                  <a:lnTo>
                    <a:pt x="19448" y="2498"/>
                  </a:lnTo>
                  <a:lnTo>
                    <a:pt x="31876" y="0"/>
                  </a:lnTo>
                  <a:lnTo>
                    <a:pt x="1295527" y="0"/>
                  </a:lnTo>
                  <a:lnTo>
                    <a:pt x="1307955" y="2498"/>
                  </a:lnTo>
                  <a:lnTo>
                    <a:pt x="1318085" y="9318"/>
                  </a:lnTo>
                  <a:lnTo>
                    <a:pt x="1324905" y="19448"/>
                  </a:lnTo>
                  <a:lnTo>
                    <a:pt x="1327403" y="31877"/>
                  </a:lnTo>
                  <a:lnTo>
                    <a:pt x="1327403" y="256159"/>
                  </a:lnTo>
                  <a:lnTo>
                    <a:pt x="1324905" y="268587"/>
                  </a:lnTo>
                  <a:lnTo>
                    <a:pt x="1318085" y="278717"/>
                  </a:lnTo>
                  <a:lnTo>
                    <a:pt x="1307955" y="285537"/>
                  </a:lnTo>
                  <a:lnTo>
                    <a:pt x="1295527" y="288036"/>
                  </a:lnTo>
                  <a:lnTo>
                    <a:pt x="31876" y="288036"/>
                  </a:lnTo>
                  <a:lnTo>
                    <a:pt x="19448" y="285537"/>
                  </a:lnTo>
                  <a:lnTo>
                    <a:pt x="9318" y="278717"/>
                  </a:lnTo>
                  <a:lnTo>
                    <a:pt x="2498" y="268587"/>
                  </a:lnTo>
                  <a:lnTo>
                    <a:pt x="0" y="256159"/>
                  </a:lnTo>
                  <a:lnTo>
                    <a:pt x="0" y="31877"/>
                  </a:lnTo>
                  <a:close/>
                </a:path>
              </a:pathLst>
            </a:custGeom>
            <a:ln w="9144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3933825" y="3724147"/>
            <a:ext cx="11131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Verdana"/>
                <a:cs typeface="Verdana"/>
              </a:rPr>
              <a:t>DHCP</a:t>
            </a:r>
            <a:r>
              <a:rPr sz="1200" b="1" spc="-75" dirty="0">
                <a:latin typeface="Verdana"/>
                <a:cs typeface="Verdana"/>
              </a:rPr>
              <a:t> </a:t>
            </a:r>
            <a:r>
              <a:rPr sz="1200" b="1" spc="-5" dirty="0">
                <a:latin typeface="Verdana"/>
                <a:cs typeface="Verdana"/>
              </a:rPr>
              <a:t>Server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5667565" y="2886265"/>
            <a:ext cx="1288415" cy="591820"/>
            <a:chOff x="5667565" y="2886265"/>
            <a:chExt cx="1288415" cy="591820"/>
          </a:xfrm>
        </p:grpSpPr>
        <p:sp>
          <p:nvSpPr>
            <p:cNvPr id="30" name="object 30"/>
            <p:cNvSpPr/>
            <p:nvPr/>
          </p:nvSpPr>
          <p:spPr>
            <a:xfrm>
              <a:off x="5672328" y="2891027"/>
              <a:ext cx="1278890" cy="582295"/>
            </a:xfrm>
            <a:custGeom>
              <a:avLst/>
              <a:gdLst/>
              <a:ahLst/>
              <a:cxnLst/>
              <a:rect l="l" t="t" r="r" b="b"/>
              <a:pathLst>
                <a:path w="1278890" h="582295">
                  <a:moveTo>
                    <a:pt x="1214247" y="0"/>
                  </a:moveTo>
                  <a:lnTo>
                    <a:pt x="64388" y="0"/>
                  </a:lnTo>
                  <a:lnTo>
                    <a:pt x="39326" y="5060"/>
                  </a:lnTo>
                  <a:lnTo>
                    <a:pt x="18859" y="18859"/>
                  </a:lnTo>
                  <a:lnTo>
                    <a:pt x="5060" y="39326"/>
                  </a:lnTo>
                  <a:lnTo>
                    <a:pt x="0" y="64388"/>
                  </a:lnTo>
                  <a:lnTo>
                    <a:pt x="0" y="517779"/>
                  </a:lnTo>
                  <a:lnTo>
                    <a:pt x="5060" y="542841"/>
                  </a:lnTo>
                  <a:lnTo>
                    <a:pt x="18859" y="563308"/>
                  </a:lnTo>
                  <a:lnTo>
                    <a:pt x="39326" y="577107"/>
                  </a:lnTo>
                  <a:lnTo>
                    <a:pt x="64388" y="582168"/>
                  </a:lnTo>
                  <a:lnTo>
                    <a:pt x="1214247" y="582168"/>
                  </a:lnTo>
                  <a:lnTo>
                    <a:pt x="1239309" y="577107"/>
                  </a:lnTo>
                  <a:lnTo>
                    <a:pt x="1259776" y="563308"/>
                  </a:lnTo>
                  <a:lnTo>
                    <a:pt x="1273575" y="542841"/>
                  </a:lnTo>
                  <a:lnTo>
                    <a:pt x="1278636" y="517779"/>
                  </a:lnTo>
                  <a:lnTo>
                    <a:pt x="1278636" y="64388"/>
                  </a:lnTo>
                  <a:lnTo>
                    <a:pt x="1273575" y="39326"/>
                  </a:lnTo>
                  <a:lnTo>
                    <a:pt x="1259776" y="18859"/>
                  </a:lnTo>
                  <a:lnTo>
                    <a:pt x="1239309" y="5060"/>
                  </a:lnTo>
                  <a:lnTo>
                    <a:pt x="12142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672328" y="2891027"/>
              <a:ext cx="1278890" cy="582295"/>
            </a:xfrm>
            <a:custGeom>
              <a:avLst/>
              <a:gdLst/>
              <a:ahLst/>
              <a:cxnLst/>
              <a:rect l="l" t="t" r="r" b="b"/>
              <a:pathLst>
                <a:path w="1278890" h="582295">
                  <a:moveTo>
                    <a:pt x="0" y="64388"/>
                  </a:moveTo>
                  <a:lnTo>
                    <a:pt x="5060" y="39326"/>
                  </a:lnTo>
                  <a:lnTo>
                    <a:pt x="18859" y="18859"/>
                  </a:lnTo>
                  <a:lnTo>
                    <a:pt x="39326" y="5060"/>
                  </a:lnTo>
                  <a:lnTo>
                    <a:pt x="64388" y="0"/>
                  </a:lnTo>
                  <a:lnTo>
                    <a:pt x="1214247" y="0"/>
                  </a:lnTo>
                  <a:lnTo>
                    <a:pt x="1239309" y="5060"/>
                  </a:lnTo>
                  <a:lnTo>
                    <a:pt x="1259776" y="18859"/>
                  </a:lnTo>
                  <a:lnTo>
                    <a:pt x="1273575" y="39326"/>
                  </a:lnTo>
                  <a:lnTo>
                    <a:pt x="1278636" y="64388"/>
                  </a:lnTo>
                  <a:lnTo>
                    <a:pt x="1278636" y="517779"/>
                  </a:lnTo>
                  <a:lnTo>
                    <a:pt x="1273575" y="542841"/>
                  </a:lnTo>
                  <a:lnTo>
                    <a:pt x="1259776" y="563308"/>
                  </a:lnTo>
                  <a:lnTo>
                    <a:pt x="1239309" y="577107"/>
                  </a:lnTo>
                  <a:lnTo>
                    <a:pt x="1214247" y="582168"/>
                  </a:lnTo>
                  <a:lnTo>
                    <a:pt x="64388" y="582168"/>
                  </a:lnTo>
                  <a:lnTo>
                    <a:pt x="39326" y="577107"/>
                  </a:lnTo>
                  <a:lnTo>
                    <a:pt x="18859" y="563308"/>
                  </a:lnTo>
                  <a:lnTo>
                    <a:pt x="5060" y="542841"/>
                  </a:lnTo>
                  <a:lnTo>
                    <a:pt x="0" y="517779"/>
                  </a:lnTo>
                  <a:lnTo>
                    <a:pt x="0" y="64388"/>
                  </a:lnTo>
                  <a:close/>
                </a:path>
              </a:pathLst>
            </a:custGeom>
            <a:ln w="9144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5770879" y="2894203"/>
            <a:ext cx="107696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Verdana"/>
                <a:cs typeface="Verdana"/>
              </a:rPr>
              <a:t>Health  R</a:t>
            </a:r>
            <a:r>
              <a:rPr sz="1200" b="1" spc="-10" dirty="0">
                <a:latin typeface="Verdana"/>
                <a:cs typeface="Verdana"/>
              </a:rPr>
              <a:t>e</a:t>
            </a:r>
            <a:r>
              <a:rPr sz="1200" b="1" spc="-5" dirty="0">
                <a:latin typeface="Verdana"/>
                <a:cs typeface="Verdana"/>
              </a:rPr>
              <a:t>gi</a:t>
            </a:r>
            <a:r>
              <a:rPr sz="1200" b="1" spc="-10" dirty="0">
                <a:latin typeface="Verdana"/>
                <a:cs typeface="Verdana"/>
              </a:rPr>
              <a:t>s</a:t>
            </a:r>
            <a:r>
              <a:rPr sz="1200" b="1" dirty="0">
                <a:latin typeface="Verdana"/>
                <a:cs typeface="Verdana"/>
              </a:rPr>
              <a:t>t</a:t>
            </a:r>
            <a:r>
              <a:rPr sz="1200" b="1" spc="-5" dirty="0">
                <a:latin typeface="Verdana"/>
                <a:cs typeface="Verdana"/>
              </a:rPr>
              <a:t>r</a:t>
            </a:r>
            <a:r>
              <a:rPr sz="1200" b="1" dirty="0">
                <a:latin typeface="Verdana"/>
                <a:cs typeface="Verdana"/>
              </a:rPr>
              <a:t>ation  </a:t>
            </a:r>
            <a:r>
              <a:rPr sz="1200" b="1" spc="-5" dirty="0">
                <a:latin typeface="Verdana"/>
                <a:cs typeface="Verdana"/>
              </a:rPr>
              <a:t>Authority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6771640" y="1267777"/>
            <a:ext cx="2101850" cy="1079500"/>
            <a:chOff x="6771640" y="1267777"/>
            <a:chExt cx="2101850" cy="1079500"/>
          </a:xfrm>
        </p:grpSpPr>
        <p:sp>
          <p:nvSpPr>
            <p:cNvPr id="34" name="object 34"/>
            <p:cNvSpPr/>
            <p:nvPr/>
          </p:nvSpPr>
          <p:spPr>
            <a:xfrm>
              <a:off x="7184136" y="1769363"/>
              <a:ext cx="734568" cy="57759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771640" y="1566214"/>
              <a:ext cx="761089" cy="516488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587996" y="1272539"/>
              <a:ext cx="1280160" cy="440690"/>
            </a:xfrm>
            <a:custGeom>
              <a:avLst/>
              <a:gdLst/>
              <a:ahLst/>
              <a:cxnLst/>
              <a:rect l="l" t="t" r="r" b="b"/>
              <a:pathLst>
                <a:path w="1280159" h="440689">
                  <a:moveTo>
                    <a:pt x="1231392" y="0"/>
                  </a:moveTo>
                  <a:lnTo>
                    <a:pt x="48768" y="0"/>
                  </a:lnTo>
                  <a:lnTo>
                    <a:pt x="29789" y="3833"/>
                  </a:lnTo>
                  <a:lnTo>
                    <a:pt x="14287" y="14287"/>
                  </a:lnTo>
                  <a:lnTo>
                    <a:pt x="3833" y="29789"/>
                  </a:lnTo>
                  <a:lnTo>
                    <a:pt x="0" y="48768"/>
                  </a:lnTo>
                  <a:lnTo>
                    <a:pt x="0" y="391668"/>
                  </a:lnTo>
                  <a:lnTo>
                    <a:pt x="3833" y="410646"/>
                  </a:lnTo>
                  <a:lnTo>
                    <a:pt x="14287" y="426148"/>
                  </a:lnTo>
                  <a:lnTo>
                    <a:pt x="29789" y="436602"/>
                  </a:lnTo>
                  <a:lnTo>
                    <a:pt x="48768" y="440436"/>
                  </a:lnTo>
                  <a:lnTo>
                    <a:pt x="1231392" y="440436"/>
                  </a:lnTo>
                  <a:lnTo>
                    <a:pt x="1250370" y="436602"/>
                  </a:lnTo>
                  <a:lnTo>
                    <a:pt x="1265872" y="426148"/>
                  </a:lnTo>
                  <a:lnTo>
                    <a:pt x="1276326" y="410646"/>
                  </a:lnTo>
                  <a:lnTo>
                    <a:pt x="1280159" y="391668"/>
                  </a:lnTo>
                  <a:lnTo>
                    <a:pt x="1280159" y="48768"/>
                  </a:lnTo>
                  <a:lnTo>
                    <a:pt x="1276326" y="29789"/>
                  </a:lnTo>
                  <a:lnTo>
                    <a:pt x="1265872" y="14287"/>
                  </a:lnTo>
                  <a:lnTo>
                    <a:pt x="1250370" y="3833"/>
                  </a:lnTo>
                  <a:lnTo>
                    <a:pt x="12313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587996" y="1272539"/>
              <a:ext cx="1280160" cy="440690"/>
            </a:xfrm>
            <a:custGeom>
              <a:avLst/>
              <a:gdLst/>
              <a:ahLst/>
              <a:cxnLst/>
              <a:rect l="l" t="t" r="r" b="b"/>
              <a:pathLst>
                <a:path w="1280159" h="440689">
                  <a:moveTo>
                    <a:pt x="0" y="48768"/>
                  </a:moveTo>
                  <a:lnTo>
                    <a:pt x="3833" y="29789"/>
                  </a:lnTo>
                  <a:lnTo>
                    <a:pt x="14287" y="14287"/>
                  </a:lnTo>
                  <a:lnTo>
                    <a:pt x="29789" y="3833"/>
                  </a:lnTo>
                  <a:lnTo>
                    <a:pt x="48768" y="0"/>
                  </a:lnTo>
                  <a:lnTo>
                    <a:pt x="1231392" y="0"/>
                  </a:lnTo>
                  <a:lnTo>
                    <a:pt x="1250370" y="3833"/>
                  </a:lnTo>
                  <a:lnTo>
                    <a:pt x="1265872" y="14287"/>
                  </a:lnTo>
                  <a:lnTo>
                    <a:pt x="1276326" y="29789"/>
                  </a:lnTo>
                  <a:lnTo>
                    <a:pt x="1280159" y="48768"/>
                  </a:lnTo>
                  <a:lnTo>
                    <a:pt x="1280159" y="391668"/>
                  </a:lnTo>
                  <a:lnTo>
                    <a:pt x="1276326" y="410646"/>
                  </a:lnTo>
                  <a:lnTo>
                    <a:pt x="1265872" y="426148"/>
                  </a:lnTo>
                  <a:lnTo>
                    <a:pt x="1250370" y="436602"/>
                  </a:lnTo>
                  <a:lnTo>
                    <a:pt x="1231392" y="440436"/>
                  </a:lnTo>
                  <a:lnTo>
                    <a:pt x="48768" y="440436"/>
                  </a:lnTo>
                  <a:lnTo>
                    <a:pt x="29789" y="436602"/>
                  </a:lnTo>
                  <a:lnTo>
                    <a:pt x="14287" y="426148"/>
                  </a:lnTo>
                  <a:lnTo>
                    <a:pt x="3833" y="410646"/>
                  </a:lnTo>
                  <a:lnTo>
                    <a:pt x="0" y="391668"/>
                  </a:lnTo>
                  <a:lnTo>
                    <a:pt x="0" y="48768"/>
                  </a:lnTo>
                  <a:close/>
                </a:path>
              </a:pathLst>
            </a:custGeom>
            <a:ln w="9144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7599712" y="1295857"/>
            <a:ext cx="12573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25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Verdana"/>
                <a:cs typeface="Verdana"/>
              </a:rPr>
              <a:t>IEEE 802.1X</a:t>
            </a:r>
            <a:endParaRPr sz="1200">
              <a:latin typeface="Verdana"/>
              <a:cs typeface="Verdana"/>
            </a:endParaRPr>
          </a:p>
          <a:p>
            <a:pPr marL="95250">
              <a:lnSpc>
                <a:spcPct val="100000"/>
              </a:lnSpc>
              <a:spcBef>
                <a:spcPts val="5"/>
              </a:spcBef>
            </a:pPr>
            <a:r>
              <a:rPr sz="1200" b="1" spc="-5" dirty="0">
                <a:latin typeface="Verdana"/>
                <a:cs typeface="Verdana"/>
              </a:rPr>
              <a:t>Devices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4494276" y="1264729"/>
            <a:ext cx="1696720" cy="1200150"/>
            <a:chOff x="4494276" y="1264729"/>
            <a:chExt cx="1696720" cy="1200150"/>
          </a:xfrm>
        </p:grpSpPr>
        <p:sp>
          <p:nvSpPr>
            <p:cNvPr id="40" name="object 40"/>
            <p:cNvSpPr/>
            <p:nvPr/>
          </p:nvSpPr>
          <p:spPr>
            <a:xfrm>
              <a:off x="4494276" y="1571243"/>
              <a:ext cx="1011936" cy="893063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163312" y="1269491"/>
              <a:ext cx="1022985" cy="440690"/>
            </a:xfrm>
            <a:custGeom>
              <a:avLst/>
              <a:gdLst/>
              <a:ahLst/>
              <a:cxnLst/>
              <a:rect l="l" t="t" r="r" b="b"/>
              <a:pathLst>
                <a:path w="1022985" h="440689">
                  <a:moveTo>
                    <a:pt x="973836" y="0"/>
                  </a:moveTo>
                  <a:lnTo>
                    <a:pt x="48767" y="0"/>
                  </a:lnTo>
                  <a:lnTo>
                    <a:pt x="29789" y="3833"/>
                  </a:lnTo>
                  <a:lnTo>
                    <a:pt x="14287" y="14287"/>
                  </a:lnTo>
                  <a:lnTo>
                    <a:pt x="3833" y="29789"/>
                  </a:lnTo>
                  <a:lnTo>
                    <a:pt x="0" y="48768"/>
                  </a:lnTo>
                  <a:lnTo>
                    <a:pt x="0" y="391668"/>
                  </a:lnTo>
                  <a:lnTo>
                    <a:pt x="3833" y="410646"/>
                  </a:lnTo>
                  <a:lnTo>
                    <a:pt x="14287" y="426148"/>
                  </a:lnTo>
                  <a:lnTo>
                    <a:pt x="29789" y="436602"/>
                  </a:lnTo>
                  <a:lnTo>
                    <a:pt x="48767" y="440436"/>
                  </a:lnTo>
                  <a:lnTo>
                    <a:pt x="973836" y="440436"/>
                  </a:lnTo>
                  <a:lnTo>
                    <a:pt x="992814" y="436602"/>
                  </a:lnTo>
                  <a:lnTo>
                    <a:pt x="1008316" y="426148"/>
                  </a:lnTo>
                  <a:lnTo>
                    <a:pt x="1018770" y="410646"/>
                  </a:lnTo>
                  <a:lnTo>
                    <a:pt x="1022603" y="391668"/>
                  </a:lnTo>
                  <a:lnTo>
                    <a:pt x="1022603" y="48768"/>
                  </a:lnTo>
                  <a:lnTo>
                    <a:pt x="1018770" y="29789"/>
                  </a:lnTo>
                  <a:lnTo>
                    <a:pt x="1008316" y="14287"/>
                  </a:lnTo>
                  <a:lnTo>
                    <a:pt x="992814" y="3833"/>
                  </a:lnTo>
                  <a:lnTo>
                    <a:pt x="9738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163312" y="1269491"/>
              <a:ext cx="1022985" cy="440690"/>
            </a:xfrm>
            <a:custGeom>
              <a:avLst/>
              <a:gdLst/>
              <a:ahLst/>
              <a:cxnLst/>
              <a:rect l="l" t="t" r="r" b="b"/>
              <a:pathLst>
                <a:path w="1022985" h="440689">
                  <a:moveTo>
                    <a:pt x="0" y="48768"/>
                  </a:moveTo>
                  <a:lnTo>
                    <a:pt x="3833" y="29789"/>
                  </a:lnTo>
                  <a:lnTo>
                    <a:pt x="14287" y="14287"/>
                  </a:lnTo>
                  <a:lnTo>
                    <a:pt x="29789" y="3833"/>
                  </a:lnTo>
                  <a:lnTo>
                    <a:pt x="48767" y="0"/>
                  </a:lnTo>
                  <a:lnTo>
                    <a:pt x="973836" y="0"/>
                  </a:lnTo>
                  <a:lnTo>
                    <a:pt x="992814" y="3833"/>
                  </a:lnTo>
                  <a:lnTo>
                    <a:pt x="1008316" y="14287"/>
                  </a:lnTo>
                  <a:lnTo>
                    <a:pt x="1018770" y="29789"/>
                  </a:lnTo>
                  <a:lnTo>
                    <a:pt x="1022603" y="48768"/>
                  </a:lnTo>
                  <a:lnTo>
                    <a:pt x="1022603" y="391668"/>
                  </a:lnTo>
                  <a:lnTo>
                    <a:pt x="1018770" y="410646"/>
                  </a:lnTo>
                  <a:lnTo>
                    <a:pt x="1008316" y="426148"/>
                  </a:lnTo>
                  <a:lnTo>
                    <a:pt x="992814" y="436602"/>
                  </a:lnTo>
                  <a:lnTo>
                    <a:pt x="973836" y="440436"/>
                  </a:lnTo>
                  <a:lnTo>
                    <a:pt x="48767" y="440436"/>
                  </a:lnTo>
                  <a:lnTo>
                    <a:pt x="29789" y="436602"/>
                  </a:lnTo>
                  <a:lnTo>
                    <a:pt x="14287" y="426148"/>
                  </a:lnTo>
                  <a:lnTo>
                    <a:pt x="3833" y="410646"/>
                  </a:lnTo>
                  <a:lnTo>
                    <a:pt x="0" y="391668"/>
                  </a:lnTo>
                  <a:lnTo>
                    <a:pt x="0" y="48768"/>
                  </a:lnTo>
                  <a:close/>
                </a:path>
              </a:pathLst>
            </a:custGeom>
            <a:ln w="9143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5256403" y="1293114"/>
            <a:ext cx="82041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Verdana"/>
                <a:cs typeface="Verdana"/>
              </a:rPr>
              <a:t>Active  </a:t>
            </a:r>
            <a:r>
              <a:rPr sz="1200" b="1" spc="-5" dirty="0">
                <a:latin typeface="Verdana"/>
                <a:cs typeface="Verdana"/>
              </a:rPr>
              <a:t>Direc</a:t>
            </a:r>
            <a:r>
              <a:rPr sz="1200" b="1" spc="5" dirty="0">
                <a:latin typeface="Verdana"/>
                <a:cs typeface="Verdana"/>
              </a:rPr>
              <a:t>t</a:t>
            </a:r>
            <a:r>
              <a:rPr sz="1200" b="1" dirty="0">
                <a:latin typeface="Verdana"/>
                <a:cs typeface="Verdana"/>
              </a:rPr>
              <a:t>o</a:t>
            </a:r>
            <a:r>
              <a:rPr sz="1200" b="1" spc="-5" dirty="0">
                <a:latin typeface="Verdana"/>
                <a:cs typeface="Verdana"/>
              </a:rPr>
              <a:t>ry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2723388" y="1002601"/>
            <a:ext cx="1316990" cy="1966595"/>
            <a:chOff x="2723388" y="1002601"/>
            <a:chExt cx="1316990" cy="1966595"/>
          </a:xfrm>
        </p:grpSpPr>
        <p:sp>
          <p:nvSpPr>
            <p:cNvPr id="45" name="object 45"/>
            <p:cNvSpPr/>
            <p:nvPr/>
          </p:nvSpPr>
          <p:spPr>
            <a:xfrm>
              <a:off x="2742438" y="1751837"/>
              <a:ext cx="12700" cy="1198245"/>
            </a:xfrm>
            <a:custGeom>
              <a:avLst/>
              <a:gdLst/>
              <a:ahLst/>
              <a:cxnLst/>
              <a:rect l="l" t="t" r="r" b="b"/>
              <a:pathLst>
                <a:path w="12700" h="1198245">
                  <a:moveTo>
                    <a:pt x="12192" y="1197864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261360" y="1325879"/>
              <a:ext cx="675132" cy="80619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852928" y="1007363"/>
              <a:ext cx="1183005" cy="289560"/>
            </a:xfrm>
            <a:custGeom>
              <a:avLst/>
              <a:gdLst/>
              <a:ahLst/>
              <a:cxnLst/>
              <a:rect l="l" t="t" r="r" b="b"/>
              <a:pathLst>
                <a:path w="1183004" h="289559">
                  <a:moveTo>
                    <a:pt x="0" y="32003"/>
                  </a:moveTo>
                  <a:lnTo>
                    <a:pt x="2518" y="19556"/>
                  </a:lnTo>
                  <a:lnTo>
                    <a:pt x="9382" y="9382"/>
                  </a:lnTo>
                  <a:lnTo>
                    <a:pt x="19556" y="2518"/>
                  </a:lnTo>
                  <a:lnTo>
                    <a:pt x="32004" y="0"/>
                  </a:lnTo>
                  <a:lnTo>
                    <a:pt x="1150620" y="0"/>
                  </a:lnTo>
                  <a:lnTo>
                    <a:pt x="1163067" y="2518"/>
                  </a:lnTo>
                  <a:lnTo>
                    <a:pt x="1173241" y="9382"/>
                  </a:lnTo>
                  <a:lnTo>
                    <a:pt x="1180105" y="19556"/>
                  </a:lnTo>
                  <a:lnTo>
                    <a:pt x="1182624" y="32003"/>
                  </a:lnTo>
                  <a:lnTo>
                    <a:pt x="1182624" y="257556"/>
                  </a:lnTo>
                  <a:lnTo>
                    <a:pt x="1180105" y="270003"/>
                  </a:lnTo>
                  <a:lnTo>
                    <a:pt x="1173241" y="280177"/>
                  </a:lnTo>
                  <a:lnTo>
                    <a:pt x="1163067" y="287041"/>
                  </a:lnTo>
                  <a:lnTo>
                    <a:pt x="1150620" y="289560"/>
                  </a:lnTo>
                  <a:lnTo>
                    <a:pt x="32004" y="289560"/>
                  </a:lnTo>
                  <a:lnTo>
                    <a:pt x="19556" y="287041"/>
                  </a:lnTo>
                  <a:lnTo>
                    <a:pt x="9382" y="280177"/>
                  </a:lnTo>
                  <a:lnTo>
                    <a:pt x="2518" y="270003"/>
                  </a:lnTo>
                  <a:lnTo>
                    <a:pt x="0" y="257556"/>
                  </a:lnTo>
                  <a:lnTo>
                    <a:pt x="0" y="32003"/>
                  </a:lnTo>
                  <a:close/>
                </a:path>
              </a:pathLst>
            </a:custGeom>
            <a:ln w="9144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2941447" y="1047115"/>
            <a:ext cx="9944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Verdana"/>
                <a:cs typeface="Verdana"/>
              </a:rPr>
              <a:t>VPN</a:t>
            </a:r>
            <a:r>
              <a:rPr sz="1200" b="1" spc="-70" dirty="0">
                <a:latin typeface="Verdana"/>
                <a:cs typeface="Verdana"/>
              </a:rPr>
              <a:t> </a:t>
            </a:r>
            <a:r>
              <a:rPr sz="1200" b="1" spc="-5" dirty="0">
                <a:latin typeface="Verdana"/>
                <a:cs typeface="Verdana"/>
              </a:rPr>
              <a:t>Server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4070603" y="4418076"/>
            <a:ext cx="3195955" cy="1445260"/>
            <a:chOff x="4070603" y="4418076"/>
            <a:chExt cx="3195955" cy="1445260"/>
          </a:xfrm>
        </p:grpSpPr>
        <p:sp>
          <p:nvSpPr>
            <p:cNvPr id="50" name="object 50"/>
            <p:cNvSpPr/>
            <p:nvPr/>
          </p:nvSpPr>
          <p:spPr>
            <a:xfrm>
              <a:off x="4094987" y="4442460"/>
              <a:ext cx="3171443" cy="1420367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070603" y="4418076"/>
              <a:ext cx="3168396" cy="1417320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4991861" y="4861686"/>
            <a:ext cx="1188085" cy="48831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310"/>
              </a:spcBef>
            </a:pPr>
            <a:r>
              <a:rPr sz="1600" b="1" spc="-10" dirty="0">
                <a:latin typeface="Verdana"/>
                <a:cs typeface="Verdana"/>
              </a:rPr>
              <a:t>Restr</a:t>
            </a:r>
            <a:r>
              <a:rPr sz="1600" b="1" spc="-15" dirty="0">
                <a:latin typeface="Verdana"/>
                <a:cs typeface="Verdana"/>
              </a:rPr>
              <a:t>i</a:t>
            </a:r>
            <a:r>
              <a:rPr sz="1600" b="1" spc="-10" dirty="0">
                <a:latin typeface="Verdana"/>
                <a:cs typeface="Verdana"/>
              </a:rPr>
              <a:t>cted  </a:t>
            </a:r>
            <a:r>
              <a:rPr sz="1600" b="1" spc="-5" dirty="0">
                <a:latin typeface="Verdana"/>
                <a:cs typeface="Verdana"/>
              </a:rPr>
              <a:t>Network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3424428" y="4608576"/>
            <a:ext cx="5250815" cy="1309370"/>
            <a:chOff x="3424428" y="4608576"/>
            <a:chExt cx="5250815" cy="1309370"/>
          </a:xfrm>
        </p:grpSpPr>
        <p:sp>
          <p:nvSpPr>
            <p:cNvPr id="54" name="object 54"/>
            <p:cNvSpPr/>
            <p:nvPr/>
          </p:nvSpPr>
          <p:spPr>
            <a:xfrm>
              <a:off x="3424428" y="4608576"/>
              <a:ext cx="676655" cy="80619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855720" y="4844796"/>
              <a:ext cx="676655" cy="80619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7106412" y="5554980"/>
              <a:ext cx="1564005" cy="358140"/>
            </a:xfrm>
            <a:custGeom>
              <a:avLst/>
              <a:gdLst/>
              <a:ahLst/>
              <a:cxnLst/>
              <a:rect l="l" t="t" r="r" b="b"/>
              <a:pathLst>
                <a:path w="1564004" h="358139">
                  <a:moveTo>
                    <a:pt x="1524000" y="0"/>
                  </a:moveTo>
                  <a:lnTo>
                    <a:pt x="39624" y="0"/>
                  </a:lnTo>
                  <a:lnTo>
                    <a:pt x="24217" y="3119"/>
                  </a:lnTo>
                  <a:lnTo>
                    <a:pt x="11620" y="11618"/>
                  </a:lnTo>
                  <a:lnTo>
                    <a:pt x="3119" y="24211"/>
                  </a:lnTo>
                  <a:lnTo>
                    <a:pt x="0" y="39611"/>
                  </a:lnTo>
                  <a:lnTo>
                    <a:pt x="0" y="318528"/>
                  </a:lnTo>
                  <a:lnTo>
                    <a:pt x="3119" y="333949"/>
                  </a:lnTo>
                  <a:lnTo>
                    <a:pt x="11620" y="346540"/>
                  </a:lnTo>
                  <a:lnTo>
                    <a:pt x="24217" y="355027"/>
                  </a:lnTo>
                  <a:lnTo>
                    <a:pt x="39624" y="358140"/>
                  </a:lnTo>
                  <a:lnTo>
                    <a:pt x="1524000" y="358140"/>
                  </a:lnTo>
                  <a:lnTo>
                    <a:pt x="1539406" y="355027"/>
                  </a:lnTo>
                  <a:lnTo>
                    <a:pt x="1552003" y="346540"/>
                  </a:lnTo>
                  <a:lnTo>
                    <a:pt x="1560504" y="333949"/>
                  </a:lnTo>
                  <a:lnTo>
                    <a:pt x="1563624" y="318528"/>
                  </a:lnTo>
                  <a:lnTo>
                    <a:pt x="1563624" y="39611"/>
                  </a:lnTo>
                  <a:lnTo>
                    <a:pt x="1560504" y="24211"/>
                  </a:lnTo>
                  <a:lnTo>
                    <a:pt x="1552003" y="11618"/>
                  </a:lnTo>
                  <a:lnTo>
                    <a:pt x="1539406" y="3119"/>
                  </a:lnTo>
                  <a:lnTo>
                    <a:pt x="152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7106412" y="5554980"/>
              <a:ext cx="1564005" cy="358140"/>
            </a:xfrm>
            <a:custGeom>
              <a:avLst/>
              <a:gdLst/>
              <a:ahLst/>
              <a:cxnLst/>
              <a:rect l="l" t="t" r="r" b="b"/>
              <a:pathLst>
                <a:path w="1564004" h="358139">
                  <a:moveTo>
                    <a:pt x="0" y="39611"/>
                  </a:moveTo>
                  <a:lnTo>
                    <a:pt x="3119" y="24211"/>
                  </a:lnTo>
                  <a:lnTo>
                    <a:pt x="11620" y="11618"/>
                  </a:lnTo>
                  <a:lnTo>
                    <a:pt x="24217" y="3119"/>
                  </a:lnTo>
                  <a:lnTo>
                    <a:pt x="39624" y="0"/>
                  </a:lnTo>
                  <a:lnTo>
                    <a:pt x="1524000" y="0"/>
                  </a:lnTo>
                  <a:lnTo>
                    <a:pt x="1539406" y="3119"/>
                  </a:lnTo>
                  <a:lnTo>
                    <a:pt x="1552003" y="11618"/>
                  </a:lnTo>
                  <a:lnTo>
                    <a:pt x="1560504" y="24211"/>
                  </a:lnTo>
                  <a:lnTo>
                    <a:pt x="1563624" y="39611"/>
                  </a:lnTo>
                  <a:lnTo>
                    <a:pt x="1563624" y="318528"/>
                  </a:lnTo>
                  <a:lnTo>
                    <a:pt x="1560504" y="333949"/>
                  </a:lnTo>
                  <a:lnTo>
                    <a:pt x="1552003" y="346540"/>
                  </a:lnTo>
                  <a:lnTo>
                    <a:pt x="1539406" y="355027"/>
                  </a:lnTo>
                  <a:lnTo>
                    <a:pt x="1524000" y="358140"/>
                  </a:lnTo>
                  <a:lnTo>
                    <a:pt x="39624" y="358140"/>
                  </a:lnTo>
                  <a:lnTo>
                    <a:pt x="24217" y="355027"/>
                  </a:lnTo>
                  <a:lnTo>
                    <a:pt x="11620" y="346540"/>
                  </a:lnTo>
                  <a:lnTo>
                    <a:pt x="3119" y="333949"/>
                  </a:lnTo>
                  <a:lnTo>
                    <a:pt x="0" y="318528"/>
                  </a:lnTo>
                  <a:lnTo>
                    <a:pt x="0" y="39611"/>
                  </a:lnTo>
                  <a:close/>
                </a:path>
              </a:pathLst>
            </a:custGeom>
            <a:ln w="9144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7197343" y="5537708"/>
            <a:ext cx="136271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Verdana"/>
                <a:cs typeface="Verdana"/>
              </a:rPr>
              <a:t>NAP </a:t>
            </a:r>
            <a:r>
              <a:rPr sz="1200" b="1" spc="-5" dirty="0">
                <a:latin typeface="Verdana"/>
                <a:cs typeface="Verdana"/>
              </a:rPr>
              <a:t>Client</a:t>
            </a:r>
            <a:r>
              <a:rPr sz="1200" b="1" spc="-65" dirty="0">
                <a:latin typeface="Verdana"/>
                <a:cs typeface="Verdana"/>
              </a:rPr>
              <a:t> </a:t>
            </a:r>
            <a:r>
              <a:rPr sz="1200" b="1" spc="-5" dirty="0">
                <a:latin typeface="Verdana"/>
                <a:cs typeface="Verdana"/>
              </a:rPr>
              <a:t>with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b="1" spc="-5" dirty="0">
                <a:latin typeface="Verdana"/>
                <a:cs typeface="Verdana"/>
              </a:rPr>
              <a:t>limited access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6284976" y="5349240"/>
            <a:ext cx="742187" cy="80772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0" name="object 60"/>
          <p:cNvGrpSpPr/>
          <p:nvPr/>
        </p:nvGrpSpPr>
        <p:grpSpPr>
          <a:xfrm>
            <a:off x="2084832" y="3422903"/>
            <a:ext cx="1336675" cy="443865"/>
            <a:chOff x="2084832" y="3422903"/>
            <a:chExt cx="1336675" cy="443865"/>
          </a:xfrm>
        </p:grpSpPr>
        <p:sp>
          <p:nvSpPr>
            <p:cNvPr id="61" name="object 61"/>
            <p:cNvSpPr/>
            <p:nvPr/>
          </p:nvSpPr>
          <p:spPr>
            <a:xfrm>
              <a:off x="2106930" y="3637025"/>
              <a:ext cx="1289685" cy="1905"/>
            </a:xfrm>
            <a:custGeom>
              <a:avLst/>
              <a:gdLst/>
              <a:ahLst/>
              <a:cxnLst/>
              <a:rect l="l" t="t" r="r" b="b"/>
              <a:pathLst>
                <a:path w="1289685" h="1904">
                  <a:moveTo>
                    <a:pt x="1289304" y="0"/>
                  </a:moveTo>
                  <a:lnTo>
                    <a:pt x="0" y="1524"/>
                  </a:lnTo>
                </a:path>
              </a:pathLst>
            </a:custGeom>
            <a:ln w="38100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2104644" y="3422903"/>
              <a:ext cx="1297305" cy="443865"/>
            </a:xfrm>
            <a:custGeom>
              <a:avLst/>
              <a:gdLst/>
              <a:ahLst/>
              <a:cxnLst/>
              <a:rect l="l" t="t" r="r" b="b"/>
              <a:pathLst>
                <a:path w="1297304" h="443864">
                  <a:moveTo>
                    <a:pt x="0" y="3048"/>
                  </a:moveTo>
                  <a:lnTo>
                    <a:pt x="0" y="249936"/>
                  </a:lnTo>
                </a:path>
                <a:path w="1297304" h="443864">
                  <a:moveTo>
                    <a:pt x="1296923" y="0"/>
                  </a:moveTo>
                  <a:lnTo>
                    <a:pt x="1296923" y="246888"/>
                  </a:lnTo>
                </a:path>
                <a:path w="1297304" h="443864">
                  <a:moveTo>
                    <a:pt x="661416" y="198120"/>
                  </a:moveTo>
                  <a:lnTo>
                    <a:pt x="661416" y="443484"/>
                  </a:lnTo>
                </a:path>
              </a:pathLst>
            </a:custGeom>
            <a:ln w="39624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2069338" y="3812235"/>
            <a:ext cx="1153795" cy="4889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825"/>
              </a:lnSpc>
              <a:spcBef>
                <a:spcPts val="95"/>
              </a:spcBef>
            </a:pPr>
            <a:r>
              <a:rPr sz="1600" b="1" spc="-10" dirty="0">
                <a:latin typeface="Verdana"/>
                <a:cs typeface="Verdana"/>
              </a:rPr>
              <a:t>Perimeter</a:t>
            </a:r>
            <a:endParaRPr sz="1600">
              <a:latin typeface="Verdana"/>
              <a:cs typeface="Verdana"/>
            </a:endParaRPr>
          </a:p>
          <a:p>
            <a:pPr marL="12700">
              <a:lnSpc>
                <a:spcPts val="1825"/>
              </a:lnSpc>
            </a:pPr>
            <a:r>
              <a:rPr sz="1600" b="1" spc="-5" dirty="0">
                <a:latin typeface="Verdana"/>
                <a:cs typeface="Verdana"/>
              </a:rPr>
              <a:t>Network</a:t>
            </a:r>
            <a:endParaRPr sz="1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40779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spc="-5" dirty="0" smtClean="0">
                <a:latin typeface="Verdana"/>
                <a:cs typeface="Verdana"/>
              </a:rPr>
              <a:t> </a:t>
            </a:r>
            <a:r>
              <a:rPr sz="2400" spc="-5" dirty="0" smtClean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2: How </a:t>
            </a:r>
            <a:r>
              <a:rPr sz="2400" dirty="0">
                <a:latin typeface="Verdana"/>
                <a:cs typeface="Verdana"/>
              </a:rPr>
              <a:t>NAP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Works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6328" y="946150"/>
            <a:ext cx="3756025" cy="2282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7960" indent="-175260">
              <a:lnSpc>
                <a:spcPct val="100000"/>
              </a:lnSpc>
              <a:spcBef>
                <a:spcPts val="10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NAP Enforcement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Processes</a:t>
            </a:r>
            <a:endParaRPr sz="200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3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dirty="0">
                <a:latin typeface="Verdana"/>
                <a:cs typeface="Verdana"/>
              </a:rPr>
              <a:t>IPsec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Enforcement</a:t>
            </a:r>
            <a:endParaRPr sz="200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4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dirty="0">
                <a:latin typeface="Verdana"/>
                <a:cs typeface="Verdana"/>
              </a:rPr>
              <a:t>802.1x</a:t>
            </a:r>
            <a:r>
              <a:rPr sz="2000" spc="-5" dirty="0">
                <a:latin typeface="Verdana"/>
                <a:cs typeface="Verdana"/>
              </a:rPr>
              <a:t> Enforcement</a:t>
            </a:r>
            <a:endParaRPr sz="200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40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dirty="0">
                <a:latin typeface="Verdana"/>
                <a:cs typeface="Verdana"/>
              </a:rPr>
              <a:t>VPN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Enforcement</a:t>
            </a:r>
            <a:endParaRPr sz="200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40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dirty="0">
                <a:latin typeface="Verdana"/>
                <a:cs typeface="Verdana"/>
              </a:rPr>
              <a:t>DHCP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Enforcement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42989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Verdana"/>
                <a:cs typeface="Verdana"/>
              </a:rPr>
              <a:t>NAP Enforcement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Processes</a:t>
            </a:r>
            <a:endParaRPr sz="2400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9811" y="749808"/>
            <a:ext cx="9077325" cy="5796280"/>
            <a:chOff x="19811" y="749808"/>
            <a:chExt cx="9077325" cy="5796280"/>
          </a:xfrm>
        </p:grpSpPr>
        <p:sp>
          <p:nvSpPr>
            <p:cNvPr id="4" name="object 4"/>
            <p:cNvSpPr/>
            <p:nvPr/>
          </p:nvSpPr>
          <p:spPr>
            <a:xfrm>
              <a:off x="19811" y="749808"/>
              <a:ext cx="9077325" cy="5796280"/>
            </a:xfrm>
            <a:custGeom>
              <a:avLst/>
              <a:gdLst/>
              <a:ahLst/>
              <a:cxnLst/>
              <a:rect l="l" t="t" r="r" b="b"/>
              <a:pathLst>
                <a:path w="9077325" h="5796280">
                  <a:moveTo>
                    <a:pt x="9076944" y="0"/>
                  </a:moveTo>
                  <a:lnTo>
                    <a:pt x="0" y="0"/>
                  </a:lnTo>
                  <a:lnTo>
                    <a:pt x="0" y="5795772"/>
                  </a:lnTo>
                  <a:lnTo>
                    <a:pt x="9076944" y="5795772"/>
                  </a:lnTo>
                  <a:lnTo>
                    <a:pt x="90769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166615" y="1030224"/>
              <a:ext cx="758951" cy="91287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169919" y="987552"/>
              <a:ext cx="943610" cy="358140"/>
            </a:xfrm>
            <a:custGeom>
              <a:avLst/>
              <a:gdLst/>
              <a:ahLst/>
              <a:cxnLst/>
              <a:rect l="l" t="t" r="r" b="b"/>
              <a:pathLst>
                <a:path w="943610" h="358140">
                  <a:moveTo>
                    <a:pt x="903732" y="0"/>
                  </a:moveTo>
                  <a:lnTo>
                    <a:pt x="39624" y="0"/>
                  </a:lnTo>
                  <a:lnTo>
                    <a:pt x="24217" y="3119"/>
                  </a:lnTo>
                  <a:lnTo>
                    <a:pt x="11620" y="11620"/>
                  </a:lnTo>
                  <a:lnTo>
                    <a:pt x="3119" y="24217"/>
                  </a:lnTo>
                  <a:lnTo>
                    <a:pt x="0" y="39624"/>
                  </a:lnTo>
                  <a:lnTo>
                    <a:pt x="0" y="318515"/>
                  </a:lnTo>
                  <a:lnTo>
                    <a:pt x="3119" y="333922"/>
                  </a:lnTo>
                  <a:lnTo>
                    <a:pt x="11620" y="346519"/>
                  </a:lnTo>
                  <a:lnTo>
                    <a:pt x="24217" y="355020"/>
                  </a:lnTo>
                  <a:lnTo>
                    <a:pt x="39624" y="358139"/>
                  </a:lnTo>
                  <a:lnTo>
                    <a:pt x="903732" y="358139"/>
                  </a:lnTo>
                  <a:lnTo>
                    <a:pt x="919138" y="355020"/>
                  </a:lnTo>
                  <a:lnTo>
                    <a:pt x="931735" y="346519"/>
                  </a:lnTo>
                  <a:lnTo>
                    <a:pt x="940236" y="333922"/>
                  </a:lnTo>
                  <a:lnTo>
                    <a:pt x="943356" y="318515"/>
                  </a:lnTo>
                  <a:lnTo>
                    <a:pt x="943356" y="39624"/>
                  </a:lnTo>
                  <a:lnTo>
                    <a:pt x="940236" y="24217"/>
                  </a:lnTo>
                  <a:lnTo>
                    <a:pt x="931735" y="11620"/>
                  </a:lnTo>
                  <a:lnTo>
                    <a:pt x="919138" y="3119"/>
                  </a:lnTo>
                  <a:lnTo>
                    <a:pt x="90373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169919" y="987552"/>
              <a:ext cx="943610" cy="358140"/>
            </a:xfrm>
            <a:custGeom>
              <a:avLst/>
              <a:gdLst/>
              <a:ahLst/>
              <a:cxnLst/>
              <a:rect l="l" t="t" r="r" b="b"/>
              <a:pathLst>
                <a:path w="943610" h="358140">
                  <a:moveTo>
                    <a:pt x="0" y="39624"/>
                  </a:moveTo>
                  <a:lnTo>
                    <a:pt x="3119" y="24217"/>
                  </a:lnTo>
                  <a:lnTo>
                    <a:pt x="11620" y="11620"/>
                  </a:lnTo>
                  <a:lnTo>
                    <a:pt x="24217" y="3119"/>
                  </a:lnTo>
                  <a:lnTo>
                    <a:pt x="39624" y="0"/>
                  </a:lnTo>
                  <a:lnTo>
                    <a:pt x="903732" y="0"/>
                  </a:lnTo>
                  <a:lnTo>
                    <a:pt x="919138" y="3119"/>
                  </a:lnTo>
                  <a:lnTo>
                    <a:pt x="931735" y="11620"/>
                  </a:lnTo>
                  <a:lnTo>
                    <a:pt x="940236" y="24217"/>
                  </a:lnTo>
                  <a:lnTo>
                    <a:pt x="943356" y="39624"/>
                  </a:lnTo>
                  <a:lnTo>
                    <a:pt x="943356" y="318515"/>
                  </a:lnTo>
                  <a:lnTo>
                    <a:pt x="940236" y="333922"/>
                  </a:lnTo>
                  <a:lnTo>
                    <a:pt x="931735" y="346519"/>
                  </a:lnTo>
                  <a:lnTo>
                    <a:pt x="919138" y="355020"/>
                  </a:lnTo>
                  <a:lnTo>
                    <a:pt x="903732" y="358139"/>
                  </a:lnTo>
                  <a:lnTo>
                    <a:pt x="39624" y="358139"/>
                  </a:lnTo>
                  <a:lnTo>
                    <a:pt x="24217" y="355020"/>
                  </a:lnTo>
                  <a:lnTo>
                    <a:pt x="11620" y="346519"/>
                  </a:lnTo>
                  <a:lnTo>
                    <a:pt x="3119" y="333922"/>
                  </a:lnTo>
                  <a:lnTo>
                    <a:pt x="0" y="318515"/>
                  </a:lnTo>
                  <a:lnTo>
                    <a:pt x="0" y="39624"/>
                  </a:lnTo>
                  <a:close/>
                </a:path>
              </a:pathLst>
            </a:custGeom>
            <a:ln w="9144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180302" y="1046226"/>
            <a:ext cx="92265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3345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Verdana"/>
                <a:cs typeface="Verdana"/>
              </a:rPr>
              <a:t>HRA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808285" y="3794759"/>
            <a:ext cx="1497330" cy="1314450"/>
            <a:chOff x="3808285" y="3794759"/>
            <a:chExt cx="1497330" cy="1314450"/>
          </a:xfrm>
        </p:grpSpPr>
        <p:sp>
          <p:nvSpPr>
            <p:cNvPr id="10" name="object 10"/>
            <p:cNvSpPr/>
            <p:nvPr/>
          </p:nvSpPr>
          <p:spPr>
            <a:xfrm>
              <a:off x="4166615" y="3794759"/>
              <a:ext cx="758951" cy="91287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813047" y="4745735"/>
              <a:ext cx="1487805" cy="358140"/>
            </a:xfrm>
            <a:custGeom>
              <a:avLst/>
              <a:gdLst/>
              <a:ahLst/>
              <a:cxnLst/>
              <a:rect l="l" t="t" r="r" b="b"/>
              <a:pathLst>
                <a:path w="1487804" h="358139">
                  <a:moveTo>
                    <a:pt x="1447800" y="0"/>
                  </a:moveTo>
                  <a:lnTo>
                    <a:pt x="39624" y="0"/>
                  </a:lnTo>
                  <a:lnTo>
                    <a:pt x="24217" y="3119"/>
                  </a:lnTo>
                  <a:lnTo>
                    <a:pt x="11620" y="11620"/>
                  </a:lnTo>
                  <a:lnTo>
                    <a:pt x="3119" y="24217"/>
                  </a:lnTo>
                  <a:lnTo>
                    <a:pt x="0" y="39624"/>
                  </a:lnTo>
                  <a:lnTo>
                    <a:pt x="0" y="318515"/>
                  </a:lnTo>
                  <a:lnTo>
                    <a:pt x="3119" y="333922"/>
                  </a:lnTo>
                  <a:lnTo>
                    <a:pt x="11620" y="346519"/>
                  </a:lnTo>
                  <a:lnTo>
                    <a:pt x="24217" y="355020"/>
                  </a:lnTo>
                  <a:lnTo>
                    <a:pt x="39624" y="358139"/>
                  </a:lnTo>
                  <a:lnTo>
                    <a:pt x="1447800" y="358139"/>
                  </a:lnTo>
                  <a:lnTo>
                    <a:pt x="1463206" y="355020"/>
                  </a:lnTo>
                  <a:lnTo>
                    <a:pt x="1475803" y="346519"/>
                  </a:lnTo>
                  <a:lnTo>
                    <a:pt x="1484304" y="333922"/>
                  </a:lnTo>
                  <a:lnTo>
                    <a:pt x="1487424" y="318515"/>
                  </a:lnTo>
                  <a:lnTo>
                    <a:pt x="1487424" y="39624"/>
                  </a:lnTo>
                  <a:lnTo>
                    <a:pt x="1484304" y="24217"/>
                  </a:lnTo>
                  <a:lnTo>
                    <a:pt x="1475803" y="11620"/>
                  </a:lnTo>
                  <a:lnTo>
                    <a:pt x="1463206" y="3119"/>
                  </a:lnTo>
                  <a:lnTo>
                    <a:pt x="1447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813047" y="4745735"/>
              <a:ext cx="1487805" cy="358140"/>
            </a:xfrm>
            <a:custGeom>
              <a:avLst/>
              <a:gdLst/>
              <a:ahLst/>
              <a:cxnLst/>
              <a:rect l="l" t="t" r="r" b="b"/>
              <a:pathLst>
                <a:path w="1487804" h="358139">
                  <a:moveTo>
                    <a:pt x="0" y="39624"/>
                  </a:moveTo>
                  <a:lnTo>
                    <a:pt x="3119" y="24217"/>
                  </a:lnTo>
                  <a:lnTo>
                    <a:pt x="11620" y="11620"/>
                  </a:lnTo>
                  <a:lnTo>
                    <a:pt x="24217" y="3119"/>
                  </a:lnTo>
                  <a:lnTo>
                    <a:pt x="39624" y="0"/>
                  </a:lnTo>
                  <a:lnTo>
                    <a:pt x="1447800" y="0"/>
                  </a:lnTo>
                  <a:lnTo>
                    <a:pt x="1463206" y="3119"/>
                  </a:lnTo>
                  <a:lnTo>
                    <a:pt x="1475803" y="11620"/>
                  </a:lnTo>
                  <a:lnTo>
                    <a:pt x="1484304" y="24217"/>
                  </a:lnTo>
                  <a:lnTo>
                    <a:pt x="1487424" y="39624"/>
                  </a:lnTo>
                  <a:lnTo>
                    <a:pt x="1487424" y="318515"/>
                  </a:lnTo>
                  <a:lnTo>
                    <a:pt x="1484304" y="333922"/>
                  </a:lnTo>
                  <a:lnTo>
                    <a:pt x="1475803" y="346519"/>
                  </a:lnTo>
                  <a:lnTo>
                    <a:pt x="1463206" y="355020"/>
                  </a:lnTo>
                  <a:lnTo>
                    <a:pt x="1447800" y="358139"/>
                  </a:lnTo>
                  <a:lnTo>
                    <a:pt x="39624" y="358139"/>
                  </a:lnTo>
                  <a:lnTo>
                    <a:pt x="24217" y="355020"/>
                  </a:lnTo>
                  <a:lnTo>
                    <a:pt x="11620" y="346519"/>
                  </a:lnTo>
                  <a:lnTo>
                    <a:pt x="3119" y="333922"/>
                  </a:lnTo>
                  <a:lnTo>
                    <a:pt x="0" y="318515"/>
                  </a:lnTo>
                  <a:lnTo>
                    <a:pt x="0" y="39624"/>
                  </a:lnTo>
                  <a:close/>
                </a:path>
              </a:pathLst>
            </a:custGeom>
            <a:ln w="9144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904234" y="4804664"/>
            <a:ext cx="11607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Verdana"/>
                <a:cs typeface="Verdana"/>
              </a:rPr>
              <a:t>VPN</a:t>
            </a:r>
            <a:r>
              <a:rPr sz="1400" b="1" spc="-60" dirty="0">
                <a:latin typeface="Verdana"/>
                <a:cs typeface="Verdana"/>
              </a:rPr>
              <a:t> </a:t>
            </a:r>
            <a:r>
              <a:rPr sz="1400" b="1" spc="-5" dirty="0">
                <a:latin typeface="Verdana"/>
                <a:cs typeface="Verdana"/>
              </a:rPr>
              <a:t>Server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808285" y="2307335"/>
            <a:ext cx="1497330" cy="1314450"/>
            <a:chOff x="3808285" y="2307335"/>
            <a:chExt cx="1497330" cy="1314450"/>
          </a:xfrm>
        </p:grpSpPr>
        <p:sp>
          <p:nvSpPr>
            <p:cNvPr id="15" name="object 15"/>
            <p:cNvSpPr/>
            <p:nvPr/>
          </p:nvSpPr>
          <p:spPr>
            <a:xfrm>
              <a:off x="4166615" y="2307335"/>
              <a:ext cx="758951" cy="91287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813047" y="3258311"/>
              <a:ext cx="1487805" cy="358140"/>
            </a:xfrm>
            <a:custGeom>
              <a:avLst/>
              <a:gdLst/>
              <a:ahLst/>
              <a:cxnLst/>
              <a:rect l="l" t="t" r="r" b="b"/>
              <a:pathLst>
                <a:path w="1487804" h="358139">
                  <a:moveTo>
                    <a:pt x="1447800" y="0"/>
                  </a:moveTo>
                  <a:lnTo>
                    <a:pt x="39624" y="0"/>
                  </a:lnTo>
                  <a:lnTo>
                    <a:pt x="24217" y="3119"/>
                  </a:lnTo>
                  <a:lnTo>
                    <a:pt x="11620" y="11620"/>
                  </a:lnTo>
                  <a:lnTo>
                    <a:pt x="3119" y="24217"/>
                  </a:lnTo>
                  <a:lnTo>
                    <a:pt x="0" y="39624"/>
                  </a:lnTo>
                  <a:lnTo>
                    <a:pt x="0" y="318515"/>
                  </a:lnTo>
                  <a:lnTo>
                    <a:pt x="3119" y="333922"/>
                  </a:lnTo>
                  <a:lnTo>
                    <a:pt x="11620" y="346519"/>
                  </a:lnTo>
                  <a:lnTo>
                    <a:pt x="24217" y="355020"/>
                  </a:lnTo>
                  <a:lnTo>
                    <a:pt x="39624" y="358139"/>
                  </a:lnTo>
                  <a:lnTo>
                    <a:pt x="1447800" y="358139"/>
                  </a:lnTo>
                  <a:lnTo>
                    <a:pt x="1463206" y="355020"/>
                  </a:lnTo>
                  <a:lnTo>
                    <a:pt x="1475803" y="346519"/>
                  </a:lnTo>
                  <a:lnTo>
                    <a:pt x="1484304" y="333922"/>
                  </a:lnTo>
                  <a:lnTo>
                    <a:pt x="1487424" y="318515"/>
                  </a:lnTo>
                  <a:lnTo>
                    <a:pt x="1487424" y="39624"/>
                  </a:lnTo>
                  <a:lnTo>
                    <a:pt x="1484304" y="24217"/>
                  </a:lnTo>
                  <a:lnTo>
                    <a:pt x="1475803" y="11620"/>
                  </a:lnTo>
                  <a:lnTo>
                    <a:pt x="1463206" y="3119"/>
                  </a:lnTo>
                  <a:lnTo>
                    <a:pt x="1447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813047" y="3258311"/>
              <a:ext cx="1487805" cy="358140"/>
            </a:xfrm>
            <a:custGeom>
              <a:avLst/>
              <a:gdLst/>
              <a:ahLst/>
              <a:cxnLst/>
              <a:rect l="l" t="t" r="r" b="b"/>
              <a:pathLst>
                <a:path w="1487804" h="358139">
                  <a:moveTo>
                    <a:pt x="0" y="39624"/>
                  </a:moveTo>
                  <a:lnTo>
                    <a:pt x="3119" y="24217"/>
                  </a:lnTo>
                  <a:lnTo>
                    <a:pt x="11620" y="11620"/>
                  </a:lnTo>
                  <a:lnTo>
                    <a:pt x="24217" y="3119"/>
                  </a:lnTo>
                  <a:lnTo>
                    <a:pt x="39624" y="0"/>
                  </a:lnTo>
                  <a:lnTo>
                    <a:pt x="1447800" y="0"/>
                  </a:lnTo>
                  <a:lnTo>
                    <a:pt x="1463206" y="3119"/>
                  </a:lnTo>
                  <a:lnTo>
                    <a:pt x="1475803" y="11620"/>
                  </a:lnTo>
                  <a:lnTo>
                    <a:pt x="1484304" y="24217"/>
                  </a:lnTo>
                  <a:lnTo>
                    <a:pt x="1487424" y="39624"/>
                  </a:lnTo>
                  <a:lnTo>
                    <a:pt x="1487424" y="318515"/>
                  </a:lnTo>
                  <a:lnTo>
                    <a:pt x="1484304" y="333922"/>
                  </a:lnTo>
                  <a:lnTo>
                    <a:pt x="1475803" y="346519"/>
                  </a:lnTo>
                  <a:lnTo>
                    <a:pt x="1463206" y="355020"/>
                  </a:lnTo>
                  <a:lnTo>
                    <a:pt x="1447800" y="358139"/>
                  </a:lnTo>
                  <a:lnTo>
                    <a:pt x="39624" y="358139"/>
                  </a:lnTo>
                  <a:lnTo>
                    <a:pt x="24217" y="355020"/>
                  </a:lnTo>
                  <a:lnTo>
                    <a:pt x="11620" y="346519"/>
                  </a:lnTo>
                  <a:lnTo>
                    <a:pt x="3119" y="333922"/>
                  </a:lnTo>
                  <a:lnTo>
                    <a:pt x="0" y="318515"/>
                  </a:lnTo>
                  <a:lnTo>
                    <a:pt x="0" y="39624"/>
                  </a:lnTo>
                  <a:close/>
                </a:path>
              </a:pathLst>
            </a:custGeom>
            <a:ln w="9144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904234" y="3316300"/>
            <a:ext cx="129857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Verdana"/>
                <a:cs typeface="Verdana"/>
              </a:rPr>
              <a:t>DHCP</a:t>
            </a:r>
            <a:r>
              <a:rPr sz="1400" b="1" spc="-75" dirty="0">
                <a:latin typeface="Verdana"/>
                <a:cs typeface="Verdana"/>
              </a:rPr>
              <a:t> </a:t>
            </a:r>
            <a:r>
              <a:rPr sz="1400" b="1" spc="-5" dirty="0">
                <a:latin typeface="Verdana"/>
                <a:cs typeface="Verdana"/>
              </a:rPr>
              <a:t>Server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744979" y="5318683"/>
            <a:ext cx="3629025" cy="1132840"/>
            <a:chOff x="1744979" y="5318683"/>
            <a:chExt cx="3629025" cy="1132840"/>
          </a:xfrm>
        </p:grpSpPr>
        <p:sp>
          <p:nvSpPr>
            <p:cNvPr id="20" name="object 20"/>
            <p:cNvSpPr/>
            <p:nvPr/>
          </p:nvSpPr>
          <p:spPr>
            <a:xfrm>
              <a:off x="4459223" y="5593080"/>
              <a:ext cx="914400" cy="78333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944238" y="5318683"/>
              <a:ext cx="950846" cy="69736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744979" y="6012180"/>
              <a:ext cx="2664460" cy="439420"/>
            </a:xfrm>
            <a:custGeom>
              <a:avLst/>
              <a:gdLst/>
              <a:ahLst/>
              <a:cxnLst/>
              <a:rect l="l" t="t" r="r" b="b"/>
              <a:pathLst>
                <a:path w="2664460" h="439420">
                  <a:moveTo>
                    <a:pt x="2615437" y="0"/>
                  </a:moveTo>
                  <a:lnTo>
                    <a:pt x="48513" y="0"/>
                  </a:lnTo>
                  <a:lnTo>
                    <a:pt x="29628" y="3814"/>
                  </a:lnTo>
                  <a:lnTo>
                    <a:pt x="14208" y="14216"/>
                  </a:lnTo>
                  <a:lnTo>
                    <a:pt x="3811" y="29644"/>
                  </a:lnTo>
                  <a:lnTo>
                    <a:pt x="0" y="48539"/>
                  </a:lnTo>
                  <a:lnTo>
                    <a:pt x="0" y="390372"/>
                  </a:lnTo>
                  <a:lnTo>
                    <a:pt x="3811" y="409267"/>
                  </a:lnTo>
                  <a:lnTo>
                    <a:pt x="14208" y="424695"/>
                  </a:lnTo>
                  <a:lnTo>
                    <a:pt x="29628" y="435097"/>
                  </a:lnTo>
                  <a:lnTo>
                    <a:pt x="48513" y="438912"/>
                  </a:lnTo>
                  <a:lnTo>
                    <a:pt x="2615437" y="438912"/>
                  </a:lnTo>
                  <a:lnTo>
                    <a:pt x="2634323" y="435097"/>
                  </a:lnTo>
                  <a:lnTo>
                    <a:pt x="2649743" y="424695"/>
                  </a:lnTo>
                  <a:lnTo>
                    <a:pt x="2660140" y="409267"/>
                  </a:lnTo>
                  <a:lnTo>
                    <a:pt x="2663952" y="390372"/>
                  </a:lnTo>
                  <a:lnTo>
                    <a:pt x="2663952" y="48539"/>
                  </a:lnTo>
                  <a:lnTo>
                    <a:pt x="2660140" y="29644"/>
                  </a:lnTo>
                  <a:lnTo>
                    <a:pt x="2649743" y="14216"/>
                  </a:lnTo>
                  <a:lnTo>
                    <a:pt x="2634323" y="3814"/>
                  </a:lnTo>
                  <a:lnTo>
                    <a:pt x="26154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746488" y="6005576"/>
            <a:ext cx="266128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Verdana"/>
                <a:cs typeface="Verdana"/>
              </a:rPr>
              <a:t>IEEE</a:t>
            </a:r>
            <a:r>
              <a:rPr sz="1400" b="1" spc="-5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802.1X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b="1" u="sng" dirty="0">
                <a:uFill>
                  <a:solidFill>
                    <a:srgbClr val="777777"/>
                  </a:solidFill>
                </a:uFill>
                <a:latin typeface="Verdana"/>
                <a:cs typeface="Verdana"/>
              </a:rPr>
              <a:t> </a:t>
            </a:r>
            <a:r>
              <a:rPr sz="1400" b="1" u="sng" spc="-240" dirty="0">
                <a:uFill>
                  <a:solidFill>
                    <a:srgbClr val="777777"/>
                  </a:solidFill>
                </a:uFill>
                <a:latin typeface="Verdana"/>
                <a:cs typeface="Verdana"/>
              </a:rPr>
              <a:t> </a:t>
            </a:r>
            <a:r>
              <a:rPr sz="1400" b="1" u="sng" dirty="0">
                <a:uFill>
                  <a:solidFill>
                    <a:srgbClr val="777777"/>
                  </a:solidFill>
                </a:uFill>
                <a:latin typeface="Verdana"/>
                <a:cs typeface="Verdana"/>
              </a:rPr>
              <a:t>Network Access</a:t>
            </a:r>
            <a:r>
              <a:rPr sz="1400" b="1" u="sng" spc="-85" dirty="0">
                <a:uFill>
                  <a:solidFill>
                    <a:srgbClr val="777777"/>
                  </a:solidFill>
                </a:uFill>
                <a:latin typeface="Verdana"/>
                <a:cs typeface="Verdana"/>
              </a:rPr>
              <a:t> </a:t>
            </a:r>
            <a:r>
              <a:rPr sz="1400" b="1" u="sng" spc="-5" dirty="0">
                <a:uFill>
                  <a:solidFill>
                    <a:srgbClr val="777777"/>
                  </a:solidFill>
                </a:uFill>
                <a:latin typeface="Verdana"/>
                <a:cs typeface="Verdana"/>
              </a:rPr>
              <a:t>Devices 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242315" y="964691"/>
            <a:ext cx="8531860" cy="2961640"/>
            <a:chOff x="242315" y="964691"/>
            <a:chExt cx="8531860" cy="2961640"/>
          </a:xfrm>
        </p:grpSpPr>
        <p:sp>
          <p:nvSpPr>
            <p:cNvPr id="25" name="object 25"/>
            <p:cNvSpPr/>
            <p:nvPr/>
          </p:nvSpPr>
          <p:spPr>
            <a:xfrm>
              <a:off x="242315" y="3002280"/>
              <a:ext cx="832104" cy="912876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014715" y="3012947"/>
              <a:ext cx="758951" cy="91287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964423" y="964691"/>
              <a:ext cx="758951" cy="91287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693663" y="1388363"/>
              <a:ext cx="2251075" cy="513715"/>
            </a:xfrm>
            <a:custGeom>
              <a:avLst/>
              <a:gdLst/>
              <a:ahLst/>
              <a:cxnLst/>
              <a:rect l="l" t="t" r="r" b="b"/>
              <a:pathLst>
                <a:path w="2251075" h="513714">
                  <a:moveTo>
                    <a:pt x="2194179" y="0"/>
                  </a:moveTo>
                  <a:lnTo>
                    <a:pt x="56769" y="0"/>
                  </a:lnTo>
                  <a:lnTo>
                    <a:pt x="34665" y="4458"/>
                  </a:lnTo>
                  <a:lnTo>
                    <a:pt x="16621" y="16621"/>
                  </a:lnTo>
                  <a:lnTo>
                    <a:pt x="4458" y="34665"/>
                  </a:lnTo>
                  <a:lnTo>
                    <a:pt x="0" y="56769"/>
                  </a:lnTo>
                  <a:lnTo>
                    <a:pt x="0" y="456819"/>
                  </a:lnTo>
                  <a:lnTo>
                    <a:pt x="4458" y="478922"/>
                  </a:lnTo>
                  <a:lnTo>
                    <a:pt x="16621" y="496966"/>
                  </a:lnTo>
                  <a:lnTo>
                    <a:pt x="34665" y="509129"/>
                  </a:lnTo>
                  <a:lnTo>
                    <a:pt x="56769" y="513588"/>
                  </a:lnTo>
                  <a:lnTo>
                    <a:pt x="2194179" y="513588"/>
                  </a:lnTo>
                  <a:lnTo>
                    <a:pt x="2216282" y="509129"/>
                  </a:lnTo>
                  <a:lnTo>
                    <a:pt x="2234326" y="496966"/>
                  </a:lnTo>
                  <a:lnTo>
                    <a:pt x="2246489" y="478922"/>
                  </a:lnTo>
                  <a:lnTo>
                    <a:pt x="2250947" y="456819"/>
                  </a:lnTo>
                  <a:lnTo>
                    <a:pt x="2250947" y="56769"/>
                  </a:lnTo>
                  <a:lnTo>
                    <a:pt x="2246489" y="34665"/>
                  </a:lnTo>
                  <a:lnTo>
                    <a:pt x="2234326" y="16621"/>
                  </a:lnTo>
                  <a:lnTo>
                    <a:pt x="2216282" y="4458"/>
                  </a:lnTo>
                  <a:lnTo>
                    <a:pt x="21941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693663" y="1388363"/>
              <a:ext cx="2251075" cy="513715"/>
            </a:xfrm>
            <a:custGeom>
              <a:avLst/>
              <a:gdLst/>
              <a:ahLst/>
              <a:cxnLst/>
              <a:rect l="l" t="t" r="r" b="b"/>
              <a:pathLst>
                <a:path w="2251075" h="513714">
                  <a:moveTo>
                    <a:pt x="0" y="56769"/>
                  </a:moveTo>
                  <a:lnTo>
                    <a:pt x="4458" y="34665"/>
                  </a:lnTo>
                  <a:lnTo>
                    <a:pt x="16621" y="16621"/>
                  </a:lnTo>
                  <a:lnTo>
                    <a:pt x="34665" y="4458"/>
                  </a:lnTo>
                  <a:lnTo>
                    <a:pt x="56769" y="0"/>
                  </a:lnTo>
                  <a:lnTo>
                    <a:pt x="2194179" y="0"/>
                  </a:lnTo>
                  <a:lnTo>
                    <a:pt x="2216282" y="4458"/>
                  </a:lnTo>
                  <a:lnTo>
                    <a:pt x="2234326" y="16621"/>
                  </a:lnTo>
                  <a:lnTo>
                    <a:pt x="2246489" y="34665"/>
                  </a:lnTo>
                  <a:lnTo>
                    <a:pt x="2250947" y="56769"/>
                  </a:lnTo>
                  <a:lnTo>
                    <a:pt x="2250947" y="456819"/>
                  </a:lnTo>
                  <a:lnTo>
                    <a:pt x="2246489" y="478922"/>
                  </a:lnTo>
                  <a:lnTo>
                    <a:pt x="2234326" y="496966"/>
                  </a:lnTo>
                  <a:lnTo>
                    <a:pt x="2216282" y="509129"/>
                  </a:lnTo>
                  <a:lnTo>
                    <a:pt x="2194179" y="513588"/>
                  </a:lnTo>
                  <a:lnTo>
                    <a:pt x="56769" y="513588"/>
                  </a:lnTo>
                  <a:lnTo>
                    <a:pt x="34665" y="509129"/>
                  </a:lnTo>
                  <a:lnTo>
                    <a:pt x="16621" y="496966"/>
                  </a:lnTo>
                  <a:lnTo>
                    <a:pt x="4458" y="478922"/>
                  </a:lnTo>
                  <a:lnTo>
                    <a:pt x="0" y="456819"/>
                  </a:lnTo>
                  <a:lnTo>
                    <a:pt x="0" y="56769"/>
                  </a:lnTo>
                  <a:close/>
                </a:path>
              </a:pathLst>
            </a:custGeom>
            <a:ln w="9144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5790691" y="1418336"/>
            <a:ext cx="203263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Verdana"/>
                <a:cs typeface="Verdana"/>
              </a:rPr>
              <a:t>Health</a:t>
            </a:r>
            <a:r>
              <a:rPr sz="1400" b="1" spc="-70" dirty="0">
                <a:latin typeface="Verdana"/>
                <a:cs typeface="Verdana"/>
              </a:rPr>
              <a:t> </a:t>
            </a:r>
            <a:r>
              <a:rPr sz="1400" b="1" spc="-5" dirty="0">
                <a:latin typeface="Verdana"/>
                <a:cs typeface="Verdana"/>
              </a:rPr>
              <a:t>Requirement  Server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338327" y="956881"/>
            <a:ext cx="2305050" cy="916305"/>
            <a:chOff x="338327" y="956881"/>
            <a:chExt cx="2305050" cy="916305"/>
          </a:xfrm>
        </p:grpSpPr>
        <p:sp>
          <p:nvSpPr>
            <p:cNvPr id="32" name="object 32"/>
            <p:cNvSpPr/>
            <p:nvPr/>
          </p:nvSpPr>
          <p:spPr>
            <a:xfrm>
              <a:off x="338327" y="960120"/>
              <a:ext cx="758952" cy="91287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150619" y="961644"/>
              <a:ext cx="1487805" cy="512445"/>
            </a:xfrm>
            <a:custGeom>
              <a:avLst/>
              <a:gdLst/>
              <a:ahLst/>
              <a:cxnLst/>
              <a:rect l="l" t="t" r="r" b="b"/>
              <a:pathLst>
                <a:path w="1487805" h="512444">
                  <a:moveTo>
                    <a:pt x="1430782" y="0"/>
                  </a:moveTo>
                  <a:lnTo>
                    <a:pt x="56629" y="0"/>
                  </a:lnTo>
                  <a:lnTo>
                    <a:pt x="34590" y="4456"/>
                  </a:lnTo>
                  <a:lnTo>
                    <a:pt x="16589" y="16605"/>
                  </a:lnTo>
                  <a:lnTo>
                    <a:pt x="4451" y="34611"/>
                  </a:lnTo>
                  <a:lnTo>
                    <a:pt x="0" y="56641"/>
                  </a:lnTo>
                  <a:lnTo>
                    <a:pt x="0" y="455421"/>
                  </a:lnTo>
                  <a:lnTo>
                    <a:pt x="4451" y="477452"/>
                  </a:lnTo>
                  <a:lnTo>
                    <a:pt x="16589" y="495458"/>
                  </a:lnTo>
                  <a:lnTo>
                    <a:pt x="34590" y="507607"/>
                  </a:lnTo>
                  <a:lnTo>
                    <a:pt x="56629" y="512063"/>
                  </a:lnTo>
                  <a:lnTo>
                    <a:pt x="1430782" y="512063"/>
                  </a:lnTo>
                  <a:lnTo>
                    <a:pt x="1452812" y="507607"/>
                  </a:lnTo>
                  <a:lnTo>
                    <a:pt x="1470818" y="495458"/>
                  </a:lnTo>
                  <a:lnTo>
                    <a:pt x="1482967" y="477452"/>
                  </a:lnTo>
                  <a:lnTo>
                    <a:pt x="1487424" y="455421"/>
                  </a:lnTo>
                  <a:lnTo>
                    <a:pt x="1487424" y="56641"/>
                  </a:lnTo>
                  <a:lnTo>
                    <a:pt x="1482967" y="34611"/>
                  </a:lnTo>
                  <a:lnTo>
                    <a:pt x="1470818" y="16605"/>
                  </a:lnTo>
                  <a:lnTo>
                    <a:pt x="1452812" y="4456"/>
                  </a:lnTo>
                  <a:lnTo>
                    <a:pt x="14307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150619" y="961644"/>
              <a:ext cx="1487805" cy="512445"/>
            </a:xfrm>
            <a:custGeom>
              <a:avLst/>
              <a:gdLst/>
              <a:ahLst/>
              <a:cxnLst/>
              <a:rect l="l" t="t" r="r" b="b"/>
              <a:pathLst>
                <a:path w="1487805" h="512444">
                  <a:moveTo>
                    <a:pt x="0" y="56641"/>
                  </a:moveTo>
                  <a:lnTo>
                    <a:pt x="4451" y="34611"/>
                  </a:lnTo>
                  <a:lnTo>
                    <a:pt x="16589" y="16605"/>
                  </a:lnTo>
                  <a:lnTo>
                    <a:pt x="34590" y="4456"/>
                  </a:lnTo>
                  <a:lnTo>
                    <a:pt x="56629" y="0"/>
                  </a:lnTo>
                  <a:lnTo>
                    <a:pt x="1430782" y="0"/>
                  </a:lnTo>
                  <a:lnTo>
                    <a:pt x="1452812" y="4456"/>
                  </a:lnTo>
                  <a:lnTo>
                    <a:pt x="1470818" y="16605"/>
                  </a:lnTo>
                  <a:lnTo>
                    <a:pt x="1482967" y="34611"/>
                  </a:lnTo>
                  <a:lnTo>
                    <a:pt x="1487424" y="56641"/>
                  </a:lnTo>
                  <a:lnTo>
                    <a:pt x="1487424" y="455421"/>
                  </a:lnTo>
                  <a:lnTo>
                    <a:pt x="1482967" y="477452"/>
                  </a:lnTo>
                  <a:lnTo>
                    <a:pt x="1470818" y="495458"/>
                  </a:lnTo>
                  <a:lnTo>
                    <a:pt x="1452812" y="507607"/>
                  </a:lnTo>
                  <a:lnTo>
                    <a:pt x="1430782" y="512063"/>
                  </a:lnTo>
                  <a:lnTo>
                    <a:pt x="56629" y="512063"/>
                  </a:lnTo>
                  <a:lnTo>
                    <a:pt x="34590" y="507607"/>
                  </a:lnTo>
                  <a:lnTo>
                    <a:pt x="16589" y="495458"/>
                  </a:lnTo>
                  <a:lnTo>
                    <a:pt x="4451" y="477452"/>
                  </a:lnTo>
                  <a:lnTo>
                    <a:pt x="0" y="455421"/>
                  </a:lnTo>
                  <a:lnTo>
                    <a:pt x="0" y="56641"/>
                  </a:lnTo>
                  <a:close/>
                </a:path>
              </a:pathLst>
            </a:custGeom>
            <a:ln w="9144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1246428" y="990345"/>
            <a:ext cx="128587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Verdana"/>
                <a:cs typeface="Verdana"/>
              </a:rPr>
              <a:t>R</a:t>
            </a:r>
            <a:r>
              <a:rPr sz="1400" b="1" spc="-5" dirty="0">
                <a:latin typeface="Verdana"/>
                <a:cs typeface="Verdana"/>
              </a:rPr>
              <a:t>e</a:t>
            </a:r>
            <a:r>
              <a:rPr sz="1400" b="1" dirty="0">
                <a:latin typeface="Verdana"/>
                <a:cs typeface="Verdana"/>
              </a:rPr>
              <a:t>m</a:t>
            </a:r>
            <a:r>
              <a:rPr sz="1400" b="1" spc="-5" dirty="0">
                <a:latin typeface="Verdana"/>
                <a:cs typeface="Verdana"/>
              </a:rPr>
              <a:t>e</a:t>
            </a:r>
            <a:r>
              <a:rPr sz="1400" b="1" spc="5" dirty="0">
                <a:latin typeface="Verdana"/>
                <a:cs typeface="Verdana"/>
              </a:rPr>
              <a:t>d</a:t>
            </a:r>
            <a:r>
              <a:rPr sz="1400" b="1" dirty="0">
                <a:latin typeface="Verdana"/>
                <a:cs typeface="Verdana"/>
              </a:rPr>
              <a:t>ia</a:t>
            </a:r>
            <a:r>
              <a:rPr sz="1400" b="1" spc="-10" dirty="0">
                <a:latin typeface="Verdana"/>
                <a:cs typeface="Verdana"/>
              </a:rPr>
              <a:t>t</a:t>
            </a:r>
            <a:r>
              <a:rPr sz="1400" b="1" spc="-15" dirty="0">
                <a:latin typeface="Verdana"/>
                <a:cs typeface="Verdana"/>
              </a:rPr>
              <a:t>i</a:t>
            </a:r>
            <a:r>
              <a:rPr sz="1400" b="1" spc="-5" dirty="0">
                <a:latin typeface="Verdana"/>
                <a:cs typeface="Verdana"/>
              </a:rPr>
              <a:t>o</a:t>
            </a:r>
            <a:r>
              <a:rPr sz="1400" b="1" dirty="0">
                <a:latin typeface="Verdana"/>
                <a:cs typeface="Verdana"/>
              </a:rPr>
              <a:t>n  </a:t>
            </a:r>
            <a:r>
              <a:rPr sz="1400" b="1" spc="-5" dirty="0">
                <a:latin typeface="Verdana"/>
                <a:cs typeface="Verdana"/>
              </a:rPr>
              <a:t>Server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68389" y="3986593"/>
            <a:ext cx="1306830" cy="367665"/>
            <a:chOff x="68389" y="3986593"/>
            <a:chExt cx="1306830" cy="367665"/>
          </a:xfrm>
        </p:grpSpPr>
        <p:sp>
          <p:nvSpPr>
            <p:cNvPr id="37" name="object 37"/>
            <p:cNvSpPr/>
            <p:nvPr/>
          </p:nvSpPr>
          <p:spPr>
            <a:xfrm>
              <a:off x="73152" y="3991355"/>
              <a:ext cx="1297305" cy="358140"/>
            </a:xfrm>
            <a:custGeom>
              <a:avLst/>
              <a:gdLst/>
              <a:ahLst/>
              <a:cxnLst/>
              <a:rect l="l" t="t" r="r" b="b"/>
              <a:pathLst>
                <a:path w="1297305" h="358139">
                  <a:moveTo>
                    <a:pt x="1257300" y="0"/>
                  </a:moveTo>
                  <a:lnTo>
                    <a:pt x="39610" y="0"/>
                  </a:lnTo>
                  <a:lnTo>
                    <a:pt x="24192" y="3119"/>
                  </a:lnTo>
                  <a:lnTo>
                    <a:pt x="11601" y="11620"/>
                  </a:lnTo>
                  <a:lnTo>
                    <a:pt x="3112" y="24217"/>
                  </a:lnTo>
                  <a:lnTo>
                    <a:pt x="0" y="39624"/>
                  </a:lnTo>
                  <a:lnTo>
                    <a:pt x="0" y="318516"/>
                  </a:lnTo>
                  <a:lnTo>
                    <a:pt x="3112" y="333922"/>
                  </a:lnTo>
                  <a:lnTo>
                    <a:pt x="11601" y="346519"/>
                  </a:lnTo>
                  <a:lnTo>
                    <a:pt x="24192" y="355020"/>
                  </a:lnTo>
                  <a:lnTo>
                    <a:pt x="39610" y="358140"/>
                  </a:lnTo>
                  <a:lnTo>
                    <a:pt x="1257300" y="358140"/>
                  </a:lnTo>
                  <a:lnTo>
                    <a:pt x="1272706" y="355020"/>
                  </a:lnTo>
                  <a:lnTo>
                    <a:pt x="1285303" y="346519"/>
                  </a:lnTo>
                  <a:lnTo>
                    <a:pt x="1293804" y="333922"/>
                  </a:lnTo>
                  <a:lnTo>
                    <a:pt x="1296923" y="318516"/>
                  </a:lnTo>
                  <a:lnTo>
                    <a:pt x="1296923" y="39624"/>
                  </a:lnTo>
                  <a:lnTo>
                    <a:pt x="1293804" y="24217"/>
                  </a:lnTo>
                  <a:lnTo>
                    <a:pt x="1285303" y="11620"/>
                  </a:lnTo>
                  <a:lnTo>
                    <a:pt x="1272706" y="3119"/>
                  </a:lnTo>
                  <a:lnTo>
                    <a:pt x="12573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3152" y="3991355"/>
              <a:ext cx="1297305" cy="358140"/>
            </a:xfrm>
            <a:custGeom>
              <a:avLst/>
              <a:gdLst/>
              <a:ahLst/>
              <a:cxnLst/>
              <a:rect l="l" t="t" r="r" b="b"/>
              <a:pathLst>
                <a:path w="1297305" h="358139">
                  <a:moveTo>
                    <a:pt x="0" y="39624"/>
                  </a:moveTo>
                  <a:lnTo>
                    <a:pt x="3112" y="24217"/>
                  </a:lnTo>
                  <a:lnTo>
                    <a:pt x="11601" y="11620"/>
                  </a:lnTo>
                  <a:lnTo>
                    <a:pt x="24192" y="3119"/>
                  </a:lnTo>
                  <a:lnTo>
                    <a:pt x="39610" y="0"/>
                  </a:lnTo>
                  <a:lnTo>
                    <a:pt x="1257300" y="0"/>
                  </a:lnTo>
                  <a:lnTo>
                    <a:pt x="1272706" y="3119"/>
                  </a:lnTo>
                  <a:lnTo>
                    <a:pt x="1285303" y="11620"/>
                  </a:lnTo>
                  <a:lnTo>
                    <a:pt x="1293804" y="24217"/>
                  </a:lnTo>
                  <a:lnTo>
                    <a:pt x="1296923" y="39624"/>
                  </a:lnTo>
                  <a:lnTo>
                    <a:pt x="1296923" y="318516"/>
                  </a:lnTo>
                  <a:lnTo>
                    <a:pt x="1293804" y="333922"/>
                  </a:lnTo>
                  <a:lnTo>
                    <a:pt x="1285303" y="346519"/>
                  </a:lnTo>
                  <a:lnTo>
                    <a:pt x="1272706" y="355020"/>
                  </a:lnTo>
                  <a:lnTo>
                    <a:pt x="1257300" y="358140"/>
                  </a:lnTo>
                  <a:lnTo>
                    <a:pt x="39610" y="358140"/>
                  </a:lnTo>
                  <a:lnTo>
                    <a:pt x="24192" y="355020"/>
                  </a:lnTo>
                  <a:lnTo>
                    <a:pt x="11601" y="346519"/>
                  </a:lnTo>
                  <a:lnTo>
                    <a:pt x="3112" y="333922"/>
                  </a:lnTo>
                  <a:lnTo>
                    <a:pt x="0" y="318516"/>
                  </a:lnTo>
                  <a:lnTo>
                    <a:pt x="0" y="39624"/>
                  </a:lnTo>
                  <a:close/>
                </a:path>
              </a:pathLst>
            </a:custGeom>
            <a:ln w="9144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163474" y="4050284"/>
            <a:ext cx="10845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Verdana"/>
                <a:cs typeface="Verdana"/>
              </a:rPr>
              <a:t>NAP</a:t>
            </a:r>
            <a:r>
              <a:rPr sz="1400" b="1" spc="-8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Client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7502461" y="3986593"/>
            <a:ext cx="1551940" cy="520065"/>
            <a:chOff x="7502461" y="3986593"/>
            <a:chExt cx="1551940" cy="520065"/>
          </a:xfrm>
        </p:grpSpPr>
        <p:sp>
          <p:nvSpPr>
            <p:cNvPr id="41" name="object 41"/>
            <p:cNvSpPr/>
            <p:nvPr/>
          </p:nvSpPr>
          <p:spPr>
            <a:xfrm>
              <a:off x="7507223" y="3991355"/>
              <a:ext cx="1542415" cy="510540"/>
            </a:xfrm>
            <a:custGeom>
              <a:avLst/>
              <a:gdLst/>
              <a:ahLst/>
              <a:cxnLst/>
              <a:rect l="l" t="t" r="r" b="b"/>
              <a:pathLst>
                <a:path w="1542415" h="510539">
                  <a:moveTo>
                    <a:pt x="1485773" y="0"/>
                  </a:moveTo>
                  <a:lnTo>
                    <a:pt x="56515" y="0"/>
                  </a:lnTo>
                  <a:lnTo>
                    <a:pt x="34504" y="4437"/>
                  </a:lnTo>
                  <a:lnTo>
                    <a:pt x="16541" y="16541"/>
                  </a:lnTo>
                  <a:lnTo>
                    <a:pt x="4437" y="34504"/>
                  </a:lnTo>
                  <a:lnTo>
                    <a:pt x="0" y="56515"/>
                  </a:lnTo>
                  <a:lnTo>
                    <a:pt x="0" y="454025"/>
                  </a:lnTo>
                  <a:lnTo>
                    <a:pt x="4437" y="476035"/>
                  </a:lnTo>
                  <a:lnTo>
                    <a:pt x="16541" y="493998"/>
                  </a:lnTo>
                  <a:lnTo>
                    <a:pt x="34504" y="506102"/>
                  </a:lnTo>
                  <a:lnTo>
                    <a:pt x="56515" y="510540"/>
                  </a:lnTo>
                  <a:lnTo>
                    <a:pt x="1485773" y="510540"/>
                  </a:lnTo>
                  <a:lnTo>
                    <a:pt x="1507783" y="506102"/>
                  </a:lnTo>
                  <a:lnTo>
                    <a:pt x="1525746" y="493998"/>
                  </a:lnTo>
                  <a:lnTo>
                    <a:pt x="1537850" y="476035"/>
                  </a:lnTo>
                  <a:lnTo>
                    <a:pt x="1542287" y="454025"/>
                  </a:lnTo>
                  <a:lnTo>
                    <a:pt x="1542287" y="56515"/>
                  </a:lnTo>
                  <a:lnTo>
                    <a:pt x="1537850" y="34504"/>
                  </a:lnTo>
                  <a:lnTo>
                    <a:pt x="1525746" y="16541"/>
                  </a:lnTo>
                  <a:lnTo>
                    <a:pt x="1507783" y="4437"/>
                  </a:lnTo>
                  <a:lnTo>
                    <a:pt x="14857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507223" y="3991355"/>
              <a:ext cx="1542415" cy="510540"/>
            </a:xfrm>
            <a:custGeom>
              <a:avLst/>
              <a:gdLst/>
              <a:ahLst/>
              <a:cxnLst/>
              <a:rect l="l" t="t" r="r" b="b"/>
              <a:pathLst>
                <a:path w="1542415" h="510539">
                  <a:moveTo>
                    <a:pt x="0" y="56515"/>
                  </a:moveTo>
                  <a:lnTo>
                    <a:pt x="4437" y="34504"/>
                  </a:lnTo>
                  <a:lnTo>
                    <a:pt x="16541" y="16541"/>
                  </a:lnTo>
                  <a:lnTo>
                    <a:pt x="34504" y="4437"/>
                  </a:lnTo>
                  <a:lnTo>
                    <a:pt x="56515" y="0"/>
                  </a:lnTo>
                  <a:lnTo>
                    <a:pt x="1485773" y="0"/>
                  </a:lnTo>
                  <a:lnTo>
                    <a:pt x="1507783" y="4437"/>
                  </a:lnTo>
                  <a:lnTo>
                    <a:pt x="1525746" y="16541"/>
                  </a:lnTo>
                  <a:lnTo>
                    <a:pt x="1537850" y="34504"/>
                  </a:lnTo>
                  <a:lnTo>
                    <a:pt x="1542287" y="56515"/>
                  </a:lnTo>
                  <a:lnTo>
                    <a:pt x="1542287" y="454025"/>
                  </a:lnTo>
                  <a:lnTo>
                    <a:pt x="1537850" y="476035"/>
                  </a:lnTo>
                  <a:lnTo>
                    <a:pt x="1525746" y="493998"/>
                  </a:lnTo>
                  <a:lnTo>
                    <a:pt x="1507783" y="506102"/>
                  </a:lnTo>
                  <a:lnTo>
                    <a:pt x="1485773" y="510540"/>
                  </a:lnTo>
                  <a:lnTo>
                    <a:pt x="56515" y="510540"/>
                  </a:lnTo>
                  <a:lnTo>
                    <a:pt x="34504" y="506102"/>
                  </a:lnTo>
                  <a:lnTo>
                    <a:pt x="16541" y="493998"/>
                  </a:lnTo>
                  <a:lnTo>
                    <a:pt x="4437" y="476035"/>
                  </a:lnTo>
                  <a:lnTo>
                    <a:pt x="0" y="454025"/>
                  </a:lnTo>
                  <a:lnTo>
                    <a:pt x="0" y="56515"/>
                  </a:lnTo>
                  <a:close/>
                </a:path>
              </a:pathLst>
            </a:custGeom>
            <a:ln w="9144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7603997" y="4019803"/>
            <a:ext cx="13360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Verdana"/>
                <a:cs typeface="Verdana"/>
              </a:rPr>
              <a:t>NAP Health  Policy</a:t>
            </a:r>
            <a:r>
              <a:rPr sz="1400" b="1" spc="-85" dirty="0">
                <a:latin typeface="Verdana"/>
                <a:cs typeface="Verdana"/>
              </a:rPr>
              <a:t> </a:t>
            </a:r>
            <a:r>
              <a:rPr sz="1400" b="1" spc="-5" dirty="0">
                <a:latin typeface="Verdana"/>
                <a:cs typeface="Verdana"/>
              </a:rPr>
              <a:t>Server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601789" y="812863"/>
            <a:ext cx="7843520" cy="4631690"/>
            <a:chOff x="601789" y="812863"/>
            <a:chExt cx="7843520" cy="4631690"/>
          </a:xfrm>
        </p:grpSpPr>
        <p:sp>
          <p:nvSpPr>
            <p:cNvPr id="45" name="object 45"/>
            <p:cNvSpPr/>
            <p:nvPr/>
          </p:nvSpPr>
          <p:spPr>
            <a:xfrm>
              <a:off x="601789" y="1559813"/>
              <a:ext cx="7843520" cy="3884929"/>
            </a:xfrm>
            <a:custGeom>
              <a:avLst/>
              <a:gdLst/>
              <a:ahLst/>
              <a:cxnLst/>
              <a:rect l="l" t="t" r="r" b="b"/>
              <a:pathLst>
                <a:path w="7843520" h="3884929">
                  <a:moveTo>
                    <a:pt x="123825" y="1285621"/>
                  </a:moveTo>
                  <a:lnTo>
                    <a:pt x="85725" y="1286052"/>
                  </a:lnTo>
                  <a:lnTo>
                    <a:pt x="76187" y="466140"/>
                  </a:lnTo>
                  <a:lnTo>
                    <a:pt x="114287" y="465709"/>
                  </a:lnTo>
                  <a:lnTo>
                    <a:pt x="104673" y="447040"/>
                  </a:lnTo>
                  <a:lnTo>
                    <a:pt x="55816" y="352044"/>
                  </a:lnTo>
                  <a:lnTo>
                    <a:pt x="0" y="466979"/>
                  </a:lnTo>
                  <a:lnTo>
                    <a:pt x="38087" y="466559"/>
                  </a:lnTo>
                  <a:lnTo>
                    <a:pt x="47625" y="1286471"/>
                  </a:lnTo>
                  <a:lnTo>
                    <a:pt x="9537" y="1286891"/>
                  </a:lnTo>
                  <a:lnTo>
                    <a:pt x="68008" y="1400556"/>
                  </a:lnTo>
                  <a:lnTo>
                    <a:pt x="114134" y="1305560"/>
                  </a:lnTo>
                  <a:lnTo>
                    <a:pt x="123825" y="1285621"/>
                  </a:lnTo>
                  <a:close/>
                </a:path>
                <a:path w="7843520" h="3884929">
                  <a:moveTo>
                    <a:pt x="3541204" y="7620"/>
                  </a:moveTo>
                  <a:lnTo>
                    <a:pt x="3413442" y="8890"/>
                  </a:lnTo>
                  <a:lnTo>
                    <a:pt x="3430752" y="42735"/>
                  </a:lnTo>
                  <a:lnTo>
                    <a:pt x="596938" y="1494599"/>
                  </a:lnTo>
                  <a:lnTo>
                    <a:pt x="579539" y="1460627"/>
                  </a:lnTo>
                  <a:lnTo>
                    <a:pt x="503872" y="1563624"/>
                  </a:lnTo>
                  <a:lnTo>
                    <a:pt x="631659" y="1562354"/>
                  </a:lnTo>
                  <a:lnTo>
                    <a:pt x="618769" y="1537208"/>
                  </a:lnTo>
                  <a:lnTo>
                    <a:pt x="614311" y="1528508"/>
                  </a:lnTo>
                  <a:lnTo>
                    <a:pt x="3448126" y="76657"/>
                  </a:lnTo>
                  <a:lnTo>
                    <a:pt x="3465512" y="110617"/>
                  </a:lnTo>
                  <a:lnTo>
                    <a:pt x="3521786" y="34036"/>
                  </a:lnTo>
                  <a:lnTo>
                    <a:pt x="3541204" y="7620"/>
                  </a:lnTo>
                  <a:close/>
                </a:path>
                <a:path w="7843520" h="3884929">
                  <a:moveTo>
                    <a:pt x="3554920" y="1121664"/>
                  </a:moveTo>
                  <a:lnTo>
                    <a:pt x="3553079" y="1121156"/>
                  </a:lnTo>
                  <a:lnTo>
                    <a:pt x="3431857" y="1087501"/>
                  </a:lnTo>
                  <a:lnTo>
                    <a:pt x="3439109" y="1124800"/>
                  </a:lnTo>
                  <a:lnTo>
                    <a:pt x="615454" y="1675422"/>
                  </a:lnTo>
                  <a:lnTo>
                    <a:pt x="608164" y="1638046"/>
                  </a:lnTo>
                  <a:lnTo>
                    <a:pt x="506920" y="1716024"/>
                  </a:lnTo>
                  <a:lnTo>
                    <a:pt x="630047" y="1750187"/>
                  </a:lnTo>
                  <a:lnTo>
                    <a:pt x="623468" y="1716532"/>
                  </a:lnTo>
                  <a:lnTo>
                    <a:pt x="622757" y="1712887"/>
                  </a:lnTo>
                  <a:lnTo>
                    <a:pt x="3446411" y="1162278"/>
                  </a:lnTo>
                  <a:lnTo>
                    <a:pt x="3453701" y="1199642"/>
                  </a:lnTo>
                  <a:lnTo>
                    <a:pt x="3554920" y="1121664"/>
                  </a:lnTo>
                  <a:close/>
                </a:path>
                <a:path w="7843520" h="3884929">
                  <a:moveTo>
                    <a:pt x="3557968" y="2554224"/>
                  </a:moveTo>
                  <a:lnTo>
                    <a:pt x="3556838" y="2553335"/>
                  </a:lnTo>
                  <a:lnTo>
                    <a:pt x="3457892" y="2474849"/>
                  </a:lnTo>
                  <a:lnTo>
                    <a:pt x="3450069" y="2512098"/>
                  </a:lnTo>
                  <a:lnTo>
                    <a:pt x="615061" y="1917420"/>
                  </a:lnTo>
                  <a:lnTo>
                    <a:pt x="615886" y="1913509"/>
                  </a:lnTo>
                  <a:lnTo>
                    <a:pt x="622896" y="1880108"/>
                  </a:lnTo>
                  <a:lnTo>
                    <a:pt x="499300" y="1912620"/>
                  </a:lnTo>
                  <a:lnTo>
                    <a:pt x="599427" y="1992007"/>
                  </a:lnTo>
                  <a:lnTo>
                    <a:pt x="607237" y="1954758"/>
                  </a:lnTo>
                  <a:lnTo>
                    <a:pt x="3442220" y="2549448"/>
                  </a:lnTo>
                  <a:lnTo>
                    <a:pt x="3434397" y="2586736"/>
                  </a:lnTo>
                  <a:lnTo>
                    <a:pt x="3557968" y="2554224"/>
                  </a:lnTo>
                  <a:close/>
                </a:path>
                <a:path w="7843520" h="3884929">
                  <a:moveTo>
                    <a:pt x="3605212" y="3884676"/>
                  </a:moveTo>
                  <a:lnTo>
                    <a:pt x="3584892" y="3854577"/>
                  </a:lnTo>
                  <a:lnTo>
                    <a:pt x="3533711" y="3778758"/>
                  </a:lnTo>
                  <a:lnTo>
                    <a:pt x="3514979" y="3811981"/>
                  </a:lnTo>
                  <a:lnTo>
                    <a:pt x="594550" y="2166975"/>
                  </a:lnTo>
                  <a:lnTo>
                    <a:pt x="599833" y="2157603"/>
                  </a:lnTo>
                  <a:lnTo>
                    <a:pt x="613219" y="2133854"/>
                  </a:lnTo>
                  <a:lnTo>
                    <a:pt x="485584" y="2127504"/>
                  </a:lnTo>
                  <a:lnTo>
                    <a:pt x="557123" y="2233422"/>
                  </a:lnTo>
                  <a:lnTo>
                    <a:pt x="575818" y="2200237"/>
                  </a:lnTo>
                  <a:lnTo>
                    <a:pt x="3496246" y="3845217"/>
                  </a:lnTo>
                  <a:lnTo>
                    <a:pt x="3477577" y="3878326"/>
                  </a:lnTo>
                  <a:lnTo>
                    <a:pt x="3605212" y="3884676"/>
                  </a:lnTo>
                  <a:close/>
                </a:path>
                <a:path w="7843520" h="3884929">
                  <a:moveTo>
                    <a:pt x="7375588" y="1708404"/>
                  </a:moveTo>
                  <a:lnTo>
                    <a:pt x="7274369" y="1630426"/>
                  </a:lnTo>
                  <a:lnTo>
                    <a:pt x="7267041" y="1667802"/>
                  </a:lnTo>
                  <a:lnTo>
                    <a:pt x="4443387" y="1117180"/>
                  </a:lnTo>
                  <a:lnTo>
                    <a:pt x="4444085" y="1113536"/>
                  </a:lnTo>
                  <a:lnTo>
                    <a:pt x="4450651" y="1079881"/>
                  </a:lnTo>
                  <a:lnTo>
                    <a:pt x="4327588" y="1114044"/>
                  </a:lnTo>
                  <a:lnTo>
                    <a:pt x="4428807" y="1192022"/>
                  </a:lnTo>
                  <a:lnTo>
                    <a:pt x="4436084" y="1154658"/>
                  </a:lnTo>
                  <a:lnTo>
                    <a:pt x="7259701" y="1705267"/>
                  </a:lnTo>
                  <a:lnTo>
                    <a:pt x="7252398" y="1742567"/>
                  </a:lnTo>
                  <a:lnTo>
                    <a:pt x="7373747" y="1708912"/>
                  </a:lnTo>
                  <a:lnTo>
                    <a:pt x="7375588" y="1708404"/>
                  </a:lnTo>
                  <a:close/>
                </a:path>
                <a:path w="7843520" h="3884929">
                  <a:moveTo>
                    <a:pt x="7378636" y="1556004"/>
                  </a:moveTo>
                  <a:lnTo>
                    <a:pt x="7359129" y="1529461"/>
                  </a:lnTo>
                  <a:lnTo>
                    <a:pt x="7302944" y="1453007"/>
                  </a:lnTo>
                  <a:lnTo>
                    <a:pt x="7285609" y="1486865"/>
                  </a:lnTo>
                  <a:lnTo>
                    <a:pt x="4453204" y="35217"/>
                  </a:lnTo>
                  <a:lnTo>
                    <a:pt x="4457649" y="26543"/>
                  </a:lnTo>
                  <a:lnTo>
                    <a:pt x="4470590" y="1270"/>
                  </a:lnTo>
                  <a:lnTo>
                    <a:pt x="4342828" y="0"/>
                  </a:lnTo>
                  <a:lnTo>
                    <a:pt x="4418520" y="102997"/>
                  </a:lnTo>
                  <a:lnTo>
                    <a:pt x="4435843" y="69151"/>
                  </a:lnTo>
                  <a:lnTo>
                    <a:pt x="7268248" y="1520799"/>
                  </a:lnTo>
                  <a:lnTo>
                    <a:pt x="7250874" y="1554734"/>
                  </a:lnTo>
                  <a:lnTo>
                    <a:pt x="7378636" y="1556004"/>
                  </a:lnTo>
                  <a:close/>
                </a:path>
                <a:path w="7843520" h="3884929">
                  <a:moveTo>
                    <a:pt x="7384732" y="1905000"/>
                  </a:moveTo>
                  <a:lnTo>
                    <a:pt x="7261161" y="1872488"/>
                  </a:lnTo>
                  <a:lnTo>
                    <a:pt x="7268946" y="1909800"/>
                  </a:lnTo>
                  <a:lnTo>
                    <a:pt x="4432427" y="2504478"/>
                  </a:lnTo>
                  <a:lnTo>
                    <a:pt x="4424616" y="2467229"/>
                  </a:lnTo>
                  <a:lnTo>
                    <a:pt x="4324540" y="2546604"/>
                  </a:lnTo>
                  <a:lnTo>
                    <a:pt x="4448111" y="2579116"/>
                  </a:lnTo>
                  <a:lnTo>
                    <a:pt x="4441088" y="2545715"/>
                  </a:lnTo>
                  <a:lnTo>
                    <a:pt x="4440275" y="2541828"/>
                  </a:lnTo>
                  <a:lnTo>
                    <a:pt x="7276744" y="1947151"/>
                  </a:lnTo>
                  <a:lnTo>
                    <a:pt x="7284529" y="1984375"/>
                  </a:lnTo>
                  <a:lnTo>
                    <a:pt x="7383602" y="1905889"/>
                  </a:lnTo>
                  <a:lnTo>
                    <a:pt x="7384732" y="1905000"/>
                  </a:lnTo>
                  <a:close/>
                </a:path>
                <a:path w="7843520" h="3884929">
                  <a:moveTo>
                    <a:pt x="7398448" y="2119884"/>
                  </a:moveTo>
                  <a:lnTo>
                    <a:pt x="7270813" y="2126107"/>
                  </a:lnTo>
                  <a:lnTo>
                    <a:pt x="7289482" y="2159355"/>
                  </a:lnTo>
                  <a:lnTo>
                    <a:pt x="4367504" y="3804374"/>
                  </a:lnTo>
                  <a:lnTo>
                    <a:pt x="4348797" y="3771138"/>
                  </a:lnTo>
                  <a:lnTo>
                    <a:pt x="4277296" y="3877056"/>
                  </a:lnTo>
                  <a:lnTo>
                    <a:pt x="4404931" y="3870833"/>
                  </a:lnTo>
                  <a:lnTo>
                    <a:pt x="4391482" y="3846957"/>
                  </a:lnTo>
                  <a:lnTo>
                    <a:pt x="4386224" y="3837622"/>
                  </a:lnTo>
                  <a:lnTo>
                    <a:pt x="7308164" y="2192617"/>
                  </a:lnTo>
                  <a:lnTo>
                    <a:pt x="7326820" y="2225802"/>
                  </a:lnTo>
                  <a:lnTo>
                    <a:pt x="7378090" y="2149983"/>
                  </a:lnTo>
                  <a:lnTo>
                    <a:pt x="7398448" y="2119884"/>
                  </a:lnTo>
                  <a:close/>
                </a:path>
                <a:path w="7843520" h="3884929">
                  <a:moveTo>
                    <a:pt x="7843075" y="1282573"/>
                  </a:moveTo>
                  <a:lnTo>
                    <a:pt x="7804899" y="1283004"/>
                  </a:lnTo>
                  <a:lnTo>
                    <a:pt x="7796657" y="463092"/>
                  </a:lnTo>
                  <a:lnTo>
                    <a:pt x="7834693" y="462661"/>
                  </a:lnTo>
                  <a:lnTo>
                    <a:pt x="7825118" y="443992"/>
                  </a:lnTo>
                  <a:lnTo>
                    <a:pt x="7776400" y="348996"/>
                  </a:lnTo>
                  <a:lnTo>
                    <a:pt x="7720393" y="463931"/>
                  </a:lnTo>
                  <a:lnTo>
                    <a:pt x="7758557" y="463511"/>
                  </a:lnTo>
                  <a:lnTo>
                    <a:pt x="7766799" y="1283423"/>
                  </a:lnTo>
                  <a:lnTo>
                    <a:pt x="7728775" y="1283843"/>
                  </a:lnTo>
                  <a:lnTo>
                    <a:pt x="7787068" y="1397508"/>
                  </a:lnTo>
                  <a:lnTo>
                    <a:pt x="7833347" y="1302512"/>
                  </a:lnTo>
                  <a:lnTo>
                    <a:pt x="7843075" y="1282573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936998" y="842009"/>
              <a:ext cx="3068320" cy="1905"/>
            </a:xfrm>
            <a:custGeom>
              <a:avLst/>
              <a:gdLst/>
              <a:ahLst/>
              <a:cxnLst/>
              <a:rect l="l" t="t" r="r" b="b"/>
              <a:pathLst>
                <a:path w="3068320" h="1905">
                  <a:moveTo>
                    <a:pt x="0" y="1524"/>
                  </a:moveTo>
                  <a:lnTo>
                    <a:pt x="3067811" y="0"/>
                  </a:lnTo>
                </a:path>
              </a:pathLst>
            </a:custGeom>
            <a:ln w="38100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949951" y="813815"/>
              <a:ext cx="3061970" cy="245745"/>
            </a:xfrm>
            <a:custGeom>
              <a:avLst/>
              <a:gdLst/>
              <a:ahLst/>
              <a:cxnLst/>
              <a:rect l="l" t="t" r="r" b="b"/>
              <a:pathLst>
                <a:path w="3061970" h="245744">
                  <a:moveTo>
                    <a:pt x="0" y="3048"/>
                  </a:moveTo>
                  <a:lnTo>
                    <a:pt x="0" y="245363"/>
                  </a:lnTo>
                </a:path>
                <a:path w="3061970" h="245744">
                  <a:moveTo>
                    <a:pt x="3061715" y="0"/>
                  </a:moveTo>
                  <a:lnTo>
                    <a:pt x="3061715" y="242316"/>
                  </a:lnTo>
                </a:path>
              </a:pathLst>
            </a:custGeom>
            <a:ln w="39624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5435346" y="846836"/>
            <a:ext cx="165735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Verdana"/>
                <a:cs typeface="Verdana"/>
              </a:rPr>
              <a:t>RADIUS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Messages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735583" y="2088007"/>
            <a:ext cx="755015" cy="666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Verdana"/>
                <a:cs typeface="Verdana"/>
              </a:rPr>
              <a:t>System  </a:t>
            </a:r>
            <a:r>
              <a:rPr sz="1400" dirty="0">
                <a:latin typeface="Verdana"/>
                <a:cs typeface="Verdana"/>
              </a:rPr>
              <a:t>Health  U</a:t>
            </a:r>
            <a:r>
              <a:rPr sz="1400" spc="-5" dirty="0">
                <a:latin typeface="Verdana"/>
                <a:cs typeface="Verdana"/>
              </a:rPr>
              <a:t>pdates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1122133" y="1692782"/>
            <a:ext cx="2962910" cy="3525520"/>
            <a:chOff x="1122133" y="1692782"/>
            <a:chExt cx="2962910" cy="3525520"/>
          </a:xfrm>
        </p:grpSpPr>
        <p:sp>
          <p:nvSpPr>
            <p:cNvPr id="51" name="object 51"/>
            <p:cNvSpPr/>
            <p:nvPr/>
          </p:nvSpPr>
          <p:spPr>
            <a:xfrm>
              <a:off x="1132484" y="1692782"/>
              <a:ext cx="2952311" cy="175602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122133" y="3541140"/>
              <a:ext cx="2277148" cy="1676908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7150100" y="1969388"/>
            <a:ext cx="1171575" cy="8794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478155" algn="r">
              <a:lnSpc>
                <a:spcPct val="100000"/>
              </a:lnSpc>
              <a:spcBef>
                <a:spcPts val="105"/>
              </a:spcBef>
            </a:pPr>
            <a:r>
              <a:rPr sz="1400" spc="-25" dirty="0">
                <a:latin typeface="Verdana"/>
                <a:cs typeface="Verdana"/>
              </a:rPr>
              <a:t>S</a:t>
            </a:r>
            <a:r>
              <a:rPr sz="1400" dirty="0">
                <a:latin typeface="Verdana"/>
                <a:cs typeface="Verdana"/>
              </a:rPr>
              <a:t>ystem  </a:t>
            </a:r>
            <a:r>
              <a:rPr sz="1400" spc="-5" dirty="0">
                <a:latin typeface="Verdana"/>
                <a:cs typeface="Verdana"/>
              </a:rPr>
              <a:t>H</a:t>
            </a:r>
            <a:r>
              <a:rPr sz="1400" dirty="0">
                <a:latin typeface="Verdana"/>
                <a:cs typeface="Verdana"/>
              </a:rPr>
              <a:t>ea</a:t>
            </a:r>
            <a:r>
              <a:rPr sz="1400" spc="5" dirty="0">
                <a:latin typeface="Verdana"/>
                <a:cs typeface="Verdana"/>
              </a:rPr>
              <a:t>l</a:t>
            </a:r>
            <a:r>
              <a:rPr sz="1400" spc="-5" dirty="0">
                <a:latin typeface="Verdana"/>
                <a:cs typeface="Verdana"/>
              </a:rPr>
              <a:t>th  </a:t>
            </a:r>
            <a:r>
              <a:rPr sz="1400" spc="-40" dirty="0">
                <a:latin typeface="Verdana"/>
                <a:cs typeface="Verdana"/>
              </a:rPr>
              <a:t>R</a:t>
            </a:r>
            <a:r>
              <a:rPr sz="1400" dirty="0">
                <a:latin typeface="Verdana"/>
                <a:cs typeface="Verdana"/>
              </a:rPr>
              <a:t>equ</a:t>
            </a:r>
            <a:r>
              <a:rPr sz="1400" spc="10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rement</a:t>
            </a:r>
            <a:endParaRPr sz="1400">
              <a:latin typeface="Verdana"/>
              <a:cs typeface="Verdana"/>
            </a:endParaRPr>
          </a:p>
          <a:p>
            <a:pPr marR="64769" algn="r">
              <a:lnSpc>
                <a:spcPct val="100000"/>
              </a:lnSpc>
            </a:pPr>
            <a:r>
              <a:rPr sz="1400" spc="-5" dirty="0">
                <a:latin typeface="Verdana"/>
                <a:cs typeface="Verdana"/>
              </a:rPr>
              <a:t>Quer</a:t>
            </a:r>
            <a:r>
              <a:rPr sz="1400" spc="10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es</a:t>
            </a:r>
            <a:endParaRPr sz="1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28816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Verdana"/>
                <a:cs typeface="Verdana"/>
              </a:rPr>
              <a:t>IPsec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Enforcement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4462" y="1062298"/>
            <a:ext cx="8670290" cy="485965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740025">
              <a:lnSpc>
                <a:spcPct val="100000"/>
              </a:lnSpc>
              <a:spcBef>
                <a:spcPts val="5"/>
              </a:spcBef>
            </a:pPr>
            <a:r>
              <a:rPr sz="1200" b="1" spc="-5" dirty="0">
                <a:latin typeface="Verdana"/>
                <a:cs typeface="Verdana"/>
              </a:rPr>
              <a:t>VPN Server</a:t>
            </a:r>
            <a:endParaRPr sz="1200">
              <a:latin typeface="Verdana"/>
              <a:cs typeface="Verdana"/>
            </a:endParaRPr>
          </a:p>
          <a:p>
            <a:pPr marL="5055235">
              <a:lnSpc>
                <a:spcPct val="100000"/>
              </a:lnSpc>
              <a:spcBef>
                <a:spcPts val="520"/>
              </a:spcBef>
              <a:tabLst>
                <a:tab pos="7481570" algn="l"/>
              </a:tabLst>
            </a:pPr>
            <a:r>
              <a:rPr sz="1800" b="1" spc="-7" baseline="2314" dirty="0">
                <a:latin typeface="Verdana"/>
                <a:cs typeface="Verdana"/>
              </a:rPr>
              <a:t>Active	</a:t>
            </a:r>
            <a:r>
              <a:rPr sz="1200" b="1" spc="-5" dirty="0">
                <a:latin typeface="Verdana"/>
                <a:cs typeface="Verdana"/>
              </a:rPr>
              <a:t>IEEE</a:t>
            </a:r>
            <a:r>
              <a:rPr sz="1200" b="1" spc="-10" dirty="0">
                <a:latin typeface="Verdana"/>
                <a:cs typeface="Verdana"/>
              </a:rPr>
              <a:t> </a:t>
            </a:r>
            <a:r>
              <a:rPr sz="1200" b="1" spc="-5" dirty="0">
                <a:latin typeface="Verdana"/>
                <a:cs typeface="Verdana"/>
              </a:rPr>
              <a:t>802.1X</a:t>
            </a:r>
            <a:endParaRPr sz="1200">
              <a:latin typeface="Verdana"/>
              <a:cs typeface="Verdana"/>
            </a:endParaRPr>
          </a:p>
          <a:p>
            <a:pPr marL="5055235">
              <a:lnSpc>
                <a:spcPct val="100000"/>
              </a:lnSpc>
              <a:tabLst>
                <a:tab pos="7481570" algn="l"/>
              </a:tabLst>
            </a:pPr>
            <a:r>
              <a:rPr sz="1200" b="1" spc="-5" dirty="0">
                <a:latin typeface="Verdana"/>
                <a:cs typeface="Verdana"/>
              </a:rPr>
              <a:t>Directory	Devices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950">
              <a:latin typeface="Verdana"/>
              <a:cs typeface="Verdana"/>
            </a:endParaRPr>
          </a:p>
          <a:p>
            <a:pPr marL="5569585" marR="2040889">
              <a:lnSpc>
                <a:spcPct val="100000"/>
              </a:lnSpc>
            </a:pPr>
            <a:r>
              <a:rPr sz="1200" b="1" spc="-5" dirty="0">
                <a:latin typeface="Verdana"/>
                <a:cs typeface="Verdana"/>
              </a:rPr>
              <a:t>Health  R</a:t>
            </a:r>
            <a:r>
              <a:rPr sz="1200" b="1" spc="-10" dirty="0">
                <a:latin typeface="Verdana"/>
                <a:cs typeface="Verdana"/>
              </a:rPr>
              <a:t>e</a:t>
            </a:r>
            <a:r>
              <a:rPr sz="1200" b="1" spc="-5" dirty="0">
                <a:latin typeface="Verdana"/>
                <a:cs typeface="Verdana"/>
              </a:rPr>
              <a:t>gi</a:t>
            </a:r>
            <a:r>
              <a:rPr sz="1200" b="1" spc="-10" dirty="0">
                <a:latin typeface="Verdana"/>
                <a:cs typeface="Verdana"/>
              </a:rPr>
              <a:t>s</a:t>
            </a:r>
            <a:r>
              <a:rPr sz="1200" b="1" dirty="0">
                <a:latin typeface="Verdana"/>
                <a:cs typeface="Verdana"/>
              </a:rPr>
              <a:t>t</a:t>
            </a:r>
            <a:r>
              <a:rPr sz="1200" b="1" spc="-5" dirty="0">
                <a:latin typeface="Verdana"/>
                <a:cs typeface="Verdana"/>
              </a:rPr>
              <a:t>r</a:t>
            </a:r>
            <a:r>
              <a:rPr sz="1200" b="1" dirty="0">
                <a:latin typeface="Verdana"/>
                <a:cs typeface="Verdana"/>
              </a:rPr>
              <a:t>ation  </a:t>
            </a:r>
            <a:r>
              <a:rPr sz="1200" b="1" spc="-5" dirty="0">
                <a:latin typeface="Verdana"/>
                <a:cs typeface="Verdana"/>
              </a:rPr>
              <a:t>Authority</a:t>
            </a:r>
            <a:endParaRPr sz="1200">
              <a:latin typeface="Verdana"/>
              <a:cs typeface="Verdana"/>
            </a:endParaRPr>
          </a:p>
          <a:p>
            <a:pPr>
              <a:lnSpc>
                <a:spcPts val="1695"/>
              </a:lnSpc>
            </a:pPr>
            <a:r>
              <a:rPr sz="1600" b="1" spc="-5" dirty="0">
                <a:latin typeface="Verdana"/>
                <a:cs typeface="Verdana"/>
              </a:rPr>
              <a:t>Internet</a:t>
            </a:r>
            <a:endParaRPr sz="1600">
              <a:latin typeface="Verdana"/>
              <a:cs typeface="Verdana"/>
            </a:endParaRPr>
          </a:p>
          <a:p>
            <a:pPr marR="141605" algn="r">
              <a:lnSpc>
                <a:spcPts val="1245"/>
              </a:lnSpc>
            </a:pPr>
            <a:r>
              <a:rPr sz="1200" b="1" dirty="0">
                <a:latin typeface="Verdana"/>
                <a:cs typeface="Verdana"/>
              </a:rPr>
              <a:t>NAP</a:t>
            </a:r>
            <a:r>
              <a:rPr sz="1200" b="1" spc="-75" dirty="0">
                <a:latin typeface="Verdana"/>
                <a:cs typeface="Verdana"/>
              </a:rPr>
              <a:t> </a:t>
            </a:r>
            <a:r>
              <a:rPr sz="1200" b="1" spc="-5" dirty="0">
                <a:latin typeface="Verdana"/>
                <a:cs typeface="Verdana"/>
              </a:rPr>
              <a:t>Health</a:t>
            </a:r>
            <a:endParaRPr sz="1200">
              <a:latin typeface="Verdana"/>
              <a:cs typeface="Verdana"/>
            </a:endParaRPr>
          </a:p>
          <a:p>
            <a:pPr marL="1868170">
              <a:lnSpc>
                <a:spcPts val="1789"/>
              </a:lnSpc>
              <a:tabLst>
                <a:tab pos="3732529" algn="l"/>
                <a:tab pos="5405755" algn="l"/>
                <a:tab pos="7546340" algn="l"/>
              </a:tabLst>
            </a:pPr>
            <a:r>
              <a:rPr sz="1600" b="1" spc="-10" dirty="0">
                <a:latin typeface="Verdana"/>
                <a:cs typeface="Verdana"/>
              </a:rPr>
              <a:t>Perimeter	</a:t>
            </a:r>
            <a:r>
              <a:rPr sz="1800" b="1" spc="-7" baseline="50925" dirty="0">
                <a:latin typeface="Verdana"/>
                <a:cs typeface="Verdana"/>
              </a:rPr>
              <a:t>DHCP Server	</a:t>
            </a:r>
            <a:r>
              <a:rPr sz="2400" b="1" spc="-7" baseline="1736" dirty="0">
                <a:latin typeface="Verdana"/>
                <a:cs typeface="Verdana"/>
              </a:rPr>
              <a:t>Intranet	</a:t>
            </a:r>
            <a:r>
              <a:rPr sz="1800" b="1" spc="-7" baseline="16203" dirty="0">
                <a:latin typeface="Verdana"/>
                <a:cs typeface="Verdana"/>
              </a:rPr>
              <a:t>Policy</a:t>
            </a:r>
            <a:r>
              <a:rPr sz="1800" b="1" spc="-75" baseline="16203" dirty="0">
                <a:latin typeface="Verdana"/>
                <a:cs typeface="Verdana"/>
              </a:rPr>
              <a:t> </a:t>
            </a:r>
            <a:r>
              <a:rPr sz="1800" b="1" spc="-7" baseline="16203" dirty="0">
                <a:latin typeface="Verdana"/>
                <a:cs typeface="Verdana"/>
              </a:rPr>
              <a:t>Server</a:t>
            </a:r>
            <a:endParaRPr sz="1800" baseline="16203">
              <a:latin typeface="Verdana"/>
              <a:cs typeface="Verdana"/>
            </a:endParaRPr>
          </a:p>
          <a:p>
            <a:pPr marL="1868170">
              <a:lnSpc>
                <a:spcPts val="1825"/>
              </a:lnSpc>
            </a:pPr>
            <a:r>
              <a:rPr sz="1600" b="1" spc="-5" dirty="0">
                <a:latin typeface="Verdana"/>
                <a:cs typeface="Verdana"/>
              </a:rPr>
              <a:t>Network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050">
              <a:latin typeface="Verdana"/>
              <a:cs typeface="Verdana"/>
            </a:endParaRPr>
          </a:p>
          <a:p>
            <a:pPr marL="4790440" marR="2708910">
              <a:lnSpc>
                <a:spcPts val="1730"/>
              </a:lnSpc>
            </a:pPr>
            <a:r>
              <a:rPr sz="1600" b="1" spc="-10" dirty="0">
                <a:latin typeface="Verdana"/>
                <a:cs typeface="Verdana"/>
              </a:rPr>
              <a:t>Restr</a:t>
            </a:r>
            <a:r>
              <a:rPr sz="1600" b="1" spc="-15" dirty="0">
                <a:latin typeface="Verdana"/>
                <a:cs typeface="Verdana"/>
              </a:rPr>
              <a:t>i</a:t>
            </a:r>
            <a:r>
              <a:rPr sz="1600" b="1" spc="-10" dirty="0">
                <a:latin typeface="Verdana"/>
                <a:cs typeface="Verdana"/>
              </a:rPr>
              <a:t>cted  </a:t>
            </a:r>
            <a:r>
              <a:rPr sz="1600" b="1" spc="-5" dirty="0">
                <a:latin typeface="Verdana"/>
                <a:cs typeface="Verdana"/>
              </a:rPr>
              <a:t>Network</a:t>
            </a:r>
            <a:endParaRPr sz="1600">
              <a:latin typeface="Verdana"/>
              <a:cs typeface="Verdana"/>
            </a:endParaRPr>
          </a:p>
          <a:p>
            <a:pPr marL="2131695">
              <a:lnSpc>
                <a:spcPct val="100000"/>
              </a:lnSpc>
              <a:spcBef>
                <a:spcPts val="1655"/>
              </a:spcBef>
              <a:tabLst>
                <a:tab pos="6995795" algn="l"/>
              </a:tabLst>
            </a:pPr>
            <a:r>
              <a:rPr sz="1800" b="1" spc="-7" baseline="32407" dirty="0">
                <a:latin typeface="Verdana"/>
                <a:cs typeface="Verdana"/>
              </a:rPr>
              <a:t>Remediation	</a:t>
            </a:r>
            <a:r>
              <a:rPr sz="1200" b="1" dirty="0">
                <a:latin typeface="Verdana"/>
                <a:cs typeface="Verdana"/>
              </a:rPr>
              <a:t>NAP </a:t>
            </a:r>
            <a:r>
              <a:rPr sz="1200" b="1" spc="-5" dirty="0">
                <a:latin typeface="Verdana"/>
                <a:cs typeface="Verdana"/>
              </a:rPr>
              <a:t>Client</a:t>
            </a:r>
            <a:r>
              <a:rPr sz="1200" b="1" spc="-20" dirty="0">
                <a:latin typeface="Verdana"/>
                <a:cs typeface="Verdana"/>
              </a:rPr>
              <a:t> </a:t>
            </a:r>
            <a:r>
              <a:rPr sz="1200" b="1" dirty="0">
                <a:latin typeface="Verdana"/>
                <a:cs typeface="Verdana"/>
              </a:rPr>
              <a:t>with</a:t>
            </a:r>
            <a:endParaRPr sz="1200">
              <a:latin typeface="Verdana"/>
              <a:cs typeface="Verdana"/>
            </a:endParaRPr>
          </a:p>
          <a:p>
            <a:pPr marL="2131695">
              <a:lnSpc>
                <a:spcPct val="100000"/>
              </a:lnSpc>
              <a:tabLst>
                <a:tab pos="6995795" algn="l"/>
              </a:tabLst>
            </a:pPr>
            <a:r>
              <a:rPr sz="1800" b="1" spc="-7" baseline="32407" dirty="0">
                <a:latin typeface="Verdana"/>
                <a:cs typeface="Verdana"/>
              </a:rPr>
              <a:t>Servers	</a:t>
            </a:r>
            <a:r>
              <a:rPr sz="1200" b="1" spc="-5" dirty="0">
                <a:latin typeface="Verdana"/>
                <a:cs typeface="Verdana"/>
              </a:rPr>
              <a:t>limited</a:t>
            </a:r>
            <a:r>
              <a:rPr sz="1200" b="1" spc="10" dirty="0">
                <a:latin typeface="Verdana"/>
                <a:cs typeface="Verdana"/>
              </a:rPr>
              <a:t> </a:t>
            </a:r>
            <a:r>
              <a:rPr sz="1200" b="1" spc="-5" dirty="0">
                <a:latin typeface="Verdana"/>
                <a:cs typeface="Verdana"/>
              </a:rPr>
              <a:t>access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31647" y="1007173"/>
            <a:ext cx="8759190" cy="5153025"/>
            <a:chOff x="231647" y="1007173"/>
            <a:chExt cx="8759190" cy="5153025"/>
          </a:xfrm>
        </p:grpSpPr>
        <p:sp>
          <p:nvSpPr>
            <p:cNvPr id="5" name="object 5"/>
            <p:cNvSpPr/>
            <p:nvPr/>
          </p:nvSpPr>
          <p:spPr>
            <a:xfrm>
              <a:off x="2719577" y="1774698"/>
              <a:ext cx="2101850" cy="0"/>
            </a:xfrm>
            <a:custGeom>
              <a:avLst/>
              <a:gdLst/>
              <a:ahLst/>
              <a:cxnLst/>
              <a:rect l="l" t="t" r="r" b="b"/>
              <a:pathLst>
                <a:path w="2101850">
                  <a:moveTo>
                    <a:pt x="2101596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777995" y="1370076"/>
              <a:ext cx="5122163" cy="278892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753612" y="1345692"/>
              <a:ext cx="5119116" cy="278587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613147" y="2900171"/>
              <a:ext cx="676655" cy="80619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955792" y="2049780"/>
              <a:ext cx="676656" cy="80619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54858" y="2954274"/>
              <a:ext cx="1015365" cy="0"/>
            </a:xfrm>
            <a:custGeom>
              <a:avLst/>
              <a:gdLst/>
              <a:ahLst/>
              <a:cxnLst/>
              <a:rect l="l" t="t" r="r" b="b"/>
              <a:pathLst>
                <a:path w="1015364">
                  <a:moveTo>
                    <a:pt x="1014983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855975" y="2592324"/>
              <a:ext cx="1024127" cy="82296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206245" y="2954274"/>
              <a:ext cx="2100580" cy="0"/>
            </a:xfrm>
            <a:custGeom>
              <a:avLst/>
              <a:gdLst/>
              <a:ahLst/>
              <a:cxnLst/>
              <a:rect l="l" t="t" r="r" b="b"/>
              <a:pathLst>
                <a:path w="2100579">
                  <a:moveTo>
                    <a:pt x="2100071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508759" y="2590800"/>
              <a:ext cx="1022604" cy="82296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31647" y="2496311"/>
              <a:ext cx="926591" cy="91897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48334" y="2897124"/>
              <a:ext cx="734695" cy="114300"/>
            </a:xfrm>
            <a:custGeom>
              <a:avLst/>
              <a:gdLst/>
              <a:ahLst/>
              <a:cxnLst/>
              <a:rect l="l" t="t" r="r" b="b"/>
              <a:pathLst>
                <a:path w="734694" h="114300">
                  <a:moveTo>
                    <a:pt x="114300" y="0"/>
                  </a:moveTo>
                  <a:lnTo>
                    <a:pt x="0" y="57150"/>
                  </a:lnTo>
                  <a:lnTo>
                    <a:pt x="114300" y="114300"/>
                  </a:lnTo>
                  <a:lnTo>
                    <a:pt x="114300" y="76200"/>
                  </a:lnTo>
                  <a:lnTo>
                    <a:pt x="95250" y="76200"/>
                  </a:lnTo>
                  <a:lnTo>
                    <a:pt x="95250" y="38100"/>
                  </a:lnTo>
                  <a:lnTo>
                    <a:pt x="114300" y="38100"/>
                  </a:lnTo>
                  <a:lnTo>
                    <a:pt x="114300" y="0"/>
                  </a:lnTo>
                  <a:close/>
                </a:path>
                <a:path w="734694" h="114300">
                  <a:moveTo>
                    <a:pt x="114300" y="38100"/>
                  </a:moveTo>
                  <a:lnTo>
                    <a:pt x="95250" y="38100"/>
                  </a:lnTo>
                  <a:lnTo>
                    <a:pt x="95250" y="76200"/>
                  </a:lnTo>
                  <a:lnTo>
                    <a:pt x="114300" y="76200"/>
                  </a:lnTo>
                  <a:lnTo>
                    <a:pt x="114300" y="38100"/>
                  </a:lnTo>
                  <a:close/>
                </a:path>
                <a:path w="734694" h="114300">
                  <a:moveTo>
                    <a:pt x="734567" y="38100"/>
                  </a:moveTo>
                  <a:lnTo>
                    <a:pt x="114300" y="38100"/>
                  </a:lnTo>
                  <a:lnTo>
                    <a:pt x="114300" y="76200"/>
                  </a:lnTo>
                  <a:lnTo>
                    <a:pt x="734567" y="76200"/>
                  </a:lnTo>
                  <a:lnTo>
                    <a:pt x="734567" y="3810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266431" y="2907791"/>
              <a:ext cx="675131" cy="80772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633716" y="3621024"/>
              <a:ext cx="1351915" cy="433070"/>
            </a:xfrm>
            <a:custGeom>
              <a:avLst/>
              <a:gdLst/>
              <a:ahLst/>
              <a:cxnLst/>
              <a:rect l="l" t="t" r="r" b="b"/>
              <a:pathLst>
                <a:path w="1351915" h="433070">
                  <a:moveTo>
                    <a:pt x="1303908" y="0"/>
                  </a:moveTo>
                  <a:lnTo>
                    <a:pt x="47878" y="0"/>
                  </a:lnTo>
                  <a:lnTo>
                    <a:pt x="29253" y="3766"/>
                  </a:lnTo>
                  <a:lnTo>
                    <a:pt x="14033" y="14033"/>
                  </a:lnTo>
                  <a:lnTo>
                    <a:pt x="3766" y="29253"/>
                  </a:lnTo>
                  <a:lnTo>
                    <a:pt x="0" y="47878"/>
                  </a:lnTo>
                  <a:lnTo>
                    <a:pt x="0" y="384937"/>
                  </a:lnTo>
                  <a:lnTo>
                    <a:pt x="3766" y="403562"/>
                  </a:lnTo>
                  <a:lnTo>
                    <a:pt x="14033" y="418782"/>
                  </a:lnTo>
                  <a:lnTo>
                    <a:pt x="29253" y="429049"/>
                  </a:lnTo>
                  <a:lnTo>
                    <a:pt x="47878" y="432815"/>
                  </a:lnTo>
                  <a:lnTo>
                    <a:pt x="1303908" y="432815"/>
                  </a:lnTo>
                  <a:lnTo>
                    <a:pt x="1322534" y="429049"/>
                  </a:lnTo>
                  <a:lnTo>
                    <a:pt x="1337754" y="418782"/>
                  </a:lnTo>
                  <a:lnTo>
                    <a:pt x="1348021" y="403562"/>
                  </a:lnTo>
                  <a:lnTo>
                    <a:pt x="1351787" y="384937"/>
                  </a:lnTo>
                  <a:lnTo>
                    <a:pt x="1351787" y="47878"/>
                  </a:lnTo>
                  <a:lnTo>
                    <a:pt x="1348021" y="29253"/>
                  </a:lnTo>
                  <a:lnTo>
                    <a:pt x="1337754" y="14033"/>
                  </a:lnTo>
                  <a:lnTo>
                    <a:pt x="1322534" y="3766"/>
                  </a:lnTo>
                  <a:lnTo>
                    <a:pt x="13039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633716" y="3621024"/>
              <a:ext cx="1351915" cy="433070"/>
            </a:xfrm>
            <a:custGeom>
              <a:avLst/>
              <a:gdLst/>
              <a:ahLst/>
              <a:cxnLst/>
              <a:rect l="l" t="t" r="r" b="b"/>
              <a:pathLst>
                <a:path w="1351915" h="433070">
                  <a:moveTo>
                    <a:pt x="0" y="47878"/>
                  </a:moveTo>
                  <a:lnTo>
                    <a:pt x="3766" y="29253"/>
                  </a:lnTo>
                  <a:lnTo>
                    <a:pt x="14033" y="14033"/>
                  </a:lnTo>
                  <a:lnTo>
                    <a:pt x="29253" y="3766"/>
                  </a:lnTo>
                  <a:lnTo>
                    <a:pt x="47878" y="0"/>
                  </a:lnTo>
                  <a:lnTo>
                    <a:pt x="1303908" y="0"/>
                  </a:lnTo>
                  <a:lnTo>
                    <a:pt x="1322534" y="3766"/>
                  </a:lnTo>
                  <a:lnTo>
                    <a:pt x="1337754" y="14033"/>
                  </a:lnTo>
                  <a:lnTo>
                    <a:pt x="1348021" y="29253"/>
                  </a:lnTo>
                  <a:lnTo>
                    <a:pt x="1351787" y="47878"/>
                  </a:lnTo>
                  <a:lnTo>
                    <a:pt x="1351787" y="384937"/>
                  </a:lnTo>
                  <a:lnTo>
                    <a:pt x="1348021" y="403562"/>
                  </a:lnTo>
                  <a:lnTo>
                    <a:pt x="1337754" y="418782"/>
                  </a:lnTo>
                  <a:lnTo>
                    <a:pt x="1322534" y="429049"/>
                  </a:lnTo>
                  <a:lnTo>
                    <a:pt x="1303908" y="432815"/>
                  </a:lnTo>
                  <a:lnTo>
                    <a:pt x="47878" y="432815"/>
                  </a:lnTo>
                  <a:lnTo>
                    <a:pt x="29253" y="429049"/>
                  </a:lnTo>
                  <a:lnTo>
                    <a:pt x="14033" y="418782"/>
                  </a:lnTo>
                  <a:lnTo>
                    <a:pt x="3766" y="403562"/>
                  </a:lnTo>
                  <a:lnTo>
                    <a:pt x="0" y="384937"/>
                  </a:lnTo>
                  <a:lnTo>
                    <a:pt x="0" y="47878"/>
                  </a:lnTo>
                  <a:close/>
                </a:path>
              </a:pathLst>
            </a:custGeom>
            <a:ln w="9144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25239" y="3688080"/>
              <a:ext cx="1327785" cy="288290"/>
            </a:xfrm>
            <a:custGeom>
              <a:avLst/>
              <a:gdLst/>
              <a:ahLst/>
              <a:cxnLst/>
              <a:rect l="l" t="t" r="r" b="b"/>
              <a:pathLst>
                <a:path w="1327785" h="288289">
                  <a:moveTo>
                    <a:pt x="1295527" y="0"/>
                  </a:moveTo>
                  <a:lnTo>
                    <a:pt x="31876" y="0"/>
                  </a:lnTo>
                  <a:lnTo>
                    <a:pt x="19448" y="2498"/>
                  </a:lnTo>
                  <a:lnTo>
                    <a:pt x="9318" y="9318"/>
                  </a:lnTo>
                  <a:lnTo>
                    <a:pt x="2498" y="19448"/>
                  </a:lnTo>
                  <a:lnTo>
                    <a:pt x="0" y="31877"/>
                  </a:lnTo>
                  <a:lnTo>
                    <a:pt x="0" y="256159"/>
                  </a:lnTo>
                  <a:lnTo>
                    <a:pt x="2498" y="268587"/>
                  </a:lnTo>
                  <a:lnTo>
                    <a:pt x="9318" y="278717"/>
                  </a:lnTo>
                  <a:lnTo>
                    <a:pt x="19448" y="285537"/>
                  </a:lnTo>
                  <a:lnTo>
                    <a:pt x="31876" y="288036"/>
                  </a:lnTo>
                  <a:lnTo>
                    <a:pt x="1295527" y="288036"/>
                  </a:lnTo>
                  <a:lnTo>
                    <a:pt x="1307955" y="285537"/>
                  </a:lnTo>
                  <a:lnTo>
                    <a:pt x="1318085" y="278717"/>
                  </a:lnTo>
                  <a:lnTo>
                    <a:pt x="1324905" y="268587"/>
                  </a:lnTo>
                  <a:lnTo>
                    <a:pt x="1327404" y="256159"/>
                  </a:lnTo>
                  <a:lnTo>
                    <a:pt x="1327404" y="31877"/>
                  </a:lnTo>
                  <a:lnTo>
                    <a:pt x="1324905" y="19448"/>
                  </a:lnTo>
                  <a:lnTo>
                    <a:pt x="1318085" y="9318"/>
                  </a:lnTo>
                  <a:lnTo>
                    <a:pt x="1307955" y="2498"/>
                  </a:lnTo>
                  <a:lnTo>
                    <a:pt x="12955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825239" y="3688080"/>
              <a:ext cx="1327785" cy="288290"/>
            </a:xfrm>
            <a:custGeom>
              <a:avLst/>
              <a:gdLst/>
              <a:ahLst/>
              <a:cxnLst/>
              <a:rect l="l" t="t" r="r" b="b"/>
              <a:pathLst>
                <a:path w="1327785" h="288289">
                  <a:moveTo>
                    <a:pt x="0" y="31877"/>
                  </a:moveTo>
                  <a:lnTo>
                    <a:pt x="2498" y="19448"/>
                  </a:lnTo>
                  <a:lnTo>
                    <a:pt x="9318" y="9318"/>
                  </a:lnTo>
                  <a:lnTo>
                    <a:pt x="19448" y="2498"/>
                  </a:lnTo>
                  <a:lnTo>
                    <a:pt x="31876" y="0"/>
                  </a:lnTo>
                  <a:lnTo>
                    <a:pt x="1295527" y="0"/>
                  </a:lnTo>
                  <a:lnTo>
                    <a:pt x="1307955" y="2498"/>
                  </a:lnTo>
                  <a:lnTo>
                    <a:pt x="1318085" y="9318"/>
                  </a:lnTo>
                  <a:lnTo>
                    <a:pt x="1324905" y="19448"/>
                  </a:lnTo>
                  <a:lnTo>
                    <a:pt x="1327404" y="31877"/>
                  </a:lnTo>
                  <a:lnTo>
                    <a:pt x="1327404" y="256159"/>
                  </a:lnTo>
                  <a:lnTo>
                    <a:pt x="1324905" y="268587"/>
                  </a:lnTo>
                  <a:lnTo>
                    <a:pt x="1318085" y="278717"/>
                  </a:lnTo>
                  <a:lnTo>
                    <a:pt x="1307955" y="285537"/>
                  </a:lnTo>
                  <a:lnTo>
                    <a:pt x="1295527" y="288036"/>
                  </a:lnTo>
                  <a:lnTo>
                    <a:pt x="31876" y="288036"/>
                  </a:lnTo>
                  <a:lnTo>
                    <a:pt x="19448" y="285537"/>
                  </a:lnTo>
                  <a:lnTo>
                    <a:pt x="9318" y="278717"/>
                  </a:lnTo>
                  <a:lnTo>
                    <a:pt x="2498" y="268587"/>
                  </a:lnTo>
                  <a:lnTo>
                    <a:pt x="0" y="256159"/>
                  </a:lnTo>
                  <a:lnTo>
                    <a:pt x="0" y="31877"/>
                  </a:lnTo>
                  <a:close/>
                </a:path>
              </a:pathLst>
            </a:custGeom>
            <a:ln w="9144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652515" y="2894075"/>
              <a:ext cx="1280160" cy="582295"/>
            </a:xfrm>
            <a:custGeom>
              <a:avLst/>
              <a:gdLst/>
              <a:ahLst/>
              <a:cxnLst/>
              <a:rect l="l" t="t" r="r" b="b"/>
              <a:pathLst>
                <a:path w="1280159" h="582295">
                  <a:moveTo>
                    <a:pt x="1215770" y="0"/>
                  </a:moveTo>
                  <a:lnTo>
                    <a:pt x="64388" y="0"/>
                  </a:lnTo>
                  <a:lnTo>
                    <a:pt x="39326" y="5060"/>
                  </a:lnTo>
                  <a:lnTo>
                    <a:pt x="18859" y="18859"/>
                  </a:lnTo>
                  <a:lnTo>
                    <a:pt x="5060" y="39326"/>
                  </a:lnTo>
                  <a:lnTo>
                    <a:pt x="0" y="64388"/>
                  </a:lnTo>
                  <a:lnTo>
                    <a:pt x="0" y="517778"/>
                  </a:lnTo>
                  <a:lnTo>
                    <a:pt x="5060" y="542841"/>
                  </a:lnTo>
                  <a:lnTo>
                    <a:pt x="18859" y="563308"/>
                  </a:lnTo>
                  <a:lnTo>
                    <a:pt x="39326" y="577107"/>
                  </a:lnTo>
                  <a:lnTo>
                    <a:pt x="64388" y="582168"/>
                  </a:lnTo>
                  <a:lnTo>
                    <a:pt x="1215770" y="582168"/>
                  </a:lnTo>
                  <a:lnTo>
                    <a:pt x="1240833" y="577107"/>
                  </a:lnTo>
                  <a:lnTo>
                    <a:pt x="1261300" y="563308"/>
                  </a:lnTo>
                  <a:lnTo>
                    <a:pt x="1275099" y="542841"/>
                  </a:lnTo>
                  <a:lnTo>
                    <a:pt x="1280160" y="517778"/>
                  </a:lnTo>
                  <a:lnTo>
                    <a:pt x="1280160" y="64388"/>
                  </a:lnTo>
                  <a:lnTo>
                    <a:pt x="1275099" y="39326"/>
                  </a:lnTo>
                  <a:lnTo>
                    <a:pt x="1261300" y="18859"/>
                  </a:lnTo>
                  <a:lnTo>
                    <a:pt x="1240833" y="5060"/>
                  </a:lnTo>
                  <a:lnTo>
                    <a:pt x="12157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652515" y="2894075"/>
              <a:ext cx="1280160" cy="582295"/>
            </a:xfrm>
            <a:custGeom>
              <a:avLst/>
              <a:gdLst/>
              <a:ahLst/>
              <a:cxnLst/>
              <a:rect l="l" t="t" r="r" b="b"/>
              <a:pathLst>
                <a:path w="1280159" h="582295">
                  <a:moveTo>
                    <a:pt x="0" y="64388"/>
                  </a:moveTo>
                  <a:lnTo>
                    <a:pt x="5060" y="39326"/>
                  </a:lnTo>
                  <a:lnTo>
                    <a:pt x="18859" y="18859"/>
                  </a:lnTo>
                  <a:lnTo>
                    <a:pt x="39326" y="5060"/>
                  </a:lnTo>
                  <a:lnTo>
                    <a:pt x="64388" y="0"/>
                  </a:lnTo>
                  <a:lnTo>
                    <a:pt x="1215770" y="0"/>
                  </a:lnTo>
                  <a:lnTo>
                    <a:pt x="1240833" y="5060"/>
                  </a:lnTo>
                  <a:lnTo>
                    <a:pt x="1261300" y="18859"/>
                  </a:lnTo>
                  <a:lnTo>
                    <a:pt x="1275099" y="39326"/>
                  </a:lnTo>
                  <a:lnTo>
                    <a:pt x="1280160" y="64388"/>
                  </a:lnTo>
                  <a:lnTo>
                    <a:pt x="1280160" y="517778"/>
                  </a:lnTo>
                  <a:lnTo>
                    <a:pt x="1275099" y="542841"/>
                  </a:lnTo>
                  <a:lnTo>
                    <a:pt x="1261300" y="563308"/>
                  </a:lnTo>
                  <a:lnTo>
                    <a:pt x="1240833" y="577107"/>
                  </a:lnTo>
                  <a:lnTo>
                    <a:pt x="1215770" y="582168"/>
                  </a:lnTo>
                  <a:lnTo>
                    <a:pt x="64388" y="582168"/>
                  </a:lnTo>
                  <a:lnTo>
                    <a:pt x="39326" y="577107"/>
                  </a:lnTo>
                  <a:lnTo>
                    <a:pt x="18859" y="563308"/>
                  </a:lnTo>
                  <a:lnTo>
                    <a:pt x="5060" y="542841"/>
                  </a:lnTo>
                  <a:lnTo>
                    <a:pt x="0" y="517778"/>
                  </a:lnTo>
                  <a:lnTo>
                    <a:pt x="0" y="64388"/>
                  </a:lnTo>
                  <a:close/>
                </a:path>
              </a:pathLst>
            </a:custGeom>
            <a:ln w="9144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164324" y="1772412"/>
              <a:ext cx="734568" cy="57759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752590" y="1569389"/>
              <a:ext cx="761089" cy="516488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569707" y="1277111"/>
              <a:ext cx="1278890" cy="439420"/>
            </a:xfrm>
            <a:custGeom>
              <a:avLst/>
              <a:gdLst/>
              <a:ahLst/>
              <a:cxnLst/>
              <a:rect l="l" t="t" r="r" b="b"/>
              <a:pathLst>
                <a:path w="1278890" h="439419">
                  <a:moveTo>
                    <a:pt x="1230122" y="0"/>
                  </a:moveTo>
                  <a:lnTo>
                    <a:pt x="48514" y="0"/>
                  </a:lnTo>
                  <a:lnTo>
                    <a:pt x="29628" y="3811"/>
                  </a:lnTo>
                  <a:lnTo>
                    <a:pt x="14208" y="14208"/>
                  </a:lnTo>
                  <a:lnTo>
                    <a:pt x="3811" y="29628"/>
                  </a:lnTo>
                  <a:lnTo>
                    <a:pt x="0" y="48513"/>
                  </a:lnTo>
                  <a:lnTo>
                    <a:pt x="0" y="390398"/>
                  </a:lnTo>
                  <a:lnTo>
                    <a:pt x="3811" y="409283"/>
                  </a:lnTo>
                  <a:lnTo>
                    <a:pt x="14208" y="424703"/>
                  </a:lnTo>
                  <a:lnTo>
                    <a:pt x="29628" y="435100"/>
                  </a:lnTo>
                  <a:lnTo>
                    <a:pt x="48514" y="438912"/>
                  </a:lnTo>
                  <a:lnTo>
                    <a:pt x="1230122" y="438912"/>
                  </a:lnTo>
                  <a:lnTo>
                    <a:pt x="1249007" y="435100"/>
                  </a:lnTo>
                  <a:lnTo>
                    <a:pt x="1264427" y="424703"/>
                  </a:lnTo>
                  <a:lnTo>
                    <a:pt x="1274824" y="409283"/>
                  </a:lnTo>
                  <a:lnTo>
                    <a:pt x="1278636" y="390398"/>
                  </a:lnTo>
                  <a:lnTo>
                    <a:pt x="1278636" y="48513"/>
                  </a:lnTo>
                  <a:lnTo>
                    <a:pt x="1274824" y="29628"/>
                  </a:lnTo>
                  <a:lnTo>
                    <a:pt x="1264427" y="14208"/>
                  </a:lnTo>
                  <a:lnTo>
                    <a:pt x="1249007" y="3811"/>
                  </a:lnTo>
                  <a:lnTo>
                    <a:pt x="123012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569707" y="1277111"/>
              <a:ext cx="1278890" cy="439420"/>
            </a:xfrm>
            <a:custGeom>
              <a:avLst/>
              <a:gdLst/>
              <a:ahLst/>
              <a:cxnLst/>
              <a:rect l="l" t="t" r="r" b="b"/>
              <a:pathLst>
                <a:path w="1278890" h="439419">
                  <a:moveTo>
                    <a:pt x="0" y="48513"/>
                  </a:moveTo>
                  <a:lnTo>
                    <a:pt x="3811" y="29628"/>
                  </a:lnTo>
                  <a:lnTo>
                    <a:pt x="14208" y="14208"/>
                  </a:lnTo>
                  <a:lnTo>
                    <a:pt x="29628" y="3811"/>
                  </a:lnTo>
                  <a:lnTo>
                    <a:pt x="48514" y="0"/>
                  </a:lnTo>
                  <a:lnTo>
                    <a:pt x="1230122" y="0"/>
                  </a:lnTo>
                  <a:lnTo>
                    <a:pt x="1249007" y="3811"/>
                  </a:lnTo>
                  <a:lnTo>
                    <a:pt x="1264427" y="14208"/>
                  </a:lnTo>
                  <a:lnTo>
                    <a:pt x="1274824" y="29628"/>
                  </a:lnTo>
                  <a:lnTo>
                    <a:pt x="1278636" y="48513"/>
                  </a:lnTo>
                  <a:lnTo>
                    <a:pt x="1278636" y="390398"/>
                  </a:lnTo>
                  <a:lnTo>
                    <a:pt x="1274824" y="409283"/>
                  </a:lnTo>
                  <a:lnTo>
                    <a:pt x="1264427" y="424703"/>
                  </a:lnTo>
                  <a:lnTo>
                    <a:pt x="1249007" y="435100"/>
                  </a:lnTo>
                  <a:lnTo>
                    <a:pt x="1230122" y="438912"/>
                  </a:lnTo>
                  <a:lnTo>
                    <a:pt x="48514" y="438912"/>
                  </a:lnTo>
                  <a:lnTo>
                    <a:pt x="29628" y="435100"/>
                  </a:lnTo>
                  <a:lnTo>
                    <a:pt x="14208" y="424703"/>
                  </a:lnTo>
                  <a:lnTo>
                    <a:pt x="3811" y="409283"/>
                  </a:lnTo>
                  <a:lnTo>
                    <a:pt x="0" y="390398"/>
                  </a:lnTo>
                  <a:lnTo>
                    <a:pt x="0" y="48513"/>
                  </a:lnTo>
                  <a:close/>
                </a:path>
              </a:pathLst>
            </a:custGeom>
            <a:ln w="9144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474463" y="1574291"/>
              <a:ext cx="1011936" cy="893063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143500" y="1272540"/>
              <a:ext cx="1024255" cy="440690"/>
            </a:xfrm>
            <a:custGeom>
              <a:avLst/>
              <a:gdLst/>
              <a:ahLst/>
              <a:cxnLst/>
              <a:rect l="l" t="t" r="r" b="b"/>
              <a:pathLst>
                <a:path w="1024254" h="440689">
                  <a:moveTo>
                    <a:pt x="975360" y="0"/>
                  </a:moveTo>
                  <a:lnTo>
                    <a:pt x="48767" y="0"/>
                  </a:lnTo>
                  <a:lnTo>
                    <a:pt x="29789" y="3833"/>
                  </a:lnTo>
                  <a:lnTo>
                    <a:pt x="14287" y="14287"/>
                  </a:lnTo>
                  <a:lnTo>
                    <a:pt x="3833" y="29789"/>
                  </a:lnTo>
                  <a:lnTo>
                    <a:pt x="0" y="48768"/>
                  </a:lnTo>
                  <a:lnTo>
                    <a:pt x="0" y="391668"/>
                  </a:lnTo>
                  <a:lnTo>
                    <a:pt x="3833" y="410646"/>
                  </a:lnTo>
                  <a:lnTo>
                    <a:pt x="14287" y="426148"/>
                  </a:lnTo>
                  <a:lnTo>
                    <a:pt x="29789" y="436602"/>
                  </a:lnTo>
                  <a:lnTo>
                    <a:pt x="48767" y="440436"/>
                  </a:lnTo>
                  <a:lnTo>
                    <a:pt x="975360" y="440436"/>
                  </a:lnTo>
                  <a:lnTo>
                    <a:pt x="994338" y="436602"/>
                  </a:lnTo>
                  <a:lnTo>
                    <a:pt x="1009840" y="426148"/>
                  </a:lnTo>
                  <a:lnTo>
                    <a:pt x="1020294" y="410646"/>
                  </a:lnTo>
                  <a:lnTo>
                    <a:pt x="1024127" y="391668"/>
                  </a:lnTo>
                  <a:lnTo>
                    <a:pt x="1024127" y="48768"/>
                  </a:lnTo>
                  <a:lnTo>
                    <a:pt x="1020294" y="29789"/>
                  </a:lnTo>
                  <a:lnTo>
                    <a:pt x="1009840" y="14287"/>
                  </a:lnTo>
                  <a:lnTo>
                    <a:pt x="994338" y="3833"/>
                  </a:lnTo>
                  <a:lnTo>
                    <a:pt x="9753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143500" y="1272540"/>
              <a:ext cx="1024255" cy="440690"/>
            </a:xfrm>
            <a:custGeom>
              <a:avLst/>
              <a:gdLst/>
              <a:ahLst/>
              <a:cxnLst/>
              <a:rect l="l" t="t" r="r" b="b"/>
              <a:pathLst>
                <a:path w="1024254" h="440689">
                  <a:moveTo>
                    <a:pt x="0" y="48768"/>
                  </a:moveTo>
                  <a:lnTo>
                    <a:pt x="3833" y="29789"/>
                  </a:lnTo>
                  <a:lnTo>
                    <a:pt x="14287" y="14287"/>
                  </a:lnTo>
                  <a:lnTo>
                    <a:pt x="29789" y="3833"/>
                  </a:lnTo>
                  <a:lnTo>
                    <a:pt x="48767" y="0"/>
                  </a:lnTo>
                  <a:lnTo>
                    <a:pt x="975360" y="0"/>
                  </a:lnTo>
                  <a:lnTo>
                    <a:pt x="994338" y="3833"/>
                  </a:lnTo>
                  <a:lnTo>
                    <a:pt x="1009840" y="14287"/>
                  </a:lnTo>
                  <a:lnTo>
                    <a:pt x="1020294" y="29789"/>
                  </a:lnTo>
                  <a:lnTo>
                    <a:pt x="1024127" y="48768"/>
                  </a:lnTo>
                  <a:lnTo>
                    <a:pt x="1024127" y="391668"/>
                  </a:lnTo>
                  <a:lnTo>
                    <a:pt x="1020294" y="410646"/>
                  </a:lnTo>
                  <a:lnTo>
                    <a:pt x="1009840" y="426148"/>
                  </a:lnTo>
                  <a:lnTo>
                    <a:pt x="994338" y="436602"/>
                  </a:lnTo>
                  <a:lnTo>
                    <a:pt x="975360" y="440436"/>
                  </a:lnTo>
                  <a:lnTo>
                    <a:pt x="48767" y="440436"/>
                  </a:lnTo>
                  <a:lnTo>
                    <a:pt x="29789" y="436602"/>
                  </a:lnTo>
                  <a:lnTo>
                    <a:pt x="14287" y="426148"/>
                  </a:lnTo>
                  <a:lnTo>
                    <a:pt x="3833" y="410646"/>
                  </a:lnTo>
                  <a:lnTo>
                    <a:pt x="0" y="391668"/>
                  </a:lnTo>
                  <a:lnTo>
                    <a:pt x="0" y="48768"/>
                  </a:lnTo>
                  <a:close/>
                </a:path>
              </a:pathLst>
            </a:custGeom>
            <a:ln w="9144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724149" y="1756409"/>
              <a:ext cx="10795" cy="1196340"/>
            </a:xfrm>
            <a:custGeom>
              <a:avLst/>
              <a:gdLst/>
              <a:ahLst/>
              <a:cxnLst/>
              <a:rect l="l" t="t" r="r" b="b"/>
              <a:pathLst>
                <a:path w="10794" h="1196339">
                  <a:moveTo>
                    <a:pt x="10668" y="1196339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241547" y="1328927"/>
              <a:ext cx="676655" cy="80619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217420" y="1011936"/>
              <a:ext cx="1798320" cy="4892040"/>
            </a:xfrm>
            <a:custGeom>
              <a:avLst/>
              <a:gdLst/>
              <a:ahLst/>
              <a:cxnLst/>
              <a:rect l="l" t="t" r="r" b="b"/>
              <a:pathLst>
                <a:path w="1798320" h="4892040">
                  <a:moveTo>
                    <a:pt x="615696" y="31876"/>
                  </a:moveTo>
                  <a:lnTo>
                    <a:pt x="618194" y="19448"/>
                  </a:lnTo>
                  <a:lnTo>
                    <a:pt x="625014" y="9318"/>
                  </a:lnTo>
                  <a:lnTo>
                    <a:pt x="635144" y="2498"/>
                  </a:lnTo>
                  <a:lnTo>
                    <a:pt x="647573" y="0"/>
                  </a:lnTo>
                  <a:lnTo>
                    <a:pt x="1766443" y="0"/>
                  </a:lnTo>
                  <a:lnTo>
                    <a:pt x="1778871" y="2498"/>
                  </a:lnTo>
                  <a:lnTo>
                    <a:pt x="1789001" y="9318"/>
                  </a:lnTo>
                  <a:lnTo>
                    <a:pt x="1795821" y="19448"/>
                  </a:lnTo>
                  <a:lnTo>
                    <a:pt x="1798320" y="31876"/>
                  </a:lnTo>
                  <a:lnTo>
                    <a:pt x="1798320" y="256159"/>
                  </a:lnTo>
                  <a:lnTo>
                    <a:pt x="1795821" y="268587"/>
                  </a:lnTo>
                  <a:lnTo>
                    <a:pt x="1789001" y="278717"/>
                  </a:lnTo>
                  <a:lnTo>
                    <a:pt x="1778871" y="285537"/>
                  </a:lnTo>
                  <a:lnTo>
                    <a:pt x="1766443" y="288036"/>
                  </a:lnTo>
                  <a:lnTo>
                    <a:pt x="647573" y="288036"/>
                  </a:lnTo>
                  <a:lnTo>
                    <a:pt x="635144" y="285537"/>
                  </a:lnTo>
                  <a:lnTo>
                    <a:pt x="625014" y="278717"/>
                  </a:lnTo>
                  <a:lnTo>
                    <a:pt x="618194" y="268587"/>
                  </a:lnTo>
                  <a:lnTo>
                    <a:pt x="615696" y="256159"/>
                  </a:lnTo>
                  <a:lnTo>
                    <a:pt x="615696" y="31876"/>
                  </a:lnTo>
                  <a:close/>
                </a:path>
                <a:path w="1798320" h="4892040">
                  <a:moveTo>
                    <a:pt x="1315212" y="4438015"/>
                  </a:moveTo>
                  <a:lnTo>
                    <a:pt x="1310774" y="4416004"/>
                  </a:lnTo>
                  <a:lnTo>
                    <a:pt x="1298670" y="4398041"/>
                  </a:lnTo>
                  <a:lnTo>
                    <a:pt x="1280707" y="4385937"/>
                  </a:lnTo>
                  <a:lnTo>
                    <a:pt x="1258696" y="4381500"/>
                  </a:lnTo>
                  <a:lnTo>
                    <a:pt x="56515" y="4381500"/>
                  </a:lnTo>
                  <a:lnTo>
                    <a:pt x="34504" y="4385937"/>
                  </a:lnTo>
                  <a:lnTo>
                    <a:pt x="16541" y="4398041"/>
                  </a:lnTo>
                  <a:lnTo>
                    <a:pt x="4437" y="4416004"/>
                  </a:lnTo>
                  <a:lnTo>
                    <a:pt x="0" y="4438015"/>
                  </a:lnTo>
                  <a:lnTo>
                    <a:pt x="0" y="4835575"/>
                  </a:lnTo>
                  <a:lnTo>
                    <a:pt x="4437" y="4857551"/>
                  </a:lnTo>
                  <a:lnTo>
                    <a:pt x="16541" y="4875499"/>
                  </a:lnTo>
                  <a:lnTo>
                    <a:pt x="34504" y="4887601"/>
                  </a:lnTo>
                  <a:lnTo>
                    <a:pt x="56515" y="4892040"/>
                  </a:lnTo>
                  <a:lnTo>
                    <a:pt x="1258696" y="4892040"/>
                  </a:lnTo>
                  <a:lnTo>
                    <a:pt x="1280707" y="4887601"/>
                  </a:lnTo>
                  <a:lnTo>
                    <a:pt x="1298670" y="4875499"/>
                  </a:lnTo>
                  <a:lnTo>
                    <a:pt x="1310774" y="4857551"/>
                  </a:lnTo>
                  <a:lnTo>
                    <a:pt x="1315212" y="4835575"/>
                  </a:lnTo>
                  <a:lnTo>
                    <a:pt x="1315212" y="4438015"/>
                  </a:lnTo>
                  <a:close/>
                </a:path>
              </a:pathLst>
            </a:custGeom>
            <a:ln w="9144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075176" y="4445507"/>
              <a:ext cx="3172968" cy="1420368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050792" y="4421124"/>
              <a:ext cx="3169919" cy="1417320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404615" y="4611624"/>
              <a:ext cx="676656" cy="80619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837432" y="4847844"/>
              <a:ext cx="675132" cy="80619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086600" y="5558027"/>
              <a:ext cx="1564005" cy="358140"/>
            </a:xfrm>
            <a:custGeom>
              <a:avLst/>
              <a:gdLst/>
              <a:ahLst/>
              <a:cxnLst/>
              <a:rect l="l" t="t" r="r" b="b"/>
              <a:pathLst>
                <a:path w="1564004" h="358139">
                  <a:moveTo>
                    <a:pt x="1524000" y="0"/>
                  </a:moveTo>
                  <a:lnTo>
                    <a:pt x="39624" y="0"/>
                  </a:lnTo>
                  <a:lnTo>
                    <a:pt x="24217" y="3119"/>
                  </a:lnTo>
                  <a:lnTo>
                    <a:pt x="11620" y="11618"/>
                  </a:lnTo>
                  <a:lnTo>
                    <a:pt x="3119" y="24211"/>
                  </a:lnTo>
                  <a:lnTo>
                    <a:pt x="0" y="39611"/>
                  </a:lnTo>
                  <a:lnTo>
                    <a:pt x="0" y="318528"/>
                  </a:lnTo>
                  <a:lnTo>
                    <a:pt x="3119" y="333949"/>
                  </a:lnTo>
                  <a:lnTo>
                    <a:pt x="11620" y="346540"/>
                  </a:lnTo>
                  <a:lnTo>
                    <a:pt x="24217" y="355027"/>
                  </a:lnTo>
                  <a:lnTo>
                    <a:pt x="39624" y="358140"/>
                  </a:lnTo>
                  <a:lnTo>
                    <a:pt x="1524000" y="358140"/>
                  </a:lnTo>
                  <a:lnTo>
                    <a:pt x="1539406" y="355027"/>
                  </a:lnTo>
                  <a:lnTo>
                    <a:pt x="1552003" y="346540"/>
                  </a:lnTo>
                  <a:lnTo>
                    <a:pt x="1560504" y="333949"/>
                  </a:lnTo>
                  <a:lnTo>
                    <a:pt x="1563624" y="318528"/>
                  </a:lnTo>
                  <a:lnTo>
                    <a:pt x="1563624" y="39611"/>
                  </a:lnTo>
                  <a:lnTo>
                    <a:pt x="1560504" y="24211"/>
                  </a:lnTo>
                  <a:lnTo>
                    <a:pt x="1552003" y="11618"/>
                  </a:lnTo>
                  <a:lnTo>
                    <a:pt x="1539406" y="3119"/>
                  </a:lnTo>
                  <a:lnTo>
                    <a:pt x="152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086600" y="5558027"/>
              <a:ext cx="1564005" cy="358140"/>
            </a:xfrm>
            <a:custGeom>
              <a:avLst/>
              <a:gdLst/>
              <a:ahLst/>
              <a:cxnLst/>
              <a:rect l="l" t="t" r="r" b="b"/>
              <a:pathLst>
                <a:path w="1564004" h="358139">
                  <a:moveTo>
                    <a:pt x="0" y="39611"/>
                  </a:moveTo>
                  <a:lnTo>
                    <a:pt x="3119" y="24211"/>
                  </a:lnTo>
                  <a:lnTo>
                    <a:pt x="11620" y="11618"/>
                  </a:lnTo>
                  <a:lnTo>
                    <a:pt x="24217" y="3119"/>
                  </a:lnTo>
                  <a:lnTo>
                    <a:pt x="39624" y="0"/>
                  </a:lnTo>
                  <a:lnTo>
                    <a:pt x="1524000" y="0"/>
                  </a:lnTo>
                  <a:lnTo>
                    <a:pt x="1539406" y="3119"/>
                  </a:lnTo>
                  <a:lnTo>
                    <a:pt x="1552003" y="11618"/>
                  </a:lnTo>
                  <a:lnTo>
                    <a:pt x="1560504" y="24211"/>
                  </a:lnTo>
                  <a:lnTo>
                    <a:pt x="1563624" y="39611"/>
                  </a:lnTo>
                  <a:lnTo>
                    <a:pt x="1563624" y="318528"/>
                  </a:lnTo>
                  <a:lnTo>
                    <a:pt x="1560504" y="333949"/>
                  </a:lnTo>
                  <a:lnTo>
                    <a:pt x="1552003" y="346540"/>
                  </a:lnTo>
                  <a:lnTo>
                    <a:pt x="1539406" y="355027"/>
                  </a:lnTo>
                  <a:lnTo>
                    <a:pt x="1524000" y="358140"/>
                  </a:lnTo>
                  <a:lnTo>
                    <a:pt x="39624" y="358140"/>
                  </a:lnTo>
                  <a:lnTo>
                    <a:pt x="24217" y="355027"/>
                  </a:lnTo>
                  <a:lnTo>
                    <a:pt x="11620" y="346540"/>
                  </a:lnTo>
                  <a:lnTo>
                    <a:pt x="3119" y="333949"/>
                  </a:lnTo>
                  <a:lnTo>
                    <a:pt x="0" y="318528"/>
                  </a:lnTo>
                  <a:lnTo>
                    <a:pt x="0" y="39611"/>
                  </a:lnTo>
                  <a:close/>
                </a:path>
              </a:pathLst>
            </a:custGeom>
            <a:ln w="9144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265163" y="5353812"/>
              <a:ext cx="743712" cy="80619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0" name="object 40"/>
          <p:cNvGrpSpPr/>
          <p:nvPr/>
        </p:nvGrpSpPr>
        <p:grpSpPr>
          <a:xfrm>
            <a:off x="19811" y="749808"/>
            <a:ext cx="9077325" cy="5796280"/>
            <a:chOff x="19811" y="749808"/>
            <a:chExt cx="9077325" cy="5796280"/>
          </a:xfrm>
        </p:grpSpPr>
        <p:sp>
          <p:nvSpPr>
            <p:cNvPr id="41" name="object 41"/>
            <p:cNvSpPr/>
            <p:nvPr/>
          </p:nvSpPr>
          <p:spPr>
            <a:xfrm>
              <a:off x="19811" y="749808"/>
              <a:ext cx="9077325" cy="5796280"/>
            </a:xfrm>
            <a:custGeom>
              <a:avLst/>
              <a:gdLst/>
              <a:ahLst/>
              <a:cxnLst/>
              <a:rect l="l" t="t" r="r" b="b"/>
              <a:pathLst>
                <a:path w="9077325" h="5796280">
                  <a:moveTo>
                    <a:pt x="9076944" y="0"/>
                  </a:moveTo>
                  <a:lnTo>
                    <a:pt x="0" y="0"/>
                  </a:lnTo>
                  <a:lnTo>
                    <a:pt x="0" y="5795772"/>
                  </a:lnTo>
                  <a:lnTo>
                    <a:pt x="9076944" y="5795772"/>
                  </a:lnTo>
                  <a:lnTo>
                    <a:pt x="90769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68223" y="1168908"/>
              <a:ext cx="8585200" cy="5047615"/>
            </a:xfrm>
            <a:custGeom>
              <a:avLst/>
              <a:gdLst/>
              <a:ahLst/>
              <a:cxnLst/>
              <a:rect l="l" t="t" r="r" b="b"/>
              <a:pathLst>
                <a:path w="8585200" h="5047615">
                  <a:moveTo>
                    <a:pt x="8374380" y="0"/>
                  </a:moveTo>
                  <a:lnTo>
                    <a:pt x="210324" y="0"/>
                  </a:lnTo>
                  <a:lnTo>
                    <a:pt x="162100" y="5551"/>
                  </a:lnTo>
                  <a:lnTo>
                    <a:pt x="117831" y="21367"/>
                  </a:lnTo>
                  <a:lnTo>
                    <a:pt x="78779" y="46186"/>
                  </a:lnTo>
                  <a:lnTo>
                    <a:pt x="46207" y="78750"/>
                  </a:lnTo>
                  <a:lnTo>
                    <a:pt x="21378" y="117798"/>
                  </a:lnTo>
                  <a:lnTo>
                    <a:pt x="5555" y="162072"/>
                  </a:lnTo>
                  <a:lnTo>
                    <a:pt x="0" y="210312"/>
                  </a:lnTo>
                  <a:lnTo>
                    <a:pt x="0" y="4837163"/>
                  </a:lnTo>
                  <a:lnTo>
                    <a:pt x="5555" y="4885387"/>
                  </a:lnTo>
                  <a:lnTo>
                    <a:pt x="21378" y="4929656"/>
                  </a:lnTo>
                  <a:lnTo>
                    <a:pt x="46207" y="4968708"/>
                  </a:lnTo>
                  <a:lnTo>
                    <a:pt x="78779" y="5001280"/>
                  </a:lnTo>
                  <a:lnTo>
                    <a:pt x="117831" y="5026109"/>
                  </a:lnTo>
                  <a:lnTo>
                    <a:pt x="162100" y="5041932"/>
                  </a:lnTo>
                  <a:lnTo>
                    <a:pt x="210324" y="5047488"/>
                  </a:lnTo>
                  <a:lnTo>
                    <a:pt x="8374380" y="5047488"/>
                  </a:lnTo>
                  <a:lnTo>
                    <a:pt x="8422619" y="5041932"/>
                  </a:lnTo>
                  <a:lnTo>
                    <a:pt x="8466893" y="5026109"/>
                  </a:lnTo>
                  <a:lnTo>
                    <a:pt x="8505941" y="5001280"/>
                  </a:lnTo>
                  <a:lnTo>
                    <a:pt x="8538505" y="4968708"/>
                  </a:lnTo>
                  <a:lnTo>
                    <a:pt x="8563324" y="4929656"/>
                  </a:lnTo>
                  <a:lnTo>
                    <a:pt x="8579140" y="4885387"/>
                  </a:lnTo>
                  <a:lnTo>
                    <a:pt x="8584692" y="4837163"/>
                  </a:lnTo>
                  <a:lnTo>
                    <a:pt x="8584692" y="210312"/>
                  </a:lnTo>
                  <a:lnTo>
                    <a:pt x="8579140" y="162072"/>
                  </a:lnTo>
                  <a:lnTo>
                    <a:pt x="8563324" y="117798"/>
                  </a:lnTo>
                  <a:lnTo>
                    <a:pt x="8538505" y="78750"/>
                  </a:lnTo>
                  <a:lnTo>
                    <a:pt x="8505941" y="46186"/>
                  </a:lnTo>
                  <a:lnTo>
                    <a:pt x="8466893" y="21367"/>
                  </a:lnTo>
                  <a:lnTo>
                    <a:pt x="8422619" y="5551"/>
                  </a:lnTo>
                  <a:lnTo>
                    <a:pt x="8374380" y="0"/>
                  </a:lnTo>
                  <a:close/>
                </a:path>
              </a:pathLst>
            </a:custGeom>
            <a:solidFill>
              <a:srgbClr val="DE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68223" y="1168908"/>
              <a:ext cx="8585200" cy="5047615"/>
            </a:xfrm>
            <a:custGeom>
              <a:avLst/>
              <a:gdLst/>
              <a:ahLst/>
              <a:cxnLst/>
              <a:rect l="l" t="t" r="r" b="b"/>
              <a:pathLst>
                <a:path w="8585200" h="5047615">
                  <a:moveTo>
                    <a:pt x="0" y="210312"/>
                  </a:moveTo>
                  <a:lnTo>
                    <a:pt x="5555" y="162072"/>
                  </a:lnTo>
                  <a:lnTo>
                    <a:pt x="21378" y="117798"/>
                  </a:lnTo>
                  <a:lnTo>
                    <a:pt x="46207" y="78750"/>
                  </a:lnTo>
                  <a:lnTo>
                    <a:pt x="78779" y="46186"/>
                  </a:lnTo>
                  <a:lnTo>
                    <a:pt x="117831" y="21367"/>
                  </a:lnTo>
                  <a:lnTo>
                    <a:pt x="162100" y="5551"/>
                  </a:lnTo>
                  <a:lnTo>
                    <a:pt x="210324" y="0"/>
                  </a:lnTo>
                  <a:lnTo>
                    <a:pt x="8374380" y="0"/>
                  </a:lnTo>
                  <a:lnTo>
                    <a:pt x="8422619" y="5551"/>
                  </a:lnTo>
                  <a:lnTo>
                    <a:pt x="8466893" y="21367"/>
                  </a:lnTo>
                  <a:lnTo>
                    <a:pt x="8505941" y="46186"/>
                  </a:lnTo>
                  <a:lnTo>
                    <a:pt x="8538505" y="78750"/>
                  </a:lnTo>
                  <a:lnTo>
                    <a:pt x="8563324" y="117798"/>
                  </a:lnTo>
                  <a:lnTo>
                    <a:pt x="8579140" y="162072"/>
                  </a:lnTo>
                  <a:lnTo>
                    <a:pt x="8584692" y="210312"/>
                  </a:lnTo>
                  <a:lnTo>
                    <a:pt x="8584692" y="4837163"/>
                  </a:lnTo>
                  <a:lnTo>
                    <a:pt x="8579140" y="4885387"/>
                  </a:lnTo>
                  <a:lnTo>
                    <a:pt x="8563324" y="4929656"/>
                  </a:lnTo>
                  <a:lnTo>
                    <a:pt x="8538505" y="4968708"/>
                  </a:lnTo>
                  <a:lnTo>
                    <a:pt x="8505941" y="5001280"/>
                  </a:lnTo>
                  <a:lnTo>
                    <a:pt x="8466893" y="5026109"/>
                  </a:lnTo>
                  <a:lnTo>
                    <a:pt x="8422619" y="5041932"/>
                  </a:lnTo>
                  <a:lnTo>
                    <a:pt x="8374380" y="5047488"/>
                  </a:lnTo>
                  <a:lnTo>
                    <a:pt x="210324" y="5047488"/>
                  </a:lnTo>
                  <a:lnTo>
                    <a:pt x="162100" y="5041932"/>
                  </a:lnTo>
                  <a:lnTo>
                    <a:pt x="117831" y="5026109"/>
                  </a:lnTo>
                  <a:lnTo>
                    <a:pt x="78779" y="5001280"/>
                  </a:lnTo>
                  <a:lnTo>
                    <a:pt x="46207" y="4968708"/>
                  </a:lnTo>
                  <a:lnTo>
                    <a:pt x="21378" y="4929656"/>
                  </a:lnTo>
                  <a:lnTo>
                    <a:pt x="5555" y="4885387"/>
                  </a:lnTo>
                  <a:lnTo>
                    <a:pt x="0" y="4837163"/>
                  </a:lnTo>
                  <a:lnTo>
                    <a:pt x="0" y="210312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72084" y="1728216"/>
              <a:ext cx="7772400" cy="777240"/>
            </a:xfrm>
            <a:custGeom>
              <a:avLst/>
              <a:gdLst/>
              <a:ahLst/>
              <a:cxnLst/>
              <a:rect l="l" t="t" r="r" b="b"/>
              <a:pathLst>
                <a:path w="7772400" h="777239">
                  <a:moveTo>
                    <a:pt x="7740015" y="0"/>
                  </a:moveTo>
                  <a:lnTo>
                    <a:pt x="32384" y="0"/>
                  </a:lnTo>
                  <a:lnTo>
                    <a:pt x="19781" y="2541"/>
                  </a:lnTo>
                  <a:lnTo>
                    <a:pt x="9486" y="9477"/>
                  </a:lnTo>
                  <a:lnTo>
                    <a:pt x="2545" y="19770"/>
                  </a:lnTo>
                  <a:lnTo>
                    <a:pt x="0" y="32385"/>
                  </a:lnTo>
                  <a:lnTo>
                    <a:pt x="0" y="744855"/>
                  </a:lnTo>
                  <a:lnTo>
                    <a:pt x="2545" y="757469"/>
                  </a:lnTo>
                  <a:lnTo>
                    <a:pt x="9486" y="767762"/>
                  </a:lnTo>
                  <a:lnTo>
                    <a:pt x="19781" y="774698"/>
                  </a:lnTo>
                  <a:lnTo>
                    <a:pt x="32384" y="777239"/>
                  </a:lnTo>
                  <a:lnTo>
                    <a:pt x="7740015" y="777239"/>
                  </a:lnTo>
                  <a:lnTo>
                    <a:pt x="7752629" y="774698"/>
                  </a:lnTo>
                  <a:lnTo>
                    <a:pt x="7762922" y="767762"/>
                  </a:lnTo>
                  <a:lnTo>
                    <a:pt x="7769858" y="757469"/>
                  </a:lnTo>
                  <a:lnTo>
                    <a:pt x="7772400" y="744855"/>
                  </a:lnTo>
                  <a:lnTo>
                    <a:pt x="7772400" y="32385"/>
                  </a:lnTo>
                  <a:lnTo>
                    <a:pt x="7769858" y="19770"/>
                  </a:lnTo>
                  <a:lnTo>
                    <a:pt x="7762922" y="9477"/>
                  </a:lnTo>
                  <a:lnTo>
                    <a:pt x="7752629" y="2541"/>
                  </a:lnTo>
                  <a:lnTo>
                    <a:pt x="7740015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72084" y="1728216"/>
              <a:ext cx="7772400" cy="777240"/>
            </a:xfrm>
            <a:custGeom>
              <a:avLst/>
              <a:gdLst/>
              <a:ahLst/>
              <a:cxnLst/>
              <a:rect l="l" t="t" r="r" b="b"/>
              <a:pathLst>
                <a:path w="7772400" h="777239">
                  <a:moveTo>
                    <a:pt x="0" y="32385"/>
                  </a:moveTo>
                  <a:lnTo>
                    <a:pt x="2545" y="19770"/>
                  </a:lnTo>
                  <a:lnTo>
                    <a:pt x="9486" y="9477"/>
                  </a:lnTo>
                  <a:lnTo>
                    <a:pt x="19781" y="2541"/>
                  </a:lnTo>
                  <a:lnTo>
                    <a:pt x="32384" y="0"/>
                  </a:lnTo>
                  <a:lnTo>
                    <a:pt x="7740015" y="0"/>
                  </a:lnTo>
                  <a:lnTo>
                    <a:pt x="7752629" y="2541"/>
                  </a:lnTo>
                  <a:lnTo>
                    <a:pt x="7762922" y="9477"/>
                  </a:lnTo>
                  <a:lnTo>
                    <a:pt x="7769858" y="19770"/>
                  </a:lnTo>
                  <a:lnTo>
                    <a:pt x="7772400" y="32385"/>
                  </a:lnTo>
                  <a:lnTo>
                    <a:pt x="7772400" y="744855"/>
                  </a:lnTo>
                  <a:lnTo>
                    <a:pt x="7769858" y="757469"/>
                  </a:lnTo>
                  <a:lnTo>
                    <a:pt x="7762922" y="767762"/>
                  </a:lnTo>
                  <a:lnTo>
                    <a:pt x="7752629" y="774698"/>
                  </a:lnTo>
                  <a:lnTo>
                    <a:pt x="7740015" y="777239"/>
                  </a:lnTo>
                  <a:lnTo>
                    <a:pt x="32384" y="777239"/>
                  </a:lnTo>
                  <a:lnTo>
                    <a:pt x="19781" y="774698"/>
                  </a:lnTo>
                  <a:lnTo>
                    <a:pt x="9486" y="767762"/>
                  </a:lnTo>
                  <a:lnTo>
                    <a:pt x="2545" y="757469"/>
                  </a:lnTo>
                  <a:lnTo>
                    <a:pt x="0" y="744855"/>
                  </a:lnTo>
                  <a:lnTo>
                    <a:pt x="0" y="32385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72084" y="2592324"/>
              <a:ext cx="7772400" cy="775970"/>
            </a:xfrm>
            <a:custGeom>
              <a:avLst/>
              <a:gdLst/>
              <a:ahLst/>
              <a:cxnLst/>
              <a:rect l="l" t="t" r="r" b="b"/>
              <a:pathLst>
                <a:path w="7772400" h="775970">
                  <a:moveTo>
                    <a:pt x="7740015" y="0"/>
                  </a:moveTo>
                  <a:lnTo>
                    <a:pt x="32321" y="0"/>
                  </a:lnTo>
                  <a:lnTo>
                    <a:pt x="19743" y="2541"/>
                  </a:lnTo>
                  <a:lnTo>
                    <a:pt x="9469" y="9477"/>
                  </a:lnTo>
                  <a:lnTo>
                    <a:pt x="2540" y="19770"/>
                  </a:lnTo>
                  <a:lnTo>
                    <a:pt x="0" y="32385"/>
                  </a:lnTo>
                  <a:lnTo>
                    <a:pt x="0" y="743330"/>
                  </a:lnTo>
                  <a:lnTo>
                    <a:pt x="2540" y="755945"/>
                  </a:lnTo>
                  <a:lnTo>
                    <a:pt x="9469" y="766238"/>
                  </a:lnTo>
                  <a:lnTo>
                    <a:pt x="19743" y="773174"/>
                  </a:lnTo>
                  <a:lnTo>
                    <a:pt x="32321" y="775715"/>
                  </a:lnTo>
                  <a:lnTo>
                    <a:pt x="7740015" y="775715"/>
                  </a:lnTo>
                  <a:lnTo>
                    <a:pt x="7752629" y="773174"/>
                  </a:lnTo>
                  <a:lnTo>
                    <a:pt x="7762922" y="766238"/>
                  </a:lnTo>
                  <a:lnTo>
                    <a:pt x="7769858" y="755945"/>
                  </a:lnTo>
                  <a:lnTo>
                    <a:pt x="7772400" y="743330"/>
                  </a:lnTo>
                  <a:lnTo>
                    <a:pt x="7772400" y="32385"/>
                  </a:lnTo>
                  <a:lnTo>
                    <a:pt x="7769858" y="19770"/>
                  </a:lnTo>
                  <a:lnTo>
                    <a:pt x="7762922" y="9477"/>
                  </a:lnTo>
                  <a:lnTo>
                    <a:pt x="7752629" y="2541"/>
                  </a:lnTo>
                  <a:lnTo>
                    <a:pt x="7740015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72084" y="2592324"/>
              <a:ext cx="7772400" cy="775970"/>
            </a:xfrm>
            <a:custGeom>
              <a:avLst/>
              <a:gdLst/>
              <a:ahLst/>
              <a:cxnLst/>
              <a:rect l="l" t="t" r="r" b="b"/>
              <a:pathLst>
                <a:path w="7772400" h="775970">
                  <a:moveTo>
                    <a:pt x="0" y="32385"/>
                  </a:moveTo>
                  <a:lnTo>
                    <a:pt x="2540" y="19770"/>
                  </a:lnTo>
                  <a:lnTo>
                    <a:pt x="9469" y="9477"/>
                  </a:lnTo>
                  <a:lnTo>
                    <a:pt x="19743" y="2541"/>
                  </a:lnTo>
                  <a:lnTo>
                    <a:pt x="32321" y="0"/>
                  </a:lnTo>
                  <a:lnTo>
                    <a:pt x="7740015" y="0"/>
                  </a:lnTo>
                  <a:lnTo>
                    <a:pt x="7752629" y="2541"/>
                  </a:lnTo>
                  <a:lnTo>
                    <a:pt x="7762922" y="9477"/>
                  </a:lnTo>
                  <a:lnTo>
                    <a:pt x="7769858" y="19770"/>
                  </a:lnTo>
                  <a:lnTo>
                    <a:pt x="7772400" y="32385"/>
                  </a:lnTo>
                  <a:lnTo>
                    <a:pt x="7772400" y="743330"/>
                  </a:lnTo>
                  <a:lnTo>
                    <a:pt x="7769858" y="755945"/>
                  </a:lnTo>
                  <a:lnTo>
                    <a:pt x="7762922" y="766238"/>
                  </a:lnTo>
                  <a:lnTo>
                    <a:pt x="7752629" y="773174"/>
                  </a:lnTo>
                  <a:lnTo>
                    <a:pt x="7740015" y="775715"/>
                  </a:lnTo>
                  <a:lnTo>
                    <a:pt x="32321" y="775715"/>
                  </a:lnTo>
                  <a:lnTo>
                    <a:pt x="19743" y="773174"/>
                  </a:lnTo>
                  <a:lnTo>
                    <a:pt x="9469" y="766238"/>
                  </a:lnTo>
                  <a:lnTo>
                    <a:pt x="2540" y="755945"/>
                  </a:lnTo>
                  <a:lnTo>
                    <a:pt x="0" y="743330"/>
                  </a:lnTo>
                  <a:lnTo>
                    <a:pt x="0" y="32385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69035" y="3456431"/>
              <a:ext cx="7772400" cy="775970"/>
            </a:xfrm>
            <a:custGeom>
              <a:avLst/>
              <a:gdLst/>
              <a:ahLst/>
              <a:cxnLst/>
              <a:rect l="l" t="t" r="r" b="b"/>
              <a:pathLst>
                <a:path w="7772400" h="775970">
                  <a:moveTo>
                    <a:pt x="7740015" y="0"/>
                  </a:moveTo>
                  <a:lnTo>
                    <a:pt x="32321" y="0"/>
                  </a:lnTo>
                  <a:lnTo>
                    <a:pt x="19743" y="2541"/>
                  </a:lnTo>
                  <a:lnTo>
                    <a:pt x="9469" y="9477"/>
                  </a:lnTo>
                  <a:lnTo>
                    <a:pt x="2540" y="19770"/>
                  </a:lnTo>
                  <a:lnTo>
                    <a:pt x="0" y="32384"/>
                  </a:lnTo>
                  <a:lnTo>
                    <a:pt x="0" y="743330"/>
                  </a:lnTo>
                  <a:lnTo>
                    <a:pt x="2540" y="755945"/>
                  </a:lnTo>
                  <a:lnTo>
                    <a:pt x="9469" y="766238"/>
                  </a:lnTo>
                  <a:lnTo>
                    <a:pt x="19743" y="773174"/>
                  </a:lnTo>
                  <a:lnTo>
                    <a:pt x="32321" y="775715"/>
                  </a:lnTo>
                  <a:lnTo>
                    <a:pt x="7740015" y="775715"/>
                  </a:lnTo>
                  <a:lnTo>
                    <a:pt x="7752629" y="773174"/>
                  </a:lnTo>
                  <a:lnTo>
                    <a:pt x="7762922" y="766238"/>
                  </a:lnTo>
                  <a:lnTo>
                    <a:pt x="7769858" y="755945"/>
                  </a:lnTo>
                  <a:lnTo>
                    <a:pt x="7772400" y="743330"/>
                  </a:lnTo>
                  <a:lnTo>
                    <a:pt x="7772400" y="32384"/>
                  </a:lnTo>
                  <a:lnTo>
                    <a:pt x="7769858" y="19770"/>
                  </a:lnTo>
                  <a:lnTo>
                    <a:pt x="7762922" y="9477"/>
                  </a:lnTo>
                  <a:lnTo>
                    <a:pt x="7752629" y="2541"/>
                  </a:lnTo>
                  <a:lnTo>
                    <a:pt x="7740015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69035" y="3456431"/>
              <a:ext cx="7772400" cy="775970"/>
            </a:xfrm>
            <a:custGeom>
              <a:avLst/>
              <a:gdLst/>
              <a:ahLst/>
              <a:cxnLst/>
              <a:rect l="l" t="t" r="r" b="b"/>
              <a:pathLst>
                <a:path w="7772400" h="775970">
                  <a:moveTo>
                    <a:pt x="0" y="32384"/>
                  </a:moveTo>
                  <a:lnTo>
                    <a:pt x="2540" y="19770"/>
                  </a:lnTo>
                  <a:lnTo>
                    <a:pt x="9469" y="9477"/>
                  </a:lnTo>
                  <a:lnTo>
                    <a:pt x="19743" y="2541"/>
                  </a:lnTo>
                  <a:lnTo>
                    <a:pt x="32321" y="0"/>
                  </a:lnTo>
                  <a:lnTo>
                    <a:pt x="7740015" y="0"/>
                  </a:lnTo>
                  <a:lnTo>
                    <a:pt x="7752629" y="2541"/>
                  </a:lnTo>
                  <a:lnTo>
                    <a:pt x="7762922" y="9477"/>
                  </a:lnTo>
                  <a:lnTo>
                    <a:pt x="7769858" y="19770"/>
                  </a:lnTo>
                  <a:lnTo>
                    <a:pt x="7772400" y="32384"/>
                  </a:lnTo>
                  <a:lnTo>
                    <a:pt x="7772400" y="743330"/>
                  </a:lnTo>
                  <a:lnTo>
                    <a:pt x="7769858" y="755945"/>
                  </a:lnTo>
                  <a:lnTo>
                    <a:pt x="7762922" y="766238"/>
                  </a:lnTo>
                  <a:lnTo>
                    <a:pt x="7752629" y="773174"/>
                  </a:lnTo>
                  <a:lnTo>
                    <a:pt x="7740015" y="775715"/>
                  </a:lnTo>
                  <a:lnTo>
                    <a:pt x="32321" y="775715"/>
                  </a:lnTo>
                  <a:lnTo>
                    <a:pt x="19743" y="773174"/>
                  </a:lnTo>
                  <a:lnTo>
                    <a:pt x="9469" y="766238"/>
                  </a:lnTo>
                  <a:lnTo>
                    <a:pt x="2540" y="755945"/>
                  </a:lnTo>
                  <a:lnTo>
                    <a:pt x="0" y="743330"/>
                  </a:lnTo>
                  <a:lnTo>
                    <a:pt x="0" y="32384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69035" y="4319016"/>
              <a:ext cx="7772400" cy="777240"/>
            </a:xfrm>
            <a:custGeom>
              <a:avLst/>
              <a:gdLst/>
              <a:ahLst/>
              <a:cxnLst/>
              <a:rect l="l" t="t" r="r" b="b"/>
              <a:pathLst>
                <a:path w="7772400" h="777239">
                  <a:moveTo>
                    <a:pt x="7740015" y="0"/>
                  </a:moveTo>
                  <a:lnTo>
                    <a:pt x="32384" y="0"/>
                  </a:lnTo>
                  <a:lnTo>
                    <a:pt x="19781" y="2541"/>
                  </a:lnTo>
                  <a:lnTo>
                    <a:pt x="9486" y="9477"/>
                  </a:lnTo>
                  <a:lnTo>
                    <a:pt x="2545" y="19770"/>
                  </a:lnTo>
                  <a:lnTo>
                    <a:pt x="0" y="32384"/>
                  </a:lnTo>
                  <a:lnTo>
                    <a:pt x="0" y="744854"/>
                  </a:lnTo>
                  <a:lnTo>
                    <a:pt x="2545" y="757469"/>
                  </a:lnTo>
                  <a:lnTo>
                    <a:pt x="9486" y="767762"/>
                  </a:lnTo>
                  <a:lnTo>
                    <a:pt x="19781" y="774698"/>
                  </a:lnTo>
                  <a:lnTo>
                    <a:pt x="32384" y="777239"/>
                  </a:lnTo>
                  <a:lnTo>
                    <a:pt x="7740015" y="777239"/>
                  </a:lnTo>
                  <a:lnTo>
                    <a:pt x="7752629" y="774698"/>
                  </a:lnTo>
                  <a:lnTo>
                    <a:pt x="7762922" y="767762"/>
                  </a:lnTo>
                  <a:lnTo>
                    <a:pt x="7769858" y="757469"/>
                  </a:lnTo>
                  <a:lnTo>
                    <a:pt x="7772400" y="744854"/>
                  </a:lnTo>
                  <a:lnTo>
                    <a:pt x="7772400" y="32384"/>
                  </a:lnTo>
                  <a:lnTo>
                    <a:pt x="7769858" y="19770"/>
                  </a:lnTo>
                  <a:lnTo>
                    <a:pt x="7762922" y="9477"/>
                  </a:lnTo>
                  <a:lnTo>
                    <a:pt x="7752629" y="2541"/>
                  </a:lnTo>
                  <a:lnTo>
                    <a:pt x="7740015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69035" y="4319016"/>
              <a:ext cx="7772400" cy="777240"/>
            </a:xfrm>
            <a:custGeom>
              <a:avLst/>
              <a:gdLst/>
              <a:ahLst/>
              <a:cxnLst/>
              <a:rect l="l" t="t" r="r" b="b"/>
              <a:pathLst>
                <a:path w="7772400" h="777239">
                  <a:moveTo>
                    <a:pt x="0" y="32384"/>
                  </a:moveTo>
                  <a:lnTo>
                    <a:pt x="2545" y="19770"/>
                  </a:lnTo>
                  <a:lnTo>
                    <a:pt x="9486" y="9477"/>
                  </a:lnTo>
                  <a:lnTo>
                    <a:pt x="19781" y="2541"/>
                  </a:lnTo>
                  <a:lnTo>
                    <a:pt x="32384" y="0"/>
                  </a:lnTo>
                  <a:lnTo>
                    <a:pt x="7740015" y="0"/>
                  </a:lnTo>
                  <a:lnTo>
                    <a:pt x="7752629" y="2541"/>
                  </a:lnTo>
                  <a:lnTo>
                    <a:pt x="7762922" y="9477"/>
                  </a:lnTo>
                  <a:lnTo>
                    <a:pt x="7769858" y="19770"/>
                  </a:lnTo>
                  <a:lnTo>
                    <a:pt x="7772400" y="32384"/>
                  </a:lnTo>
                  <a:lnTo>
                    <a:pt x="7772400" y="744854"/>
                  </a:lnTo>
                  <a:lnTo>
                    <a:pt x="7769858" y="757469"/>
                  </a:lnTo>
                  <a:lnTo>
                    <a:pt x="7762922" y="767762"/>
                  </a:lnTo>
                  <a:lnTo>
                    <a:pt x="7752629" y="774698"/>
                  </a:lnTo>
                  <a:lnTo>
                    <a:pt x="7740015" y="777239"/>
                  </a:lnTo>
                  <a:lnTo>
                    <a:pt x="32384" y="777239"/>
                  </a:lnTo>
                  <a:lnTo>
                    <a:pt x="19781" y="774698"/>
                  </a:lnTo>
                  <a:lnTo>
                    <a:pt x="9486" y="767762"/>
                  </a:lnTo>
                  <a:lnTo>
                    <a:pt x="2545" y="757469"/>
                  </a:lnTo>
                  <a:lnTo>
                    <a:pt x="0" y="744854"/>
                  </a:lnTo>
                  <a:lnTo>
                    <a:pt x="0" y="32384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64463" y="5183123"/>
              <a:ext cx="7772400" cy="775970"/>
            </a:xfrm>
            <a:custGeom>
              <a:avLst/>
              <a:gdLst/>
              <a:ahLst/>
              <a:cxnLst/>
              <a:rect l="l" t="t" r="r" b="b"/>
              <a:pathLst>
                <a:path w="7772400" h="775970">
                  <a:moveTo>
                    <a:pt x="7740014" y="0"/>
                  </a:moveTo>
                  <a:lnTo>
                    <a:pt x="32321" y="0"/>
                  </a:lnTo>
                  <a:lnTo>
                    <a:pt x="19743" y="2541"/>
                  </a:lnTo>
                  <a:lnTo>
                    <a:pt x="9469" y="9477"/>
                  </a:lnTo>
                  <a:lnTo>
                    <a:pt x="2540" y="19770"/>
                  </a:lnTo>
                  <a:lnTo>
                    <a:pt x="0" y="32384"/>
                  </a:lnTo>
                  <a:lnTo>
                    <a:pt x="0" y="743394"/>
                  </a:lnTo>
                  <a:lnTo>
                    <a:pt x="2540" y="755972"/>
                  </a:lnTo>
                  <a:lnTo>
                    <a:pt x="9469" y="766246"/>
                  </a:lnTo>
                  <a:lnTo>
                    <a:pt x="19743" y="773175"/>
                  </a:lnTo>
                  <a:lnTo>
                    <a:pt x="32321" y="775716"/>
                  </a:lnTo>
                  <a:lnTo>
                    <a:pt x="7740014" y="775716"/>
                  </a:lnTo>
                  <a:lnTo>
                    <a:pt x="7752629" y="773175"/>
                  </a:lnTo>
                  <a:lnTo>
                    <a:pt x="7762922" y="766246"/>
                  </a:lnTo>
                  <a:lnTo>
                    <a:pt x="7769858" y="755972"/>
                  </a:lnTo>
                  <a:lnTo>
                    <a:pt x="7772400" y="743394"/>
                  </a:lnTo>
                  <a:lnTo>
                    <a:pt x="7772400" y="32384"/>
                  </a:lnTo>
                  <a:lnTo>
                    <a:pt x="7769858" y="19770"/>
                  </a:lnTo>
                  <a:lnTo>
                    <a:pt x="7762922" y="9477"/>
                  </a:lnTo>
                  <a:lnTo>
                    <a:pt x="7752629" y="2541"/>
                  </a:lnTo>
                  <a:lnTo>
                    <a:pt x="7740014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64463" y="5183123"/>
              <a:ext cx="7772400" cy="775970"/>
            </a:xfrm>
            <a:custGeom>
              <a:avLst/>
              <a:gdLst/>
              <a:ahLst/>
              <a:cxnLst/>
              <a:rect l="l" t="t" r="r" b="b"/>
              <a:pathLst>
                <a:path w="7772400" h="775970">
                  <a:moveTo>
                    <a:pt x="0" y="32384"/>
                  </a:moveTo>
                  <a:lnTo>
                    <a:pt x="2540" y="19770"/>
                  </a:lnTo>
                  <a:lnTo>
                    <a:pt x="9469" y="9477"/>
                  </a:lnTo>
                  <a:lnTo>
                    <a:pt x="19743" y="2541"/>
                  </a:lnTo>
                  <a:lnTo>
                    <a:pt x="32321" y="0"/>
                  </a:lnTo>
                  <a:lnTo>
                    <a:pt x="7740014" y="0"/>
                  </a:lnTo>
                  <a:lnTo>
                    <a:pt x="7752629" y="2541"/>
                  </a:lnTo>
                  <a:lnTo>
                    <a:pt x="7762922" y="9477"/>
                  </a:lnTo>
                  <a:lnTo>
                    <a:pt x="7769858" y="19770"/>
                  </a:lnTo>
                  <a:lnTo>
                    <a:pt x="7772400" y="32384"/>
                  </a:lnTo>
                  <a:lnTo>
                    <a:pt x="7772400" y="743394"/>
                  </a:lnTo>
                  <a:lnTo>
                    <a:pt x="7769858" y="755972"/>
                  </a:lnTo>
                  <a:lnTo>
                    <a:pt x="7762922" y="766246"/>
                  </a:lnTo>
                  <a:lnTo>
                    <a:pt x="7752629" y="773175"/>
                  </a:lnTo>
                  <a:lnTo>
                    <a:pt x="7740014" y="775716"/>
                  </a:lnTo>
                  <a:lnTo>
                    <a:pt x="32321" y="775716"/>
                  </a:lnTo>
                  <a:lnTo>
                    <a:pt x="19743" y="773175"/>
                  </a:lnTo>
                  <a:lnTo>
                    <a:pt x="9469" y="766246"/>
                  </a:lnTo>
                  <a:lnTo>
                    <a:pt x="2540" y="755972"/>
                  </a:lnTo>
                  <a:lnTo>
                    <a:pt x="0" y="743394"/>
                  </a:lnTo>
                  <a:lnTo>
                    <a:pt x="0" y="32384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408838" y="1261998"/>
            <a:ext cx="7842884" cy="4650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Verdana"/>
                <a:cs typeface="Verdana"/>
              </a:rPr>
              <a:t>Key </a:t>
            </a:r>
            <a:r>
              <a:rPr sz="1800" b="1" spc="-5" dirty="0">
                <a:latin typeface="Verdana"/>
                <a:cs typeface="Verdana"/>
              </a:rPr>
              <a:t>Points </a:t>
            </a:r>
            <a:r>
              <a:rPr sz="1800" b="1" dirty="0">
                <a:latin typeface="Verdana"/>
                <a:cs typeface="Verdana"/>
              </a:rPr>
              <a:t>of IPsec </a:t>
            </a:r>
            <a:r>
              <a:rPr sz="1800" b="1" spc="-5" dirty="0">
                <a:latin typeface="Verdana"/>
                <a:cs typeface="Verdana"/>
              </a:rPr>
              <a:t>NAP</a:t>
            </a:r>
            <a:r>
              <a:rPr sz="1800" b="1" spc="1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Enforcement: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2800">
              <a:latin typeface="Verdana"/>
              <a:cs typeface="Verdana"/>
            </a:endParaRPr>
          </a:p>
          <a:p>
            <a:pPr marL="591820" indent="-229235">
              <a:lnSpc>
                <a:spcPct val="100000"/>
              </a:lnSpc>
              <a:buClr>
                <a:srgbClr val="006699"/>
              </a:buClr>
              <a:buFont typeface="Verdana"/>
              <a:buChar char="•"/>
              <a:tabLst>
                <a:tab pos="592455" algn="l"/>
              </a:tabLst>
            </a:pPr>
            <a:r>
              <a:rPr sz="1600" b="1" spc="-10" dirty="0">
                <a:latin typeface="Verdana"/>
                <a:cs typeface="Verdana"/>
              </a:rPr>
              <a:t>Comprised </a:t>
            </a:r>
            <a:r>
              <a:rPr sz="1600" b="1" spc="-5" dirty="0">
                <a:latin typeface="Verdana"/>
                <a:cs typeface="Verdana"/>
              </a:rPr>
              <a:t>of a </a:t>
            </a:r>
            <a:r>
              <a:rPr sz="1600" b="1" spc="-10" dirty="0">
                <a:latin typeface="Verdana"/>
                <a:cs typeface="Verdana"/>
              </a:rPr>
              <a:t>health certificate server </a:t>
            </a:r>
            <a:r>
              <a:rPr sz="1600" b="1" spc="-5" dirty="0">
                <a:latin typeface="Verdana"/>
                <a:cs typeface="Verdana"/>
              </a:rPr>
              <a:t>and an IPsec NAP</a:t>
            </a:r>
            <a:r>
              <a:rPr sz="1600" b="1" spc="270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EC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buClr>
                <a:srgbClr val="006699"/>
              </a:buClr>
              <a:buFont typeface="Verdana"/>
              <a:buChar char="•"/>
            </a:pP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006699"/>
              </a:buClr>
              <a:buFont typeface="Verdana"/>
              <a:buChar char="•"/>
            </a:pPr>
            <a:endParaRPr sz="1550">
              <a:latin typeface="Verdana"/>
              <a:cs typeface="Verdana"/>
            </a:endParaRPr>
          </a:p>
          <a:p>
            <a:pPr marL="591820" marR="5080" indent="-228600">
              <a:lnSpc>
                <a:spcPts val="1730"/>
              </a:lnSpc>
              <a:buClr>
                <a:srgbClr val="006699"/>
              </a:buClr>
              <a:buFont typeface="Verdana"/>
              <a:buChar char="•"/>
              <a:tabLst>
                <a:tab pos="592455" algn="l"/>
              </a:tabLst>
            </a:pPr>
            <a:r>
              <a:rPr sz="1600" b="1" spc="-5" dirty="0">
                <a:latin typeface="Verdana"/>
                <a:cs typeface="Verdana"/>
              </a:rPr>
              <a:t>Health </a:t>
            </a:r>
            <a:r>
              <a:rPr sz="1600" b="1" spc="-10" dirty="0">
                <a:latin typeface="Verdana"/>
                <a:cs typeface="Verdana"/>
              </a:rPr>
              <a:t>certificate server issues </a:t>
            </a:r>
            <a:r>
              <a:rPr sz="1600" b="1" spc="-5" dirty="0">
                <a:latin typeface="Verdana"/>
                <a:cs typeface="Verdana"/>
              </a:rPr>
              <a:t>X.509 </a:t>
            </a:r>
            <a:r>
              <a:rPr sz="1600" b="1" spc="-10" dirty="0">
                <a:latin typeface="Verdana"/>
                <a:cs typeface="Verdana"/>
              </a:rPr>
              <a:t>certificates </a:t>
            </a:r>
            <a:r>
              <a:rPr sz="1600" b="1" spc="-5" dirty="0">
                <a:latin typeface="Verdana"/>
                <a:cs typeface="Verdana"/>
              </a:rPr>
              <a:t>to </a:t>
            </a:r>
            <a:r>
              <a:rPr sz="1600" b="1" spc="-10" dirty="0">
                <a:latin typeface="Verdana"/>
                <a:cs typeface="Verdana"/>
              </a:rPr>
              <a:t>quarantine  clients </a:t>
            </a:r>
            <a:r>
              <a:rPr sz="1600" b="1" spc="-5" dirty="0">
                <a:latin typeface="Verdana"/>
                <a:cs typeface="Verdana"/>
              </a:rPr>
              <a:t>when they are </a:t>
            </a:r>
            <a:r>
              <a:rPr sz="1600" b="1" spc="-10" dirty="0">
                <a:latin typeface="Verdana"/>
                <a:cs typeface="Verdana"/>
              </a:rPr>
              <a:t>verified </a:t>
            </a:r>
            <a:r>
              <a:rPr sz="1600" b="1" spc="-5" dirty="0">
                <a:latin typeface="Verdana"/>
                <a:cs typeface="Verdana"/>
              </a:rPr>
              <a:t>as</a:t>
            </a:r>
            <a:r>
              <a:rPr sz="1600" b="1" spc="135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compliant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006699"/>
              </a:buClr>
              <a:buFont typeface="Verdana"/>
              <a:buChar char="•"/>
            </a:pPr>
            <a:endParaRPr sz="2000">
              <a:latin typeface="Verdana"/>
              <a:cs typeface="Verdana"/>
            </a:endParaRPr>
          </a:p>
          <a:p>
            <a:pPr marL="588645" marR="427990" indent="-228600">
              <a:lnSpc>
                <a:spcPts val="1730"/>
              </a:lnSpc>
              <a:buClr>
                <a:srgbClr val="006699"/>
              </a:buClr>
              <a:buFont typeface="Verdana"/>
              <a:buChar char="•"/>
              <a:tabLst>
                <a:tab pos="589280" algn="l"/>
              </a:tabLst>
            </a:pPr>
            <a:r>
              <a:rPr sz="1600" b="1" spc="-10" dirty="0">
                <a:latin typeface="Verdana"/>
                <a:cs typeface="Verdana"/>
              </a:rPr>
              <a:t>Certificates </a:t>
            </a:r>
            <a:r>
              <a:rPr sz="1600" b="1" spc="-5" dirty="0">
                <a:latin typeface="Verdana"/>
                <a:cs typeface="Verdana"/>
              </a:rPr>
              <a:t>are then </a:t>
            </a:r>
            <a:r>
              <a:rPr sz="1600" b="1" spc="-10" dirty="0">
                <a:latin typeface="Verdana"/>
                <a:cs typeface="Verdana"/>
              </a:rPr>
              <a:t>used </a:t>
            </a:r>
            <a:r>
              <a:rPr sz="1600" b="1" spc="-5" dirty="0">
                <a:latin typeface="Verdana"/>
                <a:cs typeface="Verdana"/>
              </a:rPr>
              <a:t>to authenticate NAP </a:t>
            </a:r>
            <a:r>
              <a:rPr sz="1600" b="1" spc="-10" dirty="0">
                <a:latin typeface="Verdana"/>
                <a:cs typeface="Verdana"/>
              </a:rPr>
              <a:t>clients </a:t>
            </a:r>
            <a:r>
              <a:rPr sz="1600" b="1" spc="-5" dirty="0">
                <a:latin typeface="Verdana"/>
                <a:cs typeface="Verdana"/>
              </a:rPr>
              <a:t>when  they </a:t>
            </a:r>
            <a:r>
              <a:rPr sz="1600" b="1" spc="-10" dirty="0">
                <a:latin typeface="Verdana"/>
                <a:cs typeface="Verdana"/>
              </a:rPr>
              <a:t>initiate </a:t>
            </a:r>
            <a:r>
              <a:rPr sz="1600" b="1" spc="-5" dirty="0">
                <a:latin typeface="Verdana"/>
                <a:cs typeface="Verdana"/>
              </a:rPr>
              <a:t>IPsec-secured </a:t>
            </a:r>
            <a:r>
              <a:rPr sz="1600" b="1" spc="-10" dirty="0">
                <a:latin typeface="Verdana"/>
                <a:cs typeface="Verdana"/>
              </a:rPr>
              <a:t>communications </a:t>
            </a:r>
            <a:r>
              <a:rPr sz="1600" b="1" spc="-5" dirty="0">
                <a:latin typeface="Verdana"/>
                <a:cs typeface="Verdana"/>
              </a:rPr>
              <a:t>with other  NAP </a:t>
            </a:r>
            <a:r>
              <a:rPr sz="1600" b="1" spc="-10" dirty="0">
                <a:latin typeface="Verdana"/>
                <a:cs typeface="Verdana"/>
              </a:rPr>
              <a:t>clients </a:t>
            </a:r>
            <a:r>
              <a:rPr sz="1600" b="1" spc="-5" dirty="0">
                <a:latin typeface="Verdana"/>
                <a:cs typeface="Verdana"/>
              </a:rPr>
              <a:t>on an</a:t>
            </a:r>
            <a:r>
              <a:rPr sz="1600" b="1" spc="45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intranet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006699"/>
              </a:buClr>
              <a:buFont typeface="Verdana"/>
              <a:buChar char="•"/>
            </a:pPr>
            <a:endParaRPr sz="2000">
              <a:latin typeface="Verdana"/>
              <a:cs typeface="Verdana"/>
            </a:endParaRPr>
          </a:p>
          <a:p>
            <a:pPr marL="588645" marR="231140" indent="-228600">
              <a:lnSpc>
                <a:spcPts val="1730"/>
              </a:lnSpc>
              <a:buClr>
                <a:srgbClr val="006699"/>
              </a:buClr>
              <a:buFont typeface="Verdana"/>
              <a:buChar char="•"/>
              <a:tabLst>
                <a:tab pos="589280" algn="l"/>
              </a:tabLst>
            </a:pPr>
            <a:r>
              <a:rPr sz="1600" b="1" spc="-5" dirty="0">
                <a:latin typeface="Verdana"/>
                <a:cs typeface="Verdana"/>
              </a:rPr>
              <a:t>IPsec </a:t>
            </a:r>
            <a:r>
              <a:rPr sz="1600" b="1" spc="-10" dirty="0">
                <a:latin typeface="Verdana"/>
                <a:cs typeface="Verdana"/>
              </a:rPr>
              <a:t>Enforcement confines </a:t>
            </a:r>
            <a:r>
              <a:rPr sz="1600" b="1" spc="-5" dirty="0">
                <a:latin typeface="Verdana"/>
                <a:cs typeface="Verdana"/>
              </a:rPr>
              <a:t>the </a:t>
            </a:r>
            <a:r>
              <a:rPr sz="1600" b="1" spc="-10" dirty="0">
                <a:latin typeface="Verdana"/>
                <a:cs typeface="Verdana"/>
              </a:rPr>
              <a:t>communication </a:t>
            </a:r>
            <a:r>
              <a:rPr sz="1600" b="1" spc="-5" dirty="0">
                <a:latin typeface="Verdana"/>
                <a:cs typeface="Verdana"/>
              </a:rPr>
              <a:t>on a </a:t>
            </a:r>
            <a:r>
              <a:rPr sz="1600" b="1" spc="-10" dirty="0">
                <a:latin typeface="Verdana"/>
                <a:cs typeface="Verdana"/>
              </a:rPr>
              <a:t>network  </a:t>
            </a:r>
            <a:r>
              <a:rPr sz="1600" b="1" spc="-5" dirty="0">
                <a:latin typeface="Verdana"/>
                <a:cs typeface="Verdana"/>
              </a:rPr>
              <a:t>to those </a:t>
            </a:r>
            <a:r>
              <a:rPr sz="1600" b="1" spc="-10" dirty="0">
                <a:latin typeface="Verdana"/>
                <a:cs typeface="Verdana"/>
              </a:rPr>
              <a:t>nodes </a:t>
            </a:r>
            <a:r>
              <a:rPr sz="1600" b="1" spc="-5" dirty="0">
                <a:latin typeface="Verdana"/>
                <a:cs typeface="Verdana"/>
              </a:rPr>
              <a:t>that are </a:t>
            </a:r>
            <a:r>
              <a:rPr sz="1600" b="1" spc="-10" dirty="0">
                <a:latin typeface="Verdana"/>
                <a:cs typeface="Verdana"/>
              </a:rPr>
              <a:t>considered</a:t>
            </a:r>
            <a:r>
              <a:rPr sz="1600" b="1" spc="114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compliant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006699"/>
              </a:buClr>
              <a:buFont typeface="Verdana"/>
              <a:buChar char="•"/>
            </a:pPr>
            <a:endParaRPr sz="1850">
              <a:latin typeface="Verdana"/>
              <a:cs typeface="Verdana"/>
            </a:endParaRPr>
          </a:p>
          <a:p>
            <a:pPr marL="585470" indent="-229235">
              <a:lnSpc>
                <a:spcPts val="1825"/>
              </a:lnSpc>
              <a:spcBef>
                <a:spcPts val="5"/>
              </a:spcBef>
              <a:buClr>
                <a:srgbClr val="006699"/>
              </a:buClr>
              <a:buFont typeface="Verdana"/>
              <a:buChar char="•"/>
              <a:tabLst>
                <a:tab pos="586105" algn="l"/>
              </a:tabLst>
            </a:pPr>
            <a:r>
              <a:rPr sz="1600" b="1" spc="-5" dirty="0">
                <a:latin typeface="Verdana"/>
                <a:cs typeface="Verdana"/>
              </a:rPr>
              <a:t>You can </a:t>
            </a:r>
            <a:r>
              <a:rPr sz="1600" b="1" spc="-10" dirty="0">
                <a:latin typeface="Verdana"/>
                <a:cs typeface="Verdana"/>
              </a:rPr>
              <a:t>define requirements for secure communications</a:t>
            </a:r>
            <a:r>
              <a:rPr sz="1600" b="1" spc="200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with</a:t>
            </a:r>
            <a:endParaRPr sz="1600">
              <a:latin typeface="Verdana"/>
              <a:cs typeface="Verdana"/>
            </a:endParaRPr>
          </a:p>
          <a:p>
            <a:pPr marL="585470" marR="2444750">
              <a:lnSpc>
                <a:spcPts val="1730"/>
              </a:lnSpc>
              <a:spcBef>
                <a:spcPts val="120"/>
              </a:spcBef>
            </a:pPr>
            <a:r>
              <a:rPr sz="1600" b="1" spc="-10" dirty="0">
                <a:latin typeface="Verdana"/>
                <a:cs typeface="Verdana"/>
              </a:rPr>
              <a:t>compliant clients </a:t>
            </a:r>
            <a:r>
              <a:rPr sz="1600" b="1" spc="-5" dirty="0">
                <a:latin typeface="Verdana"/>
                <a:cs typeface="Verdana"/>
              </a:rPr>
              <a:t>on a per-IP address or a  </a:t>
            </a:r>
            <a:r>
              <a:rPr sz="1600" b="1" spc="-10" dirty="0">
                <a:latin typeface="Verdana"/>
                <a:cs typeface="Verdana"/>
              </a:rPr>
              <a:t>per-TCP/UDP port number</a:t>
            </a:r>
            <a:r>
              <a:rPr sz="1600" b="1" spc="85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basis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8036052" y="6265164"/>
            <a:ext cx="928369" cy="440690"/>
            <a:chOff x="8036052" y="6265164"/>
            <a:chExt cx="928369" cy="440690"/>
          </a:xfrm>
        </p:grpSpPr>
        <p:sp>
          <p:nvSpPr>
            <p:cNvPr id="56" name="object 56"/>
            <p:cNvSpPr/>
            <p:nvPr/>
          </p:nvSpPr>
          <p:spPr>
            <a:xfrm>
              <a:off x="8046720" y="6275832"/>
              <a:ext cx="917448" cy="429768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8036052" y="6265164"/>
              <a:ext cx="914400" cy="426720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8214360" y="6397752"/>
              <a:ext cx="187451" cy="178307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8232648" y="6391656"/>
              <a:ext cx="175259" cy="166115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8228076" y="6387084"/>
              <a:ext cx="184403" cy="175259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8523732" y="6356604"/>
              <a:ext cx="304800" cy="243839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8596884" y="6423660"/>
              <a:ext cx="134111" cy="134112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8615172" y="6417564"/>
              <a:ext cx="121920" cy="121920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8615172" y="6417564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20">
                  <a:moveTo>
                    <a:pt x="0" y="121920"/>
                  </a:moveTo>
                  <a:lnTo>
                    <a:pt x="121920" y="121920"/>
                  </a:lnTo>
                  <a:lnTo>
                    <a:pt x="121920" y="0"/>
                  </a:lnTo>
                  <a:lnTo>
                    <a:pt x="0" y="0"/>
                  </a:lnTo>
                  <a:lnTo>
                    <a:pt x="0" y="121920"/>
                  </a:lnTo>
                  <a:close/>
                </a:path>
              </a:pathLst>
            </a:custGeom>
            <a:ln w="9144">
              <a:solidFill>
                <a:srgbClr val="666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31394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Verdana"/>
                <a:cs typeface="Verdana"/>
              </a:rPr>
              <a:t>802.1x</a:t>
            </a:r>
            <a:r>
              <a:rPr sz="2400" spc="-6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Enforcement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4462" y="1062298"/>
            <a:ext cx="8670290" cy="485965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740025">
              <a:lnSpc>
                <a:spcPct val="100000"/>
              </a:lnSpc>
              <a:spcBef>
                <a:spcPts val="5"/>
              </a:spcBef>
            </a:pPr>
            <a:r>
              <a:rPr sz="1200" b="1" spc="-5" dirty="0">
                <a:latin typeface="Verdana"/>
                <a:cs typeface="Verdana"/>
              </a:rPr>
              <a:t>VPN Server</a:t>
            </a:r>
            <a:endParaRPr sz="1200">
              <a:latin typeface="Verdana"/>
              <a:cs typeface="Verdana"/>
            </a:endParaRPr>
          </a:p>
          <a:p>
            <a:pPr marL="5055235">
              <a:lnSpc>
                <a:spcPct val="100000"/>
              </a:lnSpc>
              <a:spcBef>
                <a:spcPts val="520"/>
              </a:spcBef>
              <a:tabLst>
                <a:tab pos="7481570" algn="l"/>
              </a:tabLst>
            </a:pPr>
            <a:r>
              <a:rPr sz="1800" b="1" spc="-7" baseline="2314" dirty="0">
                <a:latin typeface="Verdana"/>
                <a:cs typeface="Verdana"/>
              </a:rPr>
              <a:t>Active	</a:t>
            </a:r>
            <a:r>
              <a:rPr sz="1200" b="1" spc="-5" dirty="0">
                <a:latin typeface="Verdana"/>
                <a:cs typeface="Verdana"/>
              </a:rPr>
              <a:t>IEEE</a:t>
            </a:r>
            <a:r>
              <a:rPr sz="1200" b="1" spc="-10" dirty="0">
                <a:latin typeface="Verdana"/>
                <a:cs typeface="Verdana"/>
              </a:rPr>
              <a:t> </a:t>
            </a:r>
            <a:r>
              <a:rPr sz="1200" b="1" spc="-5" dirty="0">
                <a:latin typeface="Verdana"/>
                <a:cs typeface="Verdana"/>
              </a:rPr>
              <a:t>802.1X</a:t>
            </a:r>
            <a:endParaRPr sz="1200">
              <a:latin typeface="Verdana"/>
              <a:cs typeface="Verdana"/>
            </a:endParaRPr>
          </a:p>
          <a:p>
            <a:pPr marL="5055235">
              <a:lnSpc>
                <a:spcPct val="100000"/>
              </a:lnSpc>
              <a:tabLst>
                <a:tab pos="7481570" algn="l"/>
              </a:tabLst>
            </a:pPr>
            <a:r>
              <a:rPr sz="1200" b="1" spc="-5" dirty="0">
                <a:latin typeface="Verdana"/>
                <a:cs typeface="Verdana"/>
              </a:rPr>
              <a:t>Directory	Devices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950">
              <a:latin typeface="Verdana"/>
              <a:cs typeface="Verdana"/>
            </a:endParaRPr>
          </a:p>
          <a:p>
            <a:pPr marL="5569585" marR="2040889">
              <a:lnSpc>
                <a:spcPct val="100000"/>
              </a:lnSpc>
            </a:pPr>
            <a:r>
              <a:rPr sz="1200" b="1" spc="-5" dirty="0">
                <a:latin typeface="Verdana"/>
                <a:cs typeface="Verdana"/>
              </a:rPr>
              <a:t>Health  R</a:t>
            </a:r>
            <a:r>
              <a:rPr sz="1200" b="1" spc="-10" dirty="0">
                <a:latin typeface="Verdana"/>
                <a:cs typeface="Verdana"/>
              </a:rPr>
              <a:t>e</a:t>
            </a:r>
            <a:r>
              <a:rPr sz="1200" b="1" spc="-5" dirty="0">
                <a:latin typeface="Verdana"/>
                <a:cs typeface="Verdana"/>
              </a:rPr>
              <a:t>gi</a:t>
            </a:r>
            <a:r>
              <a:rPr sz="1200" b="1" spc="-10" dirty="0">
                <a:latin typeface="Verdana"/>
                <a:cs typeface="Verdana"/>
              </a:rPr>
              <a:t>s</a:t>
            </a:r>
            <a:r>
              <a:rPr sz="1200" b="1" dirty="0">
                <a:latin typeface="Verdana"/>
                <a:cs typeface="Verdana"/>
              </a:rPr>
              <a:t>t</a:t>
            </a:r>
            <a:r>
              <a:rPr sz="1200" b="1" spc="-5" dirty="0">
                <a:latin typeface="Verdana"/>
                <a:cs typeface="Verdana"/>
              </a:rPr>
              <a:t>r</a:t>
            </a:r>
            <a:r>
              <a:rPr sz="1200" b="1" dirty="0">
                <a:latin typeface="Verdana"/>
                <a:cs typeface="Verdana"/>
              </a:rPr>
              <a:t>ation  </a:t>
            </a:r>
            <a:r>
              <a:rPr sz="1200" b="1" spc="-5" dirty="0">
                <a:latin typeface="Verdana"/>
                <a:cs typeface="Verdana"/>
              </a:rPr>
              <a:t>Authority</a:t>
            </a:r>
            <a:endParaRPr sz="1200">
              <a:latin typeface="Verdana"/>
              <a:cs typeface="Verdana"/>
            </a:endParaRPr>
          </a:p>
          <a:p>
            <a:pPr>
              <a:lnSpc>
                <a:spcPts val="1695"/>
              </a:lnSpc>
            </a:pPr>
            <a:r>
              <a:rPr sz="1600" b="1" spc="-5" dirty="0">
                <a:latin typeface="Verdana"/>
                <a:cs typeface="Verdana"/>
              </a:rPr>
              <a:t>Internet</a:t>
            </a:r>
            <a:endParaRPr sz="1600">
              <a:latin typeface="Verdana"/>
              <a:cs typeface="Verdana"/>
            </a:endParaRPr>
          </a:p>
          <a:p>
            <a:pPr marR="141605" algn="r">
              <a:lnSpc>
                <a:spcPts val="1245"/>
              </a:lnSpc>
            </a:pPr>
            <a:r>
              <a:rPr sz="1200" b="1" dirty="0">
                <a:latin typeface="Verdana"/>
                <a:cs typeface="Verdana"/>
              </a:rPr>
              <a:t>NAP</a:t>
            </a:r>
            <a:r>
              <a:rPr sz="1200" b="1" spc="-75" dirty="0">
                <a:latin typeface="Verdana"/>
                <a:cs typeface="Verdana"/>
              </a:rPr>
              <a:t> </a:t>
            </a:r>
            <a:r>
              <a:rPr sz="1200" b="1" spc="-5" dirty="0">
                <a:latin typeface="Verdana"/>
                <a:cs typeface="Verdana"/>
              </a:rPr>
              <a:t>Health</a:t>
            </a:r>
            <a:endParaRPr sz="1200">
              <a:latin typeface="Verdana"/>
              <a:cs typeface="Verdana"/>
            </a:endParaRPr>
          </a:p>
          <a:p>
            <a:pPr marL="1868170">
              <a:lnSpc>
                <a:spcPts val="1789"/>
              </a:lnSpc>
              <a:tabLst>
                <a:tab pos="3732529" algn="l"/>
                <a:tab pos="5405755" algn="l"/>
                <a:tab pos="7546340" algn="l"/>
              </a:tabLst>
            </a:pPr>
            <a:r>
              <a:rPr sz="1600" b="1" spc="-10" dirty="0">
                <a:latin typeface="Verdana"/>
                <a:cs typeface="Verdana"/>
              </a:rPr>
              <a:t>Perimeter	</a:t>
            </a:r>
            <a:r>
              <a:rPr sz="1800" b="1" spc="-7" baseline="50925" dirty="0">
                <a:latin typeface="Verdana"/>
                <a:cs typeface="Verdana"/>
              </a:rPr>
              <a:t>DHCP Server	</a:t>
            </a:r>
            <a:r>
              <a:rPr sz="2400" b="1" spc="-7" baseline="1736" dirty="0">
                <a:latin typeface="Verdana"/>
                <a:cs typeface="Verdana"/>
              </a:rPr>
              <a:t>Intranet	</a:t>
            </a:r>
            <a:r>
              <a:rPr sz="1800" b="1" spc="-7" baseline="16203" dirty="0">
                <a:latin typeface="Verdana"/>
                <a:cs typeface="Verdana"/>
              </a:rPr>
              <a:t>Policy</a:t>
            </a:r>
            <a:r>
              <a:rPr sz="1800" b="1" spc="-75" baseline="16203" dirty="0">
                <a:latin typeface="Verdana"/>
                <a:cs typeface="Verdana"/>
              </a:rPr>
              <a:t> </a:t>
            </a:r>
            <a:r>
              <a:rPr sz="1800" b="1" spc="-7" baseline="16203" dirty="0">
                <a:latin typeface="Verdana"/>
                <a:cs typeface="Verdana"/>
              </a:rPr>
              <a:t>Server</a:t>
            </a:r>
            <a:endParaRPr sz="1800" baseline="16203">
              <a:latin typeface="Verdana"/>
              <a:cs typeface="Verdana"/>
            </a:endParaRPr>
          </a:p>
          <a:p>
            <a:pPr marL="1868170">
              <a:lnSpc>
                <a:spcPts val="1825"/>
              </a:lnSpc>
            </a:pPr>
            <a:r>
              <a:rPr sz="1600" b="1" spc="-5" dirty="0">
                <a:latin typeface="Verdana"/>
                <a:cs typeface="Verdana"/>
              </a:rPr>
              <a:t>Network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050">
              <a:latin typeface="Verdana"/>
              <a:cs typeface="Verdana"/>
            </a:endParaRPr>
          </a:p>
          <a:p>
            <a:pPr marL="4790440" marR="2708910">
              <a:lnSpc>
                <a:spcPts val="1730"/>
              </a:lnSpc>
            </a:pPr>
            <a:r>
              <a:rPr sz="1600" b="1" spc="-10" dirty="0">
                <a:latin typeface="Verdana"/>
                <a:cs typeface="Verdana"/>
              </a:rPr>
              <a:t>Restr</a:t>
            </a:r>
            <a:r>
              <a:rPr sz="1600" b="1" spc="-15" dirty="0">
                <a:latin typeface="Verdana"/>
                <a:cs typeface="Verdana"/>
              </a:rPr>
              <a:t>i</a:t>
            </a:r>
            <a:r>
              <a:rPr sz="1600" b="1" spc="-10" dirty="0">
                <a:latin typeface="Verdana"/>
                <a:cs typeface="Verdana"/>
              </a:rPr>
              <a:t>cted  </a:t>
            </a:r>
            <a:r>
              <a:rPr sz="1600" b="1" spc="-5" dirty="0">
                <a:latin typeface="Verdana"/>
                <a:cs typeface="Verdana"/>
              </a:rPr>
              <a:t>Network</a:t>
            </a:r>
            <a:endParaRPr sz="1600">
              <a:latin typeface="Verdana"/>
              <a:cs typeface="Verdana"/>
            </a:endParaRPr>
          </a:p>
          <a:p>
            <a:pPr marL="2131695">
              <a:lnSpc>
                <a:spcPct val="100000"/>
              </a:lnSpc>
              <a:spcBef>
                <a:spcPts val="1655"/>
              </a:spcBef>
              <a:tabLst>
                <a:tab pos="6995795" algn="l"/>
              </a:tabLst>
            </a:pPr>
            <a:r>
              <a:rPr sz="1800" b="1" spc="-7" baseline="32407" dirty="0">
                <a:latin typeface="Verdana"/>
                <a:cs typeface="Verdana"/>
              </a:rPr>
              <a:t>Remediation	</a:t>
            </a:r>
            <a:r>
              <a:rPr sz="1200" b="1" dirty="0">
                <a:latin typeface="Verdana"/>
                <a:cs typeface="Verdana"/>
              </a:rPr>
              <a:t>NAP </a:t>
            </a:r>
            <a:r>
              <a:rPr sz="1200" b="1" spc="-5" dirty="0">
                <a:latin typeface="Verdana"/>
                <a:cs typeface="Verdana"/>
              </a:rPr>
              <a:t>Client</a:t>
            </a:r>
            <a:r>
              <a:rPr sz="1200" b="1" spc="-20" dirty="0">
                <a:latin typeface="Verdana"/>
                <a:cs typeface="Verdana"/>
              </a:rPr>
              <a:t> </a:t>
            </a:r>
            <a:r>
              <a:rPr sz="1200" b="1" dirty="0">
                <a:latin typeface="Verdana"/>
                <a:cs typeface="Verdana"/>
              </a:rPr>
              <a:t>with</a:t>
            </a:r>
            <a:endParaRPr sz="1200">
              <a:latin typeface="Verdana"/>
              <a:cs typeface="Verdana"/>
            </a:endParaRPr>
          </a:p>
          <a:p>
            <a:pPr marL="2131695">
              <a:lnSpc>
                <a:spcPct val="100000"/>
              </a:lnSpc>
              <a:tabLst>
                <a:tab pos="6995795" algn="l"/>
              </a:tabLst>
            </a:pPr>
            <a:r>
              <a:rPr sz="1800" b="1" spc="-7" baseline="32407" dirty="0">
                <a:latin typeface="Verdana"/>
                <a:cs typeface="Verdana"/>
              </a:rPr>
              <a:t>Servers	</a:t>
            </a:r>
            <a:r>
              <a:rPr sz="1200" b="1" spc="-5" dirty="0">
                <a:latin typeface="Verdana"/>
                <a:cs typeface="Verdana"/>
              </a:rPr>
              <a:t>limited</a:t>
            </a:r>
            <a:r>
              <a:rPr sz="1200" b="1" spc="10" dirty="0">
                <a:latin typeface="Verdana"/>
                <a:cs typeface="Verdana"/>
              </a:rPr>
              <a:t> </a:t>
            </a:r>
            <a:r>
              <a:rPr sz="1200" b="1" spc="-5" dirty="0">
                <a:latin typeface="Verdana"/>
                <a:cs typeface="Verdana"/>
              </a:rPr>
              <a:t>access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31647" y="1007173"/>
            <a:ext cx="8759190" cy="5153025"/>
            <a:chOff x="231647" y="1007173"/>
            <a:chExt cx="8759190" cy="5153025"/>
          </a:xfrm>
        </p:grpSpPr>
        <p:sp>
          <p:nvSpPr>
            <p:cNvPr id="5" name="object 5"/>
            <p:cNvSpPr/>
            <p:nvPr/>
          </p:nvSpPr>
          <p:spPr>
            <a:xfrm>
              <a:off x="2719577" y="1774698"/>
              <a:ext cx="2101850" cy="0"/>
            </a:xfrm>
            <a:custGeom>
              <a:avLst/>
              <a:gdLst/>
              <a:ahLst/>
              <a:cxnLst/>
              <a:rect l="l" t="t" r="r" b="b"/>
              <a:pathLst>
                <a:path w="2101850">
                  <a:moveTo>
                    <a:pt x="2101596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777995" y="1370076"/>
              <a:ext cx="5122163" cy="278892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753612" y="1345692"/>
              <a:ext cx="5119116" cy="278587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613147" y="2900171"/>
              <a:ext cx="676655" cy="80619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955792" y="2049780"/>
              <a:ext cx="676656" cy="80619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54858" y="2954274"/>
              <a:ext cx="1015365" cy="0"/>
            </a:xfrm>
            <a:custGeom>
              <a:avLst/>
              <a:gdLst/>
              <a:ahLst/>
              <a:cxnLst/>
              <a:rect l="l" t="t" r="r" b="b"/>
              <a:pathLst>
                <a:path w="1015364">
                  <a:moveTo>
                    <a:pt x="1014983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855975" y="2592324"/>
              <a:ext cx="1024127" cy="82296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206245" y="2954274"/>
              <a:ext cx="2100580" cy="0"/>
            </a:xfrm>
            <a:custGeom>
              <a:avLst/>
              <a:gdLst/>
              <a:ahLst/>
              <a:cxnLst/>
              <a:rect l="l" t="t" r="r" b="b"/>
              <a:pathLst>
                <a:path w="2100579">
                  <a:moveTo>
                    <a:pt x="2100071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508759" y="2590800"/>
              <a:ext cx="1022604" cy="82296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31647" y="2496311"/>
              <a:ext cx="926591" cy="91897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48334" y="2897124"/>
              <a:ext cx="734695" cy="114300"/>
            </a:xfrm>
            <a:custGeom>
              <a:avLst/>
              <a:gdLst/>
              <a:ahLst/>
              <a:cxnLst/>
              <a:rect l="l" t="t" r="r" b="b"/>
              <a:pathLst>
                <a:path w="734694" h="114300">
                  <a:moveTo>
                    <a:pt x="114300" y="0"/>
                  </a:moveTo>
                  <a:lnTo>
                    <a:pt x="0" y="57150"/>
                  </a:lnTo>
                  <a:lnTo>
                    <a:pt x="114300" y="114300"/>
                  </a:lnTo>
                  <a:lnTo>
                    <a:pt x="114300" y="76200"/>
                  </a:lnTo>
                  <a:lnTo>
                    <a:pt x="95250" y="76200"/>
                  </a:lnTo>
                  <a:lnTo>
                    <a:pt x="95250" y="38100"/>
                  </a:lnTo>
                  <a:lnTo>
                    <a:pt x="114300" y="38100"/>
                  </a:lnTo>
                  <a:lnTo>
                    <a:pt x="114300" y="0"/>
                  </a:lnTo>
                  <a:close/>
                </a:path>
                <a:path w="734694" h="114300">
                  <a:moveTo>
                    <a:pt x="114300" y="38100"/>
                  </a:moveTo>
                  <a:lnTo>
                    <a:pt x="95250" y="38100"/>
                  </a:lnTo>
                  <a:lnTo>
                    <a:pt x="95250" y="76200"/>
                  </a:lnTo>
                  <a:lnTo>
                    <a:pt x="114300" y="76200"/>
                  </a:lnTo>
                  <a:lnTo>
                    <a:pt x="114300" y="38100"/>
                  </a:lnTo>
                  <a:close/>
                </a:path>
                <a:path w="734694" h="114300">
                  <a:moveTo>
                    <a:pt x="734567" y="38100"/>
                  </a:moveTo>
                  <a:lnTo>
                    <a:pt x="114300" y="38100"/>
                  </a:lnTo>
                  <a:lnTo>
                    <a:pt x="114300" y="76200"/>
                  </a:lnTo>
                  <a:lnTo>
                    <a:pt x="734567" y="76200"/>
                  </a:lnTo>
                  <a:lnTo>
                    <a:pt x="734567" y="3810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266431" y="2907791"/>
              <a:ext cx="675131" cy="80772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633716" y="3621024"/>
              <a:ext cx="1351915" cy="433070"/>
            </a:xfrm>
            <a:custGeom>
              <a:avLst/>
              <a:gdLst/>
              <a:ahLst/>
              <a:cxnLst/>
              <a:rect l="l" t="t" r="r" b="b"/>
              <a:pathLst>
                <a:path w="1351915" h="433070">
                  <a:moveTo>
                    <a:pt x="1303908" y="0"/>
                  </a:moveTo>
                  <a:lnTo>
                    <a:pt x="47878" y="0"/>
                  </a:lnTo>
                  <a:lnTo>
                    <a:pt x="29253" y="3766"/>
                  </a:lnTo>
                  <a:lnTo>
                    <a:pt x="14033" y="14033"/>
                  </a:lnTo>
                  <a:lnTo>
                    <a:pt x="3766" y="29253"/>
                  </a:lnTo>
                  <a:lnTo>
                    <a:pt x="0" y="47878"/>
                  </a:lnTo>
                  <a:lnTo>
                    <a:pt x="0" y="384937"/>
                  </a:lnTo>
                  <a:lnTo>
                    <a:pt x="3766" y="403562"/>
                  </a:lnTo>
                  <a:lnTo>
                    <a:pt x="14033" y="418782"/>
                  </a:lnTo>
                  <a:lnTo>
                    <a:pt x="29253" y="429049"/>
                  </a:lnTo>
                  <a:lnTo>
                    <a:pt x="47878" y="432815"/>
                  </a:lnTo>
                  <a:lnTo>
                    <a:pt x="1303908" y="432815"/>
                  </a:lnTo>
                  <a:lnTo>
                    <a:pt x="1322534" y="429049"/>
                  </a:lnTo>
                  <a:lnTo>
                    <a:pt x="1337754" y="418782"/>
                  </a:lnTo>
                  <a:lnTo>
                    <a:pt x="1348021" y="403562"/>
                  </a:lnTo>
                  <a:lnTo>
                    <a:pt x="1351787" y="384937"/>
                  </a:lnTo>
                  <a:lnTo>
                    <a:pt x="1351787" y="47878"/>
                  </a:lnTo>
                  <a:lnTo>
                    <a:pt x="1348021" y="29253"/>
                  </a:lnTo>
                  <a:lnTo>
                    <a:pt x="1337754" y="14033"/>
                  </a:lnTo>
                  <a:lnTo>
                    <a:pt x="1322534" y="3766"/>
                  </a:lnTo>
                  <a:lnTo>
                    <a:pt x="13039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633716" y="3621024"/>
              <a:ext cx="1351915" cy="433070"/>
            </a:xfrm>
            <a:custGeom>
              <a:avLst/>
              <a:gdLst/>
              <a:ahLst/>
              <a:cxnLst/>
              <a:rect l="l" t="t" r="r" b="b"/>
              <a:pathLst>
                <a:path w="1351915" h="433070">
                  <a:moveTo>
                    <a:pt x="0" y="47878"/>
                  </a:moveTo>
                  <a:lnTo>
                    <a:pt x="3766" y="29253"/>
                  </a:lnTo>
                  <a:lnTo>
                    <a:pt x="14033" y="14033"/>
                  </a:lnTo>
                  <a:lnTo>
                    <a:pt x="29253" y="3766"/>
                  </a:lnTo>
                  <a:lnTo>
                    <a:pt x="47878" y="0"/>
                  </a:lnTo>
                  <a:lnTo>
                    <a:pt x="1303908" y="0"/>
                  </a:lnTo>
                  <a:lnTo>
                    <a:pt x="1322534" y="3766"/>
                  </a:lnTo>
                  <a:lnTo>
                    <a:pt x="1337754" y="14033"/>
                  </a:lnTo>
                  <a:lnTo>
                    <a:pt x="1348021" y="29253"/>
                  </a:lnTo>
                  <a:lnTo>
                    <a:pt x="1351787" y="47878"/>
                  </a:lnTo>
                  <a:lnTo>
                    <a:pt x="1351787" y="384937"/>
                  </a:lnTo>
                  <a:lnTo>
                    <a:pt x="1348021" y="403562"/>
                  </a:lnTo>
                  <a:lnTo>
                    <a:pt x="1337754" y="418782"/>
                  </a:lnTo>
                  <a:lnTo>
                    <a:pt x="1322534" y="429049"/>
                  </a:lnTo>
                  <a:lnTo>
                    <a:pt x="1303908" y="432815"/>
                  </a:lnTo>
                  <a:lnTo>
                    <a:pt x="47878" y="432815"/>
                  </a:lnTo>
                  <a:lnTo>
                    <a:pt x="29253" y="429049"/>
                  </a:lnTo>
                  <a:lnTo>
                    <a:pt x="14033" y="418782"/>
                  </a:lnTo>
                  <a:lnTo>
                    <a:pt x="3766" y="403562"/>
                  </a:lnTo>
                  <a:lnTo>
                    <a:pt x="0" y="384937"/>
                  </a:lnTo>
                  <a:lnTo>
                    <a:pt x="0" y="47878"/>
                  </a:lnTo>
                  <a:close/>
                </a:path>
              </a:pathLst>
            </a:custGeom>
            <a:ln w="9144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25239" y="3688080"/>
              <a:ext cx="1327785" cy="288290"/>
            </a:xfrm>
            <a:custGeom>
              <a:avLst/>
              <a:gdLst/>
              <a:ahLst/>
              <a:cxnLst/>
              <a:rect l="l" t="t" r="r" b="b"/>
              <a:pathLst>
                <a:path w="1327785" h="288289">
                  <a:moveTo>
                    <a:pt x="1295527" y="0"/>
                  </a:moveTo>
                  <a:lnTo>
                    <a:pt x="31876" y="0"/>
                  </a:lnTo>
                  <a:lnTo>
                    <a:pt x="19448" y="2498"/>
                  </a:lnTo>
                  <a:lnTo>
                    <a:pt x="9318" y="9318"/>
                  </a:lnTo>
                  <a:lnTo>
                    <a:pt x="2498" y="19448"/>
                  </a:lnTo>
                  <a:lnTo>
                    <a:pt x="0" y="31877"/>
                  </a:lnTo>
                  <a:lnTo>
                    <a:pt x="0" y="256159"/>
                  </a:lnTo>
                  <a:lnTo>
                    <a:pt x="2498" y="268587"/>
                  </a:lnTo>
                  <a:lnTo>
                    <a:pt x="9318" y="278717"/>
                  </a:lnTo>
                  <a:lnTo>
                    <a:pt x="19448" y="285537"/>
                  </a:lnTo>
                  <a:lnTo>
                    <a:pt x="31876" y="288036"/>
                  </a:lnTo>
                  <a:lnTo>
                    <a:pt x="1295527" y="288036"/>
                  </a:lnTo>
                  <a:lnTo>
                    <a:pt x="1307955" y="285537"/>
                  </a:lnTo>
                  <a:lnTo>
                    <a:pt x="1318085" y="278717"/>
                  </a:lnTo>
                  <a:lnTo>
                    <a:pt x="1324905" y="268587"/>
                  </a:lnTo>
                  <a:lnTo>
                    <a:pt x="1327404" y="256159"/>
                  </a:lnTo>
                  <a:lnTo>
                    <a:pt x="1327404" y="31877"/>
                  </a:lnTo>
                  <a:lnTo>
                    <a:pt x="1324905" y="19448"/>
                  </a:lnTo>
                  <a:lnTo>
                    <a:pt x="1318085" y="9318"/>
                  </a:lnTo>
                  <a:lnTo>
                    <a:pt x="1307955" y="2498"/>
                  </a:lnTo>
                  <a:lnTo>
                    <a:pt x="12955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825239" y="3688080"/>
              <a:ext cx="1327785" cy="288290"/>
            </a:xfrm>
            <a:custGeom>
              <a:avLst/>
              <a:gdLst/>
              <a:ahLst/>
              <a:cxnLst/>
              <a:rect l="l" t="t" r="r" b="b"/>
              <a:pathLst>
                <a:path w="1327785" h="288289">
                  <a:moveTo>
                    <a:pt x="0" y="31877"/>
                  </a:moveTo>
                  <a:lnTo>
                    <a:pt x="2498" y="19448"/>
                  </a:lnTo>
                  <a:lnTo>
                    <a:pt x="9318" y="9318"/>
                  </a:lnTo>
                  <a:lnTo>
                    <a:pt x="19448" y="2498"/>
                  </a:lnTo>
                  <a:lnTo>
                    <a:pt x="31876" y="0"/>
                  </a:lnTo>
                  <a:lnTo>
                    <a:pt x="1295527" y="0"/>
                  </a:lnTo>
                  <a:lnTo>
                    <a:pt x="1307955" y="2498"/>
                  </a:lnTo>
                  <a:lnTo>
                    <a:pt x="1318085" y="9318"/>
                  </a:lnTo>
                  <a:lnTo>
                    <a:pt x="1324905" y="19448"/>
                  </a:lnTo>
                  <a:lnTo>
                    <a:pt x="1327404" y="31877"/>
                  </a:lnTo>
                  <a:lnTo>
                    <a:pt x="1327404" y="256159"/>
                  </a:lnTo>
                  <a:lnTo>
                    <a:pt x="1324905" y="268587"/>
                  </a:lnTo>
                  <a:lnTo>
                    <a:pt x="1318085" y="278717"/>
                  </a:lnTo>
                  <a:lnTo>
                    <a:pt x="1307955" y="285537"/>
                  </a:lnTo>
                  <a:lnTo>
                    <a:pt x="1295527" y="288036"/>
                  </a:lnTo>
                  <a:lnTo>
                    <a:pt x="31876" y="288036"/>
                  </a:lnTo>
                  <a:lnTo>
                    <a:pt x="19448" y="285537"/>
                  </a:lnTo>
                  <a:lnTo>
                    <a:pt x="9318" y="278717"/>
                  </a:lnTo>
                  <a:lnTo>
                    <a:pt x="2498" y="268587"/>
                  </a:lnTo>
                  <a:lnTo>
                    <a:pt x="0" y="256159"/>
                  </a:lnTo>
                  <a:lnTo>
                    <a:pt x="0" y="31877"/>
                  </a:lnTo>
                  <a:close/>
                </a:path>
              </a:pathLst>
            </a:custGeom>
            <a:ln w="9144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652515" y="2894075"/>
              <a:ext cx="1280160" cy="582295"/>
            </a:xfrm>
            <a:custGeom>
              <a:avLst/>
              <a:gdLst/>
              <a:ahLst/>
              <a:cxnLst/>
              <a:rect l="l" t="t" r="r" b="b"/>
              <a:pathLst>
                <a:path w="1280159" h="582295">
                  <a:moveTo>
                    <a:pt x="1215770" y="0"/>
                  </a:moveTo>
                  <a:lnTo>
                    <a:pt x="64388" y="0"/>
                  </a:lnTo>
                  <a:lnTo>
                    <a:pt x="39326" y="5060"/>
                  </a:lnTo>
                  <a:lnTo>
                    <a:pt x="18859" y="18859"/>
                  </a:lnTo>
                  <a:lnTo>
                    <a:pt x="5060" y="39326"/>
                  </a:lnTo>
                  <a:lnTo>
                    <a:pt x="0" y="64388"/>
                  </a:lnTo>
                  <a:lnTo>
                    <a:pt x="0" y="517778"/>
                  </a:lnTo>
                  <a:lnTo>
                    <a:pt x="5060" y="542841"/>
                  </a:lnTo>
                  <a:lnTo>
                    <a:pt x="18859" y="563308"/>
                  </a:lnTo>
                  <a:lnTo>
                    <a:pt x="39326" y="577107"/>
                  </a:lnTo>
                  <a:lnTo>
                    <a:pt x="64388" y="582168"/>
                  </a:lnTo>
                  <a:lnTo>
                    <a:pt x="1215770" y="582168"/>
                  </a:lnTo>
                  <a:lnTo>
                    <a:pt x="1240833" y="577107"/>
                  </a:lnTo>
                  <a:lnTo>
                    <a:pt x="1261300" y="563308"/>
                  </a:lnTo>
                  <a:lnTo>
                    <a:pt x="1275099" y="542841"/>
                  </a:lnTo>
                  <a:lnTo>
                    <a:pt x="1280160" y="517778"/>
                  </a:lnTo>
                  <a:lnTo>
                    <a:pt x="1280160" y="64388"/>
                  </a:lnTo>
                  <a:lnTo>
                    <a:pt x="1275099" y="39326"/>
                  </a:lnTo>
                  <a:lnTo>
                    <a:pt x="1261300" y="18859"/>
                  </a:lnTo>
                  <a:lnTo>
                    <a:pt x="1240833" y="5060"/>
                  </a:lnTo>
                  <a:lnTo>
                    <a:pt x="12157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652515" y="2894075"/>
              <a:ext cx="1280160" cy="582295"/>
            </a:xfrm>
            <a:custGeom>
              <a:avLst/>
              <a:gdLst/>
              <a:ahLst/>
              <a:cxnLst/>
              <a:rect l="l" t="t" r="r" b="b"/>
              <a:pathLst>
                <a:path w="1280159" h="582295">
                  <a:moveTo>
                    <a:pt x="0" y="64388"/>
                  </a:moveTo>
                  <a:lnTo>
                    <a:pt x="5060" y="39326"/>
                  </a:lnTo>
                  <a:lnTo>
                    <a:pt x="18859" y="18859"/>
                  </a:lnTo>
                  <a:lnTo>
                    <a:pt x="39326" y="5060"/>
                  </a:lnTo>
                  <a:lnTo>
                    <a:pt x="64388" y="0"/>
                  </a:lnTo>
                  <a:lnTo>
                    <a:pt x="1215770" y="0"/>
                  </a:lnTo>
                  <a:lnTo>
                    <a:pt x="1240833" y="5060"/>
                  </a:lnTo>
                  <a:lnTo>
                    <a:pt x="1261300" y="18859"/>
                  </a:lnTo>
                  <a:lnTo>
                    <a:pt x="1275099" y="39326"/>
                  </a:lnTo>
                  <a:lnTo>
                    <a:pt x="1280160" y="64388"/>
                  </a:lnTo>
                  <a:lnTo>
                    <a:pt x="1280160" y="517778"/>
                  </a:lnTo>
                  <a:lnTo>
                    <a:pt x="1275099" y="542841"/>
                  </a:lnTo>
                  <a:lnTo>
                    <a:pt x="1261300" y="563308"/>
                  </a:lnTo>
                  <a:lnTo>
                    <a:pt x="1240833" y="577107"/>
                  </a:lnTo>
                  <a:lnTo>
                    <a:pt x="1215770" y="582168"/>
                  </a:lnTo>
                  <a:lnTo>
                    <a:pt x="64388" y="582168"/>
                  </a:lnTo>
                  <a:lnTo>
                    <a:pt x="39326" y="577107"/>
                  </a:lnTo>
                  <a:lnTo>
                    <a:pt x="18859" y="563308"/>
                  </a:lnTo>
                  <a:lnTo>
                    <a:pt x="5060" y="542841"/>
                  </a:lnTo>
                  <a:lnTo>
                    <a:pt x="0" y="517778"/>
                  </a:lnTo>
                  <a:lnTo>
                    <a:pt x="0" y="64388"/>
                  </a:lnTo>
                  <a:close/>
                </a:path>
              </a:pathLst>
            </a:custGeom>
            <a:ln w="9144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164324" y="1772412"/>
              <a:ext cx="734568" cy="57759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752590" y="1569389"/>
              <a:ext cx="761089" cy="516488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569707" y="1277111"/>
              <a:ext cx="1278890" cy="439420"/>
            </a:xfrm>
            <a:custGeom>
              <a:avLst/>
              <a:gdLst/>
              <a:ahLst/>
              <a:cxnLst/>
              <a:rect l="l" t="t" r="r" b="b"/>
              <a:pathLst>
                <a:path w="1278890" h="439419">
                  <a:moveTo>
                    <a:pt x="1230122" y="0"/>
                  </a:moveTo>
                  <a:lnTo>
                    <a:pt x="48514" y="0"/>
                  </a:lnTo>
                  <a:lnTo>
                    <a:pt x="29628" y="3811"/>
                  </a:lnTo>
                  <a:lnTo>
                    <a:pt x="14208" y="14208"/>
                  </a:lnTo>
                  <a:lnTo>
                    <a:pt x="3811" y="29628"/>
                  </a:lnTo>
                  <a:lnTo>
                    <a:pt x="0" y="48513"/>
                  </a:lnTo>
                  <a:lnTo>
                    <a:pt x="0" y="390398"/>
                  </a:lnTo>
                  <a:lnTo>
                    <a:pt x="3811" y="409283"/>
                  </a:lnTo>
                  <a:lnTo>
                    <a:pt x="14208" y="424703"/>
                  </a:lnTo>
                  <a:lnTo>
                    <a:pt x="29628" y="435100"/>
                  </a:lnTo>
                  <a:lnTo>
                    <a:pt x="48514" y="438912"/>
                  </a:lnTo>
                  <a:lnTo>
                    <a:pt x="1230122" y="438912"/>
                  </a:lnTo>
                  <a:lnTo>
                    <a:pt x="1249007" y="435100"/>
                  </a:lnTo>
                  <a:lnTo>
                    <a:pt x="1264427" y="424703"/>
                  </a:lnTo>
                  <a:lnTo>
                    <a:pt x="1274824" y="409283"/>
                  </a:lnTo>
                  <a:lnTo>
                    <a:pt x="1278636" y="390398"/>
                  </a:lnTo>
                  <a:lnTo>
                    <a:pt x="1278636" y="48513"/>
                  </a:lnTo>
                  <a:lnTo>
                    <a:pt x="1274824" y="29628"/>
                  </a:lnTo>
                  <a:lnTo>
                    <a:pt x="1264427" y="14208"/>
                  </a:lnTo>
                  <a:lnTo>
                    <a:pt x="1249007" y="3811"/>
                  </a:lnTo>
                  <a:lnTo>
                    <a:pt x="123012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569707" y="1277111"/>
              <a:ext cx="1278890" cy="439420"/>
            </a:xfrm>
            <a:custGeom>
              <a:avLst/>
              <a:gdLst/>
              <a:ahLst/>
              <a:cxnLst/>
              <a:rect l="l" t="t" r="r" b="b"/>
              <a:pathLst>
                <a:path w="1278890" h="439419">
                  <a:moveTo>
                    <a:pt x="0" y="48513"/>
                  </a:moveTo>
                  <a:lnTo>
                    <a:pt x="3811" y="29628"/>
                  </a:lnTo>
                  <a:lnTo>
                    <a:pt x="14208" y="14208"/>
                  </a:lnTo>
                  <a:lnTo>
                    <a:pt x="29628" y="3811"/>
                  </a:lnTo>
                  <a:lnTo>
                    <a:pt x="48514" y="0"/>
                  </a:lnTo>
                  <a:lnTo>
                    <a:pt x="1230122" y="0"/>
                  </a:lnTo>
                  <a:lnTo>
                    <a:pt x="1249007" y="3811"/>
                  </a:lnTo>
                  <a:lnTo>
                    <a:pt x="1264427" y="14208"/>
                  </a:lnTo>
                  <a:lnTo>
                    <a:pt x="1274824" y="29628"/>
                  </a:lnTo>
                  <a:lnTo>
                    <a:pt x="1278636" y="48513"/>
                  </a:lnTo>
                  <a:lnTo>
                    <a:pt x="1278636" y="390398"/>
                  </a:lnTo>
                  <a:lnTo>
                    <a:pt x="1274824" y="409283"/>
                  </a:lnTo>
                  <a:lnTo>
                    <a:pt x="1264427" y="424703"/>
                  </a:lnTo>
                  <a:lnTo>
                    <a:pt x="1249007" y="435100"/>
                  </a:lnTo>
                  <a:lnTo>
                    <a:pt x="1230122" y="438912"/>
                  </a:lnTo>
                  <a:lnTo>
                    <a:pt x="48514" y="438912"/>
                  </a:lnTo>
                  <a:lnTo>
                    <a:pt x="29628" y="435100"/>
                  </a:lnTo>
                  <a:lnTo>
                    <a:pt x="14208" y="424703"/>
                  </a:lnTo>
                  <a:lnTo>
                    <a:pt x="3811" y="409283"/>
                  </a:lnTo>
                  <a:lnTo>
                    <a:pt x="0" y="390398"/>
                  </a:lnTo>
                  <a:lnTo>
                    <a:pt x="0" y="48513"/>
                  </a:lnTo>
                  <a:close/>
                </a:path>
              </a:pathLst>
            </a:custGeom>
            <a:ln w="9144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474463" y="1574291"/>
              <a:ext cx="1011936" cy="893063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143500" y="1272540"/>
              <a:ext cx="1024255" cy="440690"/>
            </a:xfrm>
            <a:custGeom>
              <a:avLst/>
              <a:gdLst/>
              <a:ahLst/>
              <a:cxnLst/>
              <a:rect l="l" t="t" r="r" b="b"/>
              <a:pathLst>
                <a:path w="1024254" h="440689">
                  <a:moveTo>
                    <a:pt x="975360" y="0"/>
                  </a:moveTo>
                  <a:lnTo>
                    <a:pt x="48767" y="0"/>
                  </a:lnTo>
                  <a:lnTo>
                    <a:pt x="29789" y="3833"/>
                  </a:lnTo>
                  <a:lnTo>
                    <a:pt x="14287" y="14287"/>
                  </a:lnTo>
                  <a:lnTo>
                    <a:pt x="3833" y="29789"/>
                  </a:lnTo>
                  <a:lnTo>
                    <a:pt x="0" y="48768"/>
                  </a:lnTo>
                  <a:lnTo>
                    <a:pt x="0" y="391668"/>
                  </a:lnTo>
                  <a:lnTo>
                    <a:pt x="3833" y="410646"/>
                  </a:lnTo>
                  <a:lnTo>
                    <a:pt x="14287" y="426148"/>
                  </a:lnTo>
                  <a:lnTo>
                    <a:pt x="29789" y="436602"/>
                  </a:lnTo>
                  <a:lnTo>
                    <a:pt x="48767" y="440436"/>
                  </a:lnTo>
                  <a:lnTo>
                    <a:pt x="975360" y="440436"/>
                  </a:lnTo>
                  <a:lnTo>
                    <a:pt x="994338" y="436602"/>
                  </a:lnTo>
                  <a:lnTo>
                    <a:pt x="1009840" y="426148"/>
                  </a:lnTo>
                  <a:lnTo>
                    <a:pt x="1020294" y="410646"/>
                  </a:lnTo>
                  <a:lnTo>
                    <a:pt x="1024127" y="391668"/>
                  </a:lnTo>
                  <a:lnTo>
                    <a:pt x="1024127" y="48768"/>
                  </a:lnTo>
                  <a:lnTo>
                    <a:pt x="1020294" y="29789"/>
                  </a:lnTo>
                  <a:lnTo>
                    <a:pt x="1009840" y="14287"/>
                  </a:lnTo>
                  <a:lnTo>
                    <a:pt x="994338" y="3833"/>
                  </a:lnTo>
                  <a:lnTo>
                    <a:pt x="9753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143500" y="1272540"/>
              <a:ext cx="1024255" cy="440690"/>
            </a:xfrm>
            <a:custGeom>
              <a:avLst/>
              <a:gdLst/>
              <a:ahLst/>
              <a:cxnLst/>
              <a:rect l="l" t="t" r="r" b="b"/>
              <a:pathLst>
                <a:path w="1024254" h="440689">
                  <a:moveTo>
                    <a:pt x="0" y="48768"/>
                  </a:moveTo>
                  <a:lnTo>
                    <a:pt x="3833" y="29789"/>
                  </a:lnTo>
                  <a:lnTo>
                    <a:pt x="14287" y="14287"/>
                  </a:lnTo>
                  <a:lnTo>
                    <a:pt x="29789" y="3833"/>
                  </a:lnTo>
                  <a:lnTo>
                    <a:pt x="48767" y="0"/>
                  </a:lnTo>
                  <a:lnTo>
                    <a:pt x="975360" y="0"/>
                  </a:lnTo>
                  <a:lnTo>
                    <a:pt x="994338" y="3833"/>
                  </a:lnTo>
                  <a:lnTo>
                    <a:pt x="1009840" y="14287"/>
                  </a:lnTo>
                  <a:lnTo>
                    <a:pt x="1020294" y="29789"/>
                  </a:lnTo>
                  <a:lnTo>
                    <a:pt x="1024127" y="48768"/>
                  </a:lnTo>
                  <a:lnTo>
                    <a:pt x="1024127" y="391668"/>
                  </a:lnTo>
                  <a:lnTo>
                    <a:pt x="1020294" y="410646"/>
                  </a:lnTo>
                  <a:lnTo>
                    <a:pt x="1009840" y="426148"/>
                  </a:lnTo>
                  <a:lnTo>
                    <a:pt x="994338" y="436602"/>
                  </a:lnTo>
                  <a:lnTo>
                    <a:pt x="975360" y="440436"/>
                  </a:lnTo>
                  <a:lnTo>
                    <a:pt x="48767" y="440436"/>
                  </a:lnTo>
                  <a:lnTo>
                    <a:pt x="29789" y="436602"/>
                  </a:lnTo>
                  <a:lnTo>
                    <a:pt x="14287" y="426148"/>
                  </a:lnTo>
                  <a:lnTo>
                    <a:pt x="3833" y="410646"/>
                  </a:lnTo>
                  <a:lnTo>
                    <a:pt x="0" y="391668"/>
                  </a:lnTo>
                  <a:lnTo>
                    <a:pt x="0" y="48768"/>
                  </a:lnTo>
                  <a:close/>
                </a:path>
              </a:pathLst>
            </a:custGeom>
            <a:ln w="9144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724149" y="1756409"/>
              <a:ext cx="10795" cy="1196340"/>
            </a:xfrm>
            <a:custGeom>
              <a:avLst/>
              <a:gdLst/>
              <a:ahLst/>
              <a:cxnLst/>
              <a:rect l="l" t="t" r="r" b="b"/>
              <a:pathLst>
                <a:path w="10794" h="1196339">
                  <a:moveTo>
                    <a:pt x="10668" y="1196339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241547" y="1328927"/>
              <a:ext cx="676655" cy="80619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217420" y="1011936"/>
              <a:ext cx="1798320" cy="4892040"/>
            </a:xfrm>
            <a:custGeom>
              <a:avLst/>
              <a:gdLst/>
              <a:ahLst/>
              <a:cxnLst/>
              <a:rect l="l" t="t" r="r" b="b"/>
              <a:pathLst>
                <a:path w="1798320" h="4892040">
                  <a:moveTo>
                    <a:pt x="615696" y="31876"/>
                  </a:moveTo>
                  <a:lnTo>
                    <a:pt x="618194" y="19448"/>
                  </a:lnTo>
                  <a:lnTo>
                    <a:pt x="625014" y="9318"/>
                  </a:lnTo>
                  <a:lnTo>
                    <a:pt x="635144" y="2498"/>
                  </a:lnTo>
                  <a:lnTo>
                    <a:pt x="647573" y="0"/>
                  </a:lnTo>
                  <a:lnTo>
                    <a:pt x="1766443" y="0"/>
                  </a:lnTo>
                  <a:lnTo>
                    <a:pt x="1778871" y="2498"/>
                  </a:lnTo>
                  <a:lnTo>
                    <a:pt x="1789001" y="9318"/>
                  </a:lnTo>
                  <a:lnTo>
                    <a:pt x="1795821" y="19448"/>
                  </a:lnTo>
                  <a:lnTo>
                    <a:pt x="1798320" y="31876"/>
                  </a:lnTo>
                  <a:lnTo>
                    <a:pt x="1798320" y="256159"/>
                  </a:lnTo>
                  <a:lnTo>
                    <a:pt x="1795821" y="268587"/>
                  </a:lnTo>
                  <a:lnTo>
                    <a:pt x="1789001" y="278717"/>
                  </a:lnTo>
                  <a:lnTo>
                    <a:pt x="1778871" y="285537"/>
                  </a:lnTo>
                  <a:lnTo>
                    <a:pt x="1766443" y="288036"/>
                  </a:lnTo>
                  <a:lnTo>
                    <a:pt x="647573" y="288036"/>
                  </a:lnTo>
                  <a:lnTo>
                    <a:pt x="635144" y="285537"/>
                  </a:lnTo>
                  <a:lnTo>
                    <a:pt x="625014" y="278717"/>
                  </a:lnTo>
                  <a:lnTo>
                    <a:pt x="618194" y="268587"/>
                  </a:lnTo>
                  <a:lnTo>
                    <a:pt x="615696" y="256159"/>
                  </a:lnTo>
                  <a:lnTo>
                    <a:pt x="615696" y="31876"/>
                  </a:lnTo>
                  <a:close/>
                </a:path>
                <a:path w="1798320" h="4892040">
                  <a:moveTo>
                    <a:pt x="1315212" y="4438015"/>
                  </a:moveTo>
                  <a:lnTo>
                    <a:pt x="1310774" y="4416004"/>
                  </a:lnTo>
                  <a:lnTo>
                    <a:pt x="1298670" y="4398041"/>
                  </a:lnTo>
                  <a:lnTo>
                    <a:pt x="1280707" y="4385937"/>
                  </a:lnTo>
                  <a:lnTo>
                    <a:pt x="1258696" y="4381500"/>
                  </a:lnTo>
                  <a:lnTo>
                    <a:pt x="56515" y="4381500"/>
                  </a:lnTo>
                  <a:lnTo>
                    <a:pt x="34504" y="4385937"/>
                  </a:lnTo>
                  <a:lnTo>
                    <a:pt x="16541" y="4398041"/>
                  </a:lnTo>
                  <a:lnTo>
                    <a:pt x="4437" y="4416004"/>
                  </a:lnTo>
                  <a:lnTo>
                    <a:pt x="0" y="4438015"/>
                  </a:lnTo>
                  <a:lnTo>
                    <a:pt x="0" y="4835575"/>
                  </a:lnTo>
                  <a:lnTo>
                    <a:pt x="4437" y="4857551"/>
                  </a:lnTo>
                  <a:lnTo>
                    <a:pt x="16541" y="4875499"/>
                  </a:lnTo>
                  <a:lnTo>
                    <a:pt x="34504" y="4887601"/>
                  </a:lnTo>
                  <a:lnTo>
                    <a:pt x="56515" y="4892040"/>
                  </a:lnTo>
                  <a:lnTo>
                    <a:pt x="1258696" y="4892040"/>
                  </a:lnTo>
                  <a:lnTo>
                    <a:pt x="1280707" y="4887601"/>
                  </a:lnTo>
                  <a:lnTo>
                    <a:pt x="1298670" y="4875499"/>
                  </a:lnTo>
                  <a:lnTo>
                    <a:pt x="1310774" y="4857551"/>
                  </a:lnTo>
                  <a:lnTo>
                    <a:pt x="1315212" y="4835575"/>
                  </a:lnTo>
                  <a:lnTo>
                    <a:pt x="1315212" y="4438015"/>
                  </a:lnTo>
                  <a:close/>
                </a:path>
              </a:pathLst>
            </a:custGeom>
            <a:ln w="9144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075176" y="4445507"/>
              <a:ext cx="3172968" cy="1420368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050792" y="4421124"/>
              <a:ext cx="3169919" cy="1417320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404615" y="4611624"/>
              <a:ext cx="676656" cy="80619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837432" y="4847844"/>
              <a:ext cx="675132" cy="80619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086600" y="5558027"/>
              <a:ext cx="1564005" cy="358140"/>
            </a:xfrm>
            <a:custGeom>
              <a:avLst/>
              <a:gdLst/>
              <a:ahLst/>
              <a:cxnLst/>
              <a:rect l="l" t="t" r="r" b="b"/>
              <a:pathLst>
                <a:path w="1564004" h="358139">
                  <a:moveTo>
                    <a:pt x="1524000" y="0"/>
                  </a:moveTo>
                  <a:lnTo>
                    <a:pt x="39624" y="0"/>
                  </a:lnTo>
                  <a:lnTo>
                    <a:pt x="24217" y="3119"/>
                  </a:lnTo>
                  <a:lnTo>
                    <a:pt x="11620" y="11618"/>
                  </a:lnTo>
                  <a:lnTo>
                    <a:pt x="3119" y="24211"/>
                  </a:lnTo>
                  <a:lnTo>
                    <a:pt x="0" y="39611"/>
                  </a:lnTo>
                  <a:lnTo>
                    <a:pt x="0" y="318528"/>
                  </a:lnTo>
                  <a:lnTo>
                    <a:pt x="3119" y="333949"/>
                  </a:lnTo>
                  <a:lnTo>
                    <a:pt x="11620" y="346540"/>
                  </a:lnTo>
                  <a:lnTo>
                    <a:pt x="24217" y="355027"/>
                  </a:lnTo>
                  <a:lnTo>
                    <a:pt x="39624" y="358140"/>
                  </a:lnTo>
                  <a:lnTo>
                    <a:pt x="1524000" y="358140"/>
                  </a:lnTo>
                  <a:lnTo>
                    <a:pt x="1539406" y="355027"/>
                  </a:lnTo>
                  <a:lnTo>
                    <a:pt x="1552003" y="346540"/>
                  </a:lnTo>
                  <a:lnTo>
                    <a:pt x="1560504" y="333949"/>
                  </a:lnTo>
                  <a:lnTo>
                    <a:pt x="1563624" y="318528"/>
                  </a:lnTo>
                  <a:lnTo>
                    <a:pt x="1563624" y="39611"/>
                  </a:lnTo>
                  <a:lnTo>
                    <a:pt x="1560504" y="24211"/>
                  </a:lnTo>
                  <a:lnTo>
                    <a:pt x="1552003" y="11618"/>
                  </a:lnTo>
                  <a:lnTo>
                    <a:pt x="1539406" y="3119"/>
                  </a:lnTo>
                  <a:lnTo>
                    <a:pt x="152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086600" y="5558027"/>
              <a:ext cx="1564005" cy="358140"/>
            </a:xfrm>
            <a:custGeom>
              <a:avLst/>
              <a:gdLst/>
              <a:ahLst/>
              <a:cxnLst/>
              <a:rect l="l" t="t" r="r" b="b"/>
              <a:pathLst>
                <a:path w="1564004" h="358139">
                  <a:moveTo>
                    <a:pt x="0" y="39611"/>
                  </a:moveTo>
                  <a:lnTo>
                    <a:pt x="3119" y="24211"/>
                  </a:lnTo>
                  <a:lnTo>
                    <a:pt x="11620" y="11618"/>
                  </a:lnTo>
                  <a:lnTo>
                    <a:pt x="24217" y="3119"/>
                  </a:lnTo>
                  <a:lnTo>
                    <a:pt x="39624" y="0"/>
                  </a:lnTo>
                  <a:lnTo>
                    <a:pt x="1524000" y="0"/>
                  </a:lnTo>
                  <a:lnTo>
                    <a:pt x="1539406" y="3119"/>
                  </a:lnTo>
                  <a:lnTo>
                    <a:pt x="1552003" y="11618"/>
                  </a:lnTo>
                  <a:lnTo>
                    <a:pt x="1560504" y="24211"/>
                  </a:lnTo>
                  <a:lnTo>
                    <a:pt x="1563624" y="39611"/>
                  </a:lnTo>
                  <a:lnTo>
                    <a:pt x="1563624" y="318528"/>
                  </a:lnTo>
                  <a:lnTo>
                    <a:pt x="1560504" y="333949"/>
                  </a:lnTo>
                  <a:lnTo>
                    <a:pt x="1552003" y="346540"/>
                  </a:lnTo>
                  <a:lnTo>
                    <a:pt x="1539406" y="355027"/>
                  </a:lnTo>
                  <a:lnTo>
                    <a:pt x="1524000" y="358140"/>
                  </a:lnTo>
                  <a:lnTo>
                    <a:pt x="39624" y="358140"/>
                  </a:lnTo>
                  <a:lnTo>
                    <a:pt x="24217" y="355027"/>
                  </a:lnTo>
                  <a:lnTo>
                    <a:pt x="11620" y="346540"/>
                  </a:lnTo>
                  <a:lnTo>
                    <a:pt x="3119" y="333949"/>
                  </a:lnTo>
                  <a:lnTo>
                    <a:pt x="0" y="318528"/>
                  </a:lnTo>
                  <a:lnTo>
                    <a:pt x="0" y="39611"/>
                  </a:lnTo>
                  <a:close/>
                </a:path>
              </a:pathLst>
            </a:custGeom>
            <a:ln w="9144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265163" y="5353812"/>
              <a:ext cx="743712" cy="80619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0" name="object 40"/>
          <p:cNvGrpSpPr/>
          <p:nvPr/>
        </p:nvGrpSpPr>
        <p:grpSpPr>
          <a:xfrm>
            <a:off x="19811" y="749808"/>
            <a:ext cx="9077325" cy="5663565"/>
            <a:chOff x="19811" y="749808"/>
            <a:chExt cx="9077325" cy="5663565"/>
          </a:xfrm>
        </p:grpSpPr>
        <p:sp>
          <p:nvSpPr>
            <p:cNvPr id="41" name="object 41"/>
            <p:cNvSpPr/>
            <p:nvPr/>
          </p:nvSpPr>
          <p:spPr>
            <a:xfrm>
              <a:off x="19811" y="749808"/>
              <a:ext cx="9077325" cy="5663565"/>
            </a:xfrm>
            <a:custGeom>
              <a:avLst/>
              <a:gdLst/>
              <a:ahLst/>
              <a:cxnLst/>
              <a:rect l="l" t="t" r="r" b="b"/>
              <a:pathLst>
                <a:path w="9077325" h="5663565">
                  <a:moveTo>
                    <a:pt x="9076944" y="0"/>
                  </a:moveTo>
                  <a:lnTo>
                    <a:pt x="0" y="0"/>
                  </a:lnTo>
                  <a:lnTo>
                    <a:pt x="0" y="5663184"/>
                  </a:lnTo>
                  <a:lnTo>
                    <a:pt x="9076944" y="5663184"/>
                  </a:lnTo>
                  <a:lnTo>
                    <a:pt x="90769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00227" y="1222248"/>
              <a:ext cx="8598408" cy="4300728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10896" y="1255776"/>
              <a:ext cx="7743444" cy="483108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78891" y="1200912"/>
              <a:ext cx="8586216" cy="4288536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78891" y="1200912"/>
              <a:ext cx="8586470" cy="4288790"/>
            </a:xfrm>
            <a:custGeom>
              <a:avLst/>
              <a:gdLst/>
              <a:ahLst/>
              <a:cxnLst/>
              <a:rect l="l" t="t" r="r" b="b"/>
              <a:pathLst>
                <a:path w="8586470" h="4288790">
                  <a:moveTo>
                    <a:pt x="0" y="178688"/>
                  </a:moveTo>
                  <a:lnTo>
                    <a:pt x="6383" y="131189"/>
                  </a:lnTo>
                  <a:lnTo>
                    <a:pt x="24398" y="88504"/>
                  </a:lnTo>
                  <a:lnTo>
                    <a:pt x="52341" y="52339"/>
                  </a:lnTo>
                  <a:lnTo>
                    <a:pt x="88508" y="24398"/>
                  </a:lnTo>
                  <a:lnTo>
                    <a:pt x="131196" y="6383"/>
                  </a:lnTo>
                  <a:lnTo>
                    <a:pt x="178701" y="0"/>
                  </a:lnTo>
                  <a:lnTo>
                    <a:pt x="8407527" y="0"/>
                  </a:lnTo>
                  <a:lnTo>
                    <a:pt x="8455026" y="6383"/>
                  </a:lnTo>
                  <a:lnTo>
                    <a:pt x="8497711" y="24398"/>
                  </a:lnTo>
                  <a:lnTo>
                    <a:pt x="8533876" y="52339"/>
                  </a:lnTo>
                  <a:lnTo>
                    <a:pt x="8561817" y="88504"/>
                  </a:lnTo>
                  <a:lnTo>
                    <a:pt x="8579832" y="131189"/>
                  </a:lnTo>
                  <a:lnTo>
                    <a:pt x="8586216" y="178688"/>
                  </a:lnTo>
                  <a:lnTo>
                    <a:pt x="8586216" y="4109847"/>
                  </a:lnTo>
                  <a:lnTo>
                    <a:pt x="8579832" y="4157346"/>
                  </a:lnTo>
                  <a:lnTo>
                    <a:pt x="8561817" y="4200031"/>
                  </a:lnTo>
                  <a:lnTo>
                    <a:pt x="8533876" y="4236196"/>
                  </a:lnTo>
                  <a:lnTo>
                    <a:pt x="8497711" y="4264137"/>
                  </a:lnTo>
                  <a:lnTo>
                    <a:pt x="8455026" y="4282152"/>
                  </a:lnTo>
                  <a:lnTo>
                    <a:pt x="8407527" y="4288536"/>
                  </a:lnTo>
                  <a:lnTo>
                    <a:pt x="178701" y="4288536"/>
                  </a:lnTo>
                  <a:lnTo>
                    <a:pt x="131196" y="4282152"/>
                  </a:lnTo>
                  <a:lnTo>
                    <a:pt x="88508" y="4264137"/>
                  </a:lnTo>
                  <a:lnTo>
                    <a:pt x="52341" y="4236196"/>
                  </a:lnTo>
                  <a:lnTo>
                    <a:pt x="24398" y="4200031"/>
                  </a:lnTo>
                  <a:lnTo>
                    <a:pt x="6383" y="4157346"/>
                  </a:lnTo>
                  <a:lnTo>
                    <a:pt x="0" y="4109847"/>
                  </a:lnTo>
                  <a:lnTo>
                    <a:pt x="0" y="178688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410667" y="1284478"/>
            <a:ext cx="749045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Verdana"/>
                <a:cs typeface="Verdana"/>
              </a:rPr>
              <a:t>Key </a:t>
            </a:r>
            <a:r>
              <a:rPr sz="1800" b="1" spc="-5" dirty="0">
                <a:latin typeface="Verdana"/>
                <a:cs typeface="Verdana"/>
              </a:rPr>
              <a:t>Points </a:t>
            </a:r>
            <a:r>
              <a:rPr sz="1800" b="1" dirty="0">
                <a:latin typeface="Verdana"/>
                <a:cs typeface="Verdana"/>
              </a:rPr>
              <a:t>of 802.1X </a:t>
            </a:r>
            <a:r>
              <a:rPr sz="1800" b="1" spc="-5" dirty="0">
                <a:latin typeface="Verdana"/>
                <a:cs typeface="Verdana"/>
              </a:rPr>
              <a:t>Wired </a:t>
            </a:r>
            <a:r>
              <a:rPr sz="1800" b="1" dirty="0">
                <a:latin typeface="Verdana"/>
                <a:cs typeface="Verdana"/>
              </a:rPr>
              <a:t>or </a:t>
            </a:r>
            <a:r>
              <a:rPr sz="1800" b="1" spc="-5" dirty="0">
                <a:latin typeface="Verdana"/>
                <a:cs typeface="Verdana"/>
              </a:rPr>
              <a:t>Wireless NAP</a:t>
            </a:r>
            <a:r>
              <a:rPr sz="1800" b="1" spc="-5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Enforcement: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677989" y="1755457"/>
            <a:ext cx="7781925" cy="786765"/>
            <a:chOff x="677989" y="1755457"/>
            <a:chExt cx="7781925" cy="786765"/>
          </a:xfrm>
        </p:grpSpPr>
        <p:sp>
          <p:nvSpPr>
            <p:cNvPr id="48" name="object 48"/>
            <p:cNvSpPr/>
            <p:nvPr/>
          </p:nvSpPr>
          <p:spPr>
            <a:xfrm>
              <a:off x="682751" y="1760220"/>
              <a:ext cx="7772400" cy="777240"/>
            </a:xfrm>
            <a:custGeom>
              <a:avLst/>
              <a:gdLst/>
              <a:ahLst/>
              <a:cxnLst/>
              <a:rect l="l" t="t" r="r" b="b"/>
              <a:pathLst>
                <a:path w="7772400" h="777239">
                  <a:moveTo>
                    <a:pt x="7740015" y="0"/>
                  </a:moveTo>
                  <a:lnTo>
                    <a:pt x="32385" y="0"/>
                  </a:lnTo>
                  <a:lnTo>
                    <a:pt x="19781" y="2541"/>
                  </a:lnTo>
                  <a:lnTo>
                    <a:pt x="9486" y="9477"/>
                  </a:lnTo>
                  <a:lnTo>
                    <a:pt x="2545" y="19770"/>
                  </a:lnTo>
                  <a:lnTo>
                    <a:pt x="0" y="32384"/>
                  </a:lnTo>
                  <a:lnTo>
                    <a:pt x="0" y="744854"/>
                  </a:lnTo>
                  <a:lnTo>
                    <a:pt x="2545" y="757469"/>
                  </a:lnTo>
                  <a:lnTo>
                    <a:pt x="9486" y="767762"/>
                  </a:lnTo>
                  <a:lnTo>
                    <a:pt x="19781" y="774698"/>
                  </a:lnTo>
                  <a:lnTo>
                    <a:pt x="32385" y="777239"/>
                  </a:lnTo>
                  <a:lnTo>
                    <a:pt x="7740015" y="777239"/>
                  </a:lnTo>
                  <a:lnTo>
                    <a:pt x="7752629" y="774698"/>
                  </a:lnTo>
                  <a:lnTo>
                    <a:pt x="7762922" y="767762"/>
                  </a:lnTo>
                  <a:lnTo>
                    <a:pt x="7769858" y="757469"/>
                  </a:lnTo>
                  <a:lnTo>
                    <a:pt x="7772400" y="744854"/>
                  </a:lnTo>
                  <a:lnTo>
                    <a:pt x="7772400" y="32384"/>
                  </a:lnTo>
                  <a:lnTo>
                    <a:pt x="7769858" y="19770"/>
                  </a:lnTo>
                  <a:lnTo>
                    <a:pt x="7762922" y="9477"/>
                  </a:lnTo>
                  <a:lnTo>
                    <a:pt x="7752629" y="2541"/>
                  </a:lnTo>
                  <a:lnTo>
                    <a:pt x="7740015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82751" y="1760220"/>
              <a:ext cx="7772400" cy="777240"/>
            </a:xfrm>
            <a:custGeom>
              <a:avLst/>
              <a:gdLst/>
              <a:ahLst/>
              <a:cxnLst/>
              <a:rect l="l" t="t" r="r" b="b"/>
              <a:pathLst>
                <a:path w="7772400" h="777239">
                  <a:moveTo>
                    <a:pt x="0" y="32384"/>
                  </a:moveTo>
                  <a:lnTo>
                    <a:pt x="2545" y="19770"/>
                  </a:lnTo>
                  <a:lnTo>
                    <a:pt x="9486" y="9477"/>
                  </a:lnTo>
                  <a:lnTo>
                    <a:pt x="19781" y="2541"/>
                  </a:lnTo>
                  <a:lnTo>
                    <a:pt x="32385" y="0"/>
                  </a:lnTo>
                  <a:lnTo>
                    <a:pt x="7740015" y="0"/>
                  </a:lnTo>
                  <a:lnTo>
                    <a:pt x="7752629" y="2541"/>
                  </a:lnTo>
                  <a:lnTo>
                    <a:pt x="7762922" y="9477"/>
                  </a:lnTo>
                  <a:lnTo>
                    <a:pt x="7769858" y="19770"/>
                  </a:lnTo>
                  <a:lnTo>
                    <a:pt x="7772400" y="32384"/>
                  </a:lnTo>
                  <a:lnTo>
                    <a:pt x="7772400" y="744854"/>
                  </a:lnTo>
                  <a:lnTo>
                    <a:pt x="7769858" y="757469"/>
                  </a:lnTo>
                  <a:lnTo>
                    <a:pt x="7762922" y="767762"/>
                  </a:lnTo>
                  <a:lnTo>
                    <a:pt x="7752629" y="774698"/>
                  </a:lnTo>
                  <a:lnTo>
                    <a:pt x="7740015" y="777239"/>
                  </a:lnTo>
                  <a:lnTo>
                    <a:pt x="32385" y="777239"/>
                  </a:lnTo>
                  <a:lnTo>
                    <a:pt x="19781" y="774698"/>
                  </a:lnTo>
                  <a:lnTo>
                    <a:pt x="9486" y="767762"/>
                  </a:lnTo>
                  <a:lnTo>
                    <a:pt x="2545" y="757469"/>
                  </a:lnTo>
                  <a:lnTo>
                    <a:pt x="0" y="744854"/>
                  </a:lnTo>
                  <a:lnTo>
                    <a:pt x="0" y="32384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719708" y="1891411"/>
            <a:ext cx="2052320" cy="48831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292100" indent="-228600">
              <a:lnSpc>
                <a:spcPts val="1730"/>
              </a:lnSpc>
              <a:spcBef>
                <a:spcPts val="310"/>
              </a:spcBef>
              <a:buClr>
                <a:srgbClr val="006699"/>
              </a:buClr>
              <a:buFont typeface="Verdana"/>
              <a:buChar char="•"/>
              <a:tabLst>
                <a:tab pos="292735" algn="l"/>
              </a:tabLst>
            </a:pPr>
            <a:r>
              <a:rPr sz="1600" b="1" spc="-5" dirty="0">
                <a:latin typeface="Verdana"/>
                <a:cs typeface="Verdana"/>
              </a:rPr>
              <a:t>Computer</a:t>
            </a:r>
            <a:r>
              <a:rPr sz="1600" b="1" spc="-55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must  </a:t>
            </a:r>
            <a:r>
              <a:rPr sz="1600" b="1" spc="-5" dirty="0">
                <a:latin typeface="Verdana"/>
                <a:cs typeface="Verdana"/>
              </a:rPr>
              <a:t>access</a:t>
            </a:r>
            <a:r>
              <a:rPr sz="1600" b="1" spc="-20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through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798735" y="1891411"/>
            <a:ext cx="5196205" cy="488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1275">
              <a:lnSpc>
                <a:spcPts val="1825"/>
              </a:lnSpc>
              <a:spcBef>
                <a:spcPts val="95"/>
              </a:spcBef>
            </a:pPr>
            <a:r>
              <a:rPr sz="1600" b="1" spc="-10" dirty="0">
                <a:latin typeface="Verdana"/>
                <a:cs typeface="Verdana"/>
              </a:rPr>
              <a:t>be compliant </a:t>
            </a:r>
            <a:r>
              <a:rPr sz="1600" b="1" spc="-5" dirty="0">
                <a:latin typeface="Verdana"/>
                <a:cs typeface="Verdana"/>
              </a:rPr>
              <a:t>to obtain </a:t>
            </a:r>
            <a:r>
              <a:rPr sz="1600" b="1" spc="-10" dirty="0">
                <a:latin typeface="Verdana"/>
                <a:cs typeface="Verdana"/>
              </a:rPr>
              <a:t>unlimited</a:t>
            </a:r>
            <a:r>
              <a:rPr sz="1600" b="1" spc="140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network</a:t>
            </a:r>
            <a:endParaRPr sz="1600">
              <a:latin typeface="Verdana"/>
              <a:cs typeface="Verdana"/>
            </a:endParaRPr>
          </a:p>
          <a:p>
            <a:pPr marL="12700">
              <a:lnSpc>
                <a:spcPts val="1825"/>
              </a:lnSpc>
            </a:pPr>
            <a:r>
              <a:rPr sz="1600" b="1" spc="-5" dirty="0">
                <a:latin typeface="Verdana"/>
                <a:cs typeface="Verdana"/>
              </a:rPr>
              <a:t>an 802.1X-authenticated </a:t>
            </a:r>
            <a:r>
              <a:rPr sz="1600" b="1" spc="-10" dirty="0">
                <a:latin typeface="Verdana"/>
                <a:cs typeface="Verdana"/>
              </a:rPr>
              <a:t>network</a:t>
            </a:r>
            <a:r>
              <a:rPr sz="1600" b="1" spc="25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connection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674941" y="2642425"/>
            <a:ext cx="7785100" cy="2556510"/>
            <a:chOff x="674941" y="2642425"/>
            <a:chExt cx="7785100" cy="2556510"/>
          </a:xfrm>
        </p:grpSpPr>
        <p:sp>
          <p:nvSpPr>
            <p:cNvPr id="53" name="object 53"/>
            <p:cNvSpPr/>
            <p:nvPr/>
          </p:nvSpPr>
          <p:spPr>
            <a:xfrm>
              <a:off x="682752" y="2647188"/>
              <a:ext cx="7772400" cy="775970"/>
            </a:xfrm>
            <a:custGeom>
              <a:avLst/>
              <a:gdLst/>
              <a:ahLst/>
              <a:cxnLst/>
              <a:rect l="l" t="t" r="r" b="b"/>
              <a:pathLst>
                <a:path w="7772400" h="775970">
                  <a:moveTo>
                    <a:pt x="7740015" y="0"/>
                  </a:moveTo>
                  <a:lnTo>
                    <a:pt x="32321" y="0"/>
                  </a:lnTo>
                  <a:lnTo>
                    <a:pt x="19743" y="2541"/>
                  </a:lnTo>
                  <a:lnTo>
                    <a:pt x="9469" y="9477"/>
                  </a:lnTo>
                  <a:lnTo>
                    <a:pt x="2540" y="19770"/>
                  </a:lnTo>
                  <a:lnTo>
                    <a:pt x="0" y="32385"/>
                  </a:lnTo>
                  <a:lnTo>
                    <a:pt x="0" y="743331"/>
                  </a:lnTo>
                  <a:lnTo>
                    <a:pt x="2540" y="755945"/>
                  </a:lnTo>
                  <a:lnTo>
                    <a:pt x="9469" y="766238"/>
                  </a:lnTo>
                  <a:lnTo>
                    <a:pt x="19743" y="773174"/>
                  </a:lnTo>
                  <a:lnTo>
                    <a:pt x="32321" y="775715"/>
                  </a:lnTo>
                  <a:lnTo>
                    <a:pt x="7740015" y="775715"/>
                  </a:lnTo>
                  <a:lnTo>
                    <a:pt x="7752629" y="773174"/>
                  </a:lnTo>
                  <a:lnTo>
                    <a:pt x="7762922" y="766238"/>
                  </a:lnTo>
                  <a:lnTo>
                    <a:pt x="7769858" y="755945"/>
                  </a:lnTo>
                  <a:lnTo>
                    <a:pt x="7772400" y="743331"/>
                  </a:lnTo>
                  <a:lnTo>
                    <a:pt x="7772400" y="32385"/>
                  </a:lnTo>
                  <a:lnTo>
                    <a:pt x="7769858" y="19770"/>
                  </a:lnTo>
                  <a:lnTo>
                    <a:pt x="7762922" y="9477"/>
                  </a:lnTo>
                  <a:lnTo>
                    <a:pt x="7752629" y="2541"/>
                  </a:lnTo>
                  <a:lnTo>
                    <a:pt x="7740015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82752" y="2647188"/>
              <a:ext cx="7772400" cy="775970"/>
            </a:xfrm>
            <a:custGeom>
              <a:avLst/>
              <a:gdLst/>
              <a:ahLst/>
              <a:cxnLst/>
              <a:rect l="l" t="t" r="r" b="b"/>
              <a:pathLst>
                <a:path w="7772400" h="775970">
                  <a:moveTo>
                    <a:pt x="0" y="32385"/>
                  </a:moveTo>
                  <a:lnTo>
                    <a:pt x="2540" y="19770"/>
                  </a:lnTo>
                  <a:lnTo>
                    <a:pt x="9469" y="9477"/>
                  </a:lnTo>
                  <a:lnTo>
                    <a:pt x="19743" y="2541"/>
                  </a:lnTo>
                  <a:lnTo>
                    <a:pt x="32321" y="0"/>
                  </a:lnTo>
                  <a:lnTo>
                    <a:pt x="7740015" y="0"/>
                  </a:lnTo>
                  <a:lnTo>
                    <a:pt x="7752629" y="2541"/>
                  </a:lnTo>
                  <a:lnTo>
                    <a:pt x="7762922" y="9477"/>
                  </a:lnTo>
                  <a:lnTo>
                    <a:pt x="7769858" y="19770"/>
                  </a:lnTo>
                  <a:lnTo>
                    <a:pt x="7772400" y="32385"/>
                  </a:lnTo>
                  <a:lnTo>
                    <a:pt x="7772400" y="743331"/>
                  </a:lnTo>
                  <a:lnTo>
                    <a:pt x="7769858" y="755945"/>
                  </a:lnTo>
                  <a:lnTo>
                    <a:pt x="7762922" y="766238"/>
                  </a:lnTo>
                  <a:lnTo>
                    <a:pt x="7752629" y="773174"/>
                  </a:lnTo>
                  <a:lnTo>
                    <a:pt x="7740015" y="775715"/>
                  </a:lnTo>
                  <a:lnTo>
                    <a:pt x="32321" y="775715"/>
                  </a:lnTo>
                  <a:lnTo>
                    <a:pt x="19743" y="773174"/>
                  </a:lnTo>
                  <a:lnTo>
                    <a:pt x="9469" y="766238"/>
                  </a:lnTo>
                  <a:lnTo>
                    <a:pt x="2540" y="755945"/>
                  </a:lnTo>
                  <a:lnTo>
                    <a:pt x="0" y="743331"/>
                  </a:lnTo>
                  <a:lnTo>
                    <a:pt x="0" y="32385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79704" y="3532632"/>
              <a:ext cx="7772400" cy="775970"/>
            </a:xfrm>
            <a:custGeom>
              <a:avLst/>
              <a:gdLst/>
              <a:ahLst/>
              <a:cxnLst/>
              <a:rect l="l" t="t" r="r" b="b"/>
              <a:pathLst>
                <a:path w="7772400" h="775970">
                  <a:moveTo>
                    <a:pt x="7740015" y="0"/>
                  </a:moveTo>
                  <a:lnTo>
                    <a:pt x="32321" y="0"/>
                  </a:lnTo>
                  <a:lnTo>
                    <a:pt x="19743" y="2541"/>
                  </a:lnTo>
                  <a:lnTo>
                    <a:pt x="9469" y="9477"/>
                  </a:lnTo>
                  <a:lnTo>
                    <a:pt x="2540" y="19770"/>
                  </a:lnTo>
                  <a:lnTo>
                    <a:pt x="0" y="32384"/>
                  </a:lnTo>
                  <a:lnTo>
                    <a:pt x="0" y="743330"/>
                  </a:lnTo>
                  <a:lnTo>
                    <a:pt x="2540" y="755945"/>
                  </a:lnTo>
                  <a:lnTo>
                    <a:pt x="9469" y="766238"/>
                  </a:lnTo>
                  <a:lnTo>
                    <a:pt x="19743" y="773174"/>
                  </a:lnTo>
                  <a:lnTo>
                    <a:pt x="32321" y="775715"/>
                  </a:lnTo>
                  <a:lnTo>
                    <a:pt x="7740015" y="775715"/>
                  </a:lnTo>
                  <a:lnTo>
                    <a:pt x="7752629" y="773174"/>
                  </a:lnTo>
                  <a:lnTo>
                    <a:pt x="7762922" y="766238"/>
                  </a:lnTo>
                  <a:lnTo>
                    <a:pt x="7769858" y="755945"/>
                  </a:lnTo>
                  <a:lnTo>
                    <a:pt x="7772400" y="743330"/>
                  </a:lnTo>
                  <a:lnTo>
                    <a:pt x="7772400" y="32384"/>
                  </a:lnTo>
                  <a:lnTo>
                    <a:pt x="7769858" y="19770"/>
                  </a:lnTo>
                  <a:lnTo>
                    <a:pt x="7762922" y="9477"/>
                  </a:lnTo>
                  <a:lnTo>
                    <a:pt x="7752629" y="2541"/>
                  </a:lnTo>
                  <a:lnTo>
                    <a:pt x="7740015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79704" y="3532632"/>
              <a:ext cx="7772400" cy="775970"/>
            </a:xfrm>
            <a:custGeom>
              <a:avLst/>
              <a:gdLst/>
              <a:ahLst/>
              <a:cxnLst/>
              <a:rect l="l" t="t" r="r" b="b"/>
              <a:pathLst>
                <a:path w="7772400" h="775970">
                  <a:moveTo>
                    <a:pt x="0" y="32384"/>
                  </a:moveTo>
                  <a:lnTo>
                    <a:pt x="2540" y="19770"/>
                  </a:lnTo>
                  <a:lnTo>
                    <a:pt x="9469" y="9477"/>
                  </a:lnTo>
                  <a:lnTo>
                    <a:pt x="19743" y="2541"/>
                  </a:lnTo>
                  <a:lnTo>
                    <a:pt x="32321" y="0"/>
                  </a:lnTo>
                  <a:lnTo>
                    <a:pt x="7740015" y="0"/>
                  </a:lnTo>
                  <a:lnTo>
                    <a:pt x="7752629" y="2541"/>
                  </a:lnTo>
                  <a:lnTo>
                    <a:pt x="7762922" y="9477"/>
                  </a:lnTo>
                  <a:lnTo>
                    <a:pt x="7769858" y="19770"/>
                  </a:lnTo>
                  <a:lnTo>
                    <a:pt x="7772400" y="32384"/>
                  </a:lnTo>
                  <a:lnTo>
                    <a:pt x="7772400" y="743330"/>
                  </a:lnTo>
                  <a:lnTo>
                    <a:pt x="7769858" y="755945"/>
                  </a:lnTo>
                  <a:lnTo>
                    <a:pt x="7762922" y="766238"/>
                  </a:lnTo>
                  <a:lnTo>
                    <a:pt x="7752629" y="773174"/>
                  </a:lnTo>
                  <a:lnTo>
                    <a:pt x="7740015" y="775715"/>
                  </a:lnTo>
                  <a:lnTo>
                    <a:pt x="32321" y="775715"/>
                  </a:lnTo>
                  <a:lnTo>
                    <a:pt x="19743" y="773174"/>
                  </a:lnTo>
                  <a:lnTo>
                    <a:pt x="9469" y="766238"/>
                  </a:lnTo>
                  <a:lnTo>
                    <a:pt x="2540" y="755945"/>
                  </a:lnTo>
                  <a:lnTo>
                    <a:pt x="0" y="743330"/>
                  </a:lnTo>
                  <a:lnTo>
                    <a:pt x="0" y="32384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79704" y="4418076"/>
              <a:ext cx="7772400" cy="775970"/>
            </a:xfrm>
            <a:custGeom>
              <a:avLst/>
              <a:gdLst/>
              <a:ahLst/>
              <a:cxnLst/>
              <a:rect l="l" t="t" r="r" b="b"/>
              <a:pathLst>
                <a:path w="7772400" h="775970">
                  <a:moveTo>
                    <a:pt x="7740015" y="0"/>
                  </a:moveTo>
                  <a:lnTo>
                    <a:pt x="32321" y="0"/>
                  </a:lnTo>
                  <a:lnTo>
                    <a:pt x="19743" y="2541"/>
                  </a:lnTo>
                  <a:lnTo>
                    <a:pt x="9469" y="9477"/>
                  </a:lnTo>
                  <a:lnTo>
                    <a:pt x="2540" y="19770"/>
                  </a:lnTo>
                  <a:lnTo>
                    <a:pt x="0" y="32385"/>
                  </a:lnTo>
                  <a:lnTo>
                    <a:pt x="0" y="743331"/>
                  </a:lnTo>
                  <a:lnTo>
                    <a:pt x="2540" y="755945"/>
                  </a:lnTo>
                  <a:lnTo>
                    <a:pt x="9469" y="766238"/>
                  </a:lnTo>
                  <a:lnTo>
                    <a:pt x="19743" y="773174"/>
                  </a:lnTo>
                  <a:lnTo>
                    <a:pt x="32321" y="775716"/>
                  </a:lnTo>
                  <a:lnTo>
                    <a:pt x="7740015" y="775716"/>
                  </a:lnTo>
                  <a:lnTo>
                    <a:pt x="7752629" y="773174"/>
                  </a:lnTo>
                  <a:lnTo>
                    <a:pt x="7762922" y="766238"/>
                  </a:lnTo>
                  <a:lnTo>
                    <a:pt x="7769858" y="755945"/>
                  </a:lnTo>
                  <a:lnTo>
                    <a:pt x="7772400" y="743331"/>
                  </a:lnTo>
                  <a:lnTo>
                    <a:pt x="7772400" y="32385"/>
                  </a:lnTo>
                  <a:lnTo>
                    <a:pt x="7769858" y="19770"/>
                  </a:lnTo>
                  <a:lnTo>
                    <a:pt x="7762922" y="9477"/>
                  </a:lnTo>
                  <a:lnTo>
                    <a:pt x="7752629" y="2541"/>
                  </a:lnTo>
                  <a:lnTo>
                    <a:pt x="7740015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79704" y="4418076"/>
              <a:ext cx="7772400" cy="775970"/>
            </a:xfrm>
            <a:custGeom>
              <a:avLst/>
              <a:gdLst/>
              <a:ahLst/>
              <a:cxnLst/>
              <a:rect l="l" t="t" r="r" b="b"/>
              <a:pathLst>
                <a:path w="7772400" h="775970">
                  <a:moveTo>
                    <a:pt x="0" y="32385"/>
                  </a:moveTo>
                  <a:lnTo>
                    <a:pt x="2540" y="19770"/>
                  </a:lnTo>
                  <a:lnTo>
                    <a:pt x="9469" y="9477"/>
                  </a:lnTo>
                  <a:lnTo>
                    <a:pt x="19743" y="2541"/>
                  </a:lnTo>
                  <a:lnTo>
                    <a:pt x="32321" y="0"/>
                  </a:lnTo>
                  <a:lnTo>
                    <a:pt x="7740015" y="0"/>
                  </a:lnTo>
                  <a:lnTo>
                    <a:pt x="7752629" y="2541"/>
                  </a:lnTo>
                  <a:lnTo>
                    <a:pt x="7762922" y="9477"/>
                  </a:lnTo>
                  <a:lnTo>
                    <a:pt x="7769858" y="19770"/>
                  </a:lnTo>
                  <a:lnTo>
                    <a:pt x="7772400" y="32385"/>
                  </a:lnTo>
                  <a:lnTo>
                    <a:pt x="7772400" y="743331"/>
                  </a:lnTo>
                  <a:lnTo>
                    <a:pt x="7769858" y="755945"/>
                  </a:lnTo>
                  <a:lnTo>
                    <a:pt x="7762922" y="766238"/>
                  </a:lnTo>
                  <a:lnTo>
                    <a:pt x="7752629" y="773174"/>
                  </a:lnTo>
                  <a:lnTo>
                    <a:pt x="7740015" y="775716"/>
                  </a:lnTo>
                  <a:lnTo>
                    <a:pt x="32321" y="775716"/>
                  </a:lnTo>
                  <a:lnTo>
                    <a:pt x="19743" y="773174"/>
                  </a:lnTo>
                  <a:lnTo>
                    <a:pt x="9469" y="766238"/>
                  </a:lnTo>
                  <a:lnTo>
                    <a:pt x="2540" y="755945"/>
                  </a:lnTo>
                  <a:lnTo>
                    <a:pt x="0" y="743331"/>
                  </a:lnTo>
                  <a:lnTo>
                    <a:pt x="0" y="32385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767892" y="2667761"/>
            <a:ext cx="7366634" cy="247967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243840" marR="1191895" indent="-228600">
              <a:lnSpc>
                <a:spcPts val="1730"/>
              </a:lnSpc>
              <a:spcBef>
                <a:spcPts val="310"/>
              </a:spcBef>
              <a:buClr>
                <a:srgbClr val="006699"/>
              </a:buClr>
              <a:buFont typeface="Verdana"/>
              <a:buChar char="•"/>
              <a:tabLst>
                <a:tab pos="244475" algn="l"/>
              </a:tabLst>
            </a:pPr>
            <a:r>
              <a:rPr sz="1600" b="1" spc="-5" dirty="0">
                <a:latin typeface="Verdana"/>
                <a:cs typeface="Verdana"/>
              </a:rPr>
              <a:t>Noncompliant computers are </a:t>
            </a:r>
            <a:r>
              <a:rPr sz="1600" b="1" spc="-10" dirty="0">
                <a:latin typeface="Verdana"/>
                <a:cs typeface="Verdana"/>
              </a:rPr>
              <a:t>limited through </a:t>
            </a:r>
            <a:r>
              <a:rPr sz="1600" b="1" spc="-5" dirty="0">
                <a:latin typeface="Verdana"/>
                <a:cs typeface="Verdana"/>
              </a:rPr>
              <a:t>a  </a:t>
            </a:r>
            <a:r>
              <a:rPr sz="1600" b="1" spc="-10" dirty="0">
                <a:latin typeface="Verdana"/>
                <a:cs typeface="Verdana"/>
              </a:rPr>
              <a:t>restricted-access profile </a:t>
            </a:r>
            <a:r>
              <a:rPr sz="1600" b="1" spc="-5" dirty="0">
                <a:latin typeface="Verdana"/>
                <a:cs typeface="Verdana"/>
              </a:rPr>
              <a:t>that the </a:t>
            </a:r>
            <a:r>
              <a:rPr sz="1600" b="1" spc="-10" dirty="0">
                <a:latin typeface="Verdana"/>
                <a:cs typeface="Verdana"/>
              </a:rPr>
              <a:t>Ethernet switch </a:t>
            </a:r>
            <a:r>
              <a:rPr sz="1600" b="1" spc="-5" dirty="0">
                <a:latin typeface="Verdana"/>
                <a:cs typeface="Verdana"/>
              </a:rPr>
              <a:t>or  </a:t>
            </a:r>
            <a:r>
              <a:rPr sz="1600" b="1" spc="-10" dirty="0">
                <a:latin typeface="Verdana"/>
                <a:cs typeface="Verdana"/>
              </a:rPr>
              <a:t>wireless AP place </a:t>
            </a:r>
            <a:r>
              <a:rPr sz="1600" b="1" spc="-5" dirty="0">
                <a:latin typeface="Verdana"/>
                <a:cs typeface="Verdana"/>
              </a:rPr>
              <a:t>on the</a:t>
            </a:r>
            <a:r>
              <a:rPr sz="1600" b="1" spc="110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connection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006699"/>
              </a:buClr>
              <a:buFont typeface="Verdana"/>
              <a:buChar char="•"/>
            </a:pPr>
            <a:endParaRPr sz="1400">
              <a:latin typeface="Verdana"/>
              <a:cs typeface="Verdana"/>
            </a:endParaRPr>
          </a:p>
          <a:p>
            <a:pPr marL="241300" marR="429895" indent="-228600">
              <a:lnSpc>
                <a:spcPct val="90100"/>
              </a:lnSpc>
              <a:buClr>
                <a:srgbClr val="006699"/>
              </a:buClr>
              <a:buFont typeface="Verdana"/>
              <a:buChar char="•"/>
              <a:tabLst>
                <a:tab pos="241300" algn="l"/>
              </a:tabLst>
            </a:pPr>
            <a:r>
              <a:rPr sz="1600" b="1" spc="-10" dirty="0">
                <a:latin typeface="Verdana"/>
                <a:cs typeface="Verdana"/>
              </a:rPr>
              <a:t>Restricted </a:t>
            </a:r>
            <a:r>
              <a:rPr sz="1600" b="1" spc="-5" dirty="0">
                <a:latin typeface="Verdana"/>
                <a:cs typeface="Verdana"/>
              </a:rPr>
              <a:t>access </a:t>
            </a:r>
            <a:r>
              <a:rPr sz="1600" b="1" spc="-10" dirty="0">
                <a:latin typeface="Verdana"/>
                <a:cs typeface="Verdana"/>
              </a:rPr>
              <a:t>profiles can specify </a:t>
            </a:r>
            <a:r>
              <a:rPr sz="1600" b="1" spc="-5" dirty="0">
                <a:latin typeface="Verdana"/>
                <a:cs typeface="Verdana"/>
              </a:rPr>
              <a:t>IP </a:t>
            </a:r>
            <a:r>
              <a:rPr sz="1600" b="1" spc="-10" dirty="0">
                <a:latin typeface="Verdana"/>
                <a:cs typeface="Verdana"/>
              </a:rPr>
              <a:t>packet filters </a:t>
            </a:r>
            <a:r>
              <a:rPr sz="1600" b="1" spc="-5" dirty="0">
                <a:latin typeface="Verdana"/>
                <a:cs typeface="Verdana"/>
              </a:rPr>
              <a:t>or a  </a:t>
            </a:r>
            <a:r>
              <a:rPr sz="1600" b="1" spc="-10" dirty="0">
                <a:latin typeface="Verdana"/>
                <a:cs typeface="Verdana"/>
              </a:rPr>
              <a:t>virtual LAN (VLAN) identifier (ID) </a:t>
            </a:r>
            <a:r>
              <a:rPr sz="1600" b="1" spc="-5" dirty="0">
                <a:latin typeface="Verdana"/>
                <a:cs typeface="Verdana"/>
              </a:rPr>
              <a:t>that </a:t>
            </a:r>
            <a:r>
              <a:rPr sz="1600" b="1" spc="-10" dirty="0">
                <a:latin typeface="Verdana"/>
                <a:cs typeface="Verdana"/>
              </a:rPr>
              <a:t>corresponds </a:t>
            </a:r>
            <a:r>
              <a:rPr sz="1600" b="1" spc="-5" dirty="0">
                <a:latin typeface="Verdana"/>
                <a:cs typeface="Verdana"/>
              </a:rPr>
              <a:t>to the  </a:t>
            </a:r>
            <a:r>
              <a:rPr sz="1600" b="1" spc="-10" dirty="0">
                <a:latin typeface="Verdana"/>
                <a:cs typeface="Verdana"/>
              </a:rPr>
              <a:t>restricted</a:t>
            </a:r>
            <a:r>
              <a:rPr sz="1600" b="1" spc="30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network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006699"/>
              </a:buClr>
              <a:buFont typeface="Verdana"/>
              <a:buChar char="•"/>
            </a:pPr>
            <a:endParaRPr sz="1450">
              <a:latin typeface="Verdana"/>
              <a:cs typeface="Verdana"/>
            </a:endParaRPr>
          </a:p>
          <a:p>
            <a:pPr marL="241300" marR="5080" indent="-228600">
              <a:lnSpc>
                <a:spcPct val="90100"/>
              </a:lnSpc>
              <a:buClr>
                <a:srgbClr val="006699"/>
              </a:buClr>
              <a:buFont typeface="Verdana"/>
              <a:buChar char="•"/>
              <a:tabLst>
                <a:tab pos="241300" algn="l"/>
              </a:tabLst>
            </a:pPr>
            <a:r>
              <a:rPr sz="1600" b="1" spc="-5" dirty="0">
                <a:latin typeface="Verdana"/>
                <a:cs typeface="Verdana"/>
              </a:rPr>
              <a:t>802.1X </a:t>
            </a:r>
            <a:r>
              <a:rPr sz="1600" b="1" spc="-10" dirty="0">
                <a:latin typeface="Verdana"/>
                <a:cs typeface="Verdana"/>
              </a:rPr>
              <a:t>enforcement actively monitors </a:t>
            </a:r>
            <a:r>
              <a:rPr sz="1600" b="1" spc="-5" dirty="0">
                <a:latin typeface="Verdana"/>
                <a:cs typeface="Verdana"/>
              </a:rPr>
              <a:t>the </a:t>
            </a:r>
            <a:r>
              <a:rPr sz="1600" b="1" spc="-10" dirty="0">
                <a:latin typeface="Verdana"/>
                <a:cs typeface="Verdana"/>
              </a:rPr>
              <a:t>health </a:t>
            </a:r>
            <a:r>
              <a:rPr sz="1600" b="1" spc="-5" dirty="0">
                <a:latin typeface="Verdana"/>
                <a:cs typeface="Verdana"/>
              </a:rPr>
              <a:t>status of the  </a:t>
            </a:r>
            <a:r>
              <a:rPr sz="1600" b="1" spc="-10" dirty="0">
                <a:latin typeface="Verdana"/>
                <a:cs typeface="Verdana"/>
              </a:rPr>
              <a:t>connected </a:t>
            </a:r>
            <a:r>
              <a:rPr sz="1600" b="1" spc="-5" dirty="0">
                <a:latin typeface="Verdana"/>
                <a:cs typeface="Verdana"/>
              </a:rPr>
              <a:t>NAP </a:t>
            </a:r>
            <a:r>
              <a:rPr sz="1600" b="1" spc="-10" dirty="0">
                <a:latin typeface="Verdana"/>
                <a:cs typeface="Verdana"/>
              </a:rPr>
              <a:t>client </a:t>
            </a:r>
            <a:r>
              <a:rPr sz="1600" b="1" spc="-5" dirty="0">
                <a:latin typeface="Verdana"/>
                <a:cs typeface="Verdana"/>
              </a:rPr>
              <a:t>and applies the </a:t>
            </a:r>
            <a:r>
              <a:rPr sz="1600" b="1" spc="-10" dirty="0">
                <a:latin typeface="Verdana"/>
                <a:cs typeface="Verdana"/>
              </a:rPr>
              <a:t>restricted </a:t>
            </a:r>
            <a:r>
              <a:rPr sz="1600" b="1" spc="-5" dirty="0">
                <a:latin typeface="Verdana"/>
                <a:cs typeface="Verdana"/>
              </a:rPr>
              <a:t>access </a:t>
            </a:r>
            <a:r>
              <a:rPr sz="1600" b="1" spc="-10" dirty="0">
                <a:latin typeface="Verdana"/>
                <a:cs typeface="Verdana"/>
              </a:rPr>
              <a:t>profile  </a:t>
            </a:r>
            <a:r>
              <a:rPr sz="1600" b="1" spc="-5" dirty="0">
                <a:latin typeface="Verdana"/>
                <a:cs typeface="Verdana"/>
              </a:rPr>
              <a:t>to the </a:t>
            </a:r>
            <a:r>
              <a:rPr sz="1600" b="1" spc="-10" dirty="0">
                <a:latin typeface="Verdana"/>
                <a:cs typeface="Verdana"/>
              </a:rPr>
              <a:t>connection if </a:t>
            </a:r>
            <a:r>
              <a:rPr sz="1600" b="1" spc="-5" dirty="0">
                <a:latin typeface="Verdana"/>
                <a:cs typeface="Verdana"/>
              </a:rPr>
              <a:t>the </a:t>
            </a:r>
            <a:r>
              <a:rPr sz="1600" b="1" spc="-10" dirty="0">
                <a:latin typeface="Verdana"/>
                <a:cs typeface="Verdana"/>
              </a:rPr>
              <a:t>client becomes</a:t>
            </a:r>
            <a:r>
              <a:rPr sz="1600" b="1" spc="120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noncompliant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7700771" y="6265164"/>
            <a:ext cx="928369" cy="440690"/>
            <a:chOff x="7700771" y="6265164"/>
            <a:chExt cx="928369" cy="440690"/>
          </a:xfrm>
        </p:grpSpPr>
        <p:sp>
          <p:nvSpPr>
            <p:cNvPr id="61" name="object 61"/>
            <p:cNvSpPr/>
            <p:nvPr/>
          </p:nvSpPr>
          <p:spPr>
            <a:xfrm>
              <a:off x="7711439" y="6275832"/>
              <a:ext cx="917448" cy="429768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7700771" y="6265164"/>
              <a:ext cx="914400" cy="426720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7879079" y="6397752"/>
              <a:ext cx="187451" cy="178307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7897367" y="6391656"/>
              <a:ext cx="175259" cy="166115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7892795" y="6387084"/>
              <a:ext cx="184403" cy="175259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8164067" y="6352032"/>
              <a:ext cx="304800" cy="245364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8237219" y="6419088"/>
              <a:ext cx="134111" cy="135636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8255507" y="6412992"/>
              <a:ext cx="121920" cy="123443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255507" y="6412992"/>
              <a:ext cx="121920" cy="123825"/>
            </a:xfrm>
            <a:custGeom>
              <a:avLst/>
              <a:gdLst/>
              <a:ahLst/>
              <a:cxnLst/>
              <a:rect l="l" t="t" r="r" b="b"/>
              <a:pathLst>
                <a:path w="121920" h="123825">
                  <a:moveTo>
                    <a:pt x="0" y="123444"/>
                  </a:moveTo>
                  <a:lnTo>
                    <a:pt x="121920" y="123444"/>
                  </a:lnTo>
                  <a:lnTo>
                    <a:pt x="121920" y="0"/>
                  </a:lnTo>
                  <a:lnTo>
                    <a:pt x="0" y="0"/>
                  </a:lnTo>
                  <a:lnTo>
                    <a:pt x="0" y="123444"/>
                  </a:lnTo>
                  <a:close/>
                </a:path>
              </a:pathLst>
            </a:custGeom>
            <a:ln w="9144">
              <a:solidFill>
                <a:srgbClr val="666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26917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Verdana"/>
                <a:cs typeface="Verdana"/>
              </a:rPr>
              <a:t>VPN</a:t>
            </a:r>
            <a:r>
              <a:rPr sz="2400" spc="-7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Enforcement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3359" y="1058996"/>
            <a:ext cx="8667750" cy="485965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740660">
              <a:lnSpc>
                <a:spcPct val="100000"/>
              </a:lnSpc>
              <a:spcBef>
                <a:spcPts val="5"/>
              </a:spcBef>
            </a:pPr>
            <a:r>
              <a:rPr sz="1200" b="1" spc="-5" dirty="0">
                <a:latin typeface="Verdana"/>
                <a:cs typeface="Verdana"/>
              </a:rPr>
              <a:t>VPN Server</a:t>
            </a:r>
            <a:endParaRPr sz="1200">
              <a:latin typeface="Verdana"/>
              <a:cs typeface="Verdana"/>
            </a:endParaRPr>
          </a:p>
          <a:p>
            <a:pPr marL="5055235">
              <a:lnSpc>
                <a:spcPct val="100000"/>
              </a:lnSpc>
              <a:spcBef>
                <a:spcPts val="520"/>
              </a:spcBef>
              <a:tabLst>
                <a:tab pos="7481570" algn="l"/>
              </a:tabLst>
            </a:pPr>
            <a:r>
              <a:rPr sz="1200" b="1" dirty="0">
                <a:latin typeface="Verdana"/>
                <a:cs typeface="Verdana"/>
              </a:rPr>
              <a:t>Active	</a:t>
            </a:r>
            <a:r>
              <a:rPr sz="1200" b="1" spc="-5" dirty="0">
                <a:latin typeface="Verdana"/>
                <a:cs typeface="Verdana"/>
              </a:rPr>
              <a:t>IEEE 802.1X</a:t>
            </a:r>
            <a:endParaRPr sz="1200">
              <a:latin typeface="Verdana"/>
              <a:cs typeface="Verdana"/>
            </a:endParaRPr>
          </a:p>
          <a:p>
            <a:pPr marL="5055235">
              <a:lnSpc>
                <a:spcPct val="100000"/>
              </a:lnSpc>
              <a:spcBef>
                <a:spcPts val="5"/>
              </a:spcBef>
              <a:tabLst>
                <a:tab pos="7481570" algn="l"/>
              </a:tabLst>
            </a:pPr>
            <a:r>
              <a:rPr sz="1800" b="1" spc="-7" baseline="2314" dirty="0">
                <a:latin typeface="Verdana"/>
                <a:cs typeface="Verdana"/>
              </a:rPr>
              <a:t>Directory	</a:t>
            </a:r>
            <a:r>
              <a:rPr sz="1200" b="1" spc="-5" dirty="0">
                <a:latin typeface="Verdana"/>
                <a:cs typeface="Verdana"/>
              </a:rPr>
              <a:t>Devices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950">
              <a:latin typeface="Verdana"/>
              <a:cs typeface="Verdana"/>
            </a:endParaRPr>
          </a:p>
          <a:p>
            <a:pPr marL="5569585" marR="2038350">
              <a:lnSpc>
                <a:spcPct val="100000"/>
              </a:lnSpc>
            </a:pPr>
            <a:r>
              <a:rPr sz="1200" b="1" spc="-5" dirty="0">
                <a:latin typeface="Verdana"/>
                <a:cs typeface="Verdana"/>
              </a:rPr>
              <a:t>Health  R</a:t>
            </a:r>
            <a:r>
              <a:rPr sz="1200" b="1" spc="-10" dirty="0">
                <a:latin typeface="Verdana"/>
                <a:cs typeface="Verdana"/>
              </a:rPr>
              <a:t>e</a:t>
            </a:r>
            <a:r>
              <a:rPr sz="1200" b="1" spc="-5" dirty="0">
                <a:latin typeface="Verdana"/>
                <a:cs typeface="Verdana"/>
              </a:rPr>
              <a:t>gi</a:t>
            </a:r>
            <a:r>
              <a:rPr sz="1200" b="1" spc="-10" dirty="0">
                <a:latin typeface="Verdana"/>
                <a:cs typeface="Verdana"/>
              </a:rPr>
              <a:t>s</a:t>
            </a:r>
            <a:r>
              <a:rPr sz="1200" b="1" dirty="0">
                <a:latin typeface="Verdana"/>
                <a:cs typeface="Verdana"/>
              </a:rPr>
              <a:t>t</a:t>
            </a:r>
            <a:r>
              <a:rPr sz="1200" b="1" spc="-5" dirty="0">
                <a:latin typeface="Verdana"/>
                <a:cs typeface="Verdana"/>
              </a:rPr>
              <a:t>r</a:t>
            </a:r>
            <a:r>
              <a:rPr sz="1200" b="1" dirty="0">
                <a:latin typeface="Verdana"/>
                <a:cs typeface="Verdana"/>
              </a:rPr>
              <a:t>ation  </a:t>
            </a:r>
            <a:r>
              <a:rPr sz="1200" b="1" spc="-5" dirty="0">
                <a:latin typeface="Verdana"/>
                <a:cs typeface="Verdana"/>
              </a:rPr>
              <a:t>Authority</a:t>
            </a:r>
            <a:endParaRPr sz="1200">
              <a:latin typeface="Verdana"/>
              <a:cs typeface="Verdana"/>
            </a:endParaRPr>
          </a:p>
          <a:p>
            <a:pPr>
              <a:lnSpc>
                <a:spcPts val="1695"/>
              </a:lnSpc>
            </a:pPr>
            <a:r>
              <a:rPr sz="1600" b="1" spc="-5" dirty="0">
                <a:latin typeface="Verdana"/>
                <a:cs typeface="Verdana"/>
              </a:rPr>
              <a:t>Internet</a:t>
            </a:r>
            <a:endParaRPr sz="1600">
              <a:latin typeface="Verdana"/>
              <a:cs typeface="Verdana"/>
            </a:endParaRPr>
          </a:p>
          <a:p>
            <a:pPr marR="140335" algn="r">
              <a:lnSpc>
                <a:spcPts val="1245"/>
              </a:lnSpc>
            </a:pPr>
            <a:r>
              <a:rPr sz="1200" b="1" dirty="0">
                <a:latin typeface="Verdana"/>
                <a:cs typeface="Verdana"/>
              </a:rPr>
              <a:t>NAP</a:t>
            </a:r>
            <a:r>
              <a:rPr sz="1200" b="1" spc="-80" dirty="0">
                <a:latin typeface="Verdana"/>
                <a:cs typeface="Verdana"/>
              </a:rPr>
              <a:t> </a:t>
            </a:r>
            <a:r>
              <a:rPr sz="1200" b="1" spc="-5" dirty="0">
                <a:latin typeface="Verdana"/>
                <a:cs typeface="Verdana"/>
              </a:rPr>
              <a:t>Health</a:t>
            </a:r>
            <a:endParaRPr sz="1200">
              <a:latin typeface="Verdana"/>
              <a:cs typeface="Verdana"/>
            </a:endParaRPr>
          </a:p>
          <a:p>
            <a:pPr marL="1868170">
              <a:lnSpc>
                <a:spcPts val="1789"/>
              </a:lnSpc>
              <a:tabLst>
                <a:tab pos="3732529" algn="l"/>
                <a:tab pos="5406390" algn="l"/>
                <a:tab pos="7546340" algn="l"/>
              </a:tabLst>
            </a:pPr>
            <a:r>
              <a:rPr sz="1600" b="1" spc="-10" dirty="0">
                <a:latin typeface="Verdana"/>
                <a:cs typeface="Verdana"/>
              </a:rPr>
              <a:t>Perimeter	</a:t>
            </a:r>
            <a:r>
              <a:rPr sz="1800" b="1" spc="-7" baseline="50925" dirty="0">
                <a:latin typeface="Verdana"/>
                <a:cs typeface="Verdana"/>
              </a:rPr>
              <a:t>DHCP Server	</a:t>
            </a:r>
            <a:r>
              <a:rPr sz="2400" b="1" spc="-7" baseline="1736" dirty="0">
                <a:latin typeface="Verdana"/>
                <a:cs typeface="Verdana"/>
              </a:rPr>
              <a:t>Intranet	</a:t>
            </a:r>
            <a:r>
              <a:rPr sz="1800" b="1" spc="-7" baseline="16203" dirty="0">
                <a:latin typeface="Verdana"/>
                <a:cs typeface="Verdana"/>
              </a:rPr>
              <a:t>Policy</a:t>
            </a:r>
            <a:r>
              <a:rPr sz="1800" b="1" spc="-112" baseline="16203" dirty="0">
                <a:latin typeface="Verdana"/>
                <a:cs typeface="Verdana"/>
              </a:rPr>
              <a:t> </a:t>
            </a:r>
            <a:r>
              <a:rPr sz="1800" b="1" spc="-7" baseline="16203" dirty="0">
                <a:latin typeface="Verdana"/>
                <a:cs typeface="Verdana"/>
              </a:rPr>
              <a:t>Server</a:t>
            </a:r>
            <a:endParaRPr sz="1800" baseline="16203">
              <a:latin typeface="Verdana"/>
              <a:cs typeface="Verdana"/>
            </a:endParaRPr>
          </a:p>
          <a:p>
            <a:pPr marL="1868170">
              <a:lnSpc>
                <a:spcPts val="1825"/>
              </a:lnSpc>
            </a:pPr>
            <a:r>
              <a:rPr sz="1600" b="1" spc="-5" dirty="0">
                <a:latin typeface="Verdana"/>
                <a:cs typeface="Verdana"/>
              </a:rPr>
              <a:t>Network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050">
              <a:latin typeface="Verdana"/>
              <a:cs typeface="Verdana"/>
            </a:endParaRPr>
          </a:p>
          <a:p>
            <a:pPr marL="4791075" marR="2706370">
              <a:lnSpc>
                <a:spcPts val="1730"/>
              </a:lnSpc>
            </a:pPr>
            <a:r>
              <a:rPr sz="1600" b="1" spc="-10" dirty="0">
                <a:latin typeface="Verdana"/>
                <a:cs typeface="Verdana"/>
              </a:rPr>
              <a:t>Restr</a:t>
            </a:r>
            <a:r>
              <a:rPr sz="1600" b="1" spc="-15" dirty="0">
                <a:latin typeface="Verdana"/>
                <a:cs typeface="Verdana"/>
              </a:rPr>
              <a:t>i</a:t>
            </a:r>
            <a:r>
              <a:rPr sz="1600" b="1" spc="-10" dirty="0">
                <a:latin typeface="Verdana"/>
                <a:cs typeface="Verdana"/>
              </a:rPr>
              <a:t>cted  </a:t>
            </a:r>
            <a:r>
              <a:rPr sz="1600" b="1" spc="-5" dirty="0">
                <a:latin typeface="Verdana"/>
                <a:cs typeface="Verdana"/>
              </a:rPr>
              <a:t>Network</a:t>
            </a:r>
            <a:endParaRPr sz="1600">
              <a:latin typeface="Verdana"/>
              <a:cs typeface="Verdana"/>
            </a:endParaRPr>
          </a:p>
          <a:p>
            <a:pPr marL="2131695">
              <a:lnSpc>
                <a:spcPct val="100000"/>
              </a:lnSpc>
              <a:spcBef>
                <a:spcPts val="1650"/>
              </a:spcBef>
              <a:tabLst>
                <a:tab pos="6996430" algn="l"/>
              </a:tabLst>
            </a:pPr>
            <a:r>
              <a:rPr sz="1800" b="1" spc="-7" baseline="32407" dirty="0">
                <a:latin typeface="Verdana"/>
                <a:cs typeface="Verdana"/>
              </a:rPr>
              <a:t>Remediation	</a:t>
            </a:r>
            <a:r>
              <a:rPr sz="1200" b="1" dirty="0">
                <a:latin typeface="Verdana"/>
                <a:cs typeface="Verdana"/>
              </a:rPr>
              <a:t>NAP </a:t>
            </a:r>
            <a:r>
              <a:rPr sz="1200" b="1" spc="-5" dirty="0">
                <a:latin typeface="Verdana"/>
                <a:cs typeface="Verdana"/>
              </a:rPr>
              <a:t>Client</a:t>
            </a:r>
            <a:r>
              <a:rPr sz="1200" b="1" spc="-15" dirty="0">
                <a:latin typeface="Verdana"/>
                <a:cs typeface="Verdana"/>
              </a:rPr>
              <a:t> </a:t>
            </a:r>
            <a:r>
              <a:rPr sz="1200" b="1" spc="-5" dirty="0">
                <a:latin typeface="Verdana"/>
                <a:cs typeface="Verdana"/>
              </a:rPr>
              <a:t>with</a:t>
            </a:r>
            <a:endParaRPr sz="1200">
              <a:latin typeface="Verdana"/>
              <a:cs typeface="Verdana"/>
            </a:endParaRPr>
          </a:p>
          <a:p>
            <a:pPr marL="2131695">
              <a:lnSpc>
                <a:spcPct val="100000"/>
              </a:lnSpc>
              <a:spcBef>
                <a:spcPts val="5"/>
              </a:spcBef>
              <a:tabLst>
                <a:tab pos="6996430" algn="l"/>
              </a:tabLst>
            </a:pPr>
            <a:r>
              <a:rPr sz="1800" b="1" spc="-7" baseline="32407" dirty="0">
                <a:latin typeface="Verdana"/>
                <a:cs typeface="Verdana"/>
              </a:rPr>
              <a:t>Servers	</a:t>
            </a:r>
            <a:r>
              <a:rPr sz="1200" b="1" spc="-5" dirty="0">
                <a:latin typeface="Verdana"/>
                <a:cs typeface="Verdana"/>
              </a:rPr>
              <a:t>limited</a:t>
            </a:r>
            <a:r>
              <a:rPr sz="1200" b="1" spc="10" dirty="0">
                <a:latin typeface="Verdana"/>
                <a:cs typeface="Verdana"/>
              </a:rPr>
              <a:t> </a:t>
            </a:r>
            <a:r>
              <a:rPr sz="1200" b="1" spc="-5" dirty="0">
                <a:latin typeface="Verdana"/>
                <a:cs typeface="Verdana"/>
              </a:rPr>
              <a:t>access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51459" y="1002601"/>
            <a:ext cx="8757285" cy="5154930"/>
            <a:chOff x="251459" y="1002601"/>
            <a:chExt cx="8757285" cy="5154930"/>
          </a:xfrm>
        </p:grpSpPr>
        <p:sp>
          <p:nvSpPr>
            <p:cNvPr id="5" name="object 5"/>
            <p:cNvSpPr/>
            <p:nvPr/>
          </p:nvSpPr>
          <p:spPr>
            <a:xfrm>
              <a:off x="2739389" y="1770126"/>
              <a:ext cx="2100580" cy="0"/>
            </a:xfrm>
            <a:custGeom>
              <a:avLst/>
              <a:gdLst/>
              <a:ahLst/>
              <a:cxnLst/>
              <a:rect l="l" t="t" r="r" b="b"/>
              <a:pathLst>
                <a:path w="2100579">
                  <a:moveTo>
                    <a:pt x="2100072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796283" y="1367027"/>
              <a:ext cx="5122164" cy="278892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771900" y="1342643"/>
              <a:ext cx="5119116" cy="278587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632959" y="2897124"/>
              <a:ext cx="675132" cy="80619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975604" y="2046731"/>
              <a:ext cx="676655" cy="80619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74670" y="2949702"/>
              <a:ext cx="1013460" cy="0"/>
            </a:xfrm>
            <a:custGeom>
              <a:avLst/>
              <a:gdLst/>
              <a:ahLst/>
              <a:cxnLst/>
              <a:rect l="l" t="t" r="r" b="b"/>
              <a:pathLst>
                <a:path w="1013460">
                  <a:moveTo>
                    <a:pt x="1013459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874264" y="2589275"/>
              <a:ext cx="1024127" cy="82296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224534" y="2949702"/>
              <a:ext cx="2100580" cy="0"/>
            </a:xfrm>
            <a:custGeom>
              <a:avLst/>
              <a:gdLst/>
              <a:ahLst/>
              <a:cxnLst/>
              <a:rect l="l" t="t" r="r" b="b"/>
              <a:pathLst>
                <a:path w="2100579">
                  <a:moveTo>
                    <a:pt x="2100071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527048" y="2587752"/>
              <a:ext cx="1024128" cy="82296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51459" y="2491739"/>
              <a:ext cx="926591" cy="92049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68145" y="2892552"/>
              <a:ext cx="734695" cy="114300"/>
            </a:xfrm>
            <a:custGeom>
              <a:avLst/>
              <a:gdLst/>
              <a:ahLst/>
              <a:cxnLst/>
              <a:rect l="l" t="t" r="r" b="b"/>
              <a:pathLst>
                <a:path w="734694" h="114300">
                  <a:moveTo>
                    <a:pt x="114300" y="0"/>
                  </a:moveTo>
                  <a:lnTo>
                    <a:pt x="0" y="57150"/>
                  </a:lnTo>
                  <a:lnTo>
                    <a:pt x="114300" y="114300"/>
                  </a:lnTo>
                  <a:lnTo>
                    <a:pt x="114300" y="76200"/>
                  </a:lnTo>
                  <a:lnTo>
                    <a:pt x="95250" y="76200"/>
                  </a:lnTo>
                  <a:lnTo>
                    <a:pt x="95250" y="38100"/>
                  </a:lnTo>
                  <a:lnTo>
                    <a:pt x="114300" y="38100"/>
                  </a:lnTo>
                  <a:lnTo>
                    <a:pt x="114300" y="0"/>
                  </a:lnTo>
                  <a:close/>
                </a:path>
                <a:path w="734694" h="114300">
                  <a:moveTo>
                    <a:pt x="114300" y="38100"/>
                  </a:moveTo>
                  <a:lnTo>
                    <a:pt x="95250" y="38100"/>
                  </a:lnTo>
                  <a:lnTo>
                    <a:pt x="95250" y="76200"/>
                  </a:lnTo>
                  <a:lnTo>
                    <a:pt x="114300" y="76200"/>
                  </a:lnTo>
                  <a:lnTo>
                    <a:pt x="114300" y="38100"/>
                  </a:lnTo>
                  <a:close/>
                </a:path>
                <a:path w="734694" h="114300">
                  <a:moveTo>
                    <a:pt x="734567" y="38100"/>
                  </a:moveTo>
                  <a:lnTo>
                    <a:pt x="114300" y="38100"/>
                  </a:lnTo>
                  <a:lnTo>
                    <a:pt x="114300" y="76200"/>
                  </a:lnTo>
                  <a:lnTo>
                    <a:pt x="734567" y="76200"/>
                  </a:lnTo>
                  <a:lnTo>
                    <a:pt x="734567" y="3810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284719" y="2904743"/>
              <a:ext cx="676655" cy="80619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653528" y="3617975"/>
              <a:ext cx="1350645" cy="433070"/>
            </a:xfrm>
            <a:custGeom>
              <a:avLst/>
              <a:gdLst/>
              <a:ahLst/>
              <a:cxnLst/>
              <a:rect l="l" t="t" r="r" b="b"/>
              <a:pathLst>
                <a:path w="1350645" h="433070">
                  <a:moveTo>
                    <a:pt x="1302385" y="0"/>
                  </a:moveTo>
                  <a:lnTo>
                    <a:pt x="47878" y="0"/>
                  </a:lnTo>
                  <a:lnTo>
                    <a:pt x="29253" y="3766"/>
                  </a:lnTo>
                  <a:lnTo>
                    <a:pt x="14033" y="14033"/>
                  </a:lnTo>
                  <a:lnTo>
                    <a:pt x="3766" y="29253"/>
                  </a:lnTo>
                  <a:lnTo>
                    <a:pt x="0" y="47879"/>
                  </a:lnTo>
                  <a:lnTo>
                    <a:pt x="0" y="384937"/>
                  </a:lnTo>
                  <a:lnTo>
                    <a:pt x="3766" y="403562"/>
                  </a:lnTo>
                  <a:lnTo>
                    <a:pt x="14033" y="418782"/>
                  </a:lnTo>
                  <a:lnTo>
                    <a:pt x="29253" y="429049"/>
                  </a:lnTo>
                  <a:lnTo>
                    <a:pt x="47878" y="432816"/>
                  </a:lnTo>
                  <a:lnTo>
                    <a:pt x="1302385" y="432816"/>
                  </a:lnTo>
                  <a:lnTo>
                    <a:pt x="1321010" y="429049"/>
                  </a:lnTo>
                  <a:lnTo>
                    <a:pt x="1336230" y="418782"/>
                  </a:lnTo>
                  <a:lnTo>
                    <a:pt x="1346497" y="403562"/>
                  </a:lnTo>
                  <a:lnTo>
                    <a:pt x="1350264" y="384937"/>
                  </a:lnTo>
                  <a:lnTo>
                    <a:pt x="1350264" y="47879"/>
                  </a:lnTo>
                  <a:lnTo>
                    <a:pt x="1346497" y="29253"/>
                  </a:lnTo>
                  <a:lnTo>
                    <a:pt x="1336230" y="14033"/>
                  </a:lnTo>
                  <a:lnTo>
                    <a:pt x="1321010" y="3766"/>
                  </a:lnTo>
                  <a:lnTo>
                    <a:pt x="13023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653528" y="3617975"/>
              <a:ext cx="1350645" cy="433070"/>
            </a:xfrm>
            <a:custGeom>
              <a:avLst/>
              <a:gdLst/>
              <a:ahLst/>
              <a:cxnLst/>
              <a:rect l="l" t="t" r="r" b="b"/>
              <a:pathLst>
                <a:path w="1350645" h="433070">
                  <a:moveTo>
                    <a:pt x="0" y="47879"/>
                  </a:moveTo>
                  <a:lnTo>
                    <a:pt x="3766" y="29253"/>
                  </a:lnTo>
                  <a:lnTo>
                    <a:pt x="14033" y="14033"/>
                  </a:lnTo>
                  <a:lnTo>
                    <a:pt x="29253" y="3766"/>
                  </a:lnTo>
                  <a:lnTo>
                    <a:pt x="47878" y="0"/>
                  </a:lnTo>
                  <a:lnTo>
                    <a:pt x="1302385" y="0"/>
                  </a:lnTo>
                  <a:lnTo>
                    <a:pt x="1321010" y="3766"/>
                  </a:lnTo>
                  <a:lnTo>
                    <a:pt x="1336230" y="14033"/>
                  </a:lnTo>
                  <a:lnTo>
                    <a:pt x="1346497" y="29253"/>
                  </a:lnTo>
                  <a:lnTo>
                    <a:pt x="1350264" y="47879"/>
                  </a:lnTo>
                  <a:lnTo>
                    <a:pt x="1350264" y="384937"/>
                  </a:lnTo>
                  <a:lnTo>
                    <a:pt x="1346497" y="403562"/>
                  </a:lnTo>
                  <a:lnTo>
                    <a:pt x="1336230" y="418782"/>
                  </a:lnTo>
                  <a:lnTo>
                    <a:pt x="1321010" y="429049"/>
                  </a:lnTo>
                  <a:lnTo>
                    <a:pt x="1302385" y="432816"/>
                  </a:lnTo>
                  <a:lnTo>
                    <a:pt x="47878" y="432816"/>
                  </a:lnTo>
                  <a:lnTo>
                    <a:pt x="29253" y="429049"/>
                  </a:lnTo>
                  <a:lnTo>
                    <a:pt x="14033" y="418782"/>
                  </a:lnTo>
                  <a:lnTo>
                    <a:pt x="3766" y="403562"/>
                  </a:lnTo>
                  <a:lnTo>
                    <a:pt x="0" y="384937"/>
                  </a:lnTo>
                  <a:lnTo>
                    <a:pt x="0" y="47879"/>
                  </a:lnTo>
                  <a:close/>
                </a:path>
              </a:pathLst>
            </a:custGeom>
            <a:ln w="9144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45051" y="3685031"/>
              <a:ext cx="1327785" cy="288290"/>
            </a:xfrm>
            <a:custGeom>
              <a:avLst/>
              <a:gdLst/>
              <a:ahLst/>
              <a:cxnLst/>
              <a:rect l="l" t="t" r="r" b="b"/>
              <a:pathLst>
                <a:path w="1327785" h="288289">
                  <a:moveTo>
                    <a:pt x="1295527" y="0"/>
                  </a:moveTo>
                  <a:lnTo>
                    <a:pt x="31876" y="0"/>
                  </a:lnTo>
                  <a:lnTo>
                    <a:pt x="19448" y="2498"/>
                  </a:lnTo>
                  <a:lnTo>
                    <a:pt x="9318" y="9318"/>
                  </a:lnTo>
                  <a:lnTo>
                    <a:pt x="2498" y="19448"/>
                  </a:lnTo>
                  <a:lnTo>
                    <a:pt x="0" y="31877"/>
                  </a:lnTo>
                  <a:lnTo>
                    <a:pt x="0" y="256159"/>
                  </a:lnTo>
                  <a:lnTo>
                    <a:pt x="2498" y="268587"/>
                  </a:lnTo>
                  <a:lnTo>
                    <a:pt x="9318" y="278717"/>
                  </a:lnTo>
                  <a:lnTo>
                    <a:pt x="19448" y="285537"/>
                  </a:lnTo>
                  <a:lnTo>
                    <a:pt x="31876" y="288036"/>
                  </a:lnTo>
                  <a:lnTo>
                    <a:pt x="1295527" y="288036"/>
                  </a:lnTo>
                  <a:lnTo>
                    <a:pt x="1307955" y="285537"/>
                  </a:lnTo>
                  <a:lnTo>
                    <a:pt x="1318085" y="278717"/>
                  </a:lnTo>
                  <a:lnTo>
                    <a:pt x="1324905" y="268587"/>
                  </a:lnTo>
                  <a:lnTo>
                    <a:pt x="1327403" y="256159"/>
                  </a:lnTo>
                  <a:lnTo>
                    <a:pt x="1327403" y="31877"/>
                  </a:lnTo>
                  <a:lnTo>
                    <a:pt x="1324905" y="19448"/>
                  </a:lnTo>
                  <a:lnTo>
                    <a:pt x="1318085" y="9318"/>
                  </a:lnTo>
                  <a:lnTo>
                    <a:pt x="1307955" y="2498"/>
                  </a:lnTo>
                  <a:lnTo>
                    <a:pt x="12955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845051" y="3685031"/>
              <a:ext cx="1327785" cy="288290"/>
            </a:xfrm>
            <a:custGeom>
              <a:avLst/>
              <a:gdLst/>
              <a:ahLst/>
              <a:cxnLst/>
              <a:rect l="l" t="t" r="r" b="b"/>
              <a:pathLst>
                <a:path w="1327785" h="288289">
                  <a:moveTo>
                    <a:pt x="0" y="31877"/>
                  </a:moveTo>
                  <a:lnTo>
                    <a:pt x="2498" y="19448"/>
                  </a:lnTo>
                  <a:lnTo>
                    <a:pt x="9318" y="9318"/>
                  </a:lnTo>
                  <a:lnTo>
                    <a:pt x="19448" y="2498"/>
                  </a:lnTo>
                  <a:lnTo>
                    <a:pt x="31876" y="0"/>
                  </a:lnTo>
                  <a:lnTo>
                    <a:pt x="1295527" y="0"/>
                  </a:lnTo>
                  <a:lnTo>
                    <a:pt x="1307955" y="2498"/>
                  </a:lnTo>
                  <a:lnTo>
                    <a:pt x="1318085" y="9318"/>
                  </a:lnTo>
                  <a:lnTo>
                    <a:pt x="1324905" y="19448"/>
                  </a:lnTo>
                  <a:lnTo>
                    <a:pt x="1327403" y="31877"/>
                  </a:lnTo>
                  <a:lnTo>
                    <a:pt x="1327403" y="256159"/>
                  </a:lnTo>
                  <a:lnTo>
                    <a:pt x="1324905" y="268587"/>
                  </a:lnTo>
                  <a:lnTo>
                    <a:pt x="1318085" y="278717"/>
                  </a:lnTo>
                  <a:lnTo>
                    <a:pt x="1307955" y="285537"/>
                  </a:lnTo>
                  <a:lnTo>
                    <a:pt x="1295527" y="288036"/>
                  </a:lnTo>
                  <a:lnTo>
                    <a:pt x="31876" y="288036"/>
                  </a:lnTo>
                  <a:lnTo>
                    <a:pt x="19448" y="285537"/>
                  </a:lnTo>
                  <a:lnTo>
                    <a:pt x="9318" y="278717"/>
                  </a:lnTo>
                  <a:lnTo>
                    <a:pt x="2498" y="268587"/>
                  </a:lnTo>
                  <a:lnTo>
                    <a:pt x="0" y="256159"/>
                  </a:lnTo>
                  <a:lnTo>
                    <a:pt x="0" y="31877"/>
                  </a:lnTo>
                  <a:close/>
                </a:path>
              </a:pathLst>
            </a:custGeom>
            <a:ln w="9144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672327" y="2891028"/>
              <a:ext cx="1278890" cy="582295"/>
            </a:xfrm>
            <a:custGeom>
              <a:avLst/>
              <a:gdLst/>
              <a:ahLst/>
              <a:cxnLst/>
              <a:rect l="l" t="t" r="r" b="b"/>
              <a:pathLst>
                <a:path w="1278890" h="582295">
                  <a:moveTo>
                    <a:pt x="1214247" y="0"/>
                  </a:moveTo>
                  <a:lnTo>
                    <a:pt x="64388" y="0"/>
                  </a:lnTo>
                  <a:lnTo>
                    <a:pt x="39326" y="5060"/>
                  </a:lnTo>
                  <a:lnTo>
                    <a:pt x="18859" y="18859"/>
                  </a:lnTo>
                  <a:lnTo>
                    <a:pt x="5060" y="39326"/>
                  </a:lnTo>
                  <a:lnTo>
                    <a:pt x="0" y="64388"/>
                  </a:lnTo>
                  <a:lnTo>
                    <a:pt x="0" y="517779"/>
                  </a:lnTo>
                  <a:lnTo>
                    <a:pt x="5060" y="542841"/>
                  </a:lnTo>
                  <a:lnTo>
                    <a:pt x="18859" y="563308"/>
                  </a:lnTo>
                  <a:lnTo>
                    <a:pt x="39326" y="577107"/>
                  </a:lnTo>
                  <a:lnTo>
                    <a:pt x="64388" y="582168"/>
                  </a:lnTo>
                  <a:lnTo>
                    <a:pt x="1214247" y="582168"/>
                  </a:lnTo>
                  <a:lnTo>
                    <a:pt x="1239309" y="577107"/>
                  </a:lnTo>
                  <a:lnTo>
                    <a:pt x="1259776" y="563308"/>
                  </a:lnTo>
                  <a:lnTo>
                    <a:pt x="1273575" y="542841"/>
                  </a:lnTo>
                  <a:lnTo>
                    <a:pt x="1278636" y="517779"/>
                  </a:lnTo>
                  <a:lnTo>
                    <a:pt x="1278636" y="64388"/>
                  </a:lnTo>
                  <a:lnTo>
                    <a:pt x="1273575" y="39326"/>
                  </a:lnTo>
                  <a:lnTo>
                    <a:pt x="1259776" y="18859"/>
                  </a:lnTo>
                  <a:lnTo>
                    <a:pt x="1239309" y="5060"/>
                  </a:lnTo>
                  <a:lnTo>
                    <a:pt x="12142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672327" y="2891028"/>
              <a:ext cx="1278890" cy="582295"/>
            </a:xfrm>
            <a:custGeom>
              <a:avLst/>
              <a:gdLst/>
              <a:ahLst/>
              <a:cxnLst/>
              <a:rect l="l" t="t" r="r" b="b"/>
              <a:pathLst>
                <a:path w="1278890" h="582295">
                  <a:moveTo>
                    <a:pt x="0" y="64388"/>
                  </a:moveTo>
                  <a:lnTo>
                    <a:pt x="5060" y="39326"/>
                  </a:lnTo>
                  <a:lnTo>
                    <a:pt x="18859" y="18859"/>
                  </a:lnTo>
                  <a:lnTo>
                    <a:pt x="39326" y="5060"/>
                  </a:lnTo>
                  <a:lnTo>
                    <a:pt x="64388" y="0"/>
                  </a:lnTo>
                  <a:lnTo>
                    <a:pt x="1214247" y="0"/>
                  </a:lnTo>
                  <a:lnTo>
                    <a:pt x="1239309" y="5060"/>
                  </a:lnTo>
                  <a:lnTo>
                    <a:pt x="1259776" y="18859"/>
                  </a:lnTo>
                  <a:lnTo>
                    <a:pt x="1273575" y="39326"/>
                  </a:lnTo>
                  <a:lnTo>
                    <a:pt x="1278636" y="64388"/>
                  </a:lnTo>
                  <a:lnTo>
                    <a:pt x="1278636" y="517779"/>
                  </a:lnTo>
                  <a:lnTo>
                    <a:pt x="1273575" y="542841"/>
                  </a:lnTo>
                  <a:lnTo>
                    <a:pt x="1259776" y="563308"/>
                  </a:lnTo>
                  <a:lnTo>
                    <a:pt x="1239309" y="577107"/>
                  </a:lnTo>
                  <a:lnTo>
                    <a:pt x="1214247" y="582168"/>
                  </a:lnTo>
                  <a:lnTo>
                    <a:pt x="64388" y="582168"/>
                  </a:lnTo>
                  <a:lnTo>
                    <a:pt x="39326" y="577107"/>
                  </a:lnTo>
                  <a:lnTo>
                    <a:pt x="18859" y="563308"/>
                  </a:lnTo>
                  <a:lnTo>
                    <a:pt x="5060" y="542841"/>
                  </a:lnTo>
                  <a:lnTo>
                    <a:pt x="0" y="517779"/>
                  </a:lnTo>
                  <a:lnTo>
                    <a:pt x="0" y="64388"/>
                  </a:lnTo>
                  <a:close/>
                </a:path>
              </a:pathLst>
            </a:custGeom>
            <a:ln w="9144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184136" y="1769363"/>
              <a:ext cx="734568" cy="57759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771640" y="1566214"/>
              <a:ext cx="761089" cy="516488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587995" y="1272539"/>
              <a:ext cx="1280160" cy="440690"/>
            </a:xfrm>
            <a:custGeom>
              <a:avLst/>
              <a:gdLst/>
              <a:ahLst/>
              <a:cxnLst/>
              <a:rect l="l" t="t" r="r" b="b"/>
              <a:pathLst>
                <a:path w="1280159" h="440689">
                  <a:moveTo>
                    <a:pt x="1231392" y="0"/>
                  </a:moveTo>
                  <a:lnTo>
                    <a:pt x="48768" y="0"/>
                  </a:lnTo>
                  <a:lnTo>
                    <a:pt x="29789" y="3833"/>
                  </a:lnTo>
                  <a:lnTo>
                    <a:pt x="14287" y="14287"/>
                  </a:lnTo>
                  <a:lnTo>
                    <a:pt x="3833" y="29789"/>
                  </a:lnTo>
                  <a:lnTo>
                    <a:pt x="0" y="48768"/>
                  </a:lnTo>
                  <a:lnTo>
                    <a:pt x="0" y="391668"/>
                  </a:lnTo>
                  <a:lnTo>
                    <a:pt x="3833" y="410646"/>
                  </a:lnTo>
                  <a:lnTo>
                    <a:pt x="14287" y="426148"/>
                  </a:lnTo>
                  <a:lnTo>
                    <a:pt x="29789" y="436602"/>
                  </a:lnTo>
                  <a:lnTo>
                    <a:pt x="48768" y="440436"/>
                  </a:lnTo>
                  <a:lnTo>
                    <a:pt x="1231392" y="440436"/>
                  </a:lnTo>
                  <a:lnTo>
                    <a:pt x="1250370" y="436602"/>
                  </a:lnTo>
                  <a:lnTo>
                    <a:pt x="1265872" y="426148"/>
                  </a:lnTo>
                  <a:lnTo>
                    <a:pt x="1276326" y="410646"/>
                  </a:lnTo>
                  <a:lnTo>
                    <a:pt x="1280159" y="391668"/>
                  </a:lnTo>
                  <a:lnTo>
                    <a:pt x="1280159" y="48768"/>
                  </a:lnTo>
                  <a:lnTo>
                    <a:pt x="1276326" y="29789"/>
                  </a:lnTo>
                  <a:lnTo>
                    <a:pt x="1265872" y="14287"/>
                  </a:lnTo>
                  <a:lnTo>
                    <a:pt x="1250370" y="3833"/>
                  </a:lnTo>
                  <a:lnTo>
                    <a:pt x="12313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587995" y="1272539"/>
              <a:ext cx="1280160" cy="440690"/>
            </a:xfrm>
            <a:custGeom>
              <a:avLst/>
              <a:gdLst/>
              <a:ahLst/>
              <a:cxnLst/>
              <a:rect l="l" t="t" r="r" b="b"/>
              <a:pathLst>
                <a:path w="1280159" h="440689">
                  <a:moveTo>
                    <a:pt x="0" y="48768"/>
                  </a:moveTo>
                  <a:lnTo>
                    <a:pt x="3833" y="29789"/>
                  </a:lnTo>
                  <a:lnTo>
                    <a:pt x="14287" y="14287"/>
                  </a:lnTo>
                  <a:lnTo>
                    <a:pt x="29789" y="3833"/>
                  </a:lnTo>
                  <a:lnTo>
                    <a:pt x="48768" y="0"/>
                  </a:lnTo>
                  <a:lnTo>
                    <a:pt x="1231392" y="0"/>
                  </a:lnTo>
                  <a:lnTo>
                    <a:pt x="1250370" y="3833"/>
                  </a:lnTo>
                  <a:lnTo>
                    <a:pt x="1265872" y="14287"/>
                  </a:lnTo>
                  <a:lnTo>
                    <a:pt x="1276326" y="29789"/>
                  </a:lnTo>
                  <a:lnTo>
                    <a:pt x="1280159" y="48768"/>
                  </a:lnTo>
                  <a:lnTo>
                    <a:pt x="1280159" y="391668"/>
                  </a:lnTo>
                  <a:lnTo>
                    <a:pt x="1276326" y="410646"/>
                  </a:lnTo>
                  <a:lnTo>
                    <a:pt x="1265872" y="426148"/>
                  </a:lnTo>
                  <a:lnTo>
                    <a:pt x="1250370" y="436602"/>
                  </a:lnTo>
                  <a:lnTo>
                    <a:pt x="1231392" y="440436"/>
                  </a:lnTo>
                  <a:lnTo>
                    <a:pt x="48768" y="440436"/>
                  </a:lnTo>
                  <a:lnTo>
                    <a:pt x="29789" y="436602"/>
                  </a:lnTo>
                  <a:lnTo>
                    <a:pt x="14287" y="426148"/>
                  </a:lnTo>
                  <a:lnTo>
                    <a:pt x="3833" y="410646"/>
                  </a:lnTo>
                  <a:lnTo>
                    <a:pt x="0" y="391668"/>
                  </a:lnTo>
                  <a:lnTo>
                    <a:pt x="0" y="48768"/>
                  </a:lnTo>
                  <a:close/>
                </a:path>
              </a:pathLst>
            </a:custGeom>
            <a:ln w="9144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494275" y="1571244"/>
              <a:ext cx="1011936" cy="893063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163312" y="1269491"/>
              <a:ext cx="1022985" cy="440690"/>
            </a:xfrm>
            <a:custGeom>
              <a:avLst/>
              <a:gdLst/>
              <a:ahLst/>
              <a:cxnLst/>
              <a:rect l="l" t="t" r="r" b="b"/>
              <a:pathLst>
                <a:path w="1022985" h="440689">
                  <a:moveTo>
                    <a:pt x="973836" y="0"/>
                  </a:moveTo>
                  <a:lnTo>
                    <a:pt x="48767" y="0"/>
                  </a:lnTo>
                  <a:lnTo>
                    <a:pt x="29789" y="3833"/>
                  </a:lnTo>
                  <a:lnTo>
                    <a:pt x="14287" y="14287"/>
                  </a:lnTo>
                  <a:lnTo>
                    <a:pt x="3833" y="29789"/>
                  </a:lnTo>
                  <a:lnTo>
                    <a:pt x="0" y="48768"/>
                  </a:lnTo>
                  <a:lnTo>
                    <a:pt x="0" y="391668"/>
                  </a:lnTo>
                  <a:lnTo>
                    <a:pt x="3833" y="410646"/>
                  </a:lnTo>
                  <a:lnTo>
                    <a:pt x="14287" y="426148"/>
                  </a:lnTo>
                  <a:lnTo>
                    <a:pt x="29789" y="436602"/>
                  </a:lnTo>
                  <a:lnTo>
                    <a:pt x="48767" y="440436"/>
                  </a:lnTo>
                  <a:lnTo>
                    <a:pt x="973836" y="440436"/>
                  </a:lnTo>
                  <a:lnTo>
                    <a:pt x="992814" y="436602"/>
                  </a:lnTo>
                  <a:lnTo>
                    <a:pt x="1008316" y="426148"/>
                  </a:lnTo>
                  <a:lnTo>
                    <a:pt x="1018770" y="410646"/>
                  </a:lnTo>
                  <a:lnTo>
                    <a:pt x="1022603" y="391668"/>
                  </a:lnTo>
                  <a:lnTo>
                    <a:pt x="1022603" y="48768"/>
                  </a:lnTo>
                  <a:lnTo>
                    <a:pt x="1018770" y="29789"/>
                  </a:lnTo>
                  <a:lnTo>
                    <a:pt x="1008316" y="14287"/>
                  </a:lnTo>
                  <a:lnTo>
                    <a:pt x="992814" y="3833"/>
                  </a:lnTo>
                  <a:lnTo>
                    <a:pt x="9738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163312" y="1269491"/>
              <a:ext cx="1022985" cy="440690"/>
            </a:xfrm>
            <a:custGeom>
              <a:avLst/>
              <a:gdLst/>
              <a:ahLst/>
              <a:cxnLst/>
              <a:rect l="l" t="t" r="r" b="b"/>
              <a:pathLst>
                <a:path w="1022985" h="440689">
                  <a:moveTo>
                    <a:pt x="0" y="48768"/>
                  </a:moveTo>
                  <a:lnTo>
                    <a:pt x="3833" y="29789"/>
                  </a:lnTo>
                  <a:lnTo>
                    <a:pt x="14287" y="14287"/>
                  </a:lnTo>
                  <a:lnTo>
                    <a:pt x="29789" y="3833"/>
                  </a:lnTo>
                  <a:lnTo>
                    <a:pt x="48767" y="0"/>
                  </a:lnTo>
                  <a:lnTo>
                    <a:pt x="973836" y="0"/>
                  </a:lnTo>
                  <a:lnTo>
                    <a:pt x="992814" y="3833"/>
                  </a:lnTo>
                  <a:lnTo>
                    <a:pt x="1008316" y="14287"/>
                  </a:lnTo>
                  <a:lnTo>
                    <a:pt x="1018770" y="29789"/>
                  </a:lnTo>
                  <a:lnTo>
                    <a:pt x="1022603" y="48768"/>
                  </a:lnTo>
                  <a:lnTo>
                    <a:pt x="1022603" y="391668"/>
                  </a:lnTo>
                  <a:lnTo>
                    <a:pt x="1018770" y="410646"/>
                  </a:lnTo>
                  <a:lnTo>
                    <a:pt x="1008316" y="426148"/>
                  </a:lnTo>
                  <a:lnTo>
                    <a:pt x="992814" y="436602"/>
                  </a:lnTo>
                  <a:lnTo>
                    <a:pt x="973836" y="440436"/>
                  </a:lnTo>
                  <a:lnTo>
                    <a:pt x="48767" y="440436"/>
                  </a:lnTo>
                  <a:lnTo>
                    <a:pt x="29789" y="436602"/>
                  </a:lnTo>
                  <a:lnTo>
                    <a:pt x="14287" y="426148"/>
                  </a:lnTo>
                  <a:lnTo>
                    <a:pt x="3833" y="410646"/>
                  </a:lnTo>
                  <a:lnTo>
                    <a:pt x="0" y="391668"/>
                  </a:lnTo>
                  <a:lnTo>
                    <a:pt x="0" y="48768"/>
                  </a:lnTo>
                  <a:close/>
                </a:path>
              </a:pathLst>
            </a:custGeom>
            <a:ln w="9143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742437" y="1751837"/>
              <a:ext cx="12700" cy="1198245"/>
            </a:xfrm>
            <a:custGeom>
              <a:avLst/>
              <a:gdLst/>
              <a:ahLst/>
              <a:cxnLst/>
              <a:rect l="l" t="t" r="r" b="b"/>
              <a:pathLst>
                <a:path w="12700" h="1198245">
                  <a:moveTo>
                    <a:pt x="12192" y="1197864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261359" y="1325879"/>
              <a:ext cx="675132" cy="80619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237231" y="1007363"/>
              <a:ext cx="1798320" cy="4893945"/>
            </a:xfrm>
            <a:custGeom>
              <a:avLst/>
              <a:gdLst/>
              <a:ahLst/>
              <a:cxnLst/>
              <a:rect l="l" t="t" r="r" b="b"/>
              <a:pathLst>
                <a:path w="1798320" h="4893945">
                  <a:moveTo>
                    <a:pt x="615695" y="32003"/>
                  </a:moveTo>
                  <a:lnTo>
                    <a:pt x="618214" y="19556"/>
                  </a:lnTo>
                  <a:lnTo>
                    <a:pt x="625078" y="9382"/>
                  </a:lnTo>
                  <a:lnTo>
                    <a:pt x="635252" y="2518"/>
                  </a:lnTo>
                  <a:lnTo>
                    <a:pt x="647700" y="0"/>
                  </a:lnTo>
                  <a:lnTo>
                    <a:pt x="1766316" y="0"/>
                  </a:lnTo>
                  <a:lnTo>
                    <a:pt x="1778763" y="2518"/>
                  </a:lnTo>
                  <a:lnTo>
                    <a:pt x="1788937" y="9382"/>
                  </a:lnTo>
                  <a:lnTo>
                    <a:pt x="1795801" y="19556"/>
                  </a:lnTo>
                  <a:lnTo>
                    <a:pt x="1798320" y="32003"/>
                  </a:lnTo>
                  <a:lnTo>
                    <a:pt x="1798320" y="257556"/>
                  </a:lnTo>
                  <a:lnTo>
                    <a:pt x="1795801" y="270003"/>
                  </a:lnTo>
                  <a:lnTo>
                    <a:pt x="1788937" y="280177"/>
                  </a:lnTo>
                  <a:lnTo>
                    <a:pt x="1778763" y="287041"/>
                  </a:lnTo>
                  <a:lnTo>
                    <a:pt x="1766316" y="289560"/>
                  </a:lnTo>
                  <a:lnTo>
                    <a:pt x="647700" y="289560"/>
                  </a:lnTo>
                  <a:lnTo>
                    <a:pt x="635252" y="287041"/>
                  </a:lnTo>
                  <a:lnTo>
                    <a:pt x="625078" y="280177"/>
                  </a:lnTo>
                  <a:lnTo>
                    <a:pt x="618214" y="270003"/>
                  </a:lnTo>
                  <a:lnTo>
                    <a:pt x="615695" y="257556"/>
                  </a:lnTo>
                  <a:lnTo>
                    <a:pt x="615695" y="32003"/>
                  </a:lnTo>
                  <a:close/>
                </a:path>
                <a:path w="1798320" h="4893945">
                  <a:moveTo>
                    <a:pt x="1313688" y="4438142"/>
                  </a:moveTo>
                  <a:lnTo>
                    <a:pt x="1309231" y="4416111"/>
                  </a:lnTo>
                  <a:lnTo>
                    <a:pt x="1297082" y="4398105"/>
                  </a:lnTo>
                  <a:lnTo>
                    <a:pt x="1279076" y="4385956"/>
                  </a:lnTo>
                  <a:lnTo>
                    <a:pt x="1257045" y="4381500"/>
                  </a:lnTo>
                  <a:lnTo>
                    <a:pt x="56642" y="4381500"/>
                  </a:lnTo>
                  <a:lnTo>
                    <a:pt x="34611" y="4385956"/>
                  </a:lnTo>
                  <a:lnTo>
                    <a:pt x="16605" y="4398105"/>
                  </a:lnTo>
                  <a:lnTo>
                    <a:pt x="4456" y="4416111"/>
                  </a:lnTo>
                  <a:lnTo>
                    <a:pt x="0" y="4438142"/>
                  </a:lnTo>
                  <a:lnTo>
                    <a:pt x="0" y="4836934"/>
                  </a:lnTo>
                  <a:lnTo>
                    <a:pt x="4456" y="4858973"/>
                  </a:lnTo>
                  <a:lnTo>
                    <a:pt x="16605" y="4876974"/>
                  </a:lnTo>
                  <a:lnTo>
                    <a:pt x="34611" y="4889112"/>
                  </a:lnTo>
                  <a:lnTo>
                    <a:pt x="56642" y="4893564"/>
                  </a:lnTo>
                  <a:lnTo>
                    <a:pt x="1257045" y="4893564"/>
                  </a:lnTo>
                  <a:lnTo>
                    <a:pt x="1279076" y="4889112"/>
                  </a:lnTo>
                  <a:lnTo>
                    <a:pt x="1297082" y="4876974"/>
                  </a:lnTo>
                  <a:lnTo>
                    <a:pt x="1309231" y="4858973"/>
                  </a:lnTo>
                  <a:lnTo>
                    <a:pt x="1313688" y="4836934"/>
                  </a:lnTo>
                  <a:lnTo>
                    <a:pt x="1313688" y="4438142"/>
                  </a:lnTo>
                  <a:close/>
                </a:path>
              </a:pathLst>
            </a:custGeom>
            <a:ln w="9144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094988" y="4442460"/>
              <a:ext cx="3171443" cy="1420367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070604" y="4418075"/>
              <a:ext cx="3168396" cy="1417320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424427" y="4608575"/>
              <a:ext cx="676655" cy="80619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855719" y="4844796"/>
              <a:ext cx="676655" cy="80619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106412" y="5554979"/>
              <a:ext cx="1564005" cy="358140"/>
            </a:xfrm>
            <a:custGeom>
              <a:avLst/>
              <a:gdLst/>
              <a:ahLst/>
              <a:cxnLst/>
              <a:rect l="l" t="t" r="r" b="b"/>
              <a:pathLst>
                <a:path w="1564004" h="358139">
                  <a:moveTo>
                    <a:pt x="1524000" y="0"/>
                  </a:moveTo>
                  <a:lnTo>
                    <a:pt x="39624" y="0"/>
                  </a:lnTo>
                  <a:lnTo>
                    <a:pt x="24217" y="3119"/>
                  </a:lnTo>
                  <a:lnTo>
                    <a:pt x="11620" y="11618"/>
                  </a:lnTo>
                  <a:lnTo>
                    <a:pt x="3119" y="24211"/>
                  </a:lnTo>
                  <a:lnTo>
                    <a:pt x="0" y="39611"/>
                  </a:lnTo>
                  <a:lnTo>
                    <a:pt x="0" y="318528"/>
                  </a:lnTo>
                  <a:lnTo>
                    <a:pt x="3119" y="333949"/>
                  </a:lnTo>
                  <a:lnTo>
                    <a:pt x="11620" y="346540"/>
                  </a:lnTo>
                  <a:lnTo>
                    <a:pt x="24217" y="355027"/>
                  </a:lnTo>
                  <a:lnTo>
                    <a:pt x="39624" y="358140"/>
                  </a:lnTo>
                  <a:lnTo>
                    <a:pt x="1524000" y="358140"/>
                  </a:lnTo>
                  <a:lnTo>
                    <a:pt x="1539406" y="355027"/>
                  </a:lnTo>
                  <a:lnTo>
                    <a:pt x="1552003" y="346540"/>
                  </a:lnTo>
                  <a:lnTo>
                    <a:pt x="1560504" y="333949"/>
                  </a:lnTo>
                  <a:lnTo>
                    <a:pt x="1563624" y="318528"/>
                  </a:lnTo>
                  <a:lnTo>
                    <a:pt x="1563624" y="39611"/>
                  </a:lnTo>
                  <a:lnTo>
                    <a:pt x="1560504" y="24211"/>
                  </a:lnTo>
                  <a:lnTo>
                    <a:pt x="1552003" y="11618"/>
                  </a:lnTo>
                  <a:lnTo>
                    <a:pt x="1539406" y="3119"/>
                  </a:lnTo>
                  <a:lnTo>
                    <a:pt x="152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106412" y="5554979"/>
              <a:ext cx="1564005" cy="358140"/>
            </a:xfrm>
            <a:custGeom>
              <a:avLst/>
              <a:gdLst/>
              <a:ahLst/>
              <a:cxnLst/>
              <a:rect l="l" t="t" r="r" b="b"/>
              <a:pathLst>
                <a:path w="1564004" h="358139">
                  <a:moveTo>
                    <a:pt x="0" y="39611"/>
                  </a:moveTo>
                  <a:lnTo>
                    <a:pt x="3119" y="24211"/>
                  </a:lnTo>
                  <a:lnTo>
                    <a:pt x="11620" y="11618"/>
                  </a:lnTo>
                  <a:lnTo>
                    <a:pt x="24217" y="3119"/>
                  </a:lnTo>
                  <a:lnTo>
                    <a:pt x="39624" y="0"/>
                  </a:lnTo>
                  <a:lnTo>
                    <a:pt x="1524000" y="0"/>
                  </a:lnTo>
                  <a:lnTo>
                    <a:pt x="1539406" y="3119"/>
                  </a:lnTo>
                  <a:lnTo>
                    <a:pt x="1552003" y="11618"/>
                  </a:lnTo>
                  <a:lnTo>
                    <a:pt x="1560504" y="24211"/>
                  </a:lnTo>
                  <a:lnTo>
                    <a:pt x="1563624" y="39611"/>
                  </a:lnTo>
                  <a:lnTo>
                    <a:pt x="1563624" y="318528"/>
                  </a:lnTo>
                  <a:lnTo>
                    <a:pt x="1560504" y="333949"/>
                  </a:lnTo>
                  <a:lnTo>
                    <a:pt x="1552003" y="346540"/>
                  </a:lnTo>
                  <a:lnTo>
                    <a:pt x="1539406" y="355027"/>
                  </a:lnTo>
                  <a:lnTo>
                    <a:pt x="1524000" y="358140"/>
                  </a:lnTo>
                  <a:lnTo>
                    <a:pt x="39624" y="358140"/>
                  </a:lnTo>
                  <a:lnTo>
                    <a:pt x="24217" y="355027"/>
                  </a:lnTo>
                  <a:lnTo>
                    <a:pt x="11620" y="346540"/>
                  </a:lnTo>
                  <a:lnTo>
                    <a:pt x="3119" y="333949"/>
                  </a:lnTo>
                  <a:lnTo>
                    <a:pt x="0" y="318528"/>
                  </a:lnTo>
                  <a:lnTo>
                    <a:pt x="0" y="39611"/>
                  </a:lnTo>
                  <a:close/>
                </a:path>
              </a:pathLst>
            </a:custGeom>
            <a:ln w="9144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284975" y="5349240"/>
              <a:ext cx="742187" cy="807720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0" name="object 40"/>
          <p:cNvGrpSpPr/>
          <p:nvPr/>
        </p:nvGrpSpPr>
        <p:grpSpPr>
          <a:xfrm>
            <a:off x="117347" y="749808"/>
            <a:ext cx="8979535" cy="5725795"/>
            <a:chOff x="117347" y="749808"/>
            <a:chExt cx="8979535" cy="5725795"/>
          </a:xfrm>
        </p:grpSpPr>
        <p:sp>
          <p:nvSpPr>
            <p:cNvPr id="41" name="object 41"/>
            <p:cNvSpPr/>
            <p:nvPr/>
          </p:nvSpPr>
          <p:spPr>
            <a:xfrm>
              <a:off x="117347" y="749808"/>
              <a:ext cx="8979535" cy="5725795"/>
            </a:xfrm>
            <a:custGeom>
              <a:avLst/>
              <a:gdLst/>
              <a:ahLst/>
              <a:cxnLst/>
              <a:rect l="l" t="t" r="r" b="b"/>
              <a:pathLst>
                <a:path w="8979535" h="5725795">
                  <a:moveTo>
                    <a:pt x="8979408" y="0"/>
                  </a:moveTo>
                  <a:lnTo>
                    <a:pt x="0" y="0"/>
                  </a:lnTo>
                  <a:lnTo>
                    <a:pt x="0" y="5725668"/>
                  </a:lnTo>
                  <a:lnTo>
                    <a:pt x="8979408" y="5725668"/>
                  </a:lnTo>
                  <a:lnTo>
                    <a:pt x="89794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00227" y="1200912"/>
              <a:ext cx="8598408" cy="350977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01752" y="1225295"/>
              <a:ext cx="5006340" cy="483108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78892" y="1179576"/>
              <a:ext cx="8586216" cy="3497579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78892" y="1179576"/>
              <a:ext cx="8586470" cy="3497579"/>
            </a:xfrm>
            <a:custGeom>
              <a:avLst/>
              <a:gdLst/>
              <a:ahLst/>
              <a:cxnLst/>
              <a:rect l="l" t="t" r="r" b="b"/>
              <a:pathLst>
                <a:path w="8586470" h="3497579">
                  <a:moveTo>
                    <a:pt x="0" y="145796"/>
                  </a:moveTo>
                  <a:lnTo>
                    <a:pt x="7430" y="99714"/>
                  </a:lnTo>
                  <a:lnTo>
                    <a:pt x="28120" y="59692"/>
                  </a:lnTo>
                  <a:lnTo>
                    <a:pt x="59670" y="28131"/>
                  </a:lnTo>
                  <a:lnTo>
                    <a:pt x="99678" y="7433"/>
                  </a:lnTo>
                  <a:lnTo>
                    <a:pt x="145745" y="0"/>
                  </a:lnTo>
                  <a:lnTo>
                    <a:pt x="8440419" y="0"/>
                  </a:lnTo>
                  <a:lnTo>
                    <a:pt x="8486501" y="7433"/>
                  </a:lnTo>
                  <a:lnTo>
                    <a:pt x="8526523" y="28131"/>
                  </a:lnTo>
                  <a:lnTo>
                    <a:pt x="8558084" y="59692"/>
                  </a:lnTo>
                  <a:lnTo>
                    <a:pt x="8578782" y="99714"/>
                  </a:lnTo>
                  <a:lnTo>
                    <a:pt x="8586216" y="145796"/>
                  </a:lnTo>
                  <a:lnTo>
                    <a:pt x="8586216" y="3351784"/>
                  </a:lnTo>
                  <a:lnTo>
                    <a:pt x="8578782" y="3397865"/>
                  </a:lnTo>
                  <a:lnTo>
                    <a:pt x="8558084" y="3437887"/>
                  </a:lnTo>
                  <a:lnTo>
                    <a:pt x="8526523" y="3469448"/>
                  </a:lnTo>
                  <a:lnTo>
                    <a:pt x="8486501" y="3490146"/>
                  </a:lnTo>
                  <a:lnTo>
                    <a:pt x="8440419" y="3497579"/>
                  </a:lnTo>
                  <a:lnTo>
                    <a:pt x="145745" y="3497579"/>
                  </a:lnTo>
                  <a:lnTo>
                    <a:pt x="99678" y="3490146"/>
                  </a:lnTo>
                  <a:lnTo>
                    <a:pt x="59670" y="3469448"/>
                  </a:lnTo>
                  <a:lnTo>
                    <a:pt x="28120" y="3437887"/>
                  </a:lnTo>
                  <a:lnTo>
                    <a:pt x="7430" y="3397865"/>
                  </a:lnTo>
                  <a:lnTo>
                    <a:pt x="0" y="3351784"/>
                  </a:lnTo>
                  <a:lnTo>
                    <a:pt x="0" y="145796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400913" y="1253997"/>
            <a:ext cx="4754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Verdana"/>
                <a:cs typeface="Verdana"/>
              </a:rPr>
              <a:t>Key </a:t>
            </a:r>
            <a:r>
              <a:rPr sz="1800" b="1" spc="-5" dirty="0">
                <a:latin typeface="Verdana"/>
                <a:cs typeface="Verdana"/>
              </a:rPr>
              <a:t>Points </a:t>
            </a:r>
            <a:r>
              <a:rPr sz="1800" b="1" dirty="0">
                <a:latin typeface="Verdana"/>
                <a:cs typeface="Verdana"/>
              </a:rPr>
              <a:t>of VPN </a:t>
            </a:r>
            <a:r>
              <a:rPr sz="1800" b="1" spc="-5" dirty="0">
                <a:latin typeface="Verdana"/>
                <a:cs typeface="Verdana"/>
              </a:rPr>
              <a:t>NAP</a:t>
            </a:r>
            <a:r>
              <a:rPr sz="1800" b="1" spc="-4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Enforcement: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607885" y="1735645"/>
            <a:ext cx="7920990" cy="785495"/>
            <a:chOff x="607885" y="1735645"/>
            <a:chExt cx="7920990" cy="785495"/>
          </a:xfrm>
        </p:grpSpPr>
        <p:sp>
          <p:nvSpPr>
            <p:cNvPr id="48" name="object 48"/>
            <p:cNvSpPr/>
            <p:nvPr/>
          </p:nvSpPr>
          <p:spPr>
            <a:xfrm>
              <a:off x="612648" y="1740407"/>
              <a:ext cx="7911465" cy="775970"/>
            </a:xfrm>
            <a:custGeom>
              <a:avLst/>
              <a:gdLst/>
              <a:ahLst/>
              <a:cxnLst/>
              <a:rect l="l" t="t" r="r" b="b"/>
              <a:pathLst>
                <a:path w="7911465" h="775969">
                  <a:moveTo>
                    <a:pt x="7878699" y="0"/>
                  </a:moveTo>
                  <a:lnTo>
                    <a:pt x="32321" y="0"/>
                  </a:lnTo>
                  <a:lnTo>
                    <a:pt x="19738" y="2541"/>
                  </a:lnTo>
                  <a:lnTo>
                    <a:pt x="9464" y="9477"/>
                  </a:lnTo>
                  <a:lnTo>
                    <a:pt x="2539" y="19770"/>
                  </a:lnTo>
                  <a:lnTo>
                    <a:pt x="0" y="32384"/>
                  </a:lnTo>
                  <a:lnTo>
                    <a:pt x="0" y="743330"/>
                  </a:lnTo>
                  <a:lnTo>
                    <a:pt x="2539" y="755945"/>
                  </a:lnTo>
                  <a:lnTo>
                    <a:pt x="9464" y="766238"/>
                  </a:lnTo>
                  <a:lnTo>
                    <a:pt x="19738" y="773174"/>
                  </a:lnTo>
                  <a:lnTo>
                    <a:pt x="32321" y="775715"/>
                  </a:lnTo>
                  <a:lnTo>
                    <a:pt x="7878699" y="775715"/>
                  </a:lnTo>
                  <a:lnTo>
                    <a:pt x="7891313" y="773174"/>
                  </a:lnTo>
                  <a:lnTo>
                    <a:pt x="7901606" y="766238"/>
                  </a:lnTo>
                  <a:lnTo>
                    <a:pt x="7908542" y="755945"/>
                  </a:lnTo>
                  <a:lnTo>
                    <a:pt x="7911083" y="743330"/>
                  </a:lnTo>
                  <a:lnTo>
                    <a:pt x="7911083" y="32384"/>
                  </a:lnTo>
                  <a:lnTo>
                    <a:pt x="7908542" y="19770"/>
                  </a:lnTo>
                  <a:lnTo>
                    <a:pt x="7901606" y="9477"/>
                  </a:lnTo>
                  <a:lnTo>
                    <a:pt x="7891313" y="2541"/>
                  </a:lnTo>
                  <a:lnTo>
                    <a:pt x="7878699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12648" y="1740407"/>
              <a:ext cx="7911465" cy="775970"/>
            </a:xfrm>
            <a:custGeom>
              <a:avLst/>
              <a:gdLst/>
              <a:ahLst/>
              <a:cxnLst/>
              <a:rect l="l" t="t" r="r" b="b"/>
              <a:pathLst>
                <a:path w="7911465" h="775969">
                  <a:moveTo>
                    <a:pt x="0" y="32384"/>
                  </a:moveTo>
                  <a:lnTo>
                    <a:pt x="2539" y="19770"/>
                  </a:lnTo>
                  <a:lnTo>
                    <a:pt x="9464" y="9477"/>
                  </a:lnTo>
                  <a:lnTo>
                    <a:pt x="19738" y="2541"/>
                  </a:lnTo>
                  <a:lnTo>
                    <a:pt x="32321" y="0"/>
                  </a:lnTo>
                  <a:lnTo>
                    <a:pt x="7878699" y="0"/>
                  </a:lnTo>
                  <a:lnTo>
                    <a:pt x="7891313" y="2541"/>
                  </a:lnTo>
                  <a:lnTo>
                    <a:pt x="7901606" y="9477"/>
                  </a:lnTo>
                  <a:lnTo>
                    <a:pt x="7908542" y="19770"/>
                  </a:lnTo>
                  <a:lnTo>
                    <a:pt x="7911083" y="32384"/>
                  </a:lnTo>
                  <a:lnTo>
                    <a:pt x="7911083" y="743330"/>
                  </a:lnTo>
                  <a:lnTo>
                    <a:pt x="7908542" y="755945"/>
                  </a:lnTo>
                  <a:lnTo>
                    <a:pt x="7901606" y="766238"/>
                  </a:lnTo>
                  <a:lnTo>
                    <a:pt x="7891313" y="773174"/>
                  </a:lnTo>
                  <a:lnTo>
                    <a:pt x="7878699" y="775715"/>
                  </a:lnTo>
                  <a:lnTo>
                    <a:pt x="32321" y="775715"/>
                  </a:lnTo>
                  <a:lnTo>
                    <a:pt x="19738" y="773174"/>
                  </a:lnTo>
                  <a:lnTo>
                    <a:pt x="9464" y="766238"/>
                  </a:lnTo>
                  <a:lnTo>
                    <a:pt x="2539" y="755945"/>
                  </a:lnTo>
                  <a:lnTo>
                    <a:pt x="0" y="743330"/>
                  </a:lnTo>
                  <a:lnTo>
                    <a:pt x="0" y="32384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649541" y="1870329"/>
            <a:ext cx="2073910" cy="488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8600" marR="13970" indent="-228600" algn="r">
              <a:lnSpc>
                <a:spcPts val="1825"/>
              </a:lnSpc>
              <a:spcBef>
                <a:spcPts val="95"/>
              </a:spcBef>
              <a:buClr>
                <a:srgbClr val="006699"/>
              </a:buClr>
              <a:buFont typeface="Verdana"/>
              <a:buChar char="•"/>
              <a:tabLst>
                <a:tab pos="228600" algn="l"/>
              </a:tabLst>
            </a:pPr>
            <a:r>
              <a:rPr sz="1600" b="1" spc="-5" dirty="0">
                <a:latin typeface="Verdana"/>
                <a:cs typeface="Verdana"/>
              </a:rPr>
              <a:t>Computer</a:t>
            </a:r>
            <a:r>
              <a:rPr sz="1600" b="1" spc="-60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must</a:t>
            </a:r>
            <a:endParaRPr sz="1600">
              <a:latin typeface="Verdana"/>
              <a:cs typeface="Verdana"/>
            </a:endParaRPr>
          </a:p>
          <a:p>
            <a:pPr marR="43815" algn="r">
              <a:lnSpc>
                <a:spcPts val="1825"/>
              </a:lnSpc>
            </a:pPr>
            <a:r>
              <a:rPr sz="1600" b="1" spc="-5" dirty="0">
                <a:latin typeface="Verdana"/>
                <a:cs typeface="Verdana"/>
              </a:rPr>
              <a:t>access</a:t>
            </a:r>
            <a:r>
              <a:rPr sz="1600" b="1" spc="-40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through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728941" y="1870329"/>
            <a:ext cx="4794885" cy="488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1275">
              <a:lnSpc>
                <a:spcPts val="1825"/>
              </a:lnSpc>
              <a:spcBef>
                <a:spcPts val="95"/>
              </a:spcBef>
            </a:pPr>
            <a:r>
              <a:rPr sz="1600" b="1" spc="-10" dirty="0">
                <a:latin typeface="Verdana"/>
                <a:cs typeface="Verdana"/>
              </a:rPr>
              <a:t>be compliant </a:t>
            </a:r>
            <a:r>
              <a:rPr sz="1600" b="1" spc="-5" dirty="0">
                <a:latin typeface="Verdana"/>
                <a:cs typeface="Verdana"/>
              </a:rPr>
              <a:t>to obtain </a:t>
            </a:r>
            <a:r>
              <a:rPr sz="1600" b="1" spc="-10" dirty="0">
                <a:latin typeface="Verdana"/>
                <a:cs typeface="Verdana"/>
              </a:rPr>
              <a:t>unlimited</a:t>
            </a:r>
            <a:r>
              <a:rPr sz="1600" b="1" spc="140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network</a:t>
            </a:r>
            <a:endParaRPr sz="1600">
              <a:latin typeface="Verdana"/>
              <a:cs typeface="Verdana"/>
            </a:endParaRPr>
          </a:p>
          <a:p>
            <a:pPr marL="12700">
              <a:lnSpc>
                <a:spcPts val="1825"/>
              </a:lnSpc>
            </a:pPr>
            <a:r>
              <a:rPr sz="1600" b="1" spc="-5" dirty="0">
                <a:latin typeface="Verdana"/>
                <a:cs typeface="Verdana"/>
              </a:rPr>
              <a:t>a </a:t>
            </a:r>
            <a:r>
              <a:rPr sz="1600" b="1" spc="-10" dirty="0">
                <a:latin typeface="Verdana"/>
                <a:cs typeface="Verdana"/>
              </a:rPr>
              <a:t>remote </a:t>
            </a:r>
            <a:r>
              <a:rPr sz="1600" b="1" spc="-5" dirty="0">
                <a:latin typeface="Verdana"/>
                <a:cs typeface="Verdana"/>
              </a:rPr>
              <a:t>access VPN</a:t>
            </a:r>
            <a:r>
              <a:rPr sz="1600" b="1" spc="70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connection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604837" y="2621089"/>
            <a:ext cx="7924165" cy="1672589"/>
            <a:chOff x="604837" y="2621089"/>
            <a:chExt cx="7924165" cy="1672589"/>
          </a:xfrm>
        </p:grpSpPr>
        <p:sp>
          <p:nvSpPr>
            <p:cNvPr id="53" name="object 53"/>
            <p:cNvSpPr/>
            <p:nvPr/>
          </p:nvSpPr>
          <p:spPr>
            <a:xfrm>
              <a:off x="612648" y="2625851"/>
              <a:ext cx="7911465" cy="775970"/>
            </a:xfrm>
            <a:custGeom>
              <a:avLst/>
              <a:gdLst/>
              <a:ahLst/>
              <a:cxnLst/>
              <a:rect l="l" t="t" r="r" b="b"/>
              <a:pathLst>
                <a:path w="7911465" h="775970">
                  <a:moveTo>
                    <a:pt x="7878699" y="0"/>
                  </a:moveTo>
                  <a:lnTo>
                    <a:pt x="32321" y="0"/>
                  </a:lnTo>
                  <a:lnTo>
                    <a:pt x="19738" y="2541"/>
                  </a:lnTo>
                  <a:lnTo>
                    <a:pt x="9464" y="9477"/>
                  </a:lnTo>
                  <a:lnTo>
                    <a:pt x="2539" y="19770"/>
                  </a:lnTo>
                  <a:lnTo>
                    <a:pt x="0" y="32385"/>
                  </a:lnTo>
                  <a:lnTo>
                    <a:pt x="0" y="743331"/>
                  </a:lnTo>
                  <a:lnTo>
                    <a:pt x="2539" y="755945"/>
                  </a:lnTo>
                  <a:lnTo>
                    <a:pt x="9464" y="766238"/>
                  </a:lnTo>
                  <a:lnTo>
                    <a:pt x="19738" y="773174"/>
                  </a:lnTo>
                  <a:lnTo>
                    <a:pt x="32321" y="775715"/>
                  </a:lnTo>
                  <a:lnTo>
                    <a:pt x="7878699" y="775715"/>
                  </a:lnTo>
                  <a:lnTo>
                    <a:pt x="7891313" y="773174"/>
                  </a:lnTo>
                  <a:lnTo>
                    <a:pt x="7901606" y="766238"/>
                  </a:lnTo>
                  <a:lnTo>
                    <a:pt x="7908542" y="755945"/>
                  </a:lnTo>
                  <a:lnTo>
                    <a:pt x="7911083" y="743331"/>
                  </a:lnTo>
                  <a:lnTo>
                    <a:pt x="7911083" y="32385"/>
                  </a:lnTo>
                  <a:lnTo>
                    <a:pt x="7908542" y="19770"/>
                  </a:lnTo>
                  <a:lnTo>
                    <a:pt x="7901606" y="9477"/>
                  </a:lnTo>
                  <a:lnTo>
                    <a:pt x="7891313" y="2541"/>
                  </a:lnTo>
                  <a:lnTo>
                    <a:pt x="7878699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12648" y="2625851"/>
              <a:ext cx="7911465" cy="775970"/>
            </a:xfrm>
            <a:custGeom>
              <a:avLst/>
              <a:gdLst/>
              <a:ahLst/>
              <a:cxnLst/>
              <a:rect l="l" t="t" r="r" b="b"/>
              <a:pathLst>
                <a:path w="7911465" h="775970">
                  <a:moveTo>
                    <a:pt x="0" y="32385"/>
                  </a:moveTo>
                  <a:lnTo>
                    <a:pt x="2539" y="19770"/>
                  </a:lnTo>
                  <a:lnTo>
                    <a:pt x="9464" y="9477"/>
                  </a:lnTo>
                  <a:lnTo>
                    <a:pt x="19738" y="2541"/>
                  </a:lnTo>
                  <a:lnTo>
                    <a:pt x="32321" y="0"/>
                  </a:lnTo>
                  <a:lnTo>
                    <a:pt x="7878699" y="0"/>
                  </a:lnTo>
                  <a:lnTo>
                    <a:pt x="7891313" y="2541"/>
                  </a:lnTo>
                  <a:lnTo>
                    <a:pt x="7901606" y="9477"/>
                  </a:lnTo>
                  <a:lnTo>
                    <a:pt x="7908542" y="19770"/>
                  </a:lnTo>
                  <a:lnTo>
                    <a:pt x="7911083" y="32385"/>
                  </a:lnTo>
                  <a:lnTo>
                    <a:pt x="7911083" y="743331"/>
                  </a:lnTo>
                  <a:lnTo>
                    <a:pt x="7908542" y="755945"/>
                  </a:lnTo>
                  <a:lnTo>
                    <a:pt x="7901606" y="766238"/>
                  </a:lnTo>
                  <a:lnTo>
                    <a:pt x="7891313" y="773174"/>
                  </a:lnTo>
                  <a:lnTo>
                    <a:pt x="7878699" y="775715"/>
                  </a:lnTo>
                  <a:lnTo>
                    <a:pt x="32321" y="775715"/>
                  </a:lnTo>
                  <a:lnTo>
                    <a:pt x="19738" y="773174"/>
                  </a:lnTo>
                  <a:lnTo>
                    <a:pt x="9464" y="766238"/>
                  </a:lnTo>
                  <a:lnTo>
                    <a:pt x="2539" y="755945"/>
                  </a:lnTo>
                  <a:lnTo>
                    <a:pt x="0" y="743331"/>
                  </a:lnTo>
                  <a:lnTo>
                    <a:pt x="0" y="32385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09600" y="3511295"/>
              <a:ext cx="7911465" cy="777240"/>
            </a:xfrm>
            <a:custGeom>
              <a:avLst/>
              <a:gdLst/>
              <a:ahLst/>
              <a:cxnLst/>
              <a:rect l="l" t="t" r="r" b="b"/>
              <a:pathLst>
                <a:path w="7911465" h="777239">
                  <a:moveTo>
                    <a:pt x="7878699" y="0"/>
                  </a:moveTo>
                  <a:lnTo>
                    <a:pt x="32397" y="0"/>
                  </a:lnTo>
                  <a:lnTo>
                    <a:pt x="19786" y="2541"/>
                  </a:lnTo>
                  <a:lnTo>
                    <a:pt x="9488" y="9477"/>
                  </a:lnTo>
                  <a:lnTo>
                    <a:pt x="2545" y="19770"/>
                  </a:lnTo>
                  <a:lnTo>
                    <a:pt x="0" y="32384"/>
                  </a:lnTo>
                  <a:lnTo>
                    <a:pt x="0" y="744854"/>
                  </a:lnTo>
                  <a:lnTo>
                    <a:pt x="2545" y="757469"/>
                  </a:lnTo>
                  <a:lnTo>
                    <a:pt x="9488" y="767762"/>
                  </a:lnTo>
                  <a:lnTo>
                    <a:pt x="19786" y="774698"/>
                  </a:lnTo>
                  <a:lnTo>
                    <a:pt x="32397" y="777239"/>
                  </a:lnTo>
                  <a:lnTo>
                    <a:pt x="7878699" y="777239"/>
                  </a:lnTo>
                  <a:lnTo>
                    <a:pt x="7891313" y="774698"/>
                  </a:lnTo>
                  <a:lnTo>
                    <a:pt x="7901606" y="767762"/>
                  </a:lnTo>
                  <a:lnTo>
                    <a:pt x="7908542" y="757469"/>
                  </a:lnTo>
                  <a:lnTo>
                    <a:pt x="7911083" y="744854"/>
                  </a:lnTo>
                  <a:lnTo>
                    <a:pt x="7911083" y="32384"/>
                  </a:lnTo>
                  <a:lnTo>
                    <a:pt x="7908542" y="19770"/>
                  </a:lnTo>
                  <a:lnTo>
                    <a:pt x="7901606" y="9477"/>
                  </a:lnTo>
                  <a:lnTo>
                    <a:pt x="7891313" y="2541"/>
                  </a:lnTo>
                  <a:lnTo>
                    <a:pt x="7878699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09600" y="3511295"/>
              <a:ext cx="7911465" cy="777240"/>
            </a:xfrm>
            <a:custGeom>
              <a:avLst/>
              <a:gdLst/>
              <a:ahLst/>
              <a:cxnLst/>
              <a:rect l="l" t="t" r="r" b="b"/>
              <a:pathLst>
                <a:path w="7911465" h="777239">
                  <a:moveTo>
                    <a:pt x="0" y="32384"/>
                  </a:moveTo>
                  <a:lnTo>
                    <a:pt x="2545" y="19770"/>
                  </a:lnTo>
                  <a:lnTo>
                    <a:pt x="9488" y="9477"/>
                  </a:lnTo>
                  <a:lnTo>
                    <a:pt x="19786" y="2541"/>
                  </a:lnTo>
                  <a:lnTo>
                    <a:pt x="32397" y="0"/>
                  </a:lnTo>
                  <a:lnTo>
                    <a:pt x="7878699" y="0"/>
                  </a:lnTo>
                  <a:lnTo>
                    <a:pt x="7891313" y="2541"/>
                  </a:lnTo>
                  <a:lnTo>
                    <a:pt x="7901606" y="9477"/>
                  </a:lnTo>
                  <a:lnTo>
                    <a:pt x="7908542" y="19770"/>
                  </a:lnTo>
                  <a:lnTo>
                    <a:pt x="7911083" y="32384"/>
                  </a:lnTo>
                  <a:lnTo>
                    <a:pt x="7911083" y="744854"/>
                  </a:lnTo>
                  <a:lnTo>
                    <a:pt x="7908542" y="757469"/>
                  </a:lnTo>
                  <a:lnTo>
                    <a:pt x="7901606" y="767762"/>
                  </a:lnTo>
                  <a:lnTo>
                    <a:pt x="7891313" y="774698"/>
                  </a:lnTo>
                  <a:lnTo>
                    <a:pt x="7878699" y="777239"/>
                  </a:lnTo>
                  <a:lnTo>
                    <a:pt x="32397" y="777239"/>
                  </a:lnTo>
                  <a:lnTo>
                    <a:pt x="19786" y="774698"/>
                  </a:lnTo>
                  <a:lnTo>
                    <a:pt x="9488" y="767762"/>
                  </a:lnTo>
                  <a:lnTo>
                    <a:pt x="2545" y="757469"/>
                  </a:lnTo>
                  <a:lnTo>
                    <a:pt x="0" y="744854"/>
                  </a:lnTo>
                  <a:lnTo>
                    <a:pt x="0" y="32384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698093" y="2646679"/>
            <a:ext cx="7642859" cy="159385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243840" marR="144145" indent="-228600">
              <a:lnSpc>
                <a:spcPts val="1730"/>
              </a:lnSpc>
              <a:spcBef>
                <a:spcPts val="310"/>
              </a:spcBef>
              <a:buClr>
                <a:srgbClr val="006699"/>
              </a:buClr>
              <a:buFont typeface="Verdana"/>
              <a:buChar char="•"/>
              <a:tabLst>
                <a:tab pos="244475" algn="l"/>
              </a:tabLst>
            </a:pPr>
            <a:r>
              <a:rPr sz="1600" b="1" spc="-5" dirty="0">
                <a:latin typeface="Verdana"/>
                <a:cs typeface="Verdana"/>
              </a:rPr>
              <a:t>Noncompliant computers </a:t>
            </a:r>
            <a:r>
              <a:rPr sz="1600" b="1" spc="-10" dirty="0">
                <a:latin typeface="Verdana"/>
                <a:cs typeface="Verdana"/>
              </a:rPr>
              <a:t>have network </a:t>
            </a:r>
            <a:r>
              <a:rPr sz="1600" b="1" spc="-5" dirty="0">
                <a:latin typeface="Verdana"/>
                <a:cs typeface="Verdana"/>
              </a:rPr>
              <a:t>access </a:t>
            </a:r>
            <a:r>
              <a:rPr sz="1600" b="1" spc="-10" dirty="0">
                <a:latin typeface="Verdana"/>
                <a:cs typeface="Verdana"/>
              </a:rPr>
              <a:t>limited through  </a:t>
            </a:r>
            <a:r>
              <a:rPr sz="1600" b="1" spc="-5" dirty="0">
                <a:latin typeface="Verdana"/>
                <a:cs typeface="Verdana"/>
              </a:rPr>
              <a:t>a </a:t>
            </a:r>
            <a:r>
              <a:rPr sz="1600" b="1" spc="-10" dirty="0">
                <a:latin typeface="Verdana"/>
                <a:cs typeface="Verdana"/>
              </a:rPr>
              <a:t>set </a:t>
            </a:r>
            <a:r>
              <a:rPr sz="1600" b="1" spc="-5" dirty="0">
                <a:latin typeface="Verdana"/>
                <a:cs typeface="Verdana"/>
              </a:rPr>
              <a:t>of IP </a:t>
            </a:r>
            <a:r>
              <a:rPr sz="1600" b="1" spc="-10" dirty="0">
                <a:latin typeface="Verdana"/>
                <a:cs typeface="Verdana"/>
              </a:rPr>
              <a:t>packet filters </a:t>
            </a:r>
            <a:r>
              <a:rPr sz="1600" b="1" spc="-5" dirty="0">
                <a:latin typeface="Verdana"/>
                <a:cs typeface="Verdana"/>
              </a:rPr>
              <a:t>that are applied to the VPN </a:t>
            </a:r>
            <a:r>
              <a:rPr sz="1600" b="1" spc="-10" dirty="0">
                <a:latin typeface="Verdana"/>
                <a:cs typeface="Verdana"/>
              </a:rPr>
              <a:t>connection  by </a:t>
            </a:r>
            <a:r>
              <a:rPr sz="1600" b="1" spc="-5" dirty="0">
                <a:latin typeface="Verdana"/>
                <a:cs typeface="Verdana"/>
              </a:rPr>
              <a:t>the VPN</a:t>
            </a:r>
            <a:r>
              <a:rPr sz="1600" b="1" spc="15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server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006699"/>
              </a:buClr>
              <a:buFont typeface="Verdana"/>
              <a:buChar char="•"/>
            </a:pPr>
            <a:endParaRPr sz="1450">
              <a:latin typeface="Verdana"/>
              <a:cs typeface="Verdana"/>
            </a:endParaRPr>
          </a:p>
          <a:p>
            <a:pPr marL="241300" marR="5080" indent="-228600" algn="just">
              <a:lnSpc>
                <a:spcPts val="1730"/>
              </a:lnSpc>
              <a:buClr>
                <a:srgbClr val="006699"/>
              </a:buClr>
              <a:buFont typeface="Verdana"/>
              <a:buChar char="•"/>
              <a:tabLst>
                <a:tab pos="241300" algn="l"/>
              </a:tabLst>
            </a:pPr>
            <a:r>
              <a:rPr sz="1600" b="1" spc="-5" dirty="0">
                <a:latin typeface="Verdana"/>
                <a:cs typeface="Verdana"/>
              </a:rPr>
              <a:t>VPN </a:t>
            </a:r>
            <a:r>
              <a:rPr sz="1600" b="1" spc="-10" dirty="0">
                <a:latin typeface="Verdana"/>
                <a:cs typeface="Verdana"/>
              </a:rPr>
              <a:t>enforcement actively monitors </a:t>
            </a:r>
            <a:r>
              <a:rPr sz="1600" b="1" spc="-5" dirty="0">
                <a:latin typeface="Verdana"/>
                <a:cs typeface="Verdana"/>
              </a:rPr>
              <a:t>the </a:t>
            </a:r>
            <a:r>
              <a:rPr sz="1600" b="1" spc="-10" dirty="0">
                <a:latin typeface="Verdana"/>
                <a:cs typeface="Verdana"/>
              </a:rPr>
              <a:t>health </a:t>
            </a:r>
            <a:r>
              <a:rPr sz="1600" b="1" spc="-5" dirty="0">
                <a:latin typeface="Verdana"/>
                <a:cs typeface="Verdana"/>
              </a:rPr>
              <a:t>status of the NAP  </a:t>
            </a:r>
            <a:r>
              <a:rPr sz="1600" b="1" spc="-10" dirty="0">
                <a:latin typeface="Verdana"/>
                <a:cs typeface="Verdana"/>
              </a:rPr>
              <a:t>client </a:t>
            </a:r>
            <a:r>
              <a:rPr sz="1600" b="1" spc="-5" dirty="0">
                <a:latin typeface="Verdana"/>
                <a:cs typeface="Verdana"/>
              </a:rPr>
              <a:t>and applies the IP </a:t>
            </a:r>
            <a:r>
              <a:rPr sz="1600" b="1" spc="-10" dirty="0">
                <a:latin typeface="Verdana"/>
                <a:cs typeface="Verdana"/>
              </a:rPr>
              <a:t>packet filters for </a:t>
            </a:r>
            <a:r>
              <a:rPr sz="1600" b="1" spc="-5" dirty="0">
                <a:latin typeface="Verdana"/>
                <a:cs typeface="Verdana"/>
              </a:rPr>
              <a:t>the </a:t>
            </a:r>
            <a:r>
              <a:rPr sz="1600" b="1" spc="-10" dirty="0">
                <a:latin typeface="Verdana"/>
                <a:cs typeface="Verdana"/>
              </a:rPr>
              <a:t>restricted network  </a:t>
            </a:r>
            <a:r>
              <a:rPr sz="1600" b="1" spc="-5" dirty="0">
                <a:latin typeface="Verdana"/>
                <a:cs typeface="Verdana"/>
              </a:rPr>
              <a:t>to the VPN </a:t>
            </a:r>
            <a:r>
              <a:rPr sz="1600" b="1" spc="-10" dirty="0">
                <a:latin typeface="Verdana"/>
                <a:cs typeface="Verdana"/>
              </a:rPr>
              <a:t>connection if </a:t>
            </a:r>
            <a:r>
              <a:rPr sz="1600" b="1" spc="-5" dirty="0">
                <a:latin typeface="Verdana"/>
                <a:cs typeface="Verdana"/>
              </a:rPr>
              <a:t>the </a:t>
            </a:r>
            <a:r>
              <a:rPr sz="1600" b="1" spc="-10" dirty="0">
                <a:latin typeface="Verdana"/>
                <a:cs typeface="Verdana"/>
              </a:rPr>
              <a:t>client becomes</a:t>
            </a:r>
            <a:r>
              <a:rPr sz="1600" b="1" spc="145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noncompliant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8036052" y="6265164"/>
            <a:ext cx="928369" cy="440690"/>
            <a:chOff x="8036052" y="6265164"/>
            <a:chExt cx="928369" cy="440690"/>
          </a:xfrm>
        </p:grpSpPr>
        <p:sp>
          <p:nvSpPr>
            <p:cNvPr id="59" name="object 59"/>
            <p:cNvSpPr/>
            <p:nvPr/>
          </p:nvSpPr>
          <p:spPr>
            <a:xfrm>
              <a:off x="8046720" y="6275832"/>
              <a:ext cx="917448" cy="429768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8036052" y="6265164"/>
              <a:ext cx="914400" cy="426720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8214360" y="6397752"/>
              <a:ext cx="187451" cy="178307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8232648" y="6391656"/>
              <a:ext cx="175259" cy="166115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8228076" y="6387084"/>
              <a:ext cx="184403" cy="175259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8523732" y="6356604"/>
              <a:ext cx="304800" cy="243839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8596884" y="6423660"/>
              <a:ext cx="134111" cy="134112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8615172" y="6417564"/>
              <a:ext cx="121920" cy="121920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8615172" y="6417564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20">
                  <a:moveTo>
                    <a:pt x="0" y="121920"/>
                  </a:moveTo>
                  <a:lnTo>
                    <a:pt x="121920" y="121920"/>
                  </a:lnTo>
                  <a:lnTo>
                    <a:pt x="121920" y="0"/>
                  </a:lnTo>
                  <a:lnTo>
                    <a:pt x="0" y="0"/>
                  </a:lnTo>
                  <a:lnTo>
                    <a:pt x="0" y="121920"/>
                  </a:lnTo>
                  <a:close/>
                </a:path>
              </a:pathLst>
            </a:custGeom>
            <a:ln w="9144">
              <a:solidFill>
                <a:srgbClr val="666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29305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Verdana"/>
                <a:cs typeface="Verdana"/>
              </a:rPr>
              <a:t>DHCP</a:t>
            </a:r>
            <a:r>
              <a:rPr sz="2400" spc="-8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Enforcement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3359" y="1058996"/>
            <a:ext cx="8667750" cy="485965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740660">
              <a:lnSpc>
                <a:spcPct val="100000"/>
              </a:lnSpc>
              <a:spcBef>
                <a:spcPts val="5"/>
              </a:spcBef>
            </a:pPr>
            <a:r>
              <a:rPr sz="1200" b="1" spc="-5" dirty="0">
                <a:latin typeface="Verdana"/>
                <a:cs typeface="Verdana"/>
              </a:rPr>
              <a:t>VPN Server</a:t>
            </a:r>
            <a:endParaRPr sz="1200">
              <a:latin typeface="Verdana"/>
              <a:cs typeface="Verdana"/>
            </a:endParaRPr>
          </a:p>
          <a:p>
            <a:pPr marL="5055235">
              <a:lnSpc>
                <a:spcPct val="100000"/>
              </a:lnSpc>
              <a:spcBef>
                <a:spcPts val="520"/>
              </a:spcBef>
              <a:tabLst>
                <a:tab pos="7481570" algn="l"/>
              </a:tabLst>
            </a:pPr>
            <a:r>
              <a:rPr sz="1200" b="1" dirty="0">
                <a:latin typeface="Verdana"/>
                <a:cs typeface="Verdana"/>
              </a:rPr>
              <a:t>Active	</a:t>
            </a:r>
            <a:r>
              <a:rPr sz="1200" b="1" spc="-5" dirty="0">
                <a:latin typeface="Verdana"/>
                <a:cs typeface="Verdana"/>
              </a:rPr>
              <a:t>IEEE 802.1X</a:t>
            </a:r>
            <a:endParaRPr sz="1200">
              <a:latin typeface="Verdana"/>
              <a:cs typeface="Verdana"/>
            </a:endParaRPr>
          </a:p>
          <a:p>
            <a:pPr marL="5055235">
              <a:lnSpc>
                <a:spcPct val="100000"/>
              </a:lnSpc>
              <a:spcBef>
                <a:spcPts val="5"/>
              </a:spcBef>
              <a:tabLst>
                <a:tab pos="7481570" algn="l"/>
              </a:tabLst>
            </a:pPr>
            <a:r>
              <a:rPr sz="1800" b="1" spc="-7" baseline="2314" dirty="0">
                <a:latin typeface="Verdana"/>
                <a:cs typeface="Verdana"/>
              </a:rPr>
              <a:t>Directory	</a:t>
            </a:r>
            <a:r>
              <a:rPr sz="1200" b="1" spc="-5" dirty="0">
                <a:latin typeface="Verdana"/>
                <a:cs typeface="Verdana"/>
              </a:rPr>
              <a:t>Devices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950">
              <a:latin typeface="Verdana"/>
              <a:cs typeface="Verdana"/>
            </a:endParaRPr>
          </a:p>
          <a:p>
            <a:pPr marL="5569585" marR="2038350">
              <a:lnSpc>
                <a:spcPct val="100000"/>
              </a:lnSpc>
            </a:pPr>
            <a:r>
              <a:rPr sz="1200" b="1" spc="-5" dirty="0">
                <a:latin typeface="Verdana"/>
                <a:cs typeface="Verdana"/>
              </a:rPr>
              <a:t>Health  R</a:t>
            </a:r>
            <a:r>
              <a:rPr sz="1200" b="1" spc="-10" dirty="0">
                <a:latin typeface="Verdana"/>
                <a:cs typeface="Verdana"/>
              </a:rPr>
              <a:t>e</a:t>
            </a:r>
            <a:r>
              <a:rPr sz="1200" b="1" spc="-5" dirty="0">
                <a:latin typeface="Verdana"/>
                <a:cs typeface="Verdana"/>
              </a:rPr>
              <a:t>gi</a:t>
            </a:r>
            <a:r>
              <a:rPr sz="1200" b="1" spc="-10" dirty="0">
                <a:latin typeface="Verdana"/>
                <a:cs typeface="Verdana"/>
              </a:rPr>
              <a:t>s</a:t>
            </a:r>
            <a:r>
              <a:rPr sz="1200" b="1" dirty="0">
                <a:latin typeface="Verdana"/>
                <a:cs typeface="Verdana"/>
              </a:rPr>
              <a:t>t</a:t>
            </a:r>
            <a:r>
              <a:rPr sz="1200" b="1" spc="-5" dirty="0">
                <a:latin typeface="Verdana"/>
                <a:cs typeface="Verdana"/>
              </a:rPr>
              <a:t>r</a:t>
            </a:r>
            <a:r>
              <a:rPr sz="1200" b="1" dirty="0">
                <a:latin typeface="Verdana"/>
                <a:cs typeface="Verdana"/>
              </a:rPr>
              <a:t>ation  </a:t>
            </a:r>
            <a:r>
              <a:rPr sz="1200" b="1" spc="-5" dirty="0">
                <a:latin typeface="Verdana"/>
                <a:cs typeface="Verdana"/>
              </a:rPr>
              <a:t>Authority</a:t>
            </a:r>
            <a:endParaRPr sz="1200">
              <a:latin typeface="Verdana"/>
              <a:cs typeface="Verdana"/>
            </a:endParaRPr>
          </a:p>
          <a:p>
            <a:pPr>
              <a:lnSpc>
                <a:spcPts val="1695"/>
              </a:lnSpc>
            </a:pPr>
            <a:r>
              <a:rPr sz="1600" b="1" spc="-5" dirty="0">
                <a:latin typeface="Verdana"/>
                <a:cs typeface="Verdana"/>
              </a:rPr>
              <a:t>Internet</a:t>
            </a:r>
            <a:endParaRPr sz="1600">
              <a:latin typeface="Verdana"/>
              <a:cs typeface="Verdana"/>
            </a:endParaRPr>
          </a:p>
          <a:p>
            <a:pPr marR="140335" algn="r">
              <a:lnSpc>
                <a:spcPts val="1245"/>
              </a:lnSpc>
            </a:pPr>
            <a:r>
              <a:rPr sz="1200" b="1" dirty="0">
                <a:latin typeface="Verdana"/>
                <a:cs typeface="Verdana"/>
              </a:rPr>
              <a:t>NAP</a:t>
            </a:r>
            <a:r>
              <a:rPr sz="1200" b="1" spc="-80" dirty="0">
                <a:latin typeface="Verdana"/>
                <a:cs typeface="Verdana"/>
              </a:rPr>
              <a:t> </a:t>
            </a:r>
            <a:r>
              <a:rPr sz="1200" b="1" spc="-5" dirty="0">
                <a:latin typeface="Verdana"/>
                <a:cs typeface="Verdana"/>
              </a:rPr>
              <a:t>Health</a:t>
            </a:r>
            <a:endParaRPr sz="1200">
              <a:latin typeface="Verdana"/>
              <a:cs typeface="Verdana"/>
            </a:endParaRPr>
          </a:p>
          <a:p>
            <a:pPr marL="1868170">
              <a:lnSpc>
                <a:spcPts val="1789"/>
              </a:lnSpc>
              <a:tabLst>
                <a:tab pos="3732529" algn="l"/>
                <a:tab pos="5406390" algn="l"/>
                <a:tab pos="7546340" algn="l"/>
              </a:tabLst>
            </a:pPr>
            <a:r>
              <a:rPr sz="1600" b="1" spc="-10" dirty="0">
                <a:latin typeface="Verdana"/>
                <a:cs typeface="Verdana"/>
              </a:rPr>
              <a:t>Perimeter	</a:t>
            </a:r>
            <a:r>
              <a:rPr sz="1800" b="1" spc="-7" baseline="50925" dirty="0">
                <a:latin typeface="Verdana"/>
                <a:cs typeface="Verdana"/>
              </a:rPr>
              <a:t>DHCP Server	</a:t>
            </a:r>
            <a:r>
              <a:rPr sz="2400" b="1" spc="-7" baseline="1736" dirty="0">
                <a:latin typeface="Verdana"/>
                <a:cs typeface="Verdana"/>
              </a:rPr>
              <a:t>Intranet	</a:t>
            </a:r>
            <a:r>
              <a:rPr sz="1800" b="1" spc="-7" baseline="16203" dirty="0">
                <a:latin typeface="Verdana"/>
                <a:cs typeface="Verdana"/>
              </a:rPr>
              <a:t>Policy</a:t>
            </a:r>
            <a:r>
              <a:rPr sz="1800" b="1" spc="-112" baseline="16203" dirty="0">
                <a:latin typeface="Verdana"/>
                <a:cs typeface="Verdana"/>
              </a:rPr>
              <a:t> </a:t>
            </a:r>
            <a:r>
              <a:rPr sz="1800" b="1" spc="-7" baseline="16203" dirty="0">
                <a:latin typeface="Verdana"/>
                <a:cs typeface="Verdana"/>
              </a:rPr>
              <a:t>Server</a:t>
            </a:r>
            <a:endParaRPr sz="1800" baseline="16203">
              <a:latin typeface="Verdana"/>
              <a:cs typeface="Verdana"/>
            </a:endParaRPr>
          </a:p>
          <a:p>
            <a:pPr marL="1868170">
              <a:lnSpc>
                <a:spcPts val="1825"/>
              </a:lnSpc>
            </a:pPr>
            <a:r>
              <a:rPr sz="1600" b="1" spc="-5" dirty="0">
                <a:latin typeface="Verdana"/>
                <a:cs typeface="Verdana"/>
              </a:rPr>
              <a:t>Network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050">
              <a:latin typeface="Verdana"/>
              <a:cs typeface="Verdana"/>
            </a:endParaRPr>
          </a:p>
          <a:p>
            <a:pPr marL="4791075" marR="2706370">
              <a:lnSpc>
                <a:spcPts val="1730"/>
              </a:lnSpc>
            </a:pPr>
            <a:r>
              <a:rPr sz="1600" b="1" spc="-10" dirty="0">
                <a:latin typeface="Verdana"/>
                <a:cs typeface="Verdana"/>
              </a:rPr>
              <a:t>Restr</a:t>
            </a:r>
            <a:r>
              <a:rPr sz="1600" b="1" spc="-15" dirty="0">
                <a:latin typeface="Verdana"/>
                <a:cs typeface="Verdana"/>
              </a:rPr>
              <a:t>i</a:t>
            </a:r>
            <a:r>
              <a:rPr sz="1600" b="1" spc="-10" dirty="0">
                <a:latin typeface="Verdana"/>
                <a:cs typeface="Verdana"/>
              </a:rPr>
              <a:t>cted  </a:t>
            </a:r>
            <a:r>
              <a:rPr sz="1600" b="1" spc="-5" dirty="0">
                <a:latin typeface="Verdana"/>
                <a:cs typeface="Verdana"/>
              </a:rPr>
              <a:t>Network</a:t>
            </a:r>
            <a:endParaRPr sz="1600">
              <a:latin typeface="Verdana"/>
              <a:cs typeface="Verdana"/>
            </a:endParaRPr>
          </a:p>
          <a:p>
            <a:pPr marL="2131695">
              <a:lnSpc>
                <a:spcPct val="100000"/>
              </a:lnSpc>
              <a:spcBef>
                <a:spcPts val="1650"/>
              </a:spcBef>
              <a:tabLst>
                <a:tab pos="6996430" algn="l"/>
              </a:tabLst>
            </a:pPr>
            <a:r>
              <a:rPr sz="1800" b="1" spc="-7" baseline="32407" dirty="0">
                <a:latin typeface="Verdana"/>
                <a:cs typeface="Verdana"/>
              </a:rPr>
              <a:t>Remediation	</a:t>
            </a:r>
            <a:r>
              <a:rPr sz="1200" b="1" dirty="0">
                <a:latin typeface="Verdana"/>
                <a:cs typeface="Verdana"/>
              </a:rPr>
              <a:t>NAP </a:t>
            </a:r>
            <a:r>
              <a:rPr sz="1200" b="1" spc="-5" dirty="0">
                <a:latin typeface="Verdana"/>
                <a:cs typeface="Verdana"/>
              </a:rPr>
              <a:t>Client</a:t>
            </a:r>
            <a:r>
              <a:rPr sz="1200" b="1" spc="-15" dirty="0">
                <a:latin typeface="Verdana"/>
                <a:cs typeface="Verdana"/>
              </a:rPr>
              <a:t> </a:t>
            </a:r>
            <a:r>
              <a:rPr sz="1200" b="1" spc="-5" dirty="0">
                <a:latin typeface="Verdana"/>
                <a:cs typeface="Verdana"/>
              </a:rPr>
              <a:t>with</a:t>
            </a:r>
            <a:endParaRPr sz="1200">
              <a:latin typeface="Verdana"/>
              <a:cs typeface="Verdana"/>
            </a:endParaRPr>
          </a:p>
          <a:p>
            <a:pPr marL="2131695">
              <a:lnSpc>
                <a:spcPct val="100000"/>
              </a:lnSpc>
              <a:spcBef>
                <a:spcPts val="5"/>
              </a:spcBef>
              <a:tabLst>
                <a:tab pos="6996430" algn="l"/>
              </a:tabLst>
            </a:pPr>
            <a:r>
              <a:rPr sz="1800" b="1" spc="-7" baseline="32407" dirty="0">
                <a:latin typeface="Verdana"/>
                <a:cs typeface="Verdana"/>
              </a:rPr>
              <a:t>Servers	</a:t>
            </a:r>
            <a:r>
              <a:rPr sz="1200" b="1" spc="-5" dirty="0">
                <a:latin typeface="Verdana"/>
                <a:cs typeface="Verdana"/>
              </a:rPr>
              <a:t>limited</a:t>
            </a:r>
            <a:r>
              <a:rPr sz="1200" b="1" spc="10" dirty="0">
                <a:latin typeface="Verdana"/>
                <a:cs typeface="Verdana"/>
              </a:rPr>
              <a:t> </a:t>
            </a:r>
            <a:r>
              <a:rPr sz="1200" b="1" spc="-5" dirty="0">
                <a:latin typeface="Verdana"/>
                <a:cs typeface="Verdana"/>
              </a:rPr>
              <a:t>access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51459" y="1002601"/>
            <a:ext cx="8757285" cy="5154930"/>
            <a:chOff x="251459" y="1002601"/>
            <a:chExt cx="8757285" cy="5154930"/>
          </a:xfrm>
        </p:grpSpPr>
        <p:sp>
          <p:nvSpPr>
            <p:cNvPr id="5" name="object 5"/>
            <p:cNvSpPr/>
            <p:nvPr/>
          </p:nvSpPr>
          <p:spPr>
            <a:xfrm>
              <a:off x="2739389" y="1770126"/>
              <a:ext cx="2100580" cy="0"/>
            </a:xfrm>
            <a:custGeom>
              <a:avLst/>
              <a:gdLst/>
              <a:ahLst/>
              <a:cxnLst/>
              <a:rect l="l" t="t" r="r" b="b"/>
              <a:pathLst>
                <a:path w="2100579">
                  <a:moveTo>
                    <a:pt x="2100072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796283" y="1367027"/>
              <a:ext cx="5122164" cy="278892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771900" y="1342643"/>
              <a:ext cx="5119116" cy="278587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632959" y="2897124"/>
              <a:ext cx="675132" cy="80619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975604" y="2046731"/>
              <a:ext cx="676655" cy="80619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74670" y="2949702"/>
              <a:ext cx="1013460" cy="0"/>
            </a:xfrm>
            <a:custGeom>
              <a:avLst/>
              <a:gdLst/>
              <a:ahLst/>
              <a:cxnLst/>
              <a:rect l="l" t="t" r="r" b="b"/>
              <a:pathLst>
                <a:path w="1013460">
                  <a:moveTo>
                    <a:pt x="1013459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874264" y="2589275"/>
              <a:ext cx="1024127" cy="82296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224534" y="2949702"/>
              <a:ext cx="2100580" cy="0"/>
            </a:xfrm>
            <a:custGeom>
              <a:avLst/>
              <a:gdLst/>
              <a:ahLst/>
              <a:cxnLst/>
              <a:rect l="l" t="t" r="r" b="b"/>
              <a:pathLst>
                <a:path w="2100579">
                  <a:moveTo>
                    <a:pt x="2100071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527048" y="2587752"/>
              <a:ext cx="1024128" cy="82296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51459" y="2491739"/>
              <a:ext cx="926591" cy="92049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68145" y="2892552"/>
              <a:ext cx="734695" cy="114300"/>
            </a:xfrm>
            <a:custGeom>
              <a:avLst/>
              <a:gdLst/>
              <a:ahLst/>
              <a:cxnLst/>
              <a:rect l="l" t="t" r="r" b="b"/>
              <a:pathLst>
                <a:path w="734694" h="114300">
                  <a:moveTo>
                    <a:pt x="114300" y="0"/>
                  </a:moveTo>
                  <a:lnTo>
                    <a:pt x="0" y="57150"/>
                  </a:lnTo>
                  <a:lnTo>
                    <a:pt x="114300" y="114300"/>
                  </a:lnTo>
                  <a:lnTo>
                    <a:pt x="114300" y="76200"/>
                  </a:lnTo>
                  <a:lnTo>
                    <a:pt x="95250" y="76200"/>
                  </a:lnTo>
                  <a:lnTo>
                    <a:pt x="95250" y="38100"/>
                  </a:lnTo>
                  <a:lnTo>
                    <a:pt x="114300" y="38100"/>
                  </a:lnTo>
                  <a:lnTo>
                    <a:pt x="114300" y="0"/>
                  </a:lnTo>
                  <a:close/>
                </a:path>
                <a:path w="734694" h="114300">
                  <a:moveTo>
                    <a:pt x="114300" y="38100"/>
                  </a:moveTo>
                  <a:lnTo>
                    <a:pt x="95250" y="38100"/>
                  </a:lnTo>
                  <a:lnTo>
                    <a:pt x="95250" y="76200"/>
                  </a:lnTo>
                  <a:lnTo>
                    <a:pt x="114300" y="76200"/>
                  </a:lnTo>
                  <a:lnTo>
                    <a:pt x="114300" y="38100"/>
                  </a:lnTo>
                  <a:close/>
                </a:path>
                <a:path w="734694" h="114300">
                  <a:moveTo>
                    <a:pt x="734567" y="38100"/>
                  </a:moveTo>
                  <a:lnTo>
                    <a:pt x="114300" y="38100"/>
                  </a:lnTo>
                  <a:lnTo>
                    <a:pt x="114300" y="76200"/>
                  </a:lnTo>
                  <a:lnTo>
                    <a:pt x="734567" y="76200"/>
                  </a:lnTo>
                  <a:lnTo>
                    <a:pt x="734567" y="3810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284719" y="2904743"/>
              <a:ext cx="676655" cy="80619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653528" y="3617975"/>
              <a:ext cx="1350645" cy="433070"/>
            </a:xfrm>
            <a:custGeom>
              <a:avLst/>
              <a:gdLst/>
              <a:ahLst/>
              <a:cxnLst/>
              <a:rect l="l" t="t" r="r" b="b"/>
              <a:pathLst>
                <a:path w="1350645" h="433070">
                  <a:moveTo>
                    <a:pt x="1302385" y="0"/>
                  </a:moveTo>
                  <a:lnTo>
                    <a:pt x="47878" y="0"/>
                  </a:lnTo>
                  <a:lnTo>
                    <a:pt x="29253" y="3766"/>
                  </a:lnTo>
                  <a:lnTo>
                    <a:pt x="14033" y="14033"/>
                  </a:lnTo>
                  <a:lnTo>
                    <a:pt x="3766" y="29253"/>
                  </a:lnTo>
                  <a:lnTo>
                    <a:pt x="0" y="47879"/>
                  </a:lnTo>
                  <a:lnTo>
                    <a:pt x="0" y="384937"/>
                  </a:lnTo>
                  <a:lnTo>
                    <a:pt x="3766" y="403562"/>
                  </a:lnTo>
                  <a:lnTo>
                    <a:pt x="14033" y="418782"/>
                  </a:lnTo>
                  <a:lnTo>
                    <a:pt x="29253" y="429049"/>
                  </a:lnTo>
                  <a:lnTo>
                    <a:pt x="47878" y="432816"/>
                  </a:lnTo>
                  <a:lnTo>
                    <a:pt x="1302385" y="432816"/>
                  </a:lnTo>
                  <a:lnTo>
                    <a:pt x="1321010" y="429049"/>
                  </a:lnTo>
                  <a:lnTo>
                    <a:pt x="1336230" y="418782"/>
                  </a:lnTo>
                  <a:lnTo>
                    <a:pt x="1346497" y="403562"/>
                  </a:lnTo>
                  <a:lnTo>
                    <a:pt x="1350264" y="384937"/>
                  </a:lnTo>
                  <a:lnTo>
                    <a:pt x="1350264" y="47879"/>
                  </a:lnTo>
                  <a:lnTo>
                    <a:pt x="1346497" y="29253"/>
                  </a:lnTo>
                  <a:lnTo>
                    <a:pt x="1336230" y="14033"/>
                  </a:lnTo>
                  <a:lnTo>
                    <a:pt x="1321010" y="3766"/>
                  </a:lnTo>
                  <a:lnTo>
                    <a:pt x="13023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653528" y="3617975"/>
              <a:ext cx="1350645" cy="433070"/>
            </a:xfrm>
            <a:custGeom>
              <a:avLst/>
              <a:gdLst/>
              <a:ahLst/>
              <a:cxnLst/>
              <a:rect l="l" t="t" r="r" b="b"/>
              <a:pathLst>
                <a:path w="1350645" h="433070">
                  <a:moveTo>
                    <a:pt x="0" y="47879"/>
                  </a:moveTo>
                  <a:lnTo>
                    <a:pt x="3766" y="29253"/>
                  </a:lnTo>
                  <a:lnTo>
                    <a:pt x="14033" y="14033"/>
                  </a:lnTo>
                  <a:lnTo>
                    <a:pt x="29253" y="3766"/>
                  </a:lnTo>
                  <a:lnTo>
                    <a:pt x="47878" y="0"/>
                  </a:lnTo>
                  <a:lnTo>
                    <a:pt x="1302385" y="0"/>
                  </a:lnTo>
                  <a:lnTo>
                    <a:pt x="1321010" y="3766"/>
                  </a:lnTo>
                  <a:lnTo>
                    <a:pt x="1336230" y="14033"/>
                  </a:lnTo>
                  <a:lnTo>
                    <a:pt x="1346497" y="29253"/>
                  </a:lnTo>
                  <a:lnTo>
                    <a:pt x="1350264" y="47879"/>
                  </a:lnTo>
                  <a:lnTo>
                    <a:pt x="1350264" y="384937"/>
                  </a:lnTo>
                  <a:lnTo>
                    <a:pt x="1346497" y="403562"/>
                  </a:lnTo>
                  <a:lnTo>
                    <a:pt x="1336230" y="418782"/>
                  </a:lnTo>
                  <a:lnTo>
                    <a:pt x="1321010" y="429049"/>
                  </a:lnTo>
                  <a:lnTo>
                    <a:pt x="1302385" y="432816"/>
                  </a:lnTo>
                  <a:lnTo>
                    <a:pt x="47878" y="432816"/>
                  </a:lnTo>
                  <a:lnTo>
                    <a:pt x="29253" y="429049"/>
                  </a:lnTo>
                  <a:lnTo>
                    <a:pt x="14033" y="418782"/>
                  </a:lnTo>
                  <a:lnTo>
                    <a:pt x="3766" y="403562"/>
                  </a:lnTo>
                  <a:lnTo>
                    <a:pt x="0" y="384937"/>
                  </a:lnTo>
                  <a:lnTo>
                    <a:pt x="0" y="47879"/>
                  </a:lnTo>
                  <a:close/>
                </a:path>
              </a:pathLst>
            </a:custGeom>
            <a:ln w="9144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45051" y="3685031"/>
              <a:ext cx="1327785" cy="288290"/>
            </a:xfrm>
            <a:custGeom>
              <a:avLst/>
              <a:gdLst/>
              <a:ahLst/>
              <a:cxnLst/>
              <a:rect l="l" t="t" r="r" b="b"/>
              <a:pathLst>
                <a:path w="1327785" h="288289">
                  <a:moveTo>
                    <a:pt x="1295527" y="0"/>
                  </a:moveTo>
                  <a:lnTo>
                    <a:pt x="31876" y="0"/>
                  </a:lnTo>
                  <a:lnTo>
                    <a:pt x="19448" y="2498"/>
                  </a:lnTo>
                  <a:lnTo>
                    <a:pt x="9318" y="9318"/>
                  </a:lnTo>
                  <a:lnTo>
                    <a:pt x="2498" y="19448"/>
                  </a:lnTo>
                  <a:lnTo>
                    <a:pt x="0" y="31877"/>
                  </a:lnTo>
                  <a:lnTo>
                    <a:pt x="0" y="256159"/>
                  </a:lnTo>
                  <a:lnTo>
                    <a:pt x="2498" y="268587"/>
                  </a:lnTo>
                  <a:lnTo>
                    <a:pt x="9318" y="278717"/>
                  </a:lnTo>
                  <a:lnTo>
                    <a:pt x="19448" y="285537"/>
                  </a:lnTo>
                  <a:lnTo>
                    <a:pt x="31876" y="288036"/>
                  </a:lnTo>
                  <a:lnTo>
                    <a:pt x="1295527" y="288036"/>
                  </a:lnTo>
                  <a:lnTo>
                    <a:pt x="1307955" y="285537"/>
                  </a:lnTo>
                  <a:lnTo>
                    <a:pt x="1318085" y="278717"/>
                  </a:lnTo>
                  <a:lnTo>
                    <a:pt x="1324905" y="268587"/>
                  </a:lnTo>
                  <a:lnTo>
                    <a:pt x="1327403" y="256159"/>
                  </a:lnTo>
                  <a:lnTo>
                    <a:pt x="1327403" y="31877"/>
                  </a:lnTo>
                  <a:lnTo>
                    <a:pt x="1324905" y="19448"/>
                  </a:lnTo>
                  <a:lnTo>
                    <a:pt x="1318085" y="9318"/>
                  </a:lnTo>
                  <a:lnTo>
                    <a:pt x="1307955" y="2498"/>
                  </a:lnTo>
                  <a:lnTo>
                    <a:pt x="12955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845051" y="3685031"/>
              <a:ext cx="1327785" cy="288290"/>
            </a:xfrm>
            <a:custGeom>
              <a:avLst/>
              <a:gdLst/>
              <a:ahLst/>
              <a:cxnLst/>
              <a:rect l="l" t="t" r="r" b="b"/>
              <a:pathLst>
                <a:path w="1327785" h="288289">
                  <a:moveTo>
                    <a:pt x="0" y="31877"/>
                  </a:moveTo>
                  <a:lnTo>
                    <a:pt x="2498" y="19448"/>
                  </a:lnTo>
                  <a:lnTo>
                    <a:pt x="9318" y="9318"/>
                  </a:lnTo>
                  <a:lnTo>
                    <a:pt x="19448" y="2498"/>
                  </a:lnTo>
                  <a:lnTo>
                    <a:pt x="31876" y="0"/>
                  </a:lnTo>
                  <a:lnTo>
                    <a:pt x="1295527" y="0"/>
                  </a:lnTo>
                  <a:lnTo>
                    <a:pt x="1307955" y="2498"/>
                  </a:lnTo>
                  <a:lnTo>
                    <a:pt x="1318085" y="9318"/>
                  </a:lnTo>
                  <a:lnTo>
                    <a:pt x="1324905" y="19448"/>
                  </a:lnTo>
                  <a:lnTo>
                    <a:pt x="1327403" y="31877"/>
                  </a:lnTo>
                  <a:lnTo>
                    <a:pt x="1327403" y="256159"/>
                  </a:lnTo>
                  <a:lnTo>
                    <a:pt x="1324905" y="268587"/>
                  </a:lnTo>
                  <a:lnTo>
                    <a:pt x="1318085" y="278717"/>
                  </a:lnTo>
                  <a:lnTo>
                    <a:pt x="1307955" y="285537"/>
                  </a:lnTo>
                  <a:lnTo>
                    <a:pt x="1295527" y="288036"/>
                  </a:lnTo>
                  <a:lnTo>
                    <a:pt x="31876" y="288036"/>
                  </a:lnTo>
                  <a:lnTo>
                    <a:pt x="19448" y="285537"/>
                  </a:lnTo>
                  <a:lnTo>
                    <a:pt x="9318" y="278717"/>
                  </a:lnTo>
                  <a:lnTo>
                    <a:pt x="2498" y="268587"/>
                  </a:lnTo>
                  <a:lnTo>
                    <a:pt x="0" y="256159"/>
                  </a:lnTo>
                  <a:lnTo>
                    <a:pt x="0" y="31877"/>
                  </a:lnTo>
                  <a:close/>
                </a:path>
              </a:pathLst>
            </a:custGeom>
            <a:ln w="9144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672327" y="2891028"/>
              <a:ext cx="1278890" cy="582295"/>
            </a:xfrm>
            <a:custGeom>
              <a:avLst/>
              <a:gdLst/>
              <a:ahLst/>
              <a:cxnLst/>
              <a:rect l="l" t="t" r="r" b="b"/>
              <a:pathLst>
                <a:path w="1278890" h="582295">
                  <a:moveTo>
                    <a:pt x="1214247" y="0"/>
                  </a:moveTo>
                  <a:lnTo>
                    <a:pt x="64388" y="0"/>
                  </a:lnTo>
                  <a:lnTo>
                    <a:pt x="39326" y="5060"/>
                  </a:lnTo>
                  <a:lnTo>
                    <a:pt x="18859" y="18859"/>
                  </a:lnTo>
                  <a:lnTo>
                    <a:pt x="5060" y="39326"/>
                  </a:lnTo>
                  <a:lnTo>
                    <a:pt x="0" y="64388"/>
                  </a:lnTo>
                  <a:lnTo>
                    <a:pt x="0" y="517779"/>
                  </a:lnTo>
                  <a:lnTo>
                    <a:pt x="5060" y="542841"/>
                  </a:lnTo>
                  <a:lnTo>
                    <a:pt x="18859" y="563308"/>
                  </a:lnTo>
                  <a:lnTo>
                    <a:pt x="39326" y="577107"/>
                  </a:lnTo>
                  <a:lnTo>
                    <a:pt x="64388" y="582168"/>
                  </a:lnTo>
                  <a:lnTo>
                    <a:pt x="1214247" y="582168"/>
                  </a:lnTo>
                  <a:lnTo>
                    <a:pt x="1239309" y="577107"/>
                  </a:lnTo>
                  <a:lnTo>
                    <a:pt x="1259776" y="563308"/>
                  </a:lnTo>
                  <a:lnTo>
                    <a:pt x="1273575" y="542841"/>
                  </a:lnTo>
                  <a:lnTo>
                    <a:pt x="1278636" y="517779"/>
                  </a:lnTo>
                  <a:lnTo>
                    <a:pt x="1278636" y="64388"/>
                  </a:lnTo>
                  <a:lnTo>
                    <a:pt x="1273575" y="39326"/>
                  </a:lnTo>
                  <a:lnTo>
                    <a:pt x="1259776" y="18859"/>
                  </a:lnTo>
                  <a:lnTo>
                    <a:pt x="1239309" y="5060"/>
                  </a:lnTo>
                  <a:lnTo>
                    <a:pt x="12142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672327" y="2891028"/>
              <a:ext cx="1278890" cy="582295"/>
            </a:xfrm>
            <a:custGeom>
              <a:avLst/>
              <a:gdLst/>
              <a:ahLst/>
              <a:cxnLst/>
              <a:rect l="l" t="t" r="r" b="b"/>
              <a:pathLst>
                <a:path w="1278890" h="582295">
                  <a:moveTo>
                    <a:pt x="0" y="64388"/>
                  </a:moveTo>
                  <a:lnTo>
                    <a:pt x="5060" y="39326"/>
                  </a:lnTo>
                  <a:lnTo>
                    <a:pt x="18859" y="18859"/>
                  </a:lnTo>
                  <a:lnTo>
                    <a:pt x="39326" y="5060"/>
                  </a:lnTo>
                  <a:lnTo>
                    <a:pt x="64388" y="0"/>
                  </a:lnTo>
                  <a:lnTo>
                    <a:pt x="1214247" y="0"/>
                  </a:lnTo>
                  <a:lnTo>
                    <a:pt x="1239309" y="5060"/>
                  </a:lnTo>
                  <a:lnTo>
                    <a:pt x="1259776" y="18859"/>
                  </a:lnTo>
                  <a:lnTo>
                    <a:pt x="1273575" y="39326"/>
                  </a:lnTo>
                  <a:lnTo>
                    <a:pt x="1278636" y="64388"/>
                  </a:lnTo>
                  <a:lnTo>
                    <a:pt x="1278636" y="517779"/>
                  </a:lnTo>
                  <a:lnTo>
                    <a:pt x="1273575" y="542841"/>
                  </a:lnTo>
                  <a:lnTo>
                    <a:pt x="1259776" y="563308"/>
                  </a:lnTo>
                  <a:lnTo>
                    <a:pt x="1239309" y="577107"/>
                  </a:lnTo>
                  <a:lnTo>
                    <a:pt x="1214247" y="582168"/>
                  </a:lnTo>
                  <a:lnTo>
                    <a:pt x="64388" y="582168"/>
                  </a:lnTo>
                  <a:lnTo>
                    <a:pt x="39326" y="577107"/>
                  </a:lnTo>
                  <a:lnTo>
                    <a:pt x="18859" y="563308"/>
                  </a:lnTo>
                  <a:lnTo>
                    <a:pt x="5060" y="542841"/>
                  </a:lnTo>
                  <a:lnTo>
                    <a:pt x="0" y="517779"/>
                  </a:lnTo>
                  <a:lnTo>
                    <a:pt x="0" y="64388"/>
                  </a:lnTo>
                  <a:close/>
                </a:path>
              </a:pathLst>
            </a:custGeom>
            <a:ln w="9144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184136" y="1769363"/>
              <a:ext cx="734568" cy="57759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771640" y="1566214"/>
              <a:ext cx="761089" cy="516488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587995" y="1272539"/>
              <a:ext cx="1280160" cy="440690"/>
            </a:xfrm>
            <a:custGeom>
              <a:avLst/>
              <a:gdLst/>
              <a:ahLst/>
              <a:cxnLst/>
              <a:rect l="l" t="t" r="r" b="b"/>
              <a:pathLst>
                <a:path w="1280159" h="440689">
                  <a:moveTo>
                    <a:pt x="1231392" y="0"/>
                  </a:moveTo>
                  <a:lnTo>
                    <a:pt x="48768" y="0"/>
                  </a:lnTo>
                  <a:lnTo>
                    <a:pt x="29789" y="3833"/>
                  </a:lnTo>
                  <a:lnTo>
                    <a:pt x="14287" y="14287"/>
                  </a:lnTo>
                  <a:lnTo>
                    <a:pt x="3833" y="29789"/>
                  </a:lnTo>
                  <a:lnTo>
                    <a:pt x="0" y="48768"/>
                  </a:lnTo>
                  <a:lnTo>
                    <a:pt x="0" y="391668"/>
                  </a:lnTo>
                  <a:lnTo>
                    <a:pt x="3833" y="410646"/>
                  </a:lnTo>
                  <a:lnTo>
                    <a:pt x="14287" y="426148"/>
                  </a:lnTo>
                  <a:lnTo>
                    <a:pt x="29789" y="436602"/>
                  </a:lnTo>
                  <a:lnTo>
                    <a:pt x="48768" y="440436"/>
                  </a:lnTo>
                  <a:lnTo>
                    <a:pt x="1231392" y="440436"/>
                  </a:lnTo>
                  <a:lnTo>
                    <a:pt x="1250370" y="436602"/>
                  </a:lnTo>
                  <a:lnTo>
                    <a:pt x="1265872" y="426148"/>
                  </a:lnTo>
                  <a:lnTo>
                    <a:pt x="1276326" y="410646"/>
                  </a:lnTo>
                  <a:lnTo>
                    <a:pt x="1280159" y="391668"/>
                  </a:lnTo>
                  <a:lnTo>
                    <a:pt x="1280159" y="48768"/>
                  </a:lnTo>
                  <a:lnTo>
                    <a:pt x="1276326" y="29789"/>
                  </a:lnTo>
                  <a:lnTo>
                    <a:pt x="1265872" y="14287"/>
                  </a:lnTo>
                  <a:lnTo>
                    <a:pt x="1250370" y="3833"/>
                  </a:lnTo>
                  <a:lnTo>
                    <a:pt x="12313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587995" y="1272539"/>
              <a:ext cx="1280160" cy="440690"/>
            </a:xfrm>
            <a:custGeom>
              <a:avLst/>
              <a:gdLst/>
              <a:ahLst/>
              <a:cxnLst/>
              <a:rect l="l" t="t" r="r" b="b"/>
              <a:pathLst>
                <a:path w="1280159" h="440689">
                  <a:moveTo>
                    <a:pt x="0" y="48768"/>
                  </a:moveTo>
                  <a:lnTo>
                    <a:pt x="3833" y="29789"/>
                  </a:lnTo>
                  <a:lnTo>
                    <a:pt x="14287" y="14287"/>
                  </a:lnTo>
                  <a:lnTo>
                    <a:pt x="29789" y="3833"/>
                  </a:lnTo>
                  <a:lnTo>
                    <a:pt x="48768" y="0"/>
                  </a:lnTo>
                  <a:lnTo>
                    <a:pt x="1231392" y="0"/>
                  </a:lnTo>
                  <a:lnTo>
                    <a:pt x="1250370" y="3833"/>
                  </a:lnTo>
                  <a:lnTo>
                    <a:pt x="1265872" y="14287"/>
                  </a:lnTo>
                  <a:lnTo>
                    <a:pt x="1276326" y="29789"/>
                  </a:lnTo>
                  <a:lnTo>
                    <a:pt x="1280159" y="48768"/>
                  </a:lnTo>
                  <a:lnTo>
                    <a:pt x="1280159" y="391668"/>
                  </a:lnTo>
                  <a:lnTo>
                    <a:pt x="1276326" y="410646"/>
                  </a:lnTo>
                  <a:lnTo>
                    <a:pt x="1265872" y="426148"/>
                  </a:lnTo>
                  <a:lnTo>
                    <a:pt x="1250370" y="436602"/>
                  </a:lnTo>
                  <a:lnTo>
                    <a:pt x="1231392" y="440436"/>
                  </a:lnTo>
                  <a:lnTo>
                    <a:pt x="48768" y="440436"/>
                  </a:lnTo>
                  <a:lnTo>
                    <a:pt x="29789" y="436602"/>
                  </a:lnTo>
                  <a:lnTo>
                    <a:pt x="14287" y="426148"/>
                  </a:lnTo>
                  <a:lnTo>
                    <a:pt x="3833" y="410646"/>
                  </a:lnTo>
                  <a:lnTo>
                    <a:pt x="0" y="391668"/>
                  </a:lnTo>
                  <a:lnTo>
                    <a:pt x="0" y="48768"/>
                  </a:lnTo>
                  <a:close/>
                </a:path>
              </a:pathLst>
            </a:custGeom>
            <a:ln w="9144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494275" y="1571244"/>
              <a:ext cx="1011936" cy="893063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163312" y="1269491"/>
              <a:ext cx="1022985" cy="440690"/>
            </a:xfrm>
            <a:custGeom>
              <a:avLst/>
              <a:gdLst/>
              <a:ahLst/>
              <a:cxnLst/>
              <a:rect l="l" t="t" r="r" b="b"/>
              <a:pathLst>
                <a:path w="1022985" h="440689">
                  <a:moveTo>
                    <a:pt x="973836" y="0"/>
                  </a:moveTo>
                  <a:lnTo>
                    <a:pt x="48767" y="0"/>
                  </a:lnTo>
                  <a:lnTo>
                    <a:pt x="29789" y="3833"/>
                  </a:lnTo>
                  <a:lnTo>
                    <a:pt x="14287" y="14287"/>
                  </a:lnTo>
                  <a:lnTo>
                    <a:pt x="3833" y="29789"/>
                  </a:lnTo>
                  <a:lnTo>
                    <a:pt x="0" y="48768"/>
                  </a:lnTo>
                  <a:lnTo>
                    <a:pt x="0" y="391668"/>
                  </a:lnTo>
                  <a:lnTo>
                    <a:pt x="3833" y="410646"/>
                  </a:lnTo>
                  <a:lnTo>
                    <a:pt x="14287" y="426148"/>
                  </a:lnTo>
                  <a:lnTo>
                    <a:pt x="29789" y="436602"/>
                  </a:lnTo>
                  <a:lnTo>
                    <a:pt x="48767" y="440436"/>
                  </a:lnTo>
                  <a:lnTo>
                    <a:pt x="973836" y="440436"/>
                  </a:lnTo>
                  <a:lnTo>
                    <a:pt x="992814" y="436602"/>
                  </a:lnTo>
                  <a:lnTo>
                    <a:pt x="1008316" y="426148"/>
                  </a:lnTo>
                  <a:lnTo>
                    <a:pt x="1018770" y="410646"/>
                  </a:lnTo>
                  <a:lnTo>
                    <a:pt x="1022603" y="391668"/>
                  </a:lnTo>
                  <a:lnTo>
                    <a:pt x="1022603" y="48768"/>
                  </a:lnTo>
                  <a:lnTo>
                    <a:pt x="1018770" y="29789"/>
                  </a:lnTo>
                  <a:lnTo>
                    <a:pt x="1008316" y="14287"/>
                  </a:lnTo>
                  <a:lnTo>
                    <a:pt x="992814" y="3833"/>
                  </a:lnTo>
                  <a:lnTo>
                    <a:pt x="9738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163312" y="1269491"/>
              <a:ext cx="1022985" cy="440690"/>
            </a:xfrm>
            <a:custGeom>
              <a:avLst/>
              <a:gdLst/>
              <a:ahLst/>
              <a:cxnLst/>
              <a:rect l="l" t="t" r="r" b="b"/>
              <a:pathLst>
                <a:path w="1022985" h="440689">
                  <a:moveTo>
                    <a:pt x="0" y="48768"/>
                  </a:moveTo>
                  <a:lnTo>
                    <a:pt x="3833" y="29789"/>
                  </a:lnTo>
                  <a:lnTo>
                    <a:pt x="14287" y="14287"/>
                  </a:lnTo>
                  <a:lnTo>
                    <a:pt x="29789" y="3833"/>
                  </a:lnTo>
                  <a:lnTo>
                    <a:pt x="48767" y="0"/>
                  </a:lnTo>
                  <a:lnTo>
                    <a:pt x="973836" y="0"/>
                  </a:lnTo>
                  <a:lnTo>
                    <a:pt x="992814" y="3833"/>
                  </a:lnTo>
                  <a:lnTo>
                    <a:pt x="1008316" y="14287"/>
                  </a:lnTo>
                  <a:lnTo>
                    <a:pt x="1018770" y="29789"/>
                  </a:lnTo>
                  <a:lnTo>
                    <a:pt x="1022603" y="48768"/>
                  </a:lnTo>
                  <a:lnTo>
                    <a:pt x="1022603" y="391668"/>
                  </a:lnTo>
                  <a:lnTo>
                    <a:pt x="1018770" y="410646"/>
                  </a:lnTo>
                  <a:lnTo>
                    <a:pt x="1008316" y="426148"/>
                  </a:lnTo>
                  <a:lnTo>
                    <a:pt x="992814" y="436602"/>
                  </a:lnTo>
                  <a:lnTo>
                    <a:pt x="973836" y="440436"/>
                  </a:lnTo>
                  <a:lnTo>
                    <a:pt x="48767" y="440436"/>
                  </a:lnTo>
                  <a:lnTo>
                    <a:pt x="29789" y="436602"/>
                  </a:lnTo>
                  <a:lnTo>
                    <a:pt x="14287" y="426148"/>
                  </a:lnTo>
                  <a:lnTo>
                    <a:pt x="3833" y="410646"/>
                  </a:lnTo>
                  <a:lnTo>
                    <a:pt x="0" y="391668"/>
                  </a:lnTo>
                  <a:lnTo>
                    <a:pt x="0" y="48768"/>
                  </a:lnTo>
                  <a:close/>
                </a:path>
              </a:pathLst>
            </a:custGeom>
            <a:ln w="9143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742437" y="1751837"/>
              <a:ext cx="12700" cy="1198245"/>
            </a:xfrm>
            <a:custGeom>
              <a:avLst/>
              <a:gdLst/>
              <a:ahLst/>
              <a:cxnLst/>
              <a:rect l="l" t="t" r="r" b="b"/>
              <a:pathLst>
                <a:path w="12700" h="1198245">
                  <a:moveTo>
                    <a:pt x="12192" y="1197864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261359" y="1325879"/>
              <a:ext cx="675132" cy="80619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237231" y="1007363"/>
              <a:ext cx="1798320" cy="4893945"/>
            </a:xfrm>
            <a:custGeom>
              <a:avLst/>
              <a:gdLst/>
              <a:ahLst/>
              <a:cxnLst/>
              <a:rect l="l" t="t" r="r" b="b"/>
              <a:pathLst>
                <a:path w="1798320" h="4893945">
                  <a:moveTo>
                    <a:pt x="615695" y="32003"/>
                  </a:moveTo>
                  <a:lnTo>
                    <a:pt x="618214" y="19556"/>
                  </a:lnTo>
                  <a:lnTo>
                    <a:pt x="625078" y="9382"/>
                  </a:lnTo>
                  <a:lnTo>
                    <a:pt x="635252" y="2518"/>
                  </a:lnTo>
                  <a:lnTo>
                    <a:pt x="647700" y="0"/>
                  </a:lnTo>
                  <a:lnTo>
                    <a:pt x="1766316" y="0"/>
                  </a:lnTo>
                  <a:lnTo>
                    <a:pt x="1778763" y="2518"/>
                  </a:lnTo>
                  <a:lnTo>
                    <a:pt x="1788937" y="9382"/>
                  </a:lnTo>
                  <a:lnTo>
                    <a:pt x="1795801" y="19556"/>
                  </a:lnTo>
                  <a:lnTo>
                    <a:pt x="1798320" y="32003"/>
                  </a:lnTo>
                  <a:lnTo>
                    <a:pt x="1798320" y="257556"/>
                  </a:lnTo>
                  <a:lnTo>
                    <a:pt x="1795801" y="270003"/>
                  </a:lnTo>
                  <a:lnTo>
                    <a:pt x="1788937" y="280177"/>
                  </a:lnTo>
                  <a:lnTo>
                    <a:pt x="1778763" y="287041"/>
                  </a:lnTo>
                  <a:lnTo>
                    <a:pt x="1766316" y="289560"/>
                  </a:lnTo>
                  <a:lnTo>
                    <a:pt x="647700" y="289560"/>
                  </a:lnTo>
                  <a:lnTo>
                    <a:pt x="635252" y="287041"/>
                  </a:lnTo>
                  <a:lnTo>
                    <a:pt x="625078" y="280177"/>
                  </a:lnTo>
                  <a:lnTo>
                    <a:pt x="618214" y="270003"/>
                  </a:lnTo>
                  <a:lnTo>
                    <a:pt x="615695" y="257556"/>
                  </a:lnTo>
                  <a:lnTo>
                    <a:pt x="615695" y="32003"/>
                  </a:lnTo>
                  <a:close/>
                </a:path>
                <a:path w="1798320" h="4893945">
                  <a:moveTo>
                    <a:pt x="1313688" y="4438142"/>
                  </a:moveTo>
                  <a:lnTo>
                    <a:pt x="1309231" y="4416111"/>
                  </a:lnTo>
                  <a:lnTo>
                    <a:pt x="1297082" y="4398105"/>
                  </a:lnTo>
                  <a:lnTo>
                    <a:pt x="1279076" y="4385956"/>
                  </a:lnTo>
                  <a:lnTo>
                    <a:pt x="1257045" y="4381500"/>
                  </a:lnTo>
                  <a:lnTo>
                    <a:pt x="56642" y="4381500"/>
                  </a:lnTo>
                  <a:lnTo>
                    <a:pt x="34611" y="4385956"/>
                  </a:lnTo>
                  <a:lnTo>
                    <a:pt x="16605" y="4398105"/>
                  </a:lnTo>
                  <a:lnTo>
                    <a:pt x="4456" y="4416111"/>
                  </a:lnTo>
                  <a:lnTo>
                    <a:pt x="0" y="4438142"/>
                  </a:lnTo>
                  <a:lnTo>
                    <a:pt x="0" y="4836934"/>
                  </a:lnTo>
                  <a:lnTo>
                    <a:pt x="4456" y="4858973"/>
                  </a:lnTo>
                  <a:lnTo>
                    <a:pt x="16605" y="4876974"/>
                  </a:lnTo>
                  <a:lnTo>
                    <a:pt x="34611" y="4889112"/>
                  </a:lnTo>
                  <a:lnTo>
                    <a:pt x="56642" y="4893564"/>
                  </a:lnTo>
                  <a:lnTo>
                    <a:pt x="1257045" y="4893564"/>
                  </a:lnTo>
                  <a:lnTo>
                    <a:pt x="1279076" y="4889112"/>
                  </a:lnTo>
                  <a:lnTo>
                    <a:pt x="1297082" y="4876974"/>
                  </a:lnTo>
                  <a:lnTo>
                    <a:pt x="1309231" y="4858973"/>
                  </a:lnTo>
                  <a:lnTo>
                    <a:pt x="1313688" y="4836934"/>
                  </a:lnTo>
                  <a:lnTo>
                    <a:pt x="1313688" y="4438142"/>
                  </a:lnTo>
                  <a:close/>
                </a:path>
              </a:pathLst>
            </a:custGeom>
            <a:ln w="9144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094988" y="4442460"/>
              <a:ext cx="3171443" cy="1420367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070604" y="4418075"/>
              <a:ext cx="3168396" cy="1417320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424427" y="4608575"/>
              <a:ext cx="676655" cy="80619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855719" y="4844796"/>
              <a:ext cx="676655" cy="80619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106412" y="5554979"/>
              <a:ext cx="1564005" cy="358140"/>
            </a:xfrm>
            <a:custGeom>
              <a:avLst/>
              <a:gdLst/>
              <a:ahLst/>
              <a:cxnLst/>
              <a:rect l="l" t="t" r="r" b="b"/>
              <a:pathLst>
                <a:path w="1564004" h="358139">
                  <a:moveTo>
                    <a:pt x="1524000" y="0"/>
                  </a:moveTo>
                  <a:lnTo>
                    <a:pt x="39624" y="0"/>
                  </a:lnTo>
                  <a:lnTo>
                    <a:pt x="24217" y="3119"/>
                  </a:lnTo>
                  <a:lnTo>
                    <a:pt x="11620" y="11618"/>
                  </a:lnTo>
                  <a:lnTo>
                    <a:pt x="3119" y="24211"/>
                  </a:lnTo>
                  <a:lnTo>
                    <a:pt x="0" y="39611"/>
                  </a:lnTo>
                  <a:lnTo>
                    <a:pt x="0" y="318528"/>
                  </a:lnTo>
                  <a:lnTo>
                    <a:pt x="3119" y="333949"/>
                  </a:lnTo>
                  <a:lnTo>
                    <a:pt x="11620" y="346540"/>
                  </a:lnTo>
                  <a:lnTo>
                    <a:pt x="24217" y="355027"/>
                  </a:lnTo>
                  <a:lnTo>
                    <a:pt x="39624" y="358140"/>
                  </a:lnTo>
                  <a:lnTo>
                    <a:pt x="1524000" y="358140"/>
                  </a:lnTo>
                  <a:lnTo>
                    <a:pt x="1539406" y="355027"/>
                  </a:lnTo>
                  <a:lnTo>
                    <a:pt x="1552003" y="346540"/>
                  </a:lnTo>
                  <a:lnTo>
                    <a:pt x="1560504" y="333949"/>
                  </a:lnTo>
                  <a:lnTo>
                    <a:pt x="1563624" y="318528"/>
                  </a:lnTo>
                  <a:lnTo>
                    <a:pt x="1563624" y="39611"/>
                  </a:lnTo>
                  <a:lnTo>
                    <a:pt x="1560504" y="24211"/>
                  </a:lnTo>
                  <a:lnTo>
                    <a:pt x="1552003" y="11618"/>
                  </a:lnTo>
                  <a:lnTo>
                    <a:pt x="1539406" y="3119"/>
                  </a:lnTo>
                  <a:lnTo>
                    <a:pt x="152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106412" y="5554979"/>
              <a:ext cx="1564005" cy="358140"/>
            </a:xfrm>
            <a:custGeom>
              <a:avLst/>
              <a:gdLst/>
              <a:ahLst/>
              <a:cxnLst/>
              <a:rect l="l" t="t" r="r" b="b"/>
              <a:pathLst>
                <a:path w="1564004" h="358139">
                  <a:moveTo>
                    <a:pt x="0" y="39611"/>
                  </a:moveTo>
                  <a:lnTo>
                    <a:pt x="3119" y="24211"/>
                  </a:lnTo>
                  <a:lnTo>
                    <a:pt x="11620" y="11618"/>
                  </a:lnTo>
                  <a:lnTo>
                    <a:pt x="24217" y="3119"/>
                  </a:lnTo>
                  <a:lnTo>
                    <a:pt x="39624" y="0"/>
                  </a:lnTo>
                  <a:lnTo>
                    <a:pt x="1524000" y="0"/>
                  </a:lnTo>
                  <a:lnTo>
                    <a:pt x="1539406" y="3119"/>
                  </a:lnTo>
                  <a:lnTo>
                    <a:pt x="1552003" y="11618"/>
                  </a:lnTo>
                  <a:lnTo>
                    <a:pt x="1560504" y="24211"/>
                  </a:lnTo>
                  <a:lnTo>
                    <a:pt x="1563624" y="39611"/>
                  </a:lnTo>
                  <a:lnTo>
                    <a:pt x="1563624" y="318528"/>
                  </a:lnTo>
                  <a:lnTo>
                    <a:pt x="1560504" y="333949"/>
                  </a:lnTo>
                  <a:lnTo>
                    <a:pt x="1552003" y="346540"/>
                  </a:lnTo>
                  <a:lnTo>
                    <a:pt x="1539406" y="355027"/>
                  </a:lnTo>
                  <a:lnTo>
                    <a:pt x="1524000" y="358140"/>
                  </a:lnTo>
                  <a:lnTo>
                    <a:pt x="39624" y="358140"/>
                  </a:lnTo>
                  <a:lnTo>
                    <a:pt x="24217" y="355027"/>
                  </a:lnTo>
                  <a:lnTo>
                    <a:pt x="11620" y="346540"/>
                  </a:lnTo>
                  <a:lnTo>
                    <a:pt x="3119" y="333949"/>
                  </a:lnTo>
                  <a:lnTo>
                    <a:pt x="0" y="318528"/>
                  </a:lnTo>
                  <a:lnTo>
                    <a:pt x="0" y="39611"/>
                  </a:lnTo>
                  <a:close/>
                </a:path>
              </a:pathLst>
            </a:custGeom>
            <a:ln w="9144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284975" y="5349240"/>
              <a:ext cx="742187" cy="807720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0" name="object 40"/>
          <p:cNvGrpSpPr/>
          <p:nvPr/>
        </p:nvGrpSpPr>
        <p:grpSpPr>
          <a:xfrm>
            <a:off x="8036052" y="6265164"/>
            <a:ext cx="928369" cy="440690"/>
            <a:chOff x="8036052" y="6265164"/>
            <a:chExt cx="928369" cy="440690"/>
          </a:xfrm>
        </p:grpSpPr>
        <p:sp>
          <p:nvSpPr>
            <p:cNvPr id="41" name="object 41"/>
            <p:cNvSpPr/>
            <p:nvPr/>
          </p:nvSpPr>
          <p:spPr>
            <a:xfrm>
              <a:off x="8046720" y="6275832"/>
              <a:ext cx="917448" cy="429768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036052" y="6265164"/>
              <a:ext cx="914400" cy="426720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214360" y="6397752"/>
              <a:ext cx="187451" cy="178307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8232648" y="6391656"/>
              <a:ext cx="175259" cy="166115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8228076" y="6387084"/>
              <a:ext cx="184403" cy="175259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523732" y="6356604"/>
              <a:ext cx="304800" cy="243839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8596884" y="6423660"/>
              <a:ext cx="134111" cy="134112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8615172" y="6417564"/>
              <a:ext cx="121920" cy="121920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8615172" y="6417564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20">
                  <a:moveTo>
                    <a:pt x="0" y="121920"/>
                  </a:moveTo>
                  <a:lnTo>
                    <a:pt x="121920" y="121920"/>
                  </a:lnTo>
                  <a:lnTo>
                    <a:pt x="121920" y="0"/>
                  </a:lnTo>
                  <a:lnTo>
                    <a:pt x="0" y="0"/>
                  </a:lnTo>
                  <a:lnTo>
                    <a:pt x="0" y="121920"/>
                  </a:lnTo>
                  <a:close/>
                </a:path>
              </a:pathLst>
            </a:custGeom>
            <a:ln w="9144">
              <a:solidFill>
                <a:srgbClr val="666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0" name="object 50"/>
          <p:cNvGrpSpPr/>
          <p:nvPr/>
        </p:nvGrpSpPr>
        <p:grpSpPr>
          <a:xfrm>
            <a:off x="19811" y="1007363"/>
            <a:ext cx="9077325" cy="5149850"/>
            <a:chOff x="19811" y="1007363"/>
            <a:chExt cx="9077325" cy="5149850"/>
          </a:xfrm>
        </p:grpSpPr>
        <p:sp>
          <p:nvSpPr>
            <p:cNvPr id="51" name="object 51"/>
            <p:cNvSpPr/>
            <p:nvPr/>
          </p:nvSpPr>
          <p:spPr>
            <a:xfrm>
              <a:off x="19811" y="1007363"/>
              <a:ext cx="9077325" cy="5149850"/>
            </a:xfrm>
            <a:custGeom>
              <a:avLst/>
              <a:gdLst/>
              <a:ahLst/>
              <a:cxnLst/>
              <a:rect l="l" t="t" r="r" b="b"/>
              <a:pathLst>
                <a:path w="9077325" h="5149850">
                  <a:moveTo>
                    <a:pt x="9076944" y="0"/>
                  </a:moveTo>
                  <a:lnTo>
                    <a:pt x="0" y="0"/>
                  </a:lnTo>
                  <a:lnTo>
                    <a:pt x="0" y="5149596"/>
                  </a:lnTo>
                  <a:lnTo>
                    <a:pt x="9076944" y="5149596"/>
                  </a:lnTo>
                  <a:lnTo>
                    <a:pt x="90769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97180" y="1197863"/>
              <a:ext cx="8598408" cy="3509772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00227" y="1222247"/>
              <a:ext cx="5186172" cy="4831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278891" y="1179576"/>
              <a:ext cx="8586216" cy="3497579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278891" y="1179576"/>
              <a:ext cx="8586470" cy="3497579"/>
            </a:xfrm>
            <a:custGeom>
              <a:avLst/>
              <a:gdLst/>
              <a:ahLst/>
              <a:cxnLst/>
              <a:rect l="l" t="t" r="r" b="b"/>
              <a:pathLst>
                <a:path w="8586470" h="3497579">
                  <a:moveTo>
                    <a:pt x="0" y="145796"/>
                  </a:moveTo>
                  <a:lnTo>
                    <a:pt x="7430" y="99714"/>
                  </a:lnTo>
                  <a:lnTo>
                    <a:pt x="28120" y="59692"/>
                  </a:lnTo>
                  <a:lnTo>
                    <a:pt x="59670" y="28131"/>
                  </a:lnTo>
                  <a:lnTo>
                    <a:pt x="99678" y="7433"/>
                  </a:lnTo>
                  <a:lnTo>
                    <a:pt x="145745" y="0"/>
                  </a:lnTo>
                  <a:lnTo>
                    <a:pt x="8440419" y="0"/>
                  </a:lnTo>
                  <a:lnTo>
                    <a:pt x="8486501" y="7433"/>
                  </a:lnTo>
                  <a:lnTo>
                    <a:pt x="8526523" y="28131"/>
                  </a:lnTo>
                  <a:lnTo>
                    <a:pt x="8558084" y="59692"/>
                  </a:lnTo>
                  <a:lnTo>
                    <a:pt x="8578782" y="99714"/>
                  </a:lnTo>
                  <a:lnTo>
                    <a:pt x="8586216" y="145796"/>
                  </a:lnTo>
                  <a:lnTo>
                    <a:pt x="8586216" y="3351784"/>
                  </a:lnTo>
                  <a:lnTo>
                    <a:pt x="8578782" y="3397865"/>
                  </a:lnTo>
                  <a:lnTo>
                    <a:pt x="8558084" y="3437887"/>
                  </a:lnTo>
                  <a:lnTo>
                    <a:pt x="8526523" y="3469448"/>
                  </a:lnTo>
                  <a:lnTo>
                    <a:pt x="8486501" y="3490146"/>
                  </a:lnTo>
                  <a:lnTo>
                    <a:pt x="8440419" y="3497579"/>
                  </a:lnTo>
                  <a:lnTo>
                    <a:pt x="145745" y="3497579"/>
                  </a:lnTo>
                  <a:lnTo>
                    <a:pt x="99678" y="3490146"/>
                  </a:lnTo>
                  <a:lnTo>
                    <a:pt x="59670" y="3469448"/>
                  </a:lnTo>
                  <a:lnTo>
                    <a:pt x="28120" y="3437887"/>
                  </a:lnTo>
                  <a:lnTo>
                    <a:pt x="7430" y="3397865"/>
                  </a:lnTo>
                  <a:lnTo>
                    <a:pt x="0" y="3351784"/>
                  </a:lnTo>
                  <a:lnTo>
                    <a:pt x="0" y="145796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400913" y="1253997"/>
            <a:ext cx="49339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Verdana"/>
                <a:cs typeface="Verdana"/>
              </a:rPr>
              <a:t>Key </a:t>
            </a:r>
            <a:r>
              <a:rPr sz="1800" b="1" spc="-5" dirty="0">
                <a:latin typeface="Verdana"/>
                <a:cs typeface="Verdana"/>
              </a:rPr>
              <a:t>Points </a:t>
            </a:r>
            <a:r>
              <a:rPr sz="1800" b="1" dirty="0">
                <a:latin typeface="Verdana"/>
                <a:cs typeface="Verdana"/>
              </a:rPr>
              <a:t>of DHCP </a:t>
            </a:r>
            <a:r>
              <a:rPr sz="1800" b="1" spc="-5" dirty="0">
                <a:latin typeface="Verdana"/>
                <a:cs typeface="Verdana"/>
              </a:rPr>
              <a:t>NAP</a:t>
            </a:r>
            <a:r>
              <a:rPr sz="1800" b="1" spc="-3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Enforcement: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598741" y="1735645"/>
            <a:ext cx="7940675" cy="785495"/>
            <a:chOff x="598741" y="1735645"/>
            <a:chExt cx="7940675" cy="785495"/>
          </a:xfrm>
        </p:grpSpPr>
        <p:sp>
          <p:nvSpPr>
            <p:cNvPr id="58" name="object 58"/>
            <p:cNvSpPr/>
            <p:nvPr/>
          </p:nvSpPr>
          <p:spPr>
            <a:xfrm>
              <a:off x="603504" y="1740407"/>
              <a:ext cx="7931150" cy="775970"/>
            </a:xfrm>
            <a:custGeom>
              <a:avLst/>
              <a:gdLst/>
              <a:ahLst/>
              <a:cxnLst/>
              <a:rect l="l" t="t" r="r" b="b"/>
              <a:pathLst>
                <a:path w="7931150" h="775969">
                  <a:moveTo>
                    <a:pt x="7898511" y="0"/>
                  </a:moveTo>
                  <a:lnTo>
                    <a:pt x="32321" y="0"/>
                  </a:lnTo>
                  <a:lnTo>
                    <a:pt x="19743" y="2541"/>
                  </a:lnTo>
                  <a:lnTo>
                    <a:pt x="9469" y="9477"/>
                  </a:lnTo>
                  <a:lnTo>
                    <a:pt x="2540" y="19770"/>
                  </a:lnTo>
                  <a:lnTo>
                    <a:pt x="0" y="32384"/>
                  </a:lnTo>
                  <a:lnTo>
                    <a:pt x="0" y="743330"/>
                  </a:lnTo>
                  <a:lnTo>
                    <a:pt x="2540" y="755945"/>
                  </a:lnTo>
                  <a:lnTo>
                    <a:pt x="9469" y="766238"/>
                  </a:lnTo>
                  <a:lnTo>
                    <a:pt x="19743" y="773174"/>
                  </a:lnTo>
                  <a:lnTo>
                    <a:pt x="32321" y="775715"/>
                  </a:lnTo>
                  <a:lnTo>
                    <a:pt x="7898511" y="775715"/>
                  </a:lnTo>
                  <a:lnTo>
                    <a:pt x="7911125" y="773174"/>
                  </a:lnTo>
                  <a:lnTo>
                    <a:pt x="7921418" y="766238"/>
                  </a:lnTo>
                  <a:lnTo>
                    <a:pt x="7928354" y="755945"/>
                  </a:lnTo>
                  <a:lnTo>
                    <a:pt x="7930896" y="743330"/>
                  </a:lnTo>
                  <a:lnTo>
                    <a:pt x="7930896" y="32384"/>
                  </a:lnTo>
                  <a:lnTo>
                    <a:pt x="7928354" y="19770"/>
                  </a:lnTo>
                  <a:lnTo>
                    <a:pt x="7921418" y="9477"/>
                  </a:lnTo>
                  <a:lnTo>
                    <a:pt x="7911125" y="2541"/>
                  </a:lnTo>
                  <a:lnTo>
                    <a:pt x="7898511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603504" y="1740407"/>
              <a:ext cx="7931150" cy="775970"/>
            </a:xfrm>
            <a:custGeom>
              <a:avLst/>
              <a:gdLst/>
              <a:ahLst/>
              <a:cxnLst/>
              <a:rect l="l" t="t" r="r" b="b"/>
              <a:pathLst>
                <a:path w="7931150" h="775969">
                  <a:moveTo>
                    <a:pt x="0" y="32384"/>
                  </a:moveTo>
                  <a:lnTo>
                    <a:pt x="2540" y="19770"/>
                  </a:lnTo>
                  <a:lnTo>
                    <a:pt x="9469" y="9477"/>
                  </a:lnTo>
                  <a:lnTo>
                    <a:pt x="19743" y="2541"/>
                  </a:lnTo>
                  <a:lnTo>
                    <a:pt x="32321" y="0"/>
                  </a:lnTo>
                  <a:lnTo>
                    <a:pt x="7898511" y="0"/>
                  </a:lnTo>
                  <a:lnTo>
                    <a:pt x="7911125" y="2541"/>
                  </a:lnTo>
                  <a:lnTo>
                    <a:pt x="7921418" y="9477"/>
                  </a:lnTo>
                  <a:lnTo>
                    <a:pt x="7928354" y="19770"/>
                  </a:lnTo>
                  <a:lnTo>
                    <a:pt x="7930896" y="32384"/>
                  </a:lnTo>
                  <a:lnTo>
                    <a:pt x="7930896" y="743330"/>
                  </a:lnTo>
                  <a:lnTo>
                    <a:pt x="7928354" y="755945"/>
                  </a:lnTo>
                  <a:lnTo>
                    <a:pt x="7921418" y="766238"/>
                  </a:lnTo>
                  <a:lnTo>
                    <a:pt x="7911125" y="773174"/>
                  </a:lnTo>
                  <a:lnTo>
                    <a:pt x="7898511" y="775715"/>
                  </a:lnTo>
                  <a:lnTo>
                    <a:pt x="32321" y="775715"/>
                  </a:lnTo>
                  <a:lnTo>
                    <a:pt x="19743" y="773174"/>
                  </a:lnTo>
                  <a:lnTo>
                    <a:pt x="9469" y="766238"/>
                  </a:lnTo>
                  <a:lnTo>
                    <a:pt x="2540" y="755945"/>
                  </a:lnTo>
                  <a:lnTo>
                    <a:pt x="0" y="743330"/>
                  </a:lnTo>
                  <a:lnTo>
                    <a:pt x="0" y="32384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640397" y="1870329"/>
            <a:ext cx="2127250" cy="488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2100" indent="-229235">
              <a:lnSpc>
                <a:spcPts val="1825"/>
              </a:lnSpc>
              <a:spcBef>
                <a:spcPts val="95"/>
              </a:spcBef>
              <a:buClr>
                <a:srgbClr val="006699"/>
              </a:buClr>
              <a:buFont typeface="Verdana"/>
              <a:buChar char="•"/>
              <a:tabLst>
                <a:tab pos="292735" algn="l"/>
              </a:tabLst>
            </a:pPr>
            <a:r>
              <a:rPr sz="1600" b="1" spc="-5" dirty="0">
                <a:latin typeface="Verdana"/>
                <a:cs typeface="Verdana"/>
              </a:rPr>
              <a:t>Computer</a:t>
            </a:r>
            <a:r>
              <a:rPr sz="1600" b="1" spc="-15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must</a:t>
            </a:r>
            <a:endParaRPr sz="1600">
              <a:latin typeface="Verdana"/>
              <a:cs typeface="Verdana"/>
            </a:endParaRPr>
          </a:p>
          <a:p>
            <a:pPr marL="292100">
              <a:lnSpc>
                <a:spcPts val="1825"/>
              </a:lnSpc>
            </a:pPr>
            <a:r>
              <a:rPr sz="1600" b="1" spc="-5" dirty="0">
                <a:latin typeface="Verdana"/>
                <a:cs typeface="Verdana"/>
              </a:rPr>
              <a:t>IPv4 address</a:t>
            </a:r>
            <a:r>
              <a:rPr sz="1600" b="1" spc="-25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co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748615" y="1870329"/>
            <a:ext cx="4919345" cy="488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825"/>
              </a:lnSpc>
              <a:spcBef>
                <a:spcPts val="95"/>
              </a:spcBef>
            </a:pPr>
            <a:r>
              <a:rPr sz="1600" b="1" spc="-10" dirty="0">
                <a:latin typeface="Verdana"/>
                <a:cs typeface="Verdana"/>
              </a:rPr>
              <a:t>be compliant </a:t>
            </a:r>
            <a:r>
              <a:rPr sz="1600" b="1" spc="-5" dirty="0">
                <a:latin typeface="Verdana"/>
                <a:cs typeface="Verdana"/>
              </a:rPr>
              <a:t>to obtain an </a:t>
            </a:r>
            <a:r>
              <a:rPr sz="1600" b="1" spc="-10" dirty="0">
                <a:latin typeface="Verdana"/>
                <a:cs typeface="Verdana"/>
              </a:rPr>
              <a:t>unlimited</a:t>
            </a:r>
            <a:r>
              <a:rPr sz="1600" b="1" spc="165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access</a:t>
            </a:r>
            <a:endParaRPr sz="1600">
              <a:latin typeface="Verdana"/>
              <a:cs typeface="Verdana"/>
            </a:endParaRPr>
          </a:p>
          <a:p>
            <a:pPr marL="17145">
              <a:lnSpc>
                <a:spcPts val="1825"/>
              </a:lnSpc>
            </a:pPr>
            <a:r>
              <a:rPr sz="1600" b="1" spc="-10" dirty="0">
                <a:latin typeface="Verdana"/>
                <a:cs typeface="Verdana"/>
              </a:rPr>
              <a:t>nfiguration from </a:t>
            </a:r>
            <a:r>
              <a:rPr sz="1600" b="1" spc="-5" dirty="0">
                <a:latin typeface="Verdana"/>
                <a:cs typeface="Verdana"/>
              </a:rPr>
              <a:t>a </a:t>
            </a:r>
            <a:r>
              <a:rPr sz="1600" b="1" spc="-10" dirty="0">
                <a:latin typeface="Verdana"/>
                <a:cs typeface="Verdana"/>
              </a:rPr>
              <a:t>DHCP</a:t>
            </a:r>
            <a:r>
              <a:rPr sz="1600" b="1" spc="114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server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595883" y="2621279"/>
            <a:ext cx="7943215" cy="1671955"/>
            <a:chOff x="595883" y="2621279"/>
            <a:chExt cx="7943215" cy="1671955"/>
          </a:xfrm>
        </p:grpSpPr>
        <p:sp>
          <p:nvSpPr>
            <p:cNvPr id="63" name="object 63"/>
            <p:cNvSpPr/>
            <p:nvPr/>
          </p:nvSpPr>
          <p:spPr>
            <a:xfrm>
              <a:off x="603503" y="2625851"/>
              <a:ext cx="7931150" cy="775970"/>
            </a:xfrm>
            <a:custGeom>
              <a:avLst/>
              <a:gdLst/>
              <a:ahLst/>
              <a:cxnLst/>
              <a:rect l="l" t="t" r="r" b="b"/>
              <a:pathLst>
                <a:path w="7931150" h="775970">
                  <a:moveTo>
                    <a:pt x="7898511" y="0"/>
                  </a:moveTo>
                  <a:lnTo>
                    <a:pt x="32321" y="0"/>
                  </a:lnTo>
                  <a:lnTo>
                    <a:pt x="19743" y="2541"/>
                  </a:lnTo>
                  <a:lnTo>
                    <a:pt x="9469" y="9477"/>
                  </a:lnTo>
                  <a:lnTo>
                    <a:pt x="2540" y="19770"/>
                  </a:lnTo>
                  <a:lnTo>
                    <a:pt x="0" y="32385"/>
                  </a:lnTo>
                  <a:lnTo>
                    <a:pt x="0" y="743331"/>
                  </a:lnTo>
                  <a:lnTo>
                    <a:pt x="2540" y="755945"/>
                  </a:lnTo>
                  <a:lnTo>
                    <a:pt x="9469" y="766238"/>
                  </a:lnTo>
                  <a:lnTo>
                    <a:pt x="19743" y="773174"/>
                  </a:lnTo>
                  <a:lnTo>
                    <a:pt x="32321" y="775715"/>
                  </a:lnTo>
                  <a:lnTo>
                    <a:pt x="7898511" y="775715"/>
                  </a:lnTo>
                  <a:lnTo>
                    <a:pt x="7911125" y="773174"/>
                  </a:lnTo>
                  <a:lnTo>
                    <a:pt x="7921418" y="766238"/>
                  </a:lnTo>
                  <a:lnTo>
                    <a:pt x="7928354" y="755945"/>
                  </a:lnTo>
                  <a:lnTo>
                    <a:pt x="7930896" y="743331"/>
                  </a:lnTo>
                  <a:lnTo>
                    <a:pt x="7930896" y="32385"/>
                  </a:lnTo>
                  <a:lnTo>
                    <a:pt x="7928354" y="19770"/>
                  </a:lnTo>
                  <a:lnTo>
                    <a:pt x="7921418" y="9477"/>
                  </a:lnTo>
                  <a:lnTo>
                    <a:pt x="7911125" y="2541"/>
                  </a:lnTo>
                  <a:lnTo>
                    <a:pt x="7898511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03503" y="2625851"/>
              <a:ext cx="7931150" cy="775970"/>
            </a:xfrm>
            <a:custGeom>
              <a:avLst/>
              <a:gdLst/>
              <a:ahLst/>
              <a:cxnLst/>
              <a:rect l="l" t="t" r="r" b="b"/>
              <a:pathLst>
                <a:path w="7931150" h="775970">
                  <a:moveTo>
                    <a:pt x="0" y="32385"/>
                  </a:moveTo>
                  <a:lnTo>
                    <a:pt x="2540" y="19770"/>
                  </a:lnTo>
                  <a:lnTo>
                    <a:pt x="9469" y="9477"/>
                  </a:lnTo>
                  <a:lnTo>
                    <a:pt x="19743" y="2541"/>
                  </a:lnTo>
                  <a:lnTo>
                    <a:pt x="32321" y="0"/>
                  </a:lnTo>
                  <a:lnTo>
                    <a:pt x="7898511" y="0"/>
                  </a:lnTo>
                  <a:lnTo>
                    <a:pt x="7911125" y="2541"/>
                  </a:lnTo>
                  <a:lnTo>
                    <a:pt x="7921418" y="9477"/>
                  </a:lnTo>
                  <a:lnTo>
                    <a:pt x="7928354" y="19770"/>
                  </a:lnTo>
                  <a:lnTo>
                    <a:pt x="7930896" y="32385"/>
                  </a:lnTo>
                  <a:lnTo>
                    <a:pt x="7930896" y="743331"/>
                  </a:lnTo>
                  <a:lnTo>
                    <a:pt x="7928354" y="755945"/>
                  </a:lnTo>
                  <a:lnTo>
                    <a:pt x="7921418" y="766238"/>
                  </a:lnTo>
                  <a:lnTo>
                    <a:pt x="7911125" y="773174"/>
                  </a:lnTo>
                  <a:lnTo>
                    <a:pt x="7898511" y="775715"/>
                  </a:lnTo>
                  <a:lnTo>
                    <a:pt x="32321" y="775715"/>
                  </a:lnTo>
                  <a:lnTo>
                    <a:pt x="19743" y="773174"/>
                  </a:lnTo>
                  <a:lnTo>
                    <a:pt x="9469" y="766238"/>
                  </a:lnTo>
                  <a:lnTo>
                    <a:pt x="2540" y="755945"/>
                  </a:lnTo>
                  <a:lnTo>
                    <a:pt x="0" y="743331"/>
                  </a:lnTo>
                  <a:lnTo>
                    <a:pt x="0" y="32385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00455" y="3511295"/>
              <a:ext cx="7931150" cy="777240"/>
            </a:xfrm>
            <a:custGeom>
              <a:avLst/>
              <a:gdLst/>
              <a:ahLst/>
              <a:cxnLst/>
              <a:rect l="l" t="t" r="r" b="b"/>
              <a:pathLst>
                <a:path w="7931150" h="777239">
                  <a:moveTo>
                    <a:pt x="7898511" y="0"/>
                  </a:moveTo>
                  <a:lnTo>
                    <a:pt x="32384" y="0"/>
                  </a:lnTo>
                  <a:lnTo>
                    <a:pt x="19781" y="2541"/>
                  </a:lnTo>
                  <a:lnTo>
                    <a:pt x="9486" y="9477"/>
                  </a:lnTo>
                  <a:lnTo>
                    <a:pt x="2545" y="19770"/>
                  </a:lnTo>
                  <a:lnTo>
                    <a:pt x="0" y="32384"/>
                  </a:lnTo>
                  <a:lnTo>
                    <a:pt x="0" y="744854"/>
                  </a:lnTo>
                  <a:lnTo>
                    <a:pt x="2545" y="757469"/>
                  </a:lnTo>
                  <a:lnTo>
                    <a:pt x="9486" y="767762"/>
                  </a:lnTo>
                  <a:lnTo>
                    <a:pt x="19781" y="774698"/>
                  </a:lnTo>
                  <a:lnTo>
                    <a:pt x="32384" y="777239"/>
                  </a:lnTo>
                  <a:lnTo>
                    <a:pt x="7898511" y="777239"/>
                  </a:lnTo>
                  <a:lnTo>
                    <a:pt x="7911125" y="774698"/>
                  </a:lnTo>
                  <a:lnTo>
                    <a:pt x="7921418" y="767762"/>
                  </a:lnTo>
                  <a:lnTo>
                    <a:pt x="7928354" y="757469"/>
                  </a:lnTo>
                  <a:lnTo>
                    <a:pt x="7930896" y="744854"/>
                  </a:lnTo>
                  <a:lnTo>
                    <a:pt x="7930896" y="32384"/>
                  </a:lnTo>
                  <a:lnTo>
                    <a:pt x="7928354" y="19770"/>
                  </a:lnTo>
                  <a:lnTo>
                    <a:pt x="7921418" y="9477"/>
                  </a:lnTo>
                  <a:lnTo>
                    <a:pt x="7911125" y="2541"/>
                  </a:lnTo>
                  <a:lnTo>
                    <a:pt x="7898511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00455" y="3511295"/>
              <a:ext cx="7931150" cy="777240"/>
            </a:xfrm>
            <a:custGeom>
              <a:avLst/>
              <a:gdLst/>
              <a:ahLst/>
              <a:cxnLst/>
              <a:rect l="l" t="t" r="r" b="b"/>
              <a:pathLst>
                <a:path w="7931150" h="777239">
                  <a:moveTo>
                    <a:pt x="0" y="32384"/>
                  </a:moveTo>
                  <a:lnTo>
                    <a:pt x="2545" y="19770"/>
                  </a:lnTo>
                  <a:lnTo>
                    <a:pt x="9486" y="9477"/>
                  </a:lnTo>
                  <a:lnTo>
                    <a:pt x="19781" y="2541"/>
                  </a:lnTo>
                  <a:lnTo>
                    <a:pt x="32384" y="0"/>
                  </a:lnTo>
                  <a:lnTo>
                    <a:pt x="7898511" y="0"/>
                  </a:lnTo>
                  <a:lnTo>
                    <a:pt x="7911125" y="2541"/>
                  </a:lnTo>
                  <a:lnTo>
                    <a:pt x="7921418" y="9477"/>
                  </a:lnTo>
                  <a:lnTo>
                    <a:pt x="7928354" y="19770"/>
                  </a:lnTo>
                  <a:lnTo>
                    <a:pt x="7930896" y="32384"/>
                  </a:lnTo>
                  <a:lnTo>
                    <a:pt x="7930896" y="744854"/>
                  </a:lnTo>
                  <a:lnTo>
                    <a:pt x="7928354" y="757469"/>
                  </a:lnTo>
                  <a:lnTo>
                    <a:pt x="7921418" y="767762"/>
                  </a:lnTo>
                  <a:lnTo>
                    <a:pt x="7911125" y="774698"/>
                  </a:lnTo>
                  <a:lnTo>
                    <a:pt x="7898511" y="777239"/>
                  </a:lnTo>
                  <a:lnTo>
                    <a:pt x="32384" y="777239"/>
                  </a:lnTo>
                  <a:lnTo>
                    <a:pt x="19781" y="774698"/>
                  </a:lnTo>
                  <a:lnTo>
                    <a:pt x="9486" y="767762"/>
                  </a:lnTo>
                  <a:lnTo>
                    <a:pt x="2545" y="757469"/>
                  </a:lnTo>
                  <a:lnTo>
                    <a:pt x="0" y="744854"/>
                  </a:lnTo>
                  <a:lnTo>
                    <a:pt x="0" y="32384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688340" y="2756407"/>
            <a:ext cx="7743825" cy="148399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244475" marR="765175" indent="-228600">
              <a:lnSpc>
                <a:spcPts val="1730"/>
              </a:lnSpc>
              <a:spcBef>
                <a:spcPts val="310"/>
              </a:spcBef>
              <a:buClr>
                <a:srgbClr val="006699"/>
              </a:buClr>
              <a:buFont typeface="Verdana"/>
              <a:buChar char="•"/>
              <a:tabLst>
                <a:tab pos="245110" algn="l"/>
              </a:tabLst>
            </a:pPr>
            <a:r>
              <a:rPr sz="1600" b="1" spc="-5" dirty="0">
                <a:latin typeface="Verdana"/>
                <a:cs typeface="Verdana"/>
              </a:rPr>
              <a:t>Noncompliant computers </a:t>
            </a:r>
            <a:r>
              <a:rPr sz="1600" b="1" spc="-10" dirty="0">
                <a:latin typeface="Verdana"/>
                <a:cs typeface="Verdana"/>
              </a:rPr>
              <a:t>have IPv4 </a:t>
            </a:r>
            <a:r>
              <a:rPr sz="1600" b="1" spc="-5" dirty="0">
                <a:latin typeface="Verdana"/>
                <a:cs typeface="Verdana"/>
              </a:rPr>
              <a:t>address </a:t>
            </a:r>
            <a:r>
              <a:rPr sz="1600" b="1" spc="-10" dirty="0">
                <a:latin typeface="Verdana"/>
                <a:cs typeface="Verdana"/>
              </a:rPr>
              <a:t>configuration,  allowing </a:t>
            </a:r>
            <a:r>
              <a:rPr sz="1600" b="1" spc="-5" dirty="0">
                <a:latin typeface="Verdana"/>
                <a:cs typeface="Verdana"/>
              </a:rPr>
              <a:t>access to </a:t>
            </a:r>
            <a:r>
              <a:rPr sz="1600" b="1" spc="-10" dirty="0">
                <a:latin typeface="Verdana"/>
                <a:cs typeface="Verdana"/>
              </a:rPr>
              <a:t>restricted network</a:t>
            </a:r>
            <a:r>
              <a:rPr sz="1600" b="1" spc="180" dirty="0">
                <a:latin typeface="Verdana"/>
                <a:cs typeface="Verdana"/>
              </a:rPr>
              <a:t> </a:t>
            </a:r>
            <a:r>
              <a:rPr sz="1600" b="1" spc="-5" dirty="0">
                <a:latin typeface="Verdana"/>
                <a:cs typeface="Verdana"/>
              </a:rPr>
              <a:t>only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006699"/>
              </a:buClr>
              <a:buFont typeface="Verdana"/>
              <a:buChar char="•"/>
            </a:pPr>
            <a:endParaRPr sz="2150">
              <a:latin typeface="Verdana"/>
              <a:cs typeface="Verdana"/>
            </a:endParaRPr>
          </a:p>
          <a:p>
            <a:pPr marL="241300" marR="5080" indent="-228600">
              <a:lnSpc>
                <a:spcPts val="1730"/>
              </a:lnSpc>
              <a:buClr>
                <a:srgbClr val="006699"/>
              </a:buClr>
              <a:buFont typeface="Verdana"/>
              <a:buChar char="•"/>
              <a:tabLst>
                <a:tab pos="241300" algn="l"/>
              </a:tabLst>
            </a:pPr>
            <a:r>
              <a:rPr sz="1600" b="1" spc="-10" dirty="0">
                <a:latin typeface="Verdana"/>
                <a:cs typeface="Verdana"/>
              </a:rPr>
              <a:t>DHCP enforcement actively </a:t>
            </a:r>
            <a:r>
              <a:rPr sz="1600" b="1" spc="-5" dirty="0">
                <a:latin typeface="Verdana"/>
                <a:cs typeface="Verdana"/>
              </a:rPr>
              <a:t>monitors the </a:t>
            </a:r>
            <a:r>
              <a:rPr sz="1600" b="1" spc="-10" dirty="0">
                <a:latin typeface="Verdana"/>
                <a:cs typeface="Verdana"/>
              </a:rPr>
              <a:t>health </a:t>
            </a:r>
            <a:r>
              <a:rPr sz="1600" b="1" spc="-5" dirty="0">
                <a:latin typeface="Verdana"/>
                <a:cs typeface="Verdana"/>
              </a:rPr>
              <a:t>status of the  NAP </a:t>
            </a:r>
            <a:r>
              <a:rPr sz="1600" b="1" spc="-10" dirty="0">
                <a:latin typeface="Verdana"/>
                <a:cs typeface="Verdana"/>
              </a:rPr>
              <a:t>client, renewing </a:t>
            </a:r>
            <a:r>
              <a:rPr sz="1600" b="1" spc="-5" dirty="0">
                <a:latin typeface="Verdana"/>
                <a:cs typeface="Verdana"/>
              </a:rPr>
              <a:t>the </a:t>
            </a:r>
            <a:r>
              <a:rPr sz="1600" b="1" spc="-10" dirty="0">
                <a:latin typeface="Verdana"/>
                <a:cs typeface="Verdana"/>
              </a:rPr>
              <a:t>IPv4 </a:t>
            </a:r>
            <a:r>
              <a:rPr sz="1600" b="1" spc="-5" dirty="0">
                <a:latin typeface="Verdana"/>
                <a:cs typeface="Verdana"/>
              </a:rPr>
              <a:t>address </a:t>
            </a:r>
            <a:r>
              <a:rPr sz="1600" b="1" spc="-10" dirty="0">
                <a:latin typeface="Verdana"/>
                <a:cs typeface="Verdana"/>
              </a:rPr>
              <a:t>configuration for access  </a:t>
            </a:r>
            <a:r>
              <a:rPr sz="1600" b="1" spc="-5" dirty="0">
                <a:latin typeface="Verdana"/>
                <a:cs typeface="Verdana"/>
              </a:rPr>
              <a:t>only to the </a:t>
            </a:r>
            <a:r>
              <a:rPr sz="1600" b="1" spc="-10" dirty="0">
                <a:latin typeface="Verdana"/>
                <a:cs typeface="Verdana"/>
              </a:rPr>
              <a:t>restricted network if </a:t>
            </a:r>
            <a:r>
              <a:rPr sz="1600" b="1" spc="-5" dirty="0">
                <a:latin typeface="Verdana"/>
                <a:cs typeface="Verdana"/>
              </a:rPr>
              <a:t>the </a:t>
            </a:r>
            <a:r>
              <a:rPr sz="1600" b="1" spc="-10" dirty="0">
                <a:latin typeface="Verdana"/>
                <a:cs typeface="Verdana"/>
              </a:rPr>
              <a:t>client becomes</a:t>
            </a:r>
            <a:r>
              <a:rPr sz="1600" b="1" spc="240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noncompliant</a:t>
            </a:r>
            <a:endParaRPr sz="1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41211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spc="-5" dirty="0" smtClean="0">
                <a:latin typeface="Verdana"/>
                <a:cs typeface="Verdana"/>
              </a:rPr>
              <a:t> </a:t>
            </a:r>
            <a:r>
              <a:rPr sz="2400" spc="-5" dirty="0" smtClean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3: </a:t>
            </a:r>
            <a:r>
              <a:rPr sz="2400" dirty="0">
                <a:latin typeface="Verdana"/>
                <a:cs typeface="Verdana"/>
              </a:rPr>
              <a:t>Configuring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NAP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6328" y="946150"/>
            <a:ext cx="7612380" cy="2282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7960" indent="-175260">
              <a:lnSpc>
                <a:spcPct val="100000"/>
              </a:lnSpc>
              <a:spcBef>
                <a:spcPts val="10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dirty="0">
                <a:latin typeface="Verdana"/>
                <a:cs typeface="Verdana"/>
              </a:rPr>
              <a:t>What </a:t>
            </a:r>
            <a:r>
              <a:rPr sz="2000" spc="-5" dirty="0">
                <a:latin typeface="Verdana"/>
                <a:cs typeface="Verdana"/>
              </a:rPr>
              <a:t>Are </a:t>
            </a:r>
            <a:r>
              <a:rPr sz="2000" dirty="0">
                <a:latin typeface="Verdana"/>
                <a:cs typeface="Verdana"/>
              </a:rPr>
              <a:t>System </a:t>
            </a:r>
            <a:r>
              <a:rPr sz="2000" spc="-5" dirty="0">
                <a:latin typeface="Verdana"/>
                <a:cs typeface="Verdana"/>
              </a:rPr>
              <a:t>Health</a:t>
            </a:r>
            <a:r>
              <a:rPr sz="2000" spc="-9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Validators?</a:t>
            </a:r>
            <a:endParaRPr sz="200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3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dirty="0">
                <a:latin typeface="Verdana"/>
                <a:cs typeface="Verdana"/>
              </a:rPr>
              <a:t>What Is a </a:t>
            </a:r>
            <a:r>
              <a:rPr sz="2000" spc="-5" dirty="0">
                <a:latin typeface="Verdana"/>
                <a:cs typeface="Verdana"/>
              </a:rPr>
              <a:t>Health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Policy?</a:t>
            </a:r>
            <a:endParaRPr sz="200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4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dirty="0">
                <a:latin typeface="Verdana"/>
                <a:cs typeface="Verdana"/>
              </a:rPr>
              <a:t>What </a:t>
            </a:r>
            <a:r>
              <a:rPr sz="2000" spc="-5" dirty="0">
                <a:latin typeface="Verdana"/>
                <a:cs typeface="Verdana"/>
              </a:rPr>
              <a:t>Are Remediation Server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Groups?</a:t>
            </a:r>
            <a:endParaRPr sz="200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40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NAP Client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Configuration</a:t>
            </a:r>
            <a:endParaRPr sz="200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40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dirty="0">
                <a:latin typeface="Verdana"/>
                <a:cs typeface="Verdana"/>
              </a:rPr>
              <a:t>Demonstration: How to </a:t>
            </a:r>
            <a:r>
              <a:rPr sz="2000" spc="-5" dirty="0">
                <a:latin typeface="Verdana"/>
                <a:cs typeface="Verdana"/>
              </a:rPr>
              <a:t>Configure Network </a:t>
            </a:r>
            <a:r>
              <a:rPr sz="2000" dirty="0">
                <a:latin typeface="Verdana"/>
                <a:cs typeface="Verdana"/>
              </a:rPr>
              <a:t>Access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Policies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56026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Verdana"/>
                <a:cs typeface="Verdana"/>
              </a:rPr>
              <a:t>What Are System </a:t>
            </a:r>
            <a:r>
              <a:rPr sz="2400" spc="-5" dirty="0">
                <a:latin typeface="Verdana"/>
                <a:cs typeface="Verdana"/>
              </a:rPr>
              <a:t>Health</a:t>
            </a:r>
            <a:r>
              <a:rPr sz="2400" spc="-6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Validators?</a:t>
            </a:r>
            <a:endParaRPr sz="2400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85572" y="1008888"/>
            <a:ext cx="8475345" cy="843280"/>
            <a:chOff x="385572" y="1008888"/>
            <a:chExt cx="8475345" cy="843280"/>
          </a:xfrm>
        </p:grpSpPr>
        <p:sp>
          <p:nvSpPr>
            <p:cNvPr id="4" name="object 4"/>
            <p:cNvSpPr/>
            <p:nvPr/>
          </p:nvSpPr>
          <p:spPr>
            <a:xfrm>
              <a:off x="409956" y="1033272"/>
              <a:ext cx="8450580" cy="81381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0352" y="1094232"/>
              <a:ext cx="8285988" cy="75742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90144" y="1013460"/>
              <a:ext cx="8438388" cy="80162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90144" y="1013460"/>
              <a:ext cx="8438515" cy="802005"/>
            </a:xfrm>
            <a:custGeom>
              <a:avLst/>
              <a:gdLst/>
              <a:ahLst/>
              <a:cxnLst/>
              <a:rect l="l" t="t" r="r" b="b"/>
              <a:pathLst>
                <a:path w="8438515" h="802005">
                  <a:moveTo>
                    <a:pt x="0" y="133603"/>
                  </a:moveTo>
                  <a:lnTo>
                    <a:pt x="6811" y="91374"/>
                  </a:lnTo>
                  <a:lnTo>
                    <a:pt x="25777" y="54699"/>
                  </a:lnTo>
                  <a:lnTo>
                    <a:pt x="54699" y="25777"/>
                  </a:lnTo>
                  <a:lnTo>
                    <a:pt x="91374" y="6811"/>
                  </a:lnTo>
                  <a:lnTo>
                    <a:pt x="133604" y="0"/>
                  </a:lnTo>
                  <a:lnTo>
                    <a:pt x="8304783" y="0"/>
                  </a:lnTo>
                  <a:lnTo>
                    <a:pt x="8347013" y="6811"/>
                  </a:lnTo>
                  <a:lnTo>
                    <a:pt x="8383688" y="25777"/>
                  </a:lnTo>
                  <a:lnTo>
                    <a:pt x="8412610" y="54699"/>
                  </a:lnTo>
                  <a:lnTo>
                    <a:pt x="8431576" y="91374"/>
                  </a:lnTo>
                  <a:lnTo>
                    <a:pt x="8438388" y="133603"/>
                  </a:lnTo>
                  <a:lnTo>
                    <a:pt x="8438388" y="668019"/>
                  </a:lnTo>
                  <a:lnTo>
                    <a:pt x="8431576" y="710249"/>
                  </a:lnTo>
                  <a:lnTo>
                    <a:pt x="8412610" y="746924"/>
                  </a:lnTo>
                  <a:lnTo>
                    <a:pt x="8383688" y="775846"/>
                  </a:lnTo>
                  <a:lnTo>
                    <a:pt x="8347013" y="794812"/>
                  </a:lnTo>
                  <a:lnTo>
                    <a:pt x="8304783" y="801624"/>
                  </a:lnTo>
                  <a:lnTo>
                    <a:pt x="133604" y="801624"/>
                  </a:lnTo>
                  <a:lnTo>
                    <a:pt x="91374" y="794812"/>
                  </a:lnTo>
                  <a:lnTo>
                    <a:pt x="54699" y="775846"/>
                  </a:lnTo>
                  <a:lnTo>
                    <a:pt x="25777" y="746924"/>
                  </a:lnTo>
                  <a:lnTo>
                    <a:pt x="6811" y="710249"/>
                  </a:lnTo>
                  <a:lnTo>
                    <a:pt x="0" y="668019"/>
                  </a:lnTo>
                  <a:lnTo>
                    <a:pt x="0" y="133603"/>
                  </a:lnTo>
                  <a:close/>
                </a:path>
              </a:pathLst>
            </a:custGeom>
            <a:ln w="914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31647" y="1125473"/>
            <a:ext cx="79546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00960" marR="5080" indent="-2588895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Verdana"/>
                <a:cs typeface="Verdana"/>
              </a:rPr>
              <a:t>System </a:t>
            </a:r>
            <a:r>
              <a:rPr sz="1800" b="1" spc="-5" dirty="0">
                <a:latin typeface="Verdana"/>
                <a:cs typeface="Verdana"/>
              </a:rPr>
              <a:t>Health Validators are server software counterparts </a:t>
            </a:r>
            <a:r>
              <a:rPr sz="1800" b="1" dirty="0">
                <a:latin typeface="Verdana"/>
                <a:cs typeface="Verdana"/>
              </a:rPr>
              <a:t>to  </a:t>
            </a:r>
            <a:r>
              <a:rPr sz="1800" b="1" spc="-5" dirty="0">
                <a:latin typeface="Verdana"/>
                <a:cs typeface="Verdana"/>
              </a:rPr>
              <a:t>system health</a:t>
            </a:r>
            <a:r>
              <a:rPr sz="1800" b="1" dirty="0">
                <a:latin typeface="Verdana"/>
                <a:cs typeface="Verdana"/>
              </a:rPr>
              <a:t> agents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42900" y="2063495"/>
            <a:ext cx="4448810" cy="4113529"/>
            <a:chOff x="342900" y="2063495"/>
            <a:chExt cx="4448810" cy="4113529"/>
          </a:xfrm>
        </p:grpSpPr>
        <p:sp>
          <p:nvSpPr>
            <p:cNvPr id="10" name="object 10"/>
            <p:cNvSpPr/>
            <p:nvPr/>
          </p:nvSpPr>
          <p:spPr>
            <a:xfrm>
              <a:off x="347472" y="2068067"/>
              <a:ext cx="4439920" cy="4104640"/>
            </a:xfrm>
            <a:custGeom>
              <a:avLst/>
              <a:gdLst/>
              <a:ahLst/>
              <a:cxnLst/>
              <a:rect l="l" t="t" r="r" b="b"/>
              <a:pathLst>
                <a:path w="4439920" h="4104640">
                  <a:moveTo>
                    <a:pt x="4268343" y="0"/>
                  </a:moveTo>
                  <a:lnTo>
                    <a:pt x="171018" y="0"/>
                  </a:lnTo>
                  <a:lnTo>
                    <a:pt x="125555" y="6110"/>
                  </a:lnTo>
                  <a:lnTo>
                    <a:pt x="84702" y="23353"/>
                  </a:lnTo>
                  <a:lnTo>
                    <a:pt x="50090" y="50101"/>
                  </a:lnTo>
                  <a:lnTo>
                    <a:pt x="23349" y="84723"/>
                  </a:lnTo>
                  <a:lnTo>
                    <a:pt x="6108" y="125588"/>
                  </a:lnTo>
                  <a:lnTo>
                    <a:pt x="0" y="171069"/>
                  </a:lnTo>
                  <a:lnTo>
                    <a:pt x="0" y="3933113"/>
                  </a:lnTo>
                  <a:lnTo>
                    <a:pt x="6108" y="3978576"/>
                  </a:lnTo>
                  <a:lnTo>
                    <a:pt x="23349" y="4019429"/>
                  </a:lnTo>
                  <a:lnTo>
                    <a:pt x="50090" y="4054041"/>
                  </a:lnTo>
                  <a:lnTo>
                    <a:pt x="84702" y="4080782"/>
                  </a:lnTo>
                  <a:lnTo>
                    <a:pt x="125555" y="4098023"/>
                  </a:lnTo>
                  <a:lnTo>
                    <a:pt x="171018" y="4104132"/>
                  </a:lnTo>
                  <a:lnTo>
                    <a:pt x="4268343" y="4104132"/>
                  </a:lnTo>
                  <a:lnTo>
                    <a:pt x="4313823" y="4098023"/>
                  </a:lnTo>
                  <a:lnTo>
                    <a:pt x="4354688" y="4080782"/>
                  </a:lnTo>
                  <a:lnTo>
                    <a:pt x="4389310" y="4054041"/>
                  </a:lnTo>
                  <a:lnTo>
                    <a:pt x="4416058" y="4019429"/>
                  </a:lnTo>
                  <a:lnTo>
                    <a:pt x="4433301" y="3978576"/>
                  </a:lnTo>
                  <a:lnTo>
                    <a:pt x="4439412" y="3933113"/>
                  </a:lnTo>
                  <a:lnTo>
                    <a:pt x="4439412" y="171069"/>
                  </a:lnTo>
                  <a:lnTo>
                    <a:pt x="4433301" y="125588"/>
                  </a:lnTo>
                  <a:lnTo>
                    <a:pt x="4416058" y="84723"/>
                  </a:lnTo>
                  <a:lnTo>
                    <a:pt x="4389310" y="50101"/>
                  </a:lnTo>
                  <a:lnTo>
                    <a:pt x="4354688" y="23353"/>
                  </a:lnTo>
                  <a:lnTo>
                    <a:pt x="4313823" y="6110"/>
                  </a:lnTo>
                  <a:lnTo>
                    <a:pt x="4268343" y="0"/>
                  </a:lnTo>
                  <a:close/>
                </a:path>
              </a:pathLst>
            </a:custGeom>
            <a:solidFill>
              <a:srgbClr val="DE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47472" y="2068067"/>
              <a:ext cx="4439920" cy="4104640"/>
            </a:xfrm>
            <a:custGeom>
              <a:avLst/>
              <a:gdLst/>
              <a:ahLst/>
              <a:cxnLst/>
              <a:rect l="l" t="t" r="r" b="b"/>
              <a:pathLst>
                <a:path w="4439920" h="4104640">
                  <a:moveTo>
                    <a:pt x="0" y="171069"/>
                  </a:moveTo>
                  <a:lnTo>
                    <a:pt x="6108" y="125588"/>
                  </a:lnTo>
                  <a:lnTo>
                    <a:pt x="23349" y="84723"/>
                  </a:lnTo>
                  <a:lnTo>
                    <a:pt x="50090" y="50101"/>
                  </a:lnTo>
                  <a:lnTo>
                    <a:pt x="84702" y="23353"/>
                  </a:lnTo>
                  <a:lnTo>
                    <a:pt x="125555" y="6110"/>
                  </a:lnTo>
                  <a:lnTo>
                    <a:pt x="171018" y="0"/>
                  </a:lnTo>
                  <a:lnTo>
                    <a:pt x="4268343" y="0"/>
                  </a:lnTo>
                  <a:lnTo>
                    <a:pt x="4313823" y="6110"/>
                  </a:lnTo>
                  <a:lnTo>
                    <a:pt x="4354688" y="23353"/>
                  </a:lnTo>
                  <a:lnTo>
                    <a:pt x="4389310" y="50101"/>
                  </a:lnTo>
                  <a:lnTo>
                    <a:pt x="4416058" y="84723"/>
                  </a:lnTo>
                  <a:lnTo>
                    <a:pt x="4433301" y="125588"/>
                  </a:lnTo>
                  <a:lnTo>
                    <a:pt x="4439412" y="171069"/>
                  </a:lnTo>
                  <a:lnTo>
                    <a:pt x="4439412" y="3933113"/>
                  </a:lnTo>
                  <a:lnTo>
                    <a:pt x="4433301" y="3978576"/>
                  </a:lnTo>
                  <a:lnTo>
                    <a:pt x="4416058" y="4019429"/>
                  </a:lnTo>
                  <a:lnTo>
                    <a:pt x="4389310" y="4054041"/>
                  </a:lnTo>
                  <a:lnTo>
                    <a:pt x="4354688" y="4080782"/>
                  </a:lnTo>
                  <a:lnTo>
                    <a:pt x="4313823" y="4098023"/>
                  </a:lnTo>
                  <a:lnTo>
                    <a:pt x="4268343" y="4104132"/>
                  </a:lnTo>
                  <a:lnTo>
                    <a:pt x="171018" y="4104132"/>
                  </a:lnTo>
                  <a:lnTo>
                    <a:pt x="125555" y="4098023"/>
                  </a:lnTo>
                  <a:lnTo>
                    <a:pt x="84702" y="4080782"/>
                  </a:lnTo>
                  <a:lnTo>
                    <a:pt x="50090" y="4054041"/>
                  </a:lnTo>
                  <a:lnTo>
                    <a:pt x="23349" y="4019429"/>
                  </a:lnTo>
                  <a:lnTo>
                    <a:pt x="6108" y="3978576"/>
                  </a:lnTo>
                  <a:lnTo>
                    <a:pt x="0" y="3933113"/>
                  </a:lnTo>
                  <a:lnTo>
                    <a:pt x="0" y="171069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63295" y="2304287"/>
              <a:ext cx="4208145" cy="780415"/>
            </a:xfrm>
            <a:custGeom>
              <a:avLst/>
              <a:gdLst/>
              <a:ahLst/>
              <a:cxnLst/>
              <a:rect l="l" t="t" r="r" b="b"/>
              <a:pathLst>
                <a:path w="4208145" h="780414">
                  <a:moveTo>
                    <a:pt x="4175252" y="0"/>
                  </a:moveTo>
                  <a:lnTo>
                    <a:pt x="32512" y="0"/>
                  </a:lnTo>
                  <a:lnTo>
                    <a:pt x="19856" y="2561"/>
                  </a:lnTo>
                  <a:lnTo>
                    <a:pt x="9521" y="9540"/>
                  </a:lnTo>
                  <a:lnTo>
                    <a:pt x="2554" y="19877"/>
                  </a:lnTo>
                  <a:lnTo>
                    <a:pt x="0" y="32512"/>
                  </a:lnTo>
                  <a:lnTo>
                    <a:pt x="0" y="747776"/>
                  </a:lnTo>
                  <a:lnTo>
                    <a:pt x="2554" y="760410"/>
                  </a:lnTo>
                  <a:lnTo>
                    <a:pt x="9521" y="770747"/>
                  </a:lnTo>
                  <a:lnTo>
                    <a:pt x="19856" y="777726"/>
                  </a:lnTo>
                  <a:lnTo>
                    <a:pt x="32512" y="780288"/>
                  </a:lnTo>
                  <a:lnTo>
                    <a:pt x="4175252" y="780288"/>
                  </a:lnTo>
                  <a:lnTo>
                    <a:pt x="4187886" y="777726"/>
                  </a:lnTo>
                  <a:lnTo>
                    <a:pt x="4198223" y="770747"/>
                  </a:lnTo>
                  <a:lnTo>
                    <a:pt x="4205202" y="760410"/>
                  </a:lnTo>
                  <a:lnTo>
                    <a:pt x="4207764" y="747776"/>
                  </a:lnTo>
                  <a:lnTo>
                    <a:pt x="4207764" y="32512"/>
                  </a:lnTo>
                  <a:lnTo>
                    <a:pt x="4205202" y="19877"/>
                  </a:lnTo>
                  <a:lnTo>
                    <a:pt x="4198223" y="9540"/>
                  </a:lnTo>
                  <a:lnTo>
                    <a:pt x="4187886" y="2561"/>
                  </a:lnTo>
                  <a:lnTo>
                    <a:pt x="4175252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3295" y="2304287"/>
              <a:ext cx="4208145" cy="780415"/>
            </a:xfrm>
            <a:custGeom>
              <a:avLst/>
              <a:gdLst/>
              <a:ahLst/>
              <a:cxnLst/>
              <a:rect l="l" t="t" r="r" b="b"/>
              <a:pathLst>
                <a:path w="4208145" h="780414">
                  <a:moveTo>
                    <a:pt x="0" y="32512"/>
                  </a:moveTo>
                  <a:lnTo>
                    <a:pt x="2554" y="19877"/>
                  </a:lnTo>
                  <a:lnTo>
                    <a:pt x="9521" y="9540"/>
                  </a:lnTo>
                  <a:lnTo>
                    <a:pt x="19856" y="2561"/>
                  </a:lnTo>
                  <a:lnTo>
                    <a:pt x="32512" y="0"/>
                  </a:lnTo>
                  <a:lnTo>
                    <a:pt x="4175252" y="0"/>
                  </a:lnTo>
                  <a:lnTo>
                    <a:pt x="4187886" y="2561"/>
                  </a:lnTo>
                  <a:lnTo>
                    <a:pt x="4198223" y="9540"/>
                  </a:lnTo>
                  <a:lnTo>
                    <a:pt x="4205202" y="19877"/>
                  </a:lnTo>
                  <a:lnTo>
                    <a:pt x="4207764" y="32512"/>
                  </a:lnTo>
                  <a:lnTo>
                    <a:pt x="4207764" y="747776"/>
                  </a:lnTo>
                  <a:lnTo>
                    <a:pt x="4205202" y="760410"/>
                  </a:lnTo>
                  <a:lnTo>
                    <a:pt x="4198223" y="770747"/>
                  </a:lnTo>
                  <a:lnTo>
                    <a:pt x="4187886" y="777726"/>
                  </a:lnTo>
                  <a:lnTo>
                    <a:pt x="4175252" y="780288"/>
                  </a:lnTo>
                  <a:lnTo>
                    <a:pt x="32512" y="780288"/>
                  </a:lnTo>
                  <a:lnTo>
                    <a:pt x="19856" y="777726"/>
                  </a:lnTo>
                  <a:lnTo>
                    <a:pt x="9521" y="770747"/>
                  </a:lnTo>
                  <a:lnTo>
                    <a:pt x="2554" y="760410"/>
                  </a:lnTo>
                  <a:lnTo>
                    <a:pt x="0" y="747776"/>
                  </a:lnTo>
                  <a:lnTo>
                    <a:pt x="0" y="32512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63295" y="3268979"/>
              <a:ext cx="4208145" cy="779145"/>
            </a:xfrm>
            <a:custGeom>
              <a:avLst/>
              <a:gdLst/>
              <a:ahLst/>
              <a:cxnLst/>
              <a:rect l="l" t="t" r="r" b="b"/>
              <a:pathLst>
                <a:path w="4208145" h="779145">
                  <a:moveTo>
                    <a:pt x="4175252" y="0"/>
                  </a:moveTo>
                  <a:lnTo>
                    <a:pt x="32448" y="0"/>
                  </a:lnTo>
                  <a:lnTo>
                    <a:pt x="19818" y="2543"/>
                  </a:lnTo>
                  <a:lnTo>
                    <a:pt x="9504" y="9493"/>
                  </a:lnTo>
                  <a:lnTo>
                    <a:pt x="2550" y="19823"/>
                  </a:lnTo>
                  <a:lnTo>
                    <a:pt x="0" y="32512"/>
                  </a:lnTo>
                  <a:lnTo>
                    <a:pt x="0" y="746252"/>
                  </a:lnTo>
                  <a:lnTo>
                    <a:pt x="2550" y="758940"/>
                  </a:lnTo>
                  <a:lnTo>
                    <a:pt x="9504" y="769270"/>
                  </a:lnTo>
                  <a:lnTo>
                    <a:pt x="19818" y="776220"/>
                  </a:lnTo>
                  <a:lnTo>
                    <a:pt x="32448" y="778764"/>
                  </a:lnTo>
                  <a:lnTo>
                    <a:pt x="4175252" y="778764"/>
                  </a:lnTo>
                  <a:lnTo>
                    <a:pt x="4187940" y="776220"/>
                  </a:lnTo>
                  <a:lnTo>
                    <a:pt x="4198270" y="769270"/>
                  </a:lnTo>
                  <a:lnTo>
                    <a:pt x="4205220" y="758940"/>
                  </a:lnTo>
                  <a:lnTo>
                    <a:pt x="4207764" y="746252"/>
                  </a:lnTo>
                  <a:lnTo>
                    <a:pt x="4207764" y="32512"/>
                  </a:lnTo>
                  <a:lnTo>
                    <a:pt x="4205220" y="19823"/>
                  </a:lnTo>
                  <a:lnTo>
                    <a:pt x="4198270" y="9493"/>
                  </a:lnTo>
                  <a:lnTo>
                    <a:pt x="4187940" y="2543"/>
                  </a:lnTo>
                  <a:lnTo>
                    <a:pt x="4175252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63295" y="3268979"/>
              <a:ext cx="4208145" cy="779145"/>
            </a:xfrm>
            <a:custGeom>
              <a:avLst/>
              <a:gdLst/>
              <a:ahLst/>
              <a:cxnLst/>
              <a:rect l="l" t="t" r="r" b="b"/>
              <a:pathLst>
                <a:path w="4208145" h="779145">
                  <a:moveTo>
                    <a:pt x="0" y="32512"/>
                  </a:moveTo>
                  <a:lnTo>
                    <a:pt x="2550" y="19823"/>
                  </a:lnTo>
                  <a:lnTo>
                    <a:pt x="9504" y="9493"/>
                  </a:lnTo>
                  <a:lnTo>
                    <a:pt x="19818" y="2543"/>
                  </a:lnTo>
                  <a:lnTo>
                    <a:pt x="32448" y="0"/>
                  </a:lnTo>
                  <a:lnTo>
                    <a:pt x="4175252" y="0"/>
                  </a:lnTo>
                  <a:lnTo>
                    <a:pt x="4187940" y="2543"/>
                  </a:lnTo>
                  <a:lnTo>
                    <a:pt x="4198270" y="9493"/>
                  </a:lnTo>
                  <a:lnTo>
                    <a:pt x="4205220" y="19823"/>
                  </a:lnTo>
                  <a:lnTo>
                    <a:pt x="4207764" y="32512"/>
                  </a:lnTo>
                  <a:lnTo>
                    <a:pt x="4207764" y="746252"/>
                  </a:lnTo>
                  <a:lnTo>
                    <a:pt x="4205220" y="758940"/>
                  </a:lnTo>
                  <a:lnTo>
                    <a:pt x="4198270" y="769270"/>
                  </a:lnTo>
                  <a:lnTo>
                    <a:pt x="4187940" y="776220"/>
                  </a:lnTo>
                  <a:lnTo>
                    <a:pt x="4175252" y="778764"/>
                  </a:lnTo>
                  <a:lnTo>
                    <a:pt x="32448" y="778764"/>
                  </a:lnTo>
                  <a:lnTo>
                    <a:pt x="19818" y="776220"/>
                  </a:lnTo>
                  <a:lnTo>
                    <a:pt x="9504" y="769270"/>
                  </a:lnTo>
                  <a:lnTo>
                    <a:pt x="2550" y="758940"/>
                  </a:lnTo>
                  <a:lnTo>
                    <a:pt x="0" y="746252"/>
                  </a:lnTo>
                  <a:lnTo>
                    <a:pt x="0" y="32512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58723" y="4221479"/>
              <a:ext cx="4209415" cy="779145"/>
            </a:xfrm>
            <a:custGeom>
              <a:avLst/>
              <a:gdLst/>
              <a:ahLst/>
              <a:cxnLst/>
              <a:rect l="l" t="t" r="r" b="b"/>
              <a:pathLst>
                <a:path w="4209415" h="779145">
                  <a:moveTo>
                    <a:pt x="4176776" y="0"/>
                  </a:moveTo>
                  <a:lnTo>
                    <a:pt x="32448" y="0"/>
                  </a:lnTo>
                  <a:lnTo>
                    <a:pt x="19818" y="2543"/>
                  </a:lnTo>
                  <a:lnTo>
                    <a:pt x="9504" y="9493"/>
                  </a:lnTo>
                  <a:lnTo>
                    <a:pt x="2550" y="19823"/>
                  </a:lnTo>
                  <a:lnTo>
                    <a:pt x="0" y="32512"/>
                  </a:lnTo>
                  <a:lnTo>
                    <a:pt x="0" y="746252"/>
                  </a:lnTo>
                  <a:lnTo>
                    <a:pt x="2550" y="758940"/>
                  </a:lnTo>
                  <a:lnTo>
                    <a:pt x="9504" y="769270"/>
                  </a:lnTo>
                  <a:lnTo>
                    <a:pt x="19818" y="776220"/>
                  </a:lnTo>
                  <a:lnTo>
                    <a:pt x="32448" y="778764"/>
                  </a:lnTo>
                  <a:lnTo>
                    <a:pt x="4176776" y="778764"/>
                  </a:lnTo>
                  <a:lnTo>
                    <a:pt x="4189464" y="776220"/>
                  </a:lnTo>
                  <a:lnTo>
                    <a:pt x="4199794" y="769270"/>
                  </a:lnTo>
                  <a:lnTo>
                    <a:pt x="4206744" y="758940"/>
                  </a:lnTo>
                  <a:lnTo>
                    <a:pt x="4209288" y="746252"/>
                  </a:lnTo>
                  <a:lnTo>
                    <a:pt x="4209288" y="32512"/>
                  </a:lnTo>
                  <a:lnTo>
                    <a:pt x="4206744" y="19823"/>
                  </a:lnTo>
                  <a:lnTo>
                    <a:pt x="4199794" y="9493"/>
                  </a:lnTo>
                  <a:lnTo>
                    <a:pt x="4189464" y="2543"/>
                  </a:lnTo>
                  <a:lnTo>
                    <a:pt x="4176776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58723" y="4221479"/>
              <a:ext cx="4209415" cy="779145"/>
            </a:xfrm>
            <a:custGeom>
              <a:avLst/>
              <a:gdLst/>
              <a:ahLst/>
              <a:cxnLst/>
              <a:rect l="l" t="t" r="r" b="b"/>
              <a:pathLst>
                <a:path w="4209415" h="779145">
                  <a:moveTo>
                    <a:pt x="0" y="32512"/>
                  </a:moveTo>
                  <a:lnTo>
                    <a:pt x="2550" y="19823"/>
                  </a:lnTo>
                  <a:lnTo>
                    <a:pt x="9504" y="9493"/>
                  </a:lnTo>
                  <a:lnTo>
                    <a:pt x="19818" y="2543"/>
                  </a:lnTo>
                  <a:lnTo>
                    <a:pt x="32448" y="0"/>
                  </a:lnTo>
                  <a:lnTo>
                    <a:pt x="4176776" y="0"/>
                  </a:lnTo>
                  <a:lnTo>
                    <a:pt x="4189464" y="2543"/>
                  </a:lnTo>
                  <a:lnTo>
                    <a:pt x="4199794" y="9493"/>
                  </a:lnTo>
                  <a:lnTo>
                    <a:pt x="4206744" y="19823"/>
                  </a:lnTo>
                  <a:lnTo>
                    <a:pt x="4209288" y="32512"/>
                  </a:lnTo>
                  <a:lnTo>
                    <a:pt x="4209288" y="746252"/>
                  </a:lnTo>
                  <a:lnTo>
                    <a:pt x="4206744" y="758940"/>
                  </a:lnTo>
                  <a:lnTo>
                    <a:pt x="4199794" y="769270"/>
                  </a:lnTo>
                  <a:lnTo>
                    <a:pt x="4189464" y="776220"/>
                  </a:lnTo>
                  <a:lnTo>
                    <a:pt x="4176776" y="778764"/>
                  </a:lnTo>
                  <a:lnTo>
                    <a:pt x="32448" y="778764"/>
                  </a:lnTo>
                  <a:lnTo>
                    <a:pt x="19818" y="776220"/>
                  </a:lnTo>
                  <a:lnTo>
                    <a:pt x="9504" y="769270"/>
                  </a:lnTo>
                  <a:lnTo>
                    <a:pt x="2550" y="758940"/>
                  </a:lnTo>
                  <a:lnTo>
                    <a:pt x="0" y="746252"/>
                  </a:lnTo>
                  <a:lnTo>
                    <a:pt x="0" y="32512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58723" y="5173979"/>
              <a:ext cx="4209415" cy="779145"/>
            </a:xfrm>
            <a:custGeom>
              <a:avLst/>
              <a:gdLst/>
              <a:ahLst/>
              <a:cxnLst/>
              <a:rect l="l" t="t" r="r" b="b"/>
              <a:pathLst>
                <a:path w="4209415" h="779145">
                  <a:moveTo>
                    <a:pt x="4176776" y="0"/>
                  </a:moveTo>
                  <a:lnTo>
                    <a:pt x="32448" y="0"/>
                  </a:lnTo>
                  <a:lnTo>
                    <a:pt x="19818" y="2543"/>
                  </a:lnTo>
                  <a:lnTo>
                    <a:pt x="9504" y="9493"/>
                  </a:lnTo>
                  <a:lnTo>
                    <a:pt x="2550" y="19823"/>
                  </a:lnTo>
                  <a:lnTo>
                    <a:pt x="0" y="32512"/>
                  </a:lnTo>
                  <a:lnTo>
                    <a:pt x="0" y="746315"/>
                  </a:lnTo>
                  <a:lnTo>
                    <a:pt x="2550" y="758945"/>
                  </a:lnTo>
                  <a:lnTo>
                    <a:pt x="9504" y="769259"/>
                  </a:lnTo>
                  <a:lnTo>
                    <a:pt x="19818" y="776213"/>
                  </a:lnTo>
                  <a:lnTo>
                    <a:pt x="32448" y="778764"/>
                  </a:lnTo>
                  <a:lnTo>
                    <a:pt x="4176776" y="778764"/>
                  </a:lnTo>
                  <a:lnTo>
                    <a:pt x="4189464" y="776213"/>
                  </a:lnTo>
                  <a:lnTo>
                    <a:pt x="4199794" y="769259"/>
                  </a:lnTo>
                  <a:lnTo>
                    <a:pt x="4206744" y="758945"/>
                  </a:lnTo>
                  <a:lnTo>
                    <a:pt x="4209288" y="746315"/>
                  </a:lnTo>
                  <a:lnTo>
                    <a:pt x="4209288" y="32512"/>
                  </a:lnTo>
                  <a:lnTo>
                    <a:pt x="4206744" y="19823"/>
                  </a:lnTo>
                  <a:lnTo>
                    <a:pt x="4199794" y="9493"/>
                  </a:lnTo>
                  <a:lnTo>
                    <a:pt x="4189464" y="2543"/>
                  </a:lnTo>
                  <a:lnTo>
                    <a:pt x="4176776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58723" y="5173979"/>
              <a:ext cx="4209415" cy="779145"/>
            </a:xfrm>
            <a:custGeom>
              <a:avLst/>
              <a:gdLst/>
              <a:ahLst/>
              <a:cxnLst/>
              <a:rect l="l" t="t" r="r" b="b"/>
              <a:pathLst>
                <a:path w="4209415" h="779145">
                  <a:moveTo>
                    <a:pt x="0" y="32512"/>
                  </a:moveTo>
                  <a:lnTo>
                    <a:pt x="2550" y="19823"/>
                  </a:lnTo>
                  <a:lnTo>
                    <a:pt x="9504" y="9493"/>
                  </a:lnTo>
                  <a:lnTo>
                    <a:pt x="19818" y="2543"/>
                  </a:lnTo>
                  <a:lnTo>
                    <a:pt x="32448" y="0"/>
                  </a:lnTo>
                  <a:lnTo>
                    <a:pt x="4176776" y="0"/>
                  </a:lnTo>
                  <a:lnTo>
                    <a:pt x="4189464" y="2543"/>
                  </a:lnTo>
                  <a:lnTo>
                    <a:pt x="4199794" y="9493"/>
                  </a:lnTo>
                  <a:lnTo>
                    <a:pt x="4206744" y="19823"/>
                  </a:lnTo>
                  <a:lnTo>
                    <a:pt x="4209288" y="32512"/>
                  </a:lnTo>
                  <a:lnTo>
                    <a:pt x="4209288" y="746315"/>
                  </a:lnTo>
                  <a:lnTo>
                    <a:pt x="4206744" y="758945"/>
                  </a:lnTo>
                  <a:lnTo>
                    <a:pt x="4199794" y="769259"/>
                  </a:lnTo>
                  <a:lnTo>
                    <a:pt x="4189464" y="776213"/>
                  </a:lnTo>
                  <a:lnTo>
                    <a:pt x="4176776" y="778764"/>
                  </a:lnTo>
                  <a:lnTo>
                    <a:pt x="32448" y="778764"/>
                  </a:lnTo>
                  <a:lnTo>
                    <a:pt x="19818" y="776213"/>
                  </a:lnTo>
                  <a:lnTo>
                    <a:pt x="9504" y="769259"/>
                  </a:lnTo>
                  <a:lnTo>
                    <a:pt x="2550" y="758945"/>
                  </a:lnTo>
                  <a:lnTo>
                    <a:pt x="0" y="746315"/>
                  </a:lnTo>
                  <a:lnTo>
                    <a:pt x="0" y="32512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47522" y="2437256"/>
            <a:ext cx="4073525" cy="347662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244475" marR="570230" indent="-228600">
              <a:lnSpc>
                <a:spcPts val="1730"/>
              </a:lnSpc>
              <a:spcBef>
                <a:spcPts val="310"/>
              </a:spcBef>
              <a:buClr>
                <a:srgbClr val="006699"/>
              </a:buClr>
              <a:buFont typeface="Verdana"/>
              <a:buChar char="•"/>
              <a:tabLst>
                <a:tab pos="245110" algn="l"/>
              </a:tabLst>
            </a:pPr>
            <a:r>
              <a:rPr sz="1600" b="1" spc="-10" dirty="0">
                <a:latin typeface="Verdana"/>
                <a:cs typeface="Verdana"/>
              </a:rPr>
              <a:t>Each SHA </a:t>
            </a:r>
            <a:r>
              <a:rPr sz="1600" b="1" spc="-5" dirty="0">
                <a:latin typeface="Verdana"/>
                <a:cs typeface="Verdana"/>
              </a:rPr>
              <a:t>on the </a:t>
            </a:r>
            <a:r>
              <a:rPr sz="1600" b="1" spc="-10" dirty="0">
                <a:latin typeface="Verdana"/>
                <a:cs typeface="Verdana"/>
              </a:rPr>
              <a:t>client </a:t>
            </a:r>
            <a:r>
              <a:rPr sz="1600" b="1" spc="-5" dirty="0">
                <a:latin typeface="Verdana"/>
                <a:cs typeface="Verdana"/>
              </a:rPr>
              <a:t>has a  </a:t>
            </a:r>
            <a:r>
              <a:rPr sz="1600" b="1" spc="-10" dirty="0">
                <a:latin typeface="Verdana"/>
                <a:cs typeface="Verdana"/>
              </a:rPr>
              <a:t>corresponding SHV in</a:t>
            </a:r>
            <a:r>
              <a:rPr sz="1600" b="1" spc="90" dirty="0">
                <a:latin typeface="Verdana"/>
                <a:cs typeface="Verdana"/>
              </a:rPr>
              <a:t> </a:t>
            </a:r>
            <a:r>
              <a:rPr sz="1600" b="1" spc="-5" dirty="0">
                <a:latin typeface="Verdana"/>
                <a:cs typeface="Verdana"/>
              </a:rPr>
              <a:t>NPS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006699"/>
              </a:buClr>
              <a:buFont typeface="Verdana"/>
              <a:buChar char="•"/>
            </a:pPr>
            <a:endParaRPr sz="2650">
              <a:latin typeface="Verdana"/>
              <a:cs typeface="Verdana"/>
            </a:endParaRPr>
          </a:p>
          <a:p>
            <a:pPr marL="244475" marR="143510" indent="-228600">
              <a:lnSpc>
                <a:spcPts val="1730"/>
              </a:lnSpc>
              <a:buClr>
                <a:srgbClr val="006699"/>
              </a:buClr>
              <a:buFont typeface="Verdana"/>
              <a:buChar char="•"/>
              <a:tabLst>
                <a:tab pos="245110" algn="l"/>
              </a:tabLst>
            </a:pPr>
            <a:r>
              <a:rPr sz="1600" b="1" spc="-10" dirty="0">
                <a:latin typeface="Verdana"/>
                <a:cs typeface="Verdana"/>
              </a:rPr>
              <a:t>SHVs </a:t>
            </a:r>
            <a:r>
              <a:rPr sz="1600" b="1" spc="-5" dirty="0">
                <a:latin typeface="Verdana"/>
                <a:cs typeface="Verdana"/>
              </a:rPr>
              <a:t>allow NPS to </a:t>
            </a:r>
            <a:r>
              <a:rPr sz="1600" b="1" spc="-10" dirty="0">
                <a:latin typeface="Verdana"/>
                <a:cs typeface="Verdana"/>
              </a:rPr>
              <a:t>verify </a:t>
            </a:r>
            <a:r>
              <a:rPr sz="1600" b="1" spc="-5" dirty="0">
                <a:latin typeface="Verdana"/>
                <a:cs typeface="Verdana"/>
              </a:rPr>
              <a:t>the  </a:t>
            </a:r>
            <a:r>
              <a:rPr sz="1600" b="1" spc="-10" dirty="0">
                <a:latin typeface="Verdana"/>
                <a:cs typeface="Verdana"/>
              </a:rPr>
              <a:t>statement </a:t>
            </a:r>
            <a:r>
              <a:rPr sz="1600" b="1" spc="-5" dirty="0">
                <a:latin typeface="Verdana"/>
                <a:cs typeface="Verdana"/>
              </a:rPr>
              <a:t>of </a:t>
            </a:r>
            <a:r>
              <a:rPr sz="1600" b="1" spc="-10" dirty="0">
                <a:latin typeface="Verdana"/>
                <a:cs typeface="Verdana"/>
              </a:rPr>
              <a:t>health </a:t>
            </a:r>
            <a:r>
              <a:rPr sz="1600" b="1" spc="-5" dirty="0">
                <a:latin typeface="Verdana"/>
                <a:cs typeface="Verdana"/>
              </a:rPr>
              <a:t>made </a:t>
            </a:r>
            <a:r>
              <a:rPr sz="1600" b="1" spc="-10" dirty="0">
                <a:latin typeface="Verdana"/>
                <a:cs typeface="Verdana"/>
              </a:rPr>
              <a:t>by its  corresponding SHA </a:t>
            </a:r>
            <a:r>
              <a:rPr sz="1600" b="1" spc="-5" dirty="0">
                <a:latin typeface="Verdana"/>
                <a:cs typeface="Verdana"/>
              </a:rPr>
              <a:t>on the</a:t>
            </a:r>
            <a:r>
              <a:rPr sz="1600" b="1" spc="65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client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buClr>
                <a:srgbClr val="006699"/>
              </a:buClr>
              <a:buFont typeface="Verdana"/>
              <a:buChar char="•"/>
            </a:pPr>
            <a:endParaRPr sz="1900">
              <a:latin typeface="Verdana"/>
              <a:cs typeface="Verdana"/>
            </a:endParaRPr>
          </a:p>
          <a:p>
            <a:pPr marL="241300" marR="840740" indent="-228600">
              <a:lnSpc>
                <a:spcPts val="1730"/>
              </a:lnSpc>
              <a:spcBef>
                <a:spcPts val="5"/>
              </a:spcBef>
              <a:buClr>
                <a:srgbClr val="006699"/>
              </a:buClr>
              <a:buFont typeface="Verdana"/>
              <a:buChar char="•"/>
              <a:tabLst>
                <a:tab pos="241300" algn="l"/>
              </a:tabLst>
            </a:pPr>
            <a:r>
              <a:rPr sz="1600" b="1" spc="-10" dirty="0">
                <a:latin typeface="Verdana"/>
                <a:cs typeface="Verdana"/>
              </a:rPr>
              <a:t>SHVs </a:t>
            </a:r>
            <a:r>
              <a:rPr sz="1600" b="1" spc="-5" dirty="0">
                <a:latin typeface="Verdana"/>
                <a:cs typeface="Verdana"/>
              </a:rPr>
              <a:t>contain the </a:t>
            </a:r>
            <a:r>
              <a:rPr sz="1600" b="1" spc="-10" dirty="0">
                <a:latin typeface="Verdana"/>
                <a:cs typeface="Verdana"/>
              </a:rPr>
              <a:t>required  configuration settings </a:t>
            </a:r>
            <a:r>
              <a:rPr sz="1600" b="1" spc="-5" dirty="0">
                <a:latin typeface="Verdana"/>
                <a:cs typeface="Verdana"/>
              </a:rPr>
              <a:t>on  </a:t>
            </a:r>
            <a:r>
              <a:rPr sz="1600" b="1" spc="-10" dirty="0">
                <a:latin typeface="Verdana"/>
                <a:cs typeface="Verdana"/>
              </a:rPr>
              <a:t>client</a:t>
            </a:r>
            <a:r>
              <a:rPr sz="1600" b="1" spc="5" dirty="0">
                <a:latin typeface="Verdana"/>
                <a:cs typeface="Verdana"/>
              </a:rPr>
              <a:t> </a:t>
            </a:r>
            <a:r>
              <a:rPr sz="1600" b="1" spc="-5" dirty="0">
                <a:latin typeface="Verdana"/>
                <a:cs typeface="Verdana"/>
              </a:rPr>
              <a:t>computers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006699"/>
              </a:buClr>
              <a:buFont typeface="Verdana"/>
              <a:buChar char="•"/>
            </a:pPr>
            <a:endParaRPr sz="1700">
              <a:latin typeface="Verdana"/>
              <a:cs typeface="Verdana"/>
            </a:endParaRPr>
          </a:p>
          <a:p>
            <a:pPr marL="241300" marR="5080" indent="-228600">
              <a:lnSpc>
                <a:spcPct val="94800"/>
              </a:lnSpc>
              <a:spcBef>
                <a:spcPts val="5"/>
              </a:spcBef>
              <a:buClr>
                <a:srgbClr val="006699"/>
              </a:buClr>
              <a:buFont typeface="Verdana"/>
              <a:buChar char="•"/>
              <a:tabLst>
                <a:tab pos="241300" algn="l"/>
              </a:tabLst>
            </a:pPr>
            <a:r>
              <a:rPr sz="1600" b="1" spc="-5" dirty="0">
                <a:latin typeface="Verdana"/>
                <a:cs typeface="Verdana"/>
              </a:rPr>
              <a:t>The </a:t>
            </a:r>
            <a:r>
              <a:rPr sz="1600" b="1" spc="-10" dirty="0">
                <a:latin typeface="Verdana"/>
                <a:cs typeface="Verdana"/>
              </a:rPr>
              <a:t>Windows Security SHV  corresponds </a:t>
            </a:r>
            <a:r>
              <a:rPr sz="1600" b="1" spc="-5" dirty="0">
                <a:latin typeface="Verdana"/>
                <a:cs typeface="Verdana"/>
              </a:rPr>
              <a:t>to the </a:t>
            </a:r>
            <a:r>
              <a:rPr sz="1600" b="1" spc="-10" dirty="0">
                <a:latin typeface="Verdana"/>
                <a:cs typeface="Verdana"/>
              </a:rPr>
              <a:t>Microsoft SHA  </a:t>
            </a:r>
            <a:r>
              <a:rPr sz="1600" b="1" spc="-5" dirty="0">
                <a:latin typeface="Verdana"/>
                <a:cs typeface="Verdana"/>
              </a:rPr>
              <a:t>on </a:t>
            </a:r>
            <a:r>
              <a:rPr sz="1600" b="1" spc="-10" dirty="0">
                <a:latin typeface="Verdana"/>
                <a:cs typeface="Verdana"/>
              </a:rPr>
              <a:t>client</a:t>
            </a:r>
            <a:r>
              <a:rPr sz="1600" b="1" spc="25" dirty="0">
                <a:latin typeface="Verdana"/>
                <a:cs typeface="Verdana"/>
              </a:rPr>
              <a:t> </a:t>
            </a:r>
            <a:r>
              <a:rPr sz="1600" b="1" spc="-5" dirty="0">
                <a:latin typeface="Verdana"/>
                <a:cs typeface="Verdana"/>
              </a:rPr>
              <a:t>computers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977384" y="2671572"/>
            <a:ext cx="3939540" cy="275234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37566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Verdana"/>
                <a:cs typeface="Verdana"/>
              </a:rPr>
              <a:t>What </a:t>
            </a:r>
            <a:r>
              <a:rPr sz="2400" spc="-10" dirty="0">
                <a:latin typeface="Verdana"/>
                <a:cs typeface="Verdana"/>
              </a:rPr>
              <a:t>Is </a:t>
            </a:r>
            <a:r>
              <a:rPr sz="2400" dirty="0">
                <a:latin typeface="Verdana"/>
                <a:cs typeface="Verdana"/>
              </a:rPr>
              <a:t>a </a:t>
            </a:r>
            <a:r>
              <a:rPr sz="2400" spc="-5" dirty="0">
                <a:latin typeface="Verdana"/>
                <a:cs typeface="Verdana"/>
              </a:rPr>
              <a:t>Health</a:t>
            </a:r>
            <a:r>
              <a:rPr sz="2400" spc="-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Policy?</a:t>
            </a:r>
            <a:endParaRPr sz="2400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52984" y="1024127"/>
            <a:ext cx="8635365" cy="853440"/>
            <a:chOff x="252984" y="1024127"/>
            <a:chExt cx="8635365" cy="853440"/>
          </a:xfrm>
        </p:grpSpPr>
        <p:sp>
          <p:nvSpPr>
            <p:cNvPr id="4" name="object 4"/>
            <p:cNvSpPr/>
            <p:nvPr/>
          </p:nvSpPr>
          <p:spPr>
            <a:xfrm>
              <a:off x="277368" y="1048511"/>
              <a:ext cx="8610600" cy="82905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23315" y="1117091"/>
              <a:ext cx="7994904" cy="75742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57556" y="1028699"/>
              <a:ext cx="8598408" cy="81686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57556" y="1028699"/>
              <a:ext cx="8598535" cy="817244"/>
            </a:xfrm>
            <a:custGeom>
              <a:avLst/>
              <a:gdLst/>
              <a:ahLst/>
              <a:cxnLst/>
              <a:rect l="l" t="t" r="r" b="b"/>
              <a:pathLst>
                <a:path w="8598535" h="817244">
                  <a:moveTo>
                    <a:pt x="0" y="136144"/>
                  </a:moveTo>
                  <a:lnTo>
                    <a:pt x="6940" y="93114"/>
                  </a:lnTo>
                  <a:lnTo>
                    <a:pt x="26266" y="55741"/>
                  </a:lnTo>
                  <a:lnTo>
                    <a:pt x="55736" y="26269"/>
                  </a:lnTo>
                  <a:lnTo>
                    <a:pt x="93109" y="6941"/>
                  </a:lnTo>
                  <a:lnTo>
                    <a:pt x="136144" y="0"/>
                  </a:lnTo>
                  <a:lnTo>
                    <a:pt x="8462264" y="0"/>
                  </a:lnTo>
                  <a:lnTo>
                    <a:pt x="8505293" y="6941"/>
                  </a:lnTo>
                  <a:lnTo>
                    <a:pt x="8542666" y="26269"/>
                  </a:lnTo>
                  <a:lnTo>
                    <a:pt x="8572138" y="55741"/>
                  </a:lnTo>
                  <a:lnTo>
                    <a:pt x="8591466" y="93114"/>
                  </a:lnTo>
                  <a:lnTo>
                    <a:pt x="8598408" y="136144"/>
                  </a:lnTo>
                  <a:lnTo>
                    <a:pt x="8598408" y="680720"/>
                  </a:lnTo>
                  <a:lnTo>
                    <a:pt x="8591466" y="723749"/>
                  </a:lnTo>
                  <a:lnTo>
                    <a:pt x="8572138" y="761122"/>
                  </a:lnTo>
                  <a:lnTo>
                    <a:pt x="8542666" y="790594"/>
                  </a:lnTo>
                  <a:lnTo>
                    <a:pt x="8505293" y="809922"/>
                  </a:lnTo>
                  <a:lnTo>
                    <a:pt x="8462264" y="816863"/>
                  </a:lnTo>
                  <a:lnTo>
                    <a:pt x="136144" y="816863"/>
                  </a:lnTo>
                  <a:lnTo>
                    <a:pt x="93109" y="809922"/>
                  </a:lnTo>
                  <a:lnTo>
                    <a:pt x="55736" y="790594"/>
                  </a:lnTo>
                  <a:lnTo>
                    <a:pt x="26266" y="761122"/>
                  </a:lnTo>
                  <a:lnTo>
                    <a:pt x="6940" y="723749"/>
                  </a:lnTo>
                  <a:lnTo>
                    <a:pt x="0" y="680720"/>
                  </a:lnTo>
                  <a:lnTo>
                    <a:pt x="0" y="136144"/>
                  </a:lnTo>
                  <a:close/>
                </a:path>
              </a:pathLst>
            </a:custGeom>
            <a:ln w="914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207263" y="2007107"/>
            <a:ext cx="8729980" cy="4163695"/>
            <a:chOff x="207263" y="2007107"/>
            <a:chExt cx="8729980" cy="4163695"/>
          </a:xfrm>
        </p:grpSpPr>
        <p:sp>
          <p:nvSpPr>
            <p:cNvPr id="9" name="object 9"/>
            <p:cNvSpPr/>
            <p:nvPr/>
          </p:nvSpPr>
          <p:spPr>
            <a:xfrm>
              <a:off x="211835" y="2011679"/>
              <a:ext cx="8720455" cy="4154804"/>
            </a:xfrm>
            <a:custGeom>
              <a:avLst/>
              <a:gdLst/>
              <a:ahLst/>
              <a:cxnLst/>
              <a:rect l="l" t="t" r="r" b="b"/>
              <a:pathLst>
                <a:path w="8720455" h="4154804">
                  <a:moveTo>
                    <a:pt x="8547227" y="0"/>
                  </a:moveTo>
                  <a:lnTo>
                    <a:pt x="173113" y="0"/>
                  </a:lnTo>
                  <a:lnTo>
                    <a:pt x="127094" y="6181"/>
                  </a:lnTo>
                  <a:lnTo>
                    <a:pt x="85740" y="23626"/>
                  </a:lnTo>
                  <a:lnTo>
                    <a:pt x="50704" y="50688"/>
                  </a:lnTo>
                  <a:lnTo>
                    <a:pt x="23635" y="85720"/>
                  </a:lnTo>
                  <a:lnTo>
                    <a:pt x="6183" y="127073"/>
                  </a:lnTo>
                  <a:lnTo>
                    <a:pt x="0" y="173100"/>
                  </a:lnTo>
                  <a:lnTo>
                    <a:pt x="0" y="3981310"/>
                  </a:lnTo>
                  <a:lnTo>
                    <a:pt x="6183" y="4027329"/>
                  </a:lnTo>
                  <a:lnTo>
                    <a:pt x="23635" y="4068683"/>
                  </a:lnTo>
                  <a:lnTo>
                    <a:pt x="50704" y="4103719"/>
                  </a:lnTo>
                  <a:lnTo>
                    <a:pt x="85740" y="4130788"/>
                  </a:lnTo>
                  <a:lnTo>
                    <a:pt x="127094" y="4148240"/>
                  </a:lnTo>
                  <a:lnTo>
                    <a:pt x="173113" y="4154424"/>
                  </a:lnTo>
                  <a:lnTo>
                    <a:pt x="8547227" y="4154424"/>
                  </a:lnTo>
                  <a:lnTo>
                    <a:pt x="8593254" y="4148240"/>
                  </a:lnTo>
                  <a:lnTo>
                    <a:pt x="8634607" y="4130788"/>
                  </a:lnTo>
                  <a:lnTo>
                    <a:pt x="8669639" y="4103719"/>
                  </a:lnTo>
                  <a:lnTo>
                    <a:pt x="8696701" y="4068683"/>
                  </a:lnTo>
                  <a:lnTo>
                    <a:pt x="8714146" y="4027329"/>
                  </a:lnTo>
                  <a:lnTo>
                    <a:pt x="8720328" y="3981310"/>
                  </a:lnTo>
                  <a:lnTo>
                    <a:pt x="8720328" y="173100"/>
                  </a:lnTo>
                  <a:lnTo>
                    <a:pt x="8714146" y="127073"/>
                  </a:lnTo>
                  <a:lnTo>
                    <a:pt x="8696701" y="85720"/>
                  </a:lnTo>
                  <a:lnTo>
                    <a:pt x="8669639" y="50688"/>
                  </a:lnTo>
                  <a:lnTo>
                    <a:pt x="8634607" y="23626"/>
                  </a:lnTo>
                  <a:lnTo>
                    <a:pt x="8593254" y="6181"/>
                  </a:lnTo>
                  <a:lnTo>
                    <a:pt x="8547227" y="0"/>
                  </a:lnTo>
                  <a:close/>
                </a:path>
              </a:pathLst>
            </a:custGeom>
            <a:solidFill>
              <a:srgbClr val="DE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11835" y="2011679"/>
              <a:ext cx="8720455" cy="4154804"/>
            </a:xfrm>
            <a:custGeom>
              <a:avLst/>
              <a:gdLst/>
              <a:ahLst/>
              <a:cxnLst/>
              <a:rect l="l" t="t" r="r" b="b"/>
              <a:pathLst>
                <a:path w="8720455" h="4154804">
                  <a:moveTo>
                    <a:pt x="0" y="173100"/>
                  </a:moveTo>
                  <a:lnTo>
                    <a:pt x="6183" y="127073"/>
                  </a:lnTo>
                  <a:lnTo>
                    <a:pt x="23635" y="85720"/>
                  </a:lnTo>
                  <a:lnTo>
                    <a:pt x="50704" y="50688"/>
                  </a:lnTo>
                  <a:lnTo>
                    <a:pt x="85740" y="23626"/>
                  </a:lnTo>
                  <a:lnTo>
                    <a:pt x="127094" y="6181"/>
                  </a:lnTo>
                  <a:lnTo>
                    <a:pt x="173113" y="0"/>
                  </a:lnTo>
                  <a:lnTo>
                    <a:pt x="8547227" y="0"/>
                  </a:lnTo>
                  <a:lnTo>
                    <a:pt x="8593254" y="6181"/>
                  </a:lnTo>
                  <a:lnTo>
                    <a:pt x="8634607" y="23626"/>
                  </a:lnTo>
                  <a:lnTo>
                    <a:pt x="8669639" y="50688"/>
                  </a:lnTo>
                  <a:lnTo>
                    <a:pt x="8696701" y="85720"/>
                  </a:lnTo>
                  <a:lnTo>
                    <a:pt x="8714146" y="127073"/>
                  </a:lnTo>
                  <a:lnTo>
                    <a:pt x="8720328" y="173100"/>
                  </a:lnTo>
                  <a:lnTo>
                    <a:pt x="8720328" y="3981310"/>
                  </a:lnTo>
                  <a:lnTo>
                    <a:pt x="8714146" y="4027329"/>
                  </a:lnTo>
                  <a:lnTo>
                    <a:pt x="8696701" y="4068683"/>
                  </a:lnTo>
                  <a:lnTo>
                    <a:pt x="8669639" y="4103719"/>
                  </a:lnTo>
                  <a:lnTo>
                    <a:pt x="8634607" y="4130788"/>
                  </a:lnTo>
                  <a:lnTo>
                    <a:pt x="8593254" y="4148240"/>
                  </a:lnTo>
                  <a:lnTo>
                    <a:pt x="8547227" y="4154424"/>
                  </a:lnTo>
                  <a:lnTo>
                    <a:pt x="173113" y="4154424"/>
                  </a:lnTo>
                  <a:lnTo>
                    <a:pt x="127094" y="4148240"/>
                  </a:lnTo>
                  <a:lnTo>
                    <a:pt x="85740" y="4130788"/>
                  </a:lnTo>
                  <a:lnTo>
                    <a:pt x="50704" y="4103719"/>
                  </a:lnTo>
                  <a:lnTo>
                    <a:pt x="23635" y="4068683"/>
                  </a:lnTo>
                  <a:lnTo>
                    <a:pt x="6183" y="4027329"/>
                  </a:lnTo>
                  <a:lnTo>
                    <a:pt x="0" y="3981310"/>
                  </a:lnTo>
                  <a:lnTo>
                    <a:pt x="0" y="173100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86155" y="2199131"/>
              <a:ext cx="8171815" cy="875030"/>
            </a:xfrm>
            <a:custGeom>
              <a:avLst/>
              <a:gdLst/>
              <a:ahLst/>
              <a:cxnLst/>
              <a:rect l="l" t="t" r="r" b="b"/>
              <a:pathLst>
                <a:path w="8171815" h="875030">
                  <a:moveTo>
                    <a:pt x="8135239" y="0"/>
                  </a:moveTo>
                  <a:lnTo>
                    <a:pt x="36448" y="0"/>
                  </a:lnTo>
                  <a:lnTo>
                    <a:pt x="22261" y="2873"/>
                  </a:lnTo>
                  <a:lnTo>
                    <a:pt x="10675" y="10699"/>
                  </a:lnTo>
                  <a:lnTo>
                    <a:pt x="2864" y="22288"/>
                  </a:lnTo>
                  <a:lnTo>
                    <a:pt x="0" y="36448"/>
                  </a:lnTo>
                  <a:lnTo>
                    <a:pt x="0" y="838326"/>
                  </a:lnTo>
                  <a:lnTo>
                    <a:pt x="2864" y="852487"/>
                  </a:lnTo>
                  <a:lnTo>
                    <a:pt x="10675" y="864076"/>
                  </a:lnTo>
                  <a:lnTo>
                    <a:pt x="22261" y="871902"/>
                  </a:lnTo>
                  <a:lnTo>
                    <a:pt x="36448" y="874776"/>
                  </a:lnTo>
                  <a:lnTo>
                    <a:pt x="8135239" y="874776"/>
                  </a:lnTo>
                  <a:lnTo>
                    <a:pt x="8149399" y="871902"/>
                  </a:lnTo>
                  <a:lnTo>
                    <a:pt x="8160988" y="864076"/>
                  </a:lnTo>
                  <a:lnTo>
                    <a:pt x="8168814" y="852487"/>
                  </a:lnTo>
                  <a:lnTo>
                    <a:pt x="8171688" y="838326"/>
                  </a:lnTo>
                  <a:lnTo>
                    <a:pt x="8171688" y="36448"/>
                  </a:lnTo>
                  <a:lnTo>
                    <a:pt x="8168814" y="22288"/>
                  </a:lnTo>
                  <a:lnTo>
                    <a:pt x="8160988" y="10699"/>
                  </a:lnTo>
                  <a:lnTo>
                    <a:pt x="8149399" y="2873"/>
                  </a:lnTo>
                  <a:lnTo>
                    <a:pt x="8135239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86155" y="2199131"/>
              <a:ext cx="8171815" cy="875030"/>
            </a:xfrm>
            <a:custGeom>
              <a:avLst/>
              <a:gdLst/>
              <a:ahLst/>
              <a:cxnLst/>
              <a:rect l="l" t="t" r="r" b="b"/>
              <a:pathLst>
                <a:path w="8171815" h="875030">
                  <a:moveTo>
                    <a:pt x="0" y="36448"/>
                  </a:moveTo>
                  <a:lnTo>
                    <a:pt x="2864" y="22288"/>
                  </a:lnTo>
                  <a:lnTo>
                    <a:pt x="10675" y="10699"/>
                  </a:lnTo>
                  <a:lnTo>
                    <a:pt x="22261" y="2873"/>
                  </a:lnTo>
                  <a:lnTo>
                    <a:pt x="36448" y="0"/>
                  </a:lnTo>
                  <a:lnTo>
                    <a:pt x="8135239" y="0"/>
                  </a:lnTo>
                  <a:lnTo>
                    <a:pt x="8149399" y="2873"/>
                  </a:lnTo>
                  <a:lnTo>
                    <a:pt x="8160988" y="10699"/>
                  </a:lnTo>
                  <a:lnTo>
                    <a:pt x="8168814" y="22288"/>
                  </a:lnTo>
                  <a:lnTo>
                    <a:pt x="8171688" y="36448"/>
                  </a:lnTo>
                  <a:lnTo>
                    <a:pt x="8171688" y="838326"/>
                  </a:lnTo>
                  <a:lnTo>
                    <a:pt x="8168814" y="852487"/>
                  </a:lnTo>
                  <a:lnTo>
                    <a:pt x="8160988" y="864076"/>
                  </a:lnTo>
                  <a:lnTo>
                    <a:pt x="8149399" y="871902"/>
                  </a:lnTo>
                  <a:lnTo>
                    <a:pt x="8135239" y="874776"/>
                  </a:lnTo>
                  <a:lnTo>
                    <a:pt x="36448" y="874776"/>
                  </a:lnTo>
                  <a:lnTo>
                    <a:pt x="22261" y="871902"/>
                  </a:lnTo>
                  <a:lnTo>
                    <a:pt x="10675" y="864076"/>
                  </a:lnTo>
                  <a:lnTo>
                    <a:pt x="2864" y="852487"/>
                  </a:lnTo>
                  <a:lnTo>
                    <a:pt x="0" y="838326"/>
                  </a:lnTo>
                  <a:lnTo>
                    <a:pt x="0" y="36448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86155" y="3174491"/>
              <a:ext cx="8171815" cy="875030"/>
            </a:xfrm>
            <a:custGeom>
              <a:avLst/>
              <a:gdLst/>
              <a:ahLst/>
              <a:cxnLst/>
              <a:rect l="l" t="t" r="r" b="b"/>
              <a:pathLst>
                <a:path w="8171815" h="875029">
                  <a:moveTo>
                    <a:pt x="8135239" y="0"/>
                  </a:moveTo>
                  <a:lnTo>
                    <a:pt x="36448" y="0"/>
                  </a:lnTo>
                  <a:lnTo>
                    <a:pt x="22261" y="2873"/>
                  </a:lnTo>
                  <a:lnTo>
                    <a:pt x="10675" y="10699"/>
                  </a:lnTo>
                  <a:lnTo>
                    <a:pt x="2864" y="22288"/>
                  </a:lnTo>
                  <a:lnTo>
                    <a:pt x="0" y="36449"/>
                  </a:lnTo>
                  <a:lnTo>
                    <a:pt x="0" y="838327"/>
                  </a:lnTo>
                  <a:lnTo>
                    <a:pt x="2864" y="852487"/>
                  </a:lnTo>
                  <a:lnTo>
                    <a:pt x="10675" y="864076"/>
                  </a:lnTo>
                  <a:lnTo>
                    <a:pt x="22261" y="871902"/>
                  </a:lnTo>
                  <a:lnTo>
                    <a:pt x="36448" y="874776"/>
                  </a:lnTo>
                  <a:lnTo>
                    <a:pt x="8135239" y="874776"/>
                  </a:lnTo>
                  <a:lnTo>
                    <a:pt x="8149399" y="871902"/>
                  </a:lnTo>
                  <a:lnTo>
                    <a:pt x="8160988" y="864076"/>
                  </a:lnTo>
                  <a:lnTo>
                    <a:pt x="8168814" y="852487"/>
                  </a:lnTo>
                  <a:lnTo>
                    <a:pt x="8171688" y="838327"/>
                  </a:lnTo>
                  <a:lnTo>
                    <a:pt x="8171688" y="36449"/>
                  </a:lnTo>
                  <a:lnTo>
                    <a:pt x="8168814" y="22288"/>
                  </a:lnTo>
                  <a:lnTo>
                    <a:pt x="8160988" y="10699"/>
                  </a:lnTo>
                  <a:lnTo>
                    <a:pt x="8149399" y="2873"/>
                  </a:lnTo>
                  <a:lnTo>
                    <a:pt x="8135239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86155" y="3174491"/>
              <a:ext cx="8171815" cy="875030"/>
            </a:xfrm>
            <a:custGeom>
              <a:avLst/>
              <a:gdLst/>
              <a:ahLst/>
              <a:cxnLst/>
              <a:rect l="l" t="t" r="r" b="b"/>
              <a:pathLst>
                <a:path w="8171815" h="875029">
                  <a:moveTo>
                    <a:pt x="0" y="36449"/>
                  </a:moveTo>
                  <a:lnTo>
                    <a:pt x="2864" y="22288"/>
                  </a:lnTo>
                  <a:lnTo>
                    <a:pt x="10675" y="10699"/>
                  </a:lnTo>
                  <a:lnTo>
                    <a:pt x="22261" y="2873"/>
                  </a:lnTo>
                  <a:lnTo>
                    <a:pt x="36448" y="0"/>
                  </a:lnTo>
                  <a:lnTo>
                    <a:pt x="8135239" y="0"/>
                  </a:lnTo>
                  <a:lnTo>
                    <a:pt x="8149399" y="2873"/>
                  </a:lnTo>
                  <a:lnTo>
                    <a:pt x="8160988" y="10699"/>
                  </a:lnTo>
                  <a:lnTo>
                    <a:pt x="8168814" y="22288"/>
                  </a:lnTo>
                  <a:lnTo>
                    <a:pt x="8171688" y="36449"/>
                  </a:lnTo>
                  <a:lnTo>
                    <a:pt x="8171688" y="838327"/>
                  </a:lnTo>
                  <a:lnTo>
                    <a:pt x="8168814" y="852487"/>
                  </a:lnTo>
                  <a:lnTo>
                    <a:pt x="8160988" y="864076"/>
                  </a:lnTo>
                  <a:lnTo>
                    <a:pt x="8149399" y="871902"/>
                  </a:lnTo>
                  <a:lnTo>
                    <a:pt x="8135239" y="874776"/>
                  </a:lnTo>
                  <a:lnTo>
                    <a:pt x="36448" y="874776"/>
                  </a:lnTo>
                  <a:lnTo>
                    <a:pt x="22261" y="871902"/>
                  </a:lnTo>
                  <a:lnTo>
                    <a:pt x="10675" y="864076"/>
                  </a:lnTo>
                  <a:lnTo>
                    <a:pt x="2864" y="852487"/>
                  </a:lnTo>
                  <a:lnTo>
                    <a:pt x="0" y="838327"/>
                  </a:lnTo>
                  <a:lnTo>
                    <a:pt x="0" y="36449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86155" y="4154423"/>
              <a:ext cx="8171815" cy="875030"/>
            </a:xfrm>
            <a:custGeom>
              <a:avLst/>
              <a:gdLst/>
              <a:ahLst/>
              <a:cxnLst/>
              <a:rect l="l" t="t" r="r" b="b"/>
              <a:pathLst>
                <a:path w="8171815" h="875029">
                  <a:moveTo>
                    <a:pt x="8135239" y="0"/>
                  </a:moveTo>
                  <a:lnTo>
                    <a:pt x="36448" y="0"/>
                  </a:lnTo>
                  <a:lnTo>
                    <a:pt x="22261" y="2873"/>
                  </a:lnTo>
                  <a:lnTo>
                    <a:pt x="10675" y="10699"/>
                  </a:lnTo>
                  <a:lnTo>
                    <a:pt x="2864" y="22288"/>
                  </a:lnTo>
                  <a:lnTo>
                    <a:pt x="0" y="36449"/>
                  </a:lnTo>
                  <a:lnTo>
                    <a:pt x="0" y="838326"/>
                  </a:lnTo>
                  <a:lnTo>
                    <a:pt x="2864" y="852487"/>
                  </a:lnTo>
                  <a:lnTo>
                    <a:pt x="10675" y="864076"/>
                  </a:lnTo>
                  <a:lnTo>
                    <a:pt x="22261" y="871902"/>
                  </a:lnTo>
                  <a:lnTo>
                    <a:pt x="36448" y="874776"/>
                  </a:lnTo>
                  <a:lnTo>
                    <a:pt x="8135239" y="874776"/>
                  </a:lnTo>
                  <a:lnTo>
                    <a:pt x="8149399" y="871902"/>
                  </a:lnTo>
                  <a:lnTo>
                    <a:pt x="8160988" y="864076"/>
                  </a:lnTo>
                  <a:lnTo>
                    <a:pt x="8168814" y="852487"/>
                  </a:lnTo>
                  <a:lnTo>
                    <a:pt x="8171688" y="838326"/>
                  </a:lnTo>
                  <a:lnTo>
                    <a:pt x="8171688" y="36449"/>
                  </a:lnTo>
                  <a:lnTo>
                    <a:pt x="8168814" y="22288"/>
                  </a:lnTo>
                  <a:lnTo>
                    <a:pt x="8160988" y="10699"/>
                  </a:lnTo>
                  <a:lnTo>
                    <a:pt x="8149399" y="2873"/>
                  </a:lnTo>
                  <a:lnTo>
                    <a:pt x="8135239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86155" y="4154423"/>
              <a:ext cx="8171815" cy="875030"/>
            </a:xfrm>
            <a:custGeom>
              <a:avLst/>
              <a:gdLst/>
              <a:ahLst/>
              <a:cxnLst/>
              <a:rect l="l" t="t" r="r" b="b"/>
              <a:pathLst>
                <a:path w="8171815" h="875029">
                  <a:moveTo>
                    <a:pt x="0" y="36449"/>
                  </a:moveTo>
                  <a:lnTo>
                    <a:pt x="2864" y="22288"/>
                  </a:lnTo>
                  <a:lnTo>
                    <a:pt x="10675" y="10699"/>
                  </a:lnTo>
                  <a:lnTo>
                    <a:pt x="22261" y="2873"/>
                  </a:lnTo>
                  <a:lnTo>
                    <a:pt x="36448" y="0"/>
                  </a:lnTo>
                  <a:lnTo>
                    <a:pt x="8135239" y="0"/>
                  </a:lnTo>
                  <a:lnTo>
                    <a:pt x="8149399" y="2873"/>
                  </a:lnTo>
                  <a:lnTo>
                    <a:pt x="8160988" y="10699"/>
                  </a:lnTo>
                  <a:lnTo>
                    <a:pt x="8168814" y="22288"/>
                  </a:lnTo>
                  <a:lnTo>
                    <a:pt x="8171688" y="36449"/>
                  </a:lnTo>
                  <a:lnTo>
                    <a:pt x="8171688" y="838326"/>
                  </a:lnTo>
                  <a:lnTo>
                    <a:pt x="8168814" y="852487"/>
                  </a:lnTo>
                  <a:lnTo>
                    <a:pt x="8160988" y="864076"/>
                  </a:lnTo>
                  <a:lnTo>
                    <a:pt x="8149399" y="871902"/>
                  </a:lnTo>
                  <a:lnTo>
                    <a:pt x="8135239" y="874776"/>
                  </a:lnTo>
                  <a:lnTo>
                    <a:pt x="36448" y="874776"/>
                  </a:lnTo>
                  <a:lnTo>
                    <a:pt x="22261" y="871902"/>
                  </a:lnTo>
                  <a:lnTo>
                    <a:pt x="10675" y="864076"/>
                  </a:lnTo>
                  <a:lnTo>
                    <a:pt x="2864" y="852487"/>
                  </a:lnTo>
                  <a:lnTo>
                    <a:pt x="0" y="838326"/>
                  </a:lnTo>
                  <a:lnTo>
                    <a:pt x="0" y="36449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83107" y="5140451"/>
              <a:ext cx="8171815" cy="875030"/>
            </a:xfrm>
            <a:custGeom>
              <a:avLst/>
              <a:gdLst/>
              <a:ahLst/>
              <a:cxnLst/>
              <a:rect l="l" t="t" r="r" b="b"/>
              <a:pathLst>
                <a:path w="8171815" h="875029">
                  <a:moveTo>
                    <a:pt x="8135239" y="0"/>
                  </a:moveTo>
                  <a:lnTo>
                    <a:pt x="36448" y="0"/>
                  </a:lnTo>
                  <a:lnTo>
                    <a:pt x="22261" y="2873"/>
                  </a:lnTo>
                  <a:lnTo>
                    <a:pt x="10675" y="10699"/>
                  </a:lnTo>
                  <a:lnTo>
                    <a:pt x="2864" y="22288"/>
                  </a:lnTo>
                  <a:lnTo>
                    <a:pt x="0" y="36449"/>
                  </a:lnTo>
                  <a:lnTo>
                    <a:pt x="0" y="838327"/>
                  </a:lnTo>
                  <a:lnTo>
                    <a:pt x="2864" y="852514"/>
                  </a:lnTo>
                  <a:lnTo>
                    <a:pt x="10675" y="864100"/>
                  </a:lnTo>
                  <a:lnTo>
                    <a:pt x="22261" y="871911"/>
                  </a:lnTo>
                  <a:lnTo>
                    <a:pt x="36448" y="874776"/>
                  </a:lnTo>
                  <a:lnTo>
                    <a:pt x="8135239" y="874776"/>
                  </a:lnTo>
                  <a:lnTo>
                    <a:pt x="8149399" y="871911"/>
                  </a:lnTo>
                  <a:lnTo>
                    <a:pt x="8160988" y="864100"/>
                  </a:lnTo>
                  <a:lnTo>
                    <a:pt x="8168814" y="852514"/>
                  </a:lnTo>
                  <a:lnTo>
                    <a:pt x="8171688" y="838327"/>
                  </a:lnTo>
                  <a:lnTo>
                    <a:pt x="8171688" y="36449"/>
                  </a:lnTo>
                  <a:lnTo>
                    <a:pt x="8168814" y="22288"/>
                  </a:lnTo>
                  <a:lnTo>
                    <a:pt x="8160988" y="10699"/>
                  </a:lnTo>
                  <a:lnTo>
                    <a:pt x="8149399" y="2873"/>
                  </a:lnTo>
                  <a:lnTo>
                    <a:pt x="8135239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83107" y="5140451"/>
              <a:ext cx="8171815" cy="875030"/>
            </a:xfrm>
            <a:custGeom>
              <a:avLst/>
              <a:gdLst/>
              <a:ahLst/>
              <a:cxnLst/>
              <a:rect l="l" t="t" r="r" b="b"/>
              <a:pathLst>
                <a:path w="8171815" h="875029">
                  <a:moveTo>
                    <a:pt x="0" y="36449"/>
                  </a:moveTo>
                  <a:lnTo>
                    <a:pt x="2864" y="22288"/>
                  </a:lnTo>
                  <a:lnTo>
                    <a:pt x="10675" y="10699"/>
                  </a:lnTo>
                  <a:lnTo>
                    <a:pt x="22261" y="2873"/>
                  </a:lnTo>
                  <a:lnTo>
                    <a:pt x="36448" y="0"/>
                  </a:lnTo>
                  <a:lnTo>
                    <a:pt x="8135239" y="0"/>
                  </a:lnTo>
                  <a:lnTo>
                    <a:pt x="8149399" y="2873"/>
                  </a:lnTo>
                  <a:lnTo>
                    <a:pt x="8160988" y="10699"/>
                  </a:lnTo>
                  <a:lnTo>
                    <a:pt x="8168814" y="22288"/>
                  </a:lnTo>
                  <a:lnTo>
                    <a:pt x="8171688" y="36449"/>
                  </a:lnTo>
                  <a:lnTo>
                    <a:pt x="8171688" y="838327"/>
                  </a:lnTo>
                  <a:lnTo>
                    <a:pt x="8168814" y="852514"/>
                  </a:lnTo>
                  <a:lnTo>
                    <a:pt x="8160988" y="864100"/>
                  </a:lnTo>
                  <a:lnTo>
                    <a:pt x="8149399" y="871911"/>
                  </a:lnTo>
                  <a:lnTo>
                    <a:pt x="8135239" y="874776"/>
                  </a:lnTo>
                  <a:lnTo>
                    <a:pt x="36448" y="874776"/>
                  </a:lnTo>
                  <a:lnTo>
                    <a:pt x="22261" y="871911"/>
                  </a:lnTo>
                  <a:lnTo>
                    <a:pt x="10675" y="864100"/>
                  </a:lnTo>
                  <a:lnTo>
                    <a:pt x="2864" y="852514"/>
                  </a:lnTo>
                  <a:lnTo>
                    <a:pt x="0" y="838327"/>
                  </a:lnTo>
                  <a:lnTo>
                    <a:pt x="0" y="36449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72211" y="1148588"/>
            <a:ext cx="7929245" cy="4770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6245" marR="118745" indent="-2717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Verdana"/>
                <a:cs typeface="Verdana"/>
              </a:rPr>
              <a:t>To make </a:t>
            </a:r>
            <a:r>
              <a:rPr sz="1800" b="1" spc="-5" dirty="0">
                <a:latin typeface="Verdana"/>
                <a:cs typeface="Verdana"/>
              </a:rPr>
              <a:t>use </a:t>
            </a:r>
            <a:r>
              <a:rPr sz="1800" b="1" dirty="0">
                <a:latin typeface="Verdana"/>
                <a:cs typeface="Verdana"/>
              </a:rPr>
              <a:t>of </a:t>
            </a:r>
            <a:r>
              <a:rPr sz="1800" b="1" spc="-5" dirty="0">
                <a:latin typeface="Verdana"/>
                <a:cs typeface="Verdana"/>
              </a:rPr>
              <a:t>the Windows Security Health Validator, </a:t>
            </a:r>
            <a:r>
              <a:rPr sz="1800" b="1" dirty="0">
                <a:latin typeface="Verdana"/>
                <a:cs typeface="Verdana"/>
              </a:rPr>
              <a:t>you  </a:t>
            </a:r>
            <a:r>
              <a:rPr sz="1800" b="1" spc="-5" dirty="0">
                <a:latin typeface="Verdana"/>
                <a:cs typeface="Verdana"/>
              </a:rPr>
              <a:t>must configure </a:t>
            </a:r>
            <a:r>
              <a:rPr sz="1800" b="1" dirty="0">
                <a:latin typeface="Verdana"/>
                <a:cs typeface="Verdana"/>
              </a:rPr>
              <a:t>a </a:t>
            </a:r>
            <a:r>
              <a:rPr sz="1800" b="1" spc="-5" dirty="0">
                <a:latin typeface="Verdana"/>
                <a:cs typeface="Verdana"/>
              </a:rPr>
              <a:t>Health Policy </a:t>
            </a:r>
            <a:r>
              <a:rPr sz="1800" b="1" dirty="0">
                <a:latin typeface="Verdana"/>
                <a:cs typeface="Verdana"/>
              </a:rPr>
              <a:t>and assign </a:t>
            </a:r>
            <a:r>
              <a:rPr sz="1800" b="1" spc="-5" dirty="0">
                <a:latin typeface="Verdana"/>
                <a:cs typeface="Verdana"/>
              </a:rPr>
              <a:t>the SHV </a:t>
            </a:r>
            <a:r>
              <a:rPr sz="1800" b="1" dirty="0">
                <a:latin typeface="Verdana"/>
                <a:cs typeface="Verdana"/>
              </a:rPr>
              <a:t>to</a:t>
            </a:r>
            <a:r>
              <a:rPr sz="1800" b="1" spc="20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it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2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650">
              <a:latin typeface="Verdana"/>
              <a:cs typeface="Verdana"/>
            </a:endParaRPr>
          </a:p>
          <a:p>
            <a:pPr marL="243840" marR="5080" indent="-228600" algn="just">
              <a:lnSpc>
                <a:spcPts val="1730"/>
              </a:lnSpc>
              <a:buClr>
                <a:srgbClr val="006699"/>
              </a:buClr>
              <a:buFont typeface="Verdana"/>
              <a:buChar char="•"/>
              <a:tabLst>
                <a:tab pos="244475" algn="l"/>
              </a:tabLst>
            </a:pPr>
            <a:r>
              <a:rPr sz="1600" b="1" spc="-5" dirty="0">
                <a:latin typeface="Verdana"/>
                <a:cs typeface="Verdana"/>
              </a:rPr>
              <a:t>Health </a:t>
            </a:r>
            <a:r>
              <a:rPr sz="1600" b="1" spc="-10" dirty="0">
                <a:latin typeface="Verdana"/>
                <a:cs typeface="Verdana"/>
              </a:rPr>
              <a:t>policies consist </a:t>
            </a:r>
            <a:r>
              <a:rPr sz="1600" b="1" spc="-5" dirty="0">
                <a:latin typeface="Verdana"/>
                <a:cs typeface="Verdana"/>
              </a:rPr>
              <a:t>of one or </a:t>
            </a:r>
            <a:r>
              <a:rPr sz="1600" b="1" spc="-10" dirty="0">
                <a:latin typeface="Verdana"/>
                <a:cs typeface="Verdana"/>
              </a:rPr>
              <a:t>more SHVs </a:t>
            </a:r>
            <a:r>
              <a:rPr sz="1600" b="1" spc="-5" dirty="0">
                <a:latin typeface="Verdana"/>
                <a:cs typeface="Verdana"/>
              </a:rPr>
              <a:t>and other </a:t>
            </a:r>
            <a:r>
              <a:rPr sz="1600" b="1" spc="-10" dirty="0">
                <a:latin typeface="Verdana"/>
                <a:cs typeface="Verdana"/>
              </a:rPr>
              <a:t>settings </a:t>
            </a:r>
            <a:r>
              <a:rPr sz="1600" b="1" spc="-5" dirty="0">
                <a:latin typeface="Verdana"/>
                <a:cs typeface="Verdana"/>
              </a:rPr>
              <a:t>that  </a:t>
            </a:r>
            <a:r>
              <a:rPr sz="1600" b="1" spc="-10" dirty="0">
                <a:latin typeface="Verdana"/>
                <a:cs typeface="Verdana"/>
              </a:rPr>
              <a:t>allow </a:t>
            </a:r>
            <a:r>
              <a:rPr sz="1600" b="1" spc="-5" dirty="0">
                <a:latin typeface="Verdana"/>
                <a:cs typeface="Verdana"/>
              </a:rPr>
              <a:t>you </a:t>
            </a:r>
            <a:r>
              <a:rPr sz="1600" b="1" dirty="0">
                <a:latin typeface="Verdana"/>
                <a:cs typeface="Verdana"/>
              </a:rPr>
              <a:t>to </a:t>
            </a:r>
            <a:r>
              <a:rPr sz="1600" b="1" spc="-10" dirty="0">
                <a:latin typeface="Verdana"/>
                <a:cs typeface="Verdana"/>
              </a:rPr>
              <a:t>define client computer configuration requirements for  NAP-capable </a:t>
            </a:r>
            <a:r>
              <a:rPr sz="1600" b="1" spc="-5" dirty="0">
                <a:latin typeface="Verdana"/>
                <a:cs typeface="Verdana"/>
              </a:rPr>
              <a:t>computers that attempt to </a:t>
            </a:r>
            <a:r>
              <a:rPr sz="1600" b="1" spc="-10" dirty="0">
                <a:latin typeface="Verdana"/>
                <a:cs typeface="Verdana"/>
              </a:rPr>
              <a:t>connect </a:t>
            </a:r>
            <a:r>
              <a:rPr sz="1600" b="1" spc="-5" dirty="0">
                <a:latin typeface="Verdana"/>
                <a:cs typeface="Verdana"/>
              </a:rPr>
              <a:t>to your</a:t>
            </a:r>
            <a:r>
              <a:rPr sz="1600" b="1" spc="150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network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006699"/>
              </a:buClr>
              <a:buFont typeface="Verdana"/>
              <a:buChar char="•"/>
            </a:pPr>
            <a:endParaRPr sz="2750">
              <a:latin typeface="Verdana"/>
              <a:cs typeface="Verdana"/>
            </a:endParaRPr>
          </a:p>
          <a:p>
            <a:pPr marL="243840" marR="93345" indent="-228600" algn="just">
              <a:lnSpc>
                <a:spcPts val="1730"/>
              </a:lnSpc>
              <a:spcBef>
                <a:spcPts val="5"/>
              </a:spcBef>
              <a:buClr>
                <a:srgbClr val="006699"/>
              </a:buClr>
              <a:buFont typeface="Verdana"/>
              <a:buChar char="•"/>
              <a:tabLst>
                <a:tab pos="244475" algn="l"/>
              </a:tabLst>
            </a:pPr>
            <a:r>
              <a:rPr sz="1600" b="1" spc="-5" dirty="0">
                <a:latin typeface="Verdana"/>
                <a:cs typeface="Verdana"/>
              </a:rPr>
              <a:t>You </a:t>
            </a:r>
            <a:r>
              <a:rPr sz="1600" b="1" spc="-10" dirty="0">
                <a:latin typeface="Verdana"/>
                <a:cs typeface="Verdana"/>
              </a:rPr>
              <a:t>can define client health policies in </a:t>
            </a:r>
            <a:r>
              <a:rPr sz="1600" b="1" spc="-5" dirty="0">
                <a:latin typeface="Verdana"/>
                <a:cs typeface="Verdana"/>
              </a:rPr>
              <a:t>NPS </a:t>
            </a:r>
            <a:r>
              <a:rPr sz="1600" b="1" spc="-10" dirty="0">
                <a:latin typeface="Verdana"/>
                <a:cs typeface="Verdana"/>
              </a:rPr>
              <a:t>by </a:t>
            </a:r>
            <a:r>
              <a:rPr sz="1600" b="1" spc="-5" dirty="0">
                <a:latin typeface="Verdana"/>
                <a:cs typeface="Verdana"/>
              </a:rPr>
              <a:t>adding one or </a:t>
            </a:r>
            <a:r>
              <a:rPr sz="1600" b="1" spc="-10" dirty="0">
                <a:latin typeface="Verdana"/>
                <a:cs typeface="Verdana"/>
              </a:rPr>
              <a:t>more  SHVs </a:t>
            </a:r>
            <a:r>
              <a:rPr sz="1600" b="1" spc="-5" dirty="0">
                <a:latin typeface="Verdana"/>
                <a:cs typeface="Verdana"/>
              </a:rPr>
              <a:t>to the </a:t>
            </a:r>
            <a:r>
              <a:rPr sz="1600" b="1" spc="-10" dirty="0">
                <a:latin typeface="Verdana"/>
                <a:cs typeface="Verdana"/>
              </a:rPr>
              <a:t>health</a:t>
            </a:r>
            <a:r>
              <a:rPr sz="1600" b="1" spc="50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policy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buClr>
                <a:srgbClr val="006699"/>
              </a:buClr>
              <a:buFont typeface="Verdana"/>
              <a:buChar char="•"/>
            </a:pP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006699"/>
              </a:buClr>
              <a:buFont typeface="Verdana"/>
              <a:buChar char="•"/>
            </a:pPr>
            <a:endParaRPr sz="1550">
              <a:latin typeface="Verdana"/>
              <a:cs typeface="Verdana"/>
            </a:endParaRPr>
          </a:p>
          <a:p>
            <a:pPr marL="243840" marR="869950" indent="-228600">
              <a:lnSpc>
                <a:spcPts val="1730"/>
              </a:lnSpc>
              <a:spcBef>
                <a:spcPts val="5"/>
              </a:spcBef>
              <a:buClr>
                <a:srgbClr val="006699"/>
              </a:buClr>
              <a:buFont typeface="Verdana"/>
              <a:buChar char="•"/>
              <a:tabLst>
                <a:tab pos="244475" algn="l"/>
              </a:tabLst>
            </a:pPr>
            <a:r>
              <a:rPr sz="1600" b="1" spc="-5" dirty="0">
                <a:latin typeface="Verdana"/>
                <a:cs typeface="Verdana"/>
              </a:rPr>
              <a:t>NAP </a:t>
            </a:r>
            <a:r>
              <a:rPr sz="1600" b="1" spc="-10" dirty="0">
                <a:latin typeface="Verdana"/>
                <a:cs typeface="Verdana"/>
              </a:rPr>
              <a:t>enforcement is accomplished by </a:t>
            </a:r>
            <a:r>
              <a:rPr sz="1600" b="1" spc="-5" dirty="0">
                <a:latin typeface="Verdana"/>
                <a:cs typeface="Verdana"/>
              </a:rPr>
              <a:t>NPS on a </a:t>
            </a:r>
            <a:r>
              <a:rPr sz="1600" b="1" spc="-10" dirty="0">
                <a:latin typeface="Verdana"/>
                <a:cs typeface="Verdana"/>
              </a:rPr>
              <a:t>per-network  policy</a:t>
            </a:r>
            <a:r>
              <a:rPr sz="1600" b="1" spc="20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basis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006699"/>
              </a:buClr>
              <a:buFont typeface="Verdana"/>
              <a:buChar char="•"/>
            </a:pPr>
            <a:endParaRPr sz="2800">
              <a:latin typeface="Verdana"/>
              <a:cs typeface="Verdana"/>
            </a:endParaRPr>
          </a:p>
          <a:p>
            <a:pPr marL="241300" marR="76200" indent="-228600">
              <a:lnSpc>
                <a:spcPct val="90100"/>
              </a:lnSpc>
              <a:buClr>
                <a:srgbClr val="006699"/>
              </a:buClr>
              <a:buFont typeface="Verdana"/>
              <a:buChar char="•"/>
              <a:tabLst>
                <a:tab pos="241300" algn="l"/>
              </a:tabLst>
            </a:pPr>
            <a:r>
              <a:rPr sz="1600" b="1" spc="-10" dirty="0">
                <a:latin typeface="Verdana"/>
                <a:cs typeface="Verdana"/>
              </a:rPr>
              <a:t>After </a:t>
            </a:r>
            <a:r>
              <a:rPr sz="1600" b="1" spc="-5" dirty="0">
                <a:latin typeface="Verdana"/>
                <a:cs typeface="Verdana"/>
              </a:rPr>
              <a:t>you </a:t>
            </a:r>
            <a:r>
              <a:rPr sz="1600" b="1" spc="-10" dirty="0">
                <a:latin typeface="Verdana"/>
                <a:cs typeface="Verdana"/>
              </a:rPr>
              <a:t>create </a:t>
            </a:r>
            <a:r>
              <a:rPr sz="1600" b="1" spc="-5" dirty="0">
                <a:latin typeface="Verdana"/>
                <a:cs typeface="Verdana"/>
              </a:rPr>
              <a:t>a </a:t>
            </a:r>
            <a:r>
              <a:rPr sz="1600" b="1" spc="-10" dirty="0">
                <a:latin typeface="Verdana"/>
                <a:cs typeface="Verdana"/>
              </a:rPr>
              <a:t>health policy by </a:t>
            </a:r>
            <a:r>
              <a:rPr sz="1600" b="1" spc="-5" dirty="0">
                <a:latin typeface="Verdana"/>
                <a:cs typeface="Verdana"/>
              </a:rPr>
              <a:t>adding one or </a:t>
            </a:r>
            <a:r>
              <a:rPr sz="1600" b="1" spc="-10" dirty="0">
                <a:latin typeface="Verdana"/>
                <a:cs typeface="Verdana"/>
              </a:rPr>
              <a:t>more SHVs </a:t>
            </a:r>
            <a:r>
              <a:rPr sz="1600" b="1" spc="-5" dirty="0">
                <a:latin typeface="Verdana"/>
                <a:cs typeface="Verdana"/>
              </a:rPr>
              <a:t>to  the </a:t>
            </a:r>
            <a:r>
              <a:rPr sz="1600" b="1" spc="-10" dirty="0">
                <a:latin typeface="Verdana"/>
                <a:cs typeface="Verdana"/>
              </a:rPr>
              <a:t>policy, </a:t>
            </a:r>
            <a:r>
              <a:rPr sz="1600" b="1" spc="-5" dirty="0">
                <a:latin typeface="Verdana"/>
                <a:cs typeface="Verdana"/>
              </a:rPr>
              <a:t>you can add the </a:t>
            </a:r>
            <a:r>
              <a:rPr sz="1600" b="1" spc="-10" dirty="0">
                <a:latin typeface="Verdana"/>
                <a:cs typeface="Verdana"/>
              </a:rPr>
              <a:t>health policy </a:t>
            </a:r>
            <a:r>
              <a:rPr sz="1600" b="1" spc="-5" dirty="0">
                <a:latin typeface="Verdana"/>
                <a:cs typeface="Verdana"/>
              </a:rPr>
              <a:t>to the </a:t>
            </a:r>
            <a:r>
              <a:rPr sz="1600" b="1" spc="-10" dirty="0">
                <a:latin typeface="Verdana"/>
                <a:cs typeface="Verdana"/>
              </a:rPr>
              <a:t>network policy </a:t>
            </a:r>
            <a:r>
              <a:rPr sz="1600" b="1" spc="-5" dirty="0">
                <a:latin typeface="Verdana"/>
                <a:cs typeface="Verdana"/>
              </a:rPr>
              <a:t>and  </a:t>
            </a:r>
            <a:r>
              <a:rPr sz="1600" b="1" spc="-10" dirty="0">
                <a:latin typeface="Verdana"/>
                <a:cs typeface="Verdana"/>
              </a:rPr>
              <a:t>enable </a:t>
            </a:r>
            <a:r>
              <a:rPr sz="1600" b="1" spc="-5" dirty="0">
                <a:latin typeface="Verdana"/>
                <a:cs typeface="Verdana"/>
              </a:rPr>
              <a:t>NAP </a:t>
            </a:r>
            <a:r>
              <a:rPr sz="1600" b="1" spc="-10" dirty="0">
                <a:latin typeface="Verdana"/>
                <a:cs typeface="Verdana"/>
              </a:rPr>
              <a:t>enforcement in </a:t>
            </a:r>
            <a:r>
              <a:rPr sz="1600" b="1" spc="-5" dirty="0">
                <a:latin typeface="Verdana"/>
                <a:cs typeface="Verdana"/>
              </a:rPr>
              <a:t>the</a:t>
            </a:r>
            <a:r>
              <a:rPr sz="1600" b="1" spc="90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policy</a:t>
            </a:r>
            <a:endParaRPr sz="1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59601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Verdana"/>
                <a:cs typeface="Verdana"/>
              </a:rPr>
              <a:t>What Are </a:t>
            </a:r>
            <a:r>
              <a:rPr sz="2400" spc="-10" dirty="0">
                <a:latin typeface="Verdana"/>
                <a:cs typeface="Verdana"/>
              </a:rPr>
              <a:t>Remediation </a:t>
            </a:r>
            <a:r>
              <a:rPr sz="2400" spc="-5" dirty="0">
                <a:latin typeface="Verdana"/>
                <a:cs typeface="Verdana"/>
              </a:rPr>
              <a:t>Server</a:t>
            </a:r>
            <a:r>
              <a:rPr sz="2400" spc="6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Groups?</a:t>
            </a:r>
            <a:endParaRPr sz="2400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54508" y="1022603"/>
            <a:ext cx="8676640" cy="1160145"/>
            <a:chOff x="254508" y="1022603"/>
            <a:chExt cx="8676640" cy="1160145"/>
          </a:xfrm>
        </p:grpSpPr>
        <p:sp>
          <p:nvSpPr>
            <p:cNvPr id="4" name="object 4"/>
            <p:cNvSpPr/>
            <p:nvPr/>
          </p:nvSpPr>
          <p:spPr>
            <a:xfrm>
              <a:off x="278892" y="1046987"/>
              <a:ext cx="8639556" cy="113538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45948" y="1132331"/>
              <a:ext cx="8584692" cy="103174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59080" y="1027175"/>
              <a:ext cx="8627364" cy="112318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59080" y="1027175"/>
              <a:ext cx="8627745" cy="1123315"/>
            </a:xfrm>
            <a:custGeom>
              <a:avLst/>
              <a:gdLst/>
              <a:ahLst/>
              <a:cxnLst/>
              <a:rect l="l" t="t" r="r" b="b"/>
              <a:pathLst>
                <a:path w="8627745" h="1123314">
                  <a:moveTo>
                    <a:pt x="0" y="187198"/>
                  </a:moveTo>
                  <a:lnTo>
                    <a:pt x="6686" y="137436"/>
                  </a:lnTo>
                  <a:lnTo>
                    <a:pt x="25557" y="92719"/>
                  </a:lnTo>
                  <a:lnTo>
                    <a:pt x="54827" y="54832"/>
                  </a:lnTo>
                  <a:lnTo>
                    <a:pt x="92713" y="25559"/>
                  </a:lnTo>
                  <a:lnTo>
                    <a:pt x="137431" y="6687"/>
                  </a:lnTo>
                  <a:lnTo>
                    <a:pt x="187198" y="0"/>
                  </a:lnTo>
                  <a:lnTo>
                    <a:pt x="8440166" y="0"/>
                  </a:lnTo>
                  <a:lnTo>
                    <a:pt x="8489927" y="6687"/>
                  </a:lnTo>
                  <a:lnTo>
                    <a:pt x="8534644" y="25559"/>
                  </a:lnTo>
                  <a:lnTo>
                    <a:pt x="8572531" y="54832"/>
                  </a:lnTo>
                  <a:lnTo>
                    <a:pt x="8601804" y="92719"/>
                  </a:lnTo>
                  <a:lnTo>
                    <a:pt x="8620676" y="137436"/>
                  </a:lnTo>
                  <a:lnTo>
                    <a:pt x="8627364" y="187198"/>
                  </a:lnTo>
                  <a:lnTo>
                    <a:pt x="8627364" y="935989"/>
                  </a:lnTo>
                  <a:lnTo>
                    <a:pt x="8620676" y="985751"/>
                  </a:lnTo>
                  <a:lnTo>
                    <a:pt x="8601804" y="1030468"/>
                  </a:lnTo>
                  <a:lnTo>
                    <a:pt x="8572531" y="1068355"/>
                  </a:lnTo>
                  <a:lnTo>
                    <a:pt x="8534644" y="1097628"/>
                  </a:lnTo>
                  <a:lnTo>
                    <a:pt x="8489927" y="1116500"/>
                  </a:lnTo>
                  <a:lnTo>
                    <a:pt x="8440166" y="1123188"/>
                  </a:lnTo>
                  <a:lnTo>
                    <a:pt x="187198" y="1123188"/>
                  </a:lnTo>
                  <a:lnTo>
                    <a:pt x="137431" y="1116500"/>
                  </a:lnTo>
                  <a:lnTo>
                    <a:pt x="92713" y="1097628"/>
                  </a:lnTo>
                  <a:lnTo>
                    <a:pt x="54827" y="1068355"/>
                  </a:lnTo>
                  <a:lnTo>
                    <a:pt x="25557" y="1030468"/>
                  </a:lnTo>
                  <a:lnTo>
                    <a:pt x="6686" y="985751"/>
                  </a:lnTo>
                  <a:lnTo>
                    <a:pt x="0" y="935989"/>
                  </a:lnTo>
                  <a:lnTo>
                    <a:pt x="0" y="187198"/>
                  </a:lnTo>
                  <a:close/>
                </a:path>
              </a:pathLst>
            </a:custGeom>
            <a:ln w="914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46328" y="1162939"/>
            <a:ext cx="8249284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Verdana"/>
                <a:cs typeface="Verdana"/>
              </a:rPr>
              <a:t>With NAP enforcement </a:t>
            </a:r>
            <a:r>
              <a:rPr sz="1800" b="1" dirty="0">
                <a:latin typeface="Verdana"/>
                <a:cs typeface="Verdana"/>
              </a:rPr>
              <a:t>in </a:t>
            </a:r>
            <a:r>
              <a:rPr sz="1800" b="1" spc="-5" dirty="0">
                <a:latin typeface="Verdana"/>
                <a:cs typeface="Verdana"/>
              </a:rPr>
              <a:t>place, </a:t>
            </a:r>
            <a:r>
              <a:rPr sz="1800" b="1" dirty="0">
                <a:latin typeface="Verdana"/>
                <a:cs typeface="Verdana"/>
              </a:rPr>
              <a:t>you </a:t>
            </a:r>
            <a:r>
              <a:rPr sz="1800" b="1" spc="-5" dirty="0">
                <a:latin typeface="Verdana"/>
                <a:cs typeface="Verdana"/>
              </a:rPr>
              <a:t>should specify remediation  server groups so the clients have access to resources that </a:t>
            </a:r>
            <a:r>
              <a:rPr sz="1800" b="1" dirty="0">
                <a:latin typeface="Verdana"/>
                <a:cs typeface="Verdana"/>
              </a:rPr>
              <a:t>bring  </a:t>
            </a:r>
            <a:r>
              <a:rPr sz="1800" b="1" spc="-5" dirty="0">
                <a:latin typeface="Verdana"/>
                <a:cs typeface="Verdana"/>
              </a:rPr>
              <a:t>noncompliant NAP-capable clients into</a:t>
            </a:r>
            <a:r>
              <a:rPr sz="1800" b="1" spc="75" dirty="0">
                <a:latin typeface="Verdana"/>
                <a:cs typeface="Verdana"/>
              </a:rPr>
              <a:t> </a:t>
            </a:r>
            <a:r>
              <a:rPr sz="1800" b="1" spc="-10" dirty="0">
                <a:latin typeface="Verdana"/>
                <a:cs typeface="Verdana"/>
              </a:rPr>
              <a:t>compliance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07263" y="2407920"/>
            <a:ext cx="8729980" cy="2303145"/>
            <a:chOff x="207263" y="2407920"/>
            <a:chExt cx="8729980" cy="2303145"/>
          </a:xfrm>
        </p:grpSpPr>
        <p:sp>
          <p:nvSpPr>
            <p:cNvPr id="10" name="object 10"/>
            <p:cNvSpPr/>
            <p:nvPr/>
          </p:nvSpPr>
          <p:spPr>
            <a:xfrm>
              <a:off x="211835" y="2412492"/>
              <a:ext cx="8720455" cy="2293620"/>
            </a:xfrm>
            <a:custGeom>
              <a:avLst/>
              <a:gdLst/>
              <a:ahLst/>
              <a:cxnLst/>
              <a:rect l="l" t="t" r="r" b="b"/>
              <a:pathLst>
                <a:path w="8720455" h="2293620">
                  <a:moveTo>
                    <a:pt x="8624697" y="0"/>
                  </a:moveTo>
                  <a:lnTo>
                    <a:pt x="95580" y="0"/>
                  </a:lnTo>
                  <a:lnTo>
                    <a:pt x="58373" y="7512"/>
                  </a:lnTo>
                  <a:lnTo>
                    <a:pt x="27992" y="28003"/>
                  </a:lnTo>
                  <a:lnTo>
                    <a:pt x="7510" y="58400"/>
                  </a:lnTo>
                  <a:lnTo>
                    <a:pt x="0" y="95631"/>
                  </a:lnTo>
                  <a:lnTo>
                    <a:pt x="0" y="2197989"/>
                  </a:lnTo>
                  <a:lnTo>
                    <a:pt x="7510" y="2235219"/>
                  </a:lnTo>
                  <a:lnTo>
                    <a:pt x="27992" y="2265616"/>
                  </a:lnTo>
                  <a:lnTo>
                    <a:pt x="58373" y="2286107"/>
                  </a:lnTo>
                  <a:lnTo>
                    <a:pt x="95580" y="2293620"/>
                  </a:lnTo>
                  <a:lnTo>
                    <a:pt x="8624697" y="2293620"/>
                  </a:lnTo>
                  <a:lnTo>
                    <a:pt x="8661927" y="2286107"/>
                  </a:lnTo>
                  <a:lnTo>
                    <a:pt x="8692324" y="2265616"/>
                  </a:lnTo>
                  <a:lnTo>
                    <a:pt x="8712815" y="2235219"/>
                  </a:lnTo>
                  <a:lnTo>
                    <a:pt x="8720328" y="2197989"/>
                  </a:lnTo>
                  <a:lnTo>
                    <a:pt x="8720328" y="95631"/>
                  </a:lnTo>
                  <a:lnTo>
                    <a:pt x="8712815" y="58400"/>
                  </a:lnTo>
                  <a:lnTo>
                    <a:pt x="8692324" y="28003"/>
                  </a:lnTo>
                  <a:lnTo>
                    <a:pt x="8661927" y="7512"/>
                  </a:lnTo>
                  <a:lnTo>
                    <a:pt x="8624697" y="0"/>
                  </a:lnTo>
                  <a:close/>
                </a:path>
              </a:pathLst>
            </a:custGeom>
            <a:solidFill>
              <a:srgbClr val="DE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11835" y="2412492"/>
              <a:ext cx="8720455" cy="2293620"/>
            </a:xfrm>
            <a:custGeom>
              <a:avLst/>
              <a:gdLst/>
              <a:ahLst/>
              <a:cxnLst/>
              <a:rect l="l" t="t" r="r" b="b"/>
              <a:pathLst>
                <a:path w="8720455" h="2293620">
                  <a:moveTo>
                    <a:pt x="0" y="95631"/>
                  </a:moveTo>
                  <a:lnTo>
                    <a:pt x="7510" y="58400"/>
                  </a:lnTo>
                  <a:lnTo>
                    <a:pt x="27992" y="28003"/>
                  </a:lnTo>
                  <a:lnTo>
                    <a:pt x="58373" y="7512"/>
                  </a:lnTo>
                  <a:lnTo>
                    <a:pt x="95580" y="0"/>
                  </a:lnTo>
                  <a:lnTo>
                    <a:pt x="8624697" y="0"/>
                  </a:lnTo>
                  <a:lnTo>
                    <a:pt x="8661927" y="7512"/>
                  </a:lnTo>
                  <a:lnTo>
                    <a:pt x="8692324" y="28003"/>
                  </a:lnTo>
                  <a:lnTo>
                    <a:pt x="8712815" y="58400"/>
                  </a:lnTo>
                  <a:lnTo>
                    <a:pt x="8720328" y="95631"/>
                  </a:lnTo>
                  <a:lnTo>
                    <a:pt x="8720328" y="2197989"/>
                  </a:lnTo>
                  <a:lnTo>
                    <a:pt x="8712815" y="2235219"/>
                  </a:lnTo>
                  <a:lnTo>
                    <a:pt x="8692324" y="2265616"/>
                  </a:lnTo>
                  <a:lnTo>
                    <a:pt x="8661927" y="2286107"/>
                  </a:lnTo>
                  <a:lnTo>
                    <a:pt x="8624697" y="2293620"/>
                  </a:lnTo>
                  <a:lnTo>
                    <a:pt x="95580" y="2293620"/>
                  </a:lnTo>
                  <a:lnTo>
                    <a:pt x="58373" y="2286107"/>
                  </a:lnTo>
                  <a:lnTo>
                    <a:pt x="27992" y="2265616"/>
                  </a:lnTo>
                  <a:lnTo>
                    <a:pt x="7510" y="2235219"/>
                  </a:lnTo>
                  <a:lnTo>
                    <a:pt x="0" y="2197989"/>
                  </a:lnTo>
                  <a:lnTo>
                    <a:pt x="0" y="95631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86155" y="2622804"/>
              <a:ext cx="8171815" cy="875030"/>
            </a:xfrm>
            <a:custGeom>
              <a:avLst/>
              <a:gdLst/>
              <a:ahLst/>
              <a:cxnLst/>
              <a:rect l="l" t="t" r="r" b="b"/>
              <a:pathLst>
                <a:path w="8171815" h="875029">
                  <a:moveTo>
                    <a:pt x="8135239" y="0"/>
                  </a:moveTo>
                  <a:lnTo>
                    <a:pt x="36448" y="0"/>
                  </a:lnTo>
                  <a:lnTo>
                    <a:pt x="22261" y="2873"/>
                  </a:lnTo>
                  <a:lnTo>
                    <a:pt x="10675" y="10699"/>
                  </a:lnTo>
                  <a:lnTo>
                    <a:pt x="2864" y="22288"/>
                  </a:lnTo>
                  <a:lnTo>
                    <a:pt x="0" y="36449"/>
                  </a:lnTo>
                  <a:lnTo>
                    <a:pt x="0" y="838326"/>
                  </a:lnTo>
                  <a:lnTo>
                    <a:pt x="2864" y="852487"/>
                  </a:lnTo>
                  <a:lnTo>
                    <a:pt x="10675" y="864076"/>
                  </a:lnTo>
                  <a:lnTo>
                    <a:pt x="22261" y="871902"/>
                  </a:lnTo>
                  <a:lnTo>
                    <a:pt x="36448" y="874776"/>
                  </a:lnTo>
                  <a:lnTo>
                    <a:pt x="8135239" y="874776"/>
                  </a:lnTo>
                  <a:lnTo>
                    <a:pt x="8149399" y="871902"/>
                  </a:lnTo>
                  <a:lnTo>
                    <a:pt x="8160988" y="864076"/>
                  </a:lnTo>
                  <a:lnTo>
                    <a:pt x="8168814" y="852487"/>
                  </a:lnTo>
                  <a:lnTo>
                    <a:pt x="8171688" y="838326"/>
                  </a:lnTo>
                  <a:lnTo>
                    <a:pt x="8171688" y="36449"/>
                  </a:lnTo>
                  <a:lnTo>
                    <a:pt x="8168814" y="22288"/>
                  </a:lnTo>
                  <a:lnTo>
                    <a:pt x="8160988" y="10699"/>
                  </a:lnTo>
                  <a:lnTo>
                    <a:pt x="8149399" y="2873"/>
                  </a:lnTo>
                  <a:lnTo>
                    <a:pt x="8135239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86155" y="2622804"/>
              <a:ext cx="8171815" cy="875030"/>
            </a:xfrm>
            <a:custGeom>
              <a:avLst/>
              <a:gdLst/>
              <a:ahLst/>
              <a:cxnLst/>
              <a:rect l="l" t="t" r="r" b="b"/>
              <a:pathLst>
                <a:path w="8171815" h="875029">
                  <a:moveTo>
                    <a:pt x="0" y="36449"/>
                  </a:moveTo>
                  <a:lnTo>
                    <a:pt x="2864" y="22288"/>
                  </a:lnTo>
                  <a:lnTo>
                    <a:pt x="10675" y="10699"/>
                  </a:lnTo>
                  <a:lnTo>
                    <a:pt x="22261" y="2873"/>
                  </a:lnTo>
                  <a:lnTo>
                    <a:pt x="36448" y="0"/>
                  </a:lnTo>
                  <a:lnTo>
                    <a:pt x="8135239" y="0"/>
                  </a:lnTo>
                  <a:lnTo>
                    <a:pt x="8149399" y="2873"/>
                  </a:lnTo>
                  <a:lnTo>
                    <a:pt x="8160988" y="10699"/>
                  </a:lnTo>
                  <a:lnTo>
                    <a:pt x="8168814" y="22288"/>
                  </a:lnTo>
                  <a:lnTo>
                    <a:pt x="8171688" y="36449"/>
                  </a:lnTo>
                  <a:lnTo>
                    <a:pt x="8171688" y="838326"/>
                  </a:lnTo>
                  <a:lnTo>
                    <a:pt x="8168814" y="852487"/>
                  </a:lnTo>
                  <a:lnTo>
                    <a:pt x="8160988" y="864076"/>
                  </a:lnTo>
                  <a:lnTo>
                    <a:pt x="8149399" y="871902"/>
                  </a:lnTo>
                  <a:lnTo>
                    <a:pt x="8135239" y="874776"/>
                  </a:lnTo>
                  <a:lnTo>
                    <a:pt x="36448" y="874776"/>
                  </a:lnTo>
                  <a:lnTo>
                    <a:pt x="22261" y="871902"/>
                  </a:lnTo>
                  <a:lnTo>
                    <a:pt x="10675" y="864076"/>
                  </a:lnTo>
                  <a:lnTo>
                    <a:pt x="2864" y="852487"/>
                  </a:lnTo>
                  <a:lnTo>
                    <a:pt x="0" y="838326"/>
                  </a:lnTo>
                  <a:lnTo>
                    <a:pt x="0" y="36449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86155" y="3628644"/>
              <a:ext cx="8171815" cy="875030"/>
            </a:xfrm>
            <a:custGeom>
              <a:avLst/>
              <a:gdLst/>
              <a:ahLst/>
              <a:cxnLst/>
              <a:rect l="l" t="t" r="r" b="b"/>
              <a:pathLst>
                <a:path w="8171815" h="875029">
                  <a:moveTo>
                    <a:pt x="8135239" y="0"/>
                  </a:moveTo>
                  <a:lnTo>
                    <a:pt x="36448" y="0"/>
                  </a:lnTo>
                  <a:lnTo>
                    <a:pt x="22261" y="2873"/>
                  </a:lnTo>
                  <a:lnTo>
                    <a:pt x="10675" y="10699"/>
                  </a:lnTo>
                  <a:lnTo>
                    <a:pt x="2864" y="22288"/>
                  </a:lnTo>
                  <a:lnTo>
                    <a:pt x="0" y="36448"/>
                  </a:lnTo>
                  <a:lnTo>
                    <a:pt x="0" y="838326"/>
                  </a:lnTo>
                  <a:lnTo>
                    <a:pt x="2864" y="852487"/>
                  </a:lnTo>
                  <a:lnTo>
                    <a:pt x="10675" y="864076"/>
                  </a:lnTo>
                  <a:lnTo>
                    <a:pt x="22261" y="871902"/>
                  </a:lnTo>
                  <a:lnTo>
                    <a:pt x="36448" y="874775"/>
                  </a:lnTo>
                  <a:lnTo>
                    <a:pt x="8135239" y="874775"/>
                  </a:lnTo>
                  <a:lnTo>
                    <a:pt x="8149399" y="871902"/>
                  </a:lnTo>
                  <a:lnTo>
                    <a:pt x="8160988" y="864076"/>
                  </a:lnTo>
                  <a:lnTo>
                    <a:pt x="8168814" y="852487"/>
                  </a:lnTo>
                  <a:lnTo>
                    <a:pt x="8171688" y="838326"/>
                  </a:lnTo>
                  <a:lnTo>
                    <a:pt x="8171688" y="36448"/>
                  </a:lnTo>
                  <a:lnTo>
                    <a:pt x="8168814" y="22288"/>
                  </a:lnTo>
                  <a:lnTo>
                    <a:pt x="8160988" y="10699"/>
                  </a:lnTo>
                  <a:lnTo>
                    <a:pt x="8149399" y="2873"/>
                  </a:lnTo>
                  <a:lnTo>
                    <a:pt x="8135239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86155" y="3628644"/>
              <a:ext cx="8171815" cy="875030"/>
            </a:xfrm>
            <a:custGeom>
              <a:avLst/>
              <a:gdLst/>
              <a:ahLst/>
              <a:cxnLst/>
              <a:rect l="l" t="t" r="r" b="b"/>
              <a:pathLst>
                <a:path w="8171815" h="875029">
                  <a:moveTo>
                    <a:pt x="0" y="36448"/>
                  </a:moveTo>
                  <a:lnTo>
                    <a:pt x="2864" y="22288"/>
                  </a:lnTo>
                  <a:lnTo>
                    <a:pt x="10675" y="10699"/>
                  </a:lnTo>
                  <a:lnTo>
                    <a:pt x="22261" y="2873"/>
                  </a:lnTo>
                  <a:lnTo>
                    <a:pt x="36448" y="0"/>
                  </a:lnTo>
                  <a:lnTo>
                    <a:pt x="8135239" y="0"/>
                  </a:lnTo>
                  <a:lnTo>
                    <a:pt x="8149399" y="2873"/>
                  </a:lnTo>
                  <a:lnTo>
                    <a:pt x="8160988" y="10699"/>
                  </a:lnTo>
                  <a:lnTo>
                    <a:pt x="8168814" y="22288"/>
                  </a:lnTo>
                  <a:lnTo>
                    <a:pt x="8171688" y="36448"/>
                  </a:lnTo>
                  <a:lnTo>
                    <a:pt x="8171688" y="838326"/>
                  </a:lnTo>
                  <a:lnTo>
                    <a:pt x="8168814" y="852487"/>
                  </a:lnTo>
                  <a:lnTo>
                    <a:pt x="8160988" y="864076"/>
                  </a:lnTo>
                  <a:lnTo>
                    <a:pt x="8149399" y="871902"/>
                  </a:lnTo>
                  <a:lnTo>
                    <a:pt x="8135239" y="874775"/>
                  </a:lnTo>
                  <a:lnTo>
                    <a:pt x="36448" y="874775"/>
                  </a:lnTo>
                  <a:lnTo>
                    <a:pt x="22261" y="871902"/>
                  </a:lnTo>
                  <a:lnTo>
                    <a:pt x="10675" y="864076"/>
                  </a:lnTo>
                  <a:lnTo>
                    <a:pt x="2864" y="852487"/>
                  </a:lnTo>
                  <a:lnTo>
                    <a:pt x="0" y="838326"/>
                  </a:lnTo>
                  <a:lnTo>
                    <a:pt x="0" y="36448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75259" y="2692654"/>
            <a:ext cx="7681595" cy="171450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241300" marR="5080" indent="-228600">
              <a:lnSpc>
                <a:spcPts val="1730"/>
              </a:lnSpc>
              <a:spcBef>
                <a:spcPts val="310"/>
              </a:spcBef>
              <a:buClr>
                <a:srgbClr val="006699"/>
              </a:buClr>
              <a:buFont typeface="Verdana"/>
              <a:buChar char="•"/>
              <a:tabLst>
                <a:tab pos="241300" algn="l"/>
              </a:tabLst>
            </a:pPr>
            <a:r>
              <a:rPr sz="1600" b="1" spc="-5" dirty="0">
                <a:latin typeface="Verdana"/>
                <a:cs typeface="Verdana"/>
              </a:rPr>
              <a:t>A </a:t>
            </a:r>
            <a:r>
              <a:rPr sz="1600" b="1" spc="-10" dirty="0">
                <a:latin typeface="Verdana"/>
                <a:cs typeface="Verdana"/>
              </a:rPr>
              <a:t>remediation server hosts </a:t>
            </a:r>
            <a:r>
              <a:rPr sz="1600" b="1" spc="-5" dirty="0">
                <a:latin typeface="Verdana"/>
                <a:cs typeface="Verdana"/>
              </a:rPr>
              <a:t>the </a:t>
            </a:r>
            <a:r>
              <a:rPr sz="1600" b="1" spc="-10" dirty="0">
                <a:latin typeface="Verdana"/>
                <a:cs typeface="Verdana"/>
              </a:rPr>
              <a:t>updates </a:t>
            </a:r>
            <a:r>
              <a:rPr sz="1600" b="1" spc="-5" dirty="0">
                <a:latin typeface="Verdana"/>
                <a:cs typeface="Verdana"/>
              </a:rPr>
              <a:t>that the NAP agent </a:t>
            </a:r>
            <a:r>
              <a:rPr sz="1600" b="1" spc="-10" dirty="0">
                <a:latin typeface="Verdana"/>
                <a:cs typeface="Verdana"/>
              </a:rPr>
              <a:t>can  </a:t>
            </a:r>
            <a:r>
              <a:rPr sz="1600" b="1" spc="-5" dirty="0">
                <a:latin typeface="Verdana"/>
                <a:cs typeface="Verdana"/>
              </a:rPr>
              <a:t>use </a:t>
            </a:r>
            <a:r>
              <a:rPr sz="1600" b="1" dirty="0">
                <a:latin typeface="Verdana"/>
                <a:cs typeface="Verdana"/>
              </a:rPr>
              <a:t>to </a:t>
            </a:r>
            <a:r>
              <a:rPr sz="1600" b="1" spc="-10" dirty="0">
                <a:latin typeface="Verdana"/>
                <a:cs typeface="Verdana"/>
              </a:rPr>
              <a:t>bring noncompliant client </a:t>
            </a:r>
            <a:r>
              <a:rPr sz="1600" b="1" spc="-5" dirty="0">
                <a:latin typeface="Verdana"/>
                <a:cs typeface="Verdana"/>
              </a:rPr>
              <a:t>computers into </a:t>
            </a:r>
            <a:r>
              <a:rPr sz="1600" b="1" spc="-10" dirty="0">
                <a:latin typeface="Verdana"/>
                <a:cs typeface="Verdana"/>
              </a:rPr>
              <a:t>compliance </a:t>
            </a:r>
            <a:r>
              <a:rPr sz="1600" b="1" spc="-5" dirty="0">
                <a:latin typeface="Verdana"/>
                <a:cs typeface="Verdana"/>
              </a:rPr>
              <a:t>with  the </a:t>
            </a:r>
            <a:r>
              <a:rPr sz="1600" b="1" spc="-10" dirty="0">
                <a:latin typeface="Verdana"/>
                <a:cs typeface="Verdana"/>
              </a:rPr>
              <a:t>health policy </a:t>
            </a:r>
            <a:r>
              <a:rPr sz="1600" b="1" spc="-5" dirty="0">
                <a:latin typeface="Verdana"/>
                <a:cs typeface="Verdana"/>
              </a:rPr>
              <a:t>that NPS</a:t>
            </a:r>
            <a:r>
              <a:rPr sz="1600" b="1" spc="60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defines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006699"/>
              </a:buClr>
              <a:buFont typeface="Verdana"/>
              <a:buChar char="•"/>
            </a:pPr>
            <a:endParaRPr sz="2200">
              <a:latin typeface="Verdana"/>
              <a:cs typeface="Verdana"/>
            </a:endParaRPr>
          </a:p>
          <a:p>
            <a:pPr marL="241300" marR="220979" indent="-228600">
              <a:lnSpc>
                <a:spcPct val="90100"/>
              </a:lnSpc>
              <a:buClr>
                <a:srgbClr val="006699"/>
              </a:buClr>
              <a:buFont typeface="Verdana"/>
              <a:buChar char="•"/>
              <a:tabLst>
                <a:tab pos="241300" algn="l"/>
              </a:tabLst>
            </a:pPr>
            <a:r>
              <a:rPr sz="1600" b="1" spc="-5" dirty="0">
                <a:latin typeface="Verdana"/>
                <a:cs typeface="Verdana"/>
              </a:rPr>
              <a:t>A </a:t>
            </a:r>
            <a:r>
              <a:rPr sz="1600" b="1" spc="-10" dirty="0">
                <a:latin typeface="Verdana"/>
                <a:cs typeface="Verdana"/>
              </a:rPr>
              <a:t>remediation server group is </a:t>
            </a:r>
            <a:r>
              <a:rPr sz="1600" b="1" spc="-5" dirty="0">
                <a:latin typeface="Verdana"/>
                <a:cs typeface="Verdana"/>
              </a:rPr>
              <a:t>a </a:t>
            </a:r>
            <a:r>
              <a:rPr sz="1600" b="1" spc="-10" dirty="0">
                <a:latin typeface="Verdana"/>
                <a:cs typeface="Verdana"/>
              </a:rPr>
              <a:t>list </a:t>
            </a:r>
            <a:r>
              <a:rPr sz="1600" b="1" spc="-5" dirty="0">
                <a:latin typeface="Verdana"/>
                <a:cs typeface="Verdana"/>
              </a:rPr>
              <a:t>of </a:t>
            </a:r>
            <a:r>
              <a:rPr sz="1600" b="1" spc="-10" dirty="0">
                <a:latin typeface="Verdana"/>
                <a:cs typeface="Verdana"/>
              </a:rPr>
              <a:t>servers </a:t>
            </a:r>
            <a:r>
              <a:rPr sz="1600" b="1" spc="-5" dirty="0">
                <a:latin typeface="Verdana"/>
                <a:cs typeface="Verdana"/>
              </a:rPr>
              <a:t>on the </a:t>
            </a:r>
            <a:r>
              <a:rPr sz="1600" b="1" spc="-10" dirty="0">
                <a:latin typeface="Verdana"/>
                <a:cs typeface="Verdana"/>
              </a:rPr>
              <a:t>restricted  network </a:t>
            </a:r>
            <a:r>
              <a:rPr sz="1600" b="1" spc="-5" dirty="0">
                <a:latin typeface="Verdana"/>
                <a:cs typeface="Verdana"/>
              </a:rPr>
              <a:t>that </a:t>
            </a:r>
            <a:r>
              <a:rPr sz="1600" b="1" spc="-10" dirty="0">
                <a:latin typeface="Verdana"/>
                <a:cs typeface="Verdana"/>
              </a:rPr>
              <a:t>noncompliant </a:t>
            </a:r>
            <a:r>
              <a:rPr sz="1600" b="1" spc="-5" dirty="0">
                <a:latin typeface="Verdana"/>
                <a:cs typeface="Verdana"/>
              </a:rPr>
              <a:t>NAP </a:t>
            </a:r>
            <a:r>
              <a:rPr sz="1600" b="1" spc="-10" dirty="0">
                <a:latin typeface="Verdana"/>
                <a:cs typeface="Verdana"/>
              </a:rPr>
              <a:t>clients </a:t>
            </a:r>
            <a:r>
              <a:rPr sz="1600" b="1" spc="-5" dirty="0">
                <a:latin typeface="Verdana"/>
                <a:cs typeface="Verdana"/>
              </a:rPr>
              <a:t>can access </a:t>
            </a:r>
            <a:r>
              <a:rPr sz="1600" b="1" spc="-10" dirty="0">
                <a:latin typeface="Verdana"/>
                <a:cs typeface="Verdana"/>
              </a:rPr>
              <a:t>for  software</a:t>
            </a:r>
            <a:r>
              <a:rPr sz="1600" b="1" spc="10" dirty="0">
                <a:latin typeface="Verdana"/>
                <a:cs typeface="Verdana"/>
              </a:rPr>
              <a:t> </a:t>
            </a:r>
            <a:r>
              <a:rPr sz="1600" b="1" spc="-5" dirty="0">
                <a:latin typeface="Verdana"/>
                <a:cs typeface="Verdana"/>
              </a:rPr>
              <a:t>updates</a:t>
            </a:r>
            <a:endParaRPr sz="1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37966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Verdana"/>
                <a:cs typeface="Verdana"/>
              </a:rPr>
              <a:t>NAP Client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Configuration</a:t>
            </a:r>
            <a:endParaRPr sz="2400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07263" y="1397508"/>
            <a:ext cx="8729980" cy="2781300"/>
            <a:chOff x="207263" y="1397508"/>
            <a:chExt cx="8729980" cy="2781300"/>
          </a:xfrm>
        </p:grpSpPr>
        <p:sp>
          <p:nvSpPr>
            <p:cNvPr id="4" name="object 4"/>
            <p:cNvSpPr/>
            <p:nvPr/>
          </p:nvSpPr>
          <p:spPr>
            <a:xfrm>
              <a:off x="211835" y="1402080"/>
              <a:ext cx="8720455" cy="2772410"/>
            </a:xfrm>
            <a:custGeom>
              <a:avLst/>
              <a:gdLst/>
              <a:ahLst/>
              <a:cxnLst/>
              <a:rect l="l" t="t" r="r" b="b"/>
              <a:pathLst>
                <a:path w="8720455" h="2772410">
                  <a:moveTo>
                    <a:pt x="8604758" y="0"/>
                  </a:moveTo>
                  <a:lnTo>
                    <a:pt x="115519" y="0"/>
                  </a:lnTo>
                  <a:lnTo>
                    <a:pt x="70551" y="9074"/>
                  </a:lnTo>
                  <a:lnTo>
                    <a:pt x="33832" y="33829"/>
                  </a:lnTo>
                  <a:lnTo>
                    <a:pt x="9077" y="70562"/>
                  </a:lnTo>
                  <a:lnTo>
                    <a:pt x="0" y="115570"/>
                  </a:lnTo>
                  <a:lnTo>
                    <a:pt x="0" y="2656586"/>
                  </a:lnTo>
                  <a:lnTo>
                    <a:pt x="9077" y="2701593"/>
                  </a:lnTo>
                  <a:lnTo>
                    <a:pt x="33832" y="2738326"/>
                  </a:lnTo>
                  <a:lnTo>
                    <a:pt x="70551" y="2763081"/>
                  </a:lnTo>
                  <a:lnTo>
                    <a:pt x="115519" y="2772156"/>
                  </a:lnTo>
                  <a:lnTo>
                    <a:pt x="8604758" y="2772156"/>
                  </a:lnTo>
                  <a:lnTo>
                    <a:pt x="8649765" y="2763081"/>
                  </a:lnTo>
                  <a:lnTo>
                    <a:pt x="8686498" y="2738326"/>
                  </a:lnTo>
                  <a:lnTo>
                    <a:pt x="8711253" y="2701593"/>
                  </a:lnTo>
                  <a:lnTo>
                    <a:pt x="8720328" y="2656586"/>
                  </a:lnTo>
                  <a:lnTo>
                    <a:pt x="8720328" y="115570"/>
                  </a:lnTo>
                  <a:lnTo>
                    <a:pt x="8711253" y="70562"/>
                  </a:lnTo>
                  <a:lnTo>
                    <a:pt x="8686498" y="33829"/>
                  </a:lnTo>
                  <a:lnTo>
                    <a:pt x="8649765" y="9074"/>
                  </a:lnTo>
                  <a:lnTo>
                    <a:pt x="8604758" y="0"/>
                  </a:lnTo>
                  <a:close/>
                </a:path>
              </a:pathLst>
            </a:custGeom>
            <a:solidFill>
              <a:srgbClr val="DE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11835" y="1402080"/>
              <a:ext cx="8720455" cy="2772410"/>
            </a:xfrm>
            <a:custGeom>
              <a:avLst/>
              <a:gdLst/>
              <a:ahLst/>
              <a:cxnLst/>
              <a:rect l="l" t="t" r="r" b="b"/>
              <a:pathLst>
                <a:path w="8720455" h="2772410">
                  <a:moveTo>
                    <a:pt x="0" y="115570"/>
                  </a:moveTo>
                  <a:lnTo>
                    <a:pt x="9077" y="70562"/>
                  </a:lnTo>
                  <a:lnTo>
                    <a:pt x="33832" y="33829"/>
                  </a:lnTo>
                  <a:lnTo>
                    <a:pt x="70551" y="9074"/>
                  </a:lnTo>
                  <a:lnTo>
                    <a:pt x="115519" y="0"/>
                  </a:lnTo>
                  <a:lnTo>
                    <a:pt x="8604758" y="0"/>
                  </a:lnTo>
                  <a:lnTo>
                    <a:pt x="8649765" y="9074"/>
                  </a:lnTo>
                  <a:lnTo>
                    <a:pt x="8686498" y="33829"/>
                  </a:lnTo>
                  <a:lnTo>
                    <a:pt x="8711253" y="70562"/>
                  </a:lnTo>
                  <a:lnTo>
                    <a:pt x="8720328" y="115570"/>
                  </a:lnTo>
                  <a:lnTo>
                    <a:pt x="8720328" y="2656586"/>
                  </a:lnTo>
                  <a:lnTo>
                    <a:pt x="8711253" y="2701593"/>
                  </a:lnTo>
                  <a:lnTo>
                    <a:pt x="8686498" y="2738326"/>
                  </a:lnTo>
                  <a:lnTo>
                    <a:pt x="8649765" y="2763081"/>
                  </a:lnTo>
                  <a:lnTo>
                    <a:pt x="8604758" y="2772156"/>
                  </a:lnTo>
                  <a:lnTo>
                    <a:pt x="115519" y="2772156"/>
                  </a:lnTo>
                  <a:lnTo>
                    <a:pt x="70551" y="2763081"/>
                  </a:lnTo>
                  <a:lnTo>
                    <a:pt x="33832" y="2738326"/>
                  </a:lnTo>
                  <a:lnTo>
                    <a:pt x="9077" y="2701593"/>
                  </a:lnTo>
                  <a:lnTo>
                    <a:pt x="0" y="2656586"/>
                  </a:lnTo>
                  <a:lnTo>
                    <a:pt x="0" y="115570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28243" y="1722120"/>
              <a:ext cx="8288020" cy="612775"/>
            </a:xfrm>
            <a:custGeom>
              <a:avLst/>
              <a:gdLst/>
              <a:ahLst/>
              <a:cxnLst/>
              <a:rect l="l" t="t" r="r" b="b"/>
              <a:pathLst>
                <a:path w="8288020" h="612775">
                  <a:moveTo>
                    <a:pt x="8261984" y="0"/>
                  </a:moveTo>
                  <a:lnTo>
                    <a:pt x="25526" y="0"/>
                  </a:lnTo>
                  <a:lnTo>
                    <a:pt x="15591" y="2006"/>
                  </a:lnTo>
                  <a:lnTo>
                    <a:pt x="7477" y="7477"/>
                  </a:lnTo>
                  <a:lnTo>
                    <a:pt x="2006" y="15591"/>
                  </a:lnTo>
                  <a:lnTo>
                    <a:pt x="0" y="25526"/>
                  </a:lnTo>
                  <a:lnTo>
                    <a:pt x="0" y="587120"/>
                  </a:lnTo>
                  <a:lnTo>
                    <a:pt x="2006" y="597056"/>
                  </a:lnTo>
                  <a:lnTo>
                    <a:pt x="7477" y="605170"/>
                  </a:lnTo>
                  <a:lnTo>
                    <a:pt x="15591" y="610641"/>
                  </a:lnTo>
                  <a:lnTo>
                    <a:pt x="25526" y="612647"/>
                  </a:lnTo>
                  <a:lnTo>
                    <a:pt x="8261984" y="612647"/>
                  </a:lnTo>
                  <a:lnTo>
                    <a:pt x="8271920" y="610641"/>
                  </a:lnTo>
                  <a:lnTo>
                    <a:pt x="8280034" y="605170"/>
                  </a:lnTo>
                  <a:lnTo>
                    <a:pt x="8285505" y="597056"/>
                  </a:lnTo>
                  <a:lnTo>
                    <a:pt x="8287511" y="587120"/>
                  </a:lnTo>
                  <a:lnTo>
                    <a:pt x="8287511" y="25526"/>
                  </a:lnTo>
                  <a:lnTo>
                    <a:pt x="8285505" y="15591"/>
                  </a:lnTo>
                  <a:lnTo>
                    <a:pt x="8280034" y="7477"/>
                  </a:lnTo>
                  <a:lnTo>
                    <a:pt x="8271920" y="2006"/>
                  </a:lnTo>
                  <a:lnTo>
                    <a:pt x="8261984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28243" y="1722120"/>
              <a:ext cx="8288020" cy="612775"/>
            </a:xfrm>
            <a:custGeom>
              <a:avLst/>
              <a:gdLst/>
              <a:ahLst/>
              <a:cxnLst/>
              <a:rect l="l" t="t" r="r" b="b"/>
              <a:pathLst>
                <a:path w="8288020" h="612775">
                  <a:moveTo>
                    <a:pt x="0" y="25526"/>
                  </a:moveTo>
                  <a:lnTo>
                    <a:pt x="2006" y="15591"/>
                  </a:lnTo>
                  <a:lnTo>
                    <a:pt x="7477" y="7477"/>
                  </a:lnTo>
                  <a:lnTo>
                    <a:pt x="15591" y="2006"/>
                  </a:lnTo>
                  <a:lnTo>
                    <a:pt x="25526" y="0"/>
                  </a:lnTo>
                  <a:lnTo>
                    <a:pt x="8261984" y="0"/>
                  </a:lnTo>
                  <a:lnTo>
                    <a:pt x="8271920" y="2006"/>
                  </a:lnTo>
                  <a:lnTo>
                    <a:pt x="8280034" y="7477"/>
                  </a:lnTo>
                  <a:lnTo>
                    <a:pt x="8285505" y="15591"/>
                  </a:lnTo>
                  <a:lnTo>
                    <a:pt x="8287511" y="25526"/>
                  </a:lnTo>
                  <a:lnTo>
                    <a:pt x="8287511" y="587120"/>
                  </a:lnTo>
                  <a:lnTo>
                    <a:pt x="8285505" y="597056"/>
                  </a:lnTo>
                  <a:lnTo>
                    <a:pt x="8280034" y="605170"/>
                  </a:lnTo>
                  <a:lnTo>
                    <a:pt x="8271920" y="610641"/>
                  </a:lnTo>
                  <a:lnTo>
                    <a:pt x="8261984" y="612647"/>
                  </a:lnTo>
                  <a:lnTo>
                    <a:pt x="25526" y="612647"/>
                  </a:lnTo>
                  <a:lnTo>
                    <a:pt x="15591" y="610641"/>
                  </a:lnTo>
                  <a:lnTo>
                    <a:pt x="7477" y="605170"/>
                  </a:lnTo>
                  <a:lnTo>
                    <a:pt x="2006" y="597056"/>
                  </a:lnTo>
                  <a:lnTo>
                    <a:pt x="0" y="587120"/>
                  </a:lnTo>
                  <a:lnTo>
                    <a:pt x="0" y="25526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28243" y="2487168"/>
              <a:ext cx="8288020" cy="612775"/>
            </a:xfrm>
            <a:custGeom>
              <a:avLst/>
              <a:gdLst/>
              <a:ahLst/>
              <a:cxnLst/>
              <a:rect l="l" t="t" r="r" b="b"/>
              <a:pathLst>
                <a:path w="8288020" h="612775">
                  <a:moveTo>
                    <a:pt x="8261984" y="0"/>
                  </a:moveTo>
                  <a:lnTo>
                    <a:pt x="25526" y="0"/>
                  </a:lnTo>
                  <a:lnTo>
                    <a:pt x="15591" y="2006"/>
                  </a:lnTo>
                  <a:lnTo>
                    <a:pt x="7477" y="7477"/>
                  </a:lnTo>
                  <a:lnTo>
                    <a:pt x="2006" y="15591"/>
                  </a:lnTo>
                  <a:lnTo>
                    <a:pt x="0" y="25527"/>
                  </a:lnTo>
                  <a:lnTo>
                    <a:pt x="0" y="587121"/>
                  </a:lnTo>
                  <a:lnTo>
                    <a:pt x="2006" y="597056"/>
                  </a:lnTo>
                  <a:lnTo>
                    <a:pt x="7477" y="605170"/>
                  </a:lnTo>
                  <a:lnTo>
                    <a:pt x="15591" y="610641"/>
                  </a:lnTo>
                  <a:lnTo>
                    <a:pt x="25526" y="612648"/>
                  </a:lnTo>
                  <a:lnTo>
                    <a:pt x="8261984" y="612648"/>
                  </a:lnTo>
                  <a:lnTo>
                    <a:pt x="8271920" y="610641"/>
                  </a:lnTo>
                  <a:lnTo>
                    <a:pt x="8280034" y="605170"/>
                  </a:lnTo>
                  <a:lnTo>
                    <a:pt x="8285505" y="597056"/>
                  </a:lnTo>
                  <a:lnTo>
                    <a:pt x="8287511" y="587121"/>
                  </a:lnTo>
                  <a:lnTo>
                    <a:pt x="8287511" y="25527"/>
                  </a:lnTo>
                  <a:lnTo>
                    <a:pt x="8285505" y="15591"/>
                  </a:lnTo>
                  <a:lnTo>
                    <a:pt x="8280034" y="7477"/>
                  </a:lnTo>
                  <a:lnTo>
                    <a:pt x="8271920" y="2006"/>
                  </a:lnTo>
                  <a:lnTo>
                    <a:pt x="8261984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28243" y="2487168"/>
              <a:ext cx="8288020" cy="612775"/>
            </a:xfrm>
            <a:custGeom>
              <a:avLst/>
              <a:gdLst/>
              <a:ahLst/>
              <a:cxnLst/>
              <a:rect l="l" t="t" r="r" b="b"/>
              <a:pathLst>
                <a:path w="8288020" h="612775">
                  <a:moveTo>
                    <a:pt x="0" y="25527"/>
                  </a:moveTo>
                  <a:lnTo>
                    <a:pt x="2006" y="15591"/>
                  </a:lnTo>
                  <a:lnTo>
                    <a:pt x="7477" y="7477"/>
                  </a:lnTo>
                  <a:lnTo>
                    <a:pt x="15591" y="2006"/>
                  </a:lnTo>
                  <a:lnTo>
                    <a:pt x="25526" y="0"/>
                  </a:lnTo>
                  <a:lnTo>
                    <a:pt x="8261984" y="0"/>
                  </a:lnTo>
                  <a:lnTo>
                    <a:pt x="8271920" y="2006"/>
                  </a:lnTo>
                  <a:lnTo>
                    <a:pt x="8280034" y="7477"/>
                  </a:lnTo>
                  <a:lnTo>
                    <a:pt x="8285505" y="15591"/>
                  </a:lnTo>
                  <a:lnTo>
                    <a:pt x="8287511" y="25527"/>
                  </a:lnTo>
                  <a:lnTo>
                    <a:pt x="8287511" y="587121"/>
                  </a:lnTo>
                  <a:lnTo>
                    <a:pt x="8285505" y="597056"/>
                  </a:lnTo>
                  <a:lnTo>
                    <a:pt x="8280034" y="605170"/>
                  </a:lnTo>
                  <a:lnTo>
                    <a:pt x="8271920" y="610641"/>
                  </a:lnTo>
                  <a:lnTo>
                    <a:pt x="8261984" y="612648"/>
                  </a:lnTo>
                  <a:lnTo>
                    <a:pt x="25526" y="612648"/>
                  </a:lnTo>
                  <a:lnTo>
                    <a:pt x="15591" y="610641"/>
                  </a:lnTo>
                  <a:lnTo>
                    <a:pt x="7477" y="605170"/>
                  </a:lnTo>
                  <a:lnTo>
                    <a:pt x="2006" y="597056"/>
                  </a:lnTo>
                  <a:lnTo>
                    <a:pt x="0" y="587121"/>
                  </a:lnTo>
                  <a:lnTo>
                    <a:pt x="0" y="25527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8243" y="3255263"/>
              <a:ext cx="8288020" cy="614680"/>
            </a:xfrm>
            <a:custGeom>
              <a:avLst/>
              <a:gdLst/>
              <a:ahLst/>
              <a:cxnLst/>
              <a:rect l="l" t="t" r="r" b="b"/>
              <a:pathLst>
                <a:path w="8288020" h="614679">
                  <a:moveTo>
                    <a:pt x="8261858" y="0"/>
                  </a:moveTo>
                  <a:lnTo>
                    <a:pt x="25590" y="0"/>
                  </a:lnTo>
                  <a:lnTo>
                    <a:pt x="15628" y="2008"/>
                  </a:lnTo>
                  <a:lnTo>
                    <a:pt x="7494" y="7493"/>
                  </a:lnTo>
                  <a:lnTo>
                    <a:pt x="2010" y="15644"/>
                  </a:lnTo>
                  <a:lnTo>
                    <a:pt x="0" y="25653"/>
                  </a:lnTo>
                  <a:lnTo>
                    <a:pt x="0" y="588518"/>
                  </a:lnTo>
                  <a:lnTo>
                    <a:pt x="2010" y="598527"/>
                  </a:lnTo>
                  <a:lnTo>
                    <a:pt x="7494" y="606679"/>
                  </a:lnTo>
                  <a:lnTo>
                    <a:pt x="15628" y="612163"/>
                  </a:lnTo>
                  <a:lnTo>
                    <a:pt x="25590" y="614172"/>
                  </a:lnTo>
                  <a:lnTo>
                    <a:pt x="8261858" y="614172"/>
                  </a:lnTo>
                  <a:lnTo>
                    <a:pt x="8271867" y="612163"/>
                  </a:lnTo>
                  <a:lnTo>
                    <a:pt x="8280018" y="606679"/>
                  </a:lnTo>
                  <a:lnTo>
                    <a:pt x="8285503" y="598527"/>
                  </a:lnTo>
                  <a:lnTo>
                    <a:pt x="8287511" y="588518"/>
                  </a:lnTo>
                  <a:lnTo>
                    <a:pt x="8287511" y="25653"/>
                  </a:lnTo>
                  <a:lnTo>
                    <a:pt x="8285503" y="15644"/>
                  </a:lnTo>
                  <a:lnTo>
                    <a:pt x="8280019" y="7492"/>
                  </a:lnTo>
                  <a:lnTo>
                    <a:pt x="8271867" y="2008"/>
                  </a:lnTo>
                  <a:lnTo>
                    <a:pt x="8261858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8243" y="3255263"/>
              <a:ext cx="8288020" cy="614680"/>
            </a:xfrm>
            <a:custGeom>
              <a:avLst/>
              <a:gdLst/>
              <a:ahLst/>
              <a:cxnLst/>
              <a:rect l="l" t="t" r="r" b="b"/>
              <a:pathLst>
                <a:path w="8288020" h="614679">
                  <a:moveTo>
                    <a:pt x="0" y="25653"/>
                  </a:moveTo>
                  <a:lnTo>
                    <a:pt x="2010" y="15644"/>
                  </a:lnTo>
                  <a:lnTo>
                    <a:pt x="7494" y="7493"/>
                  </a:lnTo>
                  <a:lnTo>
                    <a:pt x="15628" y="2008"/>
                  </a:lnTo>
                  <a:lnTo>
                    <a:pt x="25590" y="0"/>
                  </a:lnTo>
                  <a:lnTo>
                    <a:pt x="8261858" y="0"/>
                  </a:lnTo>
                  <a:lnTo>
                    <a:pt x="8271867" y="2008"/>
                  </a:lnTo>
                  <a:lnTo>
                    <a:pt x="8280019" y="7492"/>
                  </a:lnTo>
                  <a:lnTo>
                    <a:pt x="8285503" y="15644"/>
                  </a:lnTo>
                  <a:lnTo>
                    <a:pt x="8287511" y="25653"/>
                  </a:lnTo>
                  <a:lnTo>
                    <a:pt x="8287511" y="588518"/>
                  </a:lnTo>
                  <a:lnTo>
                    <a:pt x="8285503" y="598527"/>
                  </a:lnTo>
                  <a:lnTo>
                    <a:pt x="8280018" y="606679"/>
                  </a:lnTo>
                  <a:lnTo>
                    <a:pt x="8271867" y="612163"/>
                  </a:lnTo>
                  <a:lnTo>
                    <a:pt x="8261858" y="614172"/>
                  </a:lnTo>
                  <a:lnTo>
                    <a:pt x="25590" y="614172"/>
                  </a:lnTo>
                  <a:lnTo>
                    <a:pt x="15628" y="612163"/>
                  </a:lnTo>
                  <a:lnTo>
                    <a:pt x="7494" y="606679"/>
                  </a:lnTo>
                  <a:lnTo>
                    <a:pt x="2010" y="598527"/>
                  </a:lnTo>
                  <a:lnTo>
                    <a:pt x="0" y="588518"/>
                  </a:lnTo>
                  <a:lnTo>
                    <a:pt x="0" y="25653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14908" y="1771268"/>
            <a:ext cx="8023859" cy="202247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241300" marR="5080" indent="-228600">
              <a:lnSpc>
                <a:spcPts val="1730"/>
              </a:lnSpc>
              <a:spcBef>
                <a:spcPts val="310"/>
              </a:spcBef>
              <a:buClr>
                <a:srgbClr val="006699"/>
              </a:buClr>
              <a:buFont typeface="Verdana"/>
              <a:buChar char="•"/>
              <a:tabLst>
                <a:tab pos="241300" algn="l"/>
              </a:tabLst>
            </a:pPr>
            <a:r>
              <a:rPr sz="1600" b="1" spc="-10" dirty="0">
                <a:latin typeface="Verdana"/>
                <a:cs typeface="Verdana"/>
              </a:rPr>
              <a:t>Some </a:t>
            </a:r>
            <a:r>
              <a:rPr sz="1600" b="1" spc="-5" dirty="0">
                <a:latin typeface="Verdana"/>
                <a:cs typeface="Verdana"/>
              </a:rPr>
              <a:t>NAP deployments that use </a:t>
            </a:r>
            <a:r>
              <a:rPr sz="1600" b="1" spc="-10" dirty="0">
                <a:latin typeface="Verdana"/>
                <a:cs typeface="Verdana"/>
              </a:rPr>
              <a:t>Windows Security </a:t>
            </a:r>
            <a:r>
              <a:rPr sz="1600" b="1" spc="-5" dirty="0">
                <a:latin typeface="Verdana"/>
                <a:cs typeface="Verdana"/>
              </a:rPr>
              <a:t>Health </a:t>
            </a:r>
            <a:r>
              <a:rPr sz="1600" b="1" spc="-10" dirty="0">
                <a:latin typeface="Verdana"/>
                <a:cs typeface="Verdana"/>
              </a:rPr>
              <a:t>Validator  require </a:t>
            </a:r>
            <a:r>
              <a:rPr sz="1600" b="1" spc="-5" dirty="0">
                <a:latin typeface="Verdana"/>
                <a:cs typeface="Verdana"/>
              </a:rPr>
              <a:t>that you </a:t>
            </a:r>
            <a:r>
              <a:rPr sz="1600" b="1" spc="-10" dirty="0">
                <a:latin typeface="Verdana"/>
                <a:cs typeface="Verdana"/>
              </a:rPr>
              <a:t>enable Security</a:t>
            </a:r>
            <a:r>
              <a:rPr sz="1600" b="1" spc="114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Center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006699"/>
              </a:buClr>
              <a:buFont typeface="Verdana"/>
              <a:buChar char="•"/>
            </a:pPr>
            <a:endParaRPr sz="2100">
              <a:latin typeface="Verdana"/>
              <a:cs typeface="Verdana"/>
            </a:endParaRPr>
          </a:p>
          <a:p>
            <a:pPr marL="241300" marR="29845" indent="-228600">
              <a:lnSpc>
                <a:spcPts val="1730"/>
              </a:lnSpc>
              <a:buClr>
                <a:srgbClr val="006699"/>
              </a:buClr>
              <a:buFont typeface="Verdana"/>
              <a:buChar char="•"/>
              <a:tabLst>
                <a:tab pos="241300" algn="l"/>
              </a:tabLst>
            </a:pPr>
            <a:r>
              <a:rPr sz="1600" b="1" spc="-5" dirty="0">
                <a:latin typeface="Verdana"/>
                <a:cs typeface="Verdana"/>
              </a:rPr>
              <a:t>The </a:t>
            </a:r>
            <a:r>
              <a:rPr sz="1600" b="1" spc="-10" dirty="0">
                <a:latin typeface="Verdana"/>
                <a:cs typeface="Verdana"/>
              </a:rPr>
              <a:t>Network Access Protection service is required </a:t>
            </a:r>
            <a:r>
              <a:rPr sz="1600" b="1" spc="-5" dirty="0">
                <a:latin typeface="Verdana"/>
                <a:cs typeface="Verdana"/>
              </a:rPr>
              <a:t>when you </a:t>
            </a:r>
            <a:r>
              <a:rPr sz="1600" b="1" spc="-10" dirty="0">
                <a:latin typeface="Verdana"/>
                <a:cs typeface="Verdana"/>
              </a:rPr>
              <a:t>deploy  </a:t>
            </a:r>
            <a:r>
              <a:rPr sz="1600" b="1" spc="-5" dirty="0">
                <a:latin typeface="Verdana"/>
                <a:cs typeface="Verdana"/>
              </a:rPr>
              <a:t>NAP </a:t>
            </a:r>
            <a:r>
              <a:rPr sz="1600" b="1" dirty="0">
                <a:latin typeface="Verdana"/>
                <a:cs typeface="Verdana"/>
              </a:rPr>
              <a:t>to </a:t>
            </a:r>
            <a:r>
              <a:rPr sz="1600" b="1" spc="-10" dirty="0">
                <a:latin typeface="Verdana"/>
                <a:cs typeface="Verdana"/>
              </a:rPr>
              <a:t>NAP-capable client</a:t>
            </a:r>
            <a:r>
              <a:rPr sz="1600" b="1" spc="80" dirty="0">
                <a:latin typeface="Verdana"/>
                <a:cs typeface="Verdana"/>
              </a:rPr>
              <a:t> </a:t>
            </a:r>
            <a:r>
              <a:rPr sz="1600" b="1" spc="-5" dirty="0">
                <a:latin typeface="Verdana"/>
                <a:cs typeface="Verdana"/>
              </a:rPr>
              <a:t>computers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006699"/>
              </a:buClr>
              <a:buFont typeface="Verdana"/>
              <a:buChar char="•"/>
            </a:pPr>
            <a:endParaRPr sz="2100">
              <a:latin typeface="Verdana"/>
              <a:cs typeface="Verdana"/>
            </a:endParaRPr>
          </a:p>
          <a:p>
            <a:pPr marL="241300" marR="891540" indent="-228600">
              <a:lnSpc>
                <a:spcPts val="1730"/>
              </a:lnSpc>
              <a:spcBef>
                <a:spcPts val="5"/>
              </a:spcBef>
              <a:buClr>
                <a:srgbClr val="006699"/>
              </a:buClr>
              <a:buFont typeface="Verdana"/>
              <a:buChar char="•"/>
              <a:tabLst>
                <a:tab pos="241300" algn="l"/>
              </a:tabLst>
            </a:pPr>
            <a:r>
              <a:rPr sz="1600" b="1" spc="-5" dirty="0">
                <a:latin typeface="Verdana"/>
                <a:cs typeface="Verdana"/>
              </a:rPr>
              <a:t>You also </a:t>
            </a:r>
            <a:r>
              <a:rPr sz="1600" b="1" spc="-10" dirty="0">
                <a:latin typeface="Verdana"/>
                <a:cs typeface="Verdana"/>
              </a:rPr>
              <a:t>must configure </a:t>
            </a:r>
            <a:r>
              <a:rPr sz="1600" b="1" spc="-5" dirty="0">
                <a:latin typeface="Verdana"/>
                <a:cs typeface="Verdana"/>
              </a:rPr>
              <a:t>the NAP </a:t>
            </a:r>
            <a:r>
              <a:rPr sz="1600" b="1" spc="-10" dirty="0">
                <a:latin typeface="Verdana"/>
                <a:cs typeface="Verdana"/>
              </a:rPr>
              <a:t>enforcement clients </a:t>
            </a:r>
            <a:r>
              <a:rPr sz="1600" b="1" spc="-5" dirty="0">
                <a:latin typeface="Verdana"/>
                <a:cs typeface="Verdana"/>
              </a:rPr>
              <a:t>on the  </a:t>
            </a:r>
            <a:r>
              <a:rPr sz="1600" b="1" spc="-10" dirty="0">
                <a:latin typeface="Verdana"/>
                <a:cs typeface="Verdana"/>
              </a:rPr>
              <a:t>NAP-capable</a:t>
            </a:r>
            <a:r>
              <a:rPr sz="1600" b="1" spc="35" dirty="0">
                <a:latin typeface="Verdana"/>
                <a:cs typeface="Verdana"/>
              </a:rPr>
              <a:t> </a:t>
            </a:r>
            <a:r>
              <a:rPr sz="1600" b="1" spc="-5" dirty="0">
                <a:latin typeface="Verdana"/>
                <a:cs typeface="Verdana"/>
              </a:rPr>
              <a:t>computers</a:t>
            </a:r>
            <a:endParaRPr sz="1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4953"/>
            <a:ext cx="6587490" cy="70231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 marR="5080">
              <a:lnSpc>
                <a:spcPts val="2450"/>
              </a:lnSpc>
              <a:spcBef>
                <a:spcPts val="540"/>
              </a:spcBef>
            </a:pPr>
            <a:r>
              <a:rPr sz="2400" spc="-5" dirty="0">
                <a:latin typeface="Verdana"/>
                <a:cs typeface="Verdana"/>
              </a:rPr>
              <a:t>Demonstration: How to Configure Network  Access </a:t>
            </a:r>
            <a:r>
              <a:rPr sz="2400" spc="-10" dirty="0">
                <a:latin typeface="Verdana"/>
                <a:cs typeface="Verdana"/>
              </a:rPr>
              <a:t>Policies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6328" y="946150"/>
            <a:ext cx="7259955" cy="37458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7960" indent="-175260">
              <a:lnSpc>
                <a:spcPct val="100000"/>
              </a:lnSpc>
              <a:spcBef>
                <a:spcPts val="10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dirty="0">
                <a:latin typeface="Verdana"/>
                <a:cs typeface="Verdana"/>
              </a:rPr>
              <a:t>Install </a:t>
            </a:r>
            <a:r>
              <a:rPr sz="2000" spc="-5" dirty="0">
                <a:latin typeface="Verdana"/>
                <a:cs typeface="Verdana"/>
              </a:rPr>
              <a:t>the NPS server</a:t>
            </a:r>
            <a:r>
              <a:rPr sz="2000" spc="-8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role</a:t>
            </a:r>
            <a:endParaRPr sz="200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3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Configure </a:t>
            </a:r>
            <a:r>
              <a:rPr sz="2000" dirty="0">
                <a:latin typeface="Verdana"/>
                <a:cs typeface="Verdana"/>
              </a:rPr>
              <a:t>NPS as a </a:t>
            </a:r>
            <a:r>
              <a:rPr sz="2000" spc="-5" dirty="0">
                <a:latin typeface="Verdana"/>
                <a:cs typeface="Verdana"/>
              </a:rPr>
              <a:t>NAP health policy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server</a:t>
            </a:r>
            <a:endParaRPr sz="200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4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Configure health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policies</a:t>
            </a:r>
            <a:endParaRPr sz="200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40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Configure </a:t>
            </a:r>
            <a:r>
              <a:rPr sz="2000" dirty="0">
                <a:latin typeface="Verdana"/>
                <a:cs typeface="Verdana"/>
              </a:rPr>
              <a:t>network </a:t>
            </a:r>
            <a:r>
              <a:rPr sz="2000" spc="-10" dirty="0">
                <a:latin typeface="Verdana"/>
                <a:cs typeface="Verdana"/>
              </a:rPr>
              <a:t>policies </a:t>
            </a:r>
            <a:r>
              <a:rPr sz="2000" dirty="0">
                <a:latin typeface="Verdana"/>
                <a:cs typeface="Verdana"/>
              </a:rPr>
              <a:t>for </a:t>
            </a:r>
            <a:r>
              <a:rPr sz="2000" spc="-5" dirty="0">
                <a:latin typeface="Verdana"/>
                <a:cs typeface="Verdana"/>
              </a:rPr>
              <a:t>compliant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computers</a:t>
            </a:r>
            <a:endParaRPr sz="200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40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Configure </a:t>
            </a:r>
            <a:r>
              <a:rPr sz="2000" dirty="0">
                <a:latin typeface="Verdana"/>
                <a:cs typeface="Verdana"/>
              </a:rPr>
              <a:t>network </a:t>
            </a:r>
            <a:r>
              <a:rPr sz="2000" spc="-5" dirty="0">
                <a:latin typeface="Verdana"/>
                <a:cs typeface="Verdana"/>
              </a:rPr>
              <a:t>policies </a:t>
            </a:r>
            <a:r>
              <a:rPr sz="2000" dirty="0">
                <a:latin typeface="Verdana"/>
                <a:cs typeface="Verdana"/>
              </a:rPr>
              <a:t>for </a:t>
            </a:r>
            <a:r>
              <a:rPr sz="2000" spc="-5" dirty="0">
                <a:latin typeface="Verdana"/>
                <a:cs typeface="Verdana"/>
              </a:rPr>
              <a:t>noncompliant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computers</a:t>
            </a:r>
            <a:endParaRPr sz="200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40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Configure the </a:t>
            </a:r>
            <a:r>
              <a:rPr sz="2000" dirty="0">
                <a:latin typeface="Verdana"/>
                <a:cs typeface="Verdana"/>
              </a:rPr>
              <a:t>DHCP </a:t>
            </a:r>
            <a:r>
              <a:rPr sz="2000" spc="-5" dirty="0">
                <a:latin typeface="Verdana"/>
                <a:cs typeface="Verdana"/>
              </a:rPr>
              <a:t>server role </a:t>
            </a:r>
            <a:r>
              <a:rPr sz="2000" dirty="0">
                <a:latin typeface="Verdana"/>
                <a:cs typeface="Verdana"/>
              </a:rPr>
              <a:t>for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NAP</a:t>
            </a:r>
            <a:endParaRPr sz="200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40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Configure client NAP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settings</a:t>
            </a:r>
            <a:endParaRPr sz="200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40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Test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NAP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72282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spc="-5" dirty="0" smtClean="0">
                <a:latin typeface="Verdana"/>
                <a:cs typeface="Verdana"/>
              </a:rPr>
              <a:t> </a:t>
            </a:r>
            <a:r>
              <a:rPr sz="2400" spc="-5" dirty="0" smtClean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4: </a:t>
            </a:r>
            <a:r>
              <a:rPr sz="2400" spc="-5" dirty="0">
                <a:latin typeface="Verdana"/>
                <a:cs typeface="Verdana"/>
              </a:rPr>
              <a:t>Monitoring </a:t>
            </a:r>
            <a:r>
              <a:rPr sz="2400" dirty="0">
                <a:latin typeface="Verdana"/>
                <a:cs typeface="Verdana"/>
              </a:rPr>
              <a:t>and </a:t>
            </a:r>
            <a:r>
              <a:rPr sz="2400" spc="-5" dirty="0">
                <a:latin typeface="Verdana"/>
                <a:cs typeface="Verdana"/>
              </a:rPr>
              <a:t>Troubleshooting</a:t>
            </a:r>
            <a:r>
              <a:rPr sz="2400" spc="15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NAP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6328" y="946150"/>
            <a:ext cx="6135370" cy="1794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7960" indent="-175260">
              <a:lnSpc>
                <a:spcPct val="100000"/>
              </a:lnSpc>
              <a:spcBef>
                <a:spcPts val="10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dirty="0">
                <a:latin typeface="Verdana"/>
                <a:cs typeface="Verdana"/>
              </a:rPr>
              <a:t>What Is </a:t>
            </a:r>
            <a:r>
              <a:rPr sz="2000" spc="-5" dirty="0">
                <a:latin typeface="Verdana"/>
                <a:cs typeface="Verdana"/>
              </a:rPr>
              <a:t>NAP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Tracing?</a:t>
            </a:r>
            <a:endParaRPr sz="200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3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dirty="0">
                <a:latin typeface="Verdana"/>
                <a:cs typeface="Verdana"/>
              </a:rPr>
              <a:t>Demonstration: How to </a:t>
            </a:r>
            <a:r>
              <a:rPr sz="2000" spc="-5" dirty="0">
                <a:latin typeface="Verdana"/>
                <a:cs typeface="Verdana"/>
              </a:rPr>
              <a:t>Configure </a:t>
            </a:r>
            <a:r>
              <a:rPr sz="2000" dirty="0">
                <a:latin typeface="Verdana"/>
                <a:cs typeface="Verdana"/>
              </a:rPr>
              <a:t>NAP</a:t>
            </a:r>
            <a:r>
              <a:rPr sz="2000" spc="-16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Tracing</a:t>
            </a:r>
            <a:endParaRPr sz="200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4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Troubleshooting NAP with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Netsh</a:t>
            </a:r>
            <a:endParaRPr sz="200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40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NAP </a:t>
            </a:r>
            <a:r>
              <a:rPr sz="2000" dirty="0">
                <a:latin typeface="Verdana"/>
                <a:cs typeface="Verdana"/>
              </a:rPr>
              <a:t>Event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Logs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33477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Verdana"/>
                <a:cs typeface="Verdana"/>
              </a:rPr>
              <a:t>What </a:t>
            </a:r>
            <a:r>
              <a:rPr sz="2400" spc="-10" dirty="0">
                <a:latin typeface="Verdana"/>
                <a:cs typeface="Verdana"/>
              </a:rPr>
              <a:t>Is </a:t>
            </a:r>
            <a:r>
              <a:rPr sz="2400" spc="-5" dirty="0">
                <a:latin typeface="Verdana"/>
                <a:cs typeface="Verdana"/>
              </a:rPr>
              <a:t>NAP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Tracing?</a:t>
            </a:r>
            <a:endParaRPr sz="2400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11480" y="1152144"/>
            <a:ext cx="8321040" cy="4643755"/>
            <a:chOff x="411480" y="1152144"/>
            <a:chExt cx="8321040" cy="4643755"/>
          </a:xfrm>
        </p:grpSpPr>
        <p:sp>
          <p:nvSpPr>
            <p:cNvPr id="4" name="object 4"/>
            <p:cNvSpPr/>
            <p:nvPr/>
          </p:nvSpPr>
          <p:spPr>
            <a:xfrm>
              <a:off x="416052" y="1156716"/>
              <a:ext cx="8312150" cy="4634865"/>
            </a:xfrm>
            <a:custGeom>
              <a:avLst/>
              <a:gdLst/>
              <a:ahLst/>
              <a:cxnLst/>
              <a:rect l="l" t="t" r="r" b="b"/>
              <a:pathLst>
                <a:path w="8312150" h="4634865">
                  <a:moveTo>
                    <a:pt x="8118729" y="0"/>
                  </a:moveTo>
                  <a:lnTo>
                    <a:pt x="193116" y="0"/>
                  </a:lnTo>
                  <a:lnTo>
                    <a:pt x="148836" y="5101"/>
                  </a:lnTo>
                  <a:lnTo>
                    <a:pt x="108188" y="19634"/>
                  </a:lnTo>
                  <a:lnTo>
                    <a:pt x="72332" y="42437"/>
                  </a:lnTo>
                  <a:lnTo>
                    <a:pt x="42425" y="72352"/>
                  </a:lnTo>
                  <a:lnTo>
                    <a:pt x="19628" y="108218"/>
                  </a:lnTo>
                  <a:lnTo>
                    <a:pt x="5100" y="148876"/>
                  </a:lnTo>
                  <a:lnTo>
                    <a:pt x="0" y="193167"/>
                  </a:lnTo>
                  <a:lnTo>
                    <a:pt x="0" y="4441367"/>
                  </a:lnTo>
                  <a:lnTo>
                    <a:pt x="5100" y="4485647"/>
                  </a:lnTo>
                  <a:lnTo>
                    <a:pt x="19628" y="4526295"/>
                  </a:lnTo>
                  <a:lnTo>
                    <a:pt x="42425" y="4562151"/>
                  </a:lnTo>
                  <a:lnTo>
                    <a:pt x="72332" y="4592058"/>
                  </a:lnTo>
                  <a:lnTo>
                    <a:pt x="108188" y="4614855"/>
                  </a:lnTo>
                  <a:lnTo>
                    <a:pt x="148836" y="4629383"/>
                  </a:lnTo>
                  <a:lnTo>
                    <a:pt x="193116" y="4634484"/>
                  </a:lnTo>
                  <a:lnTo>
                    <a:pt x="8118729" y="4634484"/>
                  </a:lnTo>
                  <a:lnTo>
                    <a:pt x="8163019" y="4629383"/>
                  </a:lnTo>
                  <a:lnTo>
                    <a:pt x="8203677" y="4614855"/>
                  </a:lnTo>
                  <a:lnTo>
                    <a:pt x="8239543" y="4592058"/>
                  </a:lnTo>
                  <a:lnTo>
                    <a:pt x="8269458" y="4562151"/>
                  </a:lnTo>
                  <a:lnTo>
                    <a:pt x="8292261" y="4526295"/>
                  </a:lnTo>
                  <a:lnTo>
                    <a:pt x="8306794" y="4485647"/>
                  </a:lnTo>
                  <a:lnTo>
                    <a:pt x="8311896" y="4441367"/>
                  </a:lnTo>
                  <a:lnTo>
                    <a:pt x="8311896" y="193167"/>
                  </a:lnTo>
                  <a:lnTo>
                    <a:pt x="8306794" y="148876"/>
                  </a:lnTo>
                  <a:lnTo>
                    <a:pt x="8292261" y="108218"/>
                  </a:lnTo>
                  <a:lnTo>
                    <a:pt x="8269458" y="72352"/>
                  </a:lnTo>
                  <a:lnTo>
                    <a:pt x="8239543" y="42437"/>
                  </a:lnTo>
                  <a:lnTo>
                    <a:pt x="8203677" y="19634"/>
                  </a:lnTo>
                  <a:lnTo>
                    <a:pt x="8163019" y="5101"/>
                  </a:lnTo>
                  <a:lnTo>
                    <a:pt x="8118729" y="0"/>
                  </a:lnTo>
                  <a:close/>
                </a:path>
              </a:pathLst>
            </a:custGeom>
            <a:solidFill>
              <a:srgbClr val="DE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16052" y="1156716"/>
              <a:ext cx="8312150" cy="4634865"/>
            </a:xfrm>
            <a:custGeom>
              <a:avLst/>
              <a:gdLst/>
              <a:ahLst/>
              <a:cxnLst/>
              <a:rect l="l" t="t" r="r" b="b"/>
              <a:pathLst>
                <a:path w="8312150" h="4634865">
                  <a:moveTo>
                    <a:pt x="0" y="193167"/>
                  </a:moveTo>
                  <a:lnTo>
                    <a:pt x="5100" y="148876"/>
                  </a:lnTo>
                  <a:lnTo>
                    <a:pt x="19628" y="108218"/>
                  </a:lnTo>
                  <a:lnTo>
                    <a:pt x="42425" y="72352"/>
                  </a:lnTo>
                  <a:lnTo>
                    <a:pt x="72332" y="42437"/>
                  </a:lnTo>
                  <a:lnTo>
                    <a:pt x="108188" y="19634"/>
                  </a:lnTo>
                  <a:lnTo>
                    <a:pt x="148836" y="5101"/>
                  </a:lnTo>
                  <a:lnTo>
                    <a:pt x="193116" y="0"/>
                  </a:lnTo>
                  <a:lnTo>
                    <a:pt x="8118729" y="0"/>
                  </a:lnTo>
                  <a:lnTo>
                    <a:pt x="8163019" y="5101"/>
                  </a:lnTo>
                  <a:lnTo>
                    <a:pt x="8203677" y="19634"/>
                  </a:lnTo>
                  <a:lnTo>
                    <a:pt x="8239543" y="42437"/>
                  </a:lnTo>
                  <a:lnTo>
                    <a:pt x="8269458" y="72352"/>
                  </a:lnTo>
                  <a:lnTo>
                    <a:pt x="8292261" y="108218"/>
                  </a:lnTo>
                  <a:lnTo>
                    <a:pt x="8306794" y="148876"/>
                  </a:lnTo>
                  <a:lnTo>
                    <a:pt x="8311896" y="193167"/>
                  </a:lnTo>
                  <a:lnTo>
                    <a:pt x="8311896" y="4441367"/>
                  </a:lnTo>
                  <a:lnTo>
                    <a:pt x="8306794" y="4485647"/>
                  </a:lnTo>
                  <a:lnTo>
                    <a:pt x="8292261" y="4526295"/>
                  </a:lnTo>
                  <a:lnTo>
                    <a:pt x="8269458" y="4562151"/>
                  </a:lnTo>
                  <a:lnTo>
                    <a:pt x="8239543" y="4592058"/>
                  </a:lnTo>
                  <a:lnTo>
                    <a:pt x="8203677" y="4614855"/>
                  </a:lnTo>
                  <a:lnTo>
                    <a:pt x="8163019" y="4629383"/>
                  </a:lnTo>
                  <a:lnTo>
                    <a:pt x="8118729" y="4634484"/>
                  </a:lnTo>
                  <a:lnTo>
                    <a:pt x="193116" y="4634484"/>
                  </a:lnTo>
                  <a:lnTo>
                    <a:pt x="148836" y="4629383"/>
                  </a:lnTo>
                  <a:lnTo>
                    <a:pt x="108188" y="4614855"/>
                  </a:lnTo>
                  <a:lnTo>
                    <a:pt x="72332" y="4592058"/>
                  </a:lnTo>
                  <a:lnTo>
                    <a:pt x="42425" y="4562151"/>
                  </a:lnTo>
                  <a:lnTo>
                    <a:pt x="19628" y="4526295"/>
                  </a:lnTo>
                  <a:lnTo>
                    <a:pt x="5100" y="4485647"/>
                  </a:lnTo>
                  <a:lnTo>
                    <a:pt x="0" y="4441367"/>
                  </a:lnTo>
                  <a:lnTo>
                    <a:pt x="0" y="193167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90372" y="1385316"/>
              <a:ext cx="7763509" cy="1734820"/>
            </a:xfrm>
            <a:custGeom>
              <a:avLst/>
              <a:gdLst/>
              <a:ahLst/>
              <a:cxnLst/>
              <a:rect l="l" t="t" r="r" b="b"/>
              <a:pathLst>
                <a:path w="7763509" h="1734820">
                  <a:moveTo>
                    <a:pt x="7690993" y="0"/>
                  </a:moveTo>
                  <a:lnTo>
                    <a:pt x="72262" y="0"/>
                  </a:lnTo>
                  <a:lnTo>
                    <a:pt x="44137" y="5683"/>
                  </a:lnTo>
                  <a:lnTo>
                    <a:pt x="21167" y="21177"/>
                  </a:lnTo>
                  <a:lnTo>
                    <a:pt x="5679" y="44148"/>
                  </a:lnTo>
                  <a:lnTo>
                    <a:pt x="0" y="72262"/>
                  </a:lnTo>
                  <a:lnTo>
                    <a:pt x="0" y="1662049"/>
                  </a:lnTo>
                  <a:lnTo>
                    <a:pt x="5679" y="1690163"/>
                  </a:lnTo>
                  <a:lnTo>
                    <a:pt x="21167" y="1713134"/>
                  </a:lnTo>
                  <a:lnTo>
                    <a:pt x="44137" y="1728628"/>
                  </a:lnTo>
                  <a:lnTo>
                    <a:pt x="72262" y="1734312"/>
                  </a:lnTo>
                  <a:lnTo>
                    <a:pt x="7690993" y="1734312"/>
                  </a:lnTo>
                  <a:lnTo>
                    <a:pt x="7719107" y="1728628"/>
                  </a:lnTo>
                  <a:lnTo>
                    <a:pt x="7742078" y="1713134"/>
                  </a:lnTo>
                  <a:lnTo>
                    <a:pt x="7757572" y="1690163"/>
                  </a:lnTo>
                  <a:lnTo>
                    <a:pt x="7763256" y="1662049"/>
                  </a:lnTo>
                  <a:lnTo>
                    <a:pt x="7763256" y="72262"/>
                  </a:lnTo>
                  <a:lnTo>
                    <a:pt x="7757572" y="44148"/>
                  </a:lnTo>
                  <a:lnTo>
                    <a:pt x="7742078" y="21177"/>
                  </a:lnTo>
                  <a:lnTo>
                    <a:pt x="7719107" y="5683"/>
                  </a:lnTo>
                  <a:lnTo>
                    <a:pt x="7690993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90372" y="1385316"/>
              <a:ext cx="7763509" cy="1734820"/>
            </a:xfrm>
            <a:custGeom>
              <a:avLst/>
              <a:gdLst/>
              <a:ahLst/>
              <a:cxnLst/>
              <a:rect l="l" t="t" r="r" b="b"/>
              <a:pathLst>
                <a:path w="7763509" h="1734820">
                  <a:moveTo>
                    <a:pt x="0" y="72262"/>
                  </a:moveTo>
                  <a:lnTo>
                    <a:pt x="5679" y="44148"/>
                  </a:lnTo>
                  <a:lnTo>
                    <a:pt x="21167" y="21177"/>
                  </a:lnTo>
                  <a:lnTo>
                    <a:pt x="44137" y="5683"/>
                  </a:lnTo>
                  <a:lnTo>
                    <a:pt x="72262" y="0"/>
                  </a:lnTo>
                  <a:lnTo>
                    <a:pt x="7690993" y="0"/>
                  </a:lnTo>
                  <a:lnTo>
                    <a:pt x="7719107" y="5683"/>
                  </a:lnTo>
                  <a:lnTo>
                    <a:pt x="7742078" y="21177"/>
                  </a:lnTo>
                  <a:lnTo>
                    <a:pt x="7757572" y="44148"/>
                  </a:lnTo>
                  <a:lnTo>
                    <a:pt x="7763256" y="72262"/>
                  </a:lnTo>
                  <a:lnTo>
                    <a:pt x="7763256" y="1662049"/>
                  </a:lnTo>
                  <a:lnTo>
                    <a:pt x="7757572" y="1690163"/>
                  </a:lnTo>
                  <a:lnTo>
                    <a:pt x="7742078" y="1713134"/>
                  </a:lnTo>
                  <a:lnTo>
                    <a:pt x="7719107" y="1728628"/>
                  </a:lnTo>
                  <a:lnTo>
                    <a:pt x="7690993" y="1734312"/>
                  </a:lnTo>
                  <a:lnTo>
                    <a:pt x="72262" y="1734312"/>
                  </a:lnTo>
                  <a:lnTo>
                    <a:pt x="44137" y="1728628"/>
                  </a:lnTo>
                  <a:lnTo>
                    <a:pt x="21167" y="1713134"/>
                  </a:lnTo>
                  <a:lnTo>
                    <a:pt x="5679" y="1690163"/>
                  </a:lnTo>
                  <a:lnTo>
                    <a:pt x="0" y="1662049"/>
                  </a:lnTo>
                  <a:lnTo>
                    <a:pt x="0" y="72262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7324" y="3241548"/>
              <a:ext cx="7763509" cy="1094740"/>
            </a:xfrm>
            <a:custGeom>
              <a:avLst/>
              <a:gdLst/>
              <a:ahLst/>
              <a:cxnLst/>
              <a:rect l="l" t="t" r="r" b="b"/>
              <a:pathLst>
                <a:path w="7763509" h="1094739">
                  <a:moveTo>
                    <a:pt x="7717662" y="0"/>
                  </a:moveTo>
                  <a:lnTo>
                    <a:pt x="45605" y="0"/>
                  </a:lnTo>
                  <a:lnTo>
                    <a:pt x="27855" y="3587"/>
                  </a:lnTo>
                  <a:lnTo>
                    <a:pt x="13358" y="13366"/>
                  </a:lnTo>
                  <a:lnTo>
                    <a:pt x="3584" y="27860"/>
                  </a:lnTo>
                  <a:lnTo>
                    <a:pt x="0" y="45592"/>
                  </a:lnTo>
                  <a:lnTo>
                    <a:pt x="0" y="1048639"/>
                  </a:lnTo>
                  <a:lnTo>
                    <a:pt x="3584" y="1066371"/>
                  </a:lnTo>
                  <a:lnTo>
                    <a:pt x="13358" y="1080865"/>
                  </a:lnTo>
                  <a:lnTo>
                    <a:pt x="27855" y="1090644"/>
                  </a:lnTo>
                  <a:lnTo>
                    <a:pt x="45605" y="1094232"/>
                  </a:lnTo>
                  <a:lnTo>
                    <a:pt x="7717662" y="1094232"/>
                  </a:lnTo>
                  <a:lnTo>
                    <a:pt x="7735395" y="1090644"/>
                  </a:lnTo>
                  <a:lnTo>
                    <a:pt x="7749889" y="1080865"/>
                  </a:lnTo>
                  <a:lnTo>
                    <a:pt x="7759668" y="1066371"/>
                  </a:lnTo>
                  <a:lnTo>
                    <a:pt x="7763256" y="1048639"/>
                  </a:lnTo>
                  <a:lnTo>
                    <a:pt x="7763256" y="45592"/>
                  </a:lnTo>
                  <a:lnTo>
                    <a:pt x="7759668" y="27860"/>
                  </a:lnTo>
                  <a:lnTo>
                    <a:pt x="7749889" y="13366"/>
                  </a:lnTo>
                  <a:lnTo>
                    <a:pt x="7735395" y="3587"/>
                  </a:lnTo>
                  <a:lnTo>
                    <a:pt x="7717662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87324" y="3241548"/>
              <a:ext cx="7763509" cy="1094740"/>
            </a:xfrm>
            <a:custGeom>
              <a:avLst/>
              <a:gdLst/>
              <a:ahLst/>
              <a:cxnLst/>
              <a:rect l="l" t="t" r="r" b="b"/>
              <a:pathLst>
                <a:path w="7763509" h="1094739">
                  <a:moveTo>
                    <a:pt x="0" y="45592"/>
                  </a:moveTo>
                  <a:lnTo>
                    <a:pt x="3584" y="27860"/>
                  </a:lnTo>
                  <a:lnTo>
                    <a:pt x="13358" y="13366"/>
                  </a:lnTo>
                  <a:lnTo>
                    <a:pt x="27855" y="3587"/>
                  </a:lnTo>
                  <a:lnTo>
                    <a:pt x="45605" y="0"/>
                  </a:lnTo>
                  <a:lnTo>
                    <a:pt x="7717662" y="0"/>
                  </a:lnTo>
                  <a:lnTo>
                    <a:pt x="7735395" y="3587"/>
                  </a:lnTo>
                  <a:lnTo>
                    <a:pt x="7749889" y="13366"/>
                  </a:lnTo>
                  <a:lnTo>
                    <a:pt x="7759668" y="27860"/>
                  </a:lnTo>
                  <a:lnTo>
                    <a:pt x="7763256" y="45592"/>
                  </a:lnTo>
                  <a:lnTo>
                    <a:pt x="7763256" y="1048639"/>
                  </a:lnTo>
                  <a:lnTo>
                    <a:pt x="7759668" y="1066371"/>
                  </a:lnTo>
                  <a:lnTo>
                    <a:pt x="7749889" y="1080865"/>
                  </a:lnTo>
                  <a:lnTo>
                    <a:pt x="7735395" y="1090644"/>
                  </a:lnTo>
                  <a:lnTo>
                    <a:pt x="7717662" y="1094232"/>
                  </a:lnTo>
                  <a:lnTo>
                    <a:pt x="45605" y="1094232"/>
                  </a:lnTo>
                  <a:lnTo>
                    <a:pt x="27855" y="1090644"/>
                  </a:lnTo>
                  <a:lnTo>
                    <a:pt x="13358" y="1080865"/>
                  </a:lnTo>
                  <a:lnTo>
                    <a:pt x="3584" y="1066371"/>
                  </a:lnTo>
                  <a:lnTo>
                    <a:pt x="0" y="1048639"/>
                  </a:lnTo>
                  <a:lnTo>
                    <a:pt x="0" y="45592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94944" y="4460747"/>
              <a:ext cx="7763509" cy="1094740"/>
            </a:xfrm>
            <a:custGeom>
              <a:avLst/>
              <a:gdLst/>
              <a:ahLst/>
              <a:cxnLst/>
              <a:rect l="l" t="t" r="r" b="b"/>
              <a:pathLst>
                <a:path w="7763509" h="1094739">
                  <a:moveTo>
                    <a:pt x="7717662" y="0"/>
                  </a:moveTo>
                  <a:lnTo>
                    <a:pt x="45605" y="0"/>
                  </a:lnTo>
                  <a:lnTo>
                    <a:pt x="27855" y="3587"/>
                  </a:lnTo>
                  <a:lnTo>
                    <a:pt x="13358" y="13366"/>
                  </a:lnTo>
                  <a:lnTo>
                    <a:pt x="3584" y="27860"/>
                  </a:lnTo>
                  <a:lnTo>
                    <a:pt x="0" y="45593"/>
                  </a:lnTo>
                  <a:lnTo>
                    <a:pt x="0" y="1048639"/>
                  </a:lnTo>
                  <a:lnTo>
                    <a:pt x="3584" y="1066371"/>
                  </a:lnTo>
                  <a:lnTo>
                    <a:pt x="13358" y="1080865"/>
                  </a:lnTo>
                  <a:lnTo>
                    <a:pt x="27855" y="1090644"/>
                  </a:lnTo>
                  <a:lnTo>
                    <a:pt x="45605" y="1094232"/>
                  </a:lnTo>
                  <a:lnTo>
                    <a:pt x="7717662" y="1094232"/>
                  </a:lnTo>
                  <a:lnTo>
                    <a:pt x="7735395" y="1090644"/>
                  </a:lnTo>
                  <a:lnTo>
                    <a:pt x="7749889" y="1080865"/>
                  </a:lnTo>
                  <a:lnTo>
                    <a:pt x="7759668" y="1066371"/>
                  </a:lnTo>
                  <a:lnTo>
                    <a:pt x="7763256" y="1048639"/>
                  </a:lnTo>
                  <a:lnTo>
                    <a:pt x="7763256" y="45593"/>
                  </a:lnTo>
                  <a:lnTo>
                    <a:pt x="7759668" y="27860"/>
                  </a:lnTo>
                  <a:lnTo>
                    <a:pt x="7749889" y="13366"/>
                  </a:lnTo>
                  <a:lnTo>
                    <a:pt x="7735395" y="3587"/>
                  </a:lnTo>
                  <a:lnTo>
                    <a:pt x="7717662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94944" y="4460747"/>
              <a:ext cx="7763509" cy="1094740"/>
            </a:xfrm>
            <a:custGeom>
              <a:avLst/>
              <a:gdLst/>
              <a:ahLst/>
              <a:cxnLst/>
              <a:rect l="l" t="t" r="r" b="b"/>
              <a:pathLst>
                <a:path w="7763509" h="1094739">
                  <a:moveTo>
                    <a:pt x="0" y="45593"/>
                  </a:moveTo>
                  <a:lnTo>
                    <a:pt x="3584" y="27860"/>
                  </a:lnTo>
                  <a:lnTo>
                    <a:pt x="13358" y="13366"/>
                  </a:lnTo>
                  <a:lnTo>
                    <a:pt x="27855" y="3587"/>
                  </a:lnTo>
                  <a:lnTo>
                    <a:pt x="45605" y="0"/>
                  </a:lnTo>
                  <a:lnTo>
                    <a:pt x="7717662" y="0"/>
                  </a:lnTo>
                  <a:lnTo>
                    <a:pt x="7735395" y="3587"/>
                  </a:lnTo>
                  <a:lnTo>
                    <a:pt x="7749889" y="13366"/>
                  </a:lnTo>
                  <a:lnTo>
                    <a:pt x="7759668" y="27860"/>
                  </a:lnTo>
                  <a:lnTo>
                    <a:pt x="7763256" y="45593"/>
                  </a:lnTo>
                  <a:lnTo>
                    <a:pt x="7763256" y="1048639"/>
                  </a:lnTo>
                  <a:lnTo>
                    <a:pt x="7759668" y="1066371"/>
                  </a:lnTo>
                  <a:lnTo>
                    <a:pt x="7749889" y="1080865"/>
                  </a:lnTo>
                  <a:lnTo>
                    <a:pt x="7735395" y="1090644"/>
                  </a:lnTo>
                  <a:lnTo>
                    <a:pt x="7717662" y="1094232"/>
                  </a:lnTo>
                  <a:lnTo>
                    <a:pt x="45605" y="1094232"/>
                  </a:lnTo>
                  <a:lnTo>
                    <a:pt x="27855" y="1090644"/>
                  </a:lnTo>
                  <a:lnTo>
                    <a:pt x="13358" y="1080865"/>
                  </a:lnTo>
                  <a:lnTo>
                    <a:pt x="3584" y="1066371"/>
                  </a:lnTo>
                  <a:lnTo>
                    <a:pt x="0" y="1048639"/>
                  </a:lnTo>
                  <a:lnTo>
                    <a:pt x="0" y="45593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98575" y="1429639"/>
            <a:ext cx="7748905" cy="3837304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333375" marR="143510" indent="-228600">
              <a:lnSpc>
                <a:spcPts val="1939"/>
              </a:lnSpc>
              <a:spcBef>
                <a:spcPts val="345"/>
              </a:spcBef>
              <a:buClr>
                <a:srgbClr val="006699"/>
              </a:buClr>
              <a:buFont typeface="Verdana"/>
              <a:buChar char="•"/>
              <a:tabLst>
                <a:tab pos="334010" algn="l"/>
              </a:tabLst>
            </a:pPr>
            <a:r>
              <a:rPr sz="1800" b="1" spc="-5" dirty="0">
                <a:latin typeface="Verdana"/>
                <a:cs typeface="Verdana"/>
              </a:rPr>
              <a:t>NAP tracing identifies NAP events </a:t>
            </a:r>
            <a:r>
              <a:rPr sz="1800" b="1" dirty="0">
                <a:latin typeface="Verdana"/>
                <a:cs typeface="Verdana"/>
              </a:rPr>
              <a:t>and </a:t>
            </a:r>
            <a:r>
              <a:rPr sz="1800" b="1" spc="-5" dirty="0">
                <a:latin typeface="Verdana"/>
                <a:cs typeface="Verdana"/>
              </a:rPr>
              <a:t>records </a:t>
            </a:r>
            <a:r>
              <a:rPr sz="1800" b="1" dirty="0">
                <a:latin typeface="Verdana"/>
                <a:cs typeface="Verdana"/>
              </a:rPr>
              <a:t>them to a  log </a:t>
            </a:r>
            <a:r>
              <a:rPr sz="1800" b="1" spc="-5" dirty="0">
                <a:latin typeface="Verdana"/>
                <a:cs typeface="Verdana"/>
              </a:rPr>
              <a:t>file based </a:t>
            </a:r>
            <a:r>
              <a:rPr sz="1800" b="1" dirty="0">
                <a:latin typeface="Verdana"/>
                <a:cs typeface="Verdana"/>
              </a:rPr>
              <a:t>on the one of the </a:t>
            </a:r>
            <a:r>
              <a:rPr sz="1800" b="1" spc="-5" dirty="0">
                <a:latin typeface="Verdana"/>
                <a:cs typeface="Verdana"/>
              </a:rPr>
              <a:t>following tracing</a:t>
            </a:r>
            <a:r>
              <a:rPr sz="1800" b="1" spc="20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levels:</a:t>
            </a:r>
            <a:endParaRPr sz="1800">
              <a:latin typeface="Verdana"/>
              <a:cs typeface="Verdana"/>
            </a:endParaRPr>
          </a:p>
          <a:p>
            <a:pPr marL="790575" lvl="1" indent="-229235">
              <a:lnSpc>
                <a:spcPct val="100000"/>
              </a:lnSpc>
              <a:spcBef>
                <a:spcPts val="625"/>
              </a:spcBef>
              <a:buClr>
                <a:srgbClr val="006699"/>
              </a:buClr>
              <a:buChar char="•"/>
              <a:tabLst>
                <a:tab pos="791210" algn="l"/>
              </a:tabLst>
            </a:pPr>
            <a:r>
              <a:rPr sz="1800" dirty="0">
                <a:latin typeface="Verdana"/>
                <a:cs typeface="Verdana"/>
              </a:rPr>
              <a:t>Basic</a:t>
            </a:r>
            <a:endParaRPr sz="1800">
              <a:latin typeface="Verdana"/>
              <a:cs typeface="Verdana"/>
            </a:endParaRPr>
          </a:p>
          <a:p>
            <a:pPr marL="790575" lvl="1" indent="-229235">
              <a:lnSpc>
                <a:spcPct val="100000"/>
              </a:lnSpc>
              <a:spcBef>
                <a:spcPts val="650"/>
              </a:spcBef>
              <a:buClr>
                <a:srgbClr val="006699"/>
              </a:buClr>
              <a:buChar char="•"/>
              <a:tabLst>
                <a:tab pos="791210" algn="l"/>
              </a:tabLst>
            </a:pPr>
            <a:r>
              <a:rPr sz="1800" spc="-10" dirty="0">
                <a:latin typeface="Verdana"/>
                <a:cs typeface="Verdana"/>
              </a:rPr>
              <a:t>Advanced</a:t>
            </a:r>
            <a:endParaRPr sz="1800">
              <a:latin typeface="Verdana"/>
              <a:cs typeface="Verdana"/>
            </a:endParaRPr>
          </a:p>
          <a:p>
            <a:pPr marL="790575" lvl="1" indent="-229235">
              <a:lnSpc>
                <a:spcPct val="100000"/>
              </a:lnSpc>
              <a:spcBef>
                <a:spcPts val="650"/>
              </a:spcBef>
              <a:buClr>
                <a:srgbClr val="006699"/>
              </a:buClr>
              <a:buChar char="•"/>
              <a:tabLst>
                <a:tab pos="791210" algn="l"/>
              </a:tabLst>
            </a:pPr>
            <a:r>
              <a:rPr sz="1800" spc="-5" dirty="0">
                <a:latin typeface="Verdana"/>
                <a:cs typeface="Verdana"/>
              </a:rPr>
              <a:t>Debug</a:t>
            </a:r>
            <a:endParaRPr sz="1800">
              <a:latin typeface="Verdana"/>
              <a:cs typeface="Verdana"/>
            </a:endParaRPr>
          </a:p>
          <a:p>
            <a:pPr marL="321945" indent="-229235">
              <a:lnSpc>
                <a:spcPct val="100000"/>
              </a:lnSpc>
              <a:spcBef>
                <a:spcPts val="1939"/>
              </a:spcBef>
              <a:buClr>
                <a:srgbClr val="006699"/>
              </a:buClr>
              <a:buFont typeface="Verdana"/>
              <a:buChar char="•"/>
              <a:tabLst>
                <a:tab pos="322580" algn="l"/>
              </a:tabLst>
            </a:pPr>
            <a:r>
              <a:rPr sz="1800" b="1" dirty="0">
                <a:latin typeface="Verdana"/>
                <a:cs typeface="Verdana"/>
              </a:rPr>
              <a:t>You </a:t>
            </a:r>
            <a:r>
              <a:rPr sz="1800" b="1" spc="-5" dirty="0">
                <a:latin typeface="Verdana"/>
                <a:cs typeface="Verdana"/>
              </a:rPr>
              <a:t>can use tracing </a:t>
            </a:r>
            <a:r>
              <a:rPr sz="1800" b="1" dirty="0">
                <a:latin typeface="Verdana"/>
                <a:cs typeface="Verdana"/>
              </a:rPr>
              <a:t>logs</a:t>
            </a:r>
            <a:r>
              <a:rPr sz="1800" b="1" spc="1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to:</a:t>
            </a:r>
            <a:endParaRPr sz="1800">
              <a:latin typeface="Verdana"/>
              <a:cs typeface="Verdana"/>
            </a:endParaRPr>
          </a:p>
          <a:p>
            <a:pPr marL="779145" lvl="1" indent="-229235">
              <a:lnSpc>
                <a:spcPct val="100000"/>
              </a:lnSpc>
              <a:spcBef>
                <a:spcPts val="650"/>
              </a:spcBef>
              <a:buClr>
                <a:srgbClr val="006699"/>
              </a:buClr>
              <a:buChar char="•"/>
              <a:tabLst>
                <a:tab pos="779780" algn="l"/>
              </a:tabLst>
            </a:pPr>
            <a:r>
              <a:rPr sz="1800" spc="-5" dirty="0">
                <a:latin typeface="Verdana"/>
                <a:cs typeface="Verdana"/>
              </a:rPr>
              <a:t>Evaluate the health and security </a:t>
            </a:r>
            <a:r>
              <a:rPr sz="1800" dirty="0">
                <a:latin typeface="Verdana"/>
                <a:cs typeface="Verdana"/>
              </a:rPr>
              <a:t>of </a:t>
            </a:r>
            <a:r>
              <a:rPr sz="1800" spc="-5" dirty="0">
                <a:latin typeface="Verdana"/>
                <a:cs typeface="Verdana"/>
              </a:rPr>
              <a:t>your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network</a:t>
            </a:r>
            <a:endParaRPr sz="1800">
              <a:latin typeface="Verdana"/>
              <a:cs typeface="Verdana"/>
            </a:endParaRPr>
          </a:p>
          <a:p>
            <a:pPr marL="779145" lvl="1" indent="-229235">
              <a:lnSpc>
                <a:spcPct val="100000"/>
              </a:lnSpc>
              <a:spcBef>
                <a:spcPts val="650"/>
              </a:spcBef>
              <a:buClr>
                <a:srgbClr val="006699"/>
              </a:buClr>
              <a:buChar char="•"/>
              <a:tabLst>
                <a:tab pos="779780" algn="l"/>
              </a:tabLst>
            </a:pPr>
            <a:r>
              <a:rPr sz="1800" spc="-20" dirty="0">
                <a:latin typeface="Verdana"/>
                <a:cs typeface="Verdana"/>
              </a:rPr>
              <a:t>For </a:t>
            </a:r>
            <a:r>
              <a:rPr sz="1800" spc="-5" dirty="0">
                <a:latin typeface="Verdana"/>
                <a:cs typeface="Verdana"/>
              </a:rPr>
              <a:t>troubleshooting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maintenance</a:t>
            </a:r>
            <a:endParaRPr sz="18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Clr>
                <a:srgbClr val="006699"/>
              </a:buClr>
              <a:buFont typeface="Verdana"/>
              <a:buChar char="•"/>
            </a:pPr>
            <a:endParaRPr sz="3200">
              <a:latin typeface="Verdana"/>
              <a:cs typeface="Verdana"/>
            </a:endParaRPr>
          </a:p>
          <a:p>
            <a:pPr marL="330200" marR="220979" indent="-228600">
              <a:lnSpc>
                <a:spcPts val="1939"/>
              </a:lnSpc>
              <a:buClr>
                <a:srgbClr val="006699"/>
              </a:buClr>
              <a:buFont typeface="Verdana"/>
              <a:buChar char="•"/>
              <a:tabLst>
                <a:tab pos="330835" algn="l"/>
              </a:tabLst>
            </a:pPr>
            <a:r>
              <a:rPr sz="1800" b="1" spc="-5" dirty="0">
                <a:latin typeface="Verdana"/>
                <a:cs typeface="Verdana"/>
              </a:rPr>
              <a:t>NAP tracing </a:t>
            </a:r>
            <a:r>
              <a:rPr sz="1800" b="1" dirty="0">
                <a:latin typeface="Verdana"/>
                <a:cs typeface="Verdana"/>
              </a:rPr>
              <a:t>is </a:t>
            </a:r>
            <a:r>
              <a:rPr sz="1800" b="1" spc="-5" dirty="0">
                <a:latin typeface="Verdana"/>
                <a:cs typeface="Verdana"/>
              </a:rPr>
              <a:t>disabled by default, </a:t>
            </a:r>
            <a:r>
              <a:rPr sz="1800" b="1" dirty="0">
                <a:latin typeface="Verdana"/>
                <a:cs typeface="Verdana"/>
              </a:rPr>
              <a:t>which means </a:t>
            </a:r>
            <a:r>
              <a:rPr sz="1800" b="1" spc="-5" dirty="0">
                <a:latin typeface="Verdana"/>
                <a:cs typeface="Verdana"/>
              </a:rPr>
              <a:t>that </a:t>
            </a:r>
            <a:r>
              <a:rPr sz="1800" b="1" dirty="0">
                <a:latin typeface="Verdana"/>
                <a:cs typeface="Verdana"/>
              </a:rPr>
              <a:t>no  </a:t>
            </a:r>
            <a:r>
              <a:rPr sz="1800" b="1" spc="-5" dirty="0">
                <a:latin typeface="Verdana"/>
                <a:cs typeface="Verdana"/>
              </a:rPr>
              <a:t>NAP events </a:t>
            </a:r>
            <a:r>
              <a:rPr sz="1800" b="1" dirty="0">
                <a:latin typeface="Verdana"/>
                <a:cs typeface="Verdana"/>
              </a:rPr>
              <a:t>are </a:t>
            </a:r>
            <a:r>
              <a:rPr sz="1800" b="1" spc="-5" dirty="0">
                <a:latin typeface="Verdana"/>
                <a:cs typeface="Verdana"/>
              </a:rPr>
              <a:t>recorded </a:t>
            </a:r>
            <a:r>
              <a:rPr sz="1800" b="1" dirty="0">
                <a:latin typeface="Verdana"/>
                <a:cs typeface="Verdana"/>
              </a:rPr>
              <a:t>in </a:t>
            </a:r>
            <a:r>
              <a:rPr sz="1800" b="1" spc="-5" dirty="0">
                <a:latin typeface="Verdana"/>
                <a:cs typeface="Verdana"/>
              </a:rPr>
              <a:t>the </a:t>
            </a:r>
            <a:r>
              <a:rPr sz="1800" b="1" dirty="0">
                <a:latin typeface="Verdana"/>
                <a:cs typeface="Verdana"/>
              </a:rPr>
              <a:t>trace</a:t>
            </a:r>
            <a:r>
              <a:rPr sz="1800" b="1" spc="6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logs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71672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Verdana"/>
                <a:cs typeface="Verdana"/>
              </a:rPr>
              <a:t>Demonstration: How to Configure NAP</a:t>
            </a:r>
            <a:r>
              <a:rPr sz="2400" spc="1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Tracing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6328" y="946150"/>
            <a:ext cx="6195695" cy="1306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Verdana"/>
                <a:cs typeface="Verdana"/>
              </a:rPr>
              <a:t>In this demonstration, you will </a:t>
            </a:r>
            <a:r>
              <a:rPr sz="2000" b="1" spc="-5" dirty="0">
                <a:latin typeface="Verdana"/>
                <a:cs typeface="Verdana"/>
              </a:rPr>
              <a:t>see how</a:t>
            </a:r>
            <a:r>
              <a:rPr sz="2000" b="1" spc="-55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to:</a:t>
            </a:r>
            <a:endParaRPr sz="200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3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Configure </a:t>
            </a:r>
            <a:r>
              <a:rPr sz="2000" spc="-10" dirty="0">
                <a:latin typeface="Verdana"/>
                <a:cs typeface="Verdana"/>
              </a:rPr>
              <a:t>tracing </a:t>
            </a:r>
            <a:r>
              <a:rPr sz="2000" dirty="0">
                <a:latin typeface="Verdana"/>
                <a:cs typeface="Verdana"/>
              </a:rPr>
              <a:t>from the</a:t>
            </a:r>
            <a:r>
              <a:rPr sz="2000" spc="-10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GUI</a:t>
            </a:r>
            <a:endParaRPr sz="200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4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Configure </a:t>
            </a:r>
            <a:r>
              <a:rPr sz="2000" spc="-10" dirty="0">
                <a:latin typeface="Verdana"/>
                <a:cs typeface="Verdana"/>
              </a:rPr>
              <a:t>tracing </a:t>
            </a:r>
            <a:r>
              <a:rPr sz="2000" dirty="0">
                <a:latin typeface="Verdana"/>
                <a:cs typeface="Verdana"/>
              </a:rPr>
              <a:t>from </a:t>
            </a:r>
            <a:r>
              <a:rPr sz="2000" spc="-5" dirty="0">
                <a:latin typeface="Verdana"/>
                <a:cs typeface="Verdana"/>
              </a:rPr>
              <a:t>the</a:t>
            </a:r>
            <a:r>
              <a:rPr sz="2000" spc="-8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command-line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49606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Verdana"/>
                <a:cs typeface="Verdana"/>
              </a:rPr>
              <a:t>Troubleshooting NAP with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Netsh</a:t>
            </a:r>
            <a:endParaRPr sz="2400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54508" y="1175003"/>
            <a:ext cx="8663940" cy="853440"/>
            <a:chOff x="254508" y="1175003"/>
            <a:chExt cx="8663940" cy="853440"/>
          </a:xfrm>
        </p:grpSpPr>
        <p:sp>
          <p:nvSpPr>
            <p:cNvPr id="4" name="object 4"/>
            <p:cNvSpPr/>
            <p:nvPr/>
          </p:nvSpPr>
          <p:spPr>
            <a:xfrm>
              <a:off x="278892" y="1199387"/>
              <a:ext cx="8639556" cy="82905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01396" y="1269491"/>
              <a:ext cx="8272272" cy="75742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59080" y="1179575"/>
              <a:ext cx="8627364" cy="81686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59080" y="1179575"/>
              <a:ext cx="8627745" cy="817244"/>
            </a:xfrm>
            <a:custGeom>
              <a:avLst/>
              <a:gdLst/>
              <a:ahLst/>
              <a:cxnLst/>
              <a:rect l="l" t="t" r="r" b="b"/>
              <a:pathLst>
                <a:path w="8627745" h="817244">
                  <a:moveTo>
                    <a:pt x="0" y="136144"/>
                  </a:moveTo>
                  <a:lnTo>
                    <a:pt x="6941" y="93114"/>
                  </a:lnTo>
                  <a:lnTo>
                    <a:pt x="26269" y="55741"/>
                  </a:lnTo>
                  <a:lnTo>
                    <a:pt x="55741" y="26269"/>
                  </a:lnTo>
                  <a:lnTo>
                    <a:pt x="93114" y="6941"/>
                  </a:lnTo>
                  <a:lnTo>
                    <a:pt x="136144" y="0"/>
                  </a:lnTo>
                  <a:lnTo>
                    <a:pt x="8491220" y="0"/>
                  </a:lnTo>
                  <a:lnTo>
                    <a:pt x="8534249" y="6941"/>
                  </a:lnTo>
                  <a:lnTo>
                    <a:pt x="8571622" y="26269"/>
                  </a:lnTo>
                  <a:lnTo>
                    <a:pt x="8601094" y="55741"/>
                  </a:lnTo>
                  <a:lnTo>
                    <a:pt x="8620422" y="93114"/>
                  </a:lnTo>
                  <a:lnTo>
                    <a:pt x="8627364" y="136144"/>
                  </a:lnTo>
                  <a:lnTo>
                    <a:pt x="8627364" y="680720"/>
                  </a:lnTo>
                  <a:lnTo>
                    <a:pt x="8620422" y="723749"/>
                  </a:lnTo>
                  <a:lnTo>
                    <a:pt x="8601094" y="761122"/>
                  </a:lnTo>
                  <a:lnTo>
                    <a:pt x="8571622" y="790594"/>
                  </a:lnTo>
                  <a:lnTo>
                    <a:pt x="8534249" y="809922"/>
                  </a:lnTo>
                  <a:lnTo>
                    <a:pt x="8491220" y="816863"/>
                  </a:lnTo>
                  <a:lnTo>
                    <a:pt x="136144" y="816863"/>
                  </a:lnTo>
                  <a:lnTo>
                    <a:pt x="93114" y="809922"/>
                  </a:lnTo>
                  <a:lnTo>
                    <a:pt x="55741" y="790594"/>
                  </a:lnTo>
                  <a:lnTo>
                    <a:pt x="26269" y="761122"/>
                  </a:lnTo>
                  <a:lnTo>
                    <a:pt x="6941" y="723749"/>
                  </a:lnTo>
                  <a:lnTo>
                    <a:pt x="0" y="680720"/>
                  </a:lnTo>
                  <a:lnTo>
                    <a:pt x="0" y="136144"/>
                  </a:lnTo>
                  <a:close/>
                </a:path>
              </a:pathLst>
            </a:custGeom>
            <a:ln w="914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02081" y="1300098"/>
            <a:ext cx="79400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99030" marR="5080" indent="-2386965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Verdana"/>
                <a:cs typeface="Verdana"/>
              </a:rPr>
              <a:t>You </a:t>
            </a:r>
            <a:r>
              <a:rPr sz="1800" b="1" spc="-5" dirty="0">
                <a:latin typeface="Verdana"/>
                <a:cs typeface="Verdana"/>
              </a:rPr>
              <a:t>can use the following netsh NAP command to help </a:t>
            </a:r>
            <a:r>
              <a:rPr sz="1800" b="1" dirty="0">
                <a:latin typeface="Verdana"/>
                <a:cs typeface="Verdana"/>
              </a:rPr>
              <a:t>you </a:t>
            </a:r>
            <a:r>
              <a:rPr sz="1800" b="1" spc="-5" dirty="0">
                <a:latin typeface="Verdana"/>
                <a:cs typeface="Verdana"/>
              </a:rPr>
              <a:t>to  troubleshoot NAP</a:t>
            </a:r>
            <a:r>
              <a:rPr sz="1800" b="1" spc="30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issues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07263" y="2407920"/>
            <a:ext cx="8729980" cy="2303145"/>
            <a:chOff x="207263" y="2407920"/>
            <a:chExt cx="8729980" cy="2303145"/>
          </a:xfrm>
        </p:grpSpPr>
        <p:sp>
          <p:nvSpPr>
            <p:cNvPr id="10" name="object 10"/>
            <p:cNvSpPr/>
            <p:nvPr/>
          </p:nvSpPr>
          <p:spPr>
            <a:xfrm>
              <a:off x="211835" y="2412492"/>
              <a:ext cx="8720455" cy="2293620"/>
            </a:xfrm>
            <a:custGeom>
              <a:avLst/>
              <a:gdLst/>
              <a:ahLst/>
              <a:cxnLst/>
              <a:rect l="l" t="t" r="r" b="b"/>
              <a:pathLst>
                <a:path w="8720455" h="2293620">
                  <a:moveTo>
                    <a:pt x="8624697" y="0"/>
                  </a:moveTo>
                  <a:lnTo>
                    <a:pt x="95580" y="0"/>
                  </a:lnTo>
                  <a:lnTo>
                    <a:pt x="58373" y="7512"/>
                  </a:lnTo>
                  <a:lnTo>
                    <a:pt x="27992" y="28003"/>
                  </a:lnTo>
                  <a:lnTo>
                    <a:pt x="7510" y="58400"/>
                  </a:lnTo>
                  <a:lnTo>
                    <a:pt x="0" y="95631"/>
                  </a:lnTo>
                  <a:lnTo>
                    <a:pt x="0" y="2197989"/>
                  </a:lnTo>
                  <a:lnTo>
                    <a:pt x="7510" y="2235219"/>
                  </a:lnTo>
                  <a:lnTo>
                    <a:pt x="27992" y="2265616"/>
                  </a:lnTo>
                  <a:lnTo>
                    <a:pt x="58373" y="2286107"/>
                  </a:lnTo>
                  <a:lnTo>
                    <a:pt x="95580" y="2293620"/>
                  </a:lnTo>
                  <a:lnTo>
                    <a:pt x="8624697" y="2293620"/>
                  </a:lnTo>
                  <a:lnTo>
                    <a:pt x="8661927" y="2286107"/>
                  </a:lnTo>
                  <a:lnTo>
                    <a:pt x="8692324" y="2265616"/>
                  </a:lnTo>
                  <a:lnTo>
                    <a:pt x="8712815" y="2235219"/>
                  </a:lnTo>
                  <a:lnTo>
                    <a:pt x="8720328" y="2197989"/>
                  </a:lnTo>
                  <a:lnTo>
                    <a:pt x="8720328" y="95631"/>
                  </a:lnTo>
                  <a:lnTo>
                    <a:pt x="8712815" y="58400"/>
                  </a:lnTo>
                  <a:lnTo>
                    <a:pt x="8692324" y="28003"/>
                  </a:lnTo>
                  <a:lnTo>
                    <a:pt x="8661927" y="7512"/>
                  </a:lnTo>
                  <a:lnTo>
                    <a:pt x="8624697" y="0"/>
                  </a:lnTo>
                  <a:close/>
                </a:path>
              </a:pathLst>
            </a:custGeom>
            <a:solidFill>
              <a:srgbClr val="DE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11835" y="2412492"/>
              <a:ext cx="8720455" cy="2293620"/>
            </a:xfrm>
            <a:custGeom>
              <a:avLst/>
              <a:gdLst/>
              <a:ahLst/>
              <a:cxnLst/>
              <a:rect l="l" t="t" r="r" b="b"/>
              <a:pathLst>
                <a:path w="8720455" h="2293620">
                  <a:moveTo>
                    <a:pt x="0" y="95631"/>
                  </a:moveTo>
                  <a:lnTo>
                    <a:pt x="7510" y="58400"/>
                  </a:lnTo>
                  <a:lnTo>
                    <a:pt x="27992" y="28003"/>
                  </a:lnTo>
                  <a:lnTo>
                    <a:pt x="58373" y="7512"/>
                  </a:lnTo>
                  <a:lnTo>
                    <a:pt x="95580" y="0"/>
                  </a:lnTo>
                  <a:lnTo>
                    <a:pt x="8624697" y="0"/>
                  </a:lnTo>
                  <a:lnTo>
                    <a:pt x="8661927" y="7512"/>
                  </a:lnTo>
                  <a:lnTo>
                    <a:pt x="8692324" y="28003"/>
                  </a:lnTo>
                  <a:lnTo>
                    <a:pt x="8712815" y="58400"/>
                  </a:lnTo>
                  <a:lnTo>
                    <a:pt x="8720328" y="95631"/>
                  </a:lnTo>
                  <a:lnTo>
                    <a:pt x="8720328" y="2197989"/>
                  </a:lnTo>
                  <a:lnTo>
                    <a:pt x="8712815" y="2235219"/>
                  </a:lnTo>
                  <a:lnTo>
                    <a:pt x="8692324" y="2265616"/>
                  </a:lnTo>
                  <a:lnTo>
                    <a:pt x="8661927" y="2286107"/>
                  </a:lnTo>
                  <a:lnTo>
                    <a:pt x="8624697" y="2293620"/>
                  </a:lnTo>
                  <a:lnTo>
                    <a:pt x="95580" y="2293620"/>
                  </a:lnTo>
                  <a:lnTo>
                    <a:pt x="58373" y="2286107"/>
                  </a:lnTo>
                  <a:lnTo>
                    <a:pt x="27992" y="2265616"/>
                  </a:lnTo>
                  <a:lnTo>
                    <a:pt x="7510" y="2235219"/>
                  </a:lnTo>
                  <a:lnTo>
                    <a:pt x="0" y="2197989"/>
                  </a:lnTo>
                  <a:lnTo>
                    <a:pt x="0" y="95631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86155" y="2622804"/>
              <a:ext cx="8171815" cy="437515"/>
            </a:xfrm>
            <a:custGeom>
              <a:avLst/>
              <a:gdLst/>
              <a:ahLst/>
              <a:cxnLst/>
              <a:rect l="l" t="t" r="r" b="b"/>
              <a:pathLst>
                <a:path w="8171815" h="437514">
                  <a:moveTo>
                    <a:pt x="8153527" y="0"/>
                  </a:moveTo>
                  <a:lnTo>
                    <a:pt x="18224" y="0"/>
                  </a:lnTo>
                  <a:lnTo>
                    <a:pt x="11128" y="1426"/>
                  </a:lnTo>
                  <a:lnTo>
                    <a:pt x="5335" y="5318"/>
                  </a:lnTo>
                  <a:lnTo>
                    <a:pt x="1431" y="11090"/>
                  </a:lnTo>
                  <a:lnTo>
                    <a:pt x="0" y="18161"/>
                  </a:lnTo>
                  <a:lnTo>
                    <a:pt x="0" y="419226"/>
                  </a:lnTo>
                  <a:lnTo>
                    <a:pt x="1431" y="426297"/>
                  </a:lnTo>
                  <a:lnTo>
                    <a:pt x="5335" y="432069"/>
                  </a:lnTo>
                  <a:lnTo>
                    <a:pt x="11128" y="435961"/>
                  </a:lnTo>
                  <a:lnTo>
                    <a:pt x="18224" y="437388"/>
                  </a:lnTo>
                  <a:lnTo>
                    <a:pt x="8153527" y="437388"/>
                  </a:lnTo>
                  <a:lnTo>
                    <a:pt x="8160597" y="435961"/>
                  </a:lnTo>
                  <a:lnTo>
                    <a:pt x="8166369" y="432069"/>
                  </a:lnTo>
                  <a:lnTo>
                    <a:pt x="8170261" y="426297"/>
                  </a:lnTo>
                  <a:lnTo>
                    <a:pt x="8171688" y="419226"/>
                  </a:lnTo>
                  <a:lnTo>
                    <a:pt x="8171688" y="18161"/>
                  </a:lnTo>
                  <a:lnTo>
                    <a:pt x="8170261" y="11090"/>
                  </a:lnTo>
                  <a:lnTo>
                    <a:pt x="8166369" y="5318"/>
                  </a:lnTo>
                  <a:lnTo>
                    <a:pt x="8160597" y="1426"/>
                  </a:lnTo>
                  <a:lnTo>
                    <a:pt x="8153527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86155" y="2622804"/>
              <a:ext cx="8171815" cy="437515"/>
            </a:xfrm>
            <a:custGeom>
              <a:avLst/>
              <a:gdLst/>
              <a:ahLst/>
              <a:cxnLst/>
              <a:rect l="l" t="t" r="r" b="b"/>
              <a:pathLst>
                <a:path w="8171815" h="437514">
                  <a:moveTo>
                    <a:pt x="0" y="18161"/>
                  </a:moveTo>
                  <a:lnTo>
                    <a:pt x="1431" y="11090"/>
                  </a:lnTo>
                  <a:lnTo>
                    <a:pt x="5335" y="5318"/>
                  </a:lnTo>
                  <a:lnTo>
                    <a:pt x="11128" y="1426"/>
                  </a:lnTo>
                  <a:lnTo>
                    <a:pt x="18224" y="0"/>
                  </a:lnTo>
                  <a:lnTo>
                    <a:pt x="8153527" y="0"/>
                  </a:lnTo>
                  <a:lnTo>
                    <a:pt x="8160597" y="1426"/>
                  </a:lnTo>
                  <a:lnTo>
                    <a:pt x="8166369" y="5318"/>
                  </a:lnTo>
                  <a:lnTo>
                    <a:pt x="8170261" y="11090"/>
                  </a:lnTo>
                  <a:lnTo>
                    <a:pt x="8171688" y="18161"/>
                  </a:lnTo>
                  <a:lnTo>
                    <a:pt x="8171688" y="419226"/>
                  </a:lnTo>
                  <a:lnTo>
                    <a:pt x="8170261" y="426297"/>
                  </a:lnTo>
                  <a:lnTo>
                    <a:pt x="8166369" y="432069"/>
                  </a:lnTo>
                  <a:lnTo>
                    <a:pt x="8160597" y="435961"/>
                  </a:lnTo>
                  <a:lnTo>
                    <a:pt x="8153527" y="437388"/>
                  </a:lnTo>
                  <a:lnTo>
                    <a:pt x="18224" y="437388"/>
                  </a:lnTo>
                  <a:lnTo>
                    <a:pt x="11128" y="435961"/>
                  </a:lnTo>
                  <a:lnTo>
                    <a:pt x="5335" y="432069"/>
                  </a:lnTo>
                  <a:lnTo>
                    <a:pt x="1431" y="426297"/>
                  </a:lnTo>
                  <a:lnTo>
                    <a:pt x="0" y="419226"/>
                  </a:lnTo>
                  <a:lnTo>
                    <a:pt x="0" y="18161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86155" y="3848100"/>
              <a:ext cx="8171815" cy="437515"/>
            </a:xfrm>
            <a:custGeom>
              <a:avLst/>
              <a:gdLst/>
              <a:ahLst/>
              <a:cxnLst/>
              <a:rect l="l" t="t" r="r" b="b"/>
              <a:pathLst>
                <a:path w="8171815" h="437514">
                  <a:moveTo>
                    <a:pt x="8153527" y="0"/>
                  </a:moveTo>
                  <a:lnTo>
                    <a:pt x="18224" y="0"/>
                  </a:lnTo>
                  <a:lnTo>
                    <a:pt x="11128" y="1426"/>
                  </a:lnTo>
                  <a:lnTo>
                    <a:pt x="5335" y="5318"/>
                  </a:lnTo>
                  <a:lnTo>
                    <a:pt x="1431" y="11090"/>
                  </a:lnTo>
                  <a:lnTo>
                    <a:pt x="0" y="18161"/>
                  </a:lnTo>
                  <a:lnTo>
                    <a:pt x="0" y="419226"/>
                  </a:lnTo>
                  <a:lnTo>
                    <a:pt x="1431" y="426297"/>
                  </a:lnTo>
                  <a:lnTo>
                    <a:pt x="5335" y="432069"/>
                  </a:lnTo>
                  <a:lnTo>
                    <a:pt x="11128" y="435961"/>
                  </a:lnTo>
                  <a:lnTo>
                    <a:pt x="18224" y="437388"/>
                  </a:lnTo>
                  <a:lnTo>
                    <a:pt x="8153527" y="437388"/>
                  </a:lnTo>
                  <a:lnTo>
                    <a:pt x="8160597" y="435961"/>
                  </a:lnTo>
                  <a:lnTo>
                    <a:pt x="8166369" y="432069"/>
                  </a:lnTo>
                  <a:lnTo>
                    <a:pt x="8170261" y="426297"/>
                  </a:lnTo>
                  <a:lnTo>
                    <a:pt x="8171688" y="419226"/>
                  </a:lnTo>
                  <a:lnTo>
                    <a:pt x="8171688" y="18161"/>
                  </a:lnTo>
                  <a:lnTo>
                    <a:pt x="8170261" y="11090"/>
                  </a:lnTo>
                  <a:lnTo>
                    <a:pt x="8166369" y="5318"/>
                  </a:lnTo>
                  <a:lnTo>
                    <a:pt x="8160597" y="1426"/>
                  </a:lnTo>
                  <a:lnTo>
                    <a:pt x="8153527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86155" y="3848100"/>
              <a:ext cx="8171815" cy="437515"/>
            </a:xfrm>
            <a:custGeom>
              <a:avLst/>
              <a:gdLst/>
              <a:ahLst/>
              <a:cxnLst/>
              <a:rect l="l" t="t" r="r" b="b"/>
              <a:pathLst>
                <a:path w="8171815" h="437514">
                  <a:moveTo>
                    <a:pt x="0" y="18161"/>
                  </a:moveTo>
                  <a:lnTo>
                    <a:pt x="1431" y="11090"/>
                  </a:lnTo>
                  <a:lnTo>
                    <a:pt x="5335" y="5318"/>
                  </a:lnTo>
                  <a:lnTo>
                    <a:pt x="11128" y="1426"/>
                  </a:lnTo>
                  <a:lnTo>
                    <a:pt x="18224" y="0"/>
                  </a:lnTo>
                  <a:lnTo>
                    <a:pt x="8153527" y="0"/>
                  </a:lnTo>
                  <a:lnTo>
                    <a:pt x="8160597" y="1426"/>
                  </a:lnTo>
                  <a:lnTo>
                    <a:pt x="8166369" y="5318"/>
                  </a:lnTo>
                  <a:lnTo>
                    <a:pt x="8170261" y="11090"/>
                  </a:lnTo>
                  <a:lnTo>
                    <a:pt x="8171688" y="18161"/>
                  </a:lnTo>
                  <a:lnTo>
                    <a:pt x="8171688" y="419226"/>
                  </a:lnTo>
                  <a:lnTo>
                    <a:pt x="8170261" y="426297"/>
                  </a:lnTo>
                  <a:lnTo>
                    <a:pt x="8166369" y="432069"/>
                  </a:lnTo>
                  <a:lnTo>
                    <a:pt x="8160597" y="435961"/>
                  </a:lnTo>
                  <a:lnTo>
                    <a:pt x="8153527" y="437388"/>
                  </a:lnTo>
                  <a:lnTo>
                    <a:pt x="18224" y="437388"/>
                  </a:lnTo>
                  <a:lnTo>
                    <a:pt x="11128" y="435961"/>
                  </a:lnTo>
                  <a:lnTo>
                    <a:pt x="5335" y="432069"/>
                  </a:lnTo>
                  <a:lnTo>
                    <a:pt x="1431" y="426297"/>
                  </a:lnTo>
                  <a:lnTo>
                    <a:pt x="0" y="419226"/>
                  </a:lnTo>
                  <a:lnTo>
                    <a:pt x="0" y="18161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86155" y="3191256"/>
              <a:ext cx="8173720" cy="437515"/>
            </a:xfrm>
            <a:custGeom>
              <a:avLst/>
              <a:gdLst/>
              <a:ahLst/>
              <a:cxnLst/>
              <a:rect l="l" t="t" r="r" b="b"/>
              <a:pathLst>
                <a:path w="8173720" h="437514">
                  <a:moveTo>
                    <a:pt x="8154924" y="0"/>
                  </a:moveTo>
                  <a:lnTo>
                    <a:pt x="18224" y="0"/>
                  </a:lnTo>
                  <a:lnTo>
                    <a:pt x="11128" y="1428"/>
                  </a:lnTo>
                  <a:lnTo>
                    <a:pt x="5335" y="5334"/>
                  </a:lnTo>
                  <a:lnTo>
                    <a:pt x="1431" y="11144"/>
                  </a:lnTo>
                  <a:lnTo>
                    <a:pt x="0" y="18288"/>
                  </a:lnTo>
                  <a:lnTo>
                    <a:pt x="0" y="419100"/>
                  </a:lnTo>
                  <a:lnTo>
                    <a:pt x="1431" y="426243"/>
                  </a:lnTo>
                  <a:lnTo>
                    <a:pt x="5335" y="432054"/>
                  </a:lnTo>
                  <a:lnTo>
                    <a:pt x="11128" y="435959"/>
                  </a:lnTo>
                  <a:lnTo>
                    <a:pt x="18224" y="437388"/>
                  </a:lnTo>
                  <a:lnTo>
                    <a:pt x="8154924" y="437388"/>
                  </a:lnTo>
                  <a:lnTo>
                    <a:pt x="8162067" y="435959"/>
                  </a:lnTo>
                  <a:lnTo>
                    <a:pt x="8167878" y="432054"/>
                  </a:lnTo>
                  <a:lnTo>
                    <a:pt x="8171783" y="426243"/>
                  </a:lnTo>
                  <a:lnTo>
                    <a:pt x="8173212" y="419100"/>
                  </a:lnTo>
                  <a:lnTo>
                    <a:pt x="8173212" y="18288"/>
                  </a:lnTo>
                  <a:lnTo>
                    <a:pt x="8171783" y="11144"/>
                  </a:lnTo>
                  <a:lnTo>
                    <a:pt x="8167878" y="5334"/>
                  </a:lnTo>
                  <a:lnTo>
                    <a:pt x="8162067" y="1428"/>
                  </a:lnTo>
                  <a:lnTo>
                    <a:pt x="8154924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86155" y="3191256"/>
              <a:ext cx="8173720" cy="437515"/>
            </a:xfrm>
            <a:custGeom>
              <a:avLst/>
              <a:gdLst/>
              <a:ahLst/>
              <a:cxnLst/>
              <a:rect l="l" t="t" r="r" b="b"/>
              <a:pathLst>
                <a:path w="8173720" h="437514">
                  <a:moveTo>
                    <a:pt x="0" y="18288"/>
                  </a:moveTo>
                  <a:lnTo>
                    <a:pt x="1431" y="11144"/>
                  </a:lnTo>
                  <a:lnTo>
                    <a:pt x="5335" y="5334"/>
                  </a:lnTo>
                  <a:lnTo>
                    <a:pt x="11128" y="1428"/>
                  </a:lnTo>
                  <a:lnTo>
                    <a:pt x="18224" y="0"/>
                  </a:lnTo>
                  <a:lnTo>
                    <a:pt x="8154924" y="0"/>
                  </a:lnTo>
                  <a:lnTo>
                    <a:pt x="8162067" y="1428"/>
                  </a:lnTo>
                  <a:lnTo>
                    <a:pt x="8167878" y="5334"/>
                  </a:lnTo>
                  <a:lnTo>
                    <a:pt x="8171783" y="11144"/>
                  </a:lnTo>
                  <a:lnTo>
                    <a:pt x="8173212" y="18288"/>
                  </a:lnTo>
                  <a:lnTo>
                    <a:pt x="8173212" y="419100"/>
                  </a:lnTo>
                  <a:lnTo>
                    <a:pt x="8171783" y="426243"/>
                  </a:lnTo>
                  <a:lnTo>
                    <a:pt x="8167878" y="432054"/>
                  </a:lnTo>
                  <a:lnTo>
                    <a:pt x="8162067" y="435959"/>
                  </a:lnTo>
                  <a:lnTo>
                    <a:pt x="8154924" y="437388"/>
                  </a:lnTo>
                  <a:lnTo>
                    <a:pt x="18224" y="437388"/>
                  </a:lnTo>
                  <a:lnTo>
                    <a:pt x="11128" y="435959"/>
                  </a:lnTo>
                  <a:lnTo>
                    <a:pt x="5335" y="432054"/>
                  </a:lnTo>
                  <a:lnTo>
                    <a:pt x="1431" y="426243"/>
                  </a:lnTo>
                  <a:lnTo>
                    <a:pt x="0" y="419100"/>
                  </a:lnTo>
                  <a:lnTo>
                    <a:pt x="0" y="18288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70077" y="2693669"/>
            <a:ext cx="3580765" cy="14941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Clr>
                <a:srgbClr val="006699"/>
              </a:buClr>
              <a:buFont typeface="Verdana"/>
              <a:buChar char="•"/>
              <a:tabLst>
                <a:tab pos="241300" algn="l"/>
              </a:tabLst>
            </a:pPr>
            <a:r>
              <a:rPr sz="1600" b="1" spc="-10" dirty="0">
                <a:latin typeface="Verdana"/>
                <a:cs typeface="Verdana"/>
              </a:rPr>
              <a:t>netsh </a:t>
            </a:r>
            <a:r>
              <a:rPr sz="1600" b="1" spc="-5" dirty="0">
                <a:latin typeface="Verdana"/>
                <a:cs typeface="Verdana"/>
              </a:rPr>
              <a:t>NAP </a:t>
            </a:r>
            <a:r>
              <a:rPr sz="1600" b="1" spc="-10" dirty="0">
                <a:latin typeface="Verdana"/>
                <a:cs typeface="Verdana"/>
              </a:rPr>
              <a:t>client </a:t>
            </a:r>
            <a:r>
              <a:rPr sz="1600" b="1" spc="-5" dirty="0">
                <a:latin typeface="Verdana"/>
                <a:cs typeface="Verdana"/>
              </a:rPr>
              <a:t>show</a:t>
            </a:r>
            <a:r>
              <a:rPr sz="1600" b="1" spc="15" dirty="0">
                <a:latin typeface="Verdana"/>
                <a:cs typeface="Verdana"/>
              </a:rPr>
              <a:t> </a:t>
            </a:r>
            <a:r>
              <a:rPr sz="1600" b="1" spc="-5" dirty="0">
                <a:latin typeface="Verdana"/>
                <a:cs typeface="Verdana"/>
              </a:rPr>
              <a:t>state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006699"/>
              </a:buClr>
              <a:buFont typeface="Verdana"/>
              <a:buChar char="•"/>
            </a:pPr>
            <a:endParaRPr sz="2100">
              <a:latin typeface="Verdana"/>
              <a:cs typeface="Verdana"/>
            </a:endParaRPr>
          </a:p>
          <a:p>
            <a:pPr marL="241300" indent="-229235">
              <a:lnSpc>
                <a:spcPct val="100000"/>
              </a:lnSpc>
              <a:buClr>
                <a:srgbClr val="006699"/>
              </a:buClr>
              <a:buFont typeface="Verdana"/>
              <a:buChar char="•"/>
              <a:tabLst>
                <a:tab pos="241935" algn="l"/>
              </a:tabLst>
            </a:pPr>
            <a:r>
              <a:rPr sz="1600" b="1" spc="-10" dirty="0">
                <a:latin typeface="Verdana"/>
                <a:cs typeface="Verdana"/>
              </a:rPr>
              <a:t>netsh </a:t>
            </a:r>
            <a:r>
              <a:rPr sz="1600" b="1" spc="-5" dirty="0">
                <a:latin typeface="Verdana"/>
                <a:cs typeface="Verdana"/>
              </a:rPr>
              <a:t>NAP </a:t>
            </a:r>
            <a:r>
              <a:rPr sz="1600" b="1" spc="-10" dirty="0">
                <a:latin typeface="Verdana"/>
                <a:cs typeface="Verdana"/>
              </a:rPr>
              <a:t>client </a:t>
            </a:r>
            <a:r>
              <a:rPr sz="1600" b="1" spc="-5" dirty="0">
                <a:latin typeface="Verdana"/>
                <a:cs typeface="Verdana"/>
              </a:rPr>
              <a:t>show</a:t>
            </a:r>
            <a:r>
              <a:rPr sz="1600" b="1" spc="20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config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006699"/>
              </a:buClr>
              <a:buFont typeface="Verdana"/>
              <a:buChar char="•"/>
            </a:pPr>
            <a:endParaRPr sz="2650">
              <a:latin typeface="Verdana"/>
              <a:cs typeface="Verdana"/>
            </a:endParaRPr>
          </a:p>
          <a:p>
            <a:pPr marL="241300" indent="-228600">
              <a:lnSpc>
                <a:spcPct val="100000"/>
              </a:lnSpc>
              <a:buClr>
                <a:srgbClr val="006699"/>
              </a:buClr>
              <a:buFont typeface="Verdana"/>
              <a:buChar char="•"/>
              <a:tabLst>
                <a:tab pos="241300" algn="l"/>
              </a:tabLst>
            </a:pPr>
            <a:r>
              <a:rPr sz="1600" b="1" spc="-5" dirty="0">
                <a:latin typeface="Verdana"/>
                <a:cs typeface="Verdana"/>
              </a:rPr>
              <a:t>netsh NAP </a:t>
            </a:r>
            <a:r>
              <a:rPr sz="1600" b="1" spc="-10" dirty="0">
                <a:latin typeface="Verdana"/>
                <a:cs typeface="Verdana"/>
              </a:rPr>
              <a:t>client </a:t>
            </a:r>
            <a:r>
              <a:rPr sz="1600" b="1" spc="-5" dirty="0">
                <a:latin typeface="Verdana"/>
                <a:cs typeface="Verdana"/>
              </a:rPr>
              <a:t>show </a:t>
            </a:r>
            <a:r>
              <a:rPr sz="1600" b="1" spc="-10" dirty="0">
                <a:latin typeface="Verdana"/>
                <a:cs typeface="Verdana"/>
              </a:rPr>
              <a:t>group</a:t>
            </a:r>
            <a:endParaRPr sz="1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24326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Verdana"/>
                <a:cs typeface="Verdana"/>
              </a:rPr>
              <a:t>NAP Event</a:t>
            </a:r>
            <a:r>
              <a:rPr sz="2400" spc="-5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Logs</a:t>
            </a:r>
            <a:endParaRPr sz="2400">
              <a:latin typeface="Verdana"/>
              <a:cs typeface="Verdan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56246" y="1757426"/>
          <a:ext cx="7255509" cy="28163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97660"/>
                <a:gridCol w="5657849"/>
              </a:tblGrid>
              <a:tr h="402336">
                <a:tc>
                  <a:txBody>
                    <a:bodyPr/>
                    <a:lstStyle/>
                    <a:p>
                      <a:pPr marL="30226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600" b="1" spc="-10" dirty="0">
                          <a:latin typeface="Verdana"/>
                          <a:cs typeface="Verdana"/>
                        </a:rPr>
                        <a:t>Event</a:t>
                      </a:r>
                      <a:r>
                        <a:rPr sz="1600" b="1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b="1" spc="-5" dirty="0">
                          <a:latin typeface="Verdana"/>
                          <a:cs typeface="Verdana"/>
                        </a:rPr>
                        <a:t>ID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65404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  <a:solidFill>
                      <a:srgbClr val="E3CD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600" b="1" spc="-5" dirty="0">
                          <a:latin typeface="Verdana"/>
                          <a:cs typeface="Verdana"/>
                        </a:rPr>
                        <a:t>Meaning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65404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  <a:solidFill>
                      <a:srgbClr val="E3CD9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6272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65404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  <a:solidFill>
                      <a:srgbClr val="F1E7C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600" spc="-5" dirty="0">
                          <a:latin typeface="Verdana"/>
                          <a:cs typeface="Verdana"/>
                        </a:rPr>
                        <a:t>Successful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authentication 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has</a:t>
                      </a:r>
                      <a:r>
                        <a:rPr sz="1600" spc="114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occurred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65404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6273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65405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  <a:solidFill>
                      <a:srgbClr val="F1E7C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600" spc="-5" dirty="0">
                          <a:latin typeface="Verdana"/>
                          <a:cs typeface="Verdana"/>
                        </a:rPr>
                        <a:t>Successful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authentication 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has not</a:t>
                      </a:r>
                      <a:r>
                        <a:rPr sz="1600" spc="1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occurred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65405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6274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65405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  <a:solidFill>
                      <a:srgbClr val="F1E7C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600" spc="-5" dirty="0">
                          <a:latin typeface="Verdana"/>
                          <a:cs typeface="Verdana"/>
                        </a:rPr>
                        <a:t>A configuration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problem</a:t>
                      </a:r>
                      <a:r>
                        <a:rPr sz="1600" spc="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exists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65405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</a:tcPr>
                </a:tc>
              </a:tr>
              <a:tr h="40233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6276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65405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  <a:solidFill>
                      <a:srgbClr val="F1E7C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600" spc="-10" dirty="0">
                          <a:latin typeface="Verdana"/>
                          <a:cs typeface="Verdana"/>
                        </a:rPr>
                        <a:t>NAP client</a:t>
                      </a:r>
                      <a:r>
                        <a:rPr sz="1600" spc="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quarantined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65405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6277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65405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  <a:solidFill>
                      <a:srgbClr val="F1E7C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600" spc="-10" dirty="0">
                          <a:latin typeface="Verdana"/>
                          <a:cs typeface="Verdana"/>
                        </a:rPr>
                        <a:t>NAP client 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is on</a:t>
                      </a:r>
                      <a:r>
                        <a:rPr sz="1600" spc="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probation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65405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</a:tcPr>
                </a:tc>
              </a:tr>
              <a:tr h="40233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6278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  <a:solidFill>
                      <a:srgbClr val="F1E7C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600" spc="-10" dirty="0">
                          <a:latin typeface="Verdana"/>
                          <a:cs typeface="Verdana"/>
                        </a:rPr>
                        <a:t>NAP client granted 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full</a:t>
                      </a:r>
                      <a:r>
                        <a:rPr sz="1600" spc="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access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4953"/>
            <a:ext cx="6673850" cy="70231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 marR="5080">
              <a:lnSpc>
                <a:spcPts val="2450"/>
              </a:lnSpc>
              <a:spcBef>
                <a:spcPts val="540"/>
              </a:spcBef>
            </a:pPr>
            <a:r>
              <a:rPr sz="2400" spc="-5" dirty="0">
                <a:latin typeface="Verdana"/>
                <a:cs typeface="Verdana"/>
              </a:rPr>
              <a:t>Lab: Implementing NAP into </a:t>
            </a:r>
            <a:r>
              <a:rPr sz="2400" dirty="0">
                <a:latin typeface="Verdana"/>
                <a:cs typeface="Verdana"/>
              </a:rPr>
              <a:t>a VPN </a:t>
            </a:r>
            <a:r>
              <a:rPr sz="2400" spc="-10" dirty="0">
                <a:latin typeface="Verdana"/>
                <a:cs typeface="Verdana"/>
              </a:rPr>
              <a:t>Remote  </a:t>
            </a:r>
            <a:r>
              <a:rPr sz="2400" spc="-5" dirty="0">
                <a:latin typeface="Verdana"/>
                <a:cs typeface="Verdana"/>
              </a:rPr>
              <a:t>Access </a:t>
            </a:r>
            <a:r>
              <a:rPr sz="2400" dirty="0">
                <a:latin typeface="Verdana"/>
                <a:cs typeface="Verdana"/>
              </a:rPr>
              <a:t>Solution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84428" y="1043177"/>
            <a:ext cx="7223125" cy="8185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7960" indent="-175260">
              <a:lnSpc>
                <a:spcPct val="100000"/>
              </a:lnSpc>
              <a:spcBef>
                <a:spcPts val="10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Exercise </a:t>
            </a:r>
            <a:r>
              <a:rPr sz="2000" dirty="0">
                <a:latin typeface="Verdana"/>
                <a:cs typeface="Verdana"/>
              </a:rPr>
              <a:t>1: Configuring </a:t>
            </a:r>
            <a:r>
              <a:rPr sz="2000" spc="-5" dirty="0">
                <a:latin typeface="Verdana"/>
                <a:cs typeface="Verdana"/>
              </a:rPr>
              <a:t>NAP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Components</a:t>
            </a:r>
            <a:endParaRPr sz="200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3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  <a:tab pos="3338195" algn="l"/>
              </a:tabLst>
            </a:pPr>
            <a:r>
              <a:rPr sz="2000" spc="-5" dirty="0">
                <a:latin typeface="Verdana"/>
                <a:cs typeface="Verdana"/>
              </a:rPr>
              <a:t>Exercise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2:</a:t>
            </a:r>
            <a:r>
              <a:rPr sz="2000" spc="1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Configuring	Client Settings to </a:t>
            </a:r>
            <a:r>
              <a:rPr sz="2000" dirty="0">
                <a:latin typeface="Verdana"/>
                <a:cs typeface="Verdana"/>
              </a:rPr>
              <a:t>support</a:t>
            </a:r>
            <a:r>
              <a:rPr sz="2000" spc="-8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NAP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5850" y="6165291"/>
            <a:ext cx="31807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Verdana"/>
                <a:cs typeface="Verdana"/>
              </a:rPr>
              <a:t>Estimated time: 60</a:t>
            </a:r>
            <a:r>
              <a:rPr sz="1600" b="1" spc="-30" dirty="0">
                <a:latin typeface="Verdana"/>
                <a:cs typeface="Verdana"/>
              </a:rPr>
              <a:t> </a:t>
            </a:r>
            <a:r>
              <a:rPr sz="1600" b="1" spc="-5" dirty="0">
                <a:latin typeface="Verdana"/>
                <a:cs typeface="Verdana"/>
              </a:rPr>
              <a:t>minutes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2800" y="3704082"/>
            <a:ext cx="222948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-5" dirty="0">
                <a:latin typeface="Verdana"/>
                <a:cs typeface="Verdana"/>
              </a:rPr>
              <a:t>Logon</a:t>
            </a:r>
            <a:r>
              <a:rPr sz="1900" spc="-60" dirty="0">
                <a:latin typeface="Verdana"/>
                <a:cs typeface="Verdana"/>
              </a:rPr>
              <a:t> </a:t>
            </a:r>
            <a:r>
              <a:rPr sz="1900" spc="-5" dirty="0">
                <a:latin typeface="Verdana"/>
                <a:cs typeface="Verdana"/>
              </a:rPr>
              <a:t>information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93191" y="4087367"/>
            <a:ext cx="5666232" cy="19720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39978" y="4114990"/>
            <a:ext cx="5567172" cy="187299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435216" y="4110164"/>
          <a:ext cx="5581650" cy="18827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14625"/>
                <a:gridCol w="2852420"/>
              </a:tblGrid>
              <a:tr h="9235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Virtual</a:t>
                      </a:r>
                      <a:r>
                        <a:rPr sz="18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machines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3810" marB="0">
                    <a:lnL w="9525">
                      <a:solidFill>
                        <a:srgbClr val="87A8CD"/>
                      </a:solidFill>
                      <a:prstDash val="solid"/>
                    </a:lnL>
                    <a:lnR w="9525">
                      <a:solidFill>
                        <a:srgbClr val="87A8CD"/>
                      </a:solidFill>
                      <a:prstDash val="solid"/>
                    </a:lnR>
                    <a:lnT w="9525">
                      <a:solidFill>
                        <a:srgbClr val="87A8CD"/>
                      </a:solidFill>
                      <a:prstDash val="solid"/>
                    </a:lnT>
                    <a:lnB w="9525">
                      <a:solidFill>
                        <a:srgbClr val="87A8CD"/>
                      </a:solidFill>
                      <a:prstDash val="solid"/>
                    </a:lnB>
                    <a:solidFill>
                      <a:srgbClr val="BACDE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050"/>
                        </a:lnSpc>
                        <a:spcBef>
                          <a:spcPts val="500"/>
                        </a:spcBef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6421B-NYC-DC1</a:t>
                      </a:r>
                      <a:endParaRPr sz="1800">
                        <a:latin typeface="Verdana"/>
                        <a:cs typeface="Verdana"/>
                      </a:endParaRPr>
                    </a:p>
                    <a:p>
                      <a:pPr marL="92075">
                        <a:lnSpc>
                          <a:spcPts val="1945"/>
                        </a:lnSpc>
                      </a:pPr>
                      <a:r>
                        <a:rPr sz="1800" spc="-10" dirty="0">
                          <a:latin typeface="Verdana"/>
                          <a:cs typeface="Verdana"/>
                        </a:rPr>
                        <a:t>6421B-NYC-EDGE1</a:t>
                      </a:r>
                      <a:endParaRPr sz="1800">
                        <a:latin typeface="Verdana"/>
                        <a:cs typeface="Verdana"/>
                      </a:endParaRPr>
                    </a:p>
                    <a:p>
                      <a:pPr marL="92075">
                        <a:lnSpc>
                          <a:spcPts val="2050"/>
                        </a:lnSpc>
                      </a:pPr>
                      <a:r>
                        <a:rPr sz="1800" spc="-10" dirty="0">
                          <a:latin typeface="Verdana"/>
                          <a:cs typeface="Verdana"/>
                        </a:rPr>
                        <a:t>6421B-NYC-CL1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63500" marB="0">
                    <a:lnL w="9525">
                      <a:solidFill>
                        <a:srgbClr val="87A8CD"/>
                      </a:solidFill>
                      <a:prstDash val="solid"/>
                    </a:lnL>
                    <a:lnR w="9525">
                      <a:solidFill>
                        <a:srgbClr val="87A8CD"/>
                      </a:solidFill>
                      <a:prstDash val="solid"/>
                    </a:lnR>
                    <a:lnT w="9525">
                      <a:solidFill>
                        <a:srgbClr val="87A8CD"/>
                      </a:solidFill>
                      <a:prstDash val="solid"/>
                    </a:lnT>
                    <a:lnB w="9525">
                      <a:solidFill>
                        <a:srgbClr val="87A8CD"/>
                      </a:solidFill>
                      <a:prstDash val="solid"/>
                    </a:lnB>
                  </a:tcPr>
                </a:tc>
              </a:tr>
              <a:tr h="474726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User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name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85725" marB="0">
                    <a:lnL w="9525">
                      <a:solidFill>
                        <a:srgbClr val="87A8CD"/>
                      </a:solidFill>
                      <a:prstDash val="solid"/>
                    </a:lnL>
                    <a:lnR w="9525">
                      <a:solidFill>
                        <a:srgbClr val="87A8CD"/>
                      </a:solidFill>
                      <a:prstDash val="solid"/>
                    </a:lnR>
                    <a:lnT w="9525">
                      <a:solidFill>
                        <a:srgbClr val="87A8CD"/>
                      </a:solidFill>
                      <a:prstDash val="solid"/>
                    </a:lnT>
                    <a:lnB w="9525">
                      <a:solidFill>
                        <a:srgbClr val="87A8CD"/>
                      </a:solidFill>
                      <a:prstDash val="solid"/>
                    </a:lnB>
                    <a:solidFill>
                      <a:srgbClr val="BACDE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Contoso\Administrator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85725" marB="0">
                    <a:lnL w="9525">
                      <a:solidFill>
                        <a:srgbClr val="87A8CD"/>
                      </a:solidFill>
                      <a:prstDash val="solid"/>
                    </a:lnL>
                    <a:lnR w="9525">
                      <a:solidFill>
                        <a:srgbClr val="87A8CD"/>
                      </a:solidFill>
                      <a:prstDash val="solid"/>
                    </a:lnR>
                    <a:lnT w="9525">
                      <a:solidFill>
                        <a:srgbClr val="87A8CD"/>
                      </a:solidFill>
                      <a:prstDash val="solid"/>
                    </a:lnT>
                    <a:lnB w="9525">
                      <a:solidFill>
                        <a:srgbClr val="87A8CD"/>
                      </a:solidFill>
                      <a:prstDash val="solid"/>
                    </a:lnB>
                  </a:tcPr>
                </a:tc>
              </a:tr>
              <a:tr h="47466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800" spc="-10" dirty="0">
                          <a:latin typeface="Verdana"/>
                          <a:cs typeface="Verdana"/>
                        </a:rPr>
                        <a:t>Password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86360" marB="0">
                    <a:lnL w="9525">
                      <a:solidFill>
                        <a:srgbClr val="87A8CD"/>
                      </a:solidFill>
                      <a:prstDash val="solid"/>
                    </a:lnL>
                    <a:lnR w="9525">
                      <a:solidFill>
                        <a:srgbClr val="87A8CD"/>
                      </a:solidFill>
                      <a:prstDash val="solid"/>
                    </a:lnR>
                    <a:lnT w="9525">
                      <a:solidFill>
                        <a:srgbClr val="87A8CD"/>
                      </a:solidFill>
                      <a:prstDash val="solid"/>
                    </a:lnT>
                    <a:lnB w="9525">
                      <a:solidFill>
                        <a:srgbClr val="87A8CD"/>
                      </a:solidFill>
                      <a:prstDash val="solid"/>
                    </a:lnB>
                    <a:solidFill>
                      <a:srgbClr val="BACDE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10" dirty="0">
                          <a:latin typeface="Verdana"/>
                          <a:cs typeface="Verdana"/>
                        </a:rPr>
                        <a:t>Pa$$w0rd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99695" marB="0">
                    <a:lnL w="9525">
                      <a:solidFill>
                        <a:srgbClr val="87A8CD"/>
                      </a:solidFill>
                      <a:prstDash val="solid"/>
                    </a:lnL>
                    <a:lnR w="9525">
                      <a:solidFill>
                        <a:srgbClr val="87A8CD"/>
                      </a:solidFill>
                      <a:prstDash val="solid"/>
                    </a:lnR>
                    <a:lnT w="9525">
                      <a:solidFill>
                        <a:srgbClr val="87A8CD"/>
                      </a:solidFill>
                      <a:prstDash val="solid"/>
                    </a:lnT>
                    <a:lnB w="9525">
                      <a:solidFill>
                        <a:srgbClr val="87A8CD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19989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Verdana"/>
                <a:cs typeface="Verdana"/>
              </a:rPr>
              <a:t>Lab</a:t>
            </a:r>
            <a:r>
              <a:rPr sz="2400" spc="-5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Scenario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84428" y="1073657"/>
            <a:ext cx="7663815" cy="2160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630555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Verdana"/>
                <a:cs typeface="Verdana"/>
              </a:rPr>
              <a:t>Contoso, </a:t>
            </a:r>
            <a:r>
              <a:rPr sz="2000" dirty="0">
                <a:latin typeface="Verdana"/>
                <a:cs typeface="Verdana"/>
              </a:rPr>
              <a:t>Ltd. </a:t>
            </a:r>
            <a:r>
              <a:rPr sz="2000" spc="-10" dirty="0">
                <a:latin typeface="Verdana"/>
                <a:cs typeface="Verdana"/>
              </a:rPr>
              <a:t>is </a:t>
            </a:r>
            <a:r>
              <a:rPr sz="2000" spc="-5" dirty="0">
                <a:latin typeface="Verdana"/>
                <a:cs typeface="Verdana"/>
              </a:rPr>
              <a:t>required to </a:t>
            </a:r>
            <a:r>
              <a:rPr sz="2000" dirty="0">
                <a:latin typeface="Verdana"/>
                <a:cs typeface="Verdana"/>
              </a:rPr>
              <a:t>extend </a:t>
            </a:r>
            <a:r>
              <a:rPr sz="2000" spc="-5" dirty="0">
                <a:latin typeface="Verdana"/>
                <a:cs typeface="Verdana"/>
              </a:rPr>
              <a:t>their virtual </a:t>
            </a:r>
            <a:r>
              <a:rPr sz="2000" spc="-10" dirty="0">
                <a:latin typeface="Verdana"/>
                <a:cs typeface="Verdana"/>
              </a:rPr>
              <a:t>private  </a:t>
            </a:r>
            <a:r>
              <a:rPr sz="2000" dirty="0">
                <a:latin typeface="Verdana"/>
                <a:cs typeface="Verdana"/>
              </a:rPr>
              <a:t>network solution </a:t>
            </a:r>
            <a:r>
              <a:rPr sz="2000" spc="-5" dirty="0">
                <a:latin typeface="Verdana"/>
                <a:cs typeface="Verdana"/>
              </a:rPr>
              <a:t>to include Network </a:t>
            </a:r>
            <a:r>
              <a:rPr sz="2000" dirty="0">
                <a:latin typeface="Verdana"/>
                <a:cs typeface="Verdana"/>
              </a:rPr>
              <a:t>Access</a:t>
            </a:r>
            <a:r>
              <a:rPr sz="2000" spc="-1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Protection.</a:t>
            </a:r>
            <a:endParaRPr sz="20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As a </a:t>
            </a:r>
            <a:r>
              <a:rPr sz="2000" spc="-10" dirty="0">
                <a:latin typeface="Verdana"/>
                <a:cs typeface="Verdana"/>
              </a:rPr>
              <a:t>Contoso, </a:t>
            </a:r>
            <a:r>
              <a:rPr sz="2000" dirty="0">
                <a:latin typeface="Verdana"/>
                <a:cs typeface="Verdana"/>
              </a:rPr>
              <a:t>Ltd. </a:t>
            </a:r>
            <a:r>
              <a:rPr sz="2000" spc="-5" dirty="0">
                <a:latin typeface="Verdana"/>
                <a:cs typeface="Verdana"/>
              </a:rPr>
              <a:t>technology specialist, you need to  establish </a:t>
            </a:r>
            <a:r>
              <a:rPr sz="2000" dirty="0">
                <a:latin typeface="Verdana"/>
                <a:cs typeface="Verdana"/>
              </a:rPr>
              <a:t>a </a:t>
            </a:r>
            <a:r>
              <a:rPr sz="2000" spc="-15" dirty="0">
                <a:latin typeface="Verdana"/>
                <a:cs typeface="Verdana"/>
              </a:rPr>
              <a:t>way </a:t>
            </a:r>
            <a:r>
              <a:rPr sz="2000" dirty="0">
                <a:latin typeface="Verdana"/>
                <a:cs typeface="Verdana"/>
              </a:rPr>
              <a:t>to </a:t>
            </a:r>
            <a:r>
              <a:rPr sz="2000" spc="-5" dirty="0">
                <a:latin typeface="Verdana"/>
                <a:cs typeface="Verdana"/>
              </a:rPr>
              <a:t>bring client computers automatically into  compliance. </a:t>
            </a:r>
            <a:r>
              <a:rPr sz="2000" spc="-45" dirty="0">
                <a:latin typeface="Verdana"/>
                <a:cs typeface="Verdana"/>
              </a:rPr>
              <a:t>You </a:t>
            </a:r>
            <a:r>
              <a:rPr sz="2000" spc="-5" dirty="0">
                <a:latin typeface="Verdana"/>
                <a:cs typeface="Verdana"/>
              </a:rPr>
              <a:t>will </a:t>
            </a:r>
            <a:r>
              <a:rPr sz="2000" dirty="0">
                <a:latin typeface="Verdana"/>
                <a:cs typeface="Verdana"/>
              </a:rPr>
              <a:t>do </a:t>
            </a:r>
            <a:r>
              <a:rPr sz="2000" spc="-5" dirty="0">
                <a:latin typeface="Verdana"/>
                <a:cs typeface="Verdana"/>
              </a:rPr>
              <a:t>this by </a:t>
            </a:r>
            <a:r>
              <a:rPr sz="2000" dirty="0">
                <a:latin typeface="Verdana"/>
                <a:cs typeface="Verdana"/>
              </a:rPr>
              <a:t>using </a:t>
            </a:r>
            <a:r>
              <a:rPr sz="2000" spc="-5" dirty="0">
                <a:latin typeface="Verdana"/>
                <a:cs typeface="Verdana"/>
              </a:rPr>
              <a:t>Network </a:t>
            </a:r>
            <a:r>
              <a:rPr sz="2000" spc="-15" dirty="0">
                <a:latin typeface="Verdana"/>
                <a:cs typeface="Verdana"/>
              </a:rPr>
              <a:t>Policy </a:t>
            </a:r>
            <a:r>
              <a:rPr sz="2000" spc="-45" dirty="0">
                <a:latin typeface="Verdana"/>
                <a:cs typeface="Verdana"/>
              </a:rPr>
              <a:t>Server,  </a:t>
            </a:r>
            <a:r>
              <a:rPr sz="2000" spc="-5" dirty="0">
                <a:latin typeface="Verdana"/>
                <a:cs typeface="Verdana"/>
              </a:rPr>
              <a:t>creating client compliance policies, </a:t>
            </a:r>
            <a:r>
              <a:rPr sz="2000" dirty="0">
                <a:latin typeface="Verdana"/>
                <a:cs typeface="Verdana"/>
              </a:rPr>
              <a:t>and configuring a </a:t>
            </a:r>
            <a:r>
              <a:rPr sz="2000" spc="-5" dirty="0">
                <a:latin typeface="Verdana"/>
                <a:cs typeface="Verdana"/>
              </a:rPr>
              <a:t>NAP  server to </a:t>
            </a:r>
            <a:r>
              <a:rPr sz="2000" dirty="0">
                <a:latin typeface="Verdana"/>
                <a:cs typeface="Verdana"/>
              </a:rPr>
              <a:t>check </a:t>
            </a:r>
            <a:r>
              <a:rPr sz="2000" spc="-5" dirty="0">
                <a:latin typeface="Verdana"/>
                <a:cs typeface="Verdana"/>
              </a:rPr>
              <a:t>the </a:t>
            </a:r>
            <a:r>
              <a:rPr sz="2000" dirty="0">
                <a:latin typeface="Verdana"/>
                <a:cs typeface="Verdana"/>
              </a:rPr>
              <a:t>current </a:t>
            </a:r>
            <a:r>
              <a:rPr sz="2000" spc="-5" dirty="0">
                <a:latin typeface="Verdana"/>
                <a:cs typeface="Verdana"/>
              </a:rPr>
              <a:t>health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10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computers.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1760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Verdana"/>
                <a:cs typeface="Verdana"/>
              </a:rPr>
              <a:t>Lab</a:t>
            </a:r>
            <a:r>
              <a:rPr sz="2400" spc="-6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Review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6328" y="946150"/>
            <a:ext cx="7646670" cy="267843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87960" marR="336550" indent="-175260">
              <a:lnSpc>
                <a:spcPts val="2160"/>
              </a:lnSpc>
              <a:spcBef>
                <a:spcPts val="37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The </a:t>
            </a:r>
            <a:r>
              <a:rPr sz="2000" dirty="0">
                <a:latin typeface="Verdana"/>
                <a:cs typeface="Verdana"/>
              </a:rPr>
              <a:t>DHCP </a:t>
            </a:r>
            <a:r>
              <a:rPr sz="2000" spc="-5" dirty="0">
                <a:latin typeface="Verdana"/>
                <a:cs typeface="Verdana"/>
              </a:rPr>
              <a:t>NAP enforcement method is the weakest  enforcement method in </a:t>
            </a:r>
            <a:r>
              <a:rPr sz="2000" dirty="0">
                <a:latin typeface="Verdana"/>
                <a:cs typeface="Verdana"/>
              </a:rPr>
              <a:t>Microsoft Windows </a:t>
            </a:r>
            <a:r>
              <a:rPr sz="2000" spc="-5" dirty="0">
                <a:latin typeface="Verdana"/>
                <a:cs typeface="Verdana"/>
              </a:rPr>
              <a:t>Server 2008  R2. </a:t>
            </a:r>
            <a:r>
              <a:rPr sz="2000" dirty="0">
                <a:latin typeface="Verdana"/>
                <a:cs typeface="Verdana"/>
              </a:rPr>
              <a:t>What </a:t>
            </a:r>
            <a:r>
              <a:rPr sz="2000" spc="-5" dirty="0">
                <a:latin typeface="Verdana"/>
                <a:cs typeface="Verdana"/>
              </a:rPr>
              <a:t>makes it less preferable than </a:t>
            </a:r>
            <a:r>
              <a:rPr sz="2000" dirty="0">
                <a:latin typeface="Verdana"/>
                <a:cs typeface="Verdana"/>
              </a:rPr>
              <a:t>other</a:t>
            </a:r>
            <a:r>
              <a:rPr sz="2000" spc="-9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ways?</a:t>
            </a:r>
            <a:endParaRPr sz="2000">
              <a:latin typeface="Verdana"/>
              <a:cs typeface="Verdana"/>
            </a:endParaRPr>
          </a:p>
          <a:p>
            <a:pPr marL="187960" marR="5080" indent="-175260">
              <a:lnSpc>
                <a:spcPts val="2160"/>
              </a:lnSpc>
              <a:spcBef>
                <a:spcPts val="168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Could </a:t>
            </a:r>
            <a:r>
              <a:rPr sz="2000" dirty="0">
                <a:latin typeface="Verdana"/>
                <a:cs typeface="Verdana"/>
              </a:rPr>
              <a:t>you use </a:t>
            </a:r>
            <a:r>
              <a:rPr sz="2000" spc="-5" dirty="0">
                <a:latin typeface="Verdana"/>
                <a:cs typeface="Verdana"/>
              </a:rPr>
              <a:t>the remote </a:t>
            </a:r>
            <a:r>
              <a:rPr sz="2000" dirty="0">
                <a:latin typeface="Verdana"/>
                <a:cs typeface="Verdana"/>
              </a:rPr>
              <a:t>access </a:t>
            </a:r>
            <a:r>
              <a:rPr sz="2000" spc="-5" dirty="0">
                <a:latin typeface="Verdana"/>
                <a:cs typeface="Verdana"/>
              </a:rPr>
              <a:t>NAP </a:t>
            </a:r>
            <a:r>
              <a:rPr sz="2000" dirty="0">
                <a:latin typeface="Verdana"/>
                <a:cs typeface="Verdana"/>
              </a:rPr>
              <a:t>solution </a:t>
            </a:r>
            <a:r>
              <a:rPr sz="2000" spc="-5" dirty="0">
                <a:latin typeface="Verdana"/>
                <a:cs typeface="Verdana"/>
              </a:rPr>
              <a:t>alongside  the </a:t>
            </a:r>
            <a:r>
              <a:rPr sz="2000" dirty="0">
                <a:latin typeface="Verdana"/>
                <a:cs typeface="Verdana"/>
              </a:rPr>
              <a:t>IPsec </a:t>
            </a:r>
            <a:r>
              <a:rPr sz="2000" spc="-5" dirty="0">
                <a:latin typeface="Verdana"/>
                <a:cs typeface="Verdana"/>
              </a:rPr>
              <a:t>NAP </a:t>
            </a:r>
            <a:r>
              <a:rPr sz="2000" dirty="0">
                <a:latin typeface="Verdana"/>
                <a:cs typeface="Verdana"/>
              </a:rPr>
              <a:t>solution? What </a:t>
            </a:r>
            <a:r>
              <a:rPr sz="2000" spc="-5" dirty="0">
                <a:latin typeface="Verdana"/>
                <a:cs typeface="Verdana"/>
              </a:rPr>
              <a:t>benefit would be realized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by  </a:t>
            </a:r>
            <a:r>
              <a:rPr sz="2000" dirty="0">
                <a:latin typeface="Verdana"/>
                <a:cs typeface="Verdana"/>
              </a:rPr>
              <a:t>using such a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scenario?</a:t>
            </a:r>
            <a:endParaRPr sz="2000">
              <a:latin typeface="Verdana"/>
              <a:cs typeface="Verdana"/>
            </a:endParaRPr>
          </a:p>
          <a:p>
            <a:pPr marL="187960" marR="738505" indent="-175260">
              <a:lnSpc>
                <a:spcPts val="2160"/>
              </a:lnSpc>
              <a:spcBef>
                <a:spcPts val="1680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Could </a:t>
            </a:r>
            <a:r>
              <a:rPr sz="2000" dirty="0">
                <a:latin typeface="Verdana"/>
                <a:cs typeface="Verdana"/>
              </a:rPr>
              <a:t>you have used DHCP </a:t>
            </a:r>
            <a:r>
              <a:rPr sz="2000" spc="-5" dirty="0">
                <a:latin typeface="Verdana"/>
                <a:cs typeface="Verdana"/>
              </a:rPr>
              <a:t>NAP enforcement </a:t>
            </a:r>
            <a:r>
              <a:rPr sz="2000" dirty="0">
                <a:latin typeface="Verdana"/>
                <a:cs typeface="Verdana"/>
              </a:rPr>
              <a:t>for</a:t>
            </a:r>
            <a:r>
              <a:rPr sz="2000" spc="-15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the  client? </a:t>
            </a:r>
            <a:r>
              <a:rPr sz="2000" dirty="0">
                <a:latin typeface="Verdana"/>
                <a:cs typeface="Verdana"/>
              </a:rPr>
              <a:t>Why or why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not?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47802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Verdana"/>
                <a:cs typeface="Verdana"/>
              </a:rPr>
              <a:t>Module </a:t>
            </a:r>
            <a:r>
              <a:rPr sz="2400" spc="-10" dirty="0">
                <a:latin typeface="Verdana"/>
                <a:cs typeface="Verdana"/>
              </a:rPr>
              <a:t>Review </a:t>
            </a:r>
            <a:r>
              <a:rPr sz="2400" dirty="0">
                <a:latin typeface="Verdana"/>
                <a:cs typeface="Verdana"/>
              </a:rPr>
              <a:t>and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Takeaways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6328" y="946150"/>
            <a:ext cx="2458720" cy="819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7960" indent="-175260">
              <a:lnSpc>
                <a:spcPct val="100000"/>
              </a:lnSpc>
              <a:spcBef>
                <a:spcPts val="10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Review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Questions</a:t>
            </a:r>
            <a:endParaRPr sz="200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3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Tools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1454</Words>
  <Application>Microsoft Office PowerPoint</Application>
  <PresentationFormat>On-screen Show (4:3)</PresentationFormat>
  <Paragraphs>315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Times New Roman</vt:lpstr>
      <vt:lpstr>Verdana</vt:lpstr>
      <vt:lpstr>Office Theme</vt:lpstr>
      <vt:lpstr>Lecture 11</vt:lpstr>
      <vt:lpstr>Module Overview</vt:lpstr>
      <vt:lpstr>1: Overview of Network Access Protection</vt:lpstr>
      <vt:lpstr>What Is Network Access Protection?</vt:lpstr>
      <vt:lpstr>NAP Scenarios</vt:lpstr>
      <vt:lpstr>NAP Enforcement Methods</vt:lpstr>
      <vt:lpstr>NAP Platform Architecture</vt:lpstr>
      <vt:lpstr>  2: How NAP Works</vt:lpstr>
      <vt:lpstr>NAP Enforcement Processes</vt:lpstr>
      <vt:lpstr>IPsec Enforcement</vt:lpstr>
      <vt:lpstr>802.1x Enforcement</vt:lpstr>
      <vt:lpstr>VPN Enforcement</vt:lpstr>
      <vt:lpstr>DHCP Enforcement</vt:lpstr>
      <vt:lpstr>  3: Configuring NAP</vt:lpstr>
      <vt:lpstr>What Are System Health Validators?</vt:lpstr>
      <vt:lpstr>What Is a Health Policy?</vt:lpstr>
      <vt:lpstr>What Are Remediation Server Groups?</vt:lpstr>
      <vt:lpstr>NAP Client Configuration</vt:lpstr>
      <vt:lpstr>Demonstration: How to Configure Network  Access Policies</vt:lpstr>
      <vt:lpstr>  4: Monitoring and Troubleshooting NAP</vt:lpstr>
      <vt:lpstr>What Is NAP Tracing?</vt:lpstr>
      <vt:lpstr>Demonstration: How to Configure NAP Tracing</vt:lpstr>
      <vt:lpstr>Troubleshooting NAP with Netsh</vt:lpstr>
      <vt:lpstr>NAP Event Logs</vt:lpstr>
      <vt:lpstr>Lab: Implementing NAP into a VPN Remote  Access Solution</vt:lpstr>
      <vt:lpstr>Lab Scenario</vt:lpstr>
      <vt:lpstr>Lab Review</vt:lpstr>
      <vt:lpstr>Module Review and Takeaways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11</dc:title>
  <cp:lastModifiedBy>ADMIN</cp:lastModifiedBy>
  <cp:revision>2</cp:revision>
  <dcterms:created xsi:type="dcterms:W3CDTF">2020-11-25T06:00:55Z</dcterms:created>
  <dcterms:modified xsi:type="dcterms:W3CDTF">2020-11-25T06:16:29Z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2015-05-16T00:00:00Z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2020-11-25T00:00:00Z</vt:filetime>
  </property>
</Properties>
</file>