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5" r:id="rId1"/>
  </p:sldMasterIdLst>
  <p:notesMasterIdLst>
    <p:notesMasterId r:id="rId92"/>
  </p:notesMasterIdLst>
  <p:handoutMasterIdLst>
    <p:handoutMasterId r:id="rId93"/>
  </p:handoutMasterIdLst>
  <p:sldIdLst>
    <p:sldId id="257" r:id="rId2"/>
    <p:sldId id="258" r:id="rId3"/>
    <p:sldId id="261" r:id="rId4"/>
    <p:sldId id="259" r:id="rId5"/>
    <p:sldId id="260"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6" r:id="rId89"/>
    <p:sldId id="347" r:id="rId90"/>
    <p:sldId id="345" r:id="rId9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64" d="100"/>
          <a:sy n="64" d="100"/>
        </p:scale>
        <p:origin x="68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ms-MY"/>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D627E0-4A5C-4A61-AFAF-9BE3202BE4A3}" type="datetimeFigureOut">
              <a:rPr lang="ms-MY" smtClean="0"/>
              <a:pPr/>
              <a:t>12/09/2020</a:t>
            </a:fld>
            <a:endParaRPr lang="ms-MY"/>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ms-MY"/>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339ACA4-9E64-4F81-84ED-7F4034F59170}" type="slidenum">
              <a:rPr lang="ms-MY" smtClean="0"/>
              <a:pPr/>
              <a:t>‹#›</a:t>
            </a:fld>
            <a:endParaRPr lang="ms-MY"/>
          </a:p>
        </p:txBody>
      </p:sp>
    </p:spTree>
    <p:extLst>
      <p:ext uri="{BB962C8B-B14F-4D97-AF65-F5344CB8AC3E}">
        <p14:creationId xmlns:p14="http://schemas.microsoft.com/office/powerpoint/2010/main" val="26309580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dirty="0">
                <a:latin typeface="Times" pitchFamily="-111" charset="0"/>
              </a:defRPr>
            </a:lvl1pPr>
          </a:lstStyle>
          <a:p>
            <a:pPr>
              <a:defRPr/>
            </a:pPr>
            <a:endParaRPr lang="en-US"/>
          </a:p>
        </p:txBody>
      </p:sp>
      <p:sp>
        <p:nvSpPr>
          <p:cNvPr id="9219" name="Rectangle 3"/>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dirty="0">
                <a:latin typeface="Times" pitchFamily="-111"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dirty="0">
                <a:latin typeface="Times" pitchFamily="-111" charset="0"/>
              </a:defRPr>
            </a:lvl1pPr>
          </a:lstStyle>
          <a:p>
            <a:pPr>
              <a:defRPr/>
            </a:pPr>
            <a:endParaRPr lang="en-US"/>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111" charset="0"/>
              </a:defRPr>
            </a:lvl1pPr>
          </a:lstStyle>
          <a:p>
            <a:pPr>
              <a:defRPr/>
            </a:pPr>
            <a:fld id="{8A1BAB3D-3090-4F19-B461-852646594BCF}" type="slidenum">
              <a:rPr lang="en-US"/>
              <a:pPr>
                <a:defRPr/>
              </a:pPr>
              <a:t>‹#›</a:t>
            </a:fld>
            <a:endParaRPr lang="en-US" dirty="0"/>
          </a:p>
        </p:txBody>
      </p:sp>
    </p:spTree>
    <p:extLst>
      <p:ext uri="{BB962C8B-B14F-4D97-AF65-F5344CB8AC3E}">
        <p14:creationId xmlns:p14="http://schemas.microsoft.com/office/powerpoint/2010/main" val="28744262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11"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2pPr>
    <a:lvl3pPr marL="9144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3pPr>
    <a:lvl4pPr marL="13716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4pPr>
    <a:lvl5pPr marL="18288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391189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291553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19374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786434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947551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675880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670655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525581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4977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966368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19168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114806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03643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165559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416111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998842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584969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790236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88054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35073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697904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163237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591739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7780692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420469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951720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739865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9730057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78066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273234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9098418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723357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935545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71235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5453351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6509263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7844650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183577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858750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4250631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2238284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3039476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8568384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1899771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2853751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2516050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005379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132982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4866116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5175766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8979332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1104659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7309747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1684347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4932431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553175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9116456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0384622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0144090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6731194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7150836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0675544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6039014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5172494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5716889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493587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2355885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985103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321603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3808858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2931539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96831641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9541889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21599803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65535593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048619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2303609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1083925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387624381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81</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9479322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82</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11097531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83</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000813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84</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814650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85</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81831575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86</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45282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87</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8844528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88</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32592900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89</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18052124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90</a:t>
            </a:fld>
            <a:endParaRPr lang="en-US" smtClean="0">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smtClean="0">
              <a:latin typeface="Times New Roman" pitchFamily="18" charset="0"/>
            </a:endParaRPr>
          </a:p>
        </p:txBody>
      </p:sp>
    </p:spTree>
    <p:extLst>
      <p:ext uri="{BB962C8B-B14F-4D97-AF65-F5344CB8AC3E}">
        <p14:creationId xmlns:p14="http://schemas.microsoft.com/office/powerpoint/2010/main" val="2548378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2" descr="Canvas"/>
          <p:cNvSpPr>
            <a:spLocks noChangeArrowheads="1"/>
          </p:cNvSpPr>
          <p:nvPr/>
        </p:nvSpPr>
        <p:spPr bwMode="white">
          <a:xfrm>
            <a:off x="528638" y="201613"/>
            <a:ext cx="8397875" cy="6467475"/>
          </a:xfrm>
          <a:prstGeom prst="rect">
            <a:avLst/>
          </a:prstGeom>
          <a:blipFill dpi="0" rotWithShape="0">
            <a:blip r:embed="rId2"/>
            <a:srcRect/>
            <a:tile tx="0" ty="0" sx="100000" sy="100000" flip="none" algn="tl"/>
          </a:blipFill>
          <a:ln w="9525">
            <a:noFill/>
            <a:miter lim="800000"/>
            <a:headEnd/>
            <a:tailEnd/>
          </a:ln>
        </p:spPr>
        <p:txBody>
          <a:bodyPr wrap="none" anchor="ctr"/>
          <a:lstStyle/>
          <a:p>
            <a:pPr algn="ctr">
              <a:defRPr/>
            </a:pPr>
            <a:endParaRPr kumimoji="1" lang="en-US" dirty="0">
              <a:latin typeface="Times New Roman" pitchFamily="-111" charset="0"/>
            </a:endParaRPr>
          </a:p>
        </p:txBody>
      </p:sp>
      <p:pic>
        <p:nvPicPr>
          <p:cNvPr id="5" name="Picture 3" descr="A:\minispir.GIF"/>
          <p:cNvPicPr>
            <a:picLocks noChangeAspect="1" noChangeArrowheads="1"/>
          </p:cNvPicPr>
          <p:nvPr/>
        </p:nvPicPr>
        <p:blipFill>
          <a:blip r:embed="rId3"/>
          <a:srcRect/>
          <a:stretch>
            <a:fillRect/>
          </a:stretch>
        </p:blipFill>
        <p:spPr bwMode="ltGray">
          <a:xfrm>
            <a:off x="0" y="50800"/>
            <a:ext cx="1181100" cy="4286250"/>
          </a:xfrm>
          <a:prstGeom prst="rect">
            <a:avLst/>
          </a:prstGeom>
          <a:noFill/>
          <a:ln w="9525">
            <a:noFill/>
            <a:miter lim="800000"/>
            <a:headEnd/>
            <a:tailEnd/>
          </a:ln>
        </p:spPr>
      </p:pic>
      <p:sp>
        <p:nvSpPr>
          <p:cNvPr id="6" name="Rectangle 4" descr="Canvas"/>
          <p:cNvSpPr>
            <a:spLocks noChangeArrowheads="1"/>
          </p:cNvSpPr>
          <p:nvPr/>
        </p:nvSpPr>
        <p:spPr bwMode="white">
          <a:xfrm>
            <a:off x="596900" y="4130675"/>
            <a:ext cx="1041400" cy="457200"/>
          </a:xfrm>
          <a:prstGeom prst="rect">
            <a:avLst/>
          </a:prstGeom>
          <a:blipFill dpi="0" rotWithShape="0">
            <a:blip r:embed="rId2"/>
            <a:srcRect/>
            <a:tile tx="0" ty="0" sx="100000" sy="100000" flip="none" algn="tl"/>
          </a:blipFill>
          <a:ln w="9525">
            <a:noFill/>
            <a:miter lim="800000"/>
            <a:headEnd/>
            <a:tailEnd/>
          </a:ln>
          <a:effectLst/>
        </p:spPr>
        <p:txBody>
          <a:bodyPr wrap="none" anchor="ctr"/>
          <a:lstStyle/>
          <a:p>
            <a:pPr algn="ctr">
              <a:defRPr/>
            </a:pPr>
            <a:endParaRPr kumimoji="1" lang="en-US" dirty="0">
              <a:latin typeface="Times New Roman" pitchFamily="-111" charset="0"/>
            </a:endParaRPr>
          </a:p>
        </p:txBody>
      </p:sp>
      <p:pic>
        <p:nvPicPr>
          <p:cNvPr id="7" name="Picture 5" descr="A:\minispir.GIF"/>
          <p:cNvPicPr>
            <a:picLocks noChangeAspect="1" noChangeArrowheads="1"/>
          </p:cNvPicPr>
          <p:nvPr/>
        </p:nvPicPr>
        <p:blipFill>
          <a:blip r:embed="rId3"/>
          <a:srcRect t="39999"/>
          <a:stretch>
            <a:fillRect/>
          </a:stretch>
        </p:blipFill>
        <p:spPr bwMode="ltGray">
          <a:xfrm>
            <a:off x="0" y="4222750"/>
            <a:ext cx="1181100" cy="2571750"/>
          </a:xfrm>
          <a:prstGeom prst="rect">
            <a:avLst/>
          </a:prstGeom>
          <a:noFill/>
          <a:ln w="9525">
            <a:noFill/>
            <a:miter lim="800000"/>
            <a:headEnd/>
            <a:tailEnd/>
          </a:ln>
        </p:spPr>
      </p:pic>
      <p:sp>
        <p:nvSpPr>
          <p:cNvPr id="56326" name="Rectangle 6"/>
          <p:cNvSpPr>
            <a:spLocks noGrp="1" noChangeArrowheads="1"/>
          </p:cNvSpPr>
          <p:nvPr>
            <p:ph type="ctrTitle"/>
          </p:nvPr>
        </p:nvSpPr>
        <p:spPr>
          <a:xfrm>
            <a:off x="914400" y="2057400"/>
            <a:ext cx="7721600" cy="1143000"/>
          </a:xfrm>
        </p:spPr>
        <p:txBody>
          <a:bodyPr/>
          <a:lstStyle>
            <a:lvl1pPr>
              <a:defRPr/>
            </a:lvl1pPr>
          </a:lstStyle>
          <a:p>
            <a:r>
              <a:rPr lang="en-US"/>
              <a:t>Click to edit Master title style</a:t>
            </a:r>
          </a:p>
        </p:txBody>
      </p:sp>
      <p:sp>
        <p:nvSpPr>
          <p:cNvPr id="56327" name="Rectangle 7"/>
          <p:cNvSpPr>
            <a:spLocks noGrp="1" noChangeArrowheads="1"/>
          </p:cNvSpPr>
          <p:nvPr>
            <p:ph type="subTitle" idx="1"/>
          </p:nvPr>
        </p:nvSpPr>
        <p:spPr>
          <a:xfrm>
            <a:off x="1625600" y="3886200"/>
            <a:ext cx="6400800" cy="1771650"/>
          </a:xfrm>
        </p:spPr>
        <p:txBody>
          <a:bodyPr/>
          <a:lstStyle>
            <a:lvl1pPr marL="0" indent="0" algn="ctr">
              <a:buFontTx/>
              <a:buNone/>
              <a:defRPr/>
            </a:lvl1pPr>
          </a:lstStyle>
          <a:p>
            <a:r>
              <a:rPr lang="en-US"/>
              <a:t>Click to edit Master subtitle style</a:t>
            </a:r>
          </a:p>
        </p:txBody>
      </p:sp>
      <p:sp>
        <p:nvSpPr>
          <p:cNvPr id="8" name="Rectangle 8"/>
          <p:cNvSpPr>
            <a:spLocks noGrp="1" noChangeArrowheads="1"/>
          </p:cNvSpPr>
          <p:nvPr>
            <p:ph type="dt" sz="quarter" idx="10"/>
          </p:nvPr>
        </p:nvSpPr>
        <p:spPr/>
        <p:txBody>
          <a:bodyPr/>
          <a:lstStyle>
            <a:lvl1pPr>
              <a:defRPr/>
            </a:lvl1pPr>
          </a:lstStyle>
          <a:p>
            <a:pPr>
              <a:defRPr/>
            </a:pPr>
            <a:fld id="{3C9F8DD8-851B-45FC-B390-FC4D962E02B9}" type="datetime1">
              <a:rPr lang="en-US" smtClean="0"/>
              <a:pPr>
                <a:defRPr/>
              </a:pPr>
              <a:t>9/12/2020</a:t>
            </a:fld>
            <a:endParaRPr lang="en-US" dirty="0"/>
          </a:p>
        </p:txBody>
      </p:sp>
      <p:sp>
        <p:nvSpPr>
          <p:cNvPr id="9" name="Rectangle 9"/>
          <p:cNvSpPr>
            <a:spLocks noGrp="1" noChangeArrowheads="1"/>
          </p:cNvSpPr>
          <p:nvPr>
            <p:ph type="ftr" sz="quarter" idx="11"/>
          </p:nvPr>
        </p:nvSpPr>
        <p:spPr/>
        <p:txBody>
          <a:bodyPr/>
          <a:lstStyle>
            <a:lvl1pPr>
              <a:defRPr dirty="0"/>
            </a:lvl1pPr>
          </a:lstStyle>
          <a:p>
            <a:pPr>
              <a:defRPr/>
            </a:pPr>
            <a:r>
              <a:rPr lang="en-US" smtClean="0"/>
              <a:t>Principles of Networking  &amp; System Administration</a:t>
            </a:r>
            <a:endParaRPr lang="en-US" dirty="0"/>
          </a:p>
        </p:txBody>
      </p:sp>
      <p:sp>
        <p:nvSpPr>
          <p:cNvPr id="10" name="Rectangle 10"/>
          <p:cNvSpPr>
            <a:spLocks noGrp="1" noChangeArrowheads="1"/>
          </p:cNvSpPr>
          <p:nvPr>
            <p:ph type="sldNum" sz="quarter" idx="12"/>
          </p:nvPr>
        </p:nvSpPr>
        <p:spPr/>
        <p:txBody>
          <a:bodyPr/>
          <a:lstStyle>
            <a:lvl1pPr>
              <a:defRPr/>
            </a:lvl1pPr>
          </a:lstStyle>
          <a:p>
            <a:pPr>
              <a:defRPr/>
            </a:pPr>
            <a:fld id="{7ACED997-C1EE-4CD7-B637-75AE2488A81B}"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a:outerShdw blurRad="63500" dist="107763" dir="2700000" algn="ctr" rotWithShape="0">
            <a:srgbClr val="000000">
              <a:alpha val="74998"/>
            </a:srgbClr>
          </a:outerShdw>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1066800" y="381000"/>
            <a:ext cx="7620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7"/>
          <p:cNvSpPr>
            <a:spLocks noGrp="1" noChangeArrowheads="1"/>
          </p:cNvSpPr>
          <p:nvPr>
            <p:ph type="body" idx="1"/>
          </p:nvPr>
        </p:nvSpPr>
        <p:spPr bwMode="auto">
          <a:xfrm>
            <a:off x="1066800" y="1752600"/>
            <a:ext cx="76200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5" name="Rectangle 8"/>
          <p:cNvSpPr>
            <a:spLocks noGrp="1" noChangeArrowheads="1"/>
          </p:cNvSpPr>
          <p:nvPr>
            <p:ph type="dt" sz="quarter" idx="2"/>
          </p:nvPr>
        </p:nvSpPr>
        <p:spPr bwMode="auto">
          <a:xfrm>
            <a:off x="1084263" y="60960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FB707DEA-7D89-4008-B1BA-93FE87117A33}" type="datetime1">
              <a:rPr lang="en-US" smtClean="0"/>
              <a:pPr>
                <a:defRPr/>
              </a:pPr>
              <a:t>9/12/2020</a:t>
            </a:fld>
            <a:endParaRPr lang="en-US" dirty="0"/>
          </a:p>
        </p:txBody>
      </p:sp>
      <p:sp>
        <p:nvSpPr>
          <p:cNvPr id="16" name="Rectangle 9"/>
          <p:cNvSpPr>
            <a:spLocks noGrp="1" noChangeArrowheads="1"/>
          </p:cNvSpPr>
          <p:nvPr>
            <p:ph type="ftr" sz="quarter" idx="3"/>
          </p:nvPr>
        </p:nvSpPr>
        <p:spPr bwMode="auto">
          <a:xfrm>
            <a:off x="3522663" y="60960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dirty="0"/>
            </a:lvl1pPr>
          </a:lstStyle>
          <a:p>
            <a:pPr>
              <a:defRPr/>
            </a:pPr>
            <a:r>
              <a:rPr lang="en-US" smtClean="0"/>
              <a:t>Principles of Networking  &amp; System Administration</a:t>
            </a:r>
            <a:endParaRPr lang="en-US" dirty="0"/>
          </a:p>
        </p:txBody>
      </p:sp>
      <p:sp>
        <p:nvSpPr>
          <p:cNvPr id="17" name="Rectangle 10"/>
          <p:cNvSpPr>
            <a:spLocks noGrp="1" noChangeArrowheads="1"/>
          </p:cNvSpPr>
          <p:nvPr>
            <p:ph type="sldNum" sz="quarter" idx="4"/>
          </p:nvPr>
        </p:nvSpPr>
        <p:spPr bwMode="auto">
          <a:xfrm>
            <a:off x="6951663" y="60960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a:latin typeface="Times New Roman" pitchFamily="-111" charset="0"/>
              </a:defRPr>
            </a:lvl1pPr>
          </a:lstStyle>
          <a:p>
            <a:pPr>
              <a:defRPr/>
            </a:pPr>
            <a:fld id="{213464E6-451B-4C51-980D-0288596E018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7" r:id="rId1"/>
  </p:sldLayoutIdLst>
  <p:hf hdr="0" dt="0"/>
  <p:txStyles>
    <p:titleStyle>
      <a:lvl1pPr algn="ctr" rtl="0" eaLnBrk="0" fontAlgn="base" hangingPunct="0">
        <a:spcBef>
          <a:spcPct val="0"/>
        </a:spcBef>
        <a:spcAft>
          <a:spcPct val="0"/>
        </a:spcAft>
        <a:defRPr sz="4400">
          <a:solidFill>
            <a:schemeClr val="tx2"/>
          </a:solidFill>
          <a:latin typeface="Arial" charset="0"/>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Times New Roman" pitchFamily="-111" charset="0"/>
        </a:defRPr>
      </a:lvl6pPr>
      <a:lvl7pPr marL="914400" algn="ctr" rtl="0" fontAlgn="base">
        <a:spcBef>
          <a:spcPct val="0"/>
        </a:spcBef>
        <a:spcAft>
          <a:spcPct val="0"/>
        </a:spcAft>
        <a:defRPr sz="4400">
          <a:solidFill>
            <a:schemeClr val="tx2"/>
          </a:solidFill>
          <a:latin typeface="Times New Roman" pitchFamily="-111" charset="0"/>
        </a:defRPr>
      </a:lvl7pPr>
      <a:lvl8pPr marL="1371600" algn="ctr" rtl="0" fontAlgn="base">
        <a:spcBef>
          <a:spcPct val="0"/>
        </a:spcBef>
        <a:spcAft>
          <a:spcPct val="0"/>
        </a:spcAft>
        <a:defRPr sz="4400">
          <a:solidFill>
            <a:schemeClr val="tx2"/>
          </a:solidFill>
          <a:latin typeface="Times New Roman" pitchFamily="-111" charset="0"/>
        </a:defRPr>
      </a:lvl8pPr>
      <a:lvl9pPr marL="1828800" algn="ctr" rtl="0" fontAlgn="base">
        <a:spcBef>
          <a:spcPct val="0"/>
        </a:spcBef>
        <a:spcAft>
          <a:spcPct val="0"/>
        </a:spcAft>
        <a:defRPr sz="4400">
          <a:solidFill>
            <a:schemeClr val="tx2"/>
          </a:solidFill>
          <a:latin typeface="Times New Roman" pitchFamily="-111"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ea typeface="ＭＳ Ｐゴシック" pitchFamily="-111" charset="-128"/>
          <a:cs typeface="ＭＳ Ｐゴシック"/>
        </a:defRPr>
      </a:lvl2pPr>
      <a:lvl3pPr marL="1143000" indent="-228600" algn="l" rtl="0" eaLnBrk="0" fontAlgn="base" hangingPunct="0">
        <a:spcBef>
          <a:spcPct val="20000"/>
        </a:spcBef>
        <a:spcAft>
          <a:spcPct val="0"/>
        </a:spcAft>
        <a:buChar char="•"/>
        <a:defRPr sz="2400">
          <a:solidFill>
            <a:schemeClr val="tx1"/>
          </a:solidFill>
          <a:latin typeface="Arial" charset="0"/>
          <a:ea typeface="ＭＳ Ｐゴシック" pitchFamily="-111" charset="-128"/>
          <a:cs typeface="ＭＳ Ｐゴシック"/>
        </a:defRPr>
      </a:lvl3pPr>
      <a:lvl4pPr marL="1600200" indent="-228600" algn="l" rtl="0" eaLnBrk="0" fontAlgn="base" hangingPunct="0">
        <a:spcBef>
          <a:spcPct val="20000"/>
        </a:spcBef>
        <a:spcAft>
          <a:spcPct val="0"/>
        </a:spcAft>
        <a:buChar char="–"/>
        <a:defRPr sz="2000">
          <a:solidFill>
            <a:schemeClr val="tx1"/>
          </a:solidFill>
          <a:latin typeface="Arial" charset="0"/>
          <a:ea typeface="ＭＳ Ｐゴシック" pitchFamily="-111" charset="-128"/>
          <a:cs typeface="ＭＳ Ｐゴシック"/>
        </a:defRPr>
      </a:lvl4pPr>
      <a:lvl5pPr marL="2057400" indent="-228600" algn="l" rtl="0" eaLnBrk="0" fontAlgn="base" hangingPunct="0">
        <a:spcBef>
          <a:spcPct val="20000"/>
        </a:spcBef>
        <a:spcAft>
          <a:spcPct val="0"/>
        </a:spcAft>
        <a:buChar char="»"/>
        <a:defRPr sz="2000">
          <a:solidFill>
            <a:schemeClr val="tx1"/>
          </a:solidFill>
          <a:latin typeface="Arial" charset="0"/>
          <a:ea typeface="ＭＳ Ｐゴシック" pitchFamily="-111" charset="-128"/>
          <a:cs typeface="ＭＳ Ｐゴシック"/>
        </a:defRPr>
      </a:lvl5pPr>
      <a:lvl6pPr marL="2514600" indent="-228600" algn="l" rtl="0" fontAlgn="base">
        <a:spcBef>
          <a:spcPct val="20000"/>
        </a:spcBef>
        <a:spcAft>
          <a:spcPct val="0"/>
        </a:spcAft>
        <a:buChar char="»"/>
        <a:defRPr sz="2000">
          <a:solidFill>
            <a:schemeClr val="tx1"/>
          </a:solidFill>
          <a:latin typeface="+mn-lt"/>
          <a:ea typeface="ＭＳ Ｐゴシック" pitchFamily="-111"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11"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11"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11" charset="-128"/>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9"/>
          <p:cNvSpPr>
            <a:spLocks noGrp="1" noChangeArrowheads="1"/>
          </p:cNvSpPr>
          <p:nvPr>
            <p:ph type="ftr" sz="quarter" idx="11"/>
          </p:nvPr>
        </p:nvSpPr>
        <p:spPr>
          <a:noFill/>
        </p:spPr>
        <p:txBody>
          <a:bodyPr/>
          <a:lstStyle/>
          <a:p>
            <a:r>
              <a:rPr lang="en-US" dirty="0"/>
              <a:t>n</a:t>
            </a:r>
            <a:r>
              <a:rPr lang="en-US" dirty="0" smtClean="0"/>
              <a:t>hungfit@hanu.edu.vn</a:t>
            </a:r>
            <a:endParaRPr lang="en-US" dirty="0" smtClean="0"/>
          </a:p>
        </p:txBody>
      </p:sp>
      <p:sp>
        <p:nvSpPr>
          <p:cNvPr id="4098" name="Rectangle 10"/>
          <p:cNvSpPr>
            <a:spLocks noGrp="1" noChangeArrowheads="1"/>
          </p:cNvSpPr>
          <p:nvPr>
            <p:ph type="sldNum" sz="quarter" idx="12"/>
          </p:nvPr>
        </p:nvSpPr>
        <p:spPr>
          <a:noFill/>
        </p:spPr>
        <p:txBody>
          <a:bodyPr/>
          <a:lstStyle/>
          <a:p>
            <a:fld id="{162DDB82-6020-4CB8-B26C-0C1F34BD6477}" type="slidenum">
              <a:rPr lang="en-US" smtClean="0">
                <a:latin typeface="Times New Roman" pitchFamily="18" charset="0"/>
              </a:rPr>
              <a:pPr/>
              <a:t>1</a:t>
            </a:fld>
            <a:endParaRPr lang="en-US" smtClean="0">
              <a:latin typeface="Times New Roman" pitchFamily="18" charset="0"/>
            </a:endParaRPr>
          </a:p>
        </p:txBody>
      </p:sp>
      <p:sp>
        <p:nvSpPr>
          <p:cNvPr id="4099" name="Rectangle 2"/>
          <p:cNvSpPr>
            <a:spLocks noGrp="1" noChangeArrowheads="1"/>
          </p:cNvSpPr>
          <p:nvPr>
            <p:ph type="ctrTitle"/>
          </p:nvPr>
        </p:nvSpPr>
        <p:spPr>
          <a:xfrm>
            <a:off x="990600" y="3886200"/>
            <a:ext cx="7721600" cy="1143000"/>
          </a:xfrm>
        </p:spPr>
        <p:txBody>
          <a:bodyPr/>
          <a:lstStyle/>
          <a:p>
            <a:pPr eaLnBrk="1" hangingPunct="1"/>
            <a:r>
              <a:rPr kumimoji="1" lang="en-US" dirty="0" smtClean="0">
                <a:latin typeface="Times New Roman" pitchFamily="18" charset="0"/>
              </a:rPr>
              <a:t>Chapter 2: System Components</a:t>
            </a:r>
          </a:p>
        </p:txBody>
      </p:sp>
      <p:sp>
        <p:nvSpPr>
          <p:cNvPr id="4100" name="Rectangle 3"/>
          <p:cNvSpPr>
            <a:spLocks noGrp="1" noChangeArrowheads="1"/>
          </p:cNvSpPr>
          <p:nvPr>
            <p:ph type="subTitle" idx="1"/>
          </p:nvPr>
        </p:nvSpPr>
        <p:spPr>
          <a:xfrm>
            <a:off x="1752600" y="1524000"/>
            <a:ext cx="6400800" cy="1771650"/>
          </a:xfrm>
        </p:spPr>
        <p:txBody>
          <a:bodyPr/>
          <a:lstStyle/>
          <a:p>
            <a:pPr eaLnBrk="1" hangingPunct="1"/>
            <a:r>
              <a:rPr kumimoji="1" lang="en-US" dirty="0" smtClean="0">
                <a:latin typeface="Times New Roman" pitchFamily="18" charset="0"/>
              </a:rPr>
              <a:t>Principle </a:t>
            </a:r>
            <a:r>
              <a:rPr kumimoji="1" lang="en-US" dirty="0" smtClean="0">
                <a:latin typeface="Times New Roman" pitchFamily="18" charset="0"/>
              </a:rPr>
              <a:t>of Network &amp; System </a:t>
            </a:r>
            <a:r>
              <a:rPr kumimoji="1" lang="en-US" dirty="0" smtClean="0">
                <a:latin typeface="Times New Roman" pitchFamily="18" charset="0"/>
              </a:rPr>
              <a:t>Administrator</a:t>
            </a:r>
            <a:endParaRPr kumimoji="1" lang="en-US" dirty="0" smtClean="0">
              <a:latin typeface="Times New Roman" pitchFamily="18" charset="0"/>
            </a:endParaRPr>
          </a:p>
          <a:p>
            <a:pPr eaLnBrk="1" hangingPunct="1"/>
            <a:endParaRPr kumimoji="1" lang="en-US" dirty="0" smtClean="0">
              <a:latin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What is systems </a:t>
            </a:r>
          </a:p>
        </p:txBody>
      </p:sp>
      <p:sp>
        <p:nvSpPr>
          <p:cNvPr id="5124" name="Rectangle 3"/>
          <p:cNvSpPr>
            <a:spLocks noGrp="1" noChangeArrowheads="1"/>
          </p:cNvSpPr>
          <p:nvPr>
            <p:ph type="body" idx="4294967295"/>
          </p:nvPr>
        </p:nvSpPr>
        <p:spPr/>
        <p:txBody>
          <a:bodyPr lIns="92075" tIns="46038" rIns="92075" bIns="46038"/>
          <a:lstStyle/>
          <a:p>
            <a:pPr eaLnBrk="1" hangingPunct="1">
              <a:lnSpc>
                <a:spcPct val="80000"/>
              </a:lnSpc>
            </a:pPr>
            <a:r>
              <a:rPr kumimoji="1" lang="en-US" sz="2400" dirty="0" smtClean="0">
                <a:latin typeface="Times" pitchFamily="18" charset="0"/>
                <a:ea typeface="ＭＳ Ｐゴシック"/>
              </a:rPr>
              <a:t>System refer to both to operating system of computer, collectively the set of computers that cooperate in a network</a:t>
            </a:r>
          </a:p>
          <a:p>
            <a:pPr eaLnBrk="1" hangingPunct="1">
              <a:lnSpc>
                <a:spcPct val="80000"/>
              </a:lnSpc>
            </a:pPr>
            <a:r>
              <a:rPr kumimoji="1" lang="en-US" sz="2400" dirty="0" smtClean="0">
                <a:latin typeface="Times" pitchFamily="18" charset="0"/>
                <a:ea typeface="ＭＳ Ｐゴシック"/>
              </a:rPr>
              <a:t>Def 1 : human – computer system : an organized collaboration between human and computer to solve a problem  or provide a service.</a:t>
            </a:r>
          </a:p>
          <a:p>
            <a:pPr eaLnBrk="1" hangingPunct="1">
              <a:lnSpc>
                <a:spcPct val="80000"/>
              </a:lnSpc>
            </a:pPr>
            <a:r>
              <a:rPr kumimoji="1" lang="en-US" sz="2400" dirty="0" smtClean="0">
                <a:latin typeface="Times" pitchFamily="18" charset="0"/>
                <a:ea typeface="ＭＳ Ｐゴシック"/>
              </a:rPr>
              <a:t>Term operating systems has no rigorously accepted definition. Its often thought of as the collection of all programs bundled with a computer, combining  kernel of basic services and utilities for users</a:t>
            </a:r>
          </a:p>
          <a:p>
            <a:pPr eaLnBrk="1" hangingPunct="1">
              <a:lnSpc>
                <a:spcPct val="80000"/>
              </a:lnSpc>
              <a:buNone/>
            </a:pPr>
            <a:endParaRPr kumimoji="1" lang="en-US" sz="24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 Infrastructure</a:t>
            </a:r>
          </a:p>
        </p:txBody>
      </p:sp>
      <p:sp>
        <p:nvSpPr>
          <p:cNvPr id="5124" name="Rectangle 3"/>
          <p:cNvSpPr>
            <a:spLocks noGrp="1" noChangeArrowheads="1"/>
          </p:cNvSpPr>
          <p:nvPr>
            <p:ph type="body" idx="4294967295"/>
          </p:nvPr>
        </p:nvSpPr>
        <p:spPr>
          <a:xfrm>
            <a:off x="1066800" y="1752600"/>
            <a:ext cx="7620000" cy="4343400"/>
          </a:xfrm>
        </p:spPr>
        <p:txBody>
          <a:bodyPr lIns="92075" tIns="46038" rIns="92075" bIns="46038"/>
          <a:lstStyle/>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endParaRPr kumimoji="1" lang="en-US" sz="2400" dirty="0" smtClean="0">
              <a:latin typeface="Times" pitchFamily="18" charset="0"/>
              <a:ea typeface="ＭＳ Ｐゴシック"/>
            </a:endParaRPr>
          </a:p>
          <a:p>
            <a:pPr eaLnBrk="1" hangingPunct="1">
              <a:lnSpc>
                <a:spcPct val="80000"/>
              </a:lnSpc>
              <a:buNone/>
            </a:pPr>
            <a:r>
              <a:rPr kumimoji="1" lang="en-US" sz="2000" dirty="0" smtClean="0">
                <a:latin typeface="Times" pitchFamily="18" charset="0"/>
                <a:ea typeface="ＭＳ Ｐゴシック"/>
              </a:rPr>
              <a:t>Figure 2.1 : some of key dependencies in system administration</a:t>
            </a:r>
          </a:p>
        </p:txBody>
      </p:sp>
      <p:pic>
        <p:nvPicPr>
          <p:cNvPr id="1026" name="Picture 2"/>
          <p:cNvPicPr>
            <a:picLocks noChangeAspect="1" noChangeArrowheads="1"/>
          </p:cNvPicPr>
          <p:nvPr/>
        </p:nvPicPr>
        <p:blipFill>
          <a:blip r:embed="rId3"/>
          <a:srcRect/>
          <a:stretch>
            <a:fillRect/>
          </a:stretch>
        </p:blipFill>
        <p:spPr bwMode="auto">
          <a:xfrm>
            <a:off x="1752600" y="1752600"/>
            <a:ext cx="6096000" cy="37116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 Infrastructure</a:t>
            </a:r>
          </a:p>
        </p:txBody>
      </p:sp>
      <p:sp>
        <p:nvSpPr>
          <p:cNvPr id="5124" name="Rectangle 3"/>
          <p:cNvSpPr>
            <a:spLocks noGrp="1" noChangeArrowheads="1"/>
          </p:cNvSpPr>
          <p:nvPr>
            <p:ph type="body" idx="4294967295"/>
          </p:nvPr>
        </p:nvSpPr>
        <p:spPr>
          <a:xfrm>
            <a:off x="1066800" y="1752600"/>
            <a:ext cx="7620000" cy="43434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Three main component in human – computer system</a:t>
            </a:r>
          </a:p>
          <a:p>
            <a:pPr eaLnBrk="1" hangingPunct="1">
              <a:lnSpc>
                <a:spcPct val="80000"/>
              </a:lnSpc>
            </a:pPr>
            <a:r>
              <a:rPr kumimoji="1" lang="en-US" sz="2400" dirty="0" smtClean="0">
                <a:latin typeface="Times" pitchFamily="18" charset="0"/>
                <a:ea typeface="ＭＳ Ｐゴシック"/>
              </a:rPr>
              <a:t>Human : who use and run the fixed infrastructure and cause most problems</a:t>
            </a:r>
          </a:p>
          <a:p>
            <a:pPr eaLnBrk="1" hangingPunct="1">
              <a:lnSpc>
                <a:spcPct val="80000"/>
              </a:lnSpc>
            </a:pPr>
            <a:r>
              <a:rPr kumimoji="1" lang="en-US" sz="2400" dirty="0" smtClean="0">
                <a:latin typeface="Times" pitchFamily="18" charset="0"/>
                <a:ea typeface="ＭＳ Ｐゴシック"/>
              </a:rPr>
              <a:t>Host computers : computer device that run software either in fixed or mobile location.</a:t>
            </a:r>
          </a:p>
          <a:p>
            <a:pPr eaLnBrk="1" hangingPunct="1">
              <a:lnSpc>
                <a:spcPct val="80000"/>
              </a:lnSpc>
            </a:pPr>
            <a:r>
              <a:rPr kumimoji="1" lang="en-US" sz="2400" dirty="0" smtClean="0">
                <a:latin typeface="Times" pitchFamily="18" charset="0"/>
                <a:ea typeface="ＭＳ Ｐゴシック"/>
              </a:rPr>
              <a:t>Network hardware : cover a variety of specialized device including the key component :</a:t>
            </a:r>
          </a:p>
          <a:p>
            <a:pPr lvl="1" eaLnBrk="1" hangingPunct="1">
              <a:lnSpc>
                <a:spcPct val="80000"/>
              </a:lnSpc>
            </a:pPr>
            <a:r>
              <a:rPr kumimoji="1" lang="en-US" sz="2000" dirty="0" smtClean="0">
                <a:latin typeface="Times" pitchFamily="18" charset="0"/>
                <a:ea typeface="ＭＳ Ｐゴシック"/>
              </a:rPr>
              <a:t>Dedicated computing device  that direct traffic around the internet. Routers talk at the IP address level or layer 3 . </a:t>
            </a:r>
          </a:p>
          <a:p>
            <a:pPr lvl="1" eaLnBrk="1" hangingPunct="1">
              <a:lnSpc>
                <a:spcPct val="80000"/>
              </a:lnSpc>
            </a:pPr>
            <a:r>
              <a:rPr kumimoji="1" lang="en-US" sz="2000" dirty="0" smtClean="0">
                <a:latin typeface="Times" pitchFamily="18" charset="0"/>
                <a:ea typeface="ＭＳ Ｐゴシック"/>
              </a:rPr>
              <a:t>Switches: fixed hardware devices that direct traffic around local area network. Switches talk at the level </a:t>
            </a:r>
            <a:r>
              <a:rPr kumimoji="1" lang="en-US" sz="2000" dirty="0" err="1" smtClean="0">
                <a:latin typeface="Times" pitchFamily="18" charset="0"/>
                <a:ea typeface="ＭＳ Ｐゴシック"/>
              </a:rPr>
              <a:t>ethernet</a:t>
            </a:r>
            <a:r>
              <a:rPr kumimoji="1" lang="en-US" sz="2000" dirty="0" smtClean="0">
                <a:latin typeface="Times" pitchFamily="18" charset="0"/>
                <a:ea typeface="ＭＳ Ｐゴシック"/>
              </a:rPr>
              <a:t> or layer 2 protocols.</a:t>
            </a:r>
          </a:p>
          <a:p>
            <a:pPr lvl="1" eaLnBrk="1" hangingPunct="1">
              <a:lnSpc>
                <a:spcPct val="80000"/>
              </a:lnSpc>
            </a:pPr>
            <a:r>
              <a:rPr kumimoji="1" lang="en-US" sz="2000" dirty="0" smtClean="0">
                <a:latin typeface="Times" pitchFamily="18" charset="0"/>
                <a:ea typeface="ＭＳ Ｐゴシック"/>
              </a:rPr>
              <a:t>Cables : There are many type of cable that interconnect device: fiber optic, twisted pair, null modem cables, and etc</a:t>
            </a:r>
            <a:endParaRPr kumimoji="1" lang="en-US" sz="24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endParaRPr lang="en-US" dirty="0" smtClean="0"/>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Computers</a:t>
            </a:r>
          </a:p>
        </p:txBody>
      </p:sp>
      <p:sp>
        <p:nvSpPr>
          <p:cNvPr id="5124" name="Rectangle 3"/>
          <p:cNvSpPr>
            <a:spLocks noGrp="1" noChangeArrowheads="1"/>
          </p:cNvSpPr>
          <p:nvPr>
            <p:ph type="body" idx="4294967295"/>
          </p:nvPr>
        </p:nvSpPr>
        <p:spPr>
          <a:xfrm>
            <a:off x="1066800" y="1752600"/>
            <a:ext cx="7620000" cy="43434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
            </a:r>
            <a:br>
              <a:rPr kumimoji="1" lang="en-US" sz="2400" dirty="0" smtClean="0">
                <a:latin typeface="Times" pitchFamily="18" charset="0"/>
                <a:ea typeface="ＭＳ Ｐゴシック"/>
              </a:rPr>
            </a:b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r>
              <a:rPr kumimoji="1" lang="en-US" sz="2000" dirty="0" smtClean="0">
                <a:latin typeface="Times" pitchFamily="18" charset="0"/>
                <a:ea typeface="ＭＳ Ｐゴシック"/>
              </a:rPr>
              <a:t>Figure 2.2: The basic elements of the von Neumann architecture</a:t>
            </a:r>
          </a:p>
        </p:txBody>
      </p:sp>
      <p:pic>
        <p:nvPicPr>
          <p:cNvPr id="1026" name="Picture 2"/>
          <p:cNvPicPr>
            <a:picLocks noChangeAspect="1" noChangeArrowheads="1"/>
          </p:cNvPicPr>
          <p:nvPr/>
        </p:nvPicPr>
        <p:blipFill>
          <a:blip r:embed="rId3"/>
          <a:srcRect/>
          <a:stretch>
            <a:fillRect/>
          </a:stretch>
        </p:blipFill>
        <p:spPr bwMode="auto">
          <a:xfrm>
            <a:off x="1981200" y="1600200"/>
            <a:ext cx="5791200" cy="38044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Computers</a:t>
            </a:r>
          </a:p>
        </p:txBody>
      </p:sp>
      <p:sp>
        <p:nvSpPr>
          <p:cNvPr id="5124" name="Rectangle 3"/>
          <p:cNvSpPr>
            <a:spLocks noGrp="1" noChangeArrowheads="1"/>
          </p:cNvSpPr>
          <p:nvPr>
            <p:ph type="body" idx="4294967295"/>
          </p:nvPr>
        </p:nvSpPr>
        <p:spPr>
          <a:xfrm>
            <a:off x="1066800" y="1752600"/>
            <a:ext cx="7620000" cy="43434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Each computer have :</a:t>
            </a:r>
          </a:p>
          <a:p>
            <a:pPr lvl="1" eaLnBrk="1" hangingPunct="1">
              <a:lnSpc>
                <a:spcPct val="80000"/>
              </a:lnSpc>
            </a:pPr>
            <a:r>
              <a:rPr kumimoji="1" lang="en-US" sz="2000" dirty="0" smtClean="0">
                <a:latin typeface="Times" pitchFamily="18" charset="0"/>
                <a:ea typeface="ＭＳ Ｐゴシック"/>
              </a:rPr>
              <a:t>Clock – derive a CPU</a:t>
            </a:r>
          </a:p>
          <a:p>
            <a:pPr lvl="1" eaLnBrk="1" hangingPunct="1">
              <a:lnSpc>
                <a:spcPct val="80000"/>
              </a:lnSpc>
            </a:pPr>
            <a:r>
              <a:rPr kumimoji="1" lang="en-US" sz="2000" dirty="0" smtClean="0">
                <a:latin typeface="Times" pitchFamily="18" charset="0"/>
                <a:ea typeface="ＭＳ Ｐゴシック"/>
              </a:rPr>
              <a:t>RAM</a:t>
            </a:r>
          </a:p>
          <a:p>
            <a:pPr lvl="1" eaLnBrk="1" hangingPunct="1">
              <a:lnSpc>
                <a:spcPct val="80000"/>
              </a:lnSpc>
            </a:pPr>
            <a:r>
              <a:rPr kumimoji="1" lang="en-US" sz="2000" dirty="0" smtClean="0">
                <a:latin typeface="Times" pitchFamily="18" charset="0"/>
                <a:ea typeface="ＭＳ Ｐゴシック"/>
              </a:rPr>
              <a:t>Array of other devices</a:t>
            </a:r>
          </a:p>
          <a:p>
            <a:pPr eaLnBrk="1" hangingPunct="1">
              <a:lnSpc>
                <a:spcPct val="80000"/>
              </a:lnSpc>
            </a:pPr>
            <a:r>
              <a:rPr kumimoji="1" lang="en-US" sz="2400" dirty="0" smtClean="0">
                <a:latin typeface="Times" pitchFamily="18" charset="0"/>
                <a:ea typeface="ＭＳ Ｐゴシック"/>
              </a:rPr>
              <a:t>To work all this together :</a:t>
            </a:r>
          </a:p>
          <a:p>
            <a:pPr lvl="1" eaLnBrk="1" hangingPunct="1">
              <a:lnSpc>
                <a:spcPct val="80000"/>
              </a:lnSpc>
            </a:pPr>
            <a:r>
              <a:rPr kumimoji="1" lang="en-US" sz="2000" dirty="0" smtClean="0">
                <a:latin typeface="Times" pitchFamily="18" charset="0"/>
                <a:ea typeface="ＭＳ Ｐゴシック"/>
              </a:rPr>
              <a:t>CPU is design  to run program – read/write to h/ware devices.</a:t>
            </a:r>
          </a:p>
          <a:p>
            <a:pPr lvl="1" eaLnBrk="1" hangingPunct="1">
              <a:lnSpc>
                <a:spcPct val="80000"/>
              </a:lnSpc>
            </a:pPr>
            <a:r>
              <a:rPr kumimoji="1" lang="en-US" sz="2000" dirty="0" smtClean="0">
                <a:latin typeface="Times" pitchFamily="18" charset="0"/>
                <a:ea typeface="ＭＳ Ｐゴシック"/>
              </a:rPr>
              <a:t>OS – more important </a:t>
            </a:r>
          </a:p>
          <a:p>
            <a:pPr lvl="1" eaLnBrk="1" hangingPunct="1">
              <a:lnSpc>
                <a:spcPct val="80000"/>
              </a:lnSpc>
            </a:pPr>
            <a:r>
              <a:rPr kumimoji="1" lang="en-US" sz="2000" dirty="0" smtClean="0">
                <a:latin typeface="Times" pitchFamily="18" charset="0"/>
                <a:ea typeface="ＭＳ Ｐゴシック"/>
              </a:rPr>
              <a:t>Software layer provide working abstractions for programmers and users and consist of files, process and services.</a:t>
            </a:r>
          </a:p>
          <a:p>
            <a:pPr lvl="1" eaLnBrk="1" hangingPunct="1">
              <a:lnSpc>
                <a:spcPct val="80000"/>
              </a:lnSpc>
            </a:pPr>
            <a:r>
              <a:rPr kumimoji="1" lang="en-US" sz="2000" dirty="0" smtClean="0">
                <a:latin typeface="Times" pitchFamily="18" charset="0"/>
                <a:ea typeface="ＭＳ Ｐゴシック"/>
              </a:rPr>
              <a:t>Network is refer to part of the system that carry message from one node to another  by using wired/wireless.</a:t>
            </a:r>
          </a:p>
          <a:p>
            <a:pPr lvl="1" eaLnBrk="1" hangingPunct="1">
              <a:lnSpc>
                <a:spcPct val="80000"/>
              </a:lnSpc>
            </a:pPr>
            <a:r>
              <a:rPr kumimoji="1" lang="en-US" sz="2000" dirty="0" smtClean="0">
                <a:latin typeface="Times" pitchFamily="18" charset="0"/>
                <a:ea typeface="ＭＳ Ｐゴシック"/>
              </a:rPr>
              <a:t>All this part and level are working together  (system).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Handling Hardware</a:t>
            </a:r>
          </a:p>
        </p:txBody>
      </p:sp>
      <p:sp>
        <p:nvSpPr>
          <p:cNvPr id="5124" name="Rectangle 3"/>
          <p:cNvSpPr>
            <a:spLocks noGrp="1" noChangeArrowheads="1"/>
          </p:cNvSpPr>
          <p:nvPr>
            <p:ph type="body" idx="4294967295"/>
          </p:nvPr>
        </p:nvSpPr>
        <p:spPr>
          <a:xfrm>
            <a:off x="990600" y="1676400"/>
            <a:ext cx="7620000" cy="4343400"/>
          </a:xfrm>
        </p:spPr>
        <p:txBody>
          <a:bodyPr lIns="92075" tIns="46038" rIns="92075" bIns="46038"/>
          <a:lstStyle/>
          <a:p>
            <a:pPr eaLnBrk="1" hangingPunct="1">
              <a:lnSpc>
                <a:spcPct val="80000"/>
              </a:lnSpc>
            </a:pPr>
            <a:r>
              <a:rPr kumimoji="1" lang="en-US" sz="2000" dirty="0" smtClean="0">
                <a:latin typeface="Times" pitchFamily="18" charset="0"/>
                <a:ea typeface="ＭＳ Ｐゴシック"/>
              </a:rPr>
              <a:t>Electronic equipment should be treated as highly fragile and easy damaged.</a:t>
            </a:r>
          </a:p>
          <a:p>
            <a:pPr eaLnBrk="1" hangingPunct="1">
              <a:lnSpc>
                <a:spcPct val="80000"/>
              </a:lnSpc>
            </a:pPr>
            <a:r>
              <a:rPr kumimoji="1" lang="en-US" sz="2000" dirty="0" smtClean="0">
                <a:latin typeface="Times" pitchFamily="18" charset="0"/>
                <a:ea typeface="ＭＳ Ｐゴシック"/>
              </a:rPr>
              <a:t>Far too </a:t>
            </a:r>
            <a:r>
              <a:rPr kumimoji="1" lang="en-US" sz="2000" dirty="0" err="1" smtClean="0">
                <a:latin typeface="Times" pitchFamily="18" charset="0"/>
                <a:ea typeface="ＭＳ Ｐゴシック"/>
              </a:rPr>
              <a:t>blase</a:t>
            </a:r>
            <a:r>
              <a:rPr kumimoji="1" lang="en-US" sz="2000" dirty="0" smtClean="0">
                <a:latin typeface="Times" pitchFamily="18" charset="0"/>
                <a:ea typeface="ＭＳ Ｐゴシック"/>
              </a:rPr>
              <a:t> towards electronic equipment.</a:t>
            </a:r>
          </a:p>
          <a:p>
            <a:pPr lvl="1" eaLnBrk="1" hangingPunct="1">
              <a:lnSpc>
                <a:spcPct val="80000"/>
              </a:lnSpc>
            </a:pPr>
            <a:r>
              <a:rPr kumimoji="1" lang="en-US" sz="1600" dirty="0" smtClean="0">
                <a:latin typeface="Times" pitchFamily="18" charset="0"/>
                <a:ea typeface="ＭＳ Ｐゴシック"/>
              </a:rPr>
              <a:t>Never insert / remove power without ensuring that its switch off</a:t>
            </a:r>
          </a:p>
          <a:p>
            <a:pPr lvl="1" eaLnBrk="1" hangingPunct="1">
              <a:lnSpc>
                <a:spcPct val="80000"/>
              </a:lnSpc>
            </a:pPr>
            <a:r>
              <a:rPr kumimoji="1" lang="en-US" sz="1600" dirty="0" smtClean="0">
                <a:latin typeface="Times" pitchFamily="18" charset="0"/>
                <a:ea typeface="ＭＳ Ｐゴシック"/>
              </a:rPr>
              <a:t>Take care when inserting the multi pin</a:t>
            </a:r>
          </a:p>
          <a:p>
            <a:pPr eaLnBrk="1" hangingPunct="1">
              <a:lnSpc>
                <a:spcPct val="80000"/>
              </a:lnSpc>
            </a:pPr>
            <a:r>
              <a:rPr kumimoji="1" lang="en-US" sz="2000" dirty="0" smtClean="0">
                <a:latin typeface="Times" pitchFamily="18" charset="0"/>
                <a:ea typeface="ＭＳ Ｐゴシック"/>
              </a:rPr>
              <a:t>More : </a:t>
            </a:r>
          </a:p>
          <a:p>
            <a:pPr eaLnBrk="1" hangingPunct="1">
              <a:lnSpc>
                <a:spcPct val="80000"/>
              </a:lnSpc>
            </a:pPr>
            <a:r>
              <a:rPr kumimoji="1" lang="en-US" sz="2000" dirty="0" smtClean="0">
                <a:latin typeface="Times" pitchFamily="18" charset="0"/>
                <a:ea typeface="ＭＳ Ｐゴシック"/>
              </a:rPr>
              <a:t>Read instruction : when dealing either h/ware or s/ware, always look and read the instruction manual.</a:t>
            </a:r>
          </a:p>
          <a:p>
            <a:pPr eaLnBrk="1" hangingPunct="1">
              <a:lnSpc>
                <a:spcPct val="80000"/>
              </a:lnSpc>
            </a:pPr>
            <a:r>
              <a:rPr kumimoji="1" lang="en-US" sz="2000" dirty="0" smtClean="0">
                <a:latin typeface="Times" pitchFamily="18" charset="0"/>
                <a:ea typeface="ＭＳ Ｐゴシック"/>
              </a:rPr>
              <a:t>Interface and connector :………</a:t>
            </a:r>
          </a:p>
          <a:p>
            <a:pPr eaLnBrk="1" hangingPunct="1">
              <a:lnSpc>
                <a:spcPct val="80000"/>
              </a:lnSpc>
            </a:pPr>
            <a:r>
              <a:rPr kumimoji="1" lang="en-US" sz="2000" dirty="0" smtClean="0">
                <a:latin typeface="Times" pitchFamily="18" charset="0"/>
                <a:ea typeface="ＭＳ Ｐゴシック"/>
              </a:rPr>
              <a:t>Handling components :</a:t>
            </a:r>
          </a:p>
          <a:p>
            <a:pPr eaLnBrk="1" hangingPunct="1">
              <a:lnSpc>
                <a:spcPct val="80000"/>
              </a:lnSpc>
            </a:pPr>
            <a:r>
              <a:rPr kumimoji="1" lang="en-US" sz="2000" dirty="0" smtClean="0">
                <a:latin typeface="Times" pitchFamily="18" charset="0"/>
                <a:ea typeface="ＭＳ Ｐゴシック"/>
              </a:rPr>
              <a:t>DISK :</a:t>
            </a:r>
          </a:p>
          <a:p>
            <a:pPr eaLnBrk="1" hangingPunct="1">
              <a:lnSpc>
                <a:spcPct val="80000"/>
              </a:lnSpc>
            </a:pPr>
            <a:r>
              <a:rPr kumimoji="1" lang="en-US" sz="2000" dirty="0" smtClean="0">
                <a:latin typeface="Times" pitchFamily="18" charset="0"/>
                <a:ea typeface="ＭＳ Ｐゴシック"/>
              </a:rPr>
              <a:t>Memory :</a:t>
            </a:r>
          </a:p>
          <a:p>
            <a:pPr eaLnBrk="1" hangingPunct="1">
              <a:lnSpc>
                <a:spcPct val="80000"/>
              </a:lnSpc>
            </a:pPr>
            <a:r>
              <a:rPr kumimoji="1" lang="en-US" sz="2000" dirty="0" smtClean="0">
                <a:latin typeface="Times" pitchFamily="18" charset="0"/>
                <a:ea typeface="ＭＳ Ｐゴシック"/>
              </a:rPr>
              <a:t>Another expected – environment &amp; </a:t>
            </a:r>
            <a:r>
              <a:rPr kumimoji="1" lang="en-US" sz="2000" dirty="0" err="1" smtClean="0">
                <a:latin typeface="Times" pitchFamily="18" charset="0"/>
                <a:ea typeface="ＭＳ Ｐゴシック"/>
              </a:rPr>
              <a:t>wheather</a:t>
            </a:r>
            <a:endParaRPr kumimoji="1" lang="en-US" sz="2000" dirty="0" smtClean="0">
              <a:latin typeface="Times" pitchFamily="18" charset="0"/>
              <a:ea typeface="ＭＳ Ｐゴシック"/>
            </a:endParaRPr>
          </a:p>
          <a:p>
            <a:pPr lvl="1" eaLnBrk="1" hangingPunct="1">
              <a:lnSpc>
                <a:spcPct val="80000"/>
              </a:lnSpc>
            </a:pPr>
            <a:r>
              <a:rPr kumimoji="1" lang="en-US" sz="1600" dirty="0" smtClean="0">
                <a:latin typeface="Times" pitchFamily="18" charset="0"/>
                <a:ea typeface="ＭＳ Ｐゴシック"/>
              </a:rPr>
              <a:t>Lightening </a:t>
            </a:r>
          </a:p>
          <a:p>
            <a:pPr lvl="1" eaLnBrk="1" hangingPunct="1">
              <a:lnSpc>
                <a:spcPct val="80000"/>
              </a:lnSpc>
            </a:pPr>
            <a:r>
              <a:rPr kumimoji="1" lang="en-US" sz="1600" dirty="0" smtClean="0">
                <a:latin typeface="Times" pitchFamily="18" charset="0"/>
                <a:ea typeface="ＭＳ Ｐゴシック"/>
              </a:rPr>
              <a:t>Power </a:t>
            </a:r>
          </a:p>
          <a:p>
            <a:pPr lvl="1" eaLnBrk="1" hangingPunct="1">
              <a:lnSpc>
                <a:spcPct val="80000"/>
              </a:lnSpc>
            </a:pPr>
            <a:r>
              <a:rPr kumimoji="1" lang="en-US" sz="1600" dirty="0" smtClean="0">
                <a:latin typeface="Times" pitchFamily="18" charset="0"/>
                <a:ea typeface="ＭＳ Ｐゴシック"/>
              </a:rPr>
              <a:t>Heat</a:t>
            </a:r>
          </a:p>
          <a:p>
            <a:pPr lvl="1" eaLnBrk="1" hangingPunct="1">
              <a:lnSpc>
                <a:spcPct val="80000"/>
              </a:lnSpc>
            </a:pPr>
            <a:r>
              <a:rPr kumimoji="1" lang="en-US" sz="1600" dirty="0" smtClean="0">
                <a:latin typeface="Times" pitchFamily="18" charset="0"/>
                <a:ea typeface="ＭＳ Ｐゴシック"/>
              </a:rPr>
              <a:t>Cold </a:t>
            </a:r>
          </a:p>
          <a:p>
            <a:pPr lvl="1" eaLnBrk="1" hangingPunct="1">
              <a:lnSpc>
                <a:spcPct val="80000"/>
              </a:lnSpc>
            </a:pPr>
            <a:r>
              <a:rPr kumimoji="1" lang="en-US" sz="1600" dirty="0" smtClean="0">
                <a:latin typeface="Times" pitchFamily="18" charset="0"/>
                <a:ea typeface="ＭＳ Ｐゴシック"/>
              </a:rPr>
              <a:t>Humidity.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p:txBody>
          <a:bodyPr lIns="92075" tIns="46038" rIns="92075" bIns="46038"/>
          <a:lstStyle/>
          <a:p>
            <a:pPr eaLnBrk="1" hangingPunct="1">
              <a:lnSpc>
                <a:spcPct val="80000"/>
              </a:lnSpc>
            </a:pPr>
            <a:r>
              <a:rPr kumimoji="1" lang="en-US" sz="2400" dirty="0" smtClean="0">
                <a:latin typeface="Times" pitchFamily="18" charset="0"/>
                <a:ea typeface="ＭＳ Ｐゴシック"/>
              </a:rPr>
              <a:t>Three (3) element</a:t>
            </a:r>
          </a:p>
          <a:p>
            <a:pPr lvl="1" eaLnBrk="1" hangingPunct="1">
              <a:lnSpc>
                <a:spcPct val="80000"/>
              </a:lnSpc>
            </a:pPr>
            <a:r>
              <a:rPr kumimoji="1" lang="en-US" sz="2000" dirty="0" smtClean="0">
                <a:latin typeface="Times" pitchFamily="18" charset="0"/>
                <a:ea typeface="ＭＳ Ｐゴシック"/>
              </a:rPr>
              <a:t>Technical layer of software  for driving the hardware</a:t>
            </a:r>
          </a:p>
          <a:p>
            <a:pPr lvl="1" eaLnBrk="1" hangingPunct="1">
              <a:lnSpc>
                <a:spcPct val="80000"/>
              </a:lnSpc>
            </a:pPr>
            <a:r>
              <a:rPr kumimoji="1" lang="en-US" sz="2000" dirty="0" smtClean="0">
                <a:latin typeface="Times" pitchFamily="18" charset="0"/>
                <a:ea typeface="ＭＳ Ｐゴシック"/>
              </a:rPr>
              <a:t>A files systems</a:t>
            </a:r>
          </a:p>
          <a:p>
            <a:pPr lvl="1" eaLnBrk="1" hangingPunct="1">
              <a:lnSpc>
                <a:spcPct val="80000"/>
              </a:lnSpc>
            </a:pPr>
            <a:r>
              <a:rPr kumimoji="1" lang="en-US" sz="2000" dirty="0" smtClean="0">
                <a:latin typeface="Times" pitchFamily="18" charset="0"/>
                <a:ea typeface="ＭＳ Ｐゴシック"/>
              </a:rPr>
              <a:t>Simple user interface</a:t>
            </a:r>
          </a:p>
          <a:p>
            <a:pPr lvl="1" eaLnBrk="1" hangingPunct="1">
              <a:lnSpc>
                <a:spcPct val="80000"/>
              </a:lnSpc>
            </a:pPr>
            <a:endParaRPr kumimoji="1" lang="en-US" sz="2000" dirty="0" smtClean="0">
              <a:latin typeface="Times" pitchFamily="18" charset="0"/>
              <a:ea typeface="ＭＳ Ｐゴシック"/>
            </a:endParaRPr>
          </a:p>
          <a:p>
            <a:pPr eaLnBrk="1" hangingPunct="1">
              <a:lnSpc>
                <a:spcPct val="80000"/>
              </a:lnSpc>
            </a:pPr>
            <a:r>
              <a:rPr kumimoji="1" lang="en-US" sz="2400" dirty="0" smtClean="0">
                <a:latin typeface="Times" pitchFamily="18" charset="0"/>
                <a:ea typeface="ＭＳ Ｐゴシック"/>
              </a:rPr>
              <a:t>Type of OS:</a:t>
            </a:r>
          </a:p>
          <a:p>
            <a:pPr lvl="1" eaLnBrk="1" hangingPunct="1">
              <a:lnSpc>
                <a:spcPct val="80000"/>
              </a:lnSpc>
            </a:pPr>
            <a:r>
              <a:rPr kumimoji="1" lang="en-US" sz="2000" dirty="0" smtClean="0">
                <a:latin typeface="Times" pitchFamily="18" charset="0"/>
                <a:ea typeface="ＭＳ Ｐゴシック"/>
              </a:rPr>
              <a:t>MS / PCC DOCS</a:t>
            </a:r>
          </a:p>
          <a:p>
            <a:pPr lvl="1" eaLnBrk="1" hangingPunct="1">
              <a:lnSpc>
                <a:spcPct val="80000"/>
              </a:lnSpc>
            </a:pPr>
            <a:r>
              <a:rPr kumimoji="1" lang="en-US" sz="2000" dirty="0" smtClean="0">
                <a:latin typeface="Times" pitchFamily="18" charset="0"/>
                <a:ea typeface="ＭＳ Ｐゴシック"/>
              </a:rPr>
              <a:t>Windows 3x</a:t>
            </a:r>
          </a:p>
          <a:p>
            <a:pPr lvl="1" eaLnBrk="1" hangingPunct="1">
              <a:lnSpc>
                <a:spcPct val="80000"/>
              </a:lnSpc>
            </a:pPr>
            <a:r>
              <a:rPr kumimoji="1" lang="en-US" sz="2000" dirty="0" smtClean="0">
                <a:latin typeface="Times" pitchFamily="18" charset="0"/>
                <a:ea typeface="ＭＳ Ｐゴシック"/>
              </a:rPr>
              <a:t>Mac OS</a:t>
            </a:r>
          </a:p>
          <a:p>
            <a:pPr lvl="1" eaLnBrk="1" hangingPunct="1">
              <a:lnSpc>
                <a:spcPct val="80000"/>
              </a:lnSpc>
            </a:pPr>
            <a:r>
              <a:rPr kumimoji="1" lang="en-US" sz="2000" dirty="0" smtClean="0">
                <a:latin typeface="Times" pitchFamily="18" charset="0"/>
                <a:ea typeface="ＭＳ Ｐゴシック"/>
              </a:rPr>
              <a:t>Windows 95,98,ME</a:t>
            </a:r>
          </a:p>
          <a:p>
            <a:pPr lvl="1" eaLnBrk="1" hangingPunct="1">
              <a:lnSpc>
                <a:spcPct val="80000"/>
              </a:lnSpc>
            </a:pPr>
            <a:r>
              <a:rPr kumimoji="1" lang="en-US" sz="2000" dirty="0" err="1" smtClean="0">
                <a:latin typeface="Times" pitchFamily="18" charset="0"/>
                <a:ea typeface="ＭＳ Ｐゴシック"/>
              </a:rPr>
              <a:t>AmigalDOS</a:t>
            </a:r>
            <a:endParaRPr kumimoji="1" lang="en-US" sz="2000" dirty="0" smtClean="0">
              <a:latin typeface="Times" pitchFamily="18" charset="0"/>
              <a:ea typeface="ＭＳ Ｐゴシック"/>
            </a:endParaRPr>
          </a:p>
          <a:p>
            <a:pPr lvl="1" eaLnBrk="1" hangingPunct="1">
              <a:lnSpc>
                <a:spcPct val="80000"/>
              </a:lnSpc>
            </a:pPr>
            <a:r>
              <a:rPr kumimoji="1" lang="en-US" sz="2000" dirty="0" smtClean="0">
                <a:latin typeface="Times" pitchFamily="18" charset="0"/>
                <a:ea typeface="ＭＳ Ｐゴシック"/>
              </a:rPr>
              <a:t>Unix-like</a:t>
            </a:r>
          </a:p>
          <a:p>
            <a:pPr lvl="1" eaLnBrk="1" hangingPunct="1">
              <a:lnSpc>
                <a:spcPct val="80000"/>
              </a:lnSpc>
            </a:pPr>
            <a:r>
              <a:rPr kumimoji="1" lang="en-US" sz="2000" dirty="0" smtClean="0">
                <a:latin typeface="Times" pitchFamily="18" charset="0"/>
                <a:ea typeface="ＭＳ Ｐゴシック"/>
              </a:rPr>
              <a:t>VMS</a:t>
            </a:r>
          </a:p>
          <a:p>
            <a:pPr lvl="1" eaLnBrk="1" hangingPunct="1">
              <a:lnSpc>
                <a:spcPct val="80000"/>
              </a:lnSpc>
              <a:buNone/>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p:txBody>
          <a:bodyPr lIns="92075" tIns="46038" rIns="92075" bIns="46038"/>
          <a:lstStyle/>
          <a:p>
            <a:pPr eaLnBrk="1" hangingPunct="1">
              <a:lnSpc>
                <a:spcPct val="80000"/>
              </a:lnSpc>
            </a:pPr>
            <a:r>
              <a:rPr kumimoji="1" lang="en-US" sz="2400" dirty="0" smtClean="0">
                <a:latin typeface="Times" pitchFamily="18" charset="0"/>
                <a:ea typeface="ＭＳ Ｐゴシック"/>
              </a:rPr>
              <a:t>Type of OS</a:t>
            </a:r>
          </a:p>
          <a:p>
            <a:pPr lvl="1" eaLnBrk="1" hangingPunct="1">
              <a:lnSpc>
                <a:spcPct val="80000"/>
              </a:lnSpc>
            </a:pPr>
            <a:r>
              <a:rPr kumimoji="1" lang="en-US" sz="2000" dirty="0" smtClean="0">
                <a:latin typeface="Times" pitchFamily="18" charset="0"/>
                <a:ea typeface="ＭＳ Ｐゴシック"/>
              </a:rPr>
              <a:t>NT-like</a:t>
            </a:r>
          </a:p>
          <a:p>
            <a:pPr lvl="1" eaLnBrk="1" hangingPunct="1">
              <a:lnSpc>
                <a:spcPct val="80000"/>
              </a:lnSpc>
            </a:pPr>
            <a:r>
              <a:rPr kumimoji="1" lang="en-US" sz="2000" dirty="0" smtClean="0">
                <a:latin typeface="Times" pitchFamily="18" charset="0"/>
                <a:ea typeface="ＭＳ Ｐゴシック"/>
              </a:rPr>
              <a:t>Windows 2000 / XP</a:t>
            </a:r>
          </a:p>
          <a:p>
            <a:pPr lvl="1" eaLnBrk="1" hangingPunct="1">
              <a:lnSpc>
                <a:spcPct val="80000"/>
              </a:lnSpc>
            </a:pPr>
            <a:r>
              <a:rPr kumimoji="1" lang="en-US" sz="2000" dirty="0" smtClean="0">
                <a:latin typeface="Times" pitchFamily="18" charset="0"/>
                <a:ea typeface="ＭＳ Ｐゴシック"/>
              </a:rPr>
              <a:t>OS390 (</a:t>
            </a:r>
            <a:r>
              <a:rPr kumimoji="1" lang="en-US" sz="2000" dirty="0" err="1" smtClean="0">
                <a:latin typeface="Times" pitchFamily="18" charset="0"/>
                <a:ea typeface="ＭＳ Ｐゴシック"/>
              </a:rPr>
              <a:t>zOS</a:t>
            </a:r>
            <a:r>
              <a:rPr kumimoji="1" lang="en-US" sz="2000" dirty="0" smtClean="0">
                <a:latin typeface="Times" pitchFamily="18" charset="0"/>
                <a:ea typeface="ＭＳ Ｐゴシック"/>
              </a:rPr>
              <a:t>)</a:t>
            </a:r>
          </a:p>
          <a:p>
            <a:pPr lvl="1" eaLnBrk="1" hangingPunct="1">
              <a:lnSpc>
                <a:spcPct val="80000"/>
              </a:lnSpc>
              <a:buNone/>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p:txBody>
          <a:bodyPr lIns="92075" tIns="46038" rIns="92075" bIns="46038"/>
          <a:lstStyle/>
          <a:p>
            <a:pPr eaLnBrk="1" hangingPunct="1">
              <a:lnSpc>
                <a:spcPct val="80000"/>
              </a:lnSpc>
              <a:buNone/>
            </a:pPr>
            <a:endParaRPr kumimoji="1" lang="en-US" sz="2000" dirty="0" smtClean="0">
              <a:latin typeface="Times" pitchFamily="18" charset="0"/>
              <a:ea typeface="ＭＳ Ｐゴシック"/>
            </a:endParaRPr>
          </a:p>
        </p:txBody>
      </p:sp>
      <p:pic>
        <p:nvPicPr>
          <p:cNvPr id="1026" name="Picture 2"/>
          <p:cNvPicPr>
            <a:picLocks noChangeAspect="1" noChangeArrowheads="1"/>
          </p:cNvPicPr>
          <p:nvPr/>
        </p:nvPicPr>
        <p:blipFill>
          <a:blip r:embed="rId3"/>
          <a:srcRect/>
          <a:stretch>
            <a:fillRect/>
          </a:stretch>
        </p:blipFill>
        <p:spPr bwMode="auto">
          <a:xfrm>
            <a:off x="2514599" y="1905000"/>
            <a:ext cx="5140765"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p:txBody>
          <a:bodyPr lIns="92075" tIns="46038" rIns="92075" bIns="46038"/>
          <a:lstStyle/>
          <a:p>
            <a:pPr lvl="1" eaLnBrk="1" hangingPunct="1">
              <a:lnSpc>
                <a:spcPct val="80000"/>
              </a:lnSpc>
              <a:buNone/>
            </a:pPr>
            <a:endParaRPr kumimoji="1" lang="en-US" sz="2000" dirty="0" smtClean="0">
              <a:latin typeface="Times" pitchFamily="18" charset="0"/>
              <a:ea typeface="ＭＳ Ｐゴシック"/>
            </a:endParaRPr>
          </a:p>
        </p:txBody>
      </p:sp>
      <p:pic>
        <p:nvPicPr>
          <p:cNvPr id="2050" name="Picture 2"/>
          <p:cNvPicPr>
            <a:picLocks noChangeAspect="1" noChangeArrowheads="1"/>
          </p:cNvPicPr>
          <p:nvPr/>
        </p:nvPicPr>
        <p:blipFill>
          <a:blip r:embed="rId3"/>
          <a:srcRect/>
          <a:stretch>
            <a:fillRect/>
          </a:stretch>
        </p:blipFill>
        <p:spPr bwMode="auto">
          <a:xfrm>
            <a:off x="1524000" y="1752600"/>
            <a:ext cx="7006251" cy="410221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Multi user</a:t>
            </a:r>
          </a:p>
          <a:p>
            <a:pPr lvl="1" eaLnBrk="1" hangingPunct="1">
              <a:lnSpc>
                <a:spcPct val="80000"/>
              </a:lnSpc>
            </a:pPr>
            <a:r>
              <a:rPr kumimoji="1" lang="en-US" sz="2000" dirty="0" smtClean="0">
                <a:latin typeface="Times" pitchFamily="18" charset="0"/>
                <a:ea typeface="ＭＳ Ｐゴシック"/>
              </a:rPr>
              <a:t>Allow multiple user to share resources of single host.</a:t>
            </a:r>
          </a:p>
          <a:p>
            <a:pPr lvl="1" eaLnBrk="1" hangingPunct="1">
              <a:lnSpc>
                <a:spcPct val="80000"/>
              </a:lnSpc>
            </a:pPr>
            <a:r>
              <a:rPr kumimoji="1" lang="en-US" sz="2000" dirty="0" smtClean="0">
                <a:latin typeface="Times" pitchFamily="18" charset="0"/>
                <a:ea typeface="ＭＳ Ｐゴシック"/>
              </a:rPr>
              <a:t>Necessary to protect users from one another by giving</a:t>
            </a:r>
          </a:p>
          <a:p>
            <a:pPr eaLnBrk="1" hangingPunct="1">
              <a:lnSpc>
                <a:spcPct val="80000"/>
              </a:lnSpc>
            </a:pPr>
            <a:r>
              <a:rPr kumimoji="1" lang="en-US" sz="2400" dirty="0" smtClean="0">
                <a:latin typeface="Times" pitchFamily="18" charset="0"/>
                <a:ea typeface="ＭＳ Ｐゴシック"/>
              </a:rPr>
              <a:t>The legacy of insecure operating systems</a:t>
            </a:r>
          </a:p>
          <a:p>
            <a:pPr lvl="1" eaLnBrk="1" hangingPunct="1">
              <a:lnSpc>
                <a:spcPct val="80000"/>
              </a:lnSpc>
            </a:pPr>
            <a:r>
              <a:rPr kumimoji="1" lang="en-US" sz="2000" dirty="0" smtClean="0">
                <a:latin typeface="Times" pitchFamily="18" charset="0"/>
                <a:ea typeface="ＭＳ Ｐゴシック"/>
              </a:rPr>
              <a:t>Mostly home computer  operating system did not address security issue.</a:t>
            </a:r>
          </a:p>
          <a:p>
            <a:pPr lvl="1" eaLnBrk="1" hangingPunct="1">
              <a:lnSpc>
                <a:spcPct val="80000"/>
              </a:lnSpc>
            </a:pPr>
            <a:r>
              <a:rPr kumimoji="1" lang="en-US" sz="2000" dirty="0" smtClean="0">
                <a:latin typeface="Times" pitchFamily="18" charset="0"/>
                <a:ea typeface="ＭＳ Ｐゴシック"/>
              </a:rPr>
              <a:t>Mac OS, DOS, Windows, </a:t>
            </a:r>
            <a:r>
              <a:rPr kumimoji="1" lang="en-US" sz="2000" dirty="0" err="1" smtClean="0">
                <a:latin typeface="Times" pitchFamily="18" charset="0"/>
                <a:ea typeface="ＭＳ Ｐゴシック"/>
              </a:rPr>
              <a:t>AmigaDOS</a:t>
            </a:r>
            <a:r>
              <a:rPr kumimoji="1" lang="en-US" sz="2000" dirty="0" smtClean="0">
                <a:latin typeface="Times" pitchFamily="18" charset="0"/>
                <a:ea typeface="ＭＳ Ｐゴシック"/>
              </a:rPr>
              <a:t> – nit completely in secure : no limits on what a determined user can do. </a:t>
            </a:r>
          </a:p>
          <a:p>
            <a:pPr eaLnBrk="1" hangingPunct="1">
              <a:lnSpc>
                <a:spcPct val="80000"/>
              </a:lnSpc>
            </a:pPr>
            <a:r>
              <a:rPr kumimoji="1" lang="en-US" sz="2400" dirty="0" smtClean="0">
                <a:latin typeface="Times" pitchFamily="18" charset="0"/>
                <a:ea typeface="ＭＳ Ｐゴシック"/>
              </a:rPr>
              <a:t>Securable operating systems</a:t>
            </a:r>
          </a:p>
          <a:p>
            <a:pPr lvl="1" eaLnBrk="1" hangingPunct="1">
              <a:lnSpc>
                <a:spcPct val="80000"/>
              </a:lnSpc>
            </a:pPr>
            <a:r>
              <a:rPr kumimoji="1" lang="en-US" sz="2000" dirty="0" smtClean="0">
                <a:latin typeface="Times" pitchFamily="18" charset="0"/>
                <a:ea typeface="ＭＳ Ｐゴシック"/>
              </a:rPr>
              <a:t>To distinguish them from insecure OS, we shall refer to OS like Unix and NT as securable OS.</a:t>
            </a:r>
          </a:p>
          <a:p>
            <a:pPr lvl="1" eaLnBrk="1" hangingPunct="1">
              <a:lnSpc>
                <a:spcPct val="80000"/>
              </a:lnSpc>
            </a:pPr>
            <a:r>
              <a:rPr kumimoji="1" lang="en-US" sz="2000" dirty="0" smtClean="0">
                <a:latin typeface="Times" pitchFamily="18" charset="0"/>
                <a:ea typeface="ＭＳ Ｐゴシック"/>
              </a:rPr>
              <a:t>Main reason why DOS and Windows 9X and Macintosh are so susceptible to virus attack – user can change the OS files.</a:t>
            </a:r>
          </a:p>
          <a:p>
            <a:pPr lvl="1" eaLnBrk="1" hangingPunct="1">
              <a:lnSpc>
                <a:spcPct val="80000"/>
              </a:lnSpc>
            </a:pPr>
            <a:r>
              <a:rPr kumimoji="1" lang="en-US" sz="2000" dirty="0" smtClean="0">
                <a:latin typeface="Times" pitchFamily="18" charset="0"/>
                <a:ea typeface="ＭＳ Ｐゴシック"/>
              </a:rPr>
              <a:t>To restrict access to the system , it required a notion of ownership and permission.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Shell or command interpreters</a:t>
            </a:r>
          </a:p>
          <a:p>
            <a:pPr lvl="1" eaLnBrk="1" hangingPunct="1">
              <a:lnSpc>
                <a:spcPct val="80000"/>
              </a:lnSpc>
            </a:pPr>
            <a:r>
              <a:rPr kumimoji="1" lang="en-US" sz="2000" dirty="0" smtClean="0">
                <a:latin typeface="Times" pitchFamily="18" charset="0"/>
                <a:ea typeface="ＭＳ Ｐゴシック"/>
              </a:rPr>
              <a:t>Today most of OS provide the GUI for all kinds of task.</a:t>
            </a:r>
          </a:p>
          <a:p>
            <a:pPr lvl="1" eaLnBrk="1" hangingPunct="1">
              <a:lnSpc>
                <a:spcPct val="80000"/>
              </a:lnSpc>
            </a:pPr>
            <a:r>
              <a:rPr kumimoji="1" lang="en-US" sz="2000" dirty="0" smtClean="0">
                <a:latin typeface="Times" pitchFamily="18" charset="0"/>
                <a:ea typeface="ＭＳ Ｐゴシック"/>
              </a:rPr>
              <a:t>Windows proprietary shells are rudimentary</a:t>
            </a:r>
          </a:p>
          <a:p>
            <a:pPr lvl="1" eaLnBrk="1" hangingPunct="1">
              <a:lnSpc>
                <a:spcPct val="80000"/>
              </a:lnSpc>
            </a:pPr>
            <a:r>
              <a:rPr kumimoji="1" lang="en-US" sz="2000" dirty="0" smtClean="0">
                <a:latin typeface="Times" pitchFamily="18" charset="0"/>
                <a:ea typeface="ＭＳ Ｐゴシック"/>
              </a:rPr>
              <a:t>Unix shells are rich in complexity and some of them are available installation on Windows</a:t>
            </a:r>
          </a:p>
          <a:p>
            <a:pPr lvl="1" eaLnBrk="1" hangingPunct="1">
              <a:lnSpc>
                <a:spcPct val="80000"/>
              </a:lnSpc>
            </a:pPr>
            <a:r>
              <a:rPr kumimoji="1" lang="en-US" sz="2000" dirty="0" smtClean="0">
                <a:latin typeface="Times" pitchFamily="18" charset="0"/>
                <a:ea typeface="ＭＳ Ｐゴシック"/>
              </a:rPr>
              <a:t>Shells can be used to write simple programs called scripts or batch files which often simply repetitive </a:t>
            </a:r>
            <a:r>
              <a:rPr kumimoji="1" lang="en-US" sz="2000" dirty="0" err="1" smtClean="0">
                <a:latin typeface="Times" pitchFamily="18" charset="0"/>
                <a:ea typeface="ＭＳ Ｐゴシック"/>
              </a:rPr>
              <a:t>adminstrative</a:t>
            </a:r>
            <a:r>
              <a:rPr kumimoji="1" lang="en-US" sz="2000" dirty="0" smtClean="0">
                <a:latin typeface="Times" pitchFamily="18" charset="0"/>
                <a:ea typeface="ＭＳ Ｐゴシック"/>
              </a:rPr>
              <a:t> task.</a:t>
            </a:r>
          </a:p>
          <a:p>
            <a:pPr eaLnBrk="1" hangingPunct="1">
              <a:lnSpc>
                <a:spcPct val="80000"/>
              </a:lnSpc>
            </a:pPr>
            <a:r>
              <a:rPr kumimoji="1" lang="en-US" sz="2400" dirty="0" smtClean="0">
                <a:latin typeface="Times" pitchFamily="18" charset="0"/>
                <a:ea typeface="ＭＳ Ｐゴシック"/>
              </a:rPr>
              <a:t>Log &amp; audits</a:t>
            </a:r>
            <a:endParaRPr kumimoji="1" lang="en-US" sz="1600" dirty="0" smtClean="0">
              <a:latin typeface="Times" pitchFamily="18" charset="0"/>
              <a:ea typeface="ＭＳ Ｐゴシック"/>
            </a:endParaRPr>
          </a:p>
          <a:p>
            <a:pPr lvl="1" eaLnBrk="1" hangingPunct="1">
              <a:lnSpc>
                <a:spcPct val="80000"/>
              </a:lnSpc>
            </a:pPr>
            <a:r>
              <a:rPr kumimoji="1" lang="en-US" sz="2000" dirty="0" smtClean="0">
                <a:latin typeface="Times" pitchFamily="18" charset="0"/>
                <a:ea typeface="ＭＳ Ｐゴシック"/>
              </a:rPr>
              <a:t>OS kernels share resources and offer services,</a:t>
            </a:r>
          </a:p>
          <a:p>
            <a:pPr lvl="1" eaLnBrk="1" hangingPunct="1">
              <a:lnSpc>
                <a:spcPct val="80000"/>
              </a:lnSpc>
            </a:pPr>
            <a:r>
              <a:rPr kumimoji="1" lang="en-US" sz="2000" dirty="0" smtClean="0">
                <a:latin typeface="Times" pitchFamily="18" charset="0"/>
                <a:ea typeface="ＭＳ Ｐゴシック"/>
              </a:rPr>
              <a:t>Can keep list of transactions which have taken place so that one can later go back and see we exactly happened at given time.</a:t>
            </a:r>
          </a:p>
          <a:p>
            <a:pPr lvl="1" eaLnBrk="1" hangingPunct="1">
              <a:lnSpc>
                <a:spcPct val="80000"/>
              </a:lnSpc>
            </a:pPr>
            <a:r>
              <a:rPr kumimoji="1" lang="en-US" sz="2000" dirty="0" smtClean="0">
                <a:latin typeface="Times" pitchFamily="18" charset="0"/>
                <a:ea typeface="ＭＳ Ｐゴシック"/>
              </a:rPr>
              <a:t>Auditing became issue again in connection with security.  Organization become afraid of break – ins from system cracker and want to able to trace activities of the system in </a:t>
            </a:r>
            <a:r>
              <a:rPr kumimoji="1" lang="en-US" sz="2000" dirty="0" err="1" smtClean="0">
                <a:latin typeface="Times" pitchFamily="18" charset="0"/>
                <a:ea typeface="ＭＳ Ｐゴシック"/>
              </a:rPr>
              <a:t>orderbe</a:t>
            </a:r>
            <a:r>
              <a:rPr kumimoji="1" lang="en-US" sz="2000" dirty="0" smtClean="0">
                <a:latin typeface="Times" pitchFamily="18" charset="0"/>
                <a:ea typeface="ＭＳ Ｐゴシック"/>
              </a:rPr>
              <a:t> able to look back and find out the identity of cracker.</a:t>
            </a: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r>
              <a:rPr kumimoji="1" lang="en-US" sz="2000" dirty="0" smtClean="0">
                <a:latin typeface="Times" pitchFamily="18" charset="0"/>
                <a:ea typeface="ＭＳ Ｐゴシック"/>
              </a:rPr>
              <a:t>Some organization , auditing are important. – one use for auditing is so called non repudiation or non –denial (a security feature which encourage users to be responsible for their actions).</a:t>
            </a:r>
          </a:p>
          <a:p>
            <a:pPr eaLnBrk="1" hangingPunct="1">
              <a:lnSpc>
                <a:spcPct val="80000"/>
              </a:lnSpc>
            </a:pPr>
            <a:r>
              <a:rPr kumimoji="1" lang="en-US" sz="2400" dirty="0" err="1" smtClean="0">
                <a:latin typeface="Times" pitchFamily="18" charset="0"/>
                <a:ea typeface="ＭＳ Ｐゴシック"/>
              </a:rPr>
              <a:t>Priviledged</a:t>
            </a:r>
            <a:r>
              <a:rPr kumimoji="1" lang="en-US" sz="2400" dirty="0" smtClean="0">
                <a:latin typeface="Times" pitchFamily="18" charset="0"/>
                <a:ea typeface="ＭＳ Ｐゴシック"/>
              </a:rPr>
              <a:t> Accounts</a:t>
            </a:r>
          </a:p>
          <a:p>
            <a:pPr lvl="1" eaLnBrk="1" hangingPunct="1">
              <a:lnSpc>
                <a:spcPct val="80000"/>
              </a:lnSpc>
            </a:pPr>
            <a:r>
              <a:rPr kumimoji="1" lang="en-US" sz="2000" dirty="0" smtClean="0">
                <a:latin typeface="Times" pitchFamily="18" charset="0"/>
                <a:ea typeface="ＭＳ Ｐゴシック"/>
              </a:rPr>
              <a:t>OS that restrict user privileges need an acc. Which can be use to configure and maintain the system</a:t>
            </a:r>
          </a:p>
          <a:p>
            <a:pPr lvl="1" eaLnBrk="1" hangingPunct="1">
              <a:lnSpc>
                <a:spcPct val="80000"/>
              </a:lnSpc>
            </a:pPr>
            <a:r>
              <a:rPr kumimoji="1" lang="en-US" sz="2000" dirty="0" smtClean="0">
                <a:latin typeface="Times" pitchFamily="18" charset="0"/>
                <a:ea typeface="ＭＳ Ｐゴシック"/>
              </a:rPr>
              <a:t>For Unix, root acc is the privileged acc, its also </a:t>
            </a:r>
            <a:r>
              <a:rPr kumimoji="1" lang="en-US" sz="2000" dirty="0" err="1" smtClean="0">
                <a:latin typeface="Times" pitchFamily="18" charset="0"/>
                <a:ea typeface="ＭＳ Ｐゴシック"/>
              </a:rPr>
              <a:t>refered</a:t>
            </a:r>
            <a:r>
              <a:rPr kumimoji="1" lang="en-US" sz="2000" dirty="0" smtClean="0">
                <a:latin typeface="Times" pitchFamily="18" charset="0"/>
                <a:ea typeface="ＭＳ Ｐゴシック"/>
              </a:rPr>
              <a:t> to colloquially as the super user.</a:t>
            </a:r>
          </a:p>
          <a:p>
            <a:pPr lvl="1" eaLnBrk="1" hangingPunct="1">
              <a:lnSpc>
                <a:spcPct val="80000"/>
              </a:lnSpc>
            </a:pPr>
            <a:r>
              <a:rPr kumimoji="1" lang="en-US" sz="2000" dirty="0" smtClean="0">
                <a:latin typeface="Times" pitchFamily="18" charset="0"/>
                <a:ea typeface="ＭＳ Ｐゴシック"/>
              </a:rPr>
              <a:t>For Windows, privilege acc is a Administrator, this acc don’t have automatic access to everything.</a:t>
            </a:r>
          </a:p>
          <a:p>
            <a:pPr lvl="1" eaLnBrk="1" hangingPunct="1">
              <a:lnSpc>
                <a:spcPct val="80000"/>
              </a:lnSpc>
            </a:pPr>
            <a:r>
              <a:rPr kumimoji="1" lang="en-US" sz="2000" dirty="0" smtClean="0">
                <a:latin typeface="Times" pitchFamily="18" charset="0"/>
                <a:ea typeface="ＭＳ Ｐゴシック"/>
              </a:rPr>
              <a:t>Administrator &amp; root accounts should never </a:t>
            </a:r>
            <a:r>
              <a:rPr kumimoji="1" lang="en-US" sz="2000" dirty="0" err="1" smtClean="0">
                <a:latin typeface="Times" pitchFamily="18" charset="0"/>
                <a:ea typeface="ＭＳ Ｐゴシック"/>
              </a:rPr>
              <a:t>ve</a:t>
            </a:r>
            <a:r>
              <a:rPr kumimoji="1" lang="en-US" sz="2000" dirty="0" smtClean="0">
                <a:latin typeface="Times" pitchFamily="18" charset="0"/>
                <a:ea typeface="ＭＳ Ｐゴシック"/>
              </a:rPr>
              <a:t> used for normal work – too much power.</a:t>
            </a:r>
          </a:p>
          <a:p>
            <a:pPr lvl="1" eaLnBrk="1" hangingPunct="1">
              <a:lnSpc>
                <a:spcPct val="80000"/>
              </a:lnSpc>
            </a:pPr>
            <a:r>
              <a:rPr kumimoji="1" lang="en-US" sz="2000" dirty="0" smtClean="0">
                <a:latin typeface="Times" pitchFamily="18" charset="0"/>
                <a:ea typeface="ＭＳ Ｐゴシック"/>
              </a:rPr>
              <a:t>Use privilege acc as normal user would be to make system as insecure.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Comparing Unix-Like and Windows computers</a:t>
            </a:r>
          </a:p>
          <a:p>
            <a:pPr lvl="1" eaLnBrk="1" hangingPunct="1">
              <a:lnSpc>
                <a:spcPct val="80000"/>
              </a:lnSpc>
            </a:pPr>
            <a:r>
              <a:rPr kumimoji="1" lang="en-US" sz="2000" dirty="0" smtClean="0">
                <a:latin typeface="Times" pitchFamily="18" charset="0"/>
                <a:ea typeface="ＭＳ Ｐゴシック"/>
              </a:rPr>
              <a:t>Most popular classes of operating systems today</a:t>
            </a:r>
          </a:p>
          <a:p>
            <a:pPr lvl="1" eaLnBrk="1" hangingPunct="1">
              <a:lnSpc>
                <a:spcPct val="80000"/>
              </a:lnSpc>
            </a:pPr>
            <a:r>
              <a:rPr kumimoji="1" lang="en-US" sz="2000" dirty="0" smtClean="0">
                <a:latin typeface="Times" pitchFamily="18" charset="0"/>
                <a:ea typeface="ＭＳ Ｐゴシック"/>
              </a:rPr>
              <a:t>File and directory structure Unix and Windows are different but  both have same basic element.</a:t>
            </a:r>
          </a:p>
          <a:p>
            <a:pPr lvl="1" eaLnBrk="1" hangingPunct="1">
              <a:lnSpc>
                <a:spcPct val="80000"/>
              </a:lnSpc>
            </a:pPr>
            <a:r>
              <a:rPr kumimoji="1" lang="en-US" sz="2000" dirty="0" smtClean="0">
                <a:latin typeface="Times" pitchFamily="18" charset="0"/>
                <a:ea typeface="ＭＳ Ｐゴシック"/>
              </a:rPr>
              <a:t>Unix-like OS are many varied – basic similar in concept</a:t>
            </a:r>
          </a:p>
          <a:p>
            <a:pPr lvl="1" eaLnBrk="1" hangingPunct="1">
              <a:lnSpc>
                <a:spcPct val="80000"/>
              </a:lnSpc>
            </a:pPr>
            <a:r>
              <a:rPr kumimoji="1" lang="en-US" sz="2000" dirty="0" smtClean="0">
                <a:latin typeface="Times" pitchFamily="18" charset="0"/>
                <a:ea typeface="ＭＳ Ｐゴシック"/>
              </a:rPr>
              <a:t>Windows has adopted much from </a:t>
            </a:r>
            <a:r>
              <a:rPr kumimoji="1" lang="en-US" sz="2000" dirty="0" err="1" smtClean="0">
                <a:latin typeface="Times" pitchFamily="18" charset="0"/>
                <a:ea typeface="ＭＳ Ｐゴシック"/>
              </a:rPr>
              <a:t>unix</a:t>
            </a:r>
            <a:r>
              <a:rPr kumimoji="1" lang="en-US" sz="2000" dirty="0" smtClean="0">
                <a:latin typeface="Times" pitchFamily="18" charset="0"/>
                <a:ea typeface="ＭＳ Ｐゴシック"/>
              </a:rPr>
              <a:t> cultural heritage – </a:t>
            </a:r>
            <a:r>
              <a:rPr kumimoji="1" lang="en-US" sz="2000" dirty="0" err="1" smtClean="0">
                <a:latin typeface="Times" pitchFamily="18" charset="0"/>
                <a:ea typeface="ＭＳ Ｐゴシック"/>
              </a:rPr>
              <a:t>eg</a:t>
            </a:r>
            <a:r>
              <a:rPr kumimoji="1" lang="en-US" sz="2000" dirty="0" smtClean="0">
                <a:latin typeface="Times" pitchFamily="18" charset="0"/>
                <a:ea typeface="ＭＳ Ｐゴシック"/>
              </a:rPr>
              <a:t>: renaming \ and / in filename, changing the file name of some commands and etc</a:t>
            </a:r>
          </a:p>
          <a:p>
            <a:pPr lvl="1" eaLnBrk="1" hangingPunct="1">
              <a:lnSpc>
                <a:spcPct val="80000"/>
              </a:lnSpc>
            </a:pPr>
            <a:r>
              <a:rPr kumimoji="1" lang="en-US" sz="2000" dirty="0" smtClean="0">
                <a:latin typeface="Times" pitchFamily="18" charset="0"/>
                <a:ea typeface="ＭＳ Ｐゴシック"/>
              </a:rPr>
              <a:t>Windows NT, 2000, XP are multi tasking OS from Microsoft which allow user to log in  to a console or workstation</a:t>
            </a:r>
          </a:p>
          <a:p>
            <a:pPr lvl="1" eaLnBrk="1" hangingPunct="1">
              <a:lnSpc>
                <a:spcPct val="80000"/>
              </a:lnSpc>
            </a:pPr>
            <a:r>
              <a:rPr kumimoji="1" lang="en-US" sz="2000" dirty="0" smtClean="0">
                <a:latin typeface="Times" pitchFamily="18" charset="0"/>
                <a:ea typeface="ＭＳ Ｐゴシック"/>
              </a:rPr>
              <a:t>the console may be joined  together in a network with common resources shared by an NT domain.</a:t>
            </a:r>
          </a:p>
          <a:p>
            <a:pPr lvl="1" eaLnBrk="1" hangingPunct="1">
              <a:lnSpc>
                <a:spcPct val="80000"/>
              </a:lnSpc>
            </a:pPr>
            <a:r>
              <a:rPr kumimoji="1" lang="en-US" sz="2000" dirty="0" smtClean="0">
                <a:latin typeface="Times" pitchFamily="18" charset="0"/>
                <a:ea typeface="ＭＳ Ｐゴシック"/>
              </a:rPr>
              <a:t>Windows did not have a remote shell login feature like Unix at the outset.</a:t>
            </a:r>
          </a:p>
          <a:p>
            <a:pPr lvl="1" eaLnBrk="1" hangingPunct="1">
              <a:lnSpc>
                <a:spcPct val="80000"/>
              </a:lnSpc>
            </a:pPr>
            <a:r>
              <a:rPr kumimoji="1" lang="en-US" sz="2000" dirty="0" smtClean="0">
                <a:latin typeface="Times" pitchFamily="18" charset="0"/>
                <a:ea typeface="ＭＳ Ｐゴシック"/>
              </a:rPr>
              <a:t>One may now obtain a terminal server which gives Windows telnet-like functionality.</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buNone/>
            </a:pPr>
            <a:endParaRPr kumimoji="1" lang="en-US" sz="2000" dirty="0" smtClean="0">
              <a:latin typeface="Times" pitchFamily="18" charset="0"/>
              <a:ea typeface="ＭＳ Ｐゴシック"/>
            </a:endParaRPr>
          </a:p>
        </p:txBody>
      </p:sp>
      <p:pic>
        <p:nvPicPr>
          <p:cNvPr id="2050" name="Picture 2"/>
          <p:cNvPicPr>
            <a:picLocks noChangeAspect="1" noChangeArrowheads="1"/>
          </p:cNvPicPr>
          <p:nvPr/>
        </p:nvPicPr>
        <p:blipFill>
          <a:blip r:embed="rId3"/>
          <a:srcRect/>
          <a:stretch>
            <a:fillRect/>
          </a:stretch>
        </p:blipFill>
        <p:spPr bwMode="auto">
          <a:xfrm>
            <a:off x="2343150" y="1371600"/>
            <a:ext cx="5353050" cy="48244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000" dirty="0" smtClean="0">
              <a:latin typeface="Times" pitchFamily="18" charset="0"/>
              <a:ea typeface="ＭＳ Ｐゴシック"/>
            </a:endParaRPr>
          </a:p>
        </p:txBody>
      </p:sp>
      <p:pic>
        <p:nvPicPr>
          <p:cNvPr id="3074" name="Picture 2"/>
          <p:cNvPicPr>
            <a:picLocks noChangeAspect="1" noChangeArrowheads="1"/>
          </p:cNvPicPr>
          <p:nvPr/>
        </p:nvPicPr>
        <p:blipFill>
          <a:blip r:embed="rId3"/>
          <a:srcRect/>
          <a:stretch>
            <a:fillRect/>
          </a:stretch>
        </p:blipFill>
        <p:spPr bwMode="auto">
          <a:xfrm>
            <a:off x="1676400" y="1828800"/>
            <a:ext cx="6492045" cy="41290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000" dirty="0" smtClean="0">
              <a:latin typeface="Times" pitchFamily="18" charset="0"/>
              <a:ea typeface="ＭＳ Ｐゴシック"/>
            </a:endParaRPr>
          </a:p>
        </p:txBody>
      </p:sp>
      <p:pic>
        <p:nvPicPr>
          <p:cNvPr id="4098" name="Picture 2"/>
          <p:cNvPicPr>
            <a:picLocks noChangeAspect="1" noChangeArrowheads="1"/>
          </p:cNvPicPr>
          <p:nvPr/>
        </p:nvPicPr>
        <p:blipFill>
          <a:blip r:embed="rId3"/>
          <a:srcRect/>
          <a:stretch>
            <a:fillRect/>
          </a:stretch>
        </p:blipFill>
        <p:spPr bwMode="auto">
          <a:xfrm>
            <a:off x="1143000" y="1219200"/>
            <a:ext cx="7315200" cy="53149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err="1" smtClean="0">
                <a:latin typeface="Times" pitchFamily="18" charset="0"/>
                <a:ea typeface="ＭＳ Ｐゴシック"/>
              </a:rPr>
              <a:t>Filesystems</a:t>
            </a:r>
            <a:endParaRPr kumimoji="1" lang="en-US" sz="2400" dirty="0" smtClean="0">
              <a:latin typeface="Times" pitchFamily="18" charset="0"/>
              <a:ea typeface="ＭＳ Ｐゴシック"/>
            </a:endParaRPr>
          </a:p>
          <a:p>
            <a:pPr lvl="1" eaLnBrk="1" hangingPunct="1">
              <a:lnSpc>
                <a:spcPct val="80000"/>
              </a:lnSpc>
            </a:pPr>
            <a:r>
              <a:rPr kumimoji="1" lang="en-US" sz="2000" dirty="0" smtClean="0">
                <a:latin typeface="Times" pitchFamily="18" charset="0"/>
                <a:ea typeface="ＭＳ Ｐゴシック"/>
              </a:rPr>
              <a:t>File and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are at the very heart of what system administration about.</a:t>
            </a:r>
          </a:p>
          <a:p>
            <a:pPr lvl="1" eaLnBrk="1" hangingPunct="1">
              <a:lnSpc>
                <a:spcPct val="80000"/>
              </a:lnSpc>
            </a:pPr>
            <a:r>
              <a:rPr kumimoji="1" lang="en-US" sz="2000" dirty="0" smtClean="0">
                <a:latin typeface="Times" pitchFamily="18" charset="0"/>
                <a:ea typeface="ＭＳ Ｐゴシック"/>
              </a:rPr>
              <a:t>Every task in host administration or network configuration involves making changes to files</a:t>
            </a:r>
          </a:p>
          <a:p>
            <a:pPr lvl="1" eaLnBrk="1" hangingPunct="1">
              <a:lnSpc>
                <a:spcPct val="80000"/>
              </a:lnSpc>
            </a:pPr>
            <a:r>
              <a:rPr kumimoji="1" lang="en-US" sz="2000" dirty="0" smtClean="0">
                <a:latin typeface="Times" pitchFamily="18" charset="0"/>
                <a:ea typeface="ＭＳ Ｐゴシック"/>
              </a:rPr>
              <a:t>Need to acquire a basic understand of the principles of systems</a:t>
            </a:r>
          </a:p>
          <a:p>
            <a:pPr lvl="1" eaLnBrk="1" hangingPunct="1">
              <a:lnSpc>
                <a:spcPct val="80000"/>
              </a:lnSpc>
            </a:pPr>
            <a:r>
              <a:rPr kumimoji="1" lang="en-US" sz="2000" dirty="0" smtClean="0">
                <a:latin typeface="Times" pitchFamily="18" charset="0"/>
                <a:ea typeface="ＭＳ Ｐゴシック"/>
              </a:rPr>
              <a:t>For instance, fact that old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were only 32 bit addressable and therefore supported a maximum partition size of 2GB or 4GB</a:t>
            </a:r>
          </a:p>
          <a:p>
            <a:pPr lvl="1" eaLnBrk="1" hangingPunct="1">
              <a:lnSpc>
                <a:spcPct val="80000"/>
              </a:lnSpc>
            </a:pPr>
            <a:r>
              <a:rPr kumimoji="1" lang="en-US" sz="2000" dirty="0" smtClean="0">
                <a:latin typeface="Times" pitchFamily="18" charset="0"/>
                <a:ea typeface="ＭＳ Ｐゴシック"/>
              </a:rPr>
              <a:t>Newer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are 64bit addressable and therefore have essentially no storage limits.</a:t>
            </a:r>
          </a:p>
          <a:p>
            <a:pPr lvl="1" eaLnBrk="1" hangingPunct="1">
              <a:lnSpc>
                <a:spcPct val="80000"/>
              </a:lnSpc>
            </a:pPr>
            <a:r>
              <a:rPr kumimoji="1" lang="en-US" sz="2000" dirty="0" smtClean="0">
                <a:latin typeface="Times" pitchFamily="18" charset="0"/>
                <a:ea typeface="ＭＳ Ｐゴシック"/>
              </a:rPr>
              <a:t>Unix use an index node system of block  addressing, Dos use tabular lookup system.</a:t>
            </a: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Unix</a:t>
            </a:r>
          </a:p>
          <a:p>
            <a:pPr lvl="1" eaLnBrk="1" hangingPunct="1">
              <a:lnSpc>
                <a:spcPct val="80000"/>
              </a:lnSpc>
            </a:pPr>
            <a:r>
              <a:rPr kumimoji="1" lang="en-US" sz="2000" dirty="0" smtClean="0">
                <a:latin typeface="Times" pitchFamily="18" charset="0"/>
                <a:ea typeface="ＭＳ Ｐゴシック"/>
              </a:rPr>
              <a:t>Has a hierarchical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 make use directories and subdirectories to form a tree.</a:t>
            </a:r>
          </a:p>
          <a:p>
            <a:pPr lvl="1" eaLnBrk="1" hangingPunct="1">
              <a:lnSpc>
                <a:spcPct val="80000"/>
              </a:lnSpc>
            </a:pPr>
            <a:r>
              <a:rPr kumimoji="1" lang="en-US" sz="2000" dirty="0" smtClean="0">
                <a:latin typeface="Times" pitchFamily="18" charset="0"/>
                <a:ea typeface="ＭＳ Ｐゴシック"/>
              </a:rPr>
              <a:t>All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based on index nodes or </a:t>
            </a:r>
            <a:r>
              <a:rPr kumimoji="1" lang="en-US" sz="2000" dirty="0" err="1" smtClean="0">
                <a:latin typeface="Times" pitchFamily="18" charset="0"/>
                <a:ea typeface="ＭＳ Ｐゴシック"/>
              </a:rPr>
              <a:t>inodes</a:t>
            </a:r>
            <a:endParaRPr kumimoji="1" lang="en-US" sz="2000" dirty="0" smtClean="0">
              <a:latin typeface="Times" pitchFamily="18" charset="0"/>
              <a:ea typeface="ＭＳ Ｐゴシック"/>
            </a:endParaRPr>
          </a:p>
          <a:p>
            <a:pPr lvl="1" eaLnBrk="1" hangingPunct="1">
              <a:lnSpc>
                <a:spcPct val="80000"/>
              </a:lnSpc>
            </a:pPr>
            <a:r>
              <a:rPr kumimoji="1" lang="en-US" sz="2000" dirty="0" smtClean="0">
                <a:latin typeface="Times" pitchFamily="18" charset="0"/>
                <a:ea typeface="ＭＳ Ｐゴシック"/>
              </a:rPr>
              <a:t>Every file has index entry stored in a special part of the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a:t>
            </a:r>
          </a:p>
          <a:p>
            <a:pPr lvl="1" eaLnBrk="1" hangingPunct="1">
              <a:lnSpc>
                <a:spcPct val="80000"/>
              </a:lnSpc>
            </a:pPr>
            <a:r>
              <a:rPr kumimoji="1" lang="en-US" sz="2000" dirty="0" err="1" smtClean="0">
                <a:latin typeface="Times" pitchFamily="18" charset="0"/>
                <a:ea typeface="ＭＳ Ｐゴシック"/>
              </a:rPr>
              <a:t>Inode</a:t>
            </a:r>
            <a:r>
              <a:rPr kumimoji="1" lang="en-US" sz="2000" dirty="0" smtClean="0">
                <a:latin typeface="Times" pitchFamily="18" charset="0"/>
                <a:ea typeface="ＭＳ Ｐゴシック"/>
              </a:rPr>
              <a:t> contain extensible system of pointers to the actual disk block- associated with the file</a:t>
            </a:r>
          </a:p>
          <a:p>
            <a:pPr lvl="1" eaLnBrk="1" hangingPunct="1">
              <a:lnSpc>
                <a:spcPct val="80000"/>
              </a:lnSpc>
            </a:pPr>
            <a:r>
              <a:rPr kumimoji="1" lang="en-US" sz="2000" dirty="0" err="1" smtClean="0">
                <a:latin typeface="Times" pitchFamily="18" charset="0"/>
                <a:ea typeface="ＭＳ Ｐゴシック"/>
              </a:rPr>
              <a:t>Inode</a:t>
            </a:r>
            <a:r>
              <a:rPr kumimoji="1" lang="en-US" sz="2000" dirty="0" smtClean="0">
                <a:latin typeface="Times" pitchFamily="18" charset="0"/>
                <a:ea typeface="ＭＳ Ｐゴシック"/>
              </a:rPr>
              <a:t> also contains essential information needed to located a file on the disk.</a:t>
            </a:r>
          </a:p>
          <a:p>
            <a:pPr lvl="1" eaLnBrk="1" hangingPunct="1">
              <a:lnSpc>
                <a:spcPct val="80000"/>
              </a:lnSpc>
            </a:pPr>
            <a:r>
              <a:rPr kumimoji="1" lang="en-US" sz="2000" dirty="0" smtClean="0">
                <a:latin typeface="Times" pitchFamily="18" charset="0"/>
                <a:ea typeface="ＭＳ Ｐゴシック"/>
              </a:rPr>
              <a:t>Start of the Unix file tree is call root </a:t>
            </a:r>
            <a:r>
              <a:rPr kumimoji="1" lang="en-US" sz="2000" dirty="0" err="1" smtClean="0">
                <a:latin typeface="Times" pitchFamily="18" charset="0"/>
                <a:ea typeface="ＭＳ Ｐゴシック"/>
              </a:rPr>
              <a:t>filesystems</a:t>
            </a:r>
            <a:r>
              <a:rPr kumimoji="1" lang="en-US" sz="2000" dirty="0" smtClean="0">
                <a:latin typeface="Times" pitchFamily="18" charset="0"/>
                <a:ea typeface="ＭＳ Ｐゴシック"/>
              </a:rPr>
              <a:t> or  ‘/’. </a:t>
            </a:r>
            <a:endParaRPr kumimoji="1" lang="en-US" sz="16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The file hierarchy</a:t>
            </a:r>
          </a:p>
          <a:p>
            <a:pPr lvl="1" eaLnBrk="1" hangingPunct="1">
              <a:lnSpc>
                <a:spcPct val="80000"/>
              </a:lnSpc>
            </a:pPr>
            <a:r>
              <a:rPr kumimoji="1" lang="en-US" sz="2000" dirty="0" smtClean="0">
                <a:latin typeface="Times" pitchFamily="18" charset="0"/>
                <a:ea typeface="ＭＳ Ｐゴシック"/>
              </a:rPr>
              <a:t>/bin – execute binary program</a:t>
            </a:r>
          </a:p>
          <a:p>
            <a:pPr lvl="1" eaLnBrk="1" hangingPunct="1">
              <a:lnSpc>
                <a:spcPct val="80000"/>
              </a:lnSpc>
            </a:pPr>
            <a:r>
              <a:rPr kumimoji="1" lang="en-US" sz="2000" dirty="0" smtClean="0">
                <a:latin typeface="Times" pitchFamily="18" charset="0"/>
                <a:ea typeface="ＭＳ Ｐゴシック"/>
              </a:rPr>
              <a:t>/etc – Miscellaneous programs configuration files</a:t>
            </a:r>
          </a:p>
          <a:p>
            <a:pPr lvl="1" eaLnBrk="1" hangingPunct="1">
              <a:lnSpc>
                <a:spcPct val="80000"/>
              </a:lnSpc>
            </a:pP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usr</a:t>
            </a:r>
            <a:r>
              <a:rPr kumimoji="1" lang="en-US" sz="2000" dirty="0" smtClean="0">
                <a:latin typeface="Times" pitchFamily="18" charset="0"/>
                <a:ea typeface="ＭＳ Ｐゴシック"/>
              </a:rPr>
              <a:t> – this contain main meat of </a:t>
            </a:r>
            <a:r>
              <a:rPr kumimoji="1" lang="en-US" sz="2000" dirty="0" err="1" smtClean="0">
                <a:latin typeface="Times" pitchFamily="18" charset="0"/>
                <a:ea typeface="ＭＳ Ｐゴシック"/>
              </a:rPr>
              <a:t>unix</a:t>
            </a:r>
            <a:endParaRPr kumimoji="1" lang="en-US" sz="2000" dirty="0" smtClean="0">
              <a:latin typeface="Times" pitchFamily="18" charset="0"/>
              <a:ea typeface="ＭＳ Ｐゴシック"/>
            </a:endParaRPr>
          </a:p>
          <a:p>
            <a:pPr lvl="1" eaLnBrk="1" hangingPunct="1">
              <a:lnSpc>
                <a:spcPct val="80000"/>
              </a:lnSpc>
            </a:pP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usr</a:t>
            </a:r>
            <a:r>
              <a:rPr kumimoji="1" lang="en-US" sz="2000" dirty="0" smtClean="0">
                <a:latin typeface="Times" pitchFamily="18" charset="0"/>
                <a:ea typeface="ＭＳ Ｐゴシック"/>
              </a:rPr>
              <a:t>/bin – more executables from the OS</a:t>
            </a:r>
          </a:p>
          <a:p>
            <a:pPr lvl="1" eaLnBrk="1" hangingPunct="1">
              <a:lnSpc>
                <a:spcPct val="80000"/>
              </a:lnSpc>
            </a:pP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usr</a:t>
            </a: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sbin</a:t>
            </a:r>
            <a:r>
              <a:rPr kumimoji="1" lang="en-US" sz="2000" dirty="0" smtClean="0">
                <a:latin typeface="Times" pitchFamily="18" charset="0"/>
                <a:ea typeface="ＭＳ Ｐゴシック"/>
              </a:rPr>
              <a:t> – executables  that are mainly interest to system administrator</a:t>
            </a:r>
          </a:p>
          <a:p>
            <a:pPr lvl="1" eaLnBrk="1" hangingPunct="1">
              <a:lnSpc>
                <a:spcPct val="80000"/>
              </a:lnSpc>
            </a:pP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usr</a:t>
            </a:r>
            <a:r>
              <a:rPr kumimoji="1" lang="en-US" sz="2000" dirty="0" smtClean="0">
                <a:latin typeface="Times" pitchFamily="18" charset="0"/>
                <a:ea typeface="ＭＳ Ｐゴシック"/>
              </a:rPr>
              <a:t>/local – user’s custom software added</a:t>
            </a:r>
          </a:p>
          <a:p>
            <a:pPr lvl="1" eaLnBrk="1" hangingPunct="1">
              <a:lnSpc>
                <a:spcPct val="80000"/>
              </a:lnSpc>
            </a:pPr>
            <a:r>
              <a:rPr kumimoji="1" lang="en-US" sz="2000" dirty="0" smtClean="0">
                <a:latin typeface="Times" pitchFamily="18" charset="0"/>
                <a:ea typeface="ＭＳ Ｐゴシック"/>
              </a:rPr>
              <a:t>/sys – hold configuration data</a:t>
            </a:r>
          </a:p>
          <a:p>
            <a:pPr lvl="1" eaLnBrk="1" hangingPunct="1">
              <a:lnSpc>
                <a:spcPct val="80000"/>
              </a:lnSpc>
            </a:pPr>
            <a:r>
              <a:rPr kumimoji="1" lang="en-US" sz="2000" dirty="0" smtClean="0">
                <a:latin typeface="Times" pitchFamily="18" charset="0"/>
                <a:ea typeface="ＭＳ Ｐゴシック"/>
              </a:rPr>
              <a:t>/export – network server use only</a:t>
            </a:r>
          </a:p>
          <a:p>
            <a:pPr lvl="1" eaLnBrk="1" hangingPunct="1">
              <a:lnSpc>
                <a:spcPct val="80000"/>
              </a:lnSpc>
            </a:pPr>
            <a:r>
              <a:rPr kumimoji="1" lang="en-US" sz="2000" dirty="0" smtClean="0">
                <a:latin typeface="Times" pitchFamily="18" charset="0"/>
                <a:ea typeface="ＭＳ Ｐゴシック"/>
              </a:rPr>
              <a:t>/dev or /device –a place where all logical device are collected.</a:t>
            </a:r>
          </a:p>
          <a:p>
            <a:pPr lvl="1" eaLnBrk="1" hangingPunct="1">
              <a:lnSpc>
                <a:spcPct val="80000"/>
              </a:lnSpc>
            </a:pPr>
            <a:r>
              <a:rPr kumimoji="1" lang="en-US" sz="2000" dirty="0" smtClean="0">
                <a:latin typeface="Times" pitchFamily="18" charset="0"/>
                <a:ea typeface="ＭＳ Ｐゴシック"/>
              </a:rPr>
              <a:t>/home – user on some systems.</a:t>
            </a:r>
          </a:p>
          <a:p>
            <a:pPr lvl="1" eaLnBrk="1" hangingPunct="1">
              <a:lnSpc>
                <a:spcPct val="80000"/>
              </a:lnSpc>
            </a:pPr>
            <a:r>
              <a:rPr kumimoji="1" lang="en-US" sz="2000" dirty="0" smtClean="0">
                <a:latin typeface="Times" pitchFamily="18" charset="0"/>
                <a:ea typeface="ＭＳ Ｐゴシック"/>
              </a:rPr>
              <a:t>/root – home for root</a:t>
            </a:r>
          </a:p>
          <a:p>
            <a:pPr lvl="1" eaLnBrk="1" hangingPunct="1">
              <a:lnSpc>
                <a:spcPct val="80000"/>
              </a:lnSpc>
            </a:pPr>
            <a:r>
              <a:rPr kumimoji="1" lang="en-US" sz="2000" dirty="0" smtClean="0">
                <a:latin typeface="Times" pitchFamily="18" charset="0"/>
                <a:ea typeface="ＭＳ Ｐゴシック"/>
              </a:rPr>
              <a:t>/</a:t>
            </a:r>
            <a:r>
              <a:rPr kumimoji="1" lang="en-US" sz="2000" dirty="0" err="1" smtClean="0">
                <a:latin typeface="Times" pitchFamily="18" charset="0"/>
                <a:ea typeface="ＭＳ Ｐゴシック"/>
              </a:rPr>
              <a:t>var</a:t>
            </a:r>
            <a:r>
              <a:rPr kumimoji="1" lang="en-US" sz="2000" dirty="0" smtClean="0">
                <a:latin typeface="Times" pitchFamily="18" charset="0"/>
                <a:ea typeface="ＭＳ Ｐゴシック"/>
              </a:rPr>
              <a:t> – mixed file</a:t>
            </a: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buNone/>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Symbolic links</a:t>
            </a:r>
          </a:p>
          <a:p>
            <a:pPr lvl="1" eaLnBrk="1" hangingPunct="1">
              <a:lnSpc>
                <a:spcPct val="80000"/>
              </a:lnSpc>
            </a:pPr>
            <a:r>
              <a:rPr kumimoji="1" lang="en-US" sz="2000" dirty="0" smtClean="0">
                <a:latin typeface="Times" pitchFamily="18" charset="0"/>
                <a:ea typeface="ＭＳ Ｐゴシック"/>
              </a:rPr>
              <a:t>A pointer or an alias to another file</a:t>
            </a:r>
          </a:p>
          <a:p>
            <a:pPr lvl="1" eaLnBrk="1" hangingPunct="1">
              <a:lnSpc>
                <a:spcPct val="80000"/>
              </a:lnSpc>
            </a:pPr>
            <a:r>
              <a:rPr kumimoji="1" lang="en-US" sz="2000" dirty="0" smtClean="0">
                <a:latin typeface="Times" pitchFamily="18" charset="0"/>
                <a:ea typeface="ＭＳ Ｐゴシック"/>
              </a:rPr>
              <a:t>Command : </a:t>
            </a:r>
            <a:r>
              <a:rPr kumimoji="1" lang="en-US" sz="2000" dirty="0" err="1" smtClean="0">
                <a:latin typeface="Times" pitchFamily="18" charset="0"/>
                <a:ea typeface="ＭＳ Ｐゴシック"/>
              </a:rPr>
              <a:t>ln</a:t>
            </a:r>
            <a:r>
              <a:rPr kumimoji="1" lang="en-US" sz="2000" dirty="0" smtClean="0">
                <a:latin typeface="Times" pitchFamily="18" charset="0"/>
                <a:ea typeface="ＭＳ Ｐゴシック"/>
              </a:rPr>
              <a:t> –s from file /other/directory/</a:t>
            </a:r>
            <a:r>
              <a:rPr kumimoji="1" lang="en-US" sz="2000" dirty="0" err="1" smtClean="0">
                <a:latin typeface="Times" pitchFamily="18" charset="0"/>
                <a:ea typeface="ＭＳ Ｐゴシック"/>
              </a:rPr>
              <a:t>tolink</a:t>
            </a:r>
            <a:endParaRPr kumimoji="1" lang="en-US" sz="2000" dirty="0" smtClean="0">
              <a:latin typeface="Times" pitchFamily="18" charset="0"/>
              <a:ea typeface="ＭＳ Ｐゴシック"/>
            </a:endParaRPr>
          </a:p>
          <a:p>
            <a:pPr eaLnBrk="1" hangingPunct="1">
              <a:lnSpc>
                <a:spcPct val="80000"/>
              </a:lnSpc>
            </a:pPr>
            <a:r>
              <a:rPr kumimoji="1" lang="en-US" sz="2400" dirty="0" smtClean="0">
                <a:latin typeface="Times" pitchFamily="18" charset="0"/>
                <a:ea typeface="ＭＳ Ｐゴシック"/>
              </a:rPr>
              <a:t>Hard links</a:t>
            </a:r>
          </a:p>
          <a:p>
            <a:pPr lvl="1" eaLnBrk="1" hangingPunct="1">
              <a:lnSpc>
                <a:spcPct val="80000"/>
              </a:lnSpc>
            </a:pPr>
            <a:r>
              <a:rPr kumimoji="1" lang="en-US" sz="2000" dirty="0" smtClean="0">
                <a:latin typeface="Times" pitchFamily="18" charset="0"/>
                <a:ea typeface="ＭＳ Ｐゴシック"/>
              </a:rPr>
              <a:t>A duplicate directory reference to </a:t>
            </a:r>
            <a:r>
              <a:rPr kumimoji="1" lang="en-US" sz="2000" dirty="0" err="1" smtClean="0">
                <a:latin typeface="Times" pitchFamily="18" charset="0"/>
                <a:ea typeface="ＭＳ Ｐゴシック"/>
              </a:rPr>
              <a:t>inode</a:t>
            </a:r>
            <a:r>
              <a:rPr kumimoji="1" lang="en-US" sz="2000" dirty="0" smtClean="0">
                <a:latin typeface="Times" pitchFamily="18" charset="0"/>
                <a:ea typeface="ＭＳ Ｐゴシック"/>
              </a:rPr>
              <a:t> in the </a:t>
            </a:r>
            <a:r>
              <a:rPr kumimoji="1" lang="en-US" sz="2000" dirty="0" err="1" smtClean="0">
                <a:latin typeface="Times" pitchFamily="18" charset="0"/>
                <a:ea typeface="ＭＳ Ｐゴシック"/>
              </a:rPr>
              <a:t>filesystem</a:t>
            </a:r>
            <a:r>
              <a:rPr kumimoji="1" lang="en-US" sz="2000" dirty="0" smtClean="0">
                <a:latin typeface="Times" pitchFamily="18" charset="0"/>
                <a:ea typeface="ＭＳ Ｐゴシック"/>
              </a:rPr>
              <a:t>.</a:t>
            </a:r>
          </a:p>
          <a:p>
            <a:pPr eaLnBrk="1" hangingPunct="1">
              <a:lnSpc>
                <a:spcPct val="80000"/>
              </a:lnSpc>
            </a:pPr>
            <a:r>
              <a:rPr kumimoji="1" lang="en-US" sz="2400" dirty="0" smtClean="0">
                <a:latin typeface="Times" pitchFamily="18" charset="0"/>
                <a:ea typeface="ＭＳ Ｐゴシック"/>
              </a:rPr>
              <a:t>File access control</a:t>
            </a:r>
          </a:p>
          <a:p>
            <a:pPr lvl="1" eaLnBrk="1" hangingPunct="1">
              <a:lnSpc>
                <a:spcPct val="80000"/>
              </a:lnSpc>
            </a:pPr>
            <a:r>
              <a:rPr kumimoji="1" lang="en-US" sz="2000" dirty="0" smtClean="0">
                <a:latin typeface="Times" pitchFamily="18" charset="0"/>
                <a:ea typeface="ＭＳ Ｐゴシック"/>
              </a:rPr>
              <a:t>To restrict privileges file on the system.</a:t>
            </a:r>
          </a:p>
          <a:p>
            <a:pPr lvl="1" eaLnBrk="1" hangingPunct="1">
              <a:lnSpc>
                <a:spcPct val="80000"/>
              </a:lnSpc>
            </a:pPr>
            <a:r>
              <a:rPr kumimoji="1" lang="en-US" sz="2000" dirty="0" smtClean="0">
                <a:latin typeface="Times" pitchFamily="18" charset="0"/>
                <a:ea typeface="ＭＳ Ｐゴシック"/>
              </a:rPr>
              <a:t>Example of </a:t>
            </a:r>
            <a:r>
              <a:rPr kumimoji="1" lang="en-US" sz="2000" dirty="0" err="1" smtClean="0">
                <a:latin typeface="Times" pitchFamily="18" charset="0"/>
                <a:ea typeface="ＭＳ Ｐゴシック"/>
              </a:rPr>
              <a:t>permisssion</a:t>
            </a:r>
            <a:r>
              <a:rPr kumimoji="1" lang="en-US" sz="2000" dirty="0" smtClean="0">
                <a:latin typeface="Times" pitchFamily="18" charset="0"/>
                <a:ea typeface="ＭＳ Ｐゴシック"/>
              </a:rPr>
              <a:t> : type    owner      group   anyone.</a:t>
            </a:r>
          </a:p>
          <a:p>
            <a:r>
              <a:rPr lang="ms-MY" sz="2000" dirty="0" smtClean="0"/>
              <a:t>For example, the permission</a:t>
            </a:r>
          </a:p>
          <a:p>
            <a:r>
              <a:rPr lang="ms-MY" sz="2000" dirty="0" smtClean="0"/>
              <a:t>Type Owner Group Anyone</a:t>
            </a:r>
          </a:p>
          <a:p>
            <a:pPr lvl="1"/>
            <a:r>
              <a:rPr lang="ms-MY" sz="1600" dirty="0" smtClean="0"/>
              <a:t>d     rwx         r-x          ---</a:t>
            </a:r>
          </a:p>
          <a:p>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buNone/>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000" dirty="0" smtClean="0">
              <a:latin typeface="Times" pitchFamily="18" charset="0"/>
              <a:ea typeface="ＭＳ Ｐゴシック"/>
            </a:endParaRPr>
          </a:p>
          <a:p>
            <a:pPr lvl="1" eaLnBrk="1" hangingPunct="1">
              <a:lnSpc>
                <a:spcPct val="80000"/>
              </a:lnSpc>
              <a:buNone/>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2" name="Picture 2"/>
          <p:cNvPicPr>
            <a:picLocks noChangeAspect="1" noChangeArrowheads="1"/>
          </p:cNvPicPr>
          <p:nvPr/>
        </p:nvPicPr>
        <p:blipFill>
          <a:blip r:embed="rId3"/>
          <a:srcRect/>
          <a:stretch>
            <a:fillRect/>
          </a:stretch>
        </p:blipFill>
        <p:spPr bwMode="auto">
          <a:xfrm>
            <a:off x="1295400" y="1905000"/>
            <a:ext cx="7281988"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First column is textual representation of the representation of bits for each file.</a:t>
            </a:r>
          </a:p>
          <a:p>
            <a:pPr eaLnBrk="1" hangingPunct="1">
              <a:lnSpc>
                <a:spcPct val="80000"/>
              </a:lnSpc>
            </a:pPr>
            <a:r>
              <a:rPr kumimoji="1" lang="en-US" sz="2400" dirty="0" smtClean="0">
                <a:latin typeface="Times" pitchFamily="18" charset="0"/>
                <a:ea typeface="ＭＳ Ｐゴシック"/>
              </a:rPr>
              <a:t>Second column is the number of hard links to the file</a:t>
            </a:r>
          </a:p>
          <a:p>
            <a:pPr eaLnBrk="1" hangingPunct="1">
              <a:lnSpc>
                <a:spcPct val="80000"/>
              </a:lnSpc>
            </a:pPr>
            <a:r>
              <a:rPr kumimoji="1" lang="en-US" sz="2400" dirty="0" smtClean="0">
                <a:latin typeface="Times" pitchFamily="18" charset="0"/>
                <a:ea typeface="ＭＳ Ｐゴシック"/>
              </a:rPr>
              <a:t>Third and fourth column are the user name and group name</a:t>
            </a:r>
          </a:p>
          <a:p>
            <a:pPr eaLnBrk="1" hangingPunct="1">
              <a:lnSpc>
                <a:spcPct val="80000"/>
              </a:lnSpc>
            </a:pPr>
            <a:r>
              <a:rPr kumimoji="1" lang="en-US" sz="2400" dirty="0" smtClean="0">
                <a:latin typeface="Times" pitchFamily="18" charset="0"/>
                <a:ea typeface="ＭＳ Ｐゴシック"/>
              </a:rPr>
              <a:t>The remainder show the file size in bytes and the creation date.</a:t>
            </a:r>
          </a:p>
          <a:p>
            <a:pPr eaLnBrk="1" hangingPunct="1">
              <a:lnSpc>
                <a:spcPct val="80000"/>
              </a:lnSpc>
            </a:pPr>
            <a:r>
              <a:rPr kumimoji="1" lang="en-US" sz="2400" dirty="0" smtClean="0">
                <a:latin typeface="Times" pitchFamily="18" charset="0"/>
                <a:ea typeface="ＭＳ Ｐゴシック"/>
              </a:rPr>
              <a:t>There 16 protection bits for </a:t>
            </a:r>
            <a:r>
              <a:rPr kumimoji="1" lang="en-US" sz="2400" dirty="0" err="1" smtClean="0">
                <a:latin typeface="Times" pitchFamily="18" charset="0"/>
                <a:ea typeface="ＭＳ Ｐゴシック"/>
              </a:rPr>
              <a:t>unix</a:t>
            </a:r>
            <a:r>
              <a:rPr kumimoji="1" lang="en-US" sz="2400" dirty="0" smtClean="0">
                <a:latin typeface="Times" pitchFamily="18" charset="0"/>
                <a:ea typeface="ＭＳ Ｐゴシック"/>
              </a:rPr>
              <a:t> file but only 12 of them can be change by user.</a:t>
            </a:r>
            <a:endParaRPr kumimoji="1" lang="en-US" sz="240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Here are some examples of the relationship between binary, octal and the</a:t>
            </a:r>
          </a:p>
          <a:p>
            <a:r>
              <a:rPr lang="en-US" sz="2400" dirty="0" smtClean="0"/>
              <a:t>textual representation of file modes.</a:t>
            </a:r>
          </a:p>
          <a:p>
            <a:r>
              <a:rPr lang="ms-MY" sz="2400" dirty="0" smtClean="0"/>
              <a:t>Binary Octal Text</a:t>
            </a:r>
          </a:p>
          <a:p>
            <a:pPr lvl="1"/>
            <a:r>
              <a:rPr lang="ms-MY" sz="2000" dirty="0" smtClean="0"/>
              <a:t>001	 1 --x</a:t>
            </a:r>
          </a:p>
          <a:p>
            <a:pPr lvl="1"/>
            <a:r>
              <a:rPr lang="ms-MY" sz="2000" dirty="0" smtClean="0"/>
              <a:t>010 	2 -w-</a:t>
            </a:r>
          </a:p>
          <a:p>
            <a:pPr lvl="1"/>
            <a:r>
              <a:rPr lang="ms-MY" sz="2000" dirty="0" smtClean="0"/>
              <a:t>100 	4 r--</a:t>
            </a:r>
          </a:p>
          <a:p>
            <a:pPr lvl="1"/>
            <a:r>
              <a:rPr lang="ms-MY" sz="2000" dirty="0" smtClean="0"/>
              <a:t>110	 6 rw-</a:t>
            </a:r>
          </a:p>
          <a:p>
            <a:pPr lvl="1"/>
            <a:r>
              <a:rPr lang="ms-MY" sz="2000" dirty="0" smtClean="0"/>
              <a:t>101	 5 r-x</a:t>
            </a:r>
          </a:p>
          <a:p>
            <a:pPr lvl="1"/>
            <a:r>
              <a:rPr lang="ms-MY" sz="2000" dirty="0" smtClean="0"/>
              <a:t>-	 	644 rw-r--r--</a:t>
            </a:r>
            <a:endParaRPr kumimoji="1" lang="en-US" sz="2000" dirty="0" smtClean="0">
              <a:latin typeface="Times" pitchFamily="18" charset="0"/>
              <a:ea typeface="ＭＳ Ｐゴシック"/>
            </a:endParaRPr>
          </a:p>
          <a:p>
            <a:pPr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1800" b="1" dirty="0" smtClean="0"/>
              <a:t>chmod</a:t>
            </a:r>
          </a:p>
          <a:p>
            <a:r>
              <a:rPr lang="en-US" sz="1800" dirty="0" smtClean="0"/>
              <a:t>The </a:t>
            </a:r>
            <a:r>
              <a:rPr lang="en-US" sz="1800" dirty="0" err="1" smtClean="0"/>
              <a:t>chmod</a:t>
            </a:r>
            <a:r>
              <a:rPr lang="en-US" sz="1800" dirty="0" smtClean="0"/>
              <a:t> command changes the permission or </a:t>
            </a:r>
            <a:r>
              <a:rPr lang="en-US" sz="1800" i="1" dirty="0" smtClean="0"/>
              <a:t>mode of a file. Only the owner of </a:t>
            </a:r>
            <a:r>
              <a:rPr lang="en-US" sz="1800" dirty="0" smtClean="0"/>
              <a:t>the file or the </a:t>
            </a:r>
            <a:r>
              <a:rPr lang="en-US" sz="1800" dirty="0" err="1" smtClean="0"/>
              <a:t>superuser</a:t>
            </a:r>
            <a:r>
              <a:rPr lang="en-US" sz="1800" dirty="0" smtClean="0"/>
              <a:t> can change the permission. </a:t>
            </a:r>
            <a:endParaRPr lang="ms-MY" sz="1800" dirty="0" smtClean="0"/>
          </a:p>
          <a:p>
            <a:r>
              <a:rPr lang="ms-MY" sz="1800" dirty="0" smtClean="0"/>
              <a:t># make write-able for everyone</a:t>
            </a:r>
          </a:p>
          <a:p>
            <a:pPr lvl="1"/>
            <a:r>
              <a:rPr lang="ms-MY" sz="1400" dirty="0" smtClean="0"/>
              <a:t>chmod a+w myfile</a:t>
            </a:r>
          </a:p>
          <a:p>
            <a:r>
              <a:rPr lang="en-US" sz="1800" dirty="0" smtClean="0"/>
              <a:t># add the user (owner) ’execute’ flag for directory</a:t>
            </a:r>
          </a:p>
          <a:p>
            <a:pPr lvl="1"/>
            <a:r>
              <a:rPr lang="ms-MY" sz="1400" dirty="0" smtClean="0"/>
              <a:t>chmod u+x mydir/</a:t>
            </a:r>
          </a:p>
          <a:p>
            <a:r>
              <a:rPr lang="en-US" sz="1800" dirty="0" smtClean="0"/>
              <a:t># open all files for everyone</a:t>
            </a:r>
          </a:p>
          <a:p>
            <a:pPr lvl="1"/>
            <a:r>
              <a:rPr lang="ms-MY" sz="1400" dirty="0" smtClean="0"/>
              <a:t>chmod 755 *</a:t>
            </a:r>
          </a:p>
          <a:p>
            <a:r>
              <a:rPr lang="en-US" sz="1800" dirty="0" smtClean="0"/>
              <a:t># set the s-bit on my-</a:t>
            </a:r>
            <a:r>
              <a:rPr lang="en-US" sz="1800" dirty="0" err="1" smtClean="0"/>
              <a:t>dir’s</a:t>
            </a:r>
            <a:r>
              <a:rPr lang="en-US" sz="1800" dirty="0" smtClean="0"/>
              <a:t> group</a:t>
            </a:r>
          </a:p>
          <a:p>
            <a:pPr lvl="1"/>
            <a:r>
              <a:rPr lang="ms-MY" sz="1400" dirty="0" smtClean="0"/>
              <a:t>chmod g+s mydir/</a:t>
            </a:r>
          </a:p>
          <a:p>
            <a:r>
              <a:rPr lang="en-US" sz="1800" dirty="0" smtClean="0"/>
              <a:t># descend recursively into directory opening all files</a:t>
            </a:r>
          </a:p>
          <a:p>
            <a:pPr lvl="1"/>
            <a:r>
              <a:rPr lang="ms-MY" sz="1400" dirty="0" smtClean="0"/>
              <a:t>chmod -R a+r dir</a:t>
            </a:r>
          </a:p>
          <a:p>
            <a:pPr eaLnBrk="1" hangingPunct="1">
              <a:lnSpc>
                <a:spcPct val="80000"/>
              </a:lnSpc>
            </a:pPr>
            <a:endParaRPr kumimoji="1" lang="en-US" sz="18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1800" b="1" dirty="0" smtClean="0"/>
              <a:t>New file objects: umask</a:t>
            </a:r>
          </a:p>
          <a:p>
            <a:r>
              <a:rPr lang="en-US" sz="1800" dirty="0" smtClean="0"/>
              <a:t>When a new file is created, the operating system must decide what default protection bits to set on that file. The variable </a:t>
            </a:r>
            <a:r>
              <a:rPr lang="en-US" sz="1800" dirty="0" err="1" smtClean="0"/>
              <a:t>umask</a:t>
            </a:r>
            <a:r>
              <a:rPr lang="en-US" sz="1800" dirty="0" smtClean="0"/>
              <a:t> decides this. </a:t>
            </a:r>
            <a:r>
              <a:rPr lang="en-US" sz="1800" dirty="0" err="1" smtClean="0"/>
              <a:t>umask</a:t>
            </a:r>
            <a:r>
              <a:rPr lang="en-US" sz="1800" dirty="0" smtClean="0"/>
              <a:t> is normally set by each user in his or her .</a:t>
            </a:r>
            <a:r>
              <a:rPr lang="en-US" sz="1800" dirty="0" err="1" smtClean="0"/>
              <a:t>cshrc</a:t>
            </a:r>
            <a:r>
              <a:rPr lang="en-US" sz="1800" dirty="0" smtClean="0"/>
              <a:t> file (see next chapter). </a:t>
            </a:r>
          </a:p>
          <a:p>
            <a:endParaRPr lang="en-US" sz="1800" dirty="0" smtClean="0"/>
          </a:p>
          <a:p>
            <a:r>
              <a:rPr lang="ms-MY" sz="1800" dirty="0" smtClean="0"/>
              <a:t>umask 077 # safe</a:t>
            </a:r>
          </a:p>
          <a:p>
            <a:r>
              <a:rPr lang="ms-MY" sz="1800" dirty="0" smtClean="0"/>
              <a:t>umask 022 # liberal</a:t>
            </a:r>
          </a:p>
          <a:p>
            <a:r>
              <a:rPr lang="en-US" sz="1800" dirty="0" err="1" smtClean="0"/>
              <a:t>umask</a:t>
            </a:r>
            <a:r>
              <a:rPr lang="en-US" sz="1800" dirty="0" smtClean="0"/>
              <a:t> only removes bits, it never sets bits which were not already set in 666. For </a:t>
            </a:r>
            <a:r>
              <a:rPr lang="ms-MY" sz="1800" dirty="0" smtClean="0"/>
              <a:t>instance umask Permission</a:t>
            </a:r>
          </a:p>
          <a:p>
            <a:pPr lvl="1"/>
            <a:r>
              <a:rPr lang="ms-MY" sz="1400" dirty="0" smtClean="0"/>
              <a:t>077 	600 (plain)</a:t>
            </a:r>
          </a:p>
          <a:p>
            <a:pPr lvl="1"/>
            <a:r>
              <a:rPr lang="ms-MY" sz="1400" dirty="0" smtClean="0"/>
              <a:t>077	 700 (dir)</a:t>
            </a:r>
          </a:p>
          <a:p>
            <a:pPr lvl="1"/>
            <a:r>
              <a:rPr lang="ms-MY" sz="1400" dirty="0" smtClean="0"/>
              <a:t>022	 644 (plain)</a:t>
            </a:r>
          </a:p>
          <a:p>
            <a:pPr lvl="1"/>
            <a:r>
              <a:rPr lang="ms-MY" sz="1400" dirty="0" smtClean="0"/>
              <a:t>022	 755 (dir)</a:t>
            </a:r>
            <a:endParaRPr kumimoji="1" lang="en-US" sz="14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a:p>
            <a:pPr lvl="1" eaLnBrk="1" hangingPunct="1">
              <a:lnSpc>
                <a:spcPct val="80000"/>
              </a:lnSpc>
            </a:pP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1800" b="1" dirty="0" smtClean="0"/>
              <a:t>Making programs executable</a:t>
            </a:r>
          </a:p>
          <a:p>
            <a:r>
              <a:rPr lang="en-US" sz="1800" dirty="0" smtClean="0"/>
              <a:t>A Unix program is normally executed by typing its pathname. If the x execute bit is not set on the file, this will generate a ‘permission denied’ error. This protects the system from interpreting nonsense files as programs. </a:t>
            </a:r>
          </a:p>
          <a:p>
            <a:r>
              <a:rPr lang="en-US" sz="1800" dirty="0" smtClean="0"/>
              <a:t>To make a program executable for someone, you must therefore ensure that they can execute the file, </a:t>
            </a:r>
            <a:r>
              <a:rPr lang="ms-MY" sz="1800" dirty="0" smtClean="0"/>
              <a:t>using a command like</a:t>
            </a:r>
          </a:p>
          <a:p>
            <a:pPr lvl="1"/>
            <a:r>
              <a:rPr lang="ms-MY" sz="1400" dirty="0" smtClean="0"/>
              <a:t>chmod u+x filename</a:t>
            </a:r>
          </a:p>
          <a:p>
            <a:r>
              <a:rPr lang="en-US" sz="1800" dirty="0" smtClean="0"/>
              <a:t>This command would set execute permissions for the owner of the file; </a:t>
            </a:r>
            <a:r>
              <a:rPr lang="ms-MY" sz="1800" dirty="0" smtClean="0"/>
              <a:t>chmod ug+x filename </a:t>
            </a:r>
            <a:r>
              <a:rPr lang="en-US" sz="1800" dirty="0" smtClean="0"/>
              <a:t>would set execute permissions for the owner and for any users in the same  group as the file. Note that script programs must also be readable in order to be executable, since the shell has to interpret them by reading.</a:t>
            </a: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chown and chgrp</a:t>
            </a:r>
          </a:p>
          <a:p>
            <a:r>
              <a:rPr lang="en-US" sz="2400" dirty="0" smtClean="0"/>
              <a:t>These two commands change the ownership and the group ownership of a file.</a:t>
            </a:r>
          </a:p>
          <a:p>
            <a:pPr lvl="1"/>
            <a:r>
              <a:rPr lang="ms-MY" sz="2000" dirty="0" smtClean="0"/>
              <a:t>chown mark ~mark/testfile</a:t>
            </a:r>
          </a:p>
          <a:p>
            <a:pPr lvl="1"/>
            <a:r>
              <a:rPr lang="ms-MY" sz="2000" dirty="0" smtClean="0"/>
              <a:t>chgrp www ~mark/www/tmp/cgi.out</a:t>
            </a:r>
          </a:p>
          <a:p>
            <a:r>
              <a:rPr lang="en-US" sz="2400" dirty="0" smtClean="0"/>
              <a:t>In newer implementations of </a:t>
            </a:r>
            <a:r>
              <a:rPr lang="en-US" sz="2400" dirty="0" err="1" smtClean="0"/>
              <a:t>chown</a:t>
            </a:r>
            <a:r>
              <a:rPr lang="en-US" sz="2400" dirty="0" smtClean="0"/>
              <a:t>, we can change both owner and group attributes simultaneously, by using a dot notation:</a:t>
            </a:r>
          </a:p>
          <a:p>
            <a:pPr lvl="1"/>
            <a:r>
              <a:rPr lang="ms-MY" sz="2000" dirty="0" smtClean="0"/>
              <a:t>chown mark.www ~mark/www/tmp/cgi.out</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Making a group</a:t>
            </a:r>
          </a:p>
          <a:p>
            <a:r>
              <a:rPr lang="en-US" sz="2400" dirty="0" smtClean="0"/>
              <a:t>The </a:t>
            </a:r>
            <a:r>
              <a:rPr lang="en-US" sz="2400" dirty="0" err="1" smtClean="0"/>
              <a:t>superuser</a:t>
            </a:r>
            <a:r>
              <a:rPr lang="en-US" sz="2400" dirty="0" smtClean="0"/>
              <a:t> creates groups by editing the file /etc/group. Normally users other than root cannot define their own groups.</a:t>
            </a:r>
          </a:p>
          <a:p>
            <a:r>
              <a:rPr lang="en-US" sz="2400" dirty="0" smtClean="0"/>
              <a:t> This is a historical weakness in Unix, and one which no one seems to be in a hurry to change. It is possible to ‘hack’ a solution to this which allows users to create their own groups. The format of the group file is:</a:t>
            </a:r>
          </a:p>
          <a:p>
            <a:pPr lvl="1"/>
            <a:r>
              <a:rPr lang="ms-MY" sz="2000" dirty="0" smtClean="0"/>
              <a:t>group-name:: group-number: comma-separated-list-of-users</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ACLs, or access control lists are a modern replacement for file modes and permissions.</a:t>
            </a:r>
          </a:p>
          <a:p>
            <a:r>
              <a:rPr lang="en-US" sz="2400" dirty="0" smtClean="0"/>
              <a:t>With access control lists we can specify precisely the access rights to files for each user individually.</a:t>
            </a:r>
          </a:p>
          <a:p>
            <a:r>
              <a:rPr lang="en-US" sz="2400" dirty="0" smtClean="0"/>
              <a:t>ACLs are literally lists of access rights. Each file has a list of data structures with pairs of names and permissions:</a:t>
            </a: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1027" name="Picture 3"/>
          <p:cNvPicPr>
            <a:picLocks noChangeAspect="1" noChangeArrowheads="1"/>
          </p:cNvPicPr>
          <p:nvPr/>
        </p:nvPicPr>
        <p:blipFill>
          <a:blip r:embed="rId3"/>
          <a:srcRect/>
          <a:stretch>
            <a:fillRect/>
          </a:stretch>
        </p:blipFill>
        <p:spPr bwMode="auto">
          <a:xfrm>
            <a:off x="1295400" y="1981200"/>
            <a:ext cx="6986058"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the commands to read and write ACLs have the cumbersome </a:t>
            </a:r>
            <a:r>
              <a:rPr lang="ms-MY" sz="2400" dirty="0" smtClean="0"/>
              <a:t>names</a:t>
            </a:r>
          </a:p>
          <a:p>
            <a:pPr lvl="1"/>
            <a:r>
              <a:rPr lang="en-US" sz="2000" dirty="0" smtClean="0"/>
              <a:t> </a:t>
            </a:r>
            <a:r>
              <a:rPr lang="en-US" sz="2000" dirty="0" err="1" smtClean="0"/>
              <a:t>getfacl</a:t>
            </a:r>
            <a:r>
              <a:rPr lang="en-US" sz="2000" dirty="0" smtClean="0"/>
              <a:t> </a:t>
            </a:r>
            <a:r>
              <a:rPr lang="en-US" sz="2000" i="1" dirty="0" smtClean="0"/>
              <a:t>file Examine the ACLs for a file.</a:t>
            </a:r>
          </a:p>
          <a:p>
            <a:pPr lvl="1"/>
            <a:r>
              <a:rPr lang="en-US" sz="2000" dirty="0" smtClean="0"/>
              <a:t> </a:t>
            </a:r>
            <a:r>
              <a:rPr lang="en-US" sz="2000" dirty="0" err="1" smtClean="0"/>
              <a:t>setfacl</a:t>
            </a:r>
            <a:r>
              <a:rPr lang="en-US" sz="2000" dirty="0" smtClean="0"/>
              <a:t> </a:t>
            </a:r>
            <a:r>
              <a:rPr lang="en-US" sz="2000" i="1" dirty="0" smtClean="0"/>
              <a:t>file -s permission Set ACL entries for a file, replacing the entire list.</a:t>
            </a:r>
          </a:p>
          <a:p>
            <a:pPr lvl="1"/>
            <a:r>
              <a:rPr lang="en-US" sz="2000" dirty="0" err="1" smtClean="0"/>
              <a:t>setfacl</a:t>
            </a:r>
            <a:r>
              <a:rPr lang="en-US" sz="2000" dirty="0" smtClean="0"/>
              <a:t> </a:t>
            </a:r>
            <a:r>
              <a:rPr lang="en-US" sz="2000" i="1" dirty="0" smtClean="0"/>
              <a:t>file -m permission Set ACL entries for a file, adding to an existing </a:t>
            </a:r>
            <a:r>
              <a:rPr lang="ms-MY" sz="2400" dirty="0" smtClean="0"/>
              <a:t>list.</a:t>
            </a: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dirty="0" smtClean="0"/>
              <a:t>mercury% touch testfile</a:t>
            </a:r>
          </a:p>
          <a:p>
            <a:r>
              <a:rPr lang="ms-MY" sz="2400" dirty="0" smtClean="0"/>
              <a:t>mercury% getfacl testfile</a:t>
            </a:r>
          </a:p>
          <a:p>
            <a:pPr lvl="1"/>
            <a:r>
              <a:rPr lang="ms-MY" sz="2000" dirty="0" smtClean="0"/>
              <a:t># file:	 testfile</a:t>
            </a:r>
          </a:p>
          <a:p>
            <a:pPr lvl="1"/>
            <a:r>
              <a:rPr lang="ms-MY" sz="2000" dirty="0" smtClean="0"/>
              <a:t># owner:	 mark</a:t>
            </a:r>
          </a:p>
          <a:p>
            <a:pPr lvl="1"/>
            <a:r>
              <a:rPr lang="ms-MY" sz="2000" dirty="0" smtClean="0"/>
              <a:t># group:	 iugroup</a:t>
            </a:r>
          </a:p>
          <a:p>
            <a:pPr lvl="1"/>
            <a:r>
              <a:rPr lang="ms-MY" sz="2000" dirty="0" smtClean="0"/>
              <a:t>user::	rwgroup::---</a:t>
            </a:r>
          </a:p>
          <a:p>
            <a:pPr lvl="1"/>
            <a:r>
              <a:rPr lang="ms-MY" sz="2000" dirty="0" smtClean="0"/>
              <a:t>#effective:---</a:t>
            </a:r>
          </a:p>
          <a:p>
            <a:pPr lvl="1"/>
            <a:r>
              <a:rPr lang="ms-MY" sz="2000" dirty="0" smtClean="0"/>
              <a:t>mask:---</a:t>
            </a:r>
          </a:p>
          <a:p>
            <a:pPr lvl="1"/>
            <a:r>
              <a:rPr lang="ms-MY" sz="2000" dirty="0" smtClean="0"/>
              <a:t>other:---</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dirty="0" smtClean="0"/>
              <a:t>mercury% setfacl -m user:demos:rw- testfile</a:t>
            </a:r>
          </a:p>
          <a:p>
            <a:r>
              <a:rPr lang="ms-MY" sz="2400" dirty="0" smtClean="0"/>
              <a:t>mercury% getfacl testfile</a:t>
            </a:r>
          </a:p>
          <a:p>
            <a:pPr lvl="1"/>
            <a:r>
              <a:rPr lang="ms-MY" sz="2000" dirty="0" smtClean="0"/>
              <a:t># file: testfile</a:t>
            </a:r>
          </a:p>
          <a:p>
            <a:pPr lvl="1"/>
            <a:r>
              <a:rPr lang="ms-MY" sz="2000" dirty="0" smtClean="0"/>
              <a:t># owner: mark</a:t>
            </a:r>
          </a:p>
          <a:p>
            <a:pPr lvl="1"/>
            <a:r>
              <a:rPr lang="ms-MY" sz="2000" dirty="0" smtClean="0"/>
              <a:t># group: iugroup</a:t>
            </a:r>
          </a:p>
          <a:p>
            <a:pPr lvl="1"/>
            <a:r>
              <a:rPr lang="ms-MY" sz="2000" dirty="0" smtClean="0"/>
              <a:t>user::rwuser:</a:t>
            </a:r>
          </a:p>
          <a:p>
            <a:pPr lvl="1"/>
            <a:r>
              <a:rPr lang="ms-MY" sz="2000" dirty="0" smtClean="0"/>
              <a:t>demos:rw- #effective:---</a:t>
            </a:r>
          </a:p>
          <a:p>
            <a:pPr lvl="1"/>
            <a:r>
              <a:rPr lang="ms-MY" sz="2000" dirty="0" smtClean="0"/>
              <a:t>group::--- #effective:---</a:t>
            </a:r>
          </a:p>
          <a:p>
            <a:pPr lvl="1"/>
            <a:r>
              <a:rPr lang="ms-MY" sz="2000" dirty="0" smtClean="0"/>
              <a:t>mask:---</a:t>
            </a:r>
          </a:p>
          <a:p>
            <a:pPr lvl="1"/>
            <a:r>
              <a:rPr lang="ms-MY" sz="2000" dirty="0" smtClean="0"/>
              <a:t>other:---</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To open a file for reading by a group </a:t>
            </a:r>
            <a:r>
              <a:rPr lang="en-US" sz="2000" dirty="0" err="1" smtClean="0"/>
              <a:t>iugroup</a:t>
            </a:r>
            <a:r>
              <a:rPr lang="en-US" sz="2000" dirty="0" smtClean="0"/>
              <a:t>, except for one user called robot, </a:t>
            </a:r>
            <a:r>
              <a:rPr lang="ms-MY" sz="2000" dirty="0" smtClean="0"/>
              <a:t>one would write:</a:t>
            </a:r>
          </a:p>
          <a:p>
            <a:pPr lvl="1"/>
            <a:r>
              <a:rPr lang="ms-MY" sz="1600" dirty="0" smtClean="0"/>
              <a:t>mercury% setfacl -m group:iugroup:r--,user:robot:--- testfile</a:t>
            </a:r>
          </a:p>
          <a:p>
            <a:pPr lvl="1"/>
            <a:r>
              <a:rPr lang="ms-MY" sz="1600" dirty="0" smtClean="0"/>
              <a:t>mercury% getfacl testfile</a:t>
            </a:r>
          </a:p>
          <a:p>
            <a:pPr lvl="1"/>
            <a:r>
              <a:rPr lang="ms-MY" sz="1600" dirty="0" smtClean="0"/>
              <a:t># file: testfile</a:t>
            </a:r>
          </a:p>
          <a:p>
            <a:pPr lvl="1"/>
            <a:r>
              <a:rPr lang="ms-MY" sz="1600" dirty="0" smtClean="0"/>
              <a:t># owner: mark</a:t>
            </a:r>
          </a:p>
          <a:p>
            <a:pPr lvl="1"/>
            <a:r>
              <a:rPr lang="ms-MY" sz="1600" dirty="0" smtClean="0"/>
              <a:t># group: iugroup</a:t>
            </a:r>
          </a:p>
          <a:p>
            <a:pPr lvl="1"/>
            <a:r>
              <a:rPr lang="ms-MY" sz="1600" dirty="0" smtClean="0"/>
              <a:t>user::rwuser:</a:t>
            </a:r>
          </a:p>
          <a:p>
            <a:pPr lvl="1"/>
            <a:r>
              <a:rPr lang="ms-MY" sz="1600" dirty="0" smtClean="0"/>
              <a:t>robot:--- #effective:---</a:t>
            </a:r>
          </a:p>
          <a:p>
            <a:pPr lvl="1"/>
            <a:r>
              <a:rPr lang="ms-MY" sz="1600" dirty="0" smtClean="0"/>
              <a:t>user:demos:rw- #effective:---</a:t>
            </a:r>
          </a:p>
          <a:p>
            <a:pPr lvl="1"/>
            <a:r>
              <a:rPr lang="ms-MY" sz="1600" dirty="0" smtClean="0"/>
              <a:t>group::--- #effective:---</a:t>
            </a:r>
          </a:p>
          <a:p>
            <a:pPr lvl="1"/>
            <a:r>
              <a:rPr lang="ms-MY" sz="1600" dirty="0" smtClean="0"/>
              <a:t>group:iugroup:r-- #effective:---</a:t>
            </a:r>
          </a:p>
          <a:p>
            <a:pPr lvl="1"/>
            <a:r>
              <a:rPr lang="ms-MY" sz="1600" dirty="0" smtClean="0"/>
              <a:t>mask:---</a:t>
            </a:r>
          </a:p>
          <a:p>
            <a:pPr lvl="1"/>
            <a:r>
              <a:rPr lang="ms-MY" sz="1600" dirty="0" smtClean="0"/>
              <a:t>other:---</a:t>
            </a:r>
            <a:endParaRPr kumimoji="1" lang="en-US" sz="16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lang="ms-MY" sz="2400" b="1" dirty="0" smtClean="0"/>
              <a:t>Windows file model</a:t>
            </a:r>
          </a:p>
          <a:p>
            <a:r>
              <a:rPr lang="en-US" sz="2400" dirty="0" smtClean="0"/>
              <a:t>The Windows operating system supports a variety of legacy </a:t>
            </a:r>
            <a:r>
              <a:rPr lang="en-US" sz="2400" dirty="0" err="1" smtClean="0"/>
              <a:t>filesystems</a:t>
            </a:r>
            <a:r>
              <a:rPr lang="en-US" sz="2400" dirty="0" smtClean="0"/>
              <a:t> for backward compatibility with DOS and Windows 9x.</a:t>
            </a:r>
          </a:p>
          <a:p>
            <a:r>
              <a:rPr lang="en-US" sz="2400" dirty="0" smtClean="0"/>
              <a:t>NTFS, like the Unix file system, is a hierarchical file system with files and directories. </a:t>
            </a:r>
          </a:p>
          <a:p>
            <a:r>
              <a:rPr lang="en-US" sz="2400" dirty="0" smtClean="0"/>
              <a:t>Each file or directory has an owner, but no group membership. Files do not have a set of default permission bits,</a:t>
            </a:r>
            <a:endParaRPr kumimoji="1" lang="en-US" sz="2400" dirty="0" smtClean="0">
              <a:latin typeface="Times" pitchFamily="18" charset="0"/>
              <a:ea typeface="ＭＳ Ｐゴシック"/>
            </a:endParaRPr>
          </a:p>
          <a:p>
            <a:pPr lvl="1"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4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Filesystem layout</a:t>
            </a:r>
          </a:p>
          <a:p>
            <a:r>
              <a:rPr lang="en-US" sz="2000" dirty="0" smtClean="0"/>
              <a:t>Drawing on its DOS legacy, Windows treats different disk partitions as independent floppy disks, </a:t>
            </a:r>
            <a:r>
              <a:rPr lang="en-US" sz="2000" dirty="0" err="1" smtClean="0"/>
              <a:t>labelled</a:t>
            </a:r>
            <a:r>
              <a:rPr lang="en-US" sz="2000" dirty="0" smtClean="0"/>
              <a:t> by a letter of the alphabet:</a:t>
            </a:r>
          </a:p>
          <a:p>
            <a:pPr lvl="1"/>
            <a:r>
              <a:rPr lang="ms-MY" sz="2000" dirty="0" smtClean="0"/>
              <a:t>A: B: C: D: ...</a:t>
            </a:r>
          </a:p>
          <a:p>
            <a:r>
              <a:rPr lang="en-US" sz="2000" dirty="0" smtClean="0"/>
              <a:t>The system root is usually stored in C:\WinNT and is generally referred to by the </a:t>
            </a:r>
            <a:r>
              <a:rPr lang="ms-MY" sz="2000" dirty="0" smtClean="0"/>
              <a:t>system environment variable %SystemRoot%.</a:t>
            </a:r>
            <a:endParaRPr kumimoji="1" lang="en-US" sz="800" dirty="0" smtClean="0">
              <a:latin typeface="Times" pitchFamily="18" charset="0"/>
              <a:ea typeface="ＭＳ Ｐゴシック"/>
            </a:endParaRPr>
          </a:p>
          <a:p>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a:r>
              <a:rPr lang="en-US" sz="2000" dirty="0" smtClean="0"/>
              <a:t>C:\I386 This directory contains binary code and data for the Windows  operating system. </a:t>
            </a:r>
          </a:p>
          <a:p>
            <a:pPr lvl="1"/>
            <a:r>
              <a:rPr lang="en-US" sz="2000" dirty="0" smtClean="0"/>
              <a:t> C:\Program Files This is Windows’s official location for new software.</a:t>
            </a:r>
          </a:p>
          <a:p>
            <a:pPr lvl="1"/>
            <a:r>
              <a:rPr lang="en-US" sz="2000" dirty="0" smtClean="0"/>
              <a:t> C:\Temp Temporary scratch space, like Unix’s /</a:t>
            </a:r>
            <a:r>
              <a:rPr lang="en-US" sz="2000" dirty="0" err="1" smtClean="0"/>
              <a:t>tmp</a:t>
            </a:r>
            <a:r>
              <a:rPr lang="en-US" sz="2000" dirty="0" smtClean="0"/>
              <a:t>.</a:t>
            </a:r>
          </a:p>
          <a:p>
            <a:pPr lvl="1"/>
            <a:r>
              <a:rPr lang="en-US" sz="2000" dirty="0" smtClean="0"/>
              <a:t> C:\WinNT This is the root directory for the Windows system. </a:t>
            </a:r>
            <a:r>
              <a:rPr lang="ms-MY" sz="2000" dirty="0" smtClean="0"/>
              <a:t>might install themselves here.</a:t>
            </a:r>
          </a:p>
          <a:p>
            <a:pPr lvl="1"/>
            <a:r>
              <a:rPr lang="en-US" sz="2000" dirty="0" smtClean="0"/>
              <a:t>C:\WinNT\config Configuration information for programs. </a:t>
            </a:r>
          </a:p>
          <a:p>
            <a:pPr lvl="1"/>
            <a:r>
              <a:rPr lang="en-US" sz="2000" dirty="0" smtClean="0"/>
              <a:t>C:\WinNT\system32 This is the so-called system root. </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File extensions</a:t>
            </a:r>
          </a:p>
          <a:p>
            <a:r>
              <a:rPr lang="en-US" sz="2400" dirty="0" smtClean="0"/>
              <a:t>Whereas files can go by any name in Unix, Microsoft operating systems have always used the concept of file extensions to identify special file types. For example:</a:t>
            </a:r>
          </a:p>
          <a:p>
            <a:pPr lvl="1"/>
            <a:r>
              <a:rPr lang="ms-MY" sz="2000" dirty="0" smtClean="0"/>
              <a:t>file.EXE 	An executable program</a:t>
            </a:r>
          </a:p>
          <a:p>
            <a:pPr lvl="1"/>
            <a:r>
              <a:rPr lang="ms-MY" sz="2000" dirty="0" smtClean="0"/>
              <a:t>file.DOC 	Word document</a:t>
            </a:r>
          </a:p>
          <a:p>
            <a:pPr lvl="1"/>
            <a:r>
              <a:rPr lang="ms-MY" sz="2000" dirty="0" smtClean="0"/>
              <a:t>file.JPG 	Graphic file format</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Links and shortcuts</a:t>
            </a:r>
            <a:endParaRPr lang="en-US" sz="2400" dirty="0" smtClean="0"/>
          </a:p>
          <a:p>
            <a:r>
              <a:rPr lang="en-US" sz="2000" dirty="0" smtClean="0"/>
              <a:t>Windows also has ways of aliasing files in the </a:t>
            </a:r>
            <a:r>
              <a:rPr lang="en-US" sz="2000" dirty="0" err="1" smtClean="0"/>
              <a:t>filesystem</a:t>
            </a:r>
            <a:r>
              <a:rPr lang="en-US" sz="2000" dirty="0" smtClean="0"/>
              <a:t>. </a:t>
            </a:r>
          </a:p>
          <a:p>
            <a:r>
              <a:rPr lang="en-US" sz="2000" dirty="0" smtClean="0"/>
              <a:t>Windows has hard links, or duplicate entries in the master file table, allowing one to associate several names with a given file. </a:t>
            </a:r>
          </a:p>
          <a:p>
            <a:r>
              <a:rPr lang="en-US" sz="2000" dirty="0" smtClean="0"/>
              <a:t>This is not a pointer to a file, but an alternative entry point to the same file.</a:t>
            </a:r>
          </a:p>
          <a:p>
            <a:r>
              <a:rPr lang="en-US" sz="2000" dirty="0" smtClean="0"/>
              <a:t>A </a:t>
            </a:r>
            <a:r>
              <a:rPr lang="en-US" sz="2000" i="1" dirty="0" smtClean="0"/>
              <a:t>short cut is a small file which contains the </a:t>
            </a:r>
            <a:r>
              <a:rPr lang="en-US" sz="2000" dirty="0" smtClean="0"/>
              <a:t>name of another file, like a short script. It is normally used for aliasing scripts or </a:t>
            </a:r>
            <a:r>
              <a:rPr lang="ms-MY" sz="2000" dirty="0" smtClean="0"/>
              <a:t>programs.</a:t>
            </a:r>
            <a:endParaRPr kumimoji="1" lang="en-US" sz="2000" dirty="0" smtClean="0">
              <a:latin typeface="Times" pitchFamily="18" charset="0"/>
              <a:ea typeface="ＭＳ Ｐゴシック"/>
            </a:endParaRPr>
          </a:p>
          <a:p>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Access control lists</a:t>
            </a:r>
          </a:p>
          <a:p>
            <a:r>
              <a:rPr lang="en-US" sz="2000" dirty="0" smtClean="0"/>
              <a:t>Windows files and directories have the following attributes. Access control lists are composed of access control entries (ACEs) which consist of: - (next figure )</a:t>
            </a:r>
          </a:p>
          <a:p>
            <a:r>
              <a:rPr lang="en-US" sz="2000" dirty="0" smtClean="0"/>
              <a:t>The read, write and execute flags have the same functions as their counterparts in Unix. The execute flag is always set on .EXE files. </a:t>
            </a:r>
          </a:p>
          <a:p>
            <a:r>
              <a:rPr lang="en-US" sz="2000" dirty="0" smtClean="0"/>
              <a:t>The additional flags allow configurable behavior, where behavior is standardized in Unix. </a:t>
            </a:r>
          </a:p>
          <a:p>
            <a:r>
              <a:rPr lang="en-US" sz="2000" dirty="0" smtClean="0"/>
              <a:t>The delete flag determines whether or not a particular user has permission to delete an object </a:t>
            </a:r>
          </a:p>
          <a:p>
            <a:r>
              <a:rPr lang="en-US" sz="2000" dirty="0" smtClean="0"/>
              <a:t>The permission and ownership flags likewise determine whether or not a specified user can take ownership or modify the permissions on a file.</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2050" name="Picture 2"/>
          <p:cNvPicPr>
            <a:picLocks noChangeAspect="1" noChangeArrowheads="1"/>
          </p:cNvPicPr>
          <p:nvPr/>
        </p:nvPicPr>
        <p:blipFill>
          <a:blip r:embed="rId3"/>
          <a:srcRect/>
          <a:stretch>
            <a:fillRect/>
          </a:stretch>
        </p:blipFill>
        <p:spPr bwMode="auto">
          <a:xfrm>
            <a:off x="1600200" y="1905000"/>
            <a:ext cx="6267548"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Access control lists, or Access control entries are set and checked with either the Windows Explorer program (File/Properties/Security/Permissions menu) or the </a:t>
            </a:r>
            <a:r>
              <a:rPr lang="en-US" sz="2000" dirty="0" err="1" smtClean="0"/>
              <a:t>cacls</a:t>
            </a:r>
            <a:r>
              <a:rPr lang="en-US" sz="2000" dirty="0" smtClean="0"/>
              <a:t> command. </a:t>
            </a:r>
          </a:p>
          <a:p>
            <a:r>
              <a:rPr lang="en-US" sz="2000" dirty="0" smtClean="0"/>
              <a:t>This command works in more or less the same way as the POSIX </a:t>
            </a:r>
            <a:r>
              <a:rPr lang="en-US" sz="2000" dirty="0" err="1" smtClean="0"/>
              <a:t>setfacl</a:t>
            </a:r>
            <a:r>
              <a:rPr lang="en-US" sz="2000" dirty="0" smtClean="0"/>
              <a:t> command, but with different switches.</a:t>
            </a:r>
          </a:p>
          <a:p>
            <a:r>
              <a:rPr lang="ms-MY" sz="2000" dirty="0" smtClean="0"/>
              <a:t>Eg: hybrid&gt; CACLS testfile</a:t>
            </a:r>
          </a:p>
          <a:p>
            <a:pPr lvl="1"/>
            <a:r>
              <a:rPr lang="ms-MY" sz="1600" dirty="0" smtClean="0"/>
              <a:t>C:\home\mark\testfile BUILTIN\Administrators:F</a:t>
            </a:r>
          </a:p>
          <a:p>
            <a:pPr lvl="1"/>
            <a:r>
              <a:rPr lang="ms-MY" sz="1600" dirty="0" smtClean="0"/>
              <a:t>Everyone:C</a:t>
            </a:r>
          </a:p>
          <a:p>
            <a:pPr lvl="1"/>
            <a:r>
              <a:rPr lang="ms-MY" sz="1600" dirty="0" smtClean="0"/>
              <a:t>MT AUTHORITY\SYSTEM:F</a:t>
            </a:r>
          </a:p>
          <a:p>
            <a:pPr lvl="1"/>
            <a:r>
              <a:rPr lang="ms-MY" sz="1600" dirty="0" smtClean="0"/>
              <a:t>hybrid&gt; CACLS testfile /G ds:F</a:t>
            </a:r>
          </a:p>
          <a:p>
            <a:pPr lvl="1"/>
            <a:r>
              <a:rPr lang="ms-MY" sz="1600" dirty="0" smtClean="0"/>
              <a:t>Are you sure(Y/N)?</a:t>
            </a:r>
          </a:p>
          <a:p>
            <a:pPr lvl="1"/>
            <a:r>
              <a:rPr lang="ms-MY" sz="1600" dirty="0" smtClean="0"/>
              <a:t>hybrid&gt; CACLS testfile</a:t>
            </a:r>
          </a:p>
          <a:p>
            <a:pPr lvl="1"/>
            <a:r>
              <a:rPr lang="ms-MY" sz="1600" dirty="0" smtClean="0"/>
              <a:t>C:\home\mark\testfile HYBRID\ds:F</a:t>
            </a:r>
            <a:endParaRPr kumimoji="1" lang="en-US" sz="16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pt-BR" sz="2400" dirty="0" smtClean="0"/>
              <a:t>The result :-</a:t>
            </a:r>
          </a:p>
          <a:p>
            <a:pPr lvl="1"/>
            <a:r>
              <a:rPr lang="pt-BR" sz="2000" dirty="0" smtClean="0"/>
              <a:t>hybrid&gt; CACLS testfile /E /G mark:R</a:t>
            </a:r>
          </a:p>
          <a:p>
            <a:pPr lvl="1"/>
            <a:r>
              <a:rPr lang="ms-MY" sz="2000" dirty="0" smtClean="0"/>
              <a:t>{\var wait for 30 seconds}</a:t>
            </a:r>
          </a:p>
          <a:p>
            <a:pPr lvl="1"/>
            <a:r>
              <a:rPr lang="ms-MY" sz="2000" dirty="0" smtClean="0"/>
              <a:t>Are you sure(Y/N)?</a:t>
            </a:r>
          </a:p>
          <a:p>
            <a:pPr lvl="1"/>
            <a:r>
              <a:rPr lang="ms-MY" sz="2000" dirty="0" smtClean="0"/>
              <a:t>hybrid&gt; CACLS testfile</a:t>
            </a:r>
          </a:p>
          <a:p>
            <a:pPr lvl="1"/>
            <a:r>
              <a:rPr lang="ms-MY" sz="2000" dirty="0" smtClean="0"/>
              <a:t>C:\home\mark\testfile HYBRID\ds:F</a:t>
            </a:r>
          </a:p>
          <a:p>
            <a:pPr lvl="1"/>
            <a:r>
              <a:rPr lang="ms-MY" sz="2000" dirty="0" smtClean="0"/>
              <a:t>HYBRID\mark:R</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endParaRPr kumimoji="1" lang="en-US" sz="24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3074" name="Picture 2"/>
          <p:cNvPicPr>
            <a:picLocks noChangeAspect="1" noChangeArrowheads="1"/>
          </p:cNvPicPr>
          <p:nvPr/>
        </p:nvPicPr>
        <p:blipFill>
          <a:blip r:embed="rId3"/>
          <a:srcRect/>
          <a:stretch>
            <a:fillRect/>
          </a:stretch>
        </p:blipFill>
        <p:spPr bwMode="auto">
          <a:xfrm>
            <a:off x="1524000" y="2590800"/>
            <a:ext cx="6654799" cy="27295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 </a:t>
            </a:r>
            <a:r>
              <a:rPr kumimoji="1" lang="en-US" dirty="0" err="1" smtClean="0">
                <a:latin typeface="Times New Roman" pitchFamily="18" charset="0"/>
              </a:rPr>
              <a:t>Filesystem</a:t>
            </a:r>
            <a:r>
              <a:rPr kumimoji="1" lang="en-US" dirty="0" smtClean="0">
                <a:latin typeface="Times New Roman" pitchFamily="18" charset="0"/>
              </a:rPr>
              <a:t> Model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Unix and Windows have two of the most prevalent </a:t>
            </a:r>
            <a:r>
              <a:rPr lang="en-US" sz="2000" dirty="0" err="1" smtClean="0"/>
              <a:t>filesystem</a:t>
            </a:r>
            <a:r>
              <a:rPr lang="en-US" sz="2000" dirty="0" smtClean="0"/>
              <a:t> interfaces, apart from DOS itself (which has only a trivial interface), but they are both stunted </a:t>
            </a:r>
            <a:r>
              <a:rPr lang="ms-MY" sz="2000" dirty="0" smtClean="0"/>
              <a:t>in their development.</a:t>
            </a:r>
          </a:p>
          <a:p>
            <a:r>
              <a:rPr lang="en-US" sz="2000" dirty="0" smtClean="0"/>
              <a:t>Network File System (NFS) for Unix-like operating systems developed by sun-</a:t>
            </a:r>
            <a:r>
              <a:rPr lang="en-US" sz="2000" dirty="0" err="1" smtClean="0"/>
              <a:t>microsystems</a:t>
            </a:r>
            <a:r>
              <a:rPr lang="en-US" sz="2000" dirty="0" smtClean="0"/>
              <a:t>.</a:t>
            </a:r>
          </a:p>
          <a:p>
            <a:r>
              <a:rPr lang="en-US" sz="2000" dirty="0" smtClean="0"/>
              <a:t>This is a distributed </a:t>
            </a:r>
            <a:r>
              <a:rPr lang="en-US" sz="2000" dirty="0" err="1" smtClean="0"/>
              <a:t>filesystem</a:t>
            </a:r>
            <a:r>
              <a:rPr lang="en-US" sz="2000" dirty="0" smtClean="0"/>
              <a:t>, for mainly local area networks.</a:t>
            </a:r>
          </a:p>
          <a:p>
            <a:r>
              <a:rPr lang="en-US" sz="2000" dirty="0" smtClean="0"/>
              <a:t>Other </a:t>
            </a:r>
            <a:r>
              <a:rPr lang="en-US" sz="2000" dirty="0" err="1" smtClean="0"/>
              <a:t>filesystems</a:t>
            </a:r>
            <a:r>
              <a:rPr lang="en-US" sz="2000" dirty="0" smtClean="0"/>
              <a:t> that are gaining in popularity include the Andrew File System </a:t>
            </a:r>
            <a:r>
              <a:rPr lang="ms-MY" sz="2000" dirty="0" smtClean="0"/>
              <a:t>(AFS),</a:t>
            </a:r>
            <a:endParaRPr kumimoji="1" lang="en-US" sz="20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r>
              <a:rPr lang="ms-MY" dirty="0" smtClean="0"/>
              <a:t>Unix and Windows sharing</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err="1" smtClean="0"/>
              <a:t>Filesystems</a:t>
            </a:r>
            <a:r>
              <a:rPr lang="en-US" sz="2000" dirty="0" smtClean="0"/>
              <a:t> can be shared across a network by any of the methods we have discussed above. </a:t>
            </a:r>
          </a:p>
          <a:p>
            <a:r>
              <a:rPr lang="en-US" sz="2000" dirty="0" smtClean="0"/>
              <a:t>We can briefly note here the  correspondence of commands and methods for achieving network sharing.</a:t>
            </a:r>
          </a:p>
          <a:p>
            <a:r>
              <a:rPr lang="en-US" sz="2000" dirty="0" smtClean="0"/>
              <a:t>Unix-like hosts use NFS to share </a:t>
            </a:r>
            <a:r>
              <a:rPr lang="en-US" sz="2000" dirty="0" err="1" smtClean="0"/>
              <a:t>filesystems</a:t>
            </a:r>
            <a:r>
              <a:rPr lang="en-US" sz="2000" dirty="0" smtClean="0"/>
              <a:t>, by running the daemons (e.g. </a:t>
            </a:r>
            <a:r>
              <a:rPr lang="en-US" sz="2000" dirty="0" err="1" smtClean="0"/>
              <a:t>rpc.mountd</a:t>
            </a:r>
            <a:r>
              <a:rPr lang="en-US" sz="2000" dirty="0" smtClean="0"/>
              <a:t> and </a:t>
            </a:r>
            <a:r>
              <a:rPr lang="en-US" sz="2000" dirty="0" err="1" smtClean="0"/>
              <a:t>rpc.nfsd</a:t>
            </a:r>
            <a:r>
              <a:rPr lang="en-US" sz="2000" dirty="0" smtClean="0"/>
              <a:t>). </a:t>
            </a:r>
          </a:p>
          <a:p>
            <a:r>
              <a:rPr lang="en-US" sz="2000" dirty="0" err="1" smtClean="0"/>
              <a:t>Filesystems</a:t>
            </a:r>
            <a:r>
              <a:rPr lang="en-US" sz="2000" dirty="0" smtClean="0"/>
              <a:t> are made available for sharing by adding them to the file /etc/exports, on most systems, or confusingly to </a:t>
            </a:r>
            <a:r>
              <a:rPr lang="ms-MY" sz="2000" dirty="0" smtClean="0"/>
              <a:t>/etc/dfs/dfstab on SVR4 based Unix.</a:t>
            </a:r>
          </a:p>
          <a:p>
            <a:pPr>
              <a:buNone/>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Windows </a:t>
            </a:r>
            <a:r>
              <a:rPr lang="en-US" sz="2000" dirty="0" err="1" smtClean="0"/>
              <a:t>filesystems</a:t>
            </a:r>
            <a:r>
              <a:rPr lang="en-US" sz="2000" dirty="0" smtClean="0"/>
              <a:t> on a server are shared, either using the GUI, or by </a:t>
            </a:r>
            <a:r>
              <a:rPr lang="ms-MY" sz="2000" dirty="0" smtClean="0"/>
              <a:t>executing the command : -</a:t>
            </a:r>
          </a:p>
          <a:p>
            <a:pPr lvl="1"/>
            <a:r>
              <a:rPr lang="ms-MY" sz="1600" dirty="0" smtClean="0"/>
              <a:t>net share alias=F:\filetree</a:t>
            </a:r>
          </a:p>
          <a:p>
            <a:r>
              <a:rPr lang="en-US" sz="2000" dirty="0" smtClean="0"/>
              <a:t>On the client side, the file tree can then be ‘mounted’ by executing the command</a:t>
            </a:r>
          </a:p>
          <a:p>
            <a:pPr lvl="1"/>
            <a:r>
              <a:rPr lang="ms-MY" sz="1600" dirty="0" smtClean="0"/>
              <a:t>net use X: \\serverhost\alias</a:t>
            </a:r>
          </a:p>
          <a:p>
            <a:r>
              <a:rPr lang="en-US" sz="2000" dirty="0" smtClean="0"/>
              <a:t>This attaches the remote file tree, referenced by the alias, to Windows drive</a:t>
            </a:r>
          </a:p>
          <a:p>
            <a:pPr lvl="1"/>
            <a:r>
              <a:rPr lang="en-US" sz="1600" dirty="0" smtClean="0"/>
              <a:t>X:. One of the logistical difficulties with the Windows drive model is that drive</a:t>
            </a:r>
            <a:endParaRPr kumimoji="1" lang="en-US" sz="1600" dirty="0" smtClean="0">
              <a:latin typeface="Times" pitchFamily="18" charset="0"/>
              <a:ea typeface="ＭＳ Ｐゴシック"/>
            </a:endParaRPr>
          </a:p>
          <a:p>
            <a:r>
              <a:rPr lang="en-US" sz="2000" dirty="0" smtClean="0"/>
              <a:t>Drive associations can be made to persist by adding a flag</a:t>
            </a:r>
          </a:p>
          <a:p>
            <a:pPr lvl="1"/>
            <a:r>
              <a:rPr lang="en-US" sz="1600" dirty="0" smtClean="0"/>
              <a:t>net use X: \\serverhost\alias /</a:t>
            </a:r>
            <a:r>
              <a:rPr lang="en-US" sz="1600" dirty="0" err="1" smtClean="0"/>
              <a:t>persistent:yes</a:t>
            </a:r>
            <a:r>
              <a:rPr lang="en-US" sz="1600" dirty="0" smtClean="0"/>
              <a:t> </a:t>
            </a:r>
          </a:p>
          <a:p>
            <a:pPr>
              <a:buNone/>
            </a:pPr>
            <a:r>
              <a:rPr lang="ms-MY" sz="2000" dirty="0" smtClean="0"/>
              <a:t>	to the mount command </a:t>
            </a: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Process Job Control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r>
              <a:rPr lang="ms-MY" sz="2000" b="1" dirty="0" smtClean="0"/>
              <a:t>The Unix process model</a:t>
            </a:r>
            <a:endParaRPr kumimoji="1" lang="en-US" sz="2000" b="1" dirty="0" smtClean="0">
              <a:latin typeface="Times" pitchFamily="18" charset="0"/>
              <a:ea typeface="ＭＳ Ｐゴシック"/>
            </a:endParaRPr>
          </a:p>
          <a:p>
            <a:pPr lvl="1" eaLnBrk="1" hangingPunct="1">
              <a:lnSpc>
                <a:spcPct val="80000"/>
              </a:lnSpc>
            </a:pPr>
            <a:endParaRPr kumimoji="1" lang="en-US" sz="2000" b="1" dirty="0" smtClean="0">
              <a:latin typeface="Times" pitchFamily="18" charset="0"/>
              <a:ea typeface="ＭＳ Ｐゴシック"/>
            </a:endParaRPr>
          </a:p>
          <a:p>
            <a:r>
              <a:rPr lang="en-US" sz="2000" dirty="0" smtClean="0"/>
              <a:t>Unix starts new processes by copying old ones. Users start processes from a </a:t>
            </a:r>
            <a:r>
              <a:rPr lang="en-US" sz="2000" i="1" dirty="0" smtClean="0"/>
              <a:t>shell </a:t>
            </a:r>
            <a:r>
              <a:rPr lang="en-US" sz="2000" dirty="0" smtClean="0"/>
              <a:t>command line interface program or by clicking on icons in a window manager.</a:t>
            </a:r>
          </a:p>
          <a:p>
            <a:r>
              <a:rPr lang="en-US" sz="2000" dirty="0" smtClean="0"/>
              <a:t>Every Unix process has a process ID (PID) which can be used to refer to it, suspend it or kill it entirely.</a:t>
            </a:r>
          </a:p>
          <a:p>
            <a:r>
              <a:rPr lang="en-US" sz="2000" dirty="0" smtClean="0"/>
              <a:t>A background process is started from a shell using the special character &amp; at the end of the command line.</a:t>
            </a:r>
          </a:p>
          <a:p>
            <a:pPr lvl="1"/>
            <a:r>
              <a:rPr lang="en-US" sz="1600" dirty="0" smtClean="0"/>
              <a:t>find / -name ’*lib*’ -print &gt;&amp; output &amp;</a:t>
            </a:r>
            <a:endParaRPr kumimoji="1" lang="en-US" sz="2000" dirty="0" smtClean="0">
              <a:latin typeface="Times" pitchFamily="18" charset="0"/>
              <a:ea typeface="ＭＳ Ｐゴシック"/>
            </a:endParaRPr>
          </a:p>
          <a:p>
            <a:r>
              <a:rPr lang="en-US" sz="2000" dirty="0" smtClean="0"/>
              <a:t>Processes can be stopped and started, or killed once and for all. The kill command does this and more.</a:t>
            </a: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Process Job Control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kumimoji="1" lang="en-US" sz="2400" dirty="0" smtClean="0">
                <a:latin typeface="Times" pitchFamily="18" charset="0"/>
                <a:ea typeface="ＭＳ Ｐゴシック"/>
              </a:rPr>
              <a:t>Example</a:t>
            </a:r>
          </a:p>
          <a:p>
            <a:r>
              <a:rPr lang="ms-MY" sz="2400" dirty="0" smtClean="0"/>
              <a:t>kill -15 127</a:t>
            </a:r>
          </a:p>
          <a:p>
            <a:r>
              <a:rPr lang="ms-MY" sz="2400" dirty="0" smtClean="0"/>
              <a:t>kill 127</a:t>
            </a:r>
          </a:p>
          <a:p>
            <a:r>
              <a:rPr lang="ms-MY" sz="2400" dirty="0" smtClean="0"/>
              <a:t>kill -9 127</a:t>
            </a:r>
            <a:endParaRPr kumimoji="1" lang="en-US" sz="24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err="1" smtClean="0">
                <a:latin typeface="Times New Roman" pitchFamily="18" charset="0"/>
              </a:rPr>
              <a:t>Prosess</a:t>
            </a:r>
            <a:r>
              <a:rPr kumimoji="1" lang="en-US" dirty="0" smtClean="0">
                <a:latin typeface="Times New Roman" pitchFamily="18" charset="0"/>
              </a:rPr>
              <a:t> Job Control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The Windows process model</a:t>
            </a:r>
          </a:p>
          <a:p>
            <a:r>
              <a:rPr lang="en-US" sz="2400" dirty="0" smtClean="0"/>
              <a:t>Like Unix, processes under Windows/NT can live in the foreground or in the background, though unlike Unix, Windows does not fork processes by replicating</a:t>
            </a:r>
          </a:p>
          <a:p>
            <a:r>
              <a:rPr lang="en-US" sz="2400" dirty="0" smtClean="0"/>
              <a:t>existing ones. A background process can be started with </a:t>
            </a:r>
          </a:p>
          <a:p>
            <a:pPr lvl="1"/>
            <a:r>
              <a:rPr lang="ms-MY" sz="2000" dirty="0" smtClean="0"/>
              <a:t>start /B</a:t>
            </a:r>
          </a:p>
          <a:p>
            <a:r>
              <a:rPr lang="en-US" sz="2400" dirty="0" smtClean="0"/>
              <a:t>to kill the process it is necessary to purchase the Resource kit which </a:t>
            </a:r>
            <a:r>
              <a:rPr lang="ms-MY" sz="2400" dirty="0" smtClean="0"/>
              <a:t>contains a kill command.</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Networks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The network is the largest physical appendage to our computer systems, but it is also the least conspicuous, often hidden behind walls and in locked switching rooms, or passing invisibly through us as electromagnetic radiation.</a:t>
            </a:r>
          </a:p>
          <a:p>
            <a:r>
              <a:rPr lang="en-US" sz="2000" dirty="0" smtClean="0"/>
              <a:t>A network is a number of pathways for communication between two or more hosts. </a:t>
            </a:r>
          </a:p>
          <a:p>
            <a:r>
              <a:rPr lang="en-US" sz="2000" dirty="0" smtClean="0"/>
              <a:t>Networking is increasingly important, as computers are used more and more as devices for media access rather than for computation. </a:t>
            </a:r>
          </a:p>
          <a:p>
            <a:r>
              <a:rPr lang="en-US" sz="2000" dirty="0" smtClean="0"/>
              <a:t>Networking raises issues </a:t>
            </a:r>
            <a:r>
              <a:rPr lang="ms-MY" sz="2000" dirty="0" smtClean="0"/>
              <a:t>for system management at many levels,</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The OSI Model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The International Standards Organization (ISO) has defined a model for describing communications across a network, called the OSI model, for </a:t>
            </a:r>
            <a:r>
              <a:rPr lang="en-US" sz="2400" i="1" dirty="0" smtClean="0"/>
              <a:t>Open Systems Interconnect (reference model). </a:t>
            </a:r>
          </a:p>
          <a:p>
            <a:r>
              <a:rPr lang="en-US" sz="2400" i="1" dirty="0" smtClean="0"/>
              <a:t>This model is a generalized abstraction of how network </a:t>
            </a:r>
            <a:r>
              <a:rPr lang="en-US" sz="2400" dirty="0" smtClean="0"/>
              <a:t>communication can be and is implemented.</a:t>
            </a:r>
          </a:p>
          <a:p>
            <a:r>
              <a:rPr lang="en-US" sz="2400" dirty="0" smtClean="0"/>
              <a:t> The model does not fit every network technology perfectly, but it is widely used to discuss and refer to the layers of </a:t>
            </a:r>
            <a:r>
              <a:rPr lang="ms-MY" sz="2400" dirty="0" smtClean="0"/>
              <a:t>technology involved in networking,</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OSI Model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4098" name="Picture 2"/>
          <p:cNvPicPr>
            <a:picLocks noChangeAspect="1" noChangeArrowheads="1"/>
          </p:cNvPicPr>
          <p:nvPr/>
        </p:nvPicPr>
        <p:blipFill>
          <a:blip r:embed="rId3"/>
          <a:srcRect/>
          <a:stretch>
            <a:fillRect/>
          </a:stretch>
        </p:blipFill>
        <p:spPr bwMode="auto">
          <a:xfrm>
            <a:off x="1828800" y="2362200"/>
            <a:ext cx="6071989" cy="30908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OSI Model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1. </a:t>
            </a:r>
            <a:r>
              <a:rPr lang="en-US" sz="2000" i="1" dirty="0" smtClean="0"/>
              <a:t>Physical layer. This is the sending a signal along a wire, amplifying it if it </a:t>
            </a:r>
            <a:r>
              <a:rPr lang="en-US" sz="2000" dirty="0" smtClean="0"/>
              <a:t>gets weak, removing noise etc. If the type of cable changes (we might want to reflect signals off a satellite or use fiber optics) we need to convert one kind of signal into another. Each type of transmission might have its own  accepted ways of sending data (i.e. protocols).</a:t>
            </a:r>
          </a:p>
          <a:p>
            <a:r>
              <a:rPr lang="en-US" sz="2000" dirty="0" smtClean="0"/>
              <a:t>2. </a:t>
            </a:r>
            <a:r>
              <a:rPr lang="en-US" sz="2000" i="1" dirty="0" smtClean="0"/>
              <a:t>Data link layer. This is a layer of checking which makes sure that what was </a:t>
            </a:r>
            <a:r>
              <a:rPr lang="en-US" sz="2000" dirty="0" smtClean="0"/>
              <a:t>sent from one end of a cable to the other actually arrived. This is sometimes called </a:t>
            </a:r>
            <a:r>
              <a:rPr lang="en-US" sz="2000" i="1" dirty="0" smtClean="0"/>
              <a:t>handshaking. The Ethernet protocol is layer 2, as is Token Ring. This </a:t>
            </a:r>
            <a:r>
              <a:rPr lang="en-US" sz="2000" dirty="0" smtClean="0"/>
              <a:t>level is </a:t>
            </a:r>
            <a:r>
              <a:rPr lang="en-US" sz="2000" dirty="0" err="1" smtClean="0"/>
              <a:t>labelled</a:t>
            </a:r>
            <a:r>
              <a:rPr lang="en-US" sz="2000" dirty="0" smtClean="0"/>
              <a:t> by Media Access Control (MAC) addresses.</a:t>
            </a: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Operating System</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3. </a:t>
            </a:r>
            <a:r>
              <a:rPr lang="en-US" sz="2000" i="1" dirty="0" smtClean="0"/>
              <a:t>Network layer. This is the layer of software which recognizes structure in the </a:t>
            </a:r>
            <a:r>
              <a:rPr lang="en-US" sz="2000" dirty="0" smtClean="0"/>
              <a:t>network. It establishes global identity and handles the delivery of data by manipulating the physical layer. The network layer needs to know something about addresses – i.e. where the data are going, since data might flow along many cables and connections to arrive where they are going. Layer 3 is the layer at which IP addresses enter.</a:t>
            </a:r>
          </a:p>
          <a:p>
            <a:r>
              <a:rPr lang="en-US" sz="2000" dirty="0" smtClean="0"/>
              <a:t>4. </a:t>
            </a:r>
            <a:r>
              <a:rPr lang="en-US" sz="2000" i="1" dirty="0" smtClean="0"/>
              <a:t>Transport layer. We shall concentrate on this layer for much of what follows. </a:t>
            </a:r>
            <a:r>
              <a:rPr lang="en-US" sz="2000" dirty="0" smtClean="0"/>
              <a:t>The transport layer builds ‘packets’ or ‘</a:t>
            </a:r>
            <a:r>
              <a:rPr lang="en-US" sz="2000" dirty="0" err="1" smtClean="0"/>
              <a:t>datagrams</a:t>
            </a:r>
            <a:r>
              <a:rPr lang="en-US" sz="2000" dirty="0" smtClean="0"/>
              <a:t>’ so that the network layer knows what is data and how to get the data to their destination. Because many machines could be talking on the same network all at the same time, data are broken up into short ‘bursts</a:t>
            </a: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OSI Model</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 Only one machine can talk over a cable at a time so we must have </a:t>
            </a:r>
            <a:r>
              <a:rPr lang="en-US" sz="2000" i="1" dirty="0" smtClean="0"/>
              <a:t>sharing. It is easy to share if the signals are </a:t>
            </a:r>
            <a:r>
              <a:rPr lang="en-US" sz="2000" dirty="0" smtClean="0"/>
              <a:t>sent in short bursts. This is analogous to the sharing of CPU time by use of time-slices. TCP and UDP protocols are encoded at this layer.</a:t>
            </a:r>
          </a:p>
          <a:p>
            <a:r>
              <a:rPr lang="en-US" sz="2000" dirty="0" smtClean="0"/>
              <a:t>5. </a:t>
            </a:r>
            <a:r>
              <a:rPr lang="en-US" sz="2000" i="1" dirty="0" smtClean="0"/>
              <a:t>Session layer. This is the part of a host’s operating system which helps a </a:t>
            </a:r>
            <a:r>
              <a:rPr lang="en-US" sz="2000" dirty="0" smtClean="0"/>
              <a:t>user program to set up a connection. This is typically done with </a:t>
            </a:r>
            <a:r>
              <a:rPr lang="en-US" sz="2000" i="1" dirty="0" smtClean="0"/>
              <a:t>sockets or </a:t>
            </a:r>
            <a:r>
              <a:rPr lang="ms-MY" sz="2000" dirty="0" smtClean="0"/>
              <a:t>the RPC.</a:t>
            </a:r>
          </a:p>
          <a:p>
            <a:r>
              <a:rPr lang="en-US" sz="2000" dirty="0" smtClean="0"/>
              <a:t>6. </a:t>
            </a:r>
            <a:r>
              <a:rPr lang="en-US" sz="2000" i="1" dirty="0" smtClean="0"/>
              <a:t>Presentation layer. How are the data to be sent by the sender and interpreted </a:t>
            </a:r>
            <a:r>
              <a:rPr lang="en-US" sz="2000" dirty="0" smtClean="0"/>
              <a:t>by the receiver, so that there is no doubt about their contents? This is the role played by the external data representation (XDR) in the RPC system.</a:t>
            </a:r>
          </a:p>
          <a:p>
            <a:r>
              <a:rPr lang="en-US" sz="2000" dirty="0" smtClean="0"/>
              <a:t>7. </a:t>
            </a:r>
            <a:r>
              <a:rPr lang="en-US" sz="2000" i="1" dirty="0" smtClean="0"/>
              <a:t>Application layer. The program which wants to send data has its own protocol </a:t>
            </a:r>
            <a:r>
              <a:rPr lang="en-US" sz="2000" dirty="0" smtClean="0"/>
              <a:t>layer, typically a command language encoding (e.g. GET, PUT in FTP or HTTP).</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Cables and interface technologies</a:t>
            </a:r>
          </a:p>
          <a:p>
            <a:r>
              <a:rPr lang="en-US" sz="2000" dirty="0" smtClean="0"/>
              <a:t>• </a:t>
            </a:r>
            <a:r>
              <a:rPr lang="en-US" sz="2000" i="1" dirty="0" smtClean="0"/>
              <a:t>Bus/Ethernet approach: Ethernet technology was developed by Xerox, Intel </a:t>
            </a:r>
            <a:r>
              <a:rPr lang="en-US" sz="2000" dirty="0" smtClean="0"/>
              <a:t>and DEC in 1976, at the Palo Alto Research Center (PARC) [103].</a:t>
            </a:r>
          </a:p>
          <a:p>
            <a:r>
              <a:rPr lang="en-US" sz="2000" i="1" dirty="0" smtClean="0"/>
              <a:t>Token Ring/FDDI approach: In the token ring approach [253], hosts are </a:t>
            </a:r>
            <a:r>
              <a:rPr lang="en-US" sz="2000" dirty="0" smtClean="0"/>
              <a:t>coupled to hubs or nodes each of which has two network interfaces and the hosts are connected in a </a:t>
            </a:r>
            <a:r>
              <a:rPr lang="en-US" sz="2000" dirty="0" err="1" smtClean="0"/>
              <a:t>uni</a:t>
            </a:r>
            <a:r>
              <a:rPr lang="en-US" sz="2000" dirty="0" smtClean="0"/>
              <a:t>-directional ring.</a:t>
            </a:r>
          </a:p>
          <a:p>
            <a:r>
              <a:rPr lang="en-US" sz="2000" i="1" dirty="0" smtClean="0"/>
              <a:t>Frame Relay is an alternative layer 2 packet-switching protocol for connecting </a:t>
            </a:r>
            <a:r>
              <a:rPr lang="en-US" sz="2000" dirty="0" smtClean="0"/>
              <a:t>devices on a Wide Area Network (WAN) or backbone. It is used for point-</a:t>
            </a:r>
            <a:r>
              <a:rPr lang="en-US" sz="2000" dirty="0" err="1" smtClean="0"/>
              <a:t>topoint</a:t>
            </a:r>
            <a:r>
              <a:rPr lang="en-US" sz="2000" dirty="0" smtClean="0"/>
              <a:t> connections, but is capable of basic switching, like ATM, so it can create virtual point-to-point circuits.</a:t>
            </a: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i="1" dirty="0" smtClean="0"/>
              <a:t>ATM, Asynchronous Transfer Mode technology [23], is a high capacity, deterministic, </a:t>
            </a:r>
            <a:r>
              <a:rPr lang="en-US" sz="2000" dirty="0" smtClean="0"/>
              <a:t>transmission technology developed by telephone companies in order to exploit existing copper telephone networks.</a:t>
            </a:r>
          </a:p>
          <a:p>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eaLnBrk="1" hangingPunct="1">
              <a:lnSpc>
                <a:spcPct val="80000"/>
              </a:lnSpc>
            </a:pPr>
            <a:r>
              <a:rPr lang="ms-MY" sz="2400" b="1" dirty="0" smtClean="0"/>
              <a:t>Connectivity</a:t>
            </a:r>
          </a:p>
          <a:p>
            <a:r>
              <a:rPr lang="en-US" sz="2000" dirty="0" smtClean="0"/>
              <a:t>Network cables are joined together by hardware which makes sure that messages are transmitted from cable to segment in the right direction to reach their destinations.</a:t>
            </a:r>
          </a:p>
          <a:p>
            <a:r>
              <a:rPr lang="en-US" sz="2000" dirty="0" smtClean="0"/>
              <a:t>A host which is coupled to several network segments and which forwards data from one network to another is called a </a:t>
            </a:r>
            <a:r>
              <a:rPr lang="en-US" sz="2000" i="1" dirty="0" smtClean="0"/>
              <a:t>router. </a:t>
            </a:r>
          </a:p>
          <a:p>
            <a:r>
              <a:rPr lang="en-US" sz="2000" i="1" dirty="0" smtClean="0"/>
              <a:t>Routers not only forward data </a:t>
            </a:r>
            <a:r>
              <a:rPr lang="en-US" sz="2000" dirty="0" smtClean="0"/>
              <a:t>but they prevent the spread of network messages which other network segments do not need to know about.</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A </a:t>
            </a:r>
            <a:r>
              <a:rPr lang="en-US" sz="2000" i="1" dirty="0" smtClean="0"/>
              <a:t>bridge is a hardware device which acts like a filter on busy networks. </a:t>
            </a:r>
          </a:p>
          <a:p>
            <a:r>
              <a:rPr lang="en-US" sz="2000" i="1" dirty="0" smtClean="0"/>
              <a:t>A bridge </a:t>
            </a:r>
            <a:r>
              <a:rPr lang="en-US" sz="2000" dirty="0" smtClean="0"/>
              <a:t>works like a ‘mini-router’ and separates two segments of the same cable. </a:t>
            </a:r>
          </a:p>
          <a:p>
            <a:r>
              <a:rPr lang="en-US" sz="2000" dirty="0" smtClean="0"/>
              <a:t>A bridge knows which incoming cables do </a:t>
            </a:r>
            <a:r>
              <a:rPr lang="en-US" sz="2000" i="1" dirty="0" smtClean="0"/>
              <a:t>not offer a destination address and prevents </a:t>
            </a:r>
            <a:r>
              <a:rPr lang="en-US" sz="2000" dirty="0" smtClean="0"/>
              <a:t>traffic from spreading to this part of a cable. A bridge is used to isolate traffic on busy sections of a network or conversely to splice networks together. It is a </a:t>
            </a:r>
            <a:r>
              <a:rPr lang="ms-MY" sz="2000" dirty="0" smtClean="0"/>
              <a:t>primitive kind of switch.</a:t>
            </a:r>
            <a:endParaRPr kumimoji="1" lang="en-US" sz="20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A </a:t>
            </a:r>
            <a:r>
              <a:rPr lang="en-US" sz="2400" i="1" dirty="0" smtClean="0"/>
              <a:t>repeater is an amplifier that strengthens the network signal over long </a:t>
            </a:r>
            <a:r>
              <a:rPr lang="en-US" sz="2400" dirty="0" smtClean="0"/>
              <a:t>stretches of cable. </a:t>
            </a:r>
          </a:p>
          <a:p>
            <a:r>
              <a:rPr lang="en-US" sz="2400" dirty="0" smtClean="0"/>
              <a:t>A </a:t>
            </a:r>
            <a:r>
              <a:rPr lang="en-US" sz="2400" i="1" dirty="0" smtClean="0"/>
              <a:t>multi-port repeater also called a hub does the same thing </a:t>
            </a:r>
            <a:r>
              <a:rPr lang="en-US" sz="2400" dirty="0" smtClean="0"/>
              <a:t>and also splits one cable into </a:t>
            </a:r>
            <a:r>
              <a:rPr lang="en-US" sz="2400" i="1" dirty="0" smtClean="0"/>
              <a:t>N sub-cables for convenience. </a:t>
            </a:r>
          </a:p>
          <a:p>
            <a:r>
              <a:rPr lang="en-US" sz="2400" i="1" dirty="0" smtClean="0"/>
              <a:t>Hubs are common in </a:t>
            </a:r>
            <a:r>
              <a:rPr lang="en-US" sz="2400" dirty="0" smtClean="0"/>
              <a:t>twisted pair networks where it is necessary to fan a cable out into a star pattern from the hub to send one cable to each host.</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Network</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A </a:t>
            </a:r>
            <a:r>
              <a:rPr lang="en-US" sz="2000" i="1" dirty="0" smtClean="0"/>
              <a:t>switch is a hub which can direct a message from one host cable directly to the </a:t>
            </a:r>
            <a:r>
              <a:rPr lang="en-US" sz="2000" dirty="0" smtClean="0"/>
              <a:t>intended host by routing the signal directly.</a:t>
            </a:r>
          </a:p>
          <a:p>
            <a:r>
              <a:rPr lang="en-US" sz="2000" dirty="0" smtClean="0"/>
              <a:t> The advantage with this is that other machines do not have to see the traffic between two hosts. </a:t>
            </a:r>
          </a:p>
          <a:p>
            <a:r>
              <a:rPr lang="en-US" sz="2000" dirty="0" smtClean="0"/>
              <a:t>Each pair of hosts has a virtual private cable. Switched networks are not immune to spies, net-sniffing or network listening devices, but they make it more difficult for the casual browser to see traffic that does not concern them.</a:t>
            </a:r>
          </a:p>
          <a:p>
            <a:r>
              <a:rPr lang="en-US" sz="2000" dirty="0" smtClean="0"/>
              <a:t> A switch performs many of the tasks of a router and vice versa. The difference is that a switch works at layer 2 of the OSI model (i.e. with MAC addresses), whereas a router works at layer 3 (IP addresses).</a:t>
            </a:r>
          </a:p>
          <a:p>
            <a:r>
              <a:rPr lang="en-US" sz="2000" dirty="0" smtClean="0"/>
              <a:t>A switch cannot route data on a world-wide basis.</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VLANs (virtual LANs) are a step towards selective filtering at the switch level.</a:t>
            </a:r>
          </a:p>
          <a:p>
            <a:r>
              <a:rPr lang="en-US" sz="2400" dirty="0" smtClean="0"/>
              <a:t>They allow switches to protect swamped routers by offering different groups, or channels for related nodes.</a:t>
            </a:r>
          </a:p>
          <a:p>
            <a:r>
              <a:rPr kumimoji="1" lang="en-US" sz="2400" dirty="0" smtClean="0">
                <a:latin typeface="Times" pitchFamily="18" charset="0"/>
                <a:ea typeface="ＭＳ Ｐゴシック"/>
              </a:rPr>
              <a:t>LAN  ???</a:t>
            </a:r>
          </a:p>
          <a:p>
            <a:r>
              <a:rPr kumimoji="1" lang="en-US" sz="2400" dirty="0" smtClean="0">
                <a:latin typeface="Times" pitchFamily="18" charset="0"/>
                <a:ea typeface="ＭＳ Ｐゴシック"/>
              </a:rPr>
              <a:t>WAN  ??</a:t>
            </a:r>
            <a:endParaRPr kumimoji="1" lang="en-US" sz="2000" dirty="0" smtClean="0">
              <a:latin typeface="Times" pitchFamily="18" charset="0"/>
              <a:ea typeface="ＭＳ Ｐゴシック"/>
            </a:endParaRPr>
          </a:p>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Protocols and encapsulation</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Information transactions take place by agreed standards or </a:t>
            </a:r>
            <a:r>
              <a:rPr lang="en-US" sz="2000" i="1" dirty="0" smtClean="0"/>
              <a:t>protocols. </a:t>
            </a:r>
          </a:p>
          <a:p>
            <a:r>
              <a:rPr lang="en-US" sz="2000" i="1" dirty="0" smtClean="0"/>
              <a:t>Protocols </a:t>
            </a:r>
            <a:r>
              <a:rPr lang="en-US" sz="2000" dirty="0" smtClean="0"/>
              <a:t>exist to make sure that transmitted data are understood by the receiver in the way that the sender intended.</a:t>
            </a:r>
          </a:p>
          <a:p>
            <a:r>
              <a:rPr lang="en-US" sz="2000" dirty="0" smtClean="0"/>
              <a:t> protocols are required to make sure that data are understood, not only by the receiver, but by all the network hardware which carry them between source and destination.</a:t>
            </a:r>
          </a:p>
          <a:p>
            <a:r>
              <a:rPr lang="en-US" sz="2000" dirty="0" smtClean="0"/>
              <a:t> The data are wrapped up in envelope information which contains the address of the destination. </a:t>
            </a:r>
          </a:p>
          <a:p>
            <a:r>
              <a:rPr lang="en-US" sz="2000" dirty="0" smtClean="0"/>
              <a:t>Each transmission layer in the protocol stack (protocol hierarchy) is prefixed with some header information which contains the destination address and other data which identify it.</a:t>
            </a: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2" name="Picture 2"/>
          <p:cNvPicPr>
            <a:picLocks noChangeAspect="1" noChangeArrowheads="1"/>
          </p:cNvPicPr>
          <p:nvPr/>
        </p:nvPicPr>
        <p:blipFill>
          <a:blip r:embed="rId3"/>
          <a:srcRect/>
          <a:stretch>
            <a:fillRect/>
          </a:stretch>
        </p:blipFill>
        <p:spPr bwMode="auto">
          <a:xfrm>
            <a:off x="1295400" y="2895600"/>
            <a:ext cx="7245505"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6146" name="Picture 2"/>
          <p:cNvPicPr>
            <a:picLocks noChangeAspect="1" noChangeArrowheads="1"/>
          </p:cNvPicPr>
          <p:nvPr/>
        </p:nvPicPr>
        <p:blipFill>
          <a:blip r:embed="rId3"/>
          <a:srcRect/>
          <a:stretch>
            <a:fillRect/>
          </a:stretch>
        </p:blipFill>
        <p:spPr bwMode="auto">
          <a:xfrm>
            <a:off x="1524000" y="1676400"/>
            <a:ext cx="6266075"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The transmission control protocol (TCP) is for reliable connection-oriented transfer. </a:t>
            </a:r>
          </a:p>
          <a:p>
            <a:r>
              <a:rPr lang="en-US" sz="2000" dirty="0" smtClean="0"/>
              <a:t>The user datagram protocol (UDP) is a rather cheaper connection-less service and the Internet control message protocol (ICMP) is used to transmit error messages and routing information for TCP/IP.</a:t>
            </a:r>
          </a:p>
          <a:p>
            <a:r>
              <a:rPr lang="en-US" sz="2000" dirty="0" smtClean="0"/>
              <a:t> These protocols have an address structure which is hierarchical and </a:t>
            </a:r>
            <a:r>
              <a:rPr lang="en-US" sz="2000" i="1" dirty="0" smtClean="0"/>
              <a:t>routable, which means that IP addresses </a:t>
            </a:r>
            <a:r>
              <a:rPr lang="en-US" sz="2000" dirty="0" smtClean="0"/>
              <a:t>can find their way from any host in the world to any other so long as they are connected.</a:t>
            </a:r>
          </a:p>
          <a:p>
            <a:r>
              <a:rPr lang="en-US" sz="2000" dirty="0" smtClean="0"/>
              <a:t> The Ethernet protocol does not know much more about the world than the cable it is attached to.</a:t>
            </a: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Windows supports at least three network protocols, running on top of Ethernet.</a:t>
            </a:r>
          </a:p>
          <a:p>
            <a:pPr lvl="1"/>
            <a:r>
              <a:rPr lang="ms-MY" sz="2000" dirty="0" smtClean="0"/>
              <a:t>• </a:t>
            </a:r>
            <a:r>
              <a:rPr lang="ms-MY" sz="2000" i="1" dirty="0" smtClean="0"/>
              <a:t>NETBEUI: NETBIOS Extended User Interface, Microsoft’s own network protocol.</a:t>
            </a:r>
            <a:r>
              <a:rPr lang="en-US" sz="2000" dirty="0" smtClean="0"/>
              <a:t>This was designed for small networks and is not routable. It has a maximum limit of 20 simultaneous users and is thus hardly usable.</a:t>
            </a:r>
          </a:p>
          <a:p>
            <a:pPr lvl="1"/>
            <a:r>
              <a:rPr lang="ms-MY" sz="2000" dirty="0" smtClean="0"/>
              <a:t>• </a:t>
            </a:r>
            <a:r>
              <a:rPr lang="ms-MY" sz="2000" i="1" dirty="0" smtClean="0"/>
              <a:t>NWLink/IPX: Novell/Xerox’s IPX/SPX protocol suite. Routable. Maximum </a:t>
            </a:r>
            <a:r>
              <a:rPr lang="en-US" sz="2000" dirty="0" smtClean="0"/>
              <a:t>limit of 400 simultaneous users.</a:t>
            </a:r>
          </a:p>
          <a:p>
            <a:pPr lvl="1"/>
            <a:r>
              <a:rPr lang="en-US" sz="2000" i="1" dirty="0" smtClean="0"/>
              <a:t>TCP/IP: Standard Internet protocols. The default for Windows-like and </a:t>
            </a:r>
            <a:r>
              <a:rPr lang="en-US" sz="2000" i="1" dirty="0" err="1" smtClean="0"/>
              <a:t>Unixlike</a:t>
            </a:r>
            <a:r>
              <a:rPr lang="en-US" sz="2000" i="1" dirty="0" smtClean="0"/>
              <a:t> </a:t>
            </a:r>
            <a:r>
              <a:rPr lang="en-US" sz="2000" dirty="0" smtClean="0"/>
              <a:t>systems. Novell Netware and Apple </a:t>
            </a:r>
            <a:r>
              <a:rPr lang="en-US" sz="2000" dirty="0" err="1" smtClean="0"/>
              <a:t>MacIntosh</a:t>
            </a:r>
            <a:r>
              <a:rPr lang="en-US" sz="2000" dirty="0" smtClean="0"/>
              <a:t> systems also support TCP/IP. There is no in-built limit to the number of simultaneous users.</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Data Format</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000" dirty="0" smtClean="0">
                <a:latin typeface="+mj-lt"/>
              </a:rPr>
              <a:t>Operating systems (actually the </a:t>
            </a:r>
            <a:r>
              <a:rPr lang="en-US" sz="2000" dirty="0" smtClean="0">
                <a:latin typeface="+mj-lt"/>
              </a:rPr>
              <a:t>hardware they run on) fall into two categories known as </a:t>
            </a:r>
            <a:r>
              <a:rPr lang="en-US" sz="2000" i="1" dirty="0" smtClean="0">
                <a:latin typeface="+mj-lt"/>
              </a:rPr>
              <a:t>big </a:t>
            </a:r>
            <a:r>
              <a:rPr lang="en-US" sz="2000" i="1" dirty="0" err="1" smtClean="0">
                <a:latin typeface="+mj-lt"/>
              </a:rPr>
              <a:t>endian</a:t>
            </a:r>
            <a:r>
              <a:rPr lang="en-US" sz="2000" i="1" dirty="0" smtClean="0">
                <a:latin typeface="+mj-lt"/>
              </a:rPr>
              <a:t> and little </a:t>
            </a:r>
            <a:r>
              <a:rPr lang="en-US" sz="2000" i="1" dirty="0" err="1" smtClean="0">
                <a:latin typeface="+mj-lt"/>
              </a:rPr>
              <a:t>endian</a:t>
            </a:r>
            <a:r>
              <a:rPr lang="en-US" sz="2000" i="1" dirty="0" smtClean="0">
                <a:latin typeface="+mj-lt"/>
              </a:rPr>
              <a:t>. The names refer to the byte-order of numerical representations.</a:t>
            </a:r>
          </a:p>
          <a:p>
            <a:r>
              <a:rPr lang="en-US" sz="2000" dirty="0" smtClean="0">
                <a:latin typeface="+mj-lt"/>
              </a:rPr>
              <a:t>The names indicate how large integers (which require say 32 bits or more) are stored in memory. </a:t>
            </a:r>
          </a:p>
          <a:p>
            <a:r>
              <a:rPr lang="en-US" sz="2000" dirty="0" smtClean="0">
                <a:latin typeface="+mj-lt"/>
              </a:rPr>
              <a:t>Little </a:t>
            </a:r>
            <a:r>
              <a:rPr lang="en-US" sz="2000" dirty="0" err="1" smtClean="0">
                <a:latin typeface="+mj-lt"/>
              </a:rPr>
              <a:t>endian</a:t>
            </a:r>
            <a:r>
              <a:rPr lang="en-US" sz="2000" dirty="0" smtClean="0">
                <a:latin typeface="+mj-lt"/>
              </a:rPr>
              <a:t> systems store the least significant byte first, </a:t>
            </a:r>
          </a:p>
          <a:p>
            <a:r>
              <a:rPr lang="en-US" sz="2000" dirty="0" smtClean="0">
                <a:latin typeface="+mj-lt"/>
              </a:rPr>
              <a:t>Big </a:t>
            </a:r>
            <a:r>
              <a:rPr lang="en-US" sz="2000" dirty="0" err="1" smtClean="0">
                <a:latin typeface="+mj-lt"/>
              </a:rPr>
              <a:t>endian</a:t>
            </a:r>
            <a:r>
              <a:rPr lang="en-US" sz="2000" dirty="0" smtClean="0">
                <a:latin typeface="+mj-lt"/>
              </a:rPr>
              <a:t> systems store the most significant byte first.</a:t>
            </a:r>
          </a:p>
          <a:p>
            <a:r>
              <a:rPr lang="en-US" sz="2000" dirty="0" smtClean="0">
                <a:latin typeface="+mj-lt"/>
              </a:rPr>
              <a:t> For example, the representation of the number 34,677,374 has either of the forms shown in</a:t>
            </a:r>
            <a:r>
              <a:rPr kumimoji="1" lang="en-US" sz="2000" dirty="0" smtClean="0">
                <a:latin typeface="+mj-lt"/>
                <a:ea typeface="ＭＳ Ｐゴシック"/>
              </a:rPr>
              <a:t> next figure</a:t>
            </a:r>
            <a:endParaRPr lang="en-US" sz="2000" dirty="0" smtClean="0">
              <a:latin typeface="+mj-lt"/>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7170" name="Picture 2"/>
          <p:cNvPicPr>
            <a:picLocks noChangeAspect="1" noChangeArrowheads="1"/>
          </p:cNvPicPr>
          <p:nvPr/>
        </p:nvPicPr>
        <p:blipFill>
          <a:blip r:embed="rId3"/>
          <a:srcRect/>
          <a:stretch>
            <a:fillRect/>
          </a:stretch>
        </p:blipFill>
        <p:spPr bwMode="auto">
          <a:xfrm>
            <a:off x="1219200" y="2743200"/>
            <a:ext cx="7477760"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IPv4 networks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smtClean="0"/>
              <a:t>Every network interface on the Internet needs to have a unique number which is called its address. </a:t>
            </a:r>
          </a:p>
          <a:p>
            <a:r>
              <a:rPr lang="en-US" sz="2000" dirty="0" smtClean="0"/>
              <a:t>IP addresses are organized hierarchically so that they can be searched for by router networks. Without such a structure, it would be impossible to find a host unless it were part of the same cable segment. At present the  Internet protocol is at version 4 and this address consists of four bytes, or 32 bits.</a:t>
            </a:r>
          </a:p>
          <a:p>
            <a:r>
              <a:rPr lang="en-US" sz="2000" dirty="0" smtClean="0"/>
              <a:t>In the future this will be extended, in a new version of the Internet protocol IPv6, to allow more IP addresses since we are rapidly using up the available addresses.</a:t>
            </a:r>
          </a:p>
          <a:p>
            <a:r>
              <a:rPr lang="en-US" sz="2000" dirty="0" smtClean="0"/>
              <a:t>The addresses will also be structured differently. The form of an IP address in </a:t>
            </a:r>
            <a:r>
              <a:rPr lang="ms-MY" sz="2000" dirty="0" smtClean="0"/>
              <a:t>IPv4 is</a:t>
            </a:r>
          </a:p>
          <a:p>
            <a:pPr lvl="1"/>
            <a:r>
              <a:rPr lang="ms-MY" sz="1600" dirty="0" smtClean="0"/>
              <a:t>aaa.bbb.ccc.mmm</a:t>
            </a:r>
            <a:endParaRPr kumimoji="1" lang="en-US" sz="16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Networks were grouped </a:t>
            </a:r>
            <a:r>
              <a:rPr lang="en-US" sz="2400" i="1" dirty="0" smtClean="0"/>
              <a:t>historically into three classes called class A, class B </a:t>
            </a:r>
            <a:r>
              <a:rPr lang="en-US" sz="2400" dirty="0" smtClean="0"/>
              <a:t>and class C networks, in order to simplify traffic </a:t>
            </a:r>
          </a:p>
          <a:p>
            <a:r>
              <a:rPr lang="en-US" sz="2400" dirty="0" smtClean="0"/>
              <a:t>Class D and E networks are also now defined, but these are not used for regular </a:t>
            </a:r>
            <a:r>
              <a:rPr lang="ms-MY" sz="2400" dirty="0" smtClean="0"/>
              <a:t>traffic.</a:t>
            </a:r>
          </a:p>
          <a:p>
            <a:r>
              <a:rPr lang="en-US" sz="2400" dirty="0" smtClean="0"/>
              <a:t>The difference between class A, B and C networks lies in which bits of the IP addresses refer to the network itself and which bits refer to actual hosts within </a:t>
            </a:r>
            <a:r>
              <a:rPr lang="ms-MY" sz="2400" dirty="0" smtClean="0"/>
              <a:t>a network.</a:t>
            </a:r>
          </a:p>
          <a:p>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Class A legacy networks</a:t>
            </a:r>
          </a:p>
          <a:p>
            <a:r>
              <a:rPr lang="en-US" sz="2000" dirty="0" smtClean="0"/>
              <a:t>IP addresses from 1.0.0.0 to 127.255.255.255 are </a:t>
            </a:r>
            <a:r>
              <a:rPr lang="en-US" sz="2000" i="1" dirty="0" smtClean="0"/>
              <a:t>class A networks.</a:t>
            </a:r>
          </a:p>
          <a:p>
            <a:r>
              <a:rPr lang="en-US" sz="2000" i="1" dirty="0" smtClean="0"/>
              <a:t> Originally </a:t>
            </a:r>
            <a:r>
              <a:rPr lang="en-US" sz="2000" dirty="0" smtClean="0"/>
              <a:t>only 11.0.0.0 to 126.255.255.255 were used, but this is likely to change as the need for IPv4 address space becomes more desperate.</a:t>
            </a:r>
          </a:p>
          <a:p>
            <a:r>
              <a:rPr lang="en-US" sz="2000" dirty="0" smtClean="0"/>
              <a:t> In a class A network, the first byte is a network part and the last three bytes are the host address. This allows 126 possible networks (since network 127 is reserved for the loopback service). </a:t>
            </a:r>
          </a:p>
          <a:p>
            <a:r>
              <a:rPr lang="en-US" sz="2000" dirty="0" smtClean="0"/>
              <a:t>The number of hosts per class A network is 2563 minus reserved host addresses on the network.</a:t>
            </a:r>
            <a:endParaRPr kumimoji="1" lang="en-US" sz="2000" dirty="0" smtClean="0">
              <a:latin typeface="Times" pitchFamily="18" charset="0"/>
              <a:ea typeface="ＭＳ Ｐゴシック"/>
            </a:endParaRPr>
          </a:p>
          <a:p>
            <a:pPr lvl="1" eaLnBrk="1" hangingPunct="1">
              <a:lnSpc>
                <a:spcPct val="80000"/>
              </a:lnSpc>
            </a:pPr>
            <a:endParaRPr kumimoji="1" lang="en-US" sz="20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pPr lvl="1" eaLnBrk="1" hangingPunct="1">
              <a:lnSpc>
                <a:spcPct val="80000"/>
              </a:lnSpc>
            </a:pP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pic>
        <p:nvPicPr>
          <p:cNvPr id="8194" name="Picture 2"/>
          <p:cNvPicPr>
            <a:picLocks noChangeAspect="1" noChangeArrowheads="1"/>
          </p:cNvPicPr>
          <p:nvPr/>
        </p:nvPicPr>
        <p:blipFill>
          <a:blip r:embed="rId3"/>
          <a:srcRect/>
          <a:stretch>
            <a:fillRect/>
          </a:stretch>
        </p:blipFill>
        <p:spPr bwMode="auto">
          <a:xfrm>
            <a:off x="1066800" y="1600200"/>
            <a:ext cx="7315200" cy="44917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Class B legacy networks</a:t>
            </a:r>
          </a:p>
          <a:p>
            <a:r>
              <a:rPr lang="en-US" sz="2000" dirty="0" smtClean="0">
                <a:latin typeface="+mj-lt"/>
              </a:rPr>
              <a:t>IP addresses from 128.0.0.0 to 191.255.0.0 are </a:t>
            </a:r>
            <a:r>
              <a:rPr lang="en-US" sz="2000" i="1" dirty="0" smtClean="0">
                <a:latin typeface="+mj-lt"/>
              </a:rPr>
              <a:t>class B networks.</a:t>
            </a:r>
          </a:p>
          <a:p>
            <a:r>
              <a:rPr lang="en-US" sz="2000" i="1" dirty="0" smtClean="0">
                <a:latin typeface="+mj-lt"/>
              </a:rPr>
              <a:t> There are </a:t>
            </a:r>
            <a:r>
              <a:rPr lang="en-US" sz="2000" dirty="0" smtClean="0">
                <a:latin typeface="+mj-lt"/>
              </a:rPr>
              <a:t>16,384 such networks. The first two bytes are the network part and the last two bytes are the host part. </a:t>
            </a:r>
          </a:p>
          <a:p>
            <a:r>
              <a:rPr lang="en-US" sz="2000" dirty="0" smtClean="0">
                <a:latin typeface="+mj-lt"/>
              </a:rPr>
              <a:t>This gives a maximum of 2562 minus reserved host addresses, or 65,534 hosts per network.</a:t>
            </a:r>
          </a:p>
          <a:p>
            <a:r>
              <a:rPr kumimoji="1" lang="en-US" sz="2000" dirty="0" smtClean="0">
                <a:latin typeface="+mj-lt"/>
                <a:ea typeface="ＭＳ Ｐゴシック"/>
              </a:rPr>
              <a:t>Default net mask is 255.255.0.0</a:t>
            </a: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LANs, WANs and VLANs</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Class C legacy networks</a:t>
            </a:r>
          </a:p>
          <a:p>
            <a:r>
              <a:rPr lang="en-US" sz="2000" dirty="0" smtClean="0"/>
              <a:t>IP addresses from 192.0.0.0 to 223.255.255.0 are </a:t>
            </a:r>
            <a:r>
              <a:rPr lang="en-US" sz="2000" i="1" dirty="0" smtClean="0"/>
              <a:t>class C networks. </a:t>
            </a:r>
          </a:p>
          <a:p>
            <a:r>
              <a:rPr lang="en-US" sz="2000" i="1" dirty="0" smtClean="0"/>
              <a:t>There are </a:t>
            </a:r>
            <a:r>
              <a:rPr lang="en-US" sz="2000" dirty="0" smtClean="0"/>
              <a:t>2,097,152 such networks. Here the first three bytes are network addresses and the last byte is the host part. </a:t>
            </a:r>
          </a:p>
          <a:p>
            <a:r>
              <a:rPr lang="en-US" sz="2000" dirty="0" smtClean="0"/>
              <a:t>This gives a maximum of 254 hosts per network. </a:t>
            </a:r>
          </a:p>
          <a:p>
            <a:r>
              <a:rPr lang="en-US" sz="2000" dirty="0" smtClean="0"/>
              <a:t>The default subnet mask is 255.255.255.0</a:t>
            </a:r>
            <a:endParaRPr kumimoji="1" lang="en-US" sz="20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Class D (multicast) addresses</a:t>
            </a:r>
          </a:p>
          <a:p>
            <a:r>
              <a:rPr lang="en-US" sz="2400" dirty="0" smtClean="0"/>
              <a:t>Multicast networks form what is called the MBONE, or multicast backbone. </a:t>
            </a:r>
          </a:p>
          <a:p>
            <a:r>
              <a:rPr lang="en-US" sz="2400" dirty="0" smtClean="0"/>
              <a:t>These include addresses from 224.0.0.0 to 239.255.255.0. </a:t>
            </a:r>
          </a:p>
          <a:p>
            <a:r>
              <a:rPr lang="en-US" sz="2400" dirty="0" smtClean="0"/>
              <a:t>These addresses are not normally used for sending data to individual hosts, but rather for routing data to multiple destinations. </a:t>
            </a:r>
          </a:p>
          <a:p>
            <a:r>
              <a:rPr lang="en-US" sz="2400" dirty="0" smtClean="0"/>
              <a:t>Multicast is like a restricted broadcast. Hosts can ‘tune in’ to multicast channels by subscribing to MBONE services.</a:t>
            </a:r>
            <a:endParaRPr kumimoji="1" lang="en-US" sz="8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Class E (Experimental) addresses</a:t>
            </a:r>
          </a:p>
          <a:p>
            <a:r>
              <a:rPr lang="en-US" sz="1800" dirty="0" smtClean="0"/>
              <a:t>Addresses 240.0.0.0 to 255.255.255.255 are unused and are considered experimental, though this may change as IPv4 addresses are depleted.</a:t>
            </a:r>
          </a:p>
          <a:p>
            <a:r>
              <a:rPr lang="ms-MY" sz="1800" b="1" dirty="0" smtClean="0"/>
              <a:t>Other addresses</a:t>
            </a:r>
          </a:p>
          <a:p>
            <a:r>
              <a:rPr lang="en-US" sz="1800" dirty="0" smtClean="0"/>
              <a:t>Some IP addresses are reserved for a special purpose. They do not necessarily refer to hosts or networks.</a:t>
            </a:r>
          </a:p>
          <a:p>
            <a:pPr lvl="1"/>
            <a:r>
              <a:rPr lang="ms-MY" sz="1400" dirty="0" smtClean="0"/>
              <a:t>0.0.0.0	 Default route</a:t>
            </a:r>
          </a:p>
          <a:p>
            <a:pPr lvl="1"/>
            <a:r>
              <a:rPr lang="ms-MY" sz="1400" dirty="0" smtClean="0"/>
              <a:t>0.*.*.*	 Not used</a:t>
            </a:r>
          </a:p>
          <a:p>
            <a:pPr lvl="1"/>
            <a:r>
              <a:rPr lang="ms-MY" sz="1400" dirty="0" smtClean="0"/>
              <a:t>127.0.0.1 	Loopback address</a:t>
            </a:r>
          </a:p>
          <a:p>
            <a:pPr lvl="1"/>
            <a:r>
              <a:rPr lang="ms-MY" sz="1400" dirty="0" smtClean="0"/>
              <a:t>127.*.*.*	 Loopback network</a:t>
            </a:r>
          </a:p>
          <a:p>
            <a:pPr lvl="1"/>
            <a:r>
              <a:rPr lang="en-US" sz="1400" dirty="0" smtClean="0"/>
              <a:t>*.*.*.0 	Network addresses (or old broadcast)</a:t>
            </a:r>
          </a:p>
          <a:p>
            <a:pPr lvl="1"/>
            <a:r>
              <a:rPr lang="ms-MY" sz="1400" dirty="0" smtClean="0"/>
              <a:t>*.*.*.255 	Broadcast addresses</a:t>
            </a:r>
          </a:p>
          <a:p>
            <a:pPr lvl="1"/>
            <a:r>
              <a:rPr lang="en-US" sz="1400" dirty="0" smtClean="0"/>
              <a:t>*.*.*.1 	Router or gateway (conventionally)</a:t>
            </a:r>
          </a:p>
          <a:p>
            <a:pPr lvl="1"/>
            <a:r>
              <a:rPr lang="ms-MY" sz="1400" dirty="0" smtClean="0"/>
              <a:t>224.*.*.*	 Multicast addresses</a:t>
            </a: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81</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RFC 1918 defines private addresses that are not routed</a:t>
            </a:r>
          </a:p>
          <a:p>
            <a:pPr lvl="1"/>
            <a:r>
              <a:rPr lang="ms-MY" sz="2000" dirty="0" smtClean="0"/>
              <a:t>10.0.0.0 - 10.255.255.255 (10/8 prefix)</a:t>
            </a:r>
          </a:p>
          <a:p>
            <a:pPr lvl="1"/>
            <a:r>
              <a:rPr lang="ms-MY" sz="2000" dirty="0" smtClean="0"/>
              <a:t>172.16.0.0 - 172.31.255.255 (172.16/12 prefix)</a:t>
            </a:r>
          </a:p>
          <a:p>
            <a:pPr lvl="1"/>
            <a:r>
              <a:rPr lang="ms-MY" sz="2000" dirty="0" smtClean="0"/>
              <a:t>192.168.0.0 - 192.168.255.255 (192.168/16 prefix)</a:t>
            </a:r>
          </a:p>
          <a:p>
            <a:r>
              <a:rPr lang="en-US" sz="2400" dirty="0" smtClean="0"/>
              <a:t>and as of July 2001</a:t>
            </a:r>
          </a:p>
          <a:p>
            <a:pPr lvl="1"/>
            <a:r>
              <a:rPr lang="ms-MY" sz="2000" dirty="0" smtClean="0"/>
              <a:t>169.254.0.0 - 169.254.255.255 (192.254/16 prefix)</a:t>
            </a:r>
          </a:p>
          <a:p>
            <a:r>
              <a:rPr lang="ms-MY" sz="2400" dirty="0" smtClean="0"/>
              <a:t>The network</a:t>
            </a:r>
          </a:p>
          <a:p>
            <a:pPr lvl="1"/>
            <a:r>
              <a:rPr lang="ms-MY" sz="2000" dirty="0" smtClean="0"/>
              <a:t>192.0.2.0 - 192.0.2.255</a:t>
            </a:r>
            <a:endParaRPr kumimoji="1" lang="en-US" sz="4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82</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1800" dirty="0" smtClean="0"/>
              <a:t>The default route is a default destination for outgoing packets on a subnet and is usually made equal to the </a:t>
            </a:r>
            <a:r>
              <a:rPr lang="ms-MY" sz="1800" dirty="0" smtClean="0"/>
              <a:t>router address.</a:t>
            </a:r>
          </a:p>
          <a:p>
            <a:r>
              <a:rPr lang="en-US" sz="1800" dirty="0" smtClean="0"/>
              <a:t>The </a:t>
            </a:r>
            <a:r>
              <a:rPr lang="en-US" sz="1800" i="1" dirty="0" smtClean="0"/>
              <a:t>loopback address is an address which every host uses to refer to itself </a:t>
            </a:r>
            <a:r>
              <a:rPr lang="en-US" sz="1800" dirty="0" smtClean="0"/>
              <a:t>internally. It points straight back to the host. It is a kind of internal </a:t>
            </a:r>
            <a:r>
              <a:rPr lang="en-US" sz="1800" dirty="0" err="1" smtClean="0"/>
              <a:t>pseudoaddress</a:t>
            </a:r>
            <a:r>
              <a:rPr lang="en-US" sz="1800" dirty="0" smtClean="0"/>
              <a:t> which allows programs to use network protocols to address local services without anything being transmitted on an actual network.</a:t>
            </a:r>
          </a:p>
          <a:p>
            <a:r>
              <a:rPr lang="en-US" sz="1800" dirty="0" smtClean="0"/>
              <a:t>The </a:t>
            </a:r>
            <a:r>
              <a:rPr lang="en-US" sz="1800" dirty="0" err="1" smtClean="0"/>
              <a:t>zeroth</a:t>
            </a:r>
            <a:r>
              <a:rPr lang="en-US" sz="1800" dirty="0" smtClean="0"/>
              <a:t> address of any network is reserved to mean the network itself, and the 255th (or on older networks sometimes the </a:t>
            </a:r>
            <a:r>
              <a:rPr lang="en-US" sz="1800" dirty="0" err="1" smtClean="0"/>
              <a:t>zeroth</a:t>
            </a:r>
            <a:r>
              <a:rPr lang="en-US" sz="1800" dirty="0" smtClean="0"/>
              <a:t>) is used for the broadcast address. Some Internet addresses are reserved for a special purpose.</a:t>
            </a:r>
          </a:p>
          <a:p>
            <a:r>
              <a:rPr lang="en-US" sz="1800" dirty="0" smtClean="0"/>
              <a:t>These include </a:t>
            </a:r>
            <a:r>
              <a:rPr lang="en-US" sz="1800" i="1" dirty="0" smtClean="0"/>
              <a:t>network addresses (usually xxx.yyy.zzz.0), broadcast addresses </a:t>
            </a:r>
            <a:r>
              <a:rPr lang="en-US" sz="1800" dirty="0" smtClean="0"/>
              <a:t>(usually xxx.yyy.zzz.255, but in older networks it was xxx.yyy.zzz.0) and </a:t>
            </a:r>
            <a:r>
              <a:rPr lang="en-US" sz="1800" i="1" dirty="0" smtClean="0"/>
              <a:t>multicast </a:t>
            </a:r>
            <a:r>
              <a:rPr lang="ms-MY" sz="1800" i="1" dirty="0" smtClean="0"/>
              <a:t>addresses (usually 224.xxx.yyy.zzz).</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83</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lang="ms-MY" b="1" dirty="0" smtClean="0"/>
              <a:t>Subnet &amp; Broadcast</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000" dirty="0" err="1" smtClean="0">
                <a:latin typeface="+mj-lt"/>
              </a:rPr>
              <a:t>Netmask</a:t>
            </a:r>
            <a:endParaRPr lang="en-US" sz="2000" dirty="0" smtClean="0">
              <a:latin typeface="+mj-lt"/>
            </a:endParaRPr>
          </a:p>
          <a:p>
            <a:r>
              <a:rPr kumimoji="1" lang="en-US" sz="2000" dirty="0" smtClean="0">
                <a:latin typeface="+mj-lt"/>
                <a:ea typeface="ＭＳ Ｐゴシック"/>
              </a:rPr>
              <a:t>Broadcast</a:t>
            </a:r>
            <a:endParaRPr kumimoji="1" lang="en-US" sz="800" dirty="0" smtClean="0">
              <a:latin typeface="Times" pitchFamily="18" charset="0"/>
              <a:ea typeface="ＭＳ Ｐゴシック"/>
            </a:endParaRPr>
          </a:p>
          <a:p>
            <a:r>
              <a:rPr lang="ms-MY" sz="2000" b="1" dirty="0" smtClean="0"/>
              <a:t>Interface settings</a:t>
            </a:r>
          </a:p>
          <a:p>
            <a:pPr lvl="1"/>
            <a:r>
              <a:rPr lang="en-US" sz="1600" dirty="0" smtClean="0"/>
              <a:t>The IP address of a host is set in the network interface. </a:t>
            </a:r>
          </a:p>
          <a:p>
            <a:pPr lvl="1"/>
            <a:r>
              <a:rPr lang="en-US" sz="1600" dirty="0" smtClean="0"/>
              <a:t>The Unix command </a:t>
            </a:r>
            <a:r>
              <a:rPr lang="en-US" sz="1600" dirty="0" err="1" smtClean="0"/>
              <a:t>ifconfig</a:t>
            </a:r>
            <a:r>
              <a:rPr lang="en-US" sz="1600" dirty="0" smtClean="0"/>
              <a:t> (interface-configuration) or the Windows command </a:t>
            </a:r>
            <a:r>
              <a:rPr lang="en-US" sz="1600" dirty="0" err="1" smtClean="0"/>
              <a:t>ipconfig</a:t>
            </a:r>
            <a:r>
              <a:rPr lang="en-US" sz="1600" dirty="0" smtClean="0"/>
              <a:t> are used </a:t>
            </a:r>
            <a:r>
              <a:rPr lang="ms-MY" sz="1600" dirty="0" smtClean="0"/>
              <a:t>to set this.</a:t>
            </a:r>
          </a:p>
          <a:p>
            <a:r>
              <a:rPr lang="ms-MY" sz="2000" b="1" dirty="0" smtClean="0"/>
              <a:t>Default route</a:t>
            </a:r>
          </a:p>
          <a:p>
            <a:pPr lvl="1"/>
            <a:r>
              <a:rPr lang="en-US" sz="1600" dirty="0" smtClean="0"/>
              <a:t>Each host must define a </a:t>
            </a:r>
            <a:r>
              <a:rPr lang="en-US" sz="1600" i="1" dirty="0" smtClean="0"/>
              <a:t>default route which is a destination </a:t>
            </a:r>
            <a:r>
              <a:rPr lang="en-US" sz="1600" dirty="0" smtClean="0"/>
              <a:t>to which outgoing packets will be sent for processing when they do not belong to the subnet. </a:t>
            </a:r>
          </a:p>
          <a:p>
            <a:pPr lvl="1"/>
            <a:r>
              <a:rPr lang="en-US" sz="1600" dirty="0" smtClean="0"/>
              <a:t>This is the address of the router or gateway on the same network segment. It is set by a command like this:</a:t>
            </a:r>
          </a:p>
          <a:p>
            <a:pPr lvl="2"/>
            <a:r>
              <a:rPr lang="en-US" sz="1600" dirty="0" smtClean="0"/>
              <a:t>route add default my-gateway-address 1</a:t>
            </a:r>
            <a:endParaRPr kumimoji="1" lang="en-US" sz="1600" dirty="0" smtClean="0">
              <a:latin typeface="+mj-lt"/>
              <a:ea typeface="ＭＳ Ｐゴシック"/>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84</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2400" dirty="0" smtClean="0"/>
              <a:t>The default route can be checked using the </a:t>
            </a:r>
            <a:r>
              <a:rPr lang="en-US" sz="2400" dirty="0" err="1" smtClean="0"/>
              <a:t>netstat</a:t>
            </a:r>
            <a:r>
              <a:rPr lang="en-US" sz="2400" dirty="0" smtClean="0"/>
              <a:t> -r command. </a:t>
            </a:r>
          </a:p>
          <a:p>
            <a:r>
              <a:rPr lang="en-US" sz="2400" dirty="0" smtClean="0"/>
              <a:t>The result should just be a few lines like this:</a:t>
            </a:r>
          </a:p>
          <a:p>
            <a:r>
              <a:rPr lang="ms-MY" sz="1600" dirty="0" smtClean="0"/>
              <a:t>Kernel IP routing table</a:t>
            </a:r>
          </a:p>
          <a:p>
            <a:r>
              <a:rPr lang="en-US" sz="1600" dirty="0" smtClean="0"/>
              <a:t>Destination     Gateway     </a:t>
            </a:r>
            <a:r>
              <a:rPr lang="en-US" sz="1600" dirty="0" err="1" smtClean="0"/>
              <a:t>Genmask</a:t>
            </a:r>
            <a:r>
              <a:rPr lang="en-US" sz="1600" dirty="0" smtClean="0"/>
              <a:t>        Flags    Metric    Ref   Use     </a:t>
            </a:r>
            <a:r>
              <a:rPr lang="en-US" sz="1600" dirty="0" err="1" smtClean="0"/>
              <a:t>Iface</a:t>
            </a:r>
            <a:endParaRPr lang="en-US" sz="1600" dirty="0" smtClean="0"/>
          </a:p>
          <a:p>
            <a:r>
              <a:rPr lang="nl-NL" sz="1600" dirty="0" smtClean="0"/>
              <a:t>localnet              *             255.255.255.0  U          0            0      932      eth0</a:t>
            </a:r>
          </a:p>
          <a:p>
            <a:r>
              <a:rPr lang="ms-MY" sz="1600" dirty="0" smtClean="0"/>
              <a:t>Loopback           *             255.0.0.0          U          0            0      38         lo</a:t>
            </a:r>
          </a:p>
          <a:p>
            <a:r>
              <a:rPr lang="en-US" sz="1600" dirty="0" smtClean="0"/>
              <a:t>default             my-</a:t>
            </a:r>
            <a:r>
              <a:rPr lang="en-US" sz="1600" dirty="0" err="1" smtClean="0"/>
              <a:t>gw</a:t>
            </a:r>
            <a:r>
              <a:rPr lang="en-US" sz="1600" dirty="0" smtClean="0"/>
              <a:t>      0.0.0.0              UG        1            0   1534      eth0</a:t>
            </a:r>
            <a:endParaRPr kumimoji="1" lang="en-US" sz="1600" dirty="0" smtClean="0">
              <a:latin typeface="Times" pitchFamily="18" charset="0"/>
              <a:ea typeface="ＭＳ Ｐゴシック"/>
            </a:endParaRPr>
          </a:p>
          <a:p>
            <a:pPr lvl="1" eaLnBrk="1" hangingPunct="1">
              <a:lnSpc>
                <a:spcPct val="80000"/>
              </a:lnSpc>
            </a:pP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85</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ms-MY" sz="2400" b="1" dirty="0" smtClean="0"/>
              <a:t>ARP/RARP</a:t>
            </a:r>
          </a:p>
          <a:p>
            <a:r>
              <a:rPr lang="en-US" sz="2400" dirty="0" smtClean="0"/>
              <a:t>The Address Resolution Protocol (ARP) is a name service directory for translating from IP address to hardware, Media Access Control (MAC) address (e.g. Ethernet address). </a:t>
            </a:r>
          </a:p>
          <a:p>
            <a:r>
              <a:rPr lang="en-US" sz="2400" dirty="0" smtClean="0"/>
              <a:t>The ARP service is mirrored by a reverse lookup ARP service (RARP). RARP takes a hardware address and turns it into an IP address.</a:t>
            </a:r>
            <a:endParaRPr kumimoji="1" lang="en-US" sz="16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86</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876800"/>
          </a:xfrm>
        </p:spPr>
        <p:txBody>
          <a:bodyPr lIns="92075" tIns="46038" rIns="92075" bIns="46038"/>
          <a:lstStyle/>
          <a:p>
            <a:r>
              <a:rPr lang="ms-MY" sz="1800" b="1" dirty="0" smtClean="0"/>
              <a:t>Address space in IPv4</a:t>
            </a:r>
          </a:p>
          <a:p>
            <a:r>
              <a:rPr lang="en-US" sz="1800" dirty="0" smtClean="0"/>
              <a:t>As we have seen, the current implementation of the Internet protocol has a number of problems. </a:t>
            </a:r>
          </a:p>
          <a:p>
            <a:r>
              <a:rPr lang="en-US" sz="1800" dirty="0" smtClean="0"/>
              <a:t>The model of </a:t>
            </a:r>
            <a:r>
              <a:rPr lang="en-US" sz="1800" i="1" dirty="0" smtClean="0"/>
              <a:t>classed Internet addresses was connected to the design</a:t>
            </a:r>
          </a:p>
          <a:p>
            <a:r>
              <a:rPr lang="en-US" sz="1800" dirty="0" smtClean="0"/>
              <a:t>of early routing protocols. This has proved to be a poor design  decision, leading to a sparse usage of the available addresses.</a:t>
            </a:r>
          </a:p>
          <a:p>
            <a:r>
              <a:rPr lang="en-US" sz="1800" dirty="0" smtClean="0"/>
              <a:t>It is straightforward to calculate that, because of the structure of the IP addresses, divided into class A, B and C networks, something under two percent of the possible addresses can actually be used in practice.</a:t>
            </a:r>
          </a:p>
          <a:p>
            <a:r>
              <a:rPr lang="en-US" sz="1800" dirty="0" smtClean="0"/>
              <a:t> A survey from </a:t>
            </a:r>
            <a:r>
              <a:rPr lang="en-US" sz="1800" i="1" dirty="0" smtClean="0"/>
              <a:t>Unix Review in March 1998 showed that, of the total numbers of addresses, these are </a:t>
            </a:r>
            <a:r>
              <a:rPr lang="ms-MY" sz="1800" dirty="0" smtClean="0"/>
              <a:t>already allocated:</a:t>
            </a:r>
          </a:p>
          <a:p>
            <a:r>
              <a:rPr lang="ms-MY" sz="1800" dirty="0" smtClean="0"/>
              <a:t>            Max possible 		Percent allocated</a:t>
            </a:r>
          </a:p>
          <a:p>
            <a:r>
              <a:rPr lang="ms-MY" sz="1800" dirty="0" smtClean="0"/>
              <a:t>Class A 127 			100%</a:t>
            </a:r>
          </a:p>
          <a:p>
            <a:r>
              <a:rPr lang="ms-MY" sz="1800" dirty="0" smtClean="0"/>
              <a:t>Class B 16382		 62%</a:t>
            </a:r>
          </a:p>
          <a:p>
            <a:r>
              <a:rPr lang="ms-MY" sz="1800" dirty="0" smtClean="0"/>
              <a:t>Class C 2097150 		36%</a:t>
            </a: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87</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1800" dirty="0" smtClean="0"/>
              <a:t>CIDR was introduced as an interim measure to combat the problems of IP address allocation as well as that of routing table overflow.</a:t>
            </a:r>
          </a:p>
          <a:p>
            <a:r>
              <a:rPr lang="en-US" sz="1800" dirty="0" smtClean="0"/>
              <a:t> It is also the strategy of choice for IPv6 addressing. The name refers to inter-domain routing because it provides not only an addressing solution, but also an improved model for routing packets, by defining </a:t>
            </a:r>
            <a:r>
              <a:rPr lang="en-US" sz="1800" i="1" dirty="0" smtClean="0"/>
              <a:t>routing domains (distinct from logical domains of </a:t>
            </a:r>
            <a:r>
              <a:rPr lang="ms-MY" sz="1800" dirty="0" smtClean="0"/>
              <a:t>the Domain Name Service).</a:t>
            </a:r>
          </a:p>
          <a:p>
            <a:r>
              <a:rPr lang="en-US" sz="1800" dirty="0" smtClean="0"/>
              <a:t>The IPv4 address space has two problems:</a:t>
            </a:r>
          </a:p>
          <a:p>
            <a:pPr lvl="1"/>
            <a:r>
              <a:rPr lang="en-US" sz="1800" dirty="0" smtClean="0"/>
              <a:t> It is running out of address space, because many addresses are bound up in classes that make them unusable, with the class A,B,C scheme of IP </a:t>
            </a:r>
            <a:r>
              <a:rPr lang="ms-MY" sz="1800" dirty="0" smtClean="0"/>
              <a:t>addresses.</a:t>
            </a:r>
          </a:p>
          <a:p>
            <a:pPr lvl="1"/>
            <a:r>
              <a:rPr lang="en-US" sz="1800" dirty="0" smtClean="0"/>
              <a:t>Global routing tables are becoming too large, making routing slow and </a:t>
            </a:r>
            <a:r>
              <a:rPr lang="ms-MY" sz="1800" dirty="0" smtClean="0"/>
              <a:t>memory intensive.</a:t>
            </a: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88</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smtClean="0">
                <a:latin typeface="Times New Roman" pitchFamily="18" charset="0"/>
              </a:rPr>
              <a:t>NAT</a:t>
            </a:r>
            <a:endParaRPr kumimoji="1" lang="en-US" dirty="0" smtClean="0">
              <a:latin typeface="Times New Roman" pitchFamily="18" charset="0"/>
            </a:endParaRP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endParaRPr kumimoji="1" lang="en-US" sz="1800" dirty="0" smtClean="0">
              <a:latin typeface="Times" pitchFamily="18" charset="0"/>
              <a:ea typeface="ＭＳ Ｐゴシック"/>
            </a:endParaRPr>
          </a:p>
        </p:txBody>
      </p:sp>
      <p:pic>
        <p:nvPicPr>
          <p:cNvPr id="1026" name="Picture 2"/>
          <p:cNvPicPr>
            <a:picLocks noChangeAspect="1" noChangeArrowheads="1"/>
          </p:cNvPicPr>
          <p:nvPr/>
        </p:nvPicPr>
        <p:blipFill>
          <a:blip r:embed="rId3"/>
          <a:srcRect/>
          <a:stretch>
            <a:fillRect/>
          </a:stretch>
        </p:blipFill>
        <p:spPr bwMode="auto">
          <a:xfrm>
            <a:off x="1676400" y="1676400"/>
            <a:ext cx="6461991"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89</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QUIZ2</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1800" dirty="0" smtClean="0"/>
              <a:t>What is meant by a securable operating system?</a:t>
            </a:r>
          </a:p>
          <a:p>
            <a:r>
              <a:rPr lang="en-US" sz="1800" dirty="0" smtClean="0"/>
              <a:t>Name and describe the layers of the OSI model.</a:t>
            </a:r>
          </a:p>
          <a:p>
            <a:r>
              <a:rPr lang="en-US" sz="1800" dirty="0" smtClean="0"/>
              <a:t>What are the following?: </a:t>
            </a:r>
            <a:r>
              <a:rPr lang="en-US" sz="1800" dirty="0" err="1" smtClean="0"/>
              <a:t>i</a:t>
            </a:r>
            <a:r>
              <a:rPr lang="en-US" sz="1800" dirty="0" smtClean="0"/>
              <a:t>) repeater, ii) hub, iii) switch, iv) bridge, v) router.</a:t>
            </a:r>
          </a:p>
          <a:p>
            <a:r>
              <a:rPr lang="en-US" sz="1800" smtClean="0"/>
              <a:t>Explain </a:t>
            </a:r>
            <a:r>
              <a:rPr lang="en-US" sz="1800" dirty="0" smtClean="0"/>
              <a:t>what an access control list is. Compare the functionality of the Unix file permission model with that of access control lists. Given that ACLs take up space and have many entries, what problems do you foresee in administering file security using ACLs?</a:t>
            </a:r>
          </a:p>
          <a:p>
            <a:r>
              <a:rPr lang="en-US" sz="1800" dirty="0" smtClean="0"/>
              <a:t>Explain why the following are invalid IPv4 host addresses:</a:t>
            </a:r>
          </a:p>
          <a:p>
            <a:pPr>
              <a:buNone/>
            </a:pPr>
            <a:r>
              <a:rPr lang="ms-MY" sz="1800" dirty="0" smtClean="0"/>
              <a:t>	(a) 10.1.0.0</a:t>
            </a:r>
          </a:p>
          <a:p>
            <a:pPr>
              <a:buNone/>
            </a:pPr>
            <a:r>
              <a:rPr lang="ms-MY" sz="1800" dirty="0" smtClean="0"/>
              <a:t>	(b) 10.1.0.255</a:t>
            </a:r>
          </a:p>
          <a:p>
            <a:pPr>
              <a:buNone/>
            </a:pPr>
            <a:r>
              <a:rPr lang="ms-MY" sz="1800" dirty="0" smtClean="0"/>
              <a:t>	(c) 0.12.16.89</a:t>
            </a:r>
          </a:p>
          <a:p>
            <a:pPr>
              <a:buNone/>
            </a:pPr>
            <a:r>
              <a:rPr lang="ms-MY" sz="1800" dirty="0" smtClean="0"/>
              <a:t>	(d) 255.9.56.45</a:t>
            </a:r>
          </a:p>
          <a:p>
            <a:pPr>
              <a:buNone/>
            </a:pPr>
            <a:r>
              <a:rPr lang="ms-MY" sz="1800" dirty="0" smtClean="0"/>
              <a:t>	(e) 192.34.255.255</a:t>
            </a:r>
            <a:endParaRPr kumimoji="1" lang="en-US" sz="18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9"/>
          <p:cNvSpPr>
            <a:spLocks noGrp="1" noChangeArrowheads="1"/>
          </p:cNvSpPr>
          <p:nvPr>
            <p:ph type="ftr" sz="quarter" idx="11"/>
          </p:nvPr>
        </p:nvSpPr>
        <p:spPr>
          <a:noFill/>
        </p:spPr>
        <p:txBody>
          <a:bodyPr/>
          <a:lstStyle/>
          <a:p>
            <a:r>
              <a:rPr lang="en-US" smtClean="0"/>
              <a:t>Principles of Networking  &amp; System Administration</a:t>
            </a:r>
          </a:p>
        </p:txBody>
      </p:sp>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90</a:t>
            </a:fld>
            <a:endParaRPr lang="en-US" smtClean="0">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pPr eaLnBrk="1" hangingPunct="1"/>
            <a:r>
              <a:rPr kumimoji="1" lang="en-US" dirty="0" smtClean="0">
                <a:latin typeface="Times New Roman" pitchFamily="18" charset="0"/>
              </a:rPr>
              <a:t>NAT</a:t>
            </a:r>
          </a:p>
        </p:txBody>
      </p:sp>
      <p:sp>
        <p:nvSpPr>
          <p:cNvPr id="5124" name="Rectangle 3"/>
          <p:cNvSpPr>
            <a:spLocks noGrp="1" noChangeArrowheads="1"/>
          </p:cNvSpPr>
          <p:nvPr>
            <p:ph type="body" idx="4294967295"/>
          </p:nvPr>
        </p:nvSpPr>
        <p:spPr>
          <a:xfrm>
            <a:off x="1066800" y="1752600"/>
            <a:ext cx="7620000" cy="4419600"/>
          </a:xfrm>
        </p:spPr>
        <p:txBody>
          <a:bodyPr lIns="92075" tIns="46038" rIns="92075" bIns="46038"/>
          <a:lstStyle/>
          <a:p>
            <a:r>
              <a:rPr lang="en-US" sz="1800" dirty="0" smtClean="0"/>
              <a:t>to provide a ‘quick fix’ for organizations that required only partial connectivity,</a:t>
            </a:r>
          </a:p>
          <a:p>
            <a:r>
              <a:rPr lang="en-US" sz="1800" dirty="0" smtClean="0"/>
              <a:t>In NAT, a network is represented to the outside world by a single official IP address; it shields the remainder of its networked machines on a private network that (hopefully) uses non-routable addresses (usually 10.x.x.x).</a:t>
            </a:r>
          </a:p>
          <a:p>
            <a:r>
              <a:rPr lang="en-US" sz="1800" dirty="0" smtClean="0"/>
              <a:t>When one of these hosts on the private network attempts to contact an address on the Internet, the Network Address Translator creates the illusion that the request comes from the single representative address.</a:t>
            </a:r>
          </a:p>
          <a:p>
            <a:r>
              <a:rPr lang="en-US" sz="1800" dirty="0" smtClean="0"/>
              <a:t> The return data are, in turn, routed back to the particular host ‘as if by magic’.</a:t>
            </a:r>
          </a:p>
          <a:p>
            <a:r>
              <a:rPr lang="en-US" sz="1800" dirty="0" smtClean="0"/>
              <a:t> NAT  makes associations of this form:</a:t>
            </a:r>
          </a:p>
          <a:p>
            <a:pPr lvl="1"/>
            <a:r>
              <a:rPr lang="fr-FR" sz="1400" dirty="0" smtClean="0"/>
              <a:t>(</a:t>
            </a:r>
            <a:r>
              <a:rPr lang="fr-FR" sz="1400" dirty="0" err="1" smtClean="0"/>
              <a:t>private</a:t>
            </a:r>
            <a:r>
              <a:rPr lang="fr-FR" sz="1400" dirty="0" smtClean="0"/>
              <a:t> IP, </a:t>
            </a:r>
            <a:r>
              <a:rPr lang="fr-FR" sz="1400" dirty="0" err="1" smtClean="0"/>
              <a:t>private</a:t>
            </a:r>
            <a:r>
              <a:rPr lang="fr-FR" sz="1400" dirty="0" smtClean="0"/>
              <a:t> port) &lt;-&gt; (public IP, public port)</a:t>
            </a:r>
            <a:endParaRPr kumimoji="1" lang="en-US" sz="1400" dirty="0" smtClean="0">
              <a:latin typeface="Times" pitchFamily="18" charset="0"/>
              <a:ea typeface="ＭＳ Ｐゴシック"/>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pitchFamily="-111"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pitchFamily="-111" charset="0"/>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2393</TotalTime>
  <Words>6944</Words>
  <Application>Microsoft Office PowerPoint</Application>
  <PresentationFormat>On-screen Show (4:3)</PresentationFormat>
  <Paragraphs>866</Paragraphs>
  <Slides>90</Slides>
  <Notes>89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90</vt:i4>
      </vt:variant>
    </vt:vector>
  </HeadingPairs>
  <TitlesOfParts>
    <vt:vector size="95" baseType="lpstr">
      <vt:lpstr>ＭＳ Ｐゴシック</vt:lpstr>
      <vt:lpstr>Arial</vt:lpstr>
      <vt:lpstr>Times</vt:lpstr>
      <vt:lpstr>Times New Roman</vt:lpstr>
      <vt:lpstr>Notebook</vt:lpstr>
      <vt:lpstr>Chapter 2: System Components</vt:lpstr>
      <vt:lpstr>What is systems </vt:lpstr>
      <vt:lpstr>Network Infrastructure</vt:lpstr>
      <vt:lpstr>Network Infrastructure</vt:lpstr>
      <vt:lpstr>Computers</vt:lpstr>
      <vt:lpstr>Computers</vt:lpstr>
      <vt:lpstr>Handling Hardware</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Operating System</vt:lpstr>
      <vt:lpstr>Network Filesystem Model</vt:lpstr>
      <vt:lpstr>Unix and Windows sharing</vt:lpstr>
      <vt:lpstr>PowerPoint Presentation</vt:lpstr>
      <vt:lpstr>Process Job Control</vt:lpstr>
      <vt:lpstr>Process Job Control</vt:lpstr>
      <vt:lpstr>Prosess Job Control</vt:lpstr>
      <vt:lpstr>Networks</vt:lpstr>
      <vt:lpstr>The OSI Model</vt:lpstr>
      <vt:lpstr>OSI Model</vt:lpstr>
      <vt:lpstr>OSI Model</vt:lpstr>
      <vt:lpstr>Operating System</vt:lpstr>
      <vt:lpstr>OSI Model</vt:lpstr>
      <vt:lpstr>Network</vt:lpstr>
      <vt:lpstr>Network</vt:lpstr>
      <vt:lpstr>Network</vt:lpstr>
      <vt:lpstr>Network</vt:lpstr>
      <vt:lpstr>Network</vt:lpstr>
      <vt:lpstr>Network</vt:lpstr>
      <vt:lpstr>LANs, WANs and VLANs</vt:lpstr>
      <vt:lpstr>Protocols and encapsulation</vt:lpstr>
      <vt:lpstr>LANs, WANs and VLANs</vt:lpstr>
      <vt:lpstr>LANs, WANs and VLANs</vt:lpstr>
      <vt:lpstr>LANs, WANs and VLANs</vt:lpstr>
      <vt:lpstr>LANs, WANs and VLANs</vt:lpstr>
      <vt:lpstr>Data Format</vt:lpstr>
      <vt:lpstr>PowerPoint Presentation</vt:lpstr>
      <vt:lpstr>IPv4 networks</vt:lpstr>
      <vt:lpstr>PowerPoint Presentation</vt:lpstr>
      <vt:lpstr>PowerPoint Presentation</vt:lpstr>
      <vt:lpstr>PowerPoint Presentation</vt:lpstr>
      <vt:lpstr>PowerPoint Presentation</vt:lpstr>
      <vt:lpstr>LANs, WANs and VLANs</vt:lpstr>
      <vt:lpstr>PowerPoint Presentation</vt:lpstr>
      <vt:lpstr>PowerPoint Presentation</vt:lpstr>
      <vt:lpstr>PowerPoint Presentation</vt:lpstr>
      <vt:lpstr>PowerPoint Presentation</vt:lpstr>
      <vt:lpstr>Subnet &amp; Broadcast</vt:lpstr>
      <vt:lpstr>PowerPoint Presentation</vt:lpstr>
      <vt:lpstr>PowerPoint Presentation</vt:lpstr>
      <vt:lpstr>PowerPoint Presentation</vt:lpstr>
      <vt:lpstr>PowerPoint Presentation</vt:lpstr>
      <vt:lpstr>NAT</vt:lpstr>
      <vt:lpstr>QUIZ2</vt:lpstr>
      <vt:lpstr>NAT</vt:lpstr>
    </vt:vector>
  </TitlesOfParts>
  <Company>Rochester Institute of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Elizabeth Lane Lawley</dc:creator>
  <cp:lastModifiedBy>ADMIN</cp:lastModifiedBy>
  <cp:revision>182</cp:revision>
  <dcterms:created xsi:type="dcterms:W3CDTF">2008-10-09T16:38:00Z</dcterms:created>
  <dcterms:modified xsi:type="dcterms:W3CDTF">2020-09-11T17:11:49Z</dcterms:modified>
</cp:coreProperties>
</file>