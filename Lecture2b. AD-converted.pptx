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1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1870" y="2316226"/>
            <a:ext cx="7560259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74672" y="3609213"/>
            <a:ext cx="5994654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888888"/>
                </a:solidFill>
                <a:latin typeface="Gothic Uralic"/>
                <a:cs typeface="Gothic Ural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06652" y="504444"/>
            <a:ext cx="6329172" cy="1543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731252" y="6277355"/>
            <a:ext cx="1412748" cy="5806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2400" y="6280403"/>
            <a:ext cx="182880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4974" y="-62661"/>
            <a:ext cx="7674051" cy="1585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7073"/>
            <a:ext cx="8072119" cy="3757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2302" y="6432317"/>
            <a:ext cx="22383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4145" y="6432317"/>
            <a:ext cx="243840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5796" y="1795272"/>
            <a:ext cx="6468110" cy="2106295"/>
            <a:chOff x="1415796" y="1795272"/>
            <a:chExt cx="6468110" cy="2106295"/>
          </a:xfrm>
        </p:grpSpPr>
        <p:sp>
          <p:nvSpPr>
            <p:cNvPr id="3" name="object 3"/>
            <p:cNvSpPr/>
            <p:nvPr/>
          </p:nvSpPr>
          <p:spPr>
            <a:xfrm>
              <a:off x="1415796" y="1795272"/>
              <a:ext cx="6467856" cy="13746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72184" y="2526791"/>
              <a:ext cx="6196584" cy="13746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16989" y="1944751"/>
            <a:ext cx="551370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100"/>
              </a:spcBef>
              <a:tabLst>
                <a:tab pos="2950845" algn="l"/>
              </a:tabLst>
            </a:pPr>
            <a:r>
              <a:rPr sz="4800" spc="185" dirty="0">
                <a:solidFill>
                  <a:srgbClr val="2E5796"/>
                </a:solidFill>
                <a:latin typeface="Times New Roman"/>
                <a:cs typeface="Times New Roman"/>
              </a:rPr>
              <a:t>Lesson</a:t>
            </a:r>
            <a:r>
              <a:rPr sz="4800" spc="15" dirty="0">
                <a:solidFill>
                  <a:srgbClr val="2E5796"/>
                </a:solidFill>
                <a:latin typeface="Times New Roman"/>
                <a:cs typeface="Times New Roman"/>
              </a:rPr>
              <a:t> </a:t>
            </a:r>
            <a:r>
              <a:rPr lang="en-US" sz="4800" spc="-45" dirty="0" smtClean="0">
                <a:solidFill>
                  <a:srgbClr val="2E5796"/>
                </a:solidFill>
                <a:latin typeface="Times New Roman"/>
                <a:cs typeface="Times New Roman"/>
              </a:rPr>
              <a:t>2</a:t>
            </a:r>
            <a:r>
              <a:rPr sz="4800" spc="-45" dirty="0" smtClean="0">
                <a:solidFill>
                  <a:srgbClr val="2E5796"/>
                </a:solidFill>
                <a:latin typeface="Times New Roman"/>
                <a:cs typeface="Times New Roman"/>
              </a:rPr>
              <a:t>:</a:t>
            </a:r>
            <a:r>
              <a:rPr sz="4800" dirty="0">
                <a:solidFill>
                  <a:srgbClr val="2E5796"/>
                </a:solidFill>
                <a:latin typeface="Times New Roman"/>
                <a:cs typeface="Times New Roman"/>
              </a:rPr>
              <a:t>	</a:t>
            </a:r>
            <a:r>
              <a:rPr sz="4800" spc="180" dirty="0">
                <a:solidFill>
                  <a:srgbClr val="2E5796"/>
                </a:solidFill>
                <a:latin typeface="Times New Roman"/>
                <a:cs typeface="Times New Roman"/>
              </a:rPr>
              <a:t>Installing  </a:t>
            </a:r>
            <a:r>
              <a:rPr sz="4800" spc="280" dirty="0">
                <a:solidFill>
                  <a:srgbClr val="2E5796"/>
                </a:solidFill>
                <a:latin typeface="Times New Roman"/>
                <a:cs typeface="Times New Roman"/>
              </a:rPr>
              <a:t>Domain</a:t>
            </a:r>
            <a:r>
              <a:rPr sz="4800" spc="-25" dirty="0">
                <a:solidFill>
                  <a:srgbClr val="2E5796"/>
                </a:solidFill>
                <a:latin typeface="Times New Roman"/>
                <a:cs typeface="Times New Roman"/>
              </a:rPr>
              <a:t> </a:t>
            </a:r>
            <a:r>
              <a:rPr sz="4800" spc="204" dirty="0">
                <a:solidFill>
                  <a:srgbClr val="2E5796"/>
                </a:solidFill>
                <a:latin typeface="Times New Roman"/>
                <a:cs typeface="Times New Roman"/>
              </a:rPr>
              <a:t>Controllers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3675" marR="5080" indent="-145161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MOAC 70-410: </a:t>
            </a:r>
            <a:r>
              <a:rPr dirty="0"/>
              <a:t>Installing </a:t>
            </a:r>
            <a:r>
              <a:rPr spc="-5" dirty="0"/>
              <a:t>and</a:t>
            </a:r>
            <a:r>
              <a:rPr spc="-140" dirty="0"/>
              <a:t> </a:t>
            </a:r>
            <a:r>
              <a:rPr dirty="0"/>
              <a:t>Configuring  </a:t>
            </a:r>
            <a:r>
              <a:rPr spc="-5" dirty="0"/>
              <a:t>Windows </a:t>
            </a:r>
            <a:r>
              <a:rPr dirty="0"/>
              <a:t>Server</a:t>
            </a:r>
            <a:r>
              <a:rPr spc="5" dirty="0"/>
              <a:t> </a:t>
            </a:r>
            <a:r>
              <a:rPr spc="-5" dirty="0"/>
              <a:t>2012</a:t>
            </a:r>
          </a:p>
        </p:txBody>
      </p:sp>
      <p:sp>
        <p:nvSpPr>
          <p:cNvPr id="7" name="object 7"/>
          <p:cNvSpPr/>
          <p:nvPr/>
        </p:nvSpPr>
        <p:spPr>
          <a:xfrm>
            <a:off x="7731252" y="6277355"/>
            <a:ext cx="1412748" cy="5806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6280403"/>
            <a:ext cx="1828800" cy="425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06039" y="504444"/>
            <a:ext cx="3928871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57905" y="674065"/>
            <a:ext cx="30276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405" dirty="0"/>
              <a:t>O</a:t>
            </a:r>
            <a:r>
              <a:rPr sz="5400" spc="185" dirty="0"/>
              <a:t>v</a:t>
            </a:r>
            <a:r>
              <a:rPr sz="5400" spc="290" dirty="0"/>
              <a:t>erview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2514600"/>
            <a:ext cx="876046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6433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Exam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Objective </a:t>
            </a:r>
            <a:r>
              <a:rPr sz="2800" spc="-15" dirty="0" smtClean="0">
                <a:solidFill>
                  <a:srgbClr val="7E7E7E"/>
                </a:solidFill>
                <a:latin typeface="Gothic Uralic"/>
                <a:cs typeface="Gothic Uralic"/>
              </a:rPr>
              <a:t>: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Install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Domain  Controllers</a:t>
            </a:r>
            <a:endParaRPr sz="2800" dirty="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Introducing Active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Directory</a:t>
            </a:r>
            <a:endParaRPr sz="2800" dirty="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Deploying Active Directory Domain</a:t>
            </a:r>
            <a:r>
              <a:rPr sz="28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Services</a:t>
            </a:r>
            <a:endParaRPr sz="2800" dirty="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47444" y="2167127"/>
            <a:ext cx="6073140" cy="2106295"/>
            <a:chOff x="1647444" y="2167127"/>
            <a:chExt cx="6073140" cy="2106295"/>
          </a:xfrm>
        </p:grpSpPr>
        <p:sp>
          <p:nvSpPr>
            <p:cNvPr id="3" name="object 3"/>
            <p:cNvSpPr/>
            <p:nvPr/>
          </p:nvSpPr>
          <p:spPr>
            <a:xfrm>
              <a:off x="1647444" y="2167127"/>
              <a:ext cx="6073139" cy="13746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12363" y="2898647"/>
              <a:ext cx="3389376" cy="13746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4285" marR="5080" indent="-1265555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Introducing</a:t>
            </a:r>
            <a:r>
              <a:rPr spc="-225" dirty="0"/>
              <a:t> </a:t>
            </a:r>
            <a:r>
              <a:rPr spc="155" dirty="0"/>
              <a:t>Active  </a:t>
            </a:r>
            <a:r>
              <a:rPr spc="195" dirty="0"/>
              <a:t>Directory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743836" y="4096334"/>
            <a:ext cx="57270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Lesson 13: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Installing Domain</a:t>
            </a:r>
            <a:r>
              <a:rPr sz="2400" spc="-130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Controllers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42060" y="0"/>
            <a:ext cx="6829425" cy="2048510"/>
            <a:chOff x="1242060" y="0"/>
            <a:chExt cx="6829425" cy="2048510"/>
          </a:xfrm>
        </p:grpSpPr>
        <p:sp>
          <p:nvSpPr>
            <p:cNvPr id="3" name="object 3"/>
            <p:cNvSpPr/>
            <p:nvPr/>
          </p:nvSpPr>
          <p:spPr>
            <a:xfrm>
              <a:off x="1242060" y="0"/>
              <a:ext cx="6829044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3952" y="504444"/>
              <a:ext cx="3813048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392680" marR="5080" indent="-1422400">
              <a:lnSpc>
                <a:spcPts val="5800"/>
              </a:lnSpc>
              <a:spcBef>
                <a:spcPts val="860"/>
              </a:spcBef>
            </a:pPr>
            <a:r>
              <a:rPr sz="5400" spc="295" dirty="0"/>
              <a:t>Introducing</a:t>
            </a:r>
            <a:r>
              <a:rPr sz="5400" spc="-254" dirty="0"/>
              <a:t> </a:t>
            </a:r>
            <a:r>
              <a:rPr sz="5400" spc="180" dirty="0"/>
              <a:t>Active  </a:t>
            </a:r>
            <a:r>
              <a:rPr sz="5400" spc="225" dirty="0"/>
              <a:t>Directory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8016240" cy="4417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directory service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repository of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information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about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resources—hardware,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software, 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human—that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connected  to a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network.</a:t>
            </a:r>
            <a:endParaRPr sz="2800">
              <a:latin typeface="Gothic Uralic"/>
              <a:cs typeface="Gothic Uralic"/>
            </a:endParaRPr>
          </a:p>
          <a:p>
            <a:pPr marL="355600" marR="81788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Users, computers,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applications  throughout the network can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access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 repository for a variety of</a:t>
            </a:r>
            <a:r>
              <a:rPr sz="28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purposes:</a:t>
            </a:r>
            <a:endParaRPr sz="28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User</a:t>
            </a:r>
            <a:r>
              <a:rPr sz="2400" spc="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authentication</a:t>
            </a:r>
            <a:endParaRPr sz="24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Storage of configuration</a:t>
            </a:r>
            <a:r>
              <a:rPr sz="2400" spc="-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data</a:t>
            </a:r>
            <a:endParaRPr sz="24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Accessing files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and</a:t>
            </a:r>
            <a:r>
              <a:rPr sz="2400" spc="-6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printers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3463" y="0"/>
            <a:ext cx="8745220" cy="2048510"/>
            <a:chOff x="283463" y="0"/>
            <a:chExt cx="8745220" cy="2048510"/>
          </a:xfrm>
        </p:grpSpPr>
        <p:sp>
          <p:nvSpPr>
            <p:cNvPr id="3" name="object 3"/>
            <p:cNvSpPr/>
            <p:nvPr/>
          </p:nvSpPr>
          <p:spPr>
            <a:xfrm>
              <a:off x="283463" y="0"/>
              <a:ext cx="8744712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95044" y="504444"/>
              <a:ext cx="6152387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23645" marR="5080" indent="-1211580">
              <a:lnSpc>
                <a:spcPts val="5800"/>
              </a:lnSpc>
              <a:spcBef>
                <a:spcPts val="860"/>
              </a:spcBef>
              <a:tabLst>
                <a:tab pos="5330190" algn="l"/>
              </a:tabLst>
            </a:pPr>
            <a:r>
              <a:rPr sz="5400" spc="180" dirty="0"/>
              <a:t>Active </a:t>
            </a:r>
            <a:r>
              <a:rPr sz="5400" spc="225" dirty="0"/>
              <a:t>Directory</a:t>
            </a:r>
            <a:r>
              <a:rPr sz="5400" spc="-260" dirty="0"/>
              <a:t> </a:t>
            </a:r>
            <a:r>
              <a:rPr sz="5400" spc="315" dirty="0"/>
              <a:t>Domain  </a:t>
            </a:r>
            <a:r>
              <a:rPr sz="5400" spc="140" dirty="0"/>
              <a:t>Services</a:t>
            </a:r>
            <a:r>
              <a:rPr sz="5400" spc="15" dirty="0"/>
              <a:t> </a:t>
            </a:r>
            <a:r>
              <a:rPr sz="5400" spc="190" dirty="0"/>
              <a:t>(AD	</a:t>
            </a:r>
            <a:r>
              <a:rPr sz="5400" spc="35" dirty="0"/>
              <a:t>DS)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731125" cy="2670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4323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 DS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directory service that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enables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administrators to create organizational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divisions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called</a:t>
            </a:r>
            <a:r>
              <a:rPr sz="28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domains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logical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container of network  components, hosted by at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least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server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designated as a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domain</a:t>
            </a:r>
            <a:r>
              <a:rPr sz="2800" b="1" spc="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95627" y="0"/>
            <a:ext cx="6122035" cy="2048510"/>
            <a:chOff x="1595627" y="0"/>
            <a:chExt cx="6122035" cy="2048510"/>
          </a:xfrm>
        </p:grpSpPr>
        <p:sp>
          <p:nvSpPr>
            <p:cNvPr id="3" name="object 3"/>
            <p:cNvSpPr/>
            <p:nvPr/>
          </p:nvSpPr>
          <p:spPr>
            <a:xfrm>
              <a:off x="1595627" y="0"/>
              <a:ext cx="6121908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13660" y="504444"/>
              <a:ext cx="3913632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342515" marR="5080" indent="-1018540">
              <a:lnSpc>
                <a:spcPts val="5800"/>
              </a:lnSpc>
              <a:spcBef>
                <a:spcPts val="860"/>
              </a:spcBef>
            </a:pPr>
            <a:r>
              <a:rPr sz="5400" spc="180" dirty="0"/>
              <a:t>Active</a:t>
            </a:r>
            <a:r>
              <a:rPr sz="5400" spc="-85" dirty="0"/>
              <a:t> </a:t>
            </a:r>
            <a:r>
              <a:rPr sz="5400" spc="225" dirty="0"/>
              <a:t>Directory  </a:t>
            </a:r>
            <a:r>
              <a:rPr sz="5400" spc="240" dirty="0"/>
              <a:t>Functions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8011795" cy="4002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1402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Authentication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process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of verifying a  user’s identity by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using:</a:t>
            </a:r>
            <a:endParaRPr sz="28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Passwords</a:t>
            </a:r>
            <a:endParaRPr sz="24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Smart</a:t>
            </a:r>
            <a:r>
              <a:rPr sz="24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cards</a:t>
            </a:r>
            <a:endParaRPr sz="24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Biometrics (fingerprint</a:t>
            </a:r>
            <a:r>
              <a:rPr sz="2400" spc="-6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scan)</a:t>
            </a:r>
            <a:endParaRPr sz="24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Authorization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process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of granting the  user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access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only to the resources he or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she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permitted to use by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using:</a:t>
            </a:r>
            <a:endParaRPr sz="28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ACLs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and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ACEs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7927" y="0"/>
            <a:ext cx="7416165" cy="2048510"/>
            <a:chOff x="947927" y="0"/>
            <a:chExt cx="7416165" cy="2048510"/>
          </a:xfrm>
        </p:grpSpPr>
        <p:sp>
          <p:nvSpPr>
            <p:cNvPr id="3" name="object 3"/>
            <p:cNvSpPr/>
            <p:nvPr/>
          </p:nvSpPr>
          <p:spPr>
            <a:xfrm>
              <a:off x="947927" y="0"/>
              <a:ext cx="7415783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05227" y="504444"/>
              <a:ext cx="4730496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934210" marR="5080" indent="-1257935">
              <a:lnSpc>
                <a:spcPts val="5800"/>
              </a:lnSpc>
              <a:spcBef>
                <a:spcPts val="860"/>
              </a:spcBef>
            </a:pPr>
            <a:r>
              <a:rPr sz="5400" spc="215" dirty="0"/>
              <a:t>The </a:t>
            </a:r>
            <a:r>
              <a:rPr sz="5400" spc="180" dirty="0"/>
              <a:t>Active</a:t>
            </a:r>
            <a:r>
              <a:rPr sz="5400" spc="-509" dirty="0"/>
              <a:t> </a:t>
            </a:r>
            <a:r>
              <a:rPr sz="5400" spc="225" dirty="0"/>
              <a:t>Directory  </a:t>
            </a:r>
            <a:r>
              <a:rPr sz="5400" spc="240" dirty="0"/>
              <a:t>Architecture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5549"/>
            <a:ext cx="8057515" cy="422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905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5" dirty="0">
                <a:solidFill>
                  <a:srgbClr val="7E7E7E"/>
                </a:solidFill>
                <a:latin typeface="Gothic Uralic"/>
                <a:cs typeface="Gothic Uralic"/>
              </a:rPr>
              <a:t>Active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Directory is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hierarchical directory  service, based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on the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domain, </a:t>
            </a:r>
            <a:r>
              <a:rPr sz="2600" spc="-10" dirty="0">
                <a:solidFill>
                  <a:srgbClr val="7E7E7E"/>
                </a:solidFill>
                <a:latin typeface="Gothic Uralic"/>
                <a:cs typeface="Gothic Uralic"/>
              </a:rPr>
              <a:t>which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is scalable  in both directions.</a:t>
            </a:r>
            <a:endParaRPr sz="26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can subdivide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domain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into organizational  units and populate it with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objects.</a:t>
            </a:r>
            <a:endParaRPr sz="2600">
              <a:latin typeface="Gothic Uralic"/>
              <a:cs typeface="Gothic Uralic"/>
            </a:endParaRPr>
          </a:p>
          <a:p>
            <a:pPr marL="355600" marR="558165" indent="-34353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can create multiple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domains and</a:t>
            </a:r>
            <a:r>
              <a:rPr sz="2600" spc="-1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group  them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into sites,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trees,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and</a:t>
            </a:r>
            <a:r>
              <a:rPr sz="2600" spc="-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forests.</a:t>
            </a:r>
            <a:endParaRPr sz="2600">
              <a:latin typeface="Gothic Uralic"/>
              <a:cs typeface="Gothic Uralic"/>
            </a:endParaRPr>
          </a:p>
          <a:p>
            <a:pPr marL="355600" marR="409575" indent="-34353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AD DS provides 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highly flexible architecture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that can accommodate the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smallest and</a:t>
            </a:r>
            <a:r>
              <a:rPr sz="2600" spc="-1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largest organizations.</a:t>
            </a:r>
            <a:endParaRPr sz="26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504444"/>
            <a:ext cx="7722108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61694" y="674065"/>
            <a:ext cx="68205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40" dirty="0"/>
              <a:t>Objects </a:t>
            </a:r>
            <a:r>
              <a:rPr sz="5400" spc="445" dirty="0"/>
              <a:t>and</a:t>
            </a:r>
            <a:r>
              <a:rPr sz="5400" spc="-380" dirty="0"/>
              <a:t> </a:t>
            </a:r>
            <a:r>
              <a:rPr sz="5400" spc="270" dirty="0"/>
              <a:t>Attributes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85925"/>
            <a:ext cx="8046084" cy="43072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5600" marR="5080" indent="-343535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An AD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DS domain is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hierarchical structure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that  takes the form of a tree, much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like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file</a:t>
            </a:r>
            <a:r>
              <a:rPr sz="2600" spc="-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system.</a:t>
            </a:r>
            <a:endParaRPr sz="2600">
              <a:latin typeface="Gothic Uralic"/>
              <a:cs typeface="Gothic Uralic"/>
            </a:endParaRPr>
          </a:p>
          <a:p>
            <a:pPr marL="355600" marR="196850" indent="-343535">
              <a:lnSpc>
                <a:spcPts val="281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Consists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600" b="1" spc="-5" dirty="0">
                <a:solidFill>
                  <a:srgbClr val="7E7E7E"/>
                </a:solidFill>
                <a:latin typeface="Gothic Uralic"/>
                <a:cs typeface="Gothic Uralic"/>
              </a:rPr>
              <a:t>objects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, each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which represents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logical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or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physical</a:t>
            </a:r>
            <a:r>
              <a:rPr sz="2600" spc="4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resource.</a:t>
            </a:r>
            <a:endParaRPr sz="2600">
              <a:latin typeface="Gothic Uralic"/>
              <a:cs typeface="Gothic Uralic"/>
            </a:endParaRPr>
          </a:p>
          <a:p>
            <a:pPr marL="355600" marR="546735" indent="-343535">
              <a:lnSpc>
                <a:spcPts val="281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Each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object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consists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600" b="1" spc="-5" dirty="0">
                <a:solidFill>
                  <a:srgbClr val="7E7E7E"/>
                </a:solidFill>
                <a:latin typeface="Gothic Uralic"/>
                <a:cs typeface="Gothic Uralic"/>
              </a:rPr>
              <a:t>attributes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which store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information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about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</a:t>
            </a:r>
            <a:r>
              <a:rPr sz="2600" spc="-5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object.</a:t>
            </a:r>
            <a:endParaRPr sz="2600">
              <a:latin typeface="Gothic Uralic"/>
              <a:cs typeface="Gothic Uralic"/>
            </a:endParaRPr>
          </a:p>
          <a:p>
            <a:pPr marL="355600" marR="1024255" indent="-343535">
              <a:lnSpc>
                <a:spcPts val="281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Different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objects </a:t>
            </a:r>
            <a:r>
              <a:rPr sz="2600" spc="5" dirty="0">
                <a:solidFill>
                  <a:srgbClr val="7E7E7E"/>
                </a:solidFill>
                <a:latin typeface="Gothic Uralic"/>
                <a:cs typeface="Gothic Uralic"/>
              </a:rPr>
              <a:t>have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different attributes,  depending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their</a:t>
            </a:r>
            <a:r>
              <a:rPr sz="26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function.</a:t>
            </a:r>
            <a:endParaRPr sz="2600">
              <a:latin typeface="Gothic Uralic"/>
              <a:cs typeface="Gothic Uralic"/>
            </a:endParaRPr>
          </a:p>
          <a:p>
            <a:pPr marL="355600" marR="245745" indent="-343535">
              <a:lnSpc>
                <a:spcPts val="281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600" b="1" spc="-5" dirty="0">
                <a:solidFill>
                  <a:srgbClr val="7E7E7E"/>
                </a:solidFill>
                <a:latin typeface="Gothic Uralic"/>
                <a:cs typeface="Gothic Uralic"/>
              </a:rPr>
              <a:t>directory </a:t>
            </a:r>
            <a:r>
              <a:rPr sz="2600" b="1" dirty="0">
                <a:solidFill>
                  <a:srgbClr val="7E7E7E"/>
                </a:solidFill>
                <a:latin typeface="Gothic Uralic"/>
                <a:cs typeface="Gothic Uralic"/>
              </a:rPr>
              <a:t>schema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defines the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attributes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for  each object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information that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is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required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and</a:t>
            </a:r>
            <a:r>
              <a:rPr sz="2600" spc="-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optional.</a:t>
            </a:r>
            <a:endParaRPr sz="26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8136" y="674065"/>
            <a:ext cx="54267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90" dirty="0"/>
              <a:t>Classes </a:t>
            </a:r>
            <a:r>
              <a:rPr sz="5400" spc="125" dirty="0"/>
              <a:t>of</a:t>
            </a:r>
            <a:r>
              <a:rPr sz="5400" spc="-250" dirty="0"/>
              <a:t> </a:t>
            </a:r>
            <a:r>
              <a:rPr sz="5400" spc="140" dirty="0"/>
              <a:t>Objects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727828" y="1627073"/>
            <a:ext cx="3099435" cy="3319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b="1" dirty="0">
                <a:solidFill>
                  <a:srgbClr val="7E7E7E"/>
                </a:solidFill>
                <a:latin typeface="Gothic Uralic"/>
                <a:cs typeface="Gothic Uralic"/>
              </a:rPr>
              <a:t>leaf </a:t>
            </a:r>
            <a:r>
              <a:rPr sz="2400" b="1" spc="-5" dirty="0">
                <a:solidFill>
                  <a:srgbClr val="7E7E7E"/>
                </a:solidFill>
                <a:latin typeface="Gothic Uralic"/>
                <a:cs typeface="Gothic Uralic"/>
              </a:rPr>
              <a:t>object</a:t>
            </a:r>
            <a:r>
              <a:rPr sz="2400" b="1" spc="-7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cannot 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have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subordinate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objects:</a:t>
            </a:r>
            <a:endParaRPr sz="2400">
              <a:latin typeface="Gothic Uralic"/>
              <a:cs typeface="Gothic Uralic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Users</a:t>
            </a:r>
            <a:endParaRPr sz="2400">
              <a:latin typeface="Gothic Uralic"/>
              <a:cs typeface="Gothic Uralic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Computers</a:t>
            </a:r>
            <a:endParaRPr sz="2400">
              <a:latin typeface="Gothic Uralic"/>
              <a:cs typeface="Gothic Uralic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Groups</a:t>
            </a:r>
            <a:endParaRPr sz="2400">
              <a:latin typeface="Gothic Uralic"/>
              <a:cs typeface="Gothic Uralic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Applications</a:t>
            </a:r>
            <a:endParaRPr sz="2400">
              <a:latin typeface="Gothic Uralic"/>
              <a:cs typeface="Gothic Uralic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Network</a:t>
            </a:r>
            <a:r>
              <a:rPr sz="2400" spc="-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resources</a:t>
            </a:r>
            <a:endParaRPr sz="2400">
              <a:latin typeface="Gothic Uralic"/>
              <a:cs typeface="Gothic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1627073"/>
            <a:ext cx="3470910" cy="2001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b="1" dirty="0">
                <a:solidFill>
                  <a:srgbClr val="7E7E7E"/>
                </a:solidFill>
                <a:latin typeface="Gothic Uralic"/>
                <a:cs typeface="Gothic Uralic"/>
              </a:rPr>
              <a:t>container object</a:t>
            </a:r>
            <a:r>
              <a:rPr sz="2400" b="1" spc="-1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can 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have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other objects  subordinate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</a:t>
            </a:r>
            <a:r>
              <a:rPr sz="24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it:</a:t>
            </a:r>
            <a:endParaRPr sz="2400">
              <a:latin typeface="Gothic Uralic"/>
              <a:cs typeface="Gothic Uralic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Domain</a:t>
            </a:r>
            <a:endParaRPr sz="2400">
              <a:latin typeface="Gothic Uralic"/>
              <a:cs typeface="Gothic Uralic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Organizational</a:t>
            </a:r>
            <a:r>
              <a:rPr sz="2400" spc="-6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unit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29839" y="530351"/>
            <a:ext cx="4012691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3773" y="615772"/>
            <a:ext cx="3543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70" dirty="0"/>
              <a:t>Objects </a:t>
            </a:r>
            <a:r>
              <a:rPr spc="229" dirty="0"/>
              <a:t>and</a:t>
            </a:r>
            <a:r>
              <a:rPr spc="-225" dirty="0"/>
              <a:t> </a:t>
            </a:r>
            <a:r>
              <a:rPr spc="135" dirty="0"/>
              <a:t>Attributes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61794" y="5815685"/>
            <a:ext cx="474599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596390" marR="5080" indent="-1583690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attributes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a user object, as displayed in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its 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r>
              <a:rPr sz="16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95600" y="1295400"/>
            <a:ext cx="3389376" cy="434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35579" y="504444"/>
            <a:ext cx="3669792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87445" y="674065"/>
            <a:ext cx="27698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300" dirty="0"/>
              <a:t>Domains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701280" cy="4036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4046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create a hierarchy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 domain.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create a hierarchy out of multiple  domains.</a:t>
            </a:r>
            <a:endParaRPr sz="2800">
              <a:latin typeface="Gothic Uralic"/>
              <a:cs typeface="Gothic Uralic"/>
            </a:endParaRPr>
          </a:p>
          <a:p>
            <a:pPr marL="355600" marR="5778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begin 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process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of designing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Active Directory infrastructure by deciding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what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domains to create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you begin  deploying AD DS by creating your first  domain.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8224" y="580644"/>
            <a:ext cx="8604504" cy="14310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6206" y="736549"/>
            <a:ext cx="777049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245" dirty="0"/>
              <a:t>Organizational </a:t>
            </a:r>
            <a:r>
              <a:rPr sz="5000" spc="235" dirty="0"/>
              <a:t>Units</a:t>
            </a:r>
            <a:r>
              <a:rPr sz="5000" spc="-350" dirty="0"/>
              <a:t> </a:t>
            </a:r>
            <a:r>
              <a:rPr sz="5000" spc="155" dirty="0"/>
              <a:t>(OUs)</a:t>
            </a:r>
            <a:endParaRPr sz="5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5549"/>
            <a:ext cx="7882890" cy="422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container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objects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within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domain,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used to  divide the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and administrative  responsibility among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several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divisions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or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departments</a:t>
            </a:r>
            <a:endParaRPr sz="2600">
              <a:latin typeface="Gothic Uralic"/>
              <a:cs typeface="Gothic Uralic"/>
            </a:endParaRPr>
          </a:p>
          <a:p>
            <a:pPr marL="355600" marR="756920" indent="-34353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Function </a:t>
            </a:r>
            <a:r>
              <a:rPr sz="2600" spc="-1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subordinate capacity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to a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domain, like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subdomain, but without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 complete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separation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</a:t>
            </a:r>
            <a:r>
              <a:rPr sz="26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policies</a:t>
            </a:r>
            <a:endParaRPr sz="26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Can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contain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other OUs, as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well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as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leaf</a:t>
            </a:r>
            <a:r>
              <a:rPr sz="26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objects</a:t>
            </a:r>
            <a:endParaRPr sz="2600">
              <a:latin typeface="Gothic Uralic"/>
              <a:cs typeface="Gothic Uralic"/>
            </a:endParaRPr>
          </a:p>
          <a:p>
            <a:pPr marL="355600" marR="946785" indent="-34353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Can </a:t>
            </a:r>
            <a:r>
              <a:rPr sz="2600" spc="5" dirty="0">
                <a:solidFill>
                  <a:srgbClr val="7E7E7E"/>
                </a:solidFill>
                <a:latin typeface="Gothic Uralic"/>
                <a:cs typeface="Gothic Uralic"/>
              </a:rPr>
              <a:t>have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separate Group Policy settings  applied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to</a:t>
            </a:r>
            <a:r>
              <a:rPr sz="2600" spc="-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them</a:t>
            </a:r>
            <a:endParaRPr sz="26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38044" y="530351"/>
            <a:ext cx="3794759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1977" y="615772"/>
            <a:ext cx="33261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Organizational</a:t>
            </a:r>
            <a:r>
              <a:rPr spc="-90" dirty="0"/>
              <a:t> </a:t>
            </a:r>
            <a:r>
              <a:rPr spc="130" dirty="0"/>
              <a:t>Units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98954" y="5840069"/>
            <a:ext cx="44704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Organizational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units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subordinate to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</a:t>
            </a:r>
            <a:r>
              <a:rPr sz="1600" spc="1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domain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2394204"/>
            <a:ext cx="7772400" cy="2068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65704" y="504444"/>
            <a:ext cx="3211068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7570" y="674065"/>
            <a:ext cx="23107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345" dirty="0"/>
              <a:t>Groups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8065770" cy="2670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objects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contain users (from a single or  multiple domains or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OUs) who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require similar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access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resources or rights to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perform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tasks.</a:t>
            </a:r>
            <a:endParaRPr sz="2800">
              <a:latin typeface="Gothic Uralic"/>
              <a:cs typeface="Gothic Uralic"/>
            </a:endParaRPr>
          </a:p>
          <a:p>
            <a:pPr marL="355600" marR="124333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Members of a group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inherit rights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permissions assigned to the</a:t>
            </a:r>
            <a:r>
              <a:rPr sz="2800" spc="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group.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4855" y="504444"/>
            <a:ext cx="6112764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6341" y="674065"/>
            <a:ext cx="52114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320" dirty="0"/>
              <a:t>Domain </a:t>
            </a:r>
            <a:r>
              <a:rPr sz="5400" spc="100" dirty="0"/>
              <a:t>Trees</a:t>
            </a:r>
            <a:r>
              <a:rPr sz="5400" spc="-415" dirty="0"/>
              <a:t> </a:t>
            </a:r>
            <a:r>
              <a:rPr sz="5400" dirty="0"/>
              <a:t>(1)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805420" cy="4036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2065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create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your first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Active Directory network,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creating  the root of a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domain</a:t>
            </a:r>
            <a:r>
              <a:rPr sz="2800" b="1" spc="4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b="1" dirty="0">
                <a:solidFill>
                  <a:srgbClr val="7E7E7E"/>
                </a:solidFill>
                <a:latin typeface="Gothic Uralic"/>
                <a:cs typeface="Gothic Uralic"/>
              </a:rPr>
              <a:t>tree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.</a:t>
            </a:r>
            <a:endParaRPr sz="2800">
              <a:latin typeface="Gothic Uralic"/>
              <a:cs typeface="Gothic Uralic"/>
            </a:endParaRPr>
          </a:p>
          <a:p>
            <a:pPr marL="355600" marR="17526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populate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tree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additional  domains,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long as they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 part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of the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same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contiguous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namespace.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registered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Internet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names, subdomains can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used to create  other domains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</a:t>
            </a:r>
            <a:r>
              <a:rPr sz="28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tree.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4855" y="504444"/>
            <a:ext cx="6112764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6341" y="674065"/>
            <a:ext cx="52114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320" dirty="0"/>
              <a:t>Domain </a:t>
            </a:r>
            <a:r>
              <a:rPr sz="5400" spc="100" dirty="0"/>
              <a:t>Trees</a:t>
            </a:r>
            <a:r>
              <a:rPr sz="5400" spc="-415" dirty="0"/>
              <a:t> </a:t>
            </a:r>
            <a:r>
              <a:rPr sz="5400" dirty="0"/>
              <a:t>(2)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46301"/>
            <a:ext cx="7855584" cy="446532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marR="244475" indent="-343535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can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add as many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domains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to the tree</a:t>
            </a:r>
            <a:r>
              <a:rPr sz="2600" spc="-1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as  you need.</a:t>
            </a:r>
            <a:endParaRPr sz="2600">
              <a:latin typeface="Gothic Uralic"/>
              <a:cs typeface="Gothic Uralic"/>
            </a:endParaRPr>
          </a:p>
          <a:p>
            <a:pPr marL="355600" marR="483870" indent="-343535">
              <a:lnSpc>
                <a:spcPct val="80000"/>
              </a:lnSpc>
              <a:spcBef>
                <a:spcPts val="64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Each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tree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separate security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entity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with its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own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separate Group Policy  settings, permissions, and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user</a:t>
            </a:r>
            <a:r>
              <a:rPr sz="2600" spc="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accounts.</a:t>
            </a:r>
            <a:endParaRPr sz="2600">
              <a:latin typeface="Gothic Uralic"/>
              <a:cs typeface="Gothic Uralic"/>
            </a:endParaRPr>
          </a:p>
          <a:p>
            <a:pPr marL="355600" marR="112395" indent="-343535">
              <a:lnSpc>
                <a:spcPts val="25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Unlike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OUs,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subdomains in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tree do not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inherit  permissions and policies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from their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parent  domains.</a:t>
            </a:r>
            <a:endParaRPr sz="26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80000"/>
              </a:lnSpc>
              <a:spcBef>
                <a:spcPts val="64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Domains in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same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tree </a:t>
            </a:r>
            <a:r>
              <a:rPr sz="2600" spc="5" dirty="0">
                <a:solidFill>
                  <a:srgbClr val="7E7E7E"/>
                </a:solidFill>
                <a:latin typeface="Gothic Uralic"/>
                <a:cs typeface="Gothic Uralic"/>
              </a:rPr>
              <a:t>have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bidirectional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trust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relationships between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them,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which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means  that an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of 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particular domain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can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grant any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600" spc="-1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tree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access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to that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domain’s</a:t>
            </a:r>
            <a:r>
              <a:rPr sz="2600" spc="-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resources.</a:t>
            </a:r>
            <a:endParaRPr sz="26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5827" y="530351"/>
            <a:ext cx="2679192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9761" y="615772"/>
            <a:ext cx="221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60" dirty="0"/>
              <a:t>Domain</a:t>
            </a:r>
            <a:r>
              <a:rPr spc="-70" dirty="0"/>
              <a:t> </a:t>
            </a:r>
            <a:r>
              <a:rPr spc="50" dirty="0"/>
              <a:t>Trees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39745" y="5840069"/>
            <a:ext cx="3990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internal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domain</a:t>
            </a:r>
            <a:r>
              <a:rPr sz="16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tree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2330195"/>
            <a:ext cx="7772400" cy="2197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5827" y="530351"/>
            <a:ext cx="2679192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9761" y="615772"/>
            <a:ext cx="221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60" dirty="0"/>
              <a:t>Domain</a:t>
            </a:r>
            <a:r>
              <a:rPr spc="-70" dirty="0"/>
              <a:t> </a:t>
            </a:r>
            <a:r>
              <a:rPr spc="50" dirty="0"/>
              <a:t>Trees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7117" y="5815685"/>
            <a:ext cx="489521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745614" marR="5080" indent="-173355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An Active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domain tree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Internet 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domain</a:t>
            </a:r>
            <a:r>
              <a:rPr sz="1600" spc="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name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1569719"/>
            <a:ext cx="7772400" cy="3718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6664" y="504444"/>
            <a:ext cx="3089148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8529" y="674065"/>
            <a:ext cx="21863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95" dirty="0"/>
              <a:t>Forests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8033384" cy="39516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955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An Active Directory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forest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consists of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one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or  more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separate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trees,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which have  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same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two-way trust relationships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between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them as two domains 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same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tree.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create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first 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Active Directory network, you are creating a  new forest,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first 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becomes  the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forest root</a:t>
            </a:r>
            <a:r>
              <a:rPr sz="2800" b="1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domain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34895" y="504444"/>
            <a:ext cx="5471159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425114"/>
            <a:ext cx="8015605" cy="2506345"/>
          </a:xfrm>
          <a:prstGeom prst="rect">
            <a:avLst/>
          </a:prstGeom>
        </p:spPr>
        <p:txBody>
          <a:bodyPr vert="horz" wrap="square" lIns="0" tIns="261620" rIns="0" bIns="0" rtlCol="0">
            <a:spAutoFit/>
          </a:bodyPr>
          <a:lstStyle/>
          <a:p>
            <a:pPr marL="55244" algn="ctr">
              <a:lnSpc>
                <a:spcPct val="100000"/>
              </a:lnSpc>
              <a:spcBef>
                <a:spcPts val="2060"/>
              </a:spcBef>
            </a:pPr>
            <a:r>
              <a:rPr sz="5400" spc="195" dirty="0"/>
              <a:t>Global</a:t>
            </a:r>
            <a:r>
              <a:rPr sz="5400" dirty="0"/>
              <a:t> </a:t>
            </a:r>
            <a:r>
              <a:rPr sz="5400" spc="245" dirty="0"/>
              <a:t>Catalog</a:t>
            </a:r>
            <a:endParaRPr sz="5400"/>
          </a:p>
          <a:p>
            <a:pPr marL="12700" marR="5080">
              <a:lnSpc>
                <a:spcPct val="100000"/>
              </a:lnSpc>
              <a:spcBef>
                <a:spcPts val="1010"/>
              </a:spcBef>
            </a:pPr>
            <a:r>
              <a:rPr spc="-10" dirty="0">
                <a:solidFill>
                  <a:srgbClr val="7E7E7E"/>
                </a:solidFill>
                <a:latin typeface="Gothic Uralic"/>
                <a:cs typeface="Gothic Uralic"/>
              </a:rPr>
              <a:t>Each </a:t>
            </a:r>
            <a:r>
              <a:rPr spc="-5" dirty="0">
                <a:solidFill>
                  <a:srgbClr val="7E7E7E"/>
                </a:solidFill>
                <a:latin typeface="Gothic Uralic"/>
                <a:cs typeface="Gothic Uralic"/>
              </a:rPr>
              <a:t>forest has a </a:t>
            </a:r>
            <a:r>
              <a:rPr b="1" spc="-10" dirty="0">
                <a:solidFill>
                  <a:srgbClr val="7E7E7E"/>
                </a:solidFill>
                <a:latin typeface="Gothic Uralic"/>
                <a:cs typeface="Gothic Uralic"/>
              </a:rPr>
              <a:t>global </a:t>
            </a:r>
            <a:r>
              <a:rPr b="1" spc="-5" dirty="0">
                <a:solidFill>
                  <a:srgbClr val="7E7E7E"/>
                </a:solidFill>
                <a:latin typeface="Gothic Uralic"/>
                <a:cs typeface="Gothic Uralic"/>
              </a:rPr>
              <a:t>catalog</a:t>
            </a:r>
            <a:r>
              <a:rPr spc="-5" dirty="0">
                <a:solidFill>
                  <a:srgbClr val="7E7E7E"/>
                </a:solidFill>
                <a:latin typeface="Gothic Uralic"/>
                <a:cs typeface="Gothic Uralic"/>
              </a:rPr>
              <a:t>, which </a:t>
            </a:r>
            <a:r>
              <a:rPr spc="5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dirty="0">
                <a:solidFill>
                  <a:srgbClr val="7E7E7E"/>
                </a:solidFill>
                <a:latin typeface="Gothic Uralic"/>
                <a:cs typeface="Gothic Uralic"/>
              </a:rPr>
              <a:t>list  </a:t>
            </a:r>
            <a:r>
              <a:rPr spc="-5" dirty="0">
                <a:solidFill>
                  <a:srgbClr val="7E7E7E"/>
                </a:solidFill>
                <a:latin typeface="Gothic Uralic"/>
                <a:cs typeface="Gothic Uralic"/>
              </a:rPr>
              <a:t>of all of the </a:t>
            </a:r>
            <a:r>
              <a:rPr dirty="0">
                <a:solidFill>
                  <a:srgbClr val="7E7E7E"/>
                </a:solidFill>
                <a:latin typeface="Gothic Uralic"/>
                <a:cs typeface="Gothic Uralic"/>
              </a:rPr>
              <a:t>objects in </a:t>
            </a:r>
            <a:r>
              <a:rPr spc="-5" dirty="0">
                <a:solidFill>
                  <a:srgbClr val="7E7E7E"/>
                </a:solidFill>
                <a:latin typeface="Gothic Uralic"/>
                <a:cs typeface="Gothic Uralic"/>
              </a:rPr>
              <a:t>the forest, </a:t>
            </a:r>
            <a:r>
              <a:rPr spc="-10" dirty="0">
                <a:solidFill>
                  <a:srgbClr val="7E7E7E"/>
                </a:solidFill>
                <a:latin typeface="Gothic Uralic"/>
                <a:cs typeface="Gothic Uralic"/>
              </a:rPr>
              <a:t>along </a:t>
            </a:r>
            <a:r>
              <a:rPr dirty="0">
                <a:solidFill>
                  <a:srgbClr val="7E7E7E"/>
                </a:solidFill>
                <a:latin typeface="Gothic Uralic"/>
                <a:cs typeface="Gothic Uralic"/>
              </a:rPr>
              <a:t>with </a:t>
            </a:r>
            <a:r>
              <a:rPr spc="-5" dirty="0">
                <a:solidFill>
                  <a:srgbClr val="7E7E7E"/>
                </a:solidFill>
                <a:latin typeface="Gothic Uralic"/>
                <a:cs typeface="Gothic Uralic"/>
              </a:rPr>
              <a:t>a  </a:t>
            </a:r>
            <a:r>
              <a:rPr spc="-10" dirty="0">
                <a:solidFill>
                  <a:srgbClr val="7E7E7E"/>
                </a:solidFill>
                <a:latin typeface="Gothic Uralic"/>
                <a:cs typeface="Gothic Uralic"/>
              </a:rPr>
              <a:t>subset </a:t>
            </a:r>
            <a:r>
              <a:rPr spc="-5" dirty="0">
                <a:solidFill>
                  <a:srgbClr val="7E7E7E"/>
                </a:solidFill>
                <a:latin typeface="Gothic Uralic"/>
                <a:cs typeface="Gothic Uralic"/>
              </a:rPr>
              <a:t>of each </a:t>
            </a:r>
            <a:r>
              <a:rPr dirty="0">
                <a:solidFill>
                  <a:srgbClr val="7E7E7E"/>
                </a:solidFill>
                <a:latin typeface="Gothic Uralic"/>
                <a:cs typeface="Gothic Uralic"/>
              </a:rPr>
              <a:t>object’s</a:t>
            </a:r>
            <a:r>
              <a:rPr spc="7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pc="-10" dirty="0">
                <a:solidFill>
                  <a:srgbClr val="7E7E7E"/>
                </a:solidFill>
                <a:latin typeface="Gothic Uralic"/>
                <a:cs typeface="Gothic Uralic"/>
              </a:rPr>
              <a:t>attributes.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31036" y="504444"/>
            <a:ext cx="6280404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2520" y="674065"/>
            <a:ext cx="53765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35" dirty="0"/>
              <a:t>Functional</a:t>
            </a:r>
            <a:r>
              <a:rPr sz="5400" spc="-65" dirty="0"/>
              <a:t> </a:t>
            </a:r>
            <a:r>
              <a:rPr sz="5400" spc="145" dirty="0"/>
              <a:t>Levels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8060690" cy="4378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540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Functional levels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designed to provide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backwards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compatibility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DS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installations with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domain controllers running  various versions of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 Windows Server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operating</a:t>
            </a:r>
            <a:r>
              <a:rPr sz="28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system.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By selecting the functional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level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representing  the oldest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version running on your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disable the new  features so that the various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 can interoperate</a:t>
            </a:r>
            <a:r>
              <a:rPr sz="2800" spc="5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properly.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3220" y="530351"/>
            <a:ext cx="3265931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37154" y="615772"/>
            <a:ext cx="27965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0" dirty="0"/>
              <a:t>Functional</a:t>
            </a:r>
            <a:r>
              <a:rPr spc="-105" dirty="0"/>
              <a:t> </a:t>
            </a:r>
            <a:r>
              <a:rPr spc="75" dirty="0"/>
              <a:t>Levels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59658" y="5592267"/>
            <a:ext cx="2350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Raising functional</a:t>
            </a:r>
            <a:r>
              <a:rPr sz="1600" spc="-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5" dirty="0">
                <a:solidFill>
                  <a:srgbClr val="7E7E7E"/>
                </a:solidFill>
                <a:latin typeface="Gothic Uralic"/>
                <a:cs typeface="Gothic Uralic"/>
              </a:rPr>
              <a:t>levels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1732788"/>
            <a:ext cx="6019800" cy="3076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98091" y="0"/>
            <a:ext cx="6219825" cy="2048510"/>
            <a:chOff x="1498091" y="0"/>
            <a:chExt cx="6219825" cy="2048510"/>
          </a:xfrm>
        </p:grpSpPr>
        <p:sp>
          <p:nvSpPr>
            <p:cNvPr id="3" name="object 3"/>
            <p:cNvSpPr/>
            <p:nvPr/>
          </p:nvSpPr>
          <p:spPr>
            <a:xfrm>
              <a:off x="1595627" y="0"/>
              <a:ext cx="6121908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98091" y="504444"/>
              <a:ext cx="6146292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49576" y="0"/>
            <a:ext cx="5244465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 indent="97155">
              <a:lnSpc>
                <a:spcPts val="5800"/>
              </a:lnSpc>
              <a:spcBef>
                <a:spcPts val="860"/>
              </a:spcBef>
            </a:pPr>
            <a:r>
              <a:rPr sz="5400" spc="180" dirty="0"/>
              <a:t>Active </a:t>
            </a:r>
            <a:r>
              <a:rPr sz="5400" spc="225" dirty="0"/>
              <a:t>Directory  </a:t>
            </a:r>
            <a:r>
              <a:rPr sz="5400" spc="295" dirty="0"/>
              <a:t>Communications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585925"/>
            <a:ext cx="8047990" cy="422783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5600" marR="524510" indent="-343535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5" dirty="0">
                <a:solidFill>
                  <a:srgbClr val="7E7E7E"/>
                </a:solidFill>
                <a:latin typeface="Gothic Uralic"/>
                <a:cs typeface="Gothic Uralic"/>
              </a:rPr>
              <a:t>Active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Directory services are implemented in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network’s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domain</a:t>
            </a:r>
            <a:r>
              <a:rPr sz="2600" spc="-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controllers.</a:t>
            </a:r>
            <a:endParaRPr sz="2600">
              <a:latin typeface="Gothic Uralic"/>
              <a:cs typeface="Gothic Uralic"/>
            </a:endParaRPr>
          </a:p>
          <a:p>
            <a:pPr marL="355600" marR="722630" indent="-343535">
              <a:lnSpc>
                <a:spcPts val="281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Each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 hosts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one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domain,  storing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domain’s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objects in a</a:t>
            </a:r>
            <a:r>
              <a:rPr sz="2600" spc="-4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database.</a:t>
            </a:r>
            <a:endParaRPr sz="2600">
              <a:latin typeface="Gothic Uralic"/>
              <a:cs typeface="Gothic Uralic"/>
            </a:endParaRPr>
          </a:p>
          <a:p>
            <a:pPr marL="355600" marR="508000" indent="-343535">
              <a:lnSpc>
                <a:spcPts val="281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Users and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computers that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members of a  domain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access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domain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frequently,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they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log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on to the domain</a:t>
            </a:r>
            <a:r>
              <a:rPr sz="2600" spc="-10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and  access domain</a:t>
            </a:r>
            <a:r>
              <a:rPr sz="2600" spc="-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resources.</a:t>
            </a:r>
            <a:endParaRPr sz="2600">
              <a:latin typeface="Gothic Uralic"/>
              <a:cs typeface="Gothic Uralic"/>
            </a:endParaRPr>
          </a:p>
          <a:p>
            <a:pPr marL="355600" marR="5080" indent="-343535">
              <a:lnSpc>
                <a:spcPts val="281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should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have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at least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two domain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ensure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Active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Directory database is  available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clients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at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all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times.</a:t>
            </a:r>
            <a:endParaRPr sz="26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4919" y="504444"/>
            <a:ext cx="6612635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16404" y="674065"/>
            <a:ext cx="57150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95" dirty="0"/>
              <a:t>Introducing</a:t>
            </a:r>
            <a:r>
              <a:rPr sz="5400" spc="-45" dirty="0"/>
              <a:t> </a:t>
            </a:r>
            <a:r>
              <a:rPr sz="5400" spc="210" dirty="0"/>
              <a:t>LDAP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7758"/>
            <a:ext cx="8006715" cy="3608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2390" indent="-343535">
              <a:lnSpc>
                <a:spcPct val="999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Lightweight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Access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Protocol  (LDAP)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has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become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standard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communications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protocol for directory  service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products,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including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Active</a:t>
            </a:r>
            <a:r>
              <a:rPr sz="28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Directory.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Defines the format of the queries that Active  Directory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clients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</a:t>
            </a:r>
            <a:r>
              <a:rPr sz="28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controllers.</a:t>
            </a:r>
            <a:endParaRPr sz="2800">
              <a:latin typeface="Gothic Uralic"/>
              <a:cs typeface="Gothic Uralic"/>
            </a:endParaRPr>
          </a:p>
          <a:p>
            <a:pPr marL="355600" marR="14795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Provides a compound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naming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structure for  uniquely identifying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objects 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</a:t>
            </a:r>
            <a:r>
              <a:rPr sz="2800" spc="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directory.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5060" y="504444"/>
            <a:ext cx="4370832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6926" y="674065"/>
            <a:ext cx="34696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00" dirty="0"/>
              <a:t>Replication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8061325" cy="2670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Replication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within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synchronize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their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database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information.</a:t>
            </a:r>
            <a:endParaRPr sz="2800">
              <a:latin typeface="Gothic Uralic"/>
              <a:cs typeface="Gothic Uralic"/>
            </a:endParaRPr>
          </a:p>
          <a:p>
            <a:pPr marL="355600" marR="26289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imperative that each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  has a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database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identical to the  others.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8032" y="504444"/>
            <a:ext cx="7106411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9516" y="674065"/>
            <a:ext cx="62052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75" dirty="0"/>
              <a:t>Types </a:t>
            </a:r>
            <a:r>
              <a:rPr sz="5400" spc="125" dirty="0"/>
              <a:t>of</a:t>
            </a:r>
            <a:r>
              <a:rPr sz="5400" spc="-250" dirty="0"/>
              <a:t> </a:t>
            </a:r>
            <a:r>
              <a:rPr sz="5400" spc="200" dirty="0"/>
              <a:t>Replication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8063230" cy="39516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Single-master replication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: A single primary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system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replicates the contents of 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its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database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one or more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secondary systems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 the</a:t>
            </a:r>
            <a:r>
              <a:rPr sz="28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network.</a:t>
            </a:r>
            <a:endParaRPr sz="2800">
              <a:latin typeface="Gothic Uralic"/>
              <a:cs typeface="Gothic Uralic"/>
            </a:endParaRPr>
          </a:p>
          <a:p>
            <a:pPr marL="355600" marR="44767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Multiple-master replication: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possible to  make changes to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objects on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any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domain controller, which replicates those  changes to all of the other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96996" y="530351"/>
            <a:ext cx="2278379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31184" y="615772"/>
            <a:ext cx="1809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Replication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13938" y="5840069"/>
            <a:ext cx="24441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Single-master</a:t>
            </a:r>
            <a:r>
              <a:rPr sz="16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replication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8400" y="1447800"/>
            <a:ext cx="4227576" cy="4133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96996" y="530351"/>
            <a:ext cx="2278379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31184" y="615772"/>
            <a:ext cx="1809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Replication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4877" y="5840069"/>
            <a:ext cx="2640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Multiple-master</a:t>
            </a:r>
            <a:r>
              <a:rPr sz="16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replication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3600" y="1219200"/>
            <a:ext cx="4805172" cy="4488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1163" y="0"/>
            <a:ext cx="7280275" cy="2048510"/>
            <a:chOff x="931163" y="0"/>
            <a:chExt cx="7280275" cy="2048510"/>
          </a:xfrm>
        </p:grpSpPr>
        <p:sp>
          <p:nvSpPr>
            <p:cNvPr id="3" name="object 3"/>
            <p:cNvSpPr/>
            <p:nvPr/>
          </p:nvSpPr>
          <p:spPr>
            <a:xfrm>
              <a:off x="1147572" y="0"/>
              <a:ext cx="2476500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97480" y="0"/>
              <a:ext cx="1155192" cy="13121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26080" y="0"/>
              <a:ext cx="5239512" cy="131216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31163" y="504444"/>
              <a:ext cx="7280148" cy="15438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659765" marR="5080" indent="215900">
              <a:lnSpc>
                <a:spcPts val="5800"/>
              </a:lnSpc>
              <a:spcBef>
                <a:spcPts val="860"/>
              </a:spcBef>
            </a:pPr>
            <a:r>
              <a:rPr sz="5400" spc="250" dirty="0"/>
              <a:t>Read-Only </a:t>
            </a:r>
            <a:r>
              <a:rPr sz="5400" spc="315" dirty="0"/>
              <a:t>Domain  </a:t>
            </a:r>
            <a:r>
              <a:rPr sz="5400" spc="235" dirty="0"/>
              <a:t>Controllers</a:t>
            </a:r>
            <a:r>
              <a:rPr sz="5400" spc="-35" dirty="0"/>
              <a:t> </a:t>
            </a:r>
            <a:r>
              <a:rPr sz="5400" spc="145" dirty="0"/>
              <a:t>(RODCs)</a:t>
            </a:r>
            <a:endParaRPr sz="540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35940" y="1626235"/>
            <a:ext cx="7910195" cy="4036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9779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 that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supports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only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incoming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replication traffic.</a:t>
            </a:r>
            <a:endParaRPr sz="2800">
              <a:latin typeface="Gothic Uralic"/>
              <a:cs typeface="Gothic Uralic"/>
            </a:endParaRPr>
          </a:p>
          <a:p>
            <a:pPr marL="355600" marR="45085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not possible to create,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modify,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or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delete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Active Directory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objects.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Intended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 use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locations that require a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but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which have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less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physical security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or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where there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no  administrators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present who need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read/write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access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the Active Directory</a:t>
            </a:r>
            <a:r>
              <a:rPr sz="2800" spc="7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database.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19983" y="504444"/>
            <a:ext cx="3300984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1850" y="674065"/>
            <a:ext cx="24009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05" dirty="0"/>
              <a:t>Sites</a:t>
            </a:r>
            <a:r>
              <a:rPr sz="5400" spc="-75" dirty="0"/>
              <a:t> </a:t>
            </a:r>
            <a:r>
              <a:rPr sz="5400" dirty="0"/>
              <a:t>(1)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926070" cy="3609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3403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site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collection of subnets that have  good connectivity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between</a:t>
            </a:r>
            <a:r>
              <a:rPr sz="2800" spc="6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them.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Generally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speaking,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this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means that a site  consists of all the local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area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networks (LANs)  at a specific location.</a:t>
            </a:r>
            <a:endParaRPr sz="2800">
              <a:latin typeface="Gothic Uralic"/>
              <a:cs typeface="Gothic Uralic"/>
            </a:endParaRPr>
          </a:p>
          <a:p>
            <a:pPr marL="355600" marR="1651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different site would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network at a  remote location, connected to the other  site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T-1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or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slower </a:t>
            </a:r>
            <a:r>
              <a:rPr sz="2800" spc="-20" dirty="0">
                <a:solidFill>
                  <a:srgbClr val="7E7E7E"/>
                </a:solidFill>
                <a:latin typeface="Gothic Uralic"/>
                <a:cs typeface="Gothic Uralic"/>
              </a:rPr>
              <a:t>WAN</a:t>
            </a:r>
            <a:r>
              <a:rPr sz="28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technology.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19983" y="504444"/>
            <a:ext cx="3300984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1850" y="674065"/>
            <a:ext cx="24009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05" dirty="0"/>
              <a:t>Sites</a:t>
            </a:r>
            <a:r>
              <a:rPr sz="5400" spc="-75" dirty="0"/>
              <a:t> </a:t>
            </a:r>
            <a:r>
              <a:rPr sz="5400" dirty="0"/>
              <a:t>(2)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82877"/>
            <a:ext cx="7975600" cy="43059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marR="865505" indent="-343535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Site divisions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are wholly independent of  domain,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tree, 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forest</a:t>
            </a:r>
            <a:r>
              <a:rPr sz="28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divisions:</a:t>
            </a:r>
            <a:endParaRPr sz="2800">
              <a:latin typeface="Gothic Uralic"/>
              <a:cs typeface="Gothic Uralic"/>
            </a:endParaRPr>
          </a:p>
          <a:p>
            <a:pPr marL="756285" marR="562610" lvl="1" indent="-287020">
              <a:lnSpc>
                <a:spcPts val="2590"/>
              </a:lnSpc>
              <a:spcBef>
                <a:spcPts val="580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You can have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multiple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sites that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part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of</a:t>
            </a:r>
            <a:r>
              <a:rPr sz="2400" spc="-1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 single</a:t>
            </a:r>
            <a:r>
              <a:rPr sz="2400" spc="-4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domain.</a:t>
            </a:r>
            <a:endParaRPr sz="2400">
              <a:latin typeface="Gothic Uralic"/>
              <a:cs typeface="Gothic Uralic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585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You can have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separate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domains,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trees, or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forests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for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each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site.</a:t>
            </a:r>
            <a:endParaRPr sz="2400">
              <a:latin typeface="Gothic Uralic"/>
              <a:cs typeface="Gothic Uralic"/>
            </a:endParaRPr>
          </a:p>
          <a:p>
            <a:pPr marL="355600" marR="197485" indent="-343535">
              <a:lnSpc>
                <a:spcPct val="9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primary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reason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 creating different  sites on an Active Directory network 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 control the amount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traffic passing over  the relatively slow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expensive </a:t>
            </a:r>
            <a:r>
              <a:rPr sz="2800" spc="-25" dirty="0">
                <a:solidFill>
                  <a:srgbClr val="7E7E7E"/>
                </a:solidFill>
                <a:latin typeface="Gothic Uralic"/>
                <a:cs typeface="Gothic Uralic"/>
              </a:rPr>
              <a:t>WAN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links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between</a:t>
            </a:r>
            <a:r>
              <a:rPr sz="28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locations.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29967" y="504444"/>
            <a:ext cx="5081015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81833" y="674065"/>
            <a:ext cx="41821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85" dirty="0"/>
              <a:t>Site</a:t>
            </a:r>
            <a:r>
              <a:rPr sz="5400" spc="-70" dirty="0"/>
              <a:t> </a:t>
            </a:r>
            <a:r>
              <a:rPr sz="5400" spc="200" dirty="0"/>
              <a:t>Topology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977505" cy="412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38430" indent="-34353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site topology consists of three AD DS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object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types:</a:t>
            </a:r>
            <a:endParaRPr sz="2800">
              <a:latin typeface="Gothic Uralic"/>
              <a:cs typeface="Gothic Uralic"/>
            </a:endParaRPr>
          </a:p>
          <a:p>
            <a:pPr marL="355600" marR="39116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Sites: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site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object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represents the group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of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subnets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at a single location, with good  connectivity.</a:t>
            </a:r>
            <a:endParaRPr sz="2800">
              <a:latin typeface="Gothic Uralic"/>
              <a:cs typeface="Gothic Uralic"/>
            </a:endParaRPr>
          </a:p>
          <a:p>
            <a:pPr marL="355600" marR="51244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Subnets: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subnet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object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represents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 IP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network at a particular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site.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Site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links: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site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link object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represents a </a:t>
            </a:r>
            <a:r>
              <a:rPr sz="2800" spc="-20" dirty="0">
                <a:solidFill>
                  <a:srgbClr val="7E7E7E"/>
                </a:solidFill>
                <a:latin typeface="Gothic Uralic"/>
                <a:cs typeface="Gothic Uralic"/>
              </a:rPr>
              <a:t>WAN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connection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between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two</a:t>
            </a:r>
            <a:r>
              <a:rPr sz="2800" spc="9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sites.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1016" y="0"/>
            <a:ext cx="6771640" cy="2048510"/>
            <a:chOff x="1271016" y="0"/>
            <a:chExt cx="6771640" cy="2048510"/>
          </a:xfrm>
        </p:grpSpPr>
        <p:sp>
          <p:nvSpPr>
            <p:cNvPr id="3" name="object 3"/>
            <p:cNvSpPr/>
            <p:nvPr/>
          </p:nvSpPr>
          <p:spPr>
            <a:xfrm>
              <a:off x="1271016" y="0"/>
              <a:ext cx="6771132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13660" y="504444"/>
              <a:ext cx="3913632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343150" marR="5080" indent="-1343025">
              <a:lnSpc>
                <a:spcPts val="5800"/>
              </a:lnSpc>
              <a:spcBef>
                <a:spcPts val="860"/>
              </a:spcBef>
            </a:pPr>
            <a:r>
              <a:rPr sz="5400" spc="290" dirty="0"/>
              <a:t>AD </a:t>
            </a:r>
            <a:r>
              <a:rPr sz="5400" spc="40" dirty="0"/>
              <a:t>DS</a:t>
            </a:r>
            <a:r>
              <a:rPr sz="5400" spc="-340" dirty="0"/>
              <a:t> </a:t>
            </a:r>
            <a:r>
              <a:rPr sz="5400" spc="254" dirty="0"/>
              <a:t>Regulatory  </a:t>
            </a:r>
            <a:r>
              <a:rPr sz="5400" spc="240" dirty="0"/>
              <a:t>Functions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342505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Once the site topology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place 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 make decisions about: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Domain controller</a:t>
            </a:r>
            <a:r>
              <a:rPr sz="28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location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Replication traffic control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0916" y="2167127"/>
            <a:ext cx="8427720" cy="2106295"/>
            <a:chOff x="470916" y="2167127"/>
            <a:chExt cx="8427720" cy="2106295"/>
          </a:xfrm>
        </p:grpSpPr>
        <p:sp>
          <p:nvSpPr>
            <p:cNvPr id="3" name="object 3"/>
            <p:cNvSpPr/>
            <p:nvPr/>
          </p:nvSpPr>
          <p:spPr>
            <a:xfrm>
              <a:off x="470916" y="2167127"/>
              <a:ext cx="8427720" cy="13746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29383" y="2898647"/>
              <a:ext cx="5356860" cy="13746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0670" marR="5080" indent="-1459230">
              <a:lnSpc>
                <a:spcPct val="100000"/>
              </a:lnSpc>
              <a:spcBef>
                <a:spcPts val="100"/>
              </a:spcBef>
            </a:pPr>
            <a:r>
              <a:rPr spc="240" dirty="0"/>
              <a:t>Deploying </a:t>
            </a:r>
            <a:r>
              <a:rPr spc="160" dirty="0"/>
              <a:t>Active</a:t>
            </a:r>
            <a:r>
              <a:rPr spc="-455" dirty="0"/>
              <a:t> </a:t>
            </a:r>
            <a:r>
              <a:rPr spc="200" dirty="0"/>
              <a:t>Directory  </a:t>
            </a:r>
            <a:r>
              <a:rPr spc="280" dirty="0"/>
              <a:t>Domain</a:t>
            </a:r>
            <a:r>
              <a:rPr spc="-5" dirty="0"/>
              <a:t> </a:t>
            </a:r>
            <a:r>
              <a:rPr spc="125" dirty="0"/>
              <a:t>Services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743836" y="4096334"/>
            <a:ext cx="57270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Lesson 13: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Installing Domain</a:t>
            </a:r>
            <a:r>
              <a:rPr sz="2400" spc="-130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Controllers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552" y="504444"/>
            <a:ext cx="6405372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0036" y="674065"/>
            <a:ext cx="55079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70" dirty="0"/>
              <a:t>Deploying </a:t>
            </a:r>
            <a:r>
              <a:rPr sz="5400" spc="290" dirty="0"/>
              <a:t>AD</a:t>
            </a:r>
            <a:r>
              <a:rPr sz="5400" spc="-535" dirty="0"/>
              <a:t> </a:t>
            </a:r>
            <a:r>
              <a:rPr sz="5400" spc="55" dirty="0"/>
              <a:t>DS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766684" cy="3695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There 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many variables that can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affect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performance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Active Directory  installation:</a:t>
            </a:r>
            <a:endParaRPr sz="2800">
              <a:latin typeface="Gothic Uralic"/>
              <a:cs typeface="Gothic Uralic"/>
            </a:endParaRPr>
          </a:p>
          <a:p>
            <a:pPr marL="355600" marR="32575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hardware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select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your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capabilities of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your</a:t>
            </a:r>
            <a:r>
              <a:rPr sz="28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network</a:t>
            </a:r>
            <a:endParaRPr sz="2800">
              <a:latin typeface="Gothic Uralic"/>
              <a:cs typeface="Gothic Uralic"/>
            </a:endParaRPr>
          </a:p>
          <a:p>
            <a:pPr marL="355600" marR="64325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types of </a:t>
            </a:r>
            <a:r>
              <a:rPr sz="2800" spc="-20" dirty="0">
                <a:solidFill>
                  <a:srgbClr val="7E7E7E"/>
                </a:solidFill>
                <a:latin typeface="Gothic Uralic"/>
                <a:cs typeface="Gothic Uralic"/>
              </a:rPr>
              <a:t>WAN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links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connecting your  remote</a:t>
            </a:r>
            <a:r>
              <a:rPr sz="28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sites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70760" y="530351"/>
            <a:ext cx="4530851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4694" y="615772"/>
            <a:ext cx="4060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Installing </a:t>
            </a:r>
            <a:r>
              <a:rPr spc="150" dirty="0"/>
              <a:t>the</a:t>
            </a:r>
            <a:r>
              <a:rPr spc="-520" dirty="0"/>
              <a:t> </a:t>
            </a:r>
            <a:r>
              <a:rPr spc="145" dirty="0"/>
              <a:t>AD </a:t>
            </a:r>
            <a:r>
              <a:rPr spc="25" dirty="0"/>
              <a:t>DS </a:t>
            </a:r>
            <a:r>
              <a:rPr spc="65" dirty="0"/>
              <a:t>Role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63673" y="5815685"/>
            <a:ext cx="514223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045844" marR="5080" indent="-1033780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Add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features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that are required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dialog box in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Add Roles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and Features</a:t>
            </a:r>
            <a:r>
              <a:rPr sz="16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90800" y="1295400"/>
            <a:ext cx="3898391" cy="40614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70760" y="530351"/>
            <a:ext cx="4530851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4694" y="615772"/>
            <a:ext cx="4060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Installing </a:t>
            </a:r>
            <a:r>
              <a:rPr spc="150" dirty="0"/>
              <a:t>the</a:t>
            </a:r>
            <a:r>
              <a:rPr spc="-520" dirty="0"/>
              <a:t> </a:t>
            </a:r>
            <a:r>
              <a:rPr spc="145" dirty="0"/>
              <a:t>AD </a:t>
            </a:r>
            <a:r>
              <a:rPr spc="25" dirty="0"/>
              <a:t>DS </a:t>
            </a:r>
            <a:r>
              <a:rPr spc="65" dirty="0"/>
              <a:t>Role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09394" y="5815685"/>
            <a:ext cx="504952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754505" marR="5080" indent="-1742439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progress page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Add Roles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and  Features</a:t>
            </a:r>
            <a:r>
              <a:rPr sz="16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8800" y="1376172"/>
            <a:ext cx="5623559" cy="39852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9172" y="530351"/>
            <a:ext cx="4032504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3105" y="615772"/>
            <a:ext cx="3563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Creating </a:t>
            </a:r>
            <a:r>
              <a:rPr spc="155" dirty="0"/>
              <a:t>a </a:t>
            </a:r>
            <a:r>
              <a:rPr spc="229" dirty="0"/>
              <a:t>New</a:t>
            </a:r>
            <a:r>
              <a:rPr spc="-345" dirty="0"/>
              <a:t> </a:t>
            </a:r>
            <a:r>
              <a:rPr spc="95" dirty="0"/>
              <a:t>Forest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45970" y="5815685"/>
            <a:ext cx="497713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43510" marR="5080" indent="-131445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Deployment Configuration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page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 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2600" y="1371600"/>
            <a:ext cx="5573267" cy="4076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9172" y="530351"/>
            <a:ext cx="4032504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3105" y="615772"/>
            <a:ext cx="3563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Creating </a:t>
            </a:r>
            <a:r>
              <a:rPr spc="155" dirty="0"/>
              <a:t>a </a:t>
            </a:r>
            <a:r>
              <a:rPr spc="229" dirty="0"/>
              <a:t>New</a:t>
            </a:r>
            <a:r>
              <a:rPr spc="-345" dirty="0"/>
              <a:t> </a:t>
            </a:r>
            <a:r>
              <a:rPr spc="95" dirty="0"/>
              <a:t>Forest</a:t>
            </a:r>
          </a:p>
        </p:txBody>
      </p:sp>
      <p:sp>
        <p:nvSpPr>
          <p:cNvPr id="4" name="object 4"/>
          <p:cNvSpPr/>
          <p:nvPr/>
        </p:nvSpPr>
        <p:spPr>
          <a:xfrm>
            <a:off x="1787651" y="1484375"/>
            <a:ext cx="5679948" cy="415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2302" y="5814497"/>
            <a:ext cx="6323330" cy="83058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497330" marR="5080" indent="-121920">
              <a:lnSpc>
                <a:spcPts val="1730"/>
              </a:lnSpc>
              <a:spcBef>
                <a:spcPts val="32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Controller Options page 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 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200" dirty="0">
                <a:solidFill>
                  <a:srgbClr val="585858"/>
                </a:solidFill>
                <a:latin typeface="Gothic Uralic"/>
                <a:cs typeface="Gothic Uralic"/>
              </a:rPr>
              <a:t>© </a:t>
            </a: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2013 John Wiley &amp; Sons,</a:t>
            </a:r>
            <a:r>
              <a:rPr sz="1200" spc="45" dirty="0">
                <a:solidFill>
                  <a:srgbClr val="585858"/>
                </a:solidFill>
                <a:latin typeface="Gothic Uralic"/>
                <a:cs typeface="Gothic Uralic"/>
              </a:rPr>
              <a:t> </a:t>
            </a:r>
            <a:r>
              <a:rPr sz="1200" spc="5" dirty="0">
                <a:solidFill>
                  <a:srgbClr val="585858"/>
                </a:solidFill>
                <a:latin typeface="Gothic Uralic"/>
                <a:cs typeface="Gothic Uralic"/>
              </a:rPr>
              <a:t>Inc.</a:t>
            </a:r>
            <a:endParaRPr sz="1200">
              <a:latin typeface="Gothic Uralic"/>
              <a:cs typeface="Gothic Ural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9172" y="530351"/>
            <a:ext cx="4032504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3105" y="615772"/>
            <a:ext cx="3563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Creating </a:t>
            </a:r>
            <a:r>
              <a:rPr spc="155" dirty="0"/>
              <a:t>a </a:t>
            </a:r>
            <a:r>
              <a:rPr spc="229" dirty="0"/>
              <a:t>New</a:t>
            </a:r>
            <a:r>
              <a:rPr spc="-345" dirty="0"/>
              <a:t> </a:t>
            </a:r>
            <a:r>
              <a:rPr spc="95" dirty="0"/>
              <a:t>Forest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74342" y="5815685"/>
            <a:ext cx="5120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Additional Options page 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</a:t>
            </a:r>
            <a:r>
              <a:rPr sz="16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6400" y="1371600"/>
            <a:ext cx="5747004" cy="4203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2302" y="6033953"/>
            <a:ext cx="5727065" cy="610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977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200" dirty="0">
                <a:solidFill>
                  <a:srgbClr val="585858"/>
                </a:solidFill>
                <a:latin typeface="Gothic Uralic"/>
                <a:cs typeface="Gothic Uralic"/>
              </a:rPr>
              <a:t>© </a:t>
            </a: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2013 John Wiley &amp; Sons,</a:t>
            </a:r>
            <a:r>
              <a:rPr sz="1200" spc="45" dirty="0">
                <a:solidFill>
                  <a:srgbClr val="585858"/>
                </a:solidFill>
                <a:latin typeface="Gothic Uralic"/>
                <a:cs typeface="Gothic Uralic"/>
              </a:rPr>
              <a:t> </a:t>
            </a:r>
            <a:r>
              <a:rPr sz="1200" spc="5" dirty="0">
                <a:solidFill>
                  <a:srgbClr val="585858"/>
                </a:solidFill>
                <a:latin typeface="Gothic Uralic"/>
                <a:cs typeface="Gothic Uralic"/>
              </a:rPr>
              <a:t>Inc.</a:t>
            </a:r>
            <a:endParaRPr sz="1200">
              <a:latin typeface="Gothic Uralic"/>
              <a:cs typeface="Gothic Ural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9172" y="530351"/>
            <a:ext cx="4032504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3105" y="615772"/>
            <a:ext cx="3563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Creating </a:t>
            </a:r>
            <a:r>
              <a:rPr spc="155" dirty="0"/>
              <a:t>a </a:t>
            </a:r>
            <a:r>
              <a:rPr spc="229" dirty="0"/>
              <a:t>New</a:t>
            </a:r>
            <a:r>
              <a:rPr spc="-345" dirty="0"/>
              <a:t> </a:t>
            </a:r>
            <a:r>
              <a:rPr spc="95" dirty="0"/>
              <a:t>Forest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83460" y="5815685"/>
            <a:ext cx="5513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Paths page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Directory Domain</a:t>
            </a:r>
            <a:r>
              <a:rPr sz="1600" spc="9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Services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1400555"/>
            <a:ext cx="5806440" cy="4247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90721" y="6033953"/>
            <a:ext cx="2088514" cy="274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Configuration</a:t>
            </a:r>
            <a:r>
              <a:rPr sz="16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9172" y="530351"/>
            <a:ext cx="4032504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3105" y="615772"/>
            <a:ext cx="3563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Creating </a:t>
            </a:r>
            <a:r>
              <a:rPr spc="155" dirty="0"/>
              <a:t>a </a:t>
            </a:r>
            <a:r>
              <a:rPr spc="229" dirty="0"/>
              <a:t>New</a:t>
            </a:r>
            <a:r>
              <a:rPr spc="-345" dirty="0"/>
              <a:t> </a:t>
            </a:r>
            <a:r>
              <a:rPr spc="95" dirty="0"/>
              <a:t>Forest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30145" y="5815685"/>
            <a:ext cx="520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Prerequisites Check page 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</a:t>
            </a:r>
            <a:r>
              <a:rPr sz="1600" spc="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2600" y="1371600"/>
            <a:ext cx="5772911" cy="42245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2302" y="6033953"/>
            <a:ext cx="5727065" cy="610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977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200" dirty="0">
                <a:solidFill>
                  <a:srgbClr val="585858"/>
                </a:solidFill>
                <a:latin typeface="Gothic Uralic"/>
                <a:cs typeface="Gothic Uralic"/>
              </a:rPr>
              <a:t>© </a:t>
            </a: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2013 John Wiley &amp; Sons,</a:t>
            </a:r>
            <a:r>
              <a:rPr sz="1200" spc="45" dirty="0">
                <a:solidFill>
                  <a:srgbClr val="585858"/>
                </a:solidFill>
                <a:latin typeface="Gothic Uralic"/>
                <a:cs typeface="Gothic Uralic"/>
              </a:rPr>
              <a:t> </a:t>
            </a:r>
            <a:r>
              <a:rPr sz="1200" spc="5" dirty="0">
                <a:solidFill>
                  <a:srgbClr val="585858"/>
                </a:solidFill>
                <a:latin typeface="Gothic Uralic"/>
                <a:cs typeface="Gothic Uralic"/>
              </a:rPr>
              <a:t>Inc.</a:t>
            </a:r>
            <a:endParaRPr sz="1200">
              <a:latin typeface="Gothic Uralic"/>
              <a:cs typeface="Gothic Ural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7339" y="103631"/>
            <a:ext cx="6004560" cy="1240790"/>
            <a:chOff x="1577339" y="103631"/>
            <a:chExt cx="6004560" cy="1240790"/>
          </a:xfrm>
        </p:grpSpPr>
        <p:sp>
          <p:nvSpPr>
            <p:cNvPr id="3" name="object 3"/>
            <p:cNvSpPr/>
            <p:nvPr/>
          </p:nvSpPr>
          <p:spPr>
            <a:xfrm>
              <a:off x="1577339" y="103631"/>
              <a:ext cx="600456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68751" y="530351"/>
              <a:ext cx="3131820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2479675" marR="5080" indent="-1391920">
              <a:lnSpc>
                <a:spcPct val="100000"/>
              </a:lnSpc>
              <a:spcBef>
                <a:spcPts val="95"/>
              </a:spcBef>
            </a:pPr>
            <a:r>
              <a:rPr spc="195" dirty="0"/>
              <a:t>Adding</a:t>
            </a:r>
            <a:r>
              <a:rPr spc="10" dirty="0"/>
              <a:t> </a:t>
            </a:r>
            <a:r>
              <a:rPr spc="155" dirty="0"/>
              <a:t>a</a:t>
            </a:r>
            <a:r>
              <a:rPr dirty="0"/>
              <a:t> </a:t>
            </a:r>
            <a:r>
              <a:rPr spc="160" dirty="0"/>
              <a:t>Domain</a:t>
            </a:r>
            <a:r>
              <a:rPr dirty="0"/>
              <a:t> </a:t>
            </a:r>
            <a:r>
              <a:rPr spc="120" dirty="0"/>
              <a:t>Controller</a:t>
            </a:r>
            <a:r>
              <a:rPr spc="-10" dirty="0"/>
              <a:t> </a:t>
            </a:r>
            <a:r>
              <a:rPr spc="125" dirty="0"/>
              <a:t>to</a:t>
            </a:r>
            <a:r>
              <a:rPr spc="-10" dirty="0"/>
              <a:t> </a:t>
            </a:r>
            <a:r>
              <a:rPr spc="190" dirty="0"/>
              <a:t>an  </a:t>
            </a:r>
            <a:r>
              <a:rPr spc="85" dirty="0"/>
              <a:t>Existing</a:t>
            </a:r>
            <a:r>
              <a:rPr spc="5" dirty="0"/>
              <a:t> </a:t>
            </a:r>
            <a:r>
              <a:rPr spc="160" dirty="0"/>
              <a:t>Domain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09369" y="5815685"/>
            <a:ext cx="5461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Select a domain from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forest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page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</a:t>
            </a:r>
            <a:r>
              <a:rPr sz="1600" spc="1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60804" y="1524000"/>
            <a:ext cx="5225796" cy="39182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2302" y="6033953"/>
            <a:ext cx="6198870" cy="610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733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200" dirty="0">
                <a:solidFill>
                  <a:srgbClr val="585858"/>
                </a:solidFill>
                <a:latin typeface="Gothic Uralic"/>
                <a:cs typeface="Gothic Uralic"/>
              </a:rPr>
              <a:t>© </a:t>
            </a: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2013 John Wiley &amp; Sons,</a:t>
            </a:r>
            <a:r>
              <a:rPr sz="1200" spc="45" dirty="0">
                <a:solidFill>
                  <a:srgbClr val="585858"/>
                </a:solidFill>
                <a:latin typeface="Gothic Uralic"/>
                <a:cs typeface="Gothic Uralic"/>
              </a:rPr>
              <a:t> </a:t>
            </a:r>
            <a:r>
              <a:rPr sz="1200" spc="5" dirty="0">
                <a:solidFill>
                  <a:srgbClr val="585858"/>
                </a:solidFill>
                <a:latin typeface="Gothic Uralic"/>
                <a:cs typeface="Gothic Uralic"/>
              </a:rPr>
              <a:t>Inc.</a:t>
            </a:r>
            <a:endParaRPr sz="1200">
              <a:latin typeface="Gothic Uralic"/>
              <a:cs typeface="Gothic Ural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7339" y="103631"/>
            <a:ext cx="6004560" cy="1240790"/>
            <a:chOff x="1577339" y="103631"/>
            <a:chExt cx="6004560" cy="1240790"/>
          </a:xfrm>
        </p:grpSpPr>
        <p:sp>
          <p:nvSpPr>
            <p:cNvPr id="3" name="object 3"/>
            <p:cNvSpPr/>
            <p:nvPr/>
          </p:nvSpPr>
          <p:spPr>
            <a:xfrm>
              <a:off x="1577339" y="103631"/>
              <a:ext cx="600456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68751" y="530351"/>
              <a:ext cx="3131820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2479675" marR="5080" indent="-1391920">
              <a:lnSpc>
                <a:spcPct val="100000"/>
              </a:lnSpc>
              <a:spcBef>
                <a:spcPts val="95"/>
              </a:spcBef>
            </a:pPr>
            <a:r>
              <a:rPr spc="195" dirty="0"/>
              <a:t>Adding</a:t>
            </a:r>
            <a:r>
              <a:rPr spc="10" dirty="0"/>
              <a:t> </a:t>
            </a:r>
            <a:r>
              <a:rPr spc="155" dirty="0"/>
              <a:t>a</a:t>
            </a:r>
            <a:r>
              <a:rPr dirty="0"/>
              <a:t> </a:t>
            </a:r>
            <a:r>
              <a:rPr spc="160" dirty="0"/>
              <a:t>Domain</a:t>
            </a:r>
            <a:r>
              <a:rPr dirty="0"/>
              <a:t> </a:t>
            </a:r>
            <a:r>
              <a:rPr spc="120" dirty="0"/>
              <a:t>Controller</a:t>
            </a:r>
            <a:r>
              <a:rPr spc="-10" dirty="0"/>
              <a:t> </a:t>
            </a:r>
            <a:r>
              <a:rPr spc="125" dirty="0"/>
              <a:t>to</a:t>
            </a:r>
            <a:r>
              <a:rPr spc="-10" dirty="0"/>
              <a:t> </a:t>
            </a:r>
            <a:r>
              <a:rPr spc="190" dirty="0"/>
              <a:t>an  </a:t>
            </a:r>
            <a:r>
              <a:rPr spc="85" dirty="0"/>
              <a:t>Existing</a:t>
            </a:r>
            <a:r>
              <a:rPr spc="5" dirty="0"/>
              <a:t> </a:t>
            </a:r>
            <a:r>
              <a:rPr spc="160" dirty="0"/>
              <a:t>Domain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1685" y="5796788"/>
            <a:ext cx="4961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Controller Options page 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</a:t>
            </a:r>
            <a:r>
              <a:rPr sz="16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0200" y="1414272"/>
            <a:ext cx="5788152" cy="42351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2302" y="6033953"/>
            <a:ext cx="6198870" cy="610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733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200" dirty="0">
                <a:solidFill>
                  <a:srgbClr val="585858"/>
                </a:solidFill>
                <a:latin typeface="Gothic Uralic"/>
                <a:cs typeface="Gothic Uralic"/>
              </a:rPr>
              <a:t>© </a:t>
            </a: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2013 John Wiley &amp; Sons,</a:t>
            </a:r>
            <a:r>
              <a:rPr sz="1200" spc="45" dirty="0">
                <a:solidFill>
                  <a:srgbClr val="585858"/>
                </a:solidFill>
                <a:latin typeface="Gothic Uralic"/>
                <a:cs typeface="Gothic Uralic"/>
              </a:rPr>
              <a:t> </a:t>
            </a:r>
            <a:r>
              <a:rPr sz="1200" spc="5" dirty="0">
                <a:solidFill>
                  <a:srgbClr val="585858"/>
                </a:solidFill>
                <a:latin typeface="Gothic Uralic"/>
                <a:cs typeface="Gothic Uralic"/>
              </a:rPr>
              <a:t>Inc.</a:t>
            </a:r>
            <a:endParaRPr sz="1200">
              <a:latin typeface="Gothic Uralic"/>
              <a:cs typeface="Gothic Ural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7339" y="103631"/>
            <a:ext cx="6004560" cy="1240790"/>
            <a:chOff x="1577339" y="103631"/>
            <a:chExt cx="6004560" cy="1240790"/>
          </a:xfrm>
        </p:grpSpPr>
        <p:sp>
          <p:nvSpPr>
            <p:cNvPr id="3" name="object 3"/>
            <p:cNvSpPr/>
            <p:nvPr/>
          </p:nvSpPr>
          <p:spPr>
            <a:xfrm>
              <a:off x="1577339" y="103631"/>
              <a:ext cx="600456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68751" y="530351"/>
              <a:ext cx="3131820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2479675" marR="5080" indent="-1391920">
              <a:lnSpc>
                <a:spcPct val="100000"/>
              </a:lnSpc>
              <a:spcBef>
                <a:spcPts val="95"/>
              </a:spcBef>
            </a:pPr>
            <a:r>
              <a:rPr spc="195" dirty="0"/>
              <a:t>Adding</a:t>
            </a:r>
            <a:r>
              <a:rPr spc="10" dirty="0"/>
              <a:t> </a:t>
            </a:r>
            <a:r>
              <a:rPr spc="155" dirty="0"/>
              <a:t>a</a:t>
            </a:r>
            <a:r>
              <a:rPr dirty="0"/>
              <a:t> </a:t>
            </a:r>
            <a:r>
              <a:rPr spc="160" dirty="0"/>
              <a:t>Domain</a:t>
            </a:r>
            <a:r>
              <a:rPr dirty="0"/>
              <a:t> </a:t>
            </a:r>
            <a:r>
              <a:rPr spc="120" dirty="0"/>
              <a:t>Controller</a:t>
            </a:r>
            <a:r>
              <a:rPr spc="-10" dirty="0"/>
              <a:t> </a:t>
            </a:r>
            <a:r>
              <a:rPr spc="125" dirty="0"/>
              <a:t>to</a:t>
            </a:r>
            <a:r>
              <a:rPr spc="-10" dirty="0"/>
              <a:t> </a:t>
            </a:r>
            <a:r>
              <a:rPr spc="190" dirty="0"/>
              <a:t>an  </a:t>
            </a:r>
            <a:r>
              <a:rPr spc="85" dirty="0"/>
              <a:t>Existing</a:t>
            </a:r>
            <a:r>
              <a:rPr spc="5" dirty="0"/>
              <a:t> </a:t>
            </a:r>
            <a:r>
              <a:rPr spc="160" dirty="0"/>
              <a:t>Domain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70913" y="5796788"/>
            <a:ext cx="5120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Additional Options page 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</a:t>
            </a:r>
            <a:r>
              <a:rPr sz="16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0200" y="1330452"/>
            <a:ext cx="5820155" cy="42428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2302" y="6015056"/>
            <a:ext cx="5723890" cy="629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6595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200" dirty="0">
                <a:solidFill>
                  <a:srgbClr val="585858"/>
                </a:solidFill>
                <a:latin typeface="Gothic Uralic"/>
                <a:cs typeface="Gothic Uralic"/>
              </a:rPr>
              <a:t>© </a:t>
            </a: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2013 John Wiley &amp; Sons,</a:t>
            </a:r>
            <a:r>
              <a:rPr sz="1200" spc="45" dirty="0">
                <a:solidFill>
                  <a:srgbClr val="585858"/>
                </a:solidFill>
                <a:latin typeface="Gothic Uralic"/>
                <a:cs typeface="Gothic Uralic"/>
              </a:rPr>
              <a:t> </a:t>
            </a:r>
            <a:r>
              <a:rPr sz="1200" spc="5" dirty="0">
                <a:solidFill>
                  <a:srgbClr val="585858"/>
                </a:solidFill>
                <a:latin typeface="Gothic Uralic"/>
                <a:cs typeface="Gothic Uralic"/>
              </a:rPr>
              <a:t>Inc.</a:t>
            </a:r>
            <a:endParaRPr sz="1200">
              <a:latin typeface="Gothic Uralic"/>
              <a:cs typeface="Gothic Ural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2139" y="103631"/>
            <a:ext cx="5394960" cy="1240790"/>
            <a:chOff x="1882139" y="103631"/>
            <a:chExt cx="5394960" cy="1240790"/>
          </a:xfrm>
        </p:grpSpPr>
        <p:sp>
          <p:nvSpPr>
            <p:cNvPr id="3" name="object 3"/>
            <p:cNvSpPr/>
            <p:nvPr/>
          </p:nvSpPr>
          <p:spPr>
            <a:xfrm>
              <a:off x="1882139" y="103631"/>
              <a:ext cx="539496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71672" y="530351"/>
              <a:ext cx="2127504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6073" y="189356"/>
            <a:ext cx="483616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2105" marR="5080" indent="-159004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Creating</a:t>
            </a:r>
            <a:r>
              <a:rPr spc="-25" dirty="0"/>
              <a:t> </a:t>
            </a:r>
            <a:r>
              <a:rPr spc="155" dirty="0"/>
              <a:t>a</a:t>
            </a:r>
            <a:r>
              <a:rPr spc="-20" dirty="0"/>
              <a:t> </a:t>
            </a:r>
            <a:r>
              <a:rPr spc="235" dirty="0"/>
              <a:t>New</a:t>
            </a:r>
            <a:r>
              <a:rPr spc="-15" dirty="0"/>
              <a:t> </a:t>
            </a:r>
            <a:r>
              <a:rPr spc="140" dirty="0"/>
              <a:t>Child</a:t>
            </a:r>
            <a:r>
              <a:rPr spc="-20" dirty="0"/>
              <a:t> </a:t>
            </a:r>
            <a:r>
              <a:rPr spc="160" dirty="0"/>
              <a:t>Domain  </a:t>
            </a:r>
            <a:r>
              <a:rPr spc="130" dirty="0"/>
              <a:t>in </a:t>
            </a:r>
            <a:r>
              <a:rPr spc="155" dirty="0"/>
              <a:t>a</a:t>
            </a:r>
            <a:r>
              <a:rPr spc="-160" dirty="0"/>
              <a:t> </a:t>
            </a:r>
            <a:r>
              <a:rPr spc="95" dirty="0"/>
              <a:t>Forest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5970" y="5815685"/>
            <a:ext cx="497713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43510" marR="5080" indent="-131445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Deployment Configuration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page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 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52600" y="1290827"/>
            <a:ext cx="5849111" cy="42793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59545" y="6432317"/>
            <a:ext cx="193040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46</a:t>
            </a:r>
            <a:endParaRPr sz="12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2139" y="103631"/>
            <a:ext cx="5394960" cy="1240790"/>
            <a:chOff x="1882139" y="103631"/>
            <a:chExt cx="5394960" cy="1240790"/>
          </a:xfrm>
        </p:grpSpPr>
        <p:sp>
          <p:nvSpPr>
            <p:cNvPr id="3" name="object 3"/>
            <p:cNvSpPr/>
            <p:nvPr/>
          </p:nvSpPr>
          <p:spPr>
            <a:xfrm>
              <a:off x="1882139" y="103631"/>
              <a:ext cx="539496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71672" y="530351"/>
              <a:ext cx="2127504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6073" y="189356"/>
            <a:ext cx="483616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2105" marR="5080" indent="-159004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Creating</a:t>
            </a:r>
            <a:r>
              <a:rPr spc="-25" dirty="0"/>
              <a:t> </a:t>
            </a:r>
            <a:r>
              <a:rPr spc="155" dirty="0"/>
              <a:t>a</a:t>
            </a:r>
            <a:r>
              <a:rPr spc="-20" dirty="0"/>
              <a:t> </a:t>
            </a:r>
            <a:r>
              <a:rPr spc="235" dirty="0"/>
              <a:t>New</a:t>
            </a:r>
            <a:r>
              <a:rPr spc="-15" dirty="0"/>
              <a:t> </a:t>
            </a:r>
            <a:r>
              <a:rPr spc="140" dirty="0"/>
              <a:t>Child</a:t>
            </a:r>
            <a:r>
              <a:rPr spc="-20" dirty="0"/>
              <a:t> </a:t>
            </a:r>
            <a:r>
              <a:rPr spc="160" dirty="0"/>
              <a:t>Domain  </a:t>
            </a:r>
            <a:r>
              <a:rPr spc="130" dirty="0"/>
              <a:t>in </a:t>
            </a:r>
            <a:r>
              <a:rPr spc="155" dirty="0"/>
              <a:t>a</a:t>
            </a:r>
            <a:r>
              <a:rPr spc="-160" dirty="0"/>
              <a:t> </a:t>
            </a:r>
            <a:r>
              <a:rPr spc="95" dirty="0"/>
              <a:t>Forest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5114" y="5815685"/>
            <a:ext cx="496062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33985" marR="5080" indent="-121920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Controller Options page 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 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76400" y="1246632"/>
            <a:ext cx="5900928" cy="43159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5275" y="0"/>
            <a:ext cx="7183120" cy="2048510"/>
            <a:chOff x="1065275" y="0"/>
            <a:chExt cx="7183120" cy="2048510"/>
          </a:xfrm>
        </p:grpSpPr>
        <p:sp>
          <p:nvSpPr>
            <p:cNvPr id="3" name="object 3"/>
            <p:cNvSpPr/>
            <p:nvPr/>
          </p:nvSpPr>
          <p:spPr>
            <a:xfrm>
              <a:off x="1065275" y="0"/>
              <a:ext cx="7182611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22575" y="504444"/>
              <a:ext cx="4495800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16761" y="0"/>
            <a:ext cx="611251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00" marR="5080" indent="-1257935">
              <a:lnSpc>
                <a:spcPts val="5800"/>
              </a:lnSpc>
              <a:spcBef>
                <a:spcPts val="860"/>
              </a:spcBef>
              <a:tabLst>
                <a:tab pos="3376295" algn="l"/>
              </a:tabLst>
            </a:pPr>
            <a:r>
              <a:rPr sz="5400" spc="215" dirty="0"/>
              <a:t>Installing </a:t>
            </a:r>
            <a:r>
              <a:rPr sz="5400" spc="290" dirty="0"/>
              <a:t>AD </a:t>
            </a:r>
            <a:r>
              <a:rPr sz="5400" spc="40" dirty="0"/>
              <a:t>DS</a:t>
            </a:r>
            <a:r>
              <a:rPr sz="5400" spc="-750" dirty="0"/>
              <a:t> </a:t>
            </a:r>
            <a:r>
              <a:rPr sz="5400" spc="345" dirty="0"/>
              <a:t>on  </a:t>
            </a:r>
            <a:r>
              <a:rPr sz="5400" spc="185" dirty="0"/>
              <a:t>Server	</a:t>
            </a:r>
            <a:r>
              <a:rPr sz="5400" spc="245" dirty="0"/>
              <a:t>Core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8002270" cy="4301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Server 2012,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it 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now possible to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install Active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Directory Domain Services on a  computer running 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Server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Core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installation option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and promote the system  to a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controller, all using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PowerShell.</a:t>
            </a:r>
            <a:endParaRPr sz="2800">
              <a:latin typeface="Gothic Uralic"/>
              <a:cs typeface="Gothic Uralic"/>
            </a:endParaRPr>
          </a:p>
          <a:p>
            <a:pPr marL="355600" marR="54229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Install the AD DS role, use the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following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command:</a:t>
            </a:r>
            <a:endParaRPr sz="2800">
              <a:latin typeface="Gothic Uralic"/>
              <a:cs typeface="Gothic Uralic"/>
            </a:endParaRPr>
          </a:p>
          <a:p>
            <a:pPr marL="355600" marR="859790" indent="-343535">
              <a:lnSpc>
                <a:spcPct val="100000"/>
              </a:lnSpc>
              <a:spcBef>
                <a:spcPts val="355"/>
              </a:spcBef>
            </a:pPr>
            <a:r>
              <a:rPr sz="2400" b="1" spc="-10" dirty="0">
                <a:solidFill>
                  <a:srgbClr val="7E7E7E"/>
                </a:solidFill>
                <a:latin typeface="Courier New"/>
                <a:cs typeface="Courier New"/>
              </a:rPr>
              <a:t>Install-WindowsFeature –name </a:t>
            </a:r>
            <a:r>
              <a:rPr sz="2400" b="1" spc="-5" dirty="0">
                <a:solidFill>
                  <a:srgbClr val="7E7E7E"/>
                </a:solidFill>
                <a:latin typeface="Courier New"/>
                <a:cs typeface="Courier New"/>
              </a:rPr>
              <a:t>AD-Domain-  Services</a:t>
            </a:r>
            <a:r>
              <a:rPr sz="2400" b="1" spc="-3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7E7E7E"/>
                </a:solidFill>
                <a:latin typeface="Courier New"/>
                <a:cs typeface="Courier New"/>
              </a:rPr>
              <a:t>-IncludeManagementTools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5275" y="0"/>
            <a:ext cx="7183120" cy="2048510"/>
            <a:chOff x="1065275" y="0"/>
            <a:chExt cx="7183120" cy="2048510"/>
          </a:xfrm>
        </p:grpSpPr>
        <p:sp>
          <p:nvSpPr>
            <p:cNvPr id="3" name="object 3"/>
            <p:cNvSpPr/>
            <p:nvPr/>
          </p:nvSpPr>
          <p:spPr>
            <a:xfrm>
              <a:off x="1065275" y="0"/>
              <a:ext cx="7182611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22575" y="504444"/>
              <a:ext cx="4495800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16761" y="0"/>
            <a:ext cx="611251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00" marR="5080" indent="-1257935">
              <a:lnSpc>
                <a:spcPts val="5800"/>
              </a:lnSpc>
              <a:spcBef>
                <a:spcPts val="860"/>
              </a:spcBef>
              <a:tabLst>
                <a:tab pos="3376295" algn="l"/>
              </a:tabLst>
            </a:pPr>
            <a:r>
              <a:rPr sz="5400" spc="215" dirty="0"/>
              <a:t>Installing </a:t>
            </a:r>
            <a:r>
              <a:rPr sz="5400" spc="290" dirty="0"/>
              <a:t>AD </a:t>
            </a:r>
            <a:r>
              <a:rPr sz="5400" spc="40" dirty="0"/>
              <a:t>DS</a:t>
            </a:r>
            <a:r>
              <a:rPr sz="5400" spc="-750" dirty="0"/>
              <a:t> </a:t>
            </a:r>
            <a:r>
              <a:rPr sz="5400" spc="345" dirty="0"/>
              <a:t>on  </a:t>
            </a:r>
            <a:r>
              <a:rPr sz="5400" spc="185" dirty="0"/>
              <a:t>Server	</a:t>
            </a:r>
            <a:r>
              <a:rPr sz="5400" spc="245" dirty="0"/>
              <a:t>Core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988934" cy="3780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56210" indent="-34353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After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installing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role,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must promote the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server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a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 ADDSDeployment PowerShell</a:t>
            </a:r>
            <a:r>
              <a:rPr sz="2800" spc="8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module.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There 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three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separate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cmdlets for the three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deployment</a:t>
            </a:r>
            <a:r>
              <a:rPr sz="28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configurations: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Install-AddsForest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Install-AddsDomainController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Install-AddsDomain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4979" y="530351"/>
            <a:ext cx="5580888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8914" y="615772"/>
            <a:ext cx="51111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Installing</a:t>
            </a:r>
            <a:r>
              <a:rPr spc="-140" dirty="0"/>
              <a:t> </a:t>
            </a:r>
            <a:r>
              <a:rPr spc="145" dirty="0"/>
              <a:t>AD</a:t>
            </a:r>
            <a:r>
              <a:rPr spc="-20" dirty="0"/>
              <a:t> </a:t>
            </a:r>
            <a:r>
              <a:rPr spc="25" dirty="0"/>
              <a:t>DS</a:t>
            </a:r>
            <a:r>
              <a:rPr spc="-20" dirty="0"/>
              <a:t> </a:t>
            </a:r>
            <a:r>
              <a:rPr spc="175" dirty="0"/>
              <a:t>on</a:t>
            </a:r>
            <a:r>
              <a:rPr spc="-10" dirty="0"/>
              <a:t> </a:t>
            </a:r>
            <a:r>
              <a:rPr spc="95" dirty="0"/>
              <a:t>Server</a:t>
            </a:r>
            <a:r>
              <a:rPr spc="-15" dirty="0"/>
              <a:t> </a:t>
            </a:r>
            <a:r>
              <a:rPr spc="120" dirty="0"/>
              <a:t>Core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95550" y="5390868"/>
            <a:ext cx="4081779" cy="6108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Syntax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for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Install-AddsForest cmdlet</a:t>
            </a:r>
            <a:r>
              <a:rPr sz="1600" spc="7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</a:t>
            </a:r>
            <a:endParaRPr sz="1600">
              <a:latin typeface="Gothic Uralic"/>
              <a:cs typeface="Gothic Uralic"/>
            </a:endParaRPr>
          </a:p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Windows</a:t>
            </a:r>
            <a:r>
              <a:rPr sz="1600" spc="5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PowerShell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2548127"/>
            <a:ext cx="7772400" cy="17617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5275" y="0"/>
            <a:ext cx="7183120" cy="2048510"/>
            <a:chOff x="1065275" y="0"/>
            <a:chExt cx="7183120" cy="2048510"/>
          </a:xfrm>
        </p:grpSpPr>
        <p:sp>
          <p:nvSpPr>
            <p:cNvPr id="3" name="object 3"/>
            <p:cNvSpPr/>
            <p:nvPr/>
          </p:nvSpPr>
          <p:spPr>
            <a:xfrm>
              <a:off x="1065275" y="0"/>
              <a:ext cx="7182611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22575" y="504444"/>
              <a:ext cx="4495800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16761" y="0"/>
            <a:ext cx="611251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00" marR="5080" indent="-1257935">
              <a:lnSpc>
                <a:spcPts val="5800"/>
              </a:lnSpc>
              <a:spcBef>
                <a:spcPts val="860"/>
              </a:spcBef>
              <a:tabLst>
                <a:tab pos="3376295" algn="l"/>
              </a:tabLst>
            </a:pPr>
            <a:r>
              <a:rPr sz="5400" spc="215" dirty="0"/>
              <a:t>Installing </a:t>
            </a:r>
            <a:r>
              <a:rPr sz="5400" spc="290" dirty="0"/>
              <a:t>AD </a:t>
            </a:r>
            <a:r>
              <a:rPr sz="5400" spc="40" dirty="0"/>
              <a:t>DS</a:t>
            </a:r>
            <a:r>
              <a:rPr sz="5400" spc="-750" dirty="0"/>
              <a:t> </a:t>
            </a:r>
            <a:r>
              <a:rPr sz="5400" spc="345" dirty="0"/>
              <a:t>on  </a:t>
            </a:r>
            <a:r>
              <a:rPr sz="5400" spc="185" dirty="0"/>
              <a:t>Server	</a:t>
            </a:r>
            <a:r>
              <a:rPr sz="5400" spc="245" dirty="0"/>
              <a:t>Core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880350" cy="4378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72745" indent="-34353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Another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way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do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this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use a computer  running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Server 2012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full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GUI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option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generate a</a:t>
            </a:r>
            <a:r>
              <a:rPr sz="2800" spc="5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script.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Begin by running the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Active Directory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Domain  Services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Configuration </a:t>
            </a:r>
            <a:r>
              <a:rPr sz="2800" b="1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, configuring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all of the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options with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your desired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settings.</a:t>
            </a:r>
            <a:endParaRPr sz="2800">
              <a:latin typeface="Gothic Uralic"/>
              <a:cs typeface="Gothic Uralic"/>
            </a:endParaRPr>
          </a:p>
          <a:p>
            <a:pPr marL="355600" marR="187325">
              <a:lnSpc>
                <a:spcPct val="100000"/>
              </a:lnSpc>
            </a:pPr>
            <a:r>
              <a:rPr sz="28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reach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i="1" spc="-5" dirty="0">
                <a:solidFill>
                  <a:srgbClr val="7E7E7E"/>
                </a:solidFill>
                <a:latin typeface="TeXGyreAdventor"/>
                <a:cs typeface="TeXGyreAdventor"/>
              </a:rPr>
              <a:t>Review </a:t>
            </a:r>
            <a:r>
              <a:rPr sz="2800" i="1" dirty="0">
                <a:solidFill>
                  <a:srgbClr val="7E7E7E"/>
                </a:solidFill>
                <a:latin typeface="TeXGyreAdventor"/>
                <a:cs typeface="TeXGyreAdventor"/>
              </a:rPr>
              <a:t>Option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page,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click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i="1" dirty="0">
                <a:solidFill>
                  <a:srgbClr val="7E7E7E"/>
                </a:solidFill>
                <a:latin typeface="TeXGyreAdventor"/>
                <a:cs typeface="TeXGyreAdventor"/>
              </a:rPr>
              <a:t>View </a:t>
            </a:r>
            <a:r>
              <a:rPr sz="2800" i="1" spc="-5" dirty="0">
                <a:solidFill>
                  <a:srgbClr val="7E7E7E"/>
                </a:solidFill>
                <a:latin typeface="TeXGyreAdventor"/>
                <a:cs typeface="TeXGyreAdventor"/>
              </a:rPr>
              <a:t>Script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button to display the  PowerShell code for 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appropriate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cmdlet.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4979" y="530351"/>
            <a:ext cx="5580888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8914" y="615772"/>
            <a:ext cx="51111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Installing</a:t>
            </a:r>
            <a:r>
              <a:rPr spc="-140" dirty="0"/>
              <a:t> </a:t>
            </a:r>
            <a:r>
              <a:rPr spc="145" dirty="0"/>
              <a:t>AD</a:t>
            </a:r>
            <a:r>
              <a:rPr spc="-20" dirty="0"/>
              <a:t> </a:t>
            </a:r>
            <a:r>
              <a:rPr spc="25" dirty="0"/>
              <a:t>DS</a:t>
            </a:r>
            <a:r>
              <a:rPr spc="-20" dirty="0"/>
              <a:t> </a:t>
            </a:r>
            <a:r>
              <a:rPr spc="175" dirty="0"/>
              <a:t>on</a:t>
            </a:r>
            <a:r>
              <a:rPr spc="-10" dirty="0"/>
              <a:t> </a:t>
            </a:r>
            <a:r>
              <a:rPr spc="95" dirty="0"/>
              <a:t>Server</a:t>
            </a:r>
            <a:r>
              <a:rPr spc="-15" dirty="0"/>
              <a:t> </a:t>
            </a:r>
            <a:r>
              <a:rPr spc="120" dirty="0"/>
              <a:t>Core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2610" y="5815685"/>
            <a:ext cx="540194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29310" marR="5080" indent="-817244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 script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generated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by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40864" y="1295400"/>
            <a:ext cx="4440936" cy="4274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52</a:t>
            </a:fld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804" y="504444"/>
            <a:ext cx="8467344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8314" y="674065"/>
            <a:ext cx="75679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90" dirty="0"/>
              <a:t>Install </a:t>
            </a:r>
            <a:r>
              <a:rPr sz="5400" spc="280" dirty="0"/>
              <a:t>from </a:t>
            </a:r>
            <a:r>
              <a:rPr sz="5400" spc="295" dirty="0"/>
              <a:t>Media</a:t>
            </a:r>
            <a:r>
              <a:rPr sz="5400" spc="-509" dirty="0"/>
              <a:t> </a:t>
            </a:r>
            <a:r>
              <a:rPr sz="5400" spc="65" dirty="0"/>
              <a:t>(IFM)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82877"/>
            <a:ext cx="8044180" cy="44640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marR="247650" indent="-343535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Install from media 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option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enables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administrators to streamline 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process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of  deploying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replica 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 to  remote</a:t>
            </a:r>
            <a:r>
              <a:rPr sz="28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sites.</a:t>
            </a:r>
            <a:endParaRPr sz="2800">
              <a:latin typeface="Gothic Uralic"/>
              <a:cs typeface="Gothic Uralic"/>
            </a:endParaRPr>
          </a:p>
          <a:p>
            <a:pPr marL="355600" marR="681990" indent="-343535">
              <a:lnSpc>
                <a:spcPct val="9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Using a command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line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tool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called 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Ndtsutil.exe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, administrators can create  domain controller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installation media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that  includes a copy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AD DS</a:t>
            </a:r>
            <a:r>
              <a:rPr sz="28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database.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ts val="302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using this installation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media, 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data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installed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along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 database structure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and no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replication 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is</a:t>
            </a:r>
            <a:r>
              <a:rPr sz="28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needed.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96667" y="530351"/>
            <a:ext cx="4479035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30601" y="615772"/>
            <a:ext cx="4009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Install </a:t>
            </a:r>
            <a:r>
              <a:rPr spc="140" dirty="0"/>
              <a:t>From </a:t>
            </a:r>
            <a:r>
              <a:rPr spc="150" dirty="0"/>
              <a:t>Media</a:t>
            </a:r>
            <a:r>
              <a:rPr spc="-310" dirty="0"/>
              <a:t> </a:t>
            </a:r>
            <a:r>
              <a:rPr spc="30" dirty="0"/>
              <a:t>(IFM)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19577" y="5840069"/>
            <a:ext cx="3632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Ntdsutil.exe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command</a:t>
            </a:r>
            <a:r>
              <a:rPr sz="1600" spc="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sequence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2000" y="1252727"/>
            <a:ext cx="7577328" cy="4242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54</a:t>
            </a:fld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1496" y="504444"/>
            <a:ext cx="6537959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52980" y="674065"/>
            <a:ext cx="56388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355" dirty="0"/>
              <a:t>Upgrading </a:t>
            </a:r>
            <a:r>
              <a:rPr sz="5400" spc="290" dirty="0"/>
              <a:t>AD</a:t>
            </a:r>
            <a:r>
              <a:rPr sz="5400" spc="-625" dirty="0"/>
              <a:t> </a:t>
            </a:r>
            <a:r>
              <a:rPr sz="5400" spc="40" dirty="0"/>
              <a:t>DS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40281"/>
            <a:ext cx="7901305" cy="241554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Two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ways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upgrade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 DS</a:t>
            </a:r>
            <a:r>
              <a:rPr sz="2800" spc="8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infrastructure:</a:t>
            </a:r>
            <a:endParaRPr sz="2800">
              <a:latin typeface="Gothic Uralic"/>
              <a:cs typeface="Gothic Uralic"/>
            </a:endParaRPr>
          </a:p>
          <a:p>
            <a:pPr marL="355600" marR="52006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Upgrade the existing down-level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 to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Server</a:t>
            </a:r>
            <a:r>
              <a:rPr sz="2800" spc="9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2012.</a:t>
            </a:r>
            <a:endParaRPr sz="2800">
              <a:latin typeface="Gothic Uralic"/>
              <a:cs typeface="Gothic Uralic"/>
            </a:endParaRPr>
          </a:p>
          <a:p>
            <a:pPr marL="355600" marR="49149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Add a new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Server 2012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 to your existing</a:t>
            </a:r>
            <a:r>
              <a:rPr sz="2800" spc="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31391" y="0"/>
            <a:ext cx="6680200" cy="2048510"/>
            <a:chOff x="1231391" y="0"/>
            <a:chExt cx="6680200" cy="2048510"/>
          </a:xfrm>
        </p:grpSpPr>
        <p:sp>
          <p:nvSpPr>
            <p:cNvPr id="3" name="object 3"/>
            <p:cNvSpPr/>
            <p:nvPr/>
          </p:nvSpPr>
          <p:spPr>
            <a:xfrm>
              <a:off x="2282952" y="0"/>
              <a:ext cx="4745736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31391" y="504444"/>
              <a:ext cx="6679692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960119" marR="5080" indent="1051560">
              <a:lnSpc>
                <a:spcPts val="5800"/>
              </a:lnSpc>
              <a:spcBef>
                <a:spcPts val="860"/>
              </a:spcBef>
            </a:pPr>
            <a:r>
              <a:rPr sz="5400" spc="270" dirty="0"/>
              <a:t>Removing </a:t>
            </a:r>
            <a:r>
              <a:rPr sz="5400" spc="300" dirty="0"/>
              <a:t>a  </a:t>
            </a:r>
            <a:r>
              <a:rPr sz="5400" spc="315" dirty="0"/>
              <a:t>Domain</a:t>
            </a:r>
            <a:r>
              <a:rPr sz="5400" spc="-50" dirty="0"/>
              <a:t> </a:t>
            </a:r>
            <a:r>
              <a:rPr sz="5400" spc="240" dirty="0"/>
              <a:t>Controller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751445" cy="1817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remove a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 from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  DS installation, you must begin by running  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Remove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Roles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Features</a:t>
            </a:r>
            <a:r>
              <a:rPr sz="2800" spc="9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Wizard.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Select </a:t>
            </a:r>
            <a:r>
              <a:rPr sz="2800" i="1" spc="-5" dirty="0">
                <a:solidFill>
                  <a:srgbClr val="7E7E7E"/>
                </a:solidFill>
                <a:latin typeface="TeXGyreAdventor"/>
                <a:cs typeface="TeXGyreAdventor"/>
              </a:rPr>
              <a:t>Demote </a:t>
            </a:r>
            <a:r>
              <a:rPr sz="2800" i="1" dirty="0">
                <a:solidFill>
                  <a:srgbClr val="7E7E7E"/>
                </a:solidFill>
                <a:latin typeface="TeXGyreAdventor"/>
                <a:cs typeface="TeXGyreAdventor"/>
              </a:rPr>
              <a:t>this </a:t>
            </a:r>
            <a:r>
              <a:rPr sz="2800" i="1" spc="-5" dirty="0">
                <a:solidFill>
                  <a:srgbClr val="7E7E7E"/>
                </a:solidFill>
                <a:latin typeface="TeXGyreAdventor"/>
                <a:cs typeface="TeXGyreAdventor"/>
              </a:rPr>
              <a:t>Domain</a:t>
            </a:r>
            <a:r>
              <a:rPr sz="2800" i="1" spc="70" dirty="0">
                <a:solidFill>
                  <a:srgbClr val="7E7E7E"/>
                </a:solidFill>
                <a:latin typeface="TeXGyreAdventor"/>
                <a:cs typeface="TeXGyreAdventor"/>
              </a:rPr>
              <a:t> </a:t>
            </a:r>
            <a:r>
              <a:rPr sz="2800" i="1" spc="-5" dirty="0">
                <a:solidFill>
                  <a:srgbClr val="7E7E7E"/>
                </a:solidFill>
                <a:latin typeface="TeXGyreAdventor"/>
                <a:cs typeface="TeXGyreAdventor"/>
              </a:rPr>
              <a:t>Controller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5133" y="615772"/>
            <a:ext cx="4641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5" dirty="0"/>
              <a:t>Remove </a:t>
            </a:r>
            <a:r>
              <a:rPr spc="155" dirty="0"/>
              <a:t>a </a:t>
            </a:r>
            <a:r>
              <a:rPr spc="160" dirty="0"/>
              <a:t>Domain</a:t>
            </a:r>
            <a:r>
              <a:rPr spc="-320" dirty="0"/>
              <a:t> </a:t>
            </a:r>
            <a:r>
              <a:rPr spc="114" dirty="0"/>
              <a:t>Controller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5282" y="5815685"/>
            <a:ext cx="531939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659889" marR="5080" indent="-1647825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Validation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Results dialog box 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Remove Roles 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and Features</a:t>
            </a:r>
            <a:r>
              <a:rPr sz="16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7800" y="1376172"/>
            <a:ext cx="6179820" cy="4111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57</a:t>
            </a:fld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5133" y="615772"/>
            <a:ext cx="4641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5" dirty="0"/>
              <a:t>Remove </a:t>
            </a:r>
            <a:r>
              <a:rPr spc="155" dirty="0"/>
              <a:t>a </a:t>
            </a:r>
            <a:r>
              <a:rPr spc="160" dirty="0"/>
              <a:t>Domain</a:t>
            </a:r>
            <a:r>
              <a:rPr spc="-320" dirty="0"/>
              <a:t> </a:t>
            </a:r>
            <a:r>
              <a:rPr spc="114" dirty="0"/>
              <a:t>Controller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0333" y="5815685"/>
            <a:ext cx="524700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169035" marR="5080" indent="-1156970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Credentials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page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 Services Configuration</a:t>
            </a:r>
            <a:r>
              <a:rPr sz="16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0200" y="1341119"/>
            <a:ext cx="5882640" cy="4303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58</a:t>
            </a:fld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5133" y="615772"/>
            <a:ext cx="4641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5" dirty="0"/>
              <a:t>Remove </a:t>
            </a:r>
            <a:r>
              <a:rPr spc="155" dirty="0"/>
              <a:t>a </a:t>
            </a:r>
            <a:r>
              <a:rPr spc="160" dirty="0"/>
              <a:t>Domain</a:t>
            </a:r>
            <a:r>
              <a:rPr spc="-320" dirty="0"/>
              <a:t> </a:t>
            </a:r>
            <a:r>
              <a:rPr spc="114" dirty="0"/>
              <a:t>Controller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770" y="5815685"/>
            <a:ext cx="512953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19710" marR="5080" indent="-207645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New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Password page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 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Domain Services Configuration</a:t>
            </a:r>
            <a:r>
              <a:rPr sz="1600" spc="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295400"/>
            <a:ext cx="5841492" cy="4346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7923" y="0"/>
            <a:ext cx="5954395" cy="2048510"/>
            <a:chOff x="1677923" y="0"/>
            <a:chExt cx="5954395" cy="2048510"/>
          </a:xfrm>
        </p:grpSpPr>
        <p:sp>
          <p:nvSpPr>
            <p:cNvPr id="3" name="object 3"/>
            <p:cNvSpPr/>
            <p:nvPr/>
          </p:nvSpPr>
          <p:spPr>
            <a:xfrm>
              <a:off x="1677923" y="0"/>
              <a:ext cx="5954268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4895" y="504444"/>
              <a:ext cx="5471159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563370" marR="5080" indent="-157480">
              <a:lnSpc>
                <a:spcPts val="5800"/>
              </a:lnSpc>
              <a:spcBef>
                <a:spcPts val="860"/>
              </a:spcBef>
            </a:pPr>
            <a:r>
              <a:rPr sz="5400" spc="270" dirty="0"/>
              <a:t>Configuring</a:t>
            </a:r>
            <a:r>
              <a:rPr sz="5400" spc="-45" dirty="0"/>
              <a:t> </a:t>
            </a:r>
            <a:r>
              <a:rPr sz="5400" spc="295" dirty="0"/>
              <a:t>the  </a:t>
            </a:r>
            <a:r>
              <a:rPr sz="5400" spc="195" dirty="0"/>
              <a:t>Global</a:t>
            </a:r>
            <a:r>
              <a:rPr sz="5400" spc="-15" dirty="0"/>
              <a:t> </a:t>
            </a:r>
            <a:r>
              <a:rPr sz="5400" spc="245" dirty="0"/>
              <a:t>Catalog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972425" cy="3097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importance of the global catalog varies  depending on the size of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your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network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its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site</a:t>
            </a:r>
            <a:r>
              <a:rPr sz="2800" spc="-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configuration.</a:t>
            </a:r>
            <a:endParaRPr sz="2800">
              <a:latin typeface="Gothic Uralic"/>
              <a:cs typeface="Gothic Uralic"/>
            </a:endParaRPr>
          </a:p>
          <a:p>
            <a:pPr marL="355600" marR="3619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make a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 a global  catalog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server when you promote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server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a domain controller,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or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you can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do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it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afterward.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76044" y="530351"/>
            <a:ext cx="5318759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9977" y="615772"/>
            <a:ext cx="4851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5" dirty="0"/>
              <a:t>Create </a:t>
            </a:r>
            <a:r>
              <a:rPr spc="155" dirty="0"/>
              <a:t>a </a:t>
            </a:r>
            <a:r>
              <a:rPr spc="95" dirty="0"/>
              <a:t>Global </a:t>
            </a:r>
            <a:r>
              <a:rPr spc="125" dirty="0"/>
              <a:t>Catalog</a:t>
            </a:r>
            <a:r>
              <a:rPr spc="-420" dirty="0"/>
              <a:t> </a:t>
            </a:r>
            <a:r>
              <a:rPr spc="95" dirty="0"/>
              <a:t>Server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27326" y="5516067"/>
            <a:ext cx="4615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Active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Directory Sites and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Services</a:t>
            </a:r>
            <a:r>
              <a:rPr sz="1600" spc="1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console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5000" y="1447800"/>
            <a:ext cx="5100828" cy="36454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61</a:t>
            </a:fld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76044" y="530351"/>
            <a:ext cx="5318759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9977" y="615772"/>
            <a:ext cx="4851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5" dirty="0"/>
              <a:t>Create </a:t>
            </a:r>
            <a:r>
              <a:rPr spc="155" dirty="0"/>
              <a:t>a </a:t>
            </a:r>
            <a:r>
              <a:rPr spc="95" dirty="0"/>
              <a:t>Global </a:t>
            </a:r>
            <a:r>
              <a:rPr spc="125" dirty="0"/>
              <a:t>Catalog</a:t>
            </a:r>
            <a:r>
              <a:rPr spc="-420" dirty="0"/>
              <a:t> </a:t>
            </a:r>
            <a:r>
              <a:rPr spc="95" dirty="0"/>
              <a:t>Server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8929" y="5840069"/>
            <a:ext cx="33331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NTDS Settings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r>
              <a:rPr sz="1600" spc="9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90800" y="1315211"/>
            <a:ext cx="3942588" cy="4399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62</a:t>
            </a:fld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6427" y="0"/>
            <a:ext cx="8388350" cy="2048510"/>
            <a:chOff x="376427" y="0"/>
            <a:chExt cx="8388350" cy="2048510"/>
          </a:xfrm>
        </p:grpSpPr>
        <p:sp>
          <p:nvSpPr>
            <p:cNvPr id="3" name="object 3"/>
            <p:cNvSpPr/>
            <p:nvPr/>
          </p:nvSpPr>
          <p:spPr>
            <a:xfrm>
              <a:off x="800100" y="0"/>
              <a:ext cx="7712964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6427" y="504444"/>
              <a:ext cx="8388096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05410" marR="5080" indent="423545">
              <a:lnSpc>
                <a:spcPts val="5800"/>
              </a:lnSpc>
              <a:spcBef>
                <a:spcPts val="860"/>
              </a:spcBef>
            </a:pPr>
            <a:r>
              <a:rPr sz="5400" spc="229" dirty="0"/>
              <a:t>Troubleshooting DNS  </a:t>
            </a:r>
            <a:r>
              <a:rPr sz="5400" spc="-130" dirty="0"/>
              <a:t>SRV </a:t>
            </a:r>
            <a:r>
              <a:rPr sz="5400" spc="220" dirty="0"/>
              <a:t>Registration</a:t>
            </a:r>
            <a:r>
              <a:rPr sz="5400" spc="50" dirty="0"/>
              <a:t> </a:t>
            </a:r>
            <a:r>
              <a:rPr sz="5400" spc="210" dirty="0"/>
              <a:t>Failure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582877"/>
            <a:ext cx="7965440" cy="40805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marR="5080" indent="-343535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Domain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Name System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(DNS) 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essential  to the operating of Active Directory Domain  Services.</a:t>
            </a:r>
            <a:endParaRPr sz="2800">
              <a:latin typeface="Gothic Uralic"/>
              <a:cs typeface="Gothic Uralic"/>
            </a:endParaRPr>
          </a:p>
          <a:p>
            <a:pPr marL="355600" marR="589280" indent="-343535">
              <a:lnSpc>
                <a:spcPct val="9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special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DNS resource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record (SRV)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was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created that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enables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clients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locate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other vital AD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services.</a:t>
            </a:r>
            <a:endParaRPr sz="2800">
              <a:latin typeface="Gothic Uralic"/>
              <a:cs typeface="Gothic Uralic"/>
            </a:endParaRPr>
          </a:p>
          <a:p>
            <a:pPr marL="355600" marR="283845" indent="-343535">
              <a:lnSpc>
                <a:spcPts val="3020"/>
              </a:lnSpc>
              <a:spcBef>
                <a:spcPts val="7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dcdiag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command can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used to  confirm that a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 has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been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registered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</a:t>
            </a:r>
            <a:r>
              <a:rPr sz="2800" spc="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DNS.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2244090" marR="5080" indent="-533400">
              <a:lnSpc>
                <a:spcPct val="100000"/>
              </a:lnSpc>
              <a:spcBef>
                <a:spcPts val="95"/>
              </a:spcBef>
            </a:pPr>
            <a:r>
              <a:rPr spc="114" dirty="0"/>
              <a:t>Troubleshooting DNS</a:t>
            </a:r>
            <a:r>
              <a:rPr spc="-175" dirty="0"/>
              <a:t> </a:t>
            </a:r>
            <a:r>
              <a:rPr spc="-70" dirty="0"/>
              <a:t>SRV  </a:t>
            </a:r>
            <a:r>
              <a:rPr spc="110" dirty="0"/>
              <a:t>Registration</a:t>
            </a:r>
            <a:r>
              <a:rPr spc="-20" dirty="0"/>
              <a:t> </a:t>
            </a:r>
            <a:r>
              <a:rPr spc="110" dirty="0"/>
              <a:t>Failure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35273" y="5840069"/>
            <a:ext cx="24015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 successful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dcdiag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test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672" y="1371600"/>
            <a:ext cx="7577328" cy="4242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64</a:t>
            </a:fld>
            <a:endParaRPr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1327" y="504444"/>
            <a:ext cx="6178296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2813" y="674065"/>
            <a:ext cx="52806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10" dirty="0"/>
              <a:t>Lesson</a:t>
            </a:r>
            <a:r>
              <a:rPr sz="5400" spc="-60" dirty="0"/>
              <a:t> </a:t>
            </a:r>
            <a:r>
              <a:rPr sz="5400" spc="345" dirty="0"/>
              <a:t>Summary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60017"/>
            <a:ext cx="8046720" cy="42506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marR="120014" indent="-343535">
              <a:lnSpc>
                <a:spcPct val="800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 directory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service is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repository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information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about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the resources—hardware,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software, and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human—which 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connected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 network. Microsoft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first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introduced  the Active Directory directory service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2000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Server,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they have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upgraded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it in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each successive  server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operating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system release,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including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Server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 2012.</a:t>
            </a:r>
            <a:endParaRPr sz="2200">
              <a:latin typeface="Gothic Uralic"/>
              <a:cs typeface="Gothic Uralic"/>
            </a:endParaRPr>
          </a:p>
          <a:p>
            <a:pPr marL="355600" marR="26670" indent="-343535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create your first domain on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Active  Directory network,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you are,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essence,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creating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the root  of a domain tree. You can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populate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the tree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with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additional domains, as long as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they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are part of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same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contiguous name</a:t>
            </a:r>
            <a:r>
              <a:rPr sz="22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space.</a:t>
            </a:r>
            <a:endParaRPr sz="22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beginning a new </a:t>
            </a:r>
            <a:r>
              <a:rPr sz="2200" spc="-20" dirty="0">
                <a:solidFill>
                  <a:srgbClr val="7E7E7E"/>
                </a:solidFill>
                <a:latin typeface="Gothic Uralic"/>
                <a:cs typeface="Gothic Uralic"/>
              </a:rPr>
              <a:t>AD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DS installation,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first step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is  to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create a new forest, which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you do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by creating the first  domain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the forest, the forest root</a:t>
            </a:r>
            <a:r>
              <a:rPr sz="22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domain.</a:t>
            </a:r>
            <a:endParaRPr sz="22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1327" y="504444"/>
            <a:ext cx="6178296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2813" y="674065"/>
            <a:ext cx="52806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10" dirty="0"/>
              <a:t>Lesson</a:t>
            </a:r>
            <a:r>
              <a:rPr sz="5400" spc="-60" dirty="0"/>
              <a:t> </a:t>
            </a:r>
            <a:r>
              <a:rPr sz="5400" spc="345" dirty="0"/>
              <a:t>Summary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90497"/>
            <a:ext cx="7874000" cy="44894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259079" indent="-343535">
              <a:lnSpc>
                <a:spcPct val="90000"/>
              </a:lnSpc>
              <a:spcBef>
                <a:spcPts val="3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Windows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Server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2012,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it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now possible to</a:t>
            </a:r>
            <a:r>
              <a:rPr sz="2400" spc="-14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install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AD DS on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running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Server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Core  installation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option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and promote the system to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 domain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controller, all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Windows</a:t>
            </a:r>
            <a:r>
              <a:rPr sz="2400" spc="-6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PowerShell.</a:t>
            </a:r>
            <a:endParaRPr sz="2400">
              <a:latin typeface="Gothic Uralic"/>
              <a:cs typeface="Gothic Uralic"/>
            </a:endParaRPr>
          </a:p>
          <a:p>
            <a:pPr marL="355600" marR="367030" indent="-343535">
              <a:lnSpc>
                <a:spcPct val="9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Install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from media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(IFM)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option that</a:t>
            </a:r>
            <a:r>
              <a:rPr sz="2400" spc="-14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enables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administrators to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streamline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process of  deploying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replica domain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remote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sites.</a:t>
            </a:r>
            <a:endParaRPr sz="2400">
              <a:latin typeface="Gothic Uralic"/>
              <a:cs typeface="Gothic Uralic"/>
            </a:endParaRPr>
          </a:p>
          <a:p>
            <a:pPr marL="355600" marR="5080" indent="-343535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There are two ways to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upgrade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AD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DS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infrastructure. You can upgrade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existing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down-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level domain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 to Windows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Server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2012, or  add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new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Windows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Server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2012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your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existing</a:t>
            </a:r>
            <a:r>
              <a:rPr sz="2400" spc="-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installation.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1327" y="504444"/>
            <a:ext cx="6178296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2813" y="674065"/>
            <a:ext cx="52806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10" dirty="0"/>
              <a:t>Lesson</a:t>
            </a:r>
            <a:r>
              <a:rPr sz="5400" spc="-60" dirty="0"/>
              <a:t> </a:t>
            </a:r>
            <a:r>
              <a:rPr sz="5400" spc="345" dirty="0"/>
              <a:t>Summary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7073"/>
            <a:ext cx="8060690" cy="3757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global catalog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index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all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AD DS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objects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forest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that prevents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systems from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having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 perform searches among multiple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domain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controllers.</a:t>
            </a:r>
            <a:endParaRPr sz="2400">
              <a:latin typeface="Gothic Uralic"/>
              <a:cs typeface="Gothic Uralic"/>
            </a:endParaRPr>
          </a:p>
          <a:p>
            <a:pPr marL="355600" marR="210185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Name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System (DNS)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essential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 the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operating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of Active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Directory Domain Services.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To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accommodate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directory services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such as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AD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DS,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special DNS resource record was created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that  enables clients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 locate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domain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controllers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and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other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vital AD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DS</a:t>
            </a:r>
            <a:r>
              <a:rPr sz="2400" spc="-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services.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2075815"/>
            <a:ext cx="791019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Palladio Uralic"/>
                <a:cs typeface="Palladio Uralic"/>
              </a:rPr>
              <a:t>Copyright 2013 John </a:t>
            </a:r>
            <a:r>
              <a:rPr sz="1800" b="1" spc="-10" dirty="0">
                <a:latin typeface="Palladio Uralic"/>
                <a:cs typeface="Palladio Uralic"/>
              </a:rPr>
              <a:t>Wiley </a:t>
            </a:r>
            <a:r>
              <a:rPr sz="1800" b="1" dirty="0">
                <a:latin typeface="Palladio Uralic"/>
                <a:cs typeface="Palladio Uralic"/>
              </a:rPr>
              <a:t>&amp; </a:t>
            </a:r>
            <a:r>
              <a:rPr sz="1800" b="1" spc="-5" dirty="0">
                <a:latin typeface="Palladio Uralic"/>
                <a:cs typeface="Palladio Uralic"/>
              </a:rPr>
              <a:t>Sons,</a:t>
            </a:r>
            <a:r>
              <a:rPr sz="1800" b="1" spc="20" dirty="0">
                <a:latin typeface="Palladio Uralic"/>
                <a:cs typeface="Palladio Uralic"/>
              </a:rPr>
              <a:t> </a:t>
            </a:r>
            <a:r>
              <a:rPr sz="1800" b="1" spc="-5" dirty="0">
                <a:latin typeface="Palladio Uralic"/>
                <a:cs typeface="Palladio Uralic"/>
              </a:rPr>
              <a:t>Inc.</a:t>
            </a:r>
            <a:endParaRPr sz="1800">
              <a:latin typeface="Palladio Uralic"/>
              <a:cs typeface="Palladio Uralic"/>
            </a:endParaRPr>
          </a:p>
          <a:p>
            <a:pPr marL="12700" marR="5080">
              <a:lnSpc>
                <a:spcPct val="100000"/>
              </a:lnSpc>
            </a:pPr>
            <a:r>
              <a:rPr sz="1800" spc="50" dirty="0">
                <a:latin typeface="Times New Roman"/>
                <a:cs typeface="Times New Roman"/>
              </a:rPr>
              <a:t>All </a:t>
            </a:r>
            <a:r>
              <a:rPr sz="1800" spc="85" dirty="0">
                <a:latin typeface="Times New Roman"/>
                <a:cs typeface="Times New Roman"/>
              </a:rPr>
              <a:t>rights </a:t>
            </a:r>
            <a:r>
              <a:rPr sz="1800" spc="80" dirty="0">
                <a:latin typeface="Times New Roman"/>
                <a:cs typeface="Times New Roman"/>
              </a:rPr>
              <a:t>reserved. </a:t>
            </a:r>
            <a:r>
              <a:rPr sz="1800" spc="95" dirty="0">
                <a:latin typeface="Times New Roman"/>
                <a:cs typeface="Times New Roman"/>
              </a:rPr>
              <a:t>Reproduction or </a:t>
            </a:r>
            <a:r>
              <a:rPr sz="1800" spc="85" dirty="0">
                <a:latin typeface="Times New Roman"/>
                <a:cs typeface="Times New Roman"/>
              </a:rPr>
              <a:t>translation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75" dirty="0">
                <a:latin typeface="Times New Roman"/>
                <a:cs typeface="Times New Roman"/>
              </a:rPr>
              <a:t>this </a:t>
            </a:r>
            <a:r>
              <a:rPr sz="1800" spc="110" dirty="0">
                <a:latin typeface="Times New Roman"/>
                <a:cs typeface="Times New Roman"/>
              </a:rPr>
              <a:t>work </a:t>
            </a:r>
            <a:r>
              <a:rPr sz="1800" spc="105" dirty="0">
                <a:latin typeface="Times New Roman"/>
                <a:cs typeface="Times New Roman"/>
              </a:rPr>
              <a:t>beyond </a:t>
            </a:r>
            <a:r>
              <a:rPr sz="1800" spc="100" dirty="0">
                <a:latin typeface="Times New Roman"/>
                <a:cs typeface="Times New Roman"/>
              </a:rPr>
              <a:t>that  </a:t>
            </a:r>
            <a:r>
              <a:rPr sz="1800" spc="135" dirty="0">
                <a:latin typeface="Times New Roman"/>
                <a:cs typeface="Times New Roman"/>
              </a:rPr>
              <a:t>named </a:t>
            </a:r>
            <a:r>
              <a:rPr sz="1800" spc="80" dirty="0">
                <a:latin typeface="Times New Roman"/>
                <a:cs typeface="Times New Roman"/>
              </a:rPr>
              <a:t>in </a:t>
            </a:r>
            <a:r>
              <a:rPr sz="1800" spc="45" dirty="0">
                <a:latin typeface="Times New Roman"/>
                <a:cs typeface="Times New Roman"/>
              </a:rPr>
              <a:t>Section </a:t>
            </a:r>
            <a:r>
              <a:rPr sz="1800" dirty="0">
                <a:latin typeface="Times New Roman"/>
                <a:cs typeface="Times New Roman"/>
              </a:rPr>
              <a:t>117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9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1976 </a:t>
            </a:r>
            <a:r>
              <a:rPr sz="1800" spc="100" dirty="0">
                <a:latin typeface="Times New Roman"/>
                <a:cs typeface="Times New Roman"/>
              </a:rPr>
              <a:t>United </a:t>
            </a:r>
            <a:r>
              <a:rPr sz="1800" spc="55" dirty="0">
                <a:latin typeface="Times New Roman"/>
                <a:cs typeface="Times New Roman"/>
              </a:rPr>
              <a:t>States </a:t>
            </a:r>
            <a:r>
              <a:rPr sz="1800" spc="95" dirty="0">
                <a:latin typeface="Times New Roman"/>
                <a:cs typeface="Times New Roman"/>
              </a:rPr>
              <a:t>Copyright </a:t>
            </a:r>
            <a:r>
              <a:rPr sz="1800" spc="60" dirty="0">
                <a:latin typeface="Times New Roman"/>
                <a:cs typeface="Times New Roman"/>
              </a:rPr>
              <a:t>Act </a:t>
            </a:r>
            <a:r>
              <a:rPr sz="1800" spc="110" dirty="0">
                <a:latin typeface="Times New Roman"/>
                <a:cs typeface="Times New Roman"/>
              </a:rPr>
              <a:t>without </a:t>
            </a:r>
            <a:r>
              <a:rPr sz="1800" spc="90" dirty="0">
                <a:latin typeface="Times New Roman"/>
                <a:cs typeface="Times New Roman"/>
              </a:rPr>
              <a:t>the  </a:t>
            </a:r>
            <a:r>
              <a:rPr sz="1800" spc="75" dirty="0">
                <a:latin typeface="Times New Roman"/>
                <a:cs typeface="Times New Roman"/>
              </a:rPr>
              <a:t>express </a:t>
            </a:r>
            <a:r>
              <a:rPr sz="1800" spc="95" dirty="0">
                <a:latin typeface="Times New Roman"/>
                <a:cs typeface="Times New Roman"/>
              </a:rPr>
              <a:t>written </a:t>
            </a:r>
            <a:r>
              <a:rPr sz="1800" spc="85" dirty="0">
                <a:latin typeface="Times New Roman"/>
                <a:cs typeface="Times New Roman"/>
              </a:rPr>
              <a:t>consent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95" dirty="0">
                <a:latin typeface="Times New Roman"/>
                <a:cs typeface="Times New Roman"/>
              </a:rPr>
              <a:t>the </a:t>
            </a:r>
            <a:r>
              <a:rPr sz="1800" spc="90" dirty="0">
                <a:latin typeface="Times New Roman"/>
                <a:cs typeface="Times New Roman"/>
              </a:rPr>
              <a:t>copyright </a:t>
            </a:r>
            <a:r>
              <a:rPr sz="1800" spc="120" dirty="0">
                <a:latin typeface="Times New Roman"/>
                <a:cs typeface="Times New Roman"/>
              </a:rPr>
              <a:t>owner </a:t>
            </a:r>
            <a:r>
              <a:rPr sz="1800" spc="40" dirty="0">
                <a:latin typeface="Times New Roman"/>
                <a:cs typeface="Times New Roman"/>
              </a:rPr>
              <a:t>is </a:t>
            </a:r>
            <a:r>
              <a:rPr sz="1800" spc="90" dirty="0">
                <a:latin typeface="Times New Roman"/>
                <a:cs typeface="Times New Roman"/>
              </a:rPr>
              <a:t>unlawful. </a:t>
            </a:r>
            <a:r>
              <a:rPr sz="1800" spc="75" dirty="0">
                <a:latin typeface="Times New Roman"/>
                <a:cs typeface="Times New Roman"/>
              </a:rPr>
              <a:t>Requests </a:t>
            </a:r>
            <a:r>
              <a:rPr sz="1800" spc="65" dirty="0">
                <a:latin typeface="Times New Roman"/>
                <a:cs typeface="Times New Roman"/>
              </a:rPr>
              <a:t>for  </a:t>
            </a:r>
            <a:r>
              <a:rPr sz="1800" spc="95" dirty="0">
                <a:latin typeface="Times New Roman"/>
                <a:cs typeface="Times New Roman"/>
              </a:rPr>
              <a:t>further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information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should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be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addressed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Permissions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Department,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65" dirty="0">
                <a:latin typeface="Times New Roman"/>
                <a:cs typeface="Times New Roman"/>
              </a:rPr>
              <a:t>John  </a:t>
            </a:r>
            <a:r>
              <a:rPr sz="1800" spc="50" dirty="0">
                <a:latin typeface="Times New Roman"/>
                <a:cs typeface="Times New Roman"/>
              </a:rPr>
              <a:t>Wiley </a:t>
            </a:r>
            <a:r>
              <a:rPr sz="1800" dirty="0">
                <a:latin typeface="Times New Roman"/>
                <a:cs typeface="Times New Roman"/>
              </a:rPr>
              <a:t>&amp; </a:t>
            </a:r>
            <a:r>
              <a:rPr sz="1800" spc="45" dirty="0">
                <a:latin typeface="Times New Roman"/>
                <a:cs typeface="Times New Roman"/>
              </a:rPr>
              <a:t>Sons, </a:t>
            </a:r>
            <a:r>
              <a:rPr sz="1800" spc="35" dirty="0">
                <a:latin typeface="Times New Roman"/>
                <a:cs typeface="Times New Roman"/>
              </a:rPr>
              <a:t>Inc. </a:t>
            </a:r>
            <a:r>
              <a:rPr sz="1800" spc="70" dirty="0">
                <a:latin typeface="Times New Roman"/>
                <a:cs typeface="Times New Roman"/>
              </a:rPr>
              <a:t>The </a:t>
            </a:r>
            <a:r>
              <a:rPr sz="1800" spc="100" dirty="0">
                <a:latin typeface="Times New Roman"/>
                <a:cs typeface="Times New Roman"/>
              </a:rPr>
              <a:t>purchaser </a:t>
            </a:r>
            <a:r>
              <a:rPr sz="1800" spc="125" dirty="0">
                <a:latin typeface="Times New Roman"/>
                <a:cs typeface="Times New Roman"/>
              </a:rPr>
              <a:t>may </a:t>
            </a:r>
            <a:r>
              <a:rPr sz="1800" spc="110" dirty="0">
                <a:latin typeface="Times New Roman"/>
                <a:cs typeface="Times New Roman"/>
              </a:rPr>
              <a:t>make </a:t>
            </a:r>
            <a:r>
              <a:rPr sz="1800" spc="90" dirty="0">
                <a:latin typeface="Times New Roman"/>
                <a:cs typeface="Times New Roman"/>
              </a:rPr>
              <a:t>back-up </a:t>
            </a:r>
            <a:r>
              <a:rPr sz="1800" spc="65" dirty="0">
                <a:latin typeface="Times New Roman"/>
                <a:cs typeface="Times New Roman"/>
              </a:rPr>
              <a:t>copies </a:t>
            </a:r>
            <a:r>
              <a:rPr sz="1800" spc="60" dirty="0">
                <a:latin typeface="Times New Roman"/>
                <a:cs typeface="Times New Roman"/>
              </a:rPr>
              <a:t>for </a:t>
            </a:r>
            <a:r>
              <a:rPr sz="1800" spc="85" dirty="0">
                <a:latin typeface="Times New Roman"/>
                <a:cs typeface="Times New Roman"/>
              </a:rPr>
              <a:t>his/her </a:t>
            </a:r>
            <a:r>
              <a:rPr sz="1800" spc="140" dirty="0">
                <a:latin typeface="Times New Roman"/>
                <a:cs typeface="Times New Roman"/>
              </a:rPr>
              <a:t>own  </a:t>
            </a:r>
            <a:r>
              <a:rPr sz="1800" spc="100" dirty="0">
                <a:latin typeface="Times New Roman"/>
                <a:cs typeface="Times New Roman"/>
              </a:rPr>
              <a:t>use </a:t>
            </a:r>
            <a:r>
              <a:rPr sz="1800" spc="85" dirty="0">
                <a:latin typeface="Times New Roman"/>
                <a:cs typeface="Times New Roman"/>
              </a:rPr>
              <a:t>only </a:t>
            </a:r>
            <a:r>
              <a:rPr sz="1800" spc="145" dirty="0">
                <a:latin typeface="Times New Roman"/>
                <a:cs typeface="Times New Roman"/>
              </a:rPr>
              <a:t>and </a:t>
            </a:r>
            <a:r>
              <a:rPr sz="1800" spc="100" dirty="0">
                <a:latin typeface="Times New Roman"/>
                <a:cs typeface="Times New Roman"/>
              </a:rPr>
              <a:t>not </a:t>
            </a:r>
            <a:r>
              <a:rPr sz="1800" spc="60" dirty="0">
                <a:latin typeface="Times New Roman"/>
                <a:cs typeface="Times New Roman"/>
              </a:rPr>
              <a:t>for </a:t>
            </a:r>
            <a:r>
              <a:rPr sz="1800" spc="90" dirty="0">
                <a:latin typeface="Times New Roman"/>
                <a:cs typeface="Times New Roman"/>
              </a:rPr>
              <a:t>distribution </a:t>
            </a:r>
            <a:r>
              <a:rPr sz="1800" spc="95" dirty="0">
                <a:latin typeface="Times New Roman"/>
                <a:cs typeface="Times New Roman"/>
              </a:rPr>
              <a:t>or </a:t>
            </a:r>
            <a:r>
              <a:rPr sz="1800" spc="60" dirty="0">
                <a:latin typeface="Times New Roman"/>
                <a:cs typeface="Times New Roman"/>
              </a:rPr>
              <a:t>resale. </a:t>
            </a:r>
            <a:r>
              <a:rPr sz="1800" spc="70" dirty="0">
                <a:latin typeface="Times New Roman"/>
                <a:cs typeface="Times New Roman"/>
              </a:rPr>
              <a:t>The </a:t>
            </a:r>
            <a:r>
              <a:rPr sz="1800" spc="85" dirty="0">
                <a:latin typeface="Times New Roman"/>
                <a:cs typeface="Times New Roman"/>
              </a:rPr>
              <a:t>Publisher </a:t>
            </a:r>
            <a:r>
              <a:rPr sz="1800" spc="100" dirty="0">
                <a:latin typeface="Times New Roman"/>
                <a:cs typeface="Times New Roman"/>
              </a:rPr>
              <a:t>assumes </a:t>
            </a:r>
            <a:r>
              <a:rPr sz="1800" spc="110" dirty="0">
                <a:latin typeface="Times New Roman"/>
                <a:cs typeface="Times New Roman"/>
              </a:rPr>
              <a:t>no  </a:t>
            </a:r>
            <a:r>
              <a:rPr sz="1800" spc="75" dirty="0">
                <a:latin typeface="Times New Roman"/>
                <a:cs typeface="Times New Roman"/>
              </a:rPr>
              <a:t>responsibility </a:t>
            </a:r>
            <a:r>
              <a:rPr sz="1800" spc="60" dirty="0">
                <a:latin typeface="Times New Roman"/>
                <a:cs typeface="Times New Roman"/>
              </a:rPr>
              <a:t>for </a:t>
            </a:r>
            <a:r>
              <a:rPr sz="1800" spc="75" dirty="0">
                <a:latin typeface="Times New Roman"/>
                <a:cs typeface="Times New Roman"/>
              </a:rPr>
              <a:t>errors, </a:t>
            </a:r>
            <a:r>
              <a:rPr sz="1800" spc="70" dirty="0">
                <a:latin typeface="Times New Roman"/>
                <a:cs typeface="Times New Roman"/>
              </a:rPr>
              <a:t>omissions, </a:t>
            </a:r>
            <a:r>
              <a:rPr sz="1800" spc="95" dirty="0">
                <a:latin typeface="Times New Roman"/>
                <a:cs typeface="Times New Roman"/>
              </a:rPr>
              <a:t>or </a:t>
            </a:r>
            <a:r>
              <a:rPr sz="1800" spc="100" dirty="0">
                <a:latin typeface="Times New Roman"/>
                <a:cs typeface="Times New Roman"/>
              </a:rPr>
              <a:t>damages, caused </a:t>
            </a:r>
            <a:r>
              <a:rPr sz="1800" spc="95" dirty="0">
                <a:latin typeface="Times New Roman"/>
                <a:cs typeface="Times New Roman"/>
              </a:rPr>
              <a:t>by the </a:t>
            </a:r>
            <a:r>
              <a:rPr sz="1800" spc="100" dirty="0">
                <a:latin typeface="Times New Roman"/>
                <a:cs typeface="Times New Roman"/>
              </a:rPr>
              <a:t>use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80" dirty="0">
                <a:latin typeface="Times New Roman"/>
                <a:cs typeface="Times New Roman"/>
              </a:rPr>
              <a:t>these  </a:t>
            </a:r>
            <a:r>
              <a:rPr sz="1800" spc="110" dirty="0">
                <a:latin typeface="Times New Roman"/>
                <a:cs typeface="Times New Roman"/>
              </a:rPr>
              <a:t>programs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from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00" dirty="0">
                <a:latin typeface="Times New Roman"/>
                <a:cs typeface="Times New Roman"/>
              </a:rPr>
              <a:t>use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40" dirty="0">
                <a:latin typeface="Times New Roman"/>
                <a:cs typeface="Times New Roman"/>
              </a:rPr>
              <a:t>of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information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contained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herein.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3307</Words>
  <Application>Microsoft Office PowerPoint</Application>
  <PresentationFormat>On-screen Show (4:3)</PresentationFormat>
  <Paragraphs>358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Arial</vt:lpstr>
      <vt:lpstr>Calibri</vt:lpstr>
      <vt:lpstr>Courier New</vt:lpstr>
      <vt:lpstr>Gothic Uralic</vt:lpstr>
      <vt:lpstr>Palladio Uralic</vt:lpstr>
      <vt:lpstr>TeXGyreAdventor</vt:lpstr>
      <vt:lpstr>Times New Roman</vt:lpstr>
      <vt:lpstr>Office Theme</vt:lpstr>
      <vt:lpstr>PowerPoint Presentation</vt:lpstr>
      <vt:lpstr>Overview</vt:lpstr>
      <vt:lpstr>Introducing Active  Directory</vt:lpstr>
      <vt:lpstr>Introducing Active  Directory</vt:lpstr>
      <vt:lpstr>Active Directory Domain  Services (AD DS)</vt:lpstr>
      <vt:lpstr>Active Directory  Functions</vt:lpstr>
      <vt:lpstr>The Active Directory  Architecture</vt:lpstr>
      <vt:lpstr>Objects and Attributes</vt:lpstr>
      <vt:lpstr>Classes of Objects</vt:lpstr>
      <vt:lpstr>Objects and Attributes</vt:lpstr>
      <vt:lpstr>Domains</vt:lpstr>
      <vt:lpstr>Organizational Units (OUs)</vt:lpstr>
      <vt:lpstr>Organizational Units</vt:lpstr>
      <vt:lpstr>Groups</vt:lpstr>
      <vt:lpstr>Domain Trees (1)</vt:lpstr>
      <vt:lpstr>Domain Trees (2)</vt:lpstr>
      <vt:lpstr>Domain Trees</vt:lpstr>
      <vt:lpstr>Domain Trees</vt:lpstr>
      <vt:lpstr>Forests</vt:lpstr>
      <vt:lpstr>Global Catalog Each forest has a global catalog, which is a list  of all of the objects in the forest, along with a  subset of each object’s attributes.</vt:lpstr>
      <vt:lpstr>Functional Levels</vt:lpstr>
      <vt:lpstr>Functional Levels</vt:lpstr>
      <vt:lpstr>Active Directory  Communications</vt:lpstr>
      <vt:lpstr>Introducing LDAP</vt:lpstr>
      <vt:lpstr>Replication</vt:lpstr>
      <vt:lpstr>Types of Replication</vt:lpstr>
      <vt:lpstr>Replication</vt:lpstr>
      <vt:lpstr>Replication</vt:lpstr>
      <vt:lpstr>Read-Only Domain  Controllers (RODCs)</vt:lpstr>
      <vt:lpstr>Sites (1)</vt:lpstr>
      <vt:lpstr>Sites (2)</vt:lpstr>
      <vt:lpstr>Site Topology</vt:lpstr>
      <vt:lpstr>AD DS Regulatory  Functions</vt:lpstr>
      <vt:lpstr>Deploying Active Directory  Domain Services</vt:lpstr>
      <vt:lpstr>Deploying AD DS</vt:lpstr>
      <vt:lpstr>Installing the AD DS Role</vt:lpstr>
      <vt:lpstr>Installing the AD DS Role</vt:lpstr>
      <vt:lpstr>Creating a New Forest</vt:lpstr>
      <vt:lpstr>Creating a New Forest</vt:lpstr>
      <vt:lpstr>Creating a New Forest</vt:lpstr>
      <vt:lpstr>Creating a New Forest</vt:lpstr>
      <vt:lpstr>Creating a New Forest</vt:lpstr>
      <vt:lpstr>Adding a Domain Controller to an  Existing Domain</vt:lpstr>
      <vt:lpstr>Adding a Domain Controller to an  Existing Domain</vt:lpstr>
      <vt:lpstr>Adding a Domain Controller to an  Existing Domain</vt:lpstr>
      <vt:lpstr>Creating a New Child Domain  in a Forest</vt:lpstr>
      <vt:lpstr>Creating a New Child Domain  in a Forest</vt:lpstr>
      <vt:lpstr>Installing AD DS on  Server Core</vt:lpstr>
      <vt:lpstr>Installing AD DS on  Server Core</vt:lpstr>
      <vt:lpstr>Installing AD DS on Server Core</vt:lpstr>
      <vt:lpstr>Installing AD DS on  Server Core</vt:lpstr>
      <vt:lpstr>Installing AD DS on Server Core</vt:lpstr>
      <vt:lpstr>Install from Media (IFM)</vt:lpstr>
      <vt:lpstr>Install From Media (IFM)</vt:lpstr>
      <vt:lpstr>Upgrading AD DS</vt:lpstr>
      <vt:lpstr>Removing a  Domain Controller</vt:lpstr>
      <vt:lpstr>Remove a Domain Controller</vt:lpstr>
      <vt:lpstr>Remove a Domain Controller</vt:lpstr>
      <vt:lpstr>Remove a Domain Controller</vt:lpstr>
      <vt:lpstr>Configuring the  Global Catalog</vt:lpstr>
      <vt:lpstr>Create a Global Catalog Server</vt:lpstr>
      <vt:lpstr>Create a Global Catalog Server</vt:lpstr>
      <vt:lpstr>Troubleshooting DNS  SRV Registration Failure</vt:lpstr>
      <vt:lpstr>Troubleshooting DNS SRV  Registration Failure</vt:lpstr>
      <vt:lpstr>Lesson Summary</vt:lpstr>
      <vt:lpstr>Lesson Summary</vt:lpstr>
      <vt:lpstr>Lesson 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Kane, John - Indianapolis</dc:creator>
  <cp:lastModifiedBy>ADMIN</cp:lastModifiedBy>
  <cp:revision>1</cp:revision>
  <dcterms:created xsi:type="dcterms:W3CDTF">2020-10-14T06:58:51Z</dcterms:created>
  <dcterms:modified xsi:type="dcterms:W3CDTF">2020-10-14T07:02:18Z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2016-07-12T00:00:00Z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2020-10-14T00:00:00Z</vt:filetime>
  </property>
</Properties>
</file>