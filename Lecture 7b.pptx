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96" r:id="rId9"/>
    <p:sldId id="264" r:id="rId10"/>
    <p:sldId id="297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5" r:id="rId28"/>
    <p:sldId id="286" r:id="rId29"/>
    <p:sldId id="287" r:id="rId30"/>
    <p:sldId id="288" r:id="rId31"/>
    <p:sldId id="289" r:id="rId32"/>
    <p:sldId id="290" r:id="rId33"/>
    <p:sldId id="292" r:id="rId34"/>
    <p:sldId id="293" r:id="rId35"/>
    <p:sldId id="294" r:id="rId36"/>
    <p:sldId id="295" r:id="rId37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80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47852" y="315848"/>
            <a:ext cx="8248294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528815"/>
            <a:ext cx="9144000" cy="3291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70103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7852" y="4953"/>
            <a:ext cx="8248294" cy="702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1037" y="2636901"/>
            <a:ext cx="7771130" cy="2292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3" Type="http://schemas.openxmlformats.org/officeDocument/2006/relationships/image" Target="../media/image16.png"/><Relationship Id="rId21" Type="http://schemas.openxmlformats.org/officeDocument/2006/relationships/image" Target="../media/image34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image" Target="../media/image15.png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24" Type="http://schemas.openxmlformats.org/officeDocument/2006/relationships/image" Target="../media/image37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23" Type="http://schemas.openxmlformats.org/officeDocument/2006/relationships/image" Target="../media/image36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22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26" Type="http://schemas.openxmlformats.org/officeDocument/2006/relationships/image" Target="../media/image62.png"/><Relationship Id="rId3" Type="http://schemas.openxmlformats.org/officeDocument/2006/relationships/image" Target="../media/image40.png"/><Relationship Id="rId21" Type="http://schemas.openxmlformats.org/officeDocument/2006/relationships/image" Target="../media/image58.png"/><Relationship Id="rId34" Type="http://schemas.openxmlformats.org/officeDocument/2006/relationships/image" Target="../media/image68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5" Type="http://schemas.openxmlformats.org/officeDocument/2006/relationships/image" Target="../media/image26.png"/><Relationship Id="rId33" Type="http://schemas.openxmlformats.org/officeDocument/2006/relationships/image" Target="../media/image67.png"/><Relationship Id="rId2" Type="http://schemas.openxmlformats.org/officeDocument/2006/relationships/image" Target="../media/image39.png"/><Relationship Id="rId16" Type="http://schemas.openxmlformats.org/officeDocument/2006/relationships/image" Target="../media/image53.png"/><Relationship Id="rId20" Type="http://schemas.openxmlformats.org/officeDocument/2006/relationships/image" Target="../media/image57.png"/><Relationship Id="rId29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24" Type="http://schemas.openxmlformats.org/officeDocument/2006/relationships/image" Target="../media/image61.png"/><Relationship Id="rId32" Type="http://schemas.openxmlformats.org/officeDocument/2006/relationships/image" Target="../media/image66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23" Type="http://schemas.openxmlformats.org/officeDocument/2006/relationships/image" Target="../media/image60.png"/><Relationship Id="rId28" Type="http://schemas.openxmlformats.org/officeDocument/2006/relationships/image" Target="../media/image63.png"/><Relationship Id="rId10" Type="http://schemas.openxmlformats.org/officeDocument/2006/relationships/image" Target="../media/image47.png"/><Relationship Id="rId19" Type="http://schemas.openxmlformats.org/officeDocument/2006/relationships/image" Target="../media/image56.png"/><Relationship Id="rId31" Type="http://schemas.openxmlformats.org/officeDocument/2006/relationships/image" Target="../media/image3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Relationship Id="rId22" Type="http://schemas.openxmlformats.org/officeDocument/2006/relationships/image" Target="../media/image59.png"/><Relationship Id="rId27" Type="http://schemas.openxmlformats.org/officeDocument/2006/relationships/image" Target="../media/image28.png"/><Relationship Id="rId30" Type="http://schemas.openxmlformats.org/officeDocument/2006/relationships/image" Target="../media/image65.png"/><Relationship Id="rId35" Type="http://schemas.openxmlformats.org/officeDocument/2006/relationships/image" Target="../media/image69.png"/><Relationship Id="rId8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4.png"/><Relationship Id="rId7" Type="http://schemas.openxmlformats.org/officeDocument/2006/relationships/image" Target="../media/image87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11" Type="http://schemas.openxmlformats.org/officeDocument/2006/relationships/image" Target="../media/image90.png"/><Relationship Id="rId5" Type="http://schemas.openxmlformats.org/officeDocument/2006/relationships/image" Target="../media/image85.png"/><Relationship Id="rId10" Type="http://schemas.openxmlformats.org/officeDocument/2006/relationships/image" Target="../media/image89.png"/><Relationship Id="rId4" Type="http://schemas.openxmlformats.org/officeDocument/2006/relationships/image" Target="../media/image74.png"/><Relationship Id="rId9" Type="http://schemas.openxmlformats.org/officeDocument/2006/relationships/image" Target="../media/image7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12" Type="http://schemas.openxmlformats.org/officeDocument/2006/relationships/image" Target="../media/image10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11" Type="http://schemas.openxmlformats.org/officeDocument/2006/relationships/image" Target="../media/image100.png"/><Relationship Id="rId5" Type="http://schemas.openxmlformats.org/officeDocument/2006/relationships/image" Target="../media/image94.png"/><Relationship Id="rId10" Type="http://schemas.openxmlformats.org/officeDocument/2006/relationships/image" Target="../media/image99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123.png"/><Relationship Id="rId3" Type="http://schemas.openxmlformats.org/officeDocument/2006/relationships/image" Target="../media/image116.png"/><Relationship Id="rId7" Type="http://schemas.openxmlformats.org/officeDocument/2006/relationships/image" Target="../media/image119.png"/><Relationship Id="rId12" Type="http://schemas.openxmlformats.org/officeDocument/2006/relationships/image" Target="../media/image32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11" Type="http://schemas.openxmlformats.org/officeDocument/2006/relationships/image" Target="../media/image122.png"/><Relationship Id="rId5" Type="http://schemas.openxmlformats.org/officeDocument/2006/relationships/image" Target="../media/image118.png"/><Relationship Id="rId10" Type="http://schemas.openxmlformats.org/officeDocument/2006/relationships/image" Target="../media/image121.png"/><Relationship Id="rId4" Type="http://schemas.openxmlformats.org/officeDocument/2006/relationships/image" Target="../media/image117.png"/><Relationship Id="rId9" Type="http://schemas.openxmlformats.org/officeDocument/2006/relationships/image" Target="../media/image1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20.png"/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12" Type="http://schemas.openxmlformats.org/officeDocument/2006/relationships/image" Target="../media/image28.png"/><Relationship Id="rId17" Type="http://schemas.openxmlformats.org/officeDocument/2006/relationships/image" Target="../media/image135.png"/><Relationship Id="rId2" Type="http://schemas.openxmlformats.org/officeDocument/2006/relationships/image" Target="../media/image127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11" Type="http://schemas.openxmlformats.org/officeDocument/2006/relationships/image" Target="../media/image119.png"/><Relationship Id="rId5" Type="http://schemas.openxmlformats.org/officeDocument/2006/relationships/image" Target="../media/image130.png"/><Relationship Id="rId15" Type="http://schemas.openxmlformats.org/officeDocument/2006/relationships/image" Target="../media/image121.png"/><Relationship Id="rId10" Type="http://schemas.openxmlformats.org/officeDocument/2006/relationships/image" Target="../media/image26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Relationship Id="rId14" Type="http://schemas.openxmlformats.org/officeDocument/2006/relationships/image" Target="../media/image12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3" Type="http://schemas.openxmlformats.org/officeDocument/2006/relationships/image" Target="../media/image136.png"/><Relationship Id="rId7" Type="http://schemas.openxmlformats.org/officeDocument/2006/relationships/image" Target="../media/image140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png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32.png"/><Relationship Id="rId3" Type="http://schemas.openxmlformats.org/officeDocument/2006/relationships/image" Target="../media/image127.png"/><Relationship Id="rId7" Type="http://schemas.openxmlformats.org/officeDocument/2006/relationships/image" Target="../media/image26.png"/><Relationship Id="rId12" Type="http://schemas.openxmlformats.org/officeDocument/2006/relationships/image" Target="../media/image122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11" Type="http://schemas.openxmlformats.org/officeDocument/2006/relationships/image" Target="../media/image121.png"/><Relationship Id="rId5" Type="http://schemas.openxmlformats.org/officeDocument/2006/relationships/image" Target="../media/image132.png"/><Relationship Id="rId10" Type="http://schemas.openxmlformats.org/officeDocument/2006/relationships/image" Target="../media/image120.png"/><Relationship Id="rId4" Type="http://schemas.openxmlformats.org/officeDocument/2006/relationships/image" Target="../media/image137.png"/><Relationship Id="rId9" Type="http://schemas.openxmlformats.org/officeDocument/2006/relationships/image" Target="../media/image28.png"/><Relationship Id="rId14" Type="http://schemas.openxmlformats.org/officeDocument/2006/relationships/image" Target="../media/image14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7.png"/><Relationship Id="rId5" Type="http://schemas.openxmlformats.org/officeDocument/2006/relationships/image" Target="../media/image127.png"/><Relationship Id="rId4" Type="http://schemas.openxmlformats.org/officeDocument/2006/relationships/image" Target="../media/image14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13" Type="http://schemas.openxmlformats.org/officeDocument/2006/relationships/image" Target="../media/image32.png"/><Relationship Id="rId3" Type="http://schemas.openxmlformats.org/officeDocument/2006/relationships/image" Target="../media/image149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2.png"/><Relationship Id="rId11" Type="http://schemas.openxmlformats.org/officeDocument/2006/relationships/image" Target="../media/image155.png"/><Relationship Id="rId5" Type="http://schemas.openxmlformats.org/officeDocument/2006/relationships/image" Target="../media/image151.png"/><Relationship Id="rId10" Type="http://schemas.openxmlformats.org/officeDocument/2006/relationships/image" Target="../media/image154.png"/><Relationship Id="rId4" Type="http://schemas.openxmlformats.org/officeDocument/2006/relationships/image" Target="../media/image150.png"/><Relationship Id="rId9" Type="http://schemas.openxmlformats.org/officeDocument/2006/relationships/image" Target="../media/image28.png"/><Relationship Id="rId14" Type="http://schemas.openxmlformats.org/officeDocument/2006/relationships/image" Target="../media/image15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19.png"/><Relationship Id="rId7" Type="http://schemas.openxmlformats.org/officeDocument/2006/relationships/image" Target="../media/image12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7.png"/><Relationship Id="rId5" Type="http://schemas.openxmlformats.org/officeDocument/2006/relationships/image" Target="../media/image120.png"/><Relationship Id="rId4" Type="http://schemas.openxmlformats.org/officeDocument/2006/relationships/image" Target="../media/image28.png"/><Relationship Id="rId9" Type="http://schemas.openxmlformats.org/officeDocument/2006/relationships/image" Target="../media/image15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7" Type="http://schemas.openxmlformats.org/officeDocument/2006/relationships/image" Target="../media/image162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5" Type="http://schemas.openxmlformats.org/officeDocument/2006/relationships/image" Target="../media/image127.png"/><Relationship Id="rId4" Type="http://schemas.openxmlformats.org/officeDocument/2006/relationships/image" Target="../media/image161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3999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38800" y="1985899"/>
            <a:ext cx="1882140" cy="413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600" dirty="0" smtClean="0">
                <a:latin typeface="Arial"/>
                <a:cs typeface="Arial"/>
              </a:rPr>
              <a:t>Lecture 7b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92955" y="2600070"/>
            <a:ext cx="3427729" cy="79883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indent="1066800">
              <a:lnSpc>
                <a:spcPts val="2960"/>
              </a:lnSpc>
              <a:spcBef>
                <a:spcPts val="335"/>
              </a:spcBef>
            </a:pPr>
            <a:r>
              <a:rPr sz="2600" dirty="0">
                <a:latin typeface="Arial"/>
                <a:cs typeface="Arial"/>
              </a:rPr>
              <a:t>Configuring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and  Troubleshooting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DHCP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2647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Module</a:t>
            </a:r>
            <a:r>
              <a:rPr spc="-65" dirty="0"/>
              <a:t> </a:t>
            </a:r>
            <a:r>
              <a:rPr spc="-5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328" y="946150"/>
            <a:ext cx="5055870" cy="2769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10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Overview </a:t>
            </a:r>
            <a:r>
              <a:rPr sz="2000" dirty="0">
                <a:latin typeface="Verdana"/>
                <a:cs typeface="Verdana"/>
              </a:rPr>
              <a:t>of </a:t>
            </a:r>
            <a:r>
              <a:rPr sz="2000" spc="-5" dirty="0">
                <a:latin typeface="Verdana"/>
                <a:cs typeface="Verdana"/>
              </a:rPr>
              <a:t>the </a:t>
            </a:r>
            <a:r>
              <a:rPr sz="2000" dirty="0">
                <a:latin typeface="Verdana"/>
                <a:cs typeface="Verdana"/>
              </a:rPr>
              <a:t>DHCP </a:t>
            </a:r>
            <a:r>
              <a:rPr sz="2000" spc="-5" dirty="0">
                <a:latin typeface="Verdana"/>
                <a:cs typeface="Verdana"/>
              </a:rPr>
              <a:t>Server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Role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3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Configuring </a:t>
            </a:r>
            <a:r>
              <a:rPr sz="2000" dirty="0">
                <a:latin typeface="Verdana"/>
                <a:cs typeface="Verdana"/>
              </a:rPr>
              <a:t>DHCP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Scopes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Configuring </a:t>
            </a:r>
            <a:r>
              <a:rPr sz="2000" dirty="0">
                <a:latin typeface="Verdana"/>
                <a:cs typeface="Verdana"/>
              </a:rPr>
              <a:t>DHCP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Options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Managing a DHCP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Database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Monitoring </a:t>
            </a:r>
            <a:r>
              <a:rPr sz="2000" dirty="0">
                <a:latin typeface="Verdana"/>
                <a:cs typeface="Verdana"/>
              </a:rPr>
              <a:t>and </a:t>
            </a:r>
            <a:r>
              <a:rPr sz="2000" spc="-5" dirty="0">
                <a:latin typeface="Verdana"/>
                <a:cs typeface="Verdana"/>
              </a:rPr>
              <a:t>Troubleshooting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DHCP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Configuring </a:t>
            </a:r>
            <a:r>
              <a:rPr sz="2000" dirty="0">
                <a:latin typeface="Verdana"/>
                <a:cs typeface="Verdana"/>
              </a:rPr>
              <a:t>DHCP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Security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69138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 smtClean="0"/>
              <a:t> </a:t>
            </a:r>
            <a:r>
              <a:rPr spc="-5" dirty="0" smtClean="0"/>
              <a:t> </a:t>
            </a:r>
            <a:r>
              <a:rPr spc="-5" dirty="0"/>
              <a:t>1: </a:t>
            </a:r>
            <a:r>
              <a:rPr spc="-10" dirty="0"/>
              <a:t>Overview </a:t>
            </a:r>
            <a:r>
              <a:rPr dirty="0"/>
              <a:t>of the DHCP Server</a:t>
            </a:r>
            <a:r>
              <a:rPr spc="50" dirty="0"/>
              <a:t> </a:t>
            </a:r>
            <a:r>
              <a:rPr spc="-5" dirty="0"/>
              <a:t>Role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328" y="946150"/>
            <a:ext cx="6620509" cy="275780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10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Benefits </a:t>
            </a:r>
            <a:r>
              <a:rPr sz="2000" dirty="0">
                <a:latin typeface="Verdana"/>
                <a:cs typeface="Verdana"/>
              </a:rPr>
              <a:t>of Using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DHCP</a:t>
            </a:r>
          </a:p>
          <a:p>
            <a:pPr marL="187960" indent="-175260">
              <a:lnSpc>
                <a:spcPct val="100000"/>
              </a:lnSpc>
              <a:spcBef>
                <a:spcPts val="143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New </a:t>
            </a:r>
            <a:r>
              <a:rPr sz="2000" dirty="0">
                <a:latin typeface="Verdana"/>
                <a:cs typeface="Verdana"/>
              </a:rPr>
              <a:t>DHCP </a:t>
            </a:r>
            <a:r>
              <a:rPr sz="2000" spc="-5" dirty="0">
                <a:latin typeface="Verdana"/>
                <a:cs typeface="Verdana"/>
              </a:rPr>
              <a:t>Features in </a:t>
            </a:r>
            <a:r>
              <a:rPr sz="2000" dirty="0">
                <a:latin typeface="Verdana"/>
                <a:cs typeface="Verdana"/>
              </a:rPr>
              <a:t>Windows </a:t>
            </a:r>
            <a:r>
              <a:rPr sz="2000" spc="-5" dirty="0">
                <a:latin typeface="Verdana"/>
                <a:cs typeface="Verdana"/>
              </a:rPr>
              <a:t>Server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2008/R2</a:t>
            </a:r>
            <a:endParaRPr sz="2000" dirty="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How DHCP Allocates IP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Addresses</a:t>
            </a: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How DHCP Lease </a:t>
            </a:r>
            <a:r>
              <a:rPr sz="2000" spc="-5" dirty="0">
                <a:latin typeface="Verdana"/>
                <a:cs typeface="Verdana"/>
              </a:rPr>
              <a:t>Generation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Works</a:t>
            </a: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How DHCP </a:t>
            </a:r>
            <a:r>
              <a:rPr sz="2000" spc="-5" dirty="0">
                <a:latin typeface="Verdana"/>
                <a:cs typeface="Verdana"/>
              </a:rPr>
              <a:t>Lease Renewal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Works</a:t>
            </a: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DHCP </a:t>
            </a:r>
            <a:r>
              <a:rPr sz="2000" spc="-5" dirty="0">
                <a:latin typeface="Verdana"/>
                <a:cs typeface="Verdana"/>
              </a:rPr>
              <a:t>Server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5" dirty="0" smtClean="0">
                <a:latin typeface="Verdana"/>
                <a:cs typeface="Verdana"/>
              </a:rPr>
              <a:t>Authorization</a:t>
            </a:r>
            <a:endParaRPr sz="2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35921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Benefits </a:t>
            </a:r>
            <a:r>
              <a:rPr dirty="0"/>
              <a:t>of </a:t>
            </a:r>
            <a:r>
              <a:rPr spc="-10" dirty="0"/>
              <a:t>Using</a:t>
            </a:r>
            <a:r>
              <a:rPr spc="35" dirty="0"/>
              <a:t> </a:t>
            </a:r>
            <a:r>
              <a:rPr dirty="0"/>
              <a:t>DHCP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53212" y="1315211"/>
            <a:ext cx="8056245" cy="843280"/>
            <a:chOff x="553212" y="1315211"/>
            <a:chExt cx="8056245" cy="843280"/>
          </a:xfrm>
        </p:grpSpPr>
        <p:sp>
          <p:nvSpPr>
            <p:cNvPr id="4" name="object 4"/>
            <p:cNvSpPr/>
            <p:nvPr/>
          </p:nvSpPr>
          <p:spPr>
            <a:xfrm>
              <a:off x="577596" y="1339595"/>
              <a:ext cx="8017764" cy="81381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4548" y="1400555"/>
              <a:ext cx="8034528" cy="75742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7784" y="1319783"/>
              <a:ext cx="8005572" cy="8016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57784" y="1319783"/>
              <a:ext cx="8006080" cy="802005"/>
            </a:xfrm>
            <a:custGeom>
              <a:avLst/>
              <a:gdLst/>
              <a:ahLst/>
              <a:cxnLst/>
              <a:rect l="l" t="t" r="r" b="b"/>
              <a:pathLst>
                <a:path w="8006080" h="802005">
                  <a:moveTo>
                    <a:pt x="0" y="133603"/>
                  </a:moveTo>
                  <a:lnTo>
                    <a:pt x="6811" y="91374"/>
                  </a:lnTo>
                  <a:lnTo>
                    <a:pt x="25777" y="54699"/>
                  </a:lnTo>
                  <a:lnTo>
                    <a:pt x="54699" y="25777"/>
                  </a:lnTo>
                  <a:lnTo>
                    <a:pt x="91374" y="6811"/>
                  </a:lnTo>
                  <a:lnTo>
                    <a:pt x="133603" y="0"/>
                  </a:lnTo>
                  <a:lnTo>
                    <a:pt x="7871968" y="0"/>
                  </a:lnTo>
                  <a:lnTo>
                    <a:pt x="7914197" y="6811"/>
                  </a:lnTo>
                  <a:lnTo>
                    <a:pt x="7950872" y="25777"/>
                  </a:lnTo>
                  <a:lnTo>
                    <a:pt x="7979794" y="54699"/>
                  </a:lnTo>
                  <a:lnTo>
                    <a:pt x="7998760" y="91374"/>
                  </a:lnTo>
                  <a:lnTo>
                    <a:pt x="8005572" y="133603"/>
                  </a:lnTo>
                  <a:lnTo>
                    <a:pt x="8005572" y="668019"/>
                  </a:lnTo>
                  <a:lnTo>
                    <a:pt x="7998760" y="710249"/>
                  </a:lnTo>
                  <a:lnTo>
                    <a:pt x="7979794" y="746924"/>
                  </a:lnTo>
                  <a:lnTo>
                    <a:pt x="7950872" y="775846"/>
                  </a:lnTo>
                  <a:lnTo>
                    <a:pt x="7914197" y="794812"/>
                  </a:lnTo>
                  <a:lnTo>
                    <a:pt x="7871968" y="801624"/>
                  </a:lnTo>
                  <a:lnTo>
                    <a:pt x="133603" y="801624"/>
                  </a:lnTo>
                  <a:lnTo>
                    <a:pt x="91374" y="794812"/>
                  </a:lnTo>
                  <a:lnTo>
                    <a:pt x="54699" y="775846"/>
                  </a:lnTo>
                  <a:lnTo>
                    <a:pt x="25777" y="746924"/>
                  </a:lnTo>
                  <a:lnTo>
                    <a:pt x="6811" y="710249"/>
                  </a:lnTo>
                  <a:lnTo>
                    <a:pt x="0" y="668019"/>
                  </a:lnTo>
                  <a:lnTo>
                    <a:pt x="0" y="133603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75233" y="1431493"/>
            <a:ext cx="770000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Verdana"/>
                <a:cs typeface="Verdana"/>
              </a:rPr>
              <a:t>DHCP </a:t>
            </a:r>
            <a:r>
              <a:rPr sz="1800" b="1" spc="-5" dirty="0">
                <a:latin typeface="Verdana"/>
                <a:cs typeface="Verdana"/>
              </a:rPr>
              <a:t>reduces the complexity </a:t>
            </a:r>
            <a:r>
              <a:rPr sz="1800" b="1" dirty="0">
                <a:latin typeface="Verdana"/>
                <a:cs typeface="Verdana"/>
              </a:rPr>
              <a:t>and amount of</a:t>
            </a:r>
            <a:r>
              <a:rPr sz="1800" b="1" spc="-5" dirty="0">
                <a:latin typeface="Verdana"/>
                <a:cs typeface="Verdana"/>
              </a:rPr>
              <a:t> administrative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Verdana"/>
                <a:cs typeface="Verdana"/>
              </a:rPr>
              <a:t>work </a:t>
            </a:r>
            <a:r>
              <a:rPr sz="1800" b="1" spc="-5" dirty="0">
                <a:latin typeface="Verdana"/>
                <a:cs typeface="Verdana"/>
              </a:rPr>
              <a:t>by using automatic </a:t>
            </a:r>
            <a:r>
              <a:rPr sz="1800" b="1" dirty="0">
                <a:latin typeface="Verdana"/>
                <a:cs typeface="Verdana"/>
              </a:rPr>
              <a:t>TCP/IP</a:t>
            </a:r>
            <a:r>
              <a:rPr sz="1800" b="1" spc="2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configuration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11645" y="2365057"/>
            <a:ext cx="4222115" cy="3443604"/>
            <a:chOff x="211645" y="2365057"/>
            <a:chExt cx="4222115" cy="3443604"/>
          </a:xfrm>
        </p:grpSpPr>
        <p:sp>
          <p:nvSpPr>
            <p:cNvPr id="10" name="object 10"/>
            <p:cNvSpPr/>
            <p:nvPr/>
          </p:nvSpPr>
          <p:spPr>
            <a:xfrm>
              <a:off x="216408" y="2369820"/>
              <a:ext cx="4212590" cy="3434079"/>
            </a:xfrm>
            <a:custGeom>
              <a:avLst/>
              <a:gdLst/>
              <a:ahLst/>
              <a:cxnLst/>
              <a:rect l="l" t="t" r="r" b="b"/>
              <a:pathLst>
                <a:path w="4212590" h="3434079">
                  <a:moveTo>
                    <a:pt x="4069206" y="0"/>
                  </a:moveTo>
                  <a:lnTo>
                    <a:pt x="143078" y="0"/>
                  </a:lnTo>
                  <a:lnTo>
                    <a:pt x="97854" y="7289"/>
                  </a:lnTo>
                  <a:lnTo>
                    <a:pt x="58578" y="27594"/>
                  </a:lnTo>
                  <a:lnTo>
                    <a:pt x="27605" y="58567"/>
                  </a:lnTo>
                  <a:lnTo>
                    <a:pt x="7294" y="97861"/>
                  </a:lnTo>
                  <a:lnTo>
                    <a:pt x="0" y="143128"/>
                  </a:lnTo>
                  <a:lnTo>
                    <a:pt x="0" y="3290493"/>
                  </a:lnTo>
                  <a:lnTo>
                    <a:pt x="7294" y="3335717"/>
                  </a:lnTo>
                  <a:lnTo>
                    <a:pt x="27605" y="3374993"/>
                  </a:lnTo>
                  <a:lnTo>
                    <a:pt x="58578" y="3405966"/>
                  </a:lnTo>
                  <a:lnTo>
                    <a:pt x="97854" y="3426277"/>
                  </a:lnTo>
                  <a:lnTo>
                    <a:pt x="143078" y="3433571"/>
                  </a:lnTo>
                  <a:lnTo>
                    <a:pt x="4069206" y="3433571"/>
                  </a:lnTo>
                  <a:lnTo>
                    <a:pt x="4114474" y="3426277"/>
                  </a:lnTo>
                  <a:lnTo>
                    <a:pt x="4153768" y="3405966"/>
                  </a:lnTo>
                  <a:lnTo>
                    <a:pt x="4184741" y="3374993"/>
                  </a:lnTo>
                  <a:lnTo>
                    <a:pt x="4205046" y="3335717"/>
                  </a:lnTo>
                  <a:lnTo>
                    <a:pt x="4212336" y="3290493"/>
                  </a:lnTo>
                  <a:lnTo>
                    <a:pt x="4212336" y="143128"/>
                  </a:lnTo>
                  <a:lnTo>
                    <a:pt x="4205046" y="97861"/>
                  </a:lnTo>
                  <a:lnTo>
                    <a:pt x="4184741" y="58567"/>
                  </a:lnTo>
                  <a:lnTo>
                    <a:pt x="4153768" y="27594"/>
                  </a:lnTo>
                  <a:lnTo>
                    <a:pt x="4114474" y="7289"/>
                  </a:lnTo>
                  <a:lnTo>
                    <a:pt x="4069206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6408" y="2369820"/>
              <a:ext cx="4212590" cy="3434079"/>
            </a:xfrm>
            <a:custGeom>
              <a:avLst/>
              <a:gdLst/>
              <a:ahLst/>
              <a:cxnLst/>
              <a:rect l="l" t="t" r="r" b="b"/>
              <a:pathLst>
                <a:path w="4212590" h="3434079">
                  <a:moveTo>
                    <a:pt x="0" y="143128"/>
                  </a:moveTo>
                  <a:lnTo>
                    <a:pt x="7294" y="97861"/>
                  </a:lnTo>
                  <a:lnTo>
                    <a:pt x="27605" y="58567"/>
                  </a:lnTo>
                  <a:lnTo>
                    <a:pt x="58578" y="27594"/>
                  </a:lnTo>
                  <a:lnTo>
                    <a:pt x="97854" y="7289"/>
                  </a:lnTo>
                  <a:lnTo>
                    <a:pt x="143078" y="0"/>
                  </a:lnTo>
                  <a:lnTo>
                    <a:pt x="4069206" y="0"/>
                  </a:lnTo>
                  <a:lnTo>
                    <a:pt x="4114474" y="7289"/>
                  </a:lnTo>
                  <a:lnTo>
                    <a:pt x="4153768" y="27594"/>
                  </a:lnTo>
                  <a:lnTo>
                    <a:pt x="4184741" y="58567"/>
                  </a:lnTo>
                  <a:lnTo>
                    <a:pt x="4205046" y="97861"/>
                  </a:lnTo>
                  <a:lnTo>
                    <a:pt x="4212336" y="143128"/>
                  </a:lnTo>
                  <a:lnTo>
                    <a:pt x="4212336" y="3290493"/>
                  </a:lnTo>
                  <a:lnTo>
                    <a:pt x="4205046" y="3335717"/>
                  </a:lnTo>
                  <a:lnTo>
                    <a:pt x="4184741" y="3374993"/>
                  </a:lnTo>
                  <a:lnTo>
                    <a:pt x="4153768" y="3405966"/>
                  </a:lnTo>
                  <a:lnTo>
                    <a:pt x="4114474" y="3426277"/>
                  </a:lnTo>
                  <a:lnTo>
                    <a:pt x="4069206" y="3433571"/>
                  </a:lnTo>
                  <a:lnTo>
                    <a:pt x="143078" y="3433571"/>
                  </a:lnTo>
                  <a:lnTo>
                    <a:pt x="97854" y="3426277"/>
                  </a:lnTo>
                  <a:lnTo>
                    <a:pt x="58578" y="3405966"/>
                  </a:lnTo>
                  <a:lnTo>
                    <a:pt x="27605" y="3374993"/>
                  </a:lnTo>
                  <a:lnTo>
                    <a:pt x="7294" y="3335717"/>
                  </a:lnTo>
                  <a:lnTo>
                    <a:pt x="0" y="3290493"/>
                  </a:lnTo>
                  <a:lnTo>
                    <a:pt x="0" y="143128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36600" y="2443683"/>
            <a:ext cx="33743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Verdana"/>
                <a:cs typeface="Verdana"/>
              </a:rPr>
              <a:t>Manual TCP/IP </a:t>
            </a:r>
            <a:r>
              <a:rPr sz="1600" b="1" spc="-10" dirty="0">
                <a:latin typeface="Verdana"/>
                <a:cs typeface="Verdana"/>
              </a:rPr>
              <a:t>Configuration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26136" y="2868167"/>
            <a:ext cx="3990340" cy="2654935"/>
            <a:chOff x="326136" y="2868167"/>
            <a:chExt cx="3990340" cy="2654935"/>
          </a:xfrm>
        </p:grpSpPr>
        <p:sp>
          <p:nvSpPr>
            <p:cNvPr id="14" name="object 14"/>
            <p:cNvSpPr/>
            <p:nvPr/>
          </p:nvSpPr>
          <p:spPr>
            <a:xfrm>
              <a:off x="330708" y="2872739"/>
              <a:ext cx="3980815" cy="2646045"/>
            </a:xfrm>
            <a:custGeom>
              <a:avLst/>
              <a:gdLst/>
              <a:ahLst/>
              <a:cxnLst/>
              <a:rect l="l" t="t" r="r" b="b"/>
              <a:pathLst>
                <a:path w="3980815" h="2646045">
                  <a:moveTo>
                    <a:pt x="3870452" y="0"/>
                  </a:moveTo>
                  <a:lnTo>
                    <a:pt x="110248" y="0"/>
                  </a:lnTo>
                  <a:lnTo>
                    <a:pt x="67331" y="8669"/>
                  </a:lnTo>
                  <a:lnTo>
                    <a:pt x="32288" y="32305"/>
                  </a:lnTo>
                  <a:lnTo>
                    <a:pt x="8662" y="67347"/>
                  </a:lnTo>
                  <a:lnTo>
                    <a:pt x="0" y="110236"/>
                  </a:lnTo>
                  <a:lnTo>
                    <a:pt x="0" y="2535428"/>
                  </a:lnTo>
                  <a:lnTo>
                    <a:pt x="8662" y="2578316"/>
                  </a:lnTo>
                  <a:lnTo>
                    <a:pt x="32288" y="2613358"/>
                  </a:lnTo>
                  <a:lnTo>
                    <a:pt x="67331" y="2636994"/>
                  </a:lnTo>
                  <a:lnTo>
                    <a:pt x="110248" y="2645664"/>
                  </a:lnTo>
                  <a:lnTo>
                    <a:pt x="3870452" y="2645664"/>
                  </a:lnTo>
                  <a:lnTo>
                    <a:pt x="3913340" y="2636994"/>
                  </a:lnTo>
                  <a:lnTo>
                    <a:pt x="3948382" y="2613358"/>
                  </a:lnTo>
                  <a:lnTo>
                    <a:pt x="3972018" y="2578316"/>
                  </a:lnTo>
                  <a:lnTo>
                    <a:pt x="3980688" y="2535428"/>
                  </a:lnTo>
                  <a:lnTo>
                    <a:pt x="3980688" y="110236"/>
                  </a:lnTo>
                  <a:lnTo>
                    <a:pt x="3972018" y="67347"/>
                  </a:lnTo>
                  <a:lnTo>
                    <a:pt x="3948382" y="32305"/>
                  </a:lnTo>
                  <a:lnTo>
                    <a:pt x="3913340" y="8669"/>
                  </a:lnTo>
                  <a:lnTo>
                    <a:pt x="387045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0708" y="2872739"/>
              <a:ext cx="3980815" cy="2646045"/>
            </a:xfrm>
            <a:custGeom>
              <a:avLst/>
              <a:gdLst/>
              <a:ahLst/>
              <a:cxnLst/>
              <a:rect l="l" t="t" r="r" b="b"/>
              <a:pathLst>
                <a:path w="3980815" h="2646045">
                  <a:moveTo>
                    <a:pt x="0" y="110236"/>
                  </a:moveTo>
                  <a:lnTo>
                    <a:pt x="8662" y="67347"/>
                  </a:lnTo>
                  <a:lnTo>
                    <a:pt x="32288" y="32305"/>
                  </a:lnTo>
                  <a:lnTo>
                    <a:pt x="67331" y="8669"/>
                  </a:lnTo>
                  <a:lnTo>
                    <a:pt x="110248" y="0"/>
                  </a:lnTo>
                  <a:lnTo>
                    <a:pt x="3870452" y="0"/>
                  </a:lnTo>
                  <a:lnTo>
                    <a:pt x="3913340" y="8669"/>
                  </a:lnTo>
                  <a:lnTo>
                    <a:pt x="3948382" y="32305"/>
                  </a:lnTo>
                  <a:lnTo>
                    <a:pt x="3972018" y="67347"/>
                  </a:lnTo>
                  <a:lnTo>
                    <a:pt x="3980688" y="110236"/>
                  </a:lnTo>
                  <a:lnTo>
                    <a:pt x="3980688" y="2535428"/>
                  </a:lnTo>
                  <a:lnTo>
                    <a:pt x="3972018" y="2578316"/>
                  </a:lnTo>
                  <a:lnTo>
                    <a:pt x="3948382" y="2613358"/>
                  </a:lnTo>
                  <a:lnTo>
                    <a:pt x="3913340" y="2636994"/>
                  </a:lnTo>
                  <a:lnTo>
                    <a:pt x="3870452" y="2645664"/>
                  </a:lnTo>
                  <a:lnTo>
                    <a:pt x="110248" y="2645664"/>
                  </a:lnTo>
                  <a:lnTo>
                    <a:pt x="67331" y="2636994"/>
                  </a:lnTo>
                  <a:lnTo>
                    <a:pt x="32288" y="2613358"/>
                  </a:lnTo>
                  <a:lnTo>
                    <a:pt x="8662" y="2578316"/>
                  </a:lnTo>
                  <a:lnTo>
                    <a:pt x="0" y="2535428"/>
                  </a:lnTo>
                  <a:lnTo>
                    <a:pt x="0" y="110236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41451" y="3133724"/>
            <a:ext cx="3646804" cy="209804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41300" marR="516890" indent="-228600">
              <a:lnSpc>
                <a:spcPts val="1730"/>
              </a:lnSpc>
              <a:spcBef>
                <a:spcPts val="310"/>
              </a:spcBef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600" b="1" spc="-5" dirty="0">
                <a:latin typeface="Verdana"/>
                <a:cs typeface="Verdana"/>
              </a:rPr>
              <a:t>IP addresses are </a:t>
            </a:r>
            <a:r>
              <a:rPr sz="1600" b="1" spc="-10" dirty="0">
                <a:latin typeface="Verdana"/>
                <a:cs typeface="Verdana"/>
              </a:rPr>
              <a:t>entered  </a:t>
            </a:r>
            <a:r>
              <a:rPr sz="1600" b="1" spc="-5" dirty="0">
                <a:latin typeface="Verdana"/>
                <a:cs typeface="Verdana"/>
              </a:rPr>
              <a:t>manually</a:t>
            </a:r>
            <a:endParaRPr sz="1600">
              <a:latin typeface="Verdana"/>
              <a:cs typeface="Verdana"/>
            </a:endParaRPr>
          </a:p>
          <a:p>
            <a:pPr marL="241300" indent="-228600">
              <a:lnSpc>
                <a:spcPts val="1825"/>
              </a:lnSpc>
              <a:spcBef>
                <a:spcPts val="550"/>
              </a:spcBef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600" b="1" spc="-5" dirty="0">
                <a:latin typeface="Verdana"/>
                <a:cs typeface="Verdana"/>
              </a:rPr>
              <a:t>IP address </a:t>
            </a:r>
            <a:r>
              <a:rPr sz="1600" b="1" spc="-10" dirty="0">
                <a:latin typeface="Verdana"/>
                <a:cs typeface="Verdana"/>
              </a:rPr>
              <a:t>could be</a:t>
            </a:r>
            <a:r>
              <a:rPr sz="1600" b="1" spc="8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entered</a:t>
            </a:r>
            <a:endParaRPr sz="1600">
              <a:latin typeface="Verdana"/>
              <a:cs typeface="Verdana"/>
            </a:endParaRPr>
          </a:p>
          <a:p>
            <a:pPr marL="241300">
              <a:lnSpc>
                <a:spcPts val="1825"/>
              </a:lnSpc>
            </a:pPr>
            <a:r>
              <a:rPr sz="1600" b="1" spc="-10" dirty="0">
                <a:latin typeface="Verdana"/>
                <a:cs typeface="Verdana"/>
              </a:rPr>
              <a:t>incorrectly</a:t>
            </a:r>
            <a:endParaRPr sz="1600">
              <a:latin typeface="Verdana"/>
              <a:cs typeface="Verdana"/>
            </a:endParaRPr>
          </a:p>
          <a:p>
            <a:pPr marL="241300" marR="114935" indent="-228600">
              <a:lnSpc>
                <a:spcPts val="1730"/>
              </a:lnSpc>
              <a:spcBef>
                <a:spcPts val="795"/>
              </a:spcBef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600" b="1" spc="-10" dirty="0">
                <a:latin typeface="Verdana"/>
                <a:cs typeface="Verdana"/>
              </a:rPr>
              <a:t>Communication </a:t>
            </a:r>
            <a:r>
              <a:rPr sz="1600" b="1" spc="-5" dirty="0">
                <a:latin typeface="Verdana"/>
                <a:cs typeface="Verdana"/>
              </a:rPr>
              <a:t>and </a:t>
            </a:r>
            <a:r>
              <a:rPr sz="1600" b="1" spc="-10" dirty="0">
                <a:latin typeface="Verdana"/>
                <a:cs typeface="Verdana"/>
              </a:rPr>
              <a:t>network  issues can</a:t>
            </a:r>
            <a:r>
              <a:rPr sz="1600" b="1" spc="3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result</a:t>
            </a:r>
            <a:endParaRPr sz="1600">
              <a:latin typeface="Verdana"/>
              <a:cs typeface="Verdana"/>
            </a:endParaRPr>
          </a:p>
          <a:p>
            <a:pPr marL="241300" marR="5080" indent="-228600">
              <a:lnSpc>
                <a:spcPts val="1730"/>
              </a:lnSpc>
              <a:spcBef>
                <a:spcPts val="765"/>
              </a:spcBef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600" b="1" spc="-10" dirty="0">
                <a:latin typeface="Verdana"/>
                <a:cs typeface="Verdana"/>
              </a:rPr>
              <a:t>Frequent computer moves  increase administrative</a:t>
            </a:r>
            <a:r>
              <a:rPr sz="1600" b="1" spc="7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effort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712017" y="2365057"/>
            <a:ext cx="4223385" cy="3446145"/>
            <a:chOff x="4712017" y="2365057"/>
            <a:chExt cx="4223385" cy="3446145"/>
          </a:xfrm>
        </p:grpSpPr>
        <p:sp>
          <p:nvSpPr>
            <p:cNvPr id="18" name="object 18"/>
            <p:cNvSpPr/>
            <p:nvPr/>
          </p:nvSpPr>
          <p:spPr>
            <a:xfrm>
              <a:off x="4716779" y="2369820"/>
              <a:ext cx="4213860" cy="3436620"/>
            </a:xfrm>
            <a:custGeom>
              <a:avLst/>
              <a:gdLst/>
              <a:ahLst/>
              <a:cxnLst/>
              <a:rect l="l" t="t" r="r" b="b"/>
              <a:pathLst>
                <a:path w="4213859" h="3436620">
                  <a:moveTo>
                    <a:pt x="4070604" y="0"/>
                  </a:moveTo>
                  <a:lnTo>
                    <a:pt x="143256" y="0"/>
                  </a:lnTo>
                  <a:lnTo>
                    <a:pt x="97974" y="7303"/>
                  </a:lnTo>
                  <a:lnTo>
                    <a:pt x="58649" y="27639"/>
                  </a:lnTo>
                  <a:lnTo>
                    <a:pt x="27639" y="58649"/>
                  </a:lnTo>
                  <a:lnTo>
                    <a:pt x="7303" y="97974"/>
                  </a:lnTo>
                  <a:lnTo>
                    <a:pt x="0" y="143255"/>
                  </a:lnTo>
                  <a:lnTo>
                    <a:pt x="0" y="3293414"/>
                  </a:lnTo>
                  <a:lnTo>
                    <a:pt x="7303" y="3338680"/>
                  </a:lnTo>
                  <a:lnTo>
                    <a:pt x="27639" y="3377992"/>
                  </a:lnTo>
                  <a:lnTo>
                    <a:pt x="58649" y="3408991"/>
                  </a:lnTo>
                  <a:lnTo>
                    <a:pt x="97974" y="3429319"/>
                  </a:lnTo>
                  <a:lnTo>
                    <a:pt x="143256" y="3436619"/>
                  </a:lnTo>
                  <a:lnTo>
                    <a:pt x="4070604" y="3436619"/>
                  </a:lnTo>
                  <a:lnTo>
                    <a:pt x="4115885" y="3429319"/>
                  </a:lnTo>
                  <a:lnTo>
                    <a:pt x="4155210" y="3408991"/>
                  </a:lnTo>
                  <a:lnTo>
                    <a:pt x="4186220" y="3377992"/>
                  </a:lnTo>
                  <a:lnTo>
                    <a:pt x="4206556" y="3338680"/>
                  </a:lnTo>
                  <a:lnTo>
                    <a:pt x="4213860" y="3293414"/>
                  </a:lnTo>
                  <a:lnTo>
                    <a:pt x="4213860" y="143255"/>
                  </a:lnTo>
                  <a:lnTo>
                    <a:pt x="4206556" y="97974"/>
                  </a:lnTo>
                  <a:lnTo>
                    <a:pt x="4186220" y="58649"/>
                  </a:lnTo>
                  <a:lnTo>
                    <a:pt x="4155210" y="27639"/>
                  </a:lnTo>
                  <a:lnTo>
                    <a:pt x="4115885" y="7303"/>
                  </a:lnTo>
                  <a:lnTo>
                    <a:pt x="4070604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716779" y="2369820"/>
              <a:ext cx="4213860" cy="3436620"/>
            </a:xfrm>
            <a:custGeom>
              <a:avLst/>
              <a:gdLst/>
              <a:ahLst/>
              <a:cxnLst/>
              <a:rect l="l" t="t" r="r" b="b"/>
              <a:pathLst>
                <a:path w="4213859" h="3436620">
                  <a:moveTo>
                    <a:pt x="0" y="143255"/>
                  </a:moveTo>
                  <a:lnTo>
                    <a:pt x="7303" y="97974"/>
                  </a:lnTo>
                  <a:lnTo>
                    <a:pt x="27639" y="58649"/>
                  </a:lnTo>
                  <a:lnTo>
                    <a:pt x="58649" y="27639"/>
                  </a:lnTo>
                  <a:lnTo>
                    <a:pt x="97974" y="7303"/>
                  </a:lnTo>
                  <a:lnTo>
                    <a:pt x="143256" y="0"/>
                  </a:lnTo>
                  <a:lnTo>
                    <a:pt x="4070604" y="0"/>
                  </a:lnTo>
                  <a:lnTo>
                    <a:pt x="4115885" y="7303"/>
                  </a:lnTo>
                  <a:lnTo>
                    <a:pt x="4155210" y="27639"/>
                  </a:lnTo>
                  <a:lnTo>
                    <a:pt x="4186220" y="58649"/>
                  </a:lnTo>
                  <a:lnTo>
                    <a:pt x="4206556" y="97974"/>
                  </a:lnTo>
                  <a:lnTo>
                    <a:pt x="4213860" y="143255"/>
                  </a:lnTo>
                  <a:lnTo>
                    <a:pt x="4213860" y="3293414"/>
                  </a:lnTo>
                  <a:lnTo>
                    <a:pt x="4206556" y="3338680"/>
                  </a:lnTo>
                  <a:lnTo>
                    <a:pt x="4186220" y="3377992"/>
                  </a:lnTo>
                  <a:lnTo>
                    <a:pt x="4155210" y="3408991"/>
                  </a:lnTo>
                  <a:lnTo>
                    <a:pt x="4115885" y="3429319"/>
                  </a:lnTo>
                  <a:lnTo>
                    <a:pt x="4070604" y="3436619"/>
                  </a:lnTo>
                  <a:lnTo>
                    <a:pt x="143256" y="3436619"/>
                  </a:lnTo>
                  <a:lnTo>
                    <a:pt x="97974" y="3429319"/>
                  </a:lnTo>
                  <a:lnTo>
                    <a:pt x="58649" y="3408991"/>
                  </a:lnTo>
                  <a:lnTo>
                    <a:pt x="27639" y="3377992"/>
                  </a:lnTo>
                  <a:lnTo>
                    <a:pt x="7303" y="3338680"/>
                  </a:lnTo>
                  <a:lnTo>
                    <a:pt x="0" y="3293414"/>
                  </a:lnTo>
                  <a:lnTo>
                    <a:pt x="0" y="143255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837938" y="2444242"/>
            <a:ext cx="37153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Verdana"/>
                <a:cs typeface="Verdana"/>
              </a:rPr>
              <a:t>Automatic TCP/IP</a:t>
            </a:r>
            <a:r>
              <a:rPr sz="1600" b="1" spc="-1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Configuration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834128" y="2868167"/>
            <a:ext cx="3996054" cy="2654935"/>
            <a:chOff x="4834128" y="2868167"/>
            <a:chExt cx="3996054" cy="2654935"/>
          </a:xfrm>
        </p:grpSpPr>
        <p:sp>
          <p:nvSpPr>
            <p:cNvPr id="22" name="object 22"/>
            <p:cNvSpPr/>
            <p:nvPr/>
          </p:nvSpPr>
          <p:spPr>
            <a:xfrm>
              <a:off x="4838700" y="2872739"/>
              <a:ext cx="3987165" cy="2646045"/>
            </a:xfrm>
            <a:custGeom>
              <a:avLst/>
              <a:gdLst/>
              <a:ahLst/>
              <a:cxnLst/>
              <a:rect l="l" t="t" r="r" b="b"/>
              <a:pathLst>
                <a:path w="3987165" h="2646045">
                  <a:moveTo>
                    <a:pt x="3876548" y="0"/>
                  </a:moveTo>
                  <a:lnTo>
                    <a:pt x="110236" y="0"/>
                  </a:lnTo>
                  <a:lnTo>
                    <a:pt x="67347" y="8669"/>
                  </a:lnTo>
                  <a:lnTo>
                    <a:pt x="32305" y="32305"/>
                  </a:lnTo>
                  <a:lnTo>
                    <a:pt x="8669" y="67347"/>
                  </a:lnTo>
                  <a:lnTo>
                    <a:pt x="0" y="110236"/>
                  </a:lnTo>
                  <a:lnTo>
                    <a:pt x="0" y="2535428"/>
                  </a:lnTo>
                  <a:lnTo>
                    <a:pt x="8669" y="2578316"/>
                  </a:lnTo>
                  <a:lnTo>
                    <a:pt x="32305" y="2613358"/>
                  </a:lnTo>
                  <a:lnTo>
                    <a:pt x="67347" y="2636994"/>
                  </a:lnTo>
                  <a:lnTo>
                    <a:pt x="110236" y="2645664"/>
                  </a:lnTo>
                  <a:lnTo>
                    <a:pt x="3876548" y="2645664"/>
                  </a:lnTo>
                  <a:lnTo>
                    <a:pt x="3919436" y="2636994"/>
                  </a:lnTo>
                  <a:lnTo>
                    <a:pt x="3954478" y="2613358"/>
                  </a:lnTo>
                  <a:lnTo>
                    <a:pt x="3978114" y="2578316"/>
                  </a:lnTo>
                  <a:lnTo>
                    <a:pt x="3986783" y="2535428"/>
                  </a:lnTo>
                  <a:lnTo>
                    <a:pt x="3986783" y="110236"/>
                  </a:lnTo>
                  <a:lnTo>
                    <a:pt x="3978114" y="67347"/>
                  </a:lnTo>
                  <a:lnTo>
                    <a:pt x="3954478" y="32305"/>
                  </a:lnTo>
                  <a:lnTo>
                    <a:pt x="3919436" y="8669"/>
                  </a:lnTo>
                  <a:lnTo>
                    <a:pt x="3876548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838700" y="2872739"/>
              <a:ext cx="3987165" cy="2646045"/>
            </a:xfrm>
            <a:custGeom>
              <a:avLst/>
              <a:gdLst/>
              <a:ahLst/>
              <a:cxnLst/>
              <a:rect l="l" t="t" r="r" b="b"/>
              <a:pathLst>
                <a:path w="3987165" h="2646045">
                  <a:moveTo>
                    <a:pt x="0" y="110236"/>
                  </a:moveTo>
                  <a:lnTo>
                    <a:pt x="8669" y="67347"/>
                  </a:lnTo>
                  <a:lnTo>
                    <a:pt x="32305" y="32305"/>
                  </a:lnTo>
                  <a:lnTo>
                    <a:pt x="67347" y="8669"/>
                  </a:lnTo>
                  <a:lnTo>
                    <a:pt x="110236" y="0"/>
                  </a:lnTo>
                  <a:lnTo>
                    <a:pt x="3876548" y="0"/>
                  </a:lnTo>
                  <a:lnTo>
                    <a:pt x="3919436" y="8669"/>
                  </a:lnTo>
                  <a:lnTo>
                    <a:pt x="3954478" y="32305"/>
                  </a:lnTo>
                  <a:lnTo>
                    <a:pt x="3978114" y="67347"/>
                  </a:lnTo>
                  <a:lnTo>
                    <a:pt x="3986783" y="110236"/>
                  </a:lnTo>
                  <a:lnTo>
                    <a:pt x="3986783" y="2535428"/>
                  </a:lnTo>
                  <a:lnTo>
                    <a:pt x="3978114" y="2578316"/>
                  </a:lnTo>
                  <a:lnTo>
                    <a:pt x="3954478" y="2613358"/>
                  </a:lnTo>
                  <a:lnTo>
                    <a:pt x="3919436" y="2636994"/>
                  </a:lnTo>
                  <a:lnTo>
                    <a:pt x="3876548" y="2645664"/>
                  </a:lnTo>
                  <a:lnTo>
                    <a:pt x="110236" y="2645664"/>
                  </a:lnTo>
                  <a:lnTo>
                    <a:pt x="67347" y="2636994"/>
                  </a:lnTo>
                  <a:lnTo>
                    <a:pt x="32305" y="2613358"/>
                  </a:lnTo>
                  <a:lnTo>
                    <a:pt x="8669" y="2578316"/>
                  </a:lnTo>
                  <a:lnTo>
                    <a:pt x="0" y="2535428"/>
                  </a:lnTo>
                  <a:lnTo>
                    <a:pt x="0" y="110236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950714" y="3133724"/>
            <a:ext cx="3774440" cy="209804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41300" marR="565785" indent="-228600">
              <a:lnSpc>
                <a:spcPts val="1730"/>
              </a:lnSpc>
              <a:spcBef>
                <a:spcPts val="310"/>
              </a:spcBef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600" b="1" spc="-5" dirty="0">
                <a:latin typeface="Verdana"/>
                <a:cs typeface="Verdana"/>
              </a:rPr>
              <a:t>IP addresses are </a:t>
            </a:r>
            <a:r>
              <a:rPr sz="1600" b="1" spc="-10" dirty="0">
                <a:latin typeface="Verdana"/>
                <a:cs typeface="Verdana"/>
              </a:rPr>
              <a:t>supplied  </a:t>
            </a:r>
            <a:r>
              <a:rPr sz="1600" b="1" spc="-5" dirty="0">
                <a:latin typeface="Verdana"/>
                <a:cs typeface="Verdana"/>
              </a:rPr>
              <a:t>automatically</a:t>
            </a:r>
            <a:endParaRPr sz="1600">
              <a:latin typeface="Verdana"/>
              <a:cs typeface="Verdana"/>
            </a:endParaRPr>
          </a:p>
          <a:p>
            <a:pPr marL="241300" indent="-228600">
              <a:lnSpc>
                <a:spcPts val="1825"/>
              </a:lnSpc>
              <a:spcBef>
                <a:spcPts val="550"/>
              </a:spcBef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600" b="1" spc="-10" dirty="0">
                <a:latin typeface="Verdana"/>
                <a:cs typeface="Verdana"/>
              </a:rPr>
              <a:t>Correct</a:t>
            </a:r>
            <a:r>
              <a:rPr sz="1600" b="1" spc="3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configuration</a:t>
            </a:r>
            <a:endParaRPr sz="1600">
              <a:latin typeface="Verdana"/>
              <a:cs typeface="Verdana"/>
            </a:endParaRPr>
          </a:p>
          <a:p>
            <a:pPr marL="241300">
              <a:lnSpc>
                <a:spcPts val="1825"/>
              </a:lnSpc>
            </a:pPr>
            <a:r>
              <a:rPr sz="1600" b="1" spc="-10" dirty="0">
                <a:latin typeface="Verdana"/>
                <a:cs typeface="Verdana"/>
              </a:rPr>
              <a:t>information is</a:t>
            </a:r>
            <a:r>
              <a:rPr sz="1600" b="1" spc="5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ensured</a:t>
            </a:r>
            <a:endParaRPr sz="1600">
              <a:latin typeface="Verdana"/>
              <a:cs typeface="Verdana"/>
            </a:endParaRPr>
          </a:p>
          <a:p>
            <a:pPr marL="241300" marR="5080" indent="-228600">
              <a:lnSpc>
                <a:spcPts val="1730"/>
              </a:lnSpc>
              <a:spcBef>
                <a:spcPts val="795"/>
              </a:spcBef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600" b="1" spc="-10" dirty="0">
                <a:latin typeface="Verdana"/>
                <a:cs typeface="Verdana"/>
              </a:rPr>
              <a:t>Client configuration is </a:t>
            </a:r>
            <a:r>
              <a:rPr sz="1600" b="1" spc="-5" dirty="0">
                <a:latin typeface="Verdana"/>
                <a:cs typeface="Verdana"/>
              </a:rPr>
              <a:t>updated  automatically</a:t>
            </a:r>
            <a:endParaRPr sz="1600">
              <a:latin typeface="Verdana"/>
              <a:cs typeface="Verdana"/>
            </a:endParaRPr>
          </a:p>
          <a:p>
            <a:pPr marL="241300" marR="187960" indent="-228600">
              <a:lnSpc>
                <a:spcPts val="1730"/>
              </a:lnSpc>
              <a:spcBef>
                <a:spcPts val="765"/>
              </a:spcBef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600" b="1" spc="-5" dirty="0">
                <a:latin typeface="Verdana"/>
                <a:cs typeface="Verdana"/>
              </a:rPr>
              <a:t>A </a:t>
            </a:r>
            <a:r>
              <a:rPr sz="1600" b="1" spc="-10" dirty="0">
                <a:latin typeface="Verdana"/>
                <a:cs typeface="Verdana"/>
              </a:rPr>
              <a:t>common source </a:t>
            </a:r>
            <a:r>
              <a:rPr sz="1600" b="1" spc="-5" dirty="0">
                <a:latin typeface="Verdana"/>
                <a:cs typeface="Verdana"/>
              </a:rPr>
              <a:t>of </a:t>
            </a:r>
            <a:r>
              <a:rPr sz="1600" b="1" spc="-10" dirty="0">
                <a:latin typeface="Verdana"/>
                <a:cs typeface="Verdana"/>
              </a:rPr>
              <a:t>network  problems is</a:t>
            </a:r>
            <a:r>
              <a:rPr sz="1600" b="1" spc="6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eliminated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6942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New </a:t>
            </a:r>
            <a:r>
              <a:rPr dirty="0"/>
              <a:t>DHCP Features </a:t>
            </a:r>
            <a:r>
              <a:rPr spc="-10" dirty="0"/>
              <a:t>in </a:t>
            </a:r>
            <a:r>
              <a:rPr dirty="0"/>
              <a:t>Windows </a:t>
            </a:r>
            <a:r>
              <a:rPr spc="-5" dirty="0"/>
              <a:t>Server</a:t>
            </a:r>
            <a:r>
              <a:rPr spc="-10" dirty="0"/>
              <a:t> </a:t>
            </a:r>
            <a:r>
              <a:rPr spc="-5" dirty="0"/>
              <a:t>2008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38555" y="1566672"/>
            <a:ext cx="7865745" cy="2757170"/>
            <a:chOff x="638555" y="1566672"/>
            <a:chExt cx="7865745" cy="2757170"/>
          </a:xfrm>
        </p:grpSpPr>
        <p:sp>
          <p:nvSpPr>
            <p:cNvPr id="4" name="object 4"/>
            <p:cNvSpPr/>
            <p:nvPr/>
          </p:nvSpPr>
          <p:spPr>
            <a:xfrm>
              <a:off x="643127" y="1571244"/>
              <a:ext cx="7856220" cy="2748280"/>
            </a:xfrm>
            <a:custGeom>
              <a:avLst/>
              <a:gdLst/>
              <a:ahLst/>
              <a:cxnLst/>
              <a:rect l="l" t="t" r="r" b="b"/>
              <a:pathLst>
                <a:path w="7856220" h="2748279">
                  <a:moveTo>
                    <a:pt x="7741666" y="0"/>
                  </a:moveTo>
                  <a:lnTo>
                    <a:pt x="114503" y="0"/>
                  </a:lnTo>
                  <a:lnTo>
                    <a:pt x="69935" y="9005"/>
                  </a:lnTo>
                  <a:lnTo>
                    <a:pt x="33539" y="33559"/>
                  </a:lnTo>
                  <a:lnTo>
                    <a:pt x="8998" y="69973"/>
                  </a:lnTo>
                  <a:lnTo>
                    <a:pt x="0" y="114553"/>
                  </a:lnTo>
                  <a:lnTo>
                    <a:pt x="0" y="2633217"/>
                  </a:lnTo>
                  <a:lnTo>
                    <a:pt x="8998" y="2677798"/>
                  </a:lnTo>
                  <a:lnTo>
                    <a:pt x="33539" y="2714212"/>
                  </a:lnTo>
                  <a:lnTo>
                    <a:pt x="69935" y="2738766"/>
                  </a:lnTo>
                  <a:lnTo>
                    <a:pt x="114503" y="2747772"/>
                  </a:lnTo>
                  <a:lnTo>
                    <a:pt x="7741666" y="2747772"/>
                  </a:lnTo>
                  <a:lnTo>
                    <a:pt x="7786246" y="2738766"/>
                  </a:lnTo>
                  <a:lnTo>
                    <a:pt x="7822660" y="2714212"/>
                  </a:lnTo>
                  <a:lnTo>
                    <a:pt x="7847214" y="2677798"/>
                  </a:lnTo>
                  <a:lnTo>
                    <a:pt x="7856220" y="2633217"/>
                  </a:lnTo>
                  <a:lnTo>
                    <a:pt x="7856220" y="114553"/>
                  </a:lnTo>
                  <a:lnTo>
                    <a:pt x="7847214" y="69973"/>
                  </a:lnTo>
                  <a:lnTo>
                    <a:pt x="7822660" y="33559"/>
                  </a:lnTo>
                  <a:lnTo>
                    <a:pt x="7786246" y="9005"/>
                  </a:lnTo>
                  <a:lnTo>
                    <a:pt x="7741666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3127" y="1571244"/>
              <a:ext cx="7856220" cy="2748280"/>
            </a:xfrm>
            <a:custGeom>
              <a:avLst/>
              <a:gdLst/>
              <a:ahLst/>
              <a:cxnLst/>
              <a:rect l="l" t="t" r="r" b="b"/>
              <a:pathLst>
                <a:path w="7856220" h="2748279">
                  <a:moveTo>
                    <a:pt x="0" y="114553"/>
                  </a:moveTo>
                  <a:lnTo>
                    <a:pt x="8998" y="69973"/>
                  </a:lnTo>
                  <a:lnTo>
                    <a:pt x="33539" y="33559"/>
                  </a:lnTo>
                  <a:lnTo>
                    <a:pt x="69935" y="9005"/>
                  </a:lnTo>
                  <a:lnTo>
                    <a:pt x="114503" y="0"/>
                  </a:lnTo>
                  <a:lnTo>
                    <a:pt x="7741666" y="0"/>
                  </a:lnTo>
                  <a:lnTo>
                    <a:pt x="7786246" y="9005"/>
                  </a:lnTo>
                  <a:lnTo>
                    <a:pt x="7822660" y="33559"/>
                  </a:lnTo>
                  <a:lnTo>
                    <a:pt x="7847214" y="69973"/>
                  </a:lnTo>
                  <a:lnTo>
                    <a:pt x="7856220" y="114553"/>
                  </a:lnTo>
                  <a:lnTo>
                    <a:pt x="7856220" y="2633217"/>
                  </a:lnTo>
                  <a:lnTo>
                    <a:pt x="7847214" y="2677798"/>
                  </a:lnTo>
                  <a:lnTo>
                    <a:pt x="7822660" y="2714212"/>
                  </a:lnTo>
                  <a:lnTo>
                    <a:pt x="7786246" y="2738766"/>
                  </a:lnTo>
                  <a:lnTo>
                    <a:pt x="7741666" y="2747772"/>
                  </a:lnTo>
                  <a:lnTo>
                    <a:pt x="114503" y="2747772"/>
                  </a:lnTo>
                  <a:lnTo>
                    <a:pt x="69935" y="2738766"/>
                  </a:lnTo>
                  <a:lnTo>
                    <a:pt x="33539" y="2714212"/>
                  </a:lnTo>
                  <a:lnTo>
                    <a:pt x="8998" y="2677798"/>
                  </a:lnTo>
                  <a:lnTo>
                    <a:pt x="0" y="2633217"/>
                  </a:lnTo>
                  <a:lnTo>
                    <a:pt x="0" y="114553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53083" y="2138172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7045833" y="0"/>
                  </a:moveTo>
                  <a:lnTo>
                    <a:pt x="19431" y="0"/>
                  </a:lnTo>
                  <a:lnTo>
                    <a:pt x="11867" y="1535"/>
                  </a:lnTo>
                  <a:lnTo>
                    <a:pt x="5691" y="5714"/>
                  </a:lnTo>
                  <a:lnTo>
                    <a:pt x="1526" y="11894"/>
                  </a:lnTo>
                  <a:lnTo>
                    <a:pt x="0" y="19430"/>
                  </a:lnTo>
                  <a:lnTo>
                    <a:pt x="0" y="446913"/>
                  </a:lnTo>
                  <a:lnTo>
                    <a:pt x="1526" y="454449"/>
                  </a:lnTo>
                  <a:lnTo>
                    <a:pt x="5691" y="460628"/>
                  </a:lnTo>
                  <a:lnTo>
                    <a:pt x="11867" y="464808"/>
                  </a:lnTo>
                  <a:lnTo>
                    <a:pt x="19431" y="466343"/>
                  </a:lnTo>
                  <a:lnTo>
                    <a:pt x="7045833" y="466343"/>
                  </a:lnTo>
                  <a:lnTo>
                    <a:pt x="7053369" y="464808"/>
                  </a:lnTo>
                  <a:lnTo>
                    <a:pt x="7059549" y="460628"/>
                  </a:lnTo>
                  <a:lnTo>
                    <a:pt x="7063728" y="454449"/>
                  </a:lnTo>
                  <a:lnTo>
                    <a:pt x="7065264" y="446913"/>
                  </a:lnTo>
                  <a:lnTo>
                    <a:pt x="7065264" y="19430"/>
                  </a:lnTo>
                  <a:lnTo>
                    <a:pt x="7063728" y="11894"/>
                  </a:lnTo>
                  <a:lnTo>
                    <a:pt x="7059549" y="5715"/>
                  </a:lnTo>
                  <a:lnTo>
                    <a:pt x="7053369" y="1535"/>
                  </a:lnTo>
                  <a:lnTo>
                    <a:pt x="7045833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53083" y="2138172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0" y="19430"/>
                  </a:moveTo>
                  <a:lnTo>
                    <a:pt x="1526" y="11894"/>
                  </a:lnTo>
                  <a:lnTo>
                    <a:pt x="5691" y="5714"/>
                  </a:lnTo>
                  <a:lnTo>
                    <a:pt x="11867" y="1535"/>
                  </a:lnTo>
                  <a:lnTo>
                    <a:pt x="19431" y="0"/>
                  </a:lnTo>
                  <a:lnTo>
                    <a:pt x="7045833" y="0"/>
                  </a:lnTo>
                  <a:lnTo>
                    <a:pt x="7053369" y="1535"/>
                  </a:lnTo>
                  <a:lnTo>
                    <a:pt x="7059549" y="5715"/>
                  </a:lnTo>
                  <a:lnTo>
                    <a:pt x="7063728" y="11894"/>
                  </a:lnTo>
                  <a:lnTo>
                    <a:pt x="7065264" y="19430"/>
                  </a:lnTo>
                  <a:lnTo>
                    <a:pt x="7065264" y="446913"/>
                  </a:lnTo>
                  <a:lnTo>
                    <a:pt x="7063728" y="454449"/>
                  </a:lnTo>
                  <a:lnTo>
                    <a:pt x="7059549" y="460628"/>
                  </a:lnTo>
                  <a:lnTo>
                    <a:pt x="7053369" y="464808"/>
                  </a:lnTo>
                  <a:lnTo>
                    <a:pt x="7045833" y="466343"/>
                  </a:lnTo>
                  <a:lnTo>
                    <a:pt x="19431" y="466343"/>
                  </a:lnTo>
                  <a:lnTo>
                    <a:pt x="11867" y="464808"/>
                  </a:lnTo>
                  <a:lnTo>
                    <a:pt x="5691" y="460628"/>
                  </a:lnTo>
                  <a:lnTo>
                    <a:pt x="1526" y="454449"/>
                  </a:lnTo>
                  <a:lnTo>
                    <a:pt x="0" y="446913"/>
                  </a:lnTo>
                  <a:lnTo>
                    <a:pt x="0" y="19430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53083" y="2734055"/>
              <a:ext cx="7065645" cy="687705"/>
            </a:xfrm>
            <a:custGeom>
              <a:avLst/>
              <a:gdLst/>
              <a:ahLst/>
              <a:cxnLst/>
              <a:rect l="l" t="t" r="r" b="b"/>
              <a:pathLst>
                <a:path w="7065645" h="687704">
                  <a:moveTo>
                    <a:pt x="7036562" y="0"/>
                  </a:moveTo>
                  <a:lnTo>
                    <a:pt x="28638" y="0"/>
                  </a:lnTo>
                  <a:lnTo>
                    <a:pt x="17493" y="2252"/>
                  </a:lnTo>
                  <a:lnTo>
                    <a:pt x="8389" y="8397"/>
                  </a:lnTo>
                  <a:lnTo>
                    <a:pt x="2251" y="17520"/>
                  </a:lnTo>
                  <a:lnTo>
                    <a:pt x="0" y="28702"/>
                  </a:lnTo>
                  <a:lnTo>
                    <a:pt x="0" y="658622"/>
                  </a:lnTo>
                  <a:lnTo>
                    <a:pt x="2251" y="669803"/>
                  </a:lnTo>
                  <a:lnTo>
                    <a:pt x="8389" y="678926"/>
                  </a:lnTo>
                  <a:lnTo>
                    <a:pt x="17493" y="685071"/>
                  </a:lnTo>
                  <a:lnTo>
                    <a:pt x="28638" y="687324"/>
                  </a:lnTo>
                  <a:lnTo>
                    <a:pt x="7036562" y="687324"/>
                  </a:lnTo>
                  <a:lnTo>
                    <a:pt x="7047743" y="685071"/>
                  </a:lnTo>
                  <a:lnTo>
                    <a:pt x="7056866" y="678926"/>
                  </a:lnTo>
                  <a:lnTo>
                    <a:pt x="7063011" y="669803"/>
                  </a:lnTo>
                  <a:lnTo>
                    <a:pt x="7065264" y="658622"/>
                  </a:lnTo>
                  <a:lnTo>
                    <a:pt x="7065264" y="28702"/>
                  </a:lnTo>
                  <a:lnTo>
                    <a:pt x="7063011" y="17520"/>
                  </a:lnTo>
                  <a:lnTo>
                    <a:pt x="7056866" y="8397"/>
                  </a:lnTo>
                  <a:lnTo>
                    <a:pt x="7047743" y="2252"/>
                  </a:lnTo>
                  <a:lnTo>
                    <a:pt x="703656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53083" y="2734055"/>
              <a:ext cx="7065645" cy="687705"/>
            </a:xfrm>
            <a:custGeom>
              <a:avLst/>
              <a:gdLst/>
              <a:ahLst/>
              <a:cxnLst/>
              <a:rect l="l" t="t" r="r" b="b"/>
              <a:pathLst>
                <a:path w="7065645" h="687704">
                  <a:moveTo>
                    <a:pt x="0" y="28702"/>
                  </a:moveTo>
                  <a:lnTo>
                    <a:pt x="2251" y="17520"/>
                  </a:lnTo>
                  <a:lnTo>
                    <a:pt x="8389" y="8397"/>
                  </a:lnTo>
                  <a:lnTo>
                    <a:pt x="17493" y="2252"/>
                  </a:lnTo>
                  <a:lnTo>
                    <a:pt x="28638" y="0"/>
                  </a:lnTo>
                  <a:lnTo>
                    <a:pt x="7036562" y="0"/>
                  </a:lnTo>
                  <a:lnTo>
                    <a:pt x="7047743" y="2252"/>
                  </a:lnTo>
                  <a:lnTo>
                    <a:pt x="7056866" y="8397"/>
                  </a:lnTo>
                  <a:lnTo>
                    <a:pt x="7063011" y="17520"/>
                  </a:lnTo>
                  <a:lnTo>
                    <a:pt x="7065264" y="28702"/>
                  </a:lnTo>
                  <a:lnTo>
                    <a:pt x="7065264" y="658622"/>
                  </a:lnTo>
                  <a:lnTo>
                    <a:pt x="7063011" y="669803"/>
                  </a:lnTo>
                  <a:lnTo>
                    <a:pt x="7056866" y="678926"/>
                  </a:lnTo>
                  <a:lnTo>
                    <a:pt x="7047743" y="685071"/>
                  </a:lnTo>
                  <a:lnTo>
                    <a:pt x="7036562" y="687324"/>
                  </a:lnTo>
                  <a:lnTo>
                    <a:pt x="28638" y="687324"/>
                  </a:lnTo>
                  <a:lnTo>
                    <a:pt x="17493" y="685071"/>
                  </a:lnTo>
                  <a:lnTo>
                    <a:pt x="8389" y="678926"/>
                  </a:lnTo>
                  <a:lnTo>
                    <a:pt x="2251" y="669803"/>
                  </a:lnTo>
                  <a:lnTo>
                    <a:pt x="0" y="658622"/>
                  </a:lnTo>
                  <a:lnTo>
                    <a:pt x="0" y="28702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45463" y="3552444"/>
              <a:ext cx="7063740" cy="466725"/>
            </a:xfrm>
            <a:custGeom>
              <a:avLst/>
              <a:gdLst/>
              <a:ahLst/>
              <a:cxnLst/>
              <a:rect l="l" t="t" r="r" b="b"/>
              <a:pathLst>
                <a:path w="7063740" h="466725">
                  <a:moveTo>
                    <a:pt x="7044309" y="0"/>
                  </a:moveTo>
                  <a:lnTo>
                    <a:pt x="19431" y="0"/>
                  </a:lnTo>
                  <a:lnTo>
                    <a:pt x="11867" y="1535"/>
                  </a:lnTo>
                  <a:lnTo>
                    <a:pt x="5691" y="5714"/>
                  </a:lnTo>
                  <a:lnTo>
                    <a:pt x="1526" y="11894"/>
                  </a:lnTo>
                  <a:lnTo>
                    <a:pt x="0" y="19430"/>
                  </a:lnTo>
                  <a:lnTo>
                    <a:pt x="0" y="446912"/>
                  </a:lnTo>
                  <a:lnTo>
                    <a:pt x="1526" y="454449"/>
                  </a:lnTo>
                  <a:lnTo>
                    <a:pt x="5691" y="460628"/>
                  </a:lnTo>
                  <a:lnTo>
                    <a:pt x="11867" y="464808"/>
                  </a:lnTo>
                  <a:lnTo>
                    <a:pt x="19431" y="466343"/>
                  </a:lnTo>
                  <a:lnTo>
                    <a:pt x="7044309" y="466343"/>
                  </a:lnTo>
                  <a:lnTo>
                    <a:pt x="7051845" y="464808"/>
                  </a:lnTo>
                  <a:lnTo>
                    <a:pt x="7058025" y="460628"/>
                  </a:lnTo>
                  <a:lnTo>
                    <a:pt x="7062204" y="454449"/>
                  </a:lnTo>
                  <a:lnTo>
                    <a:pt x="7063740" y="446912"/>
                  </a:lnTo>
                  <a:lnTo>
                    <a:pt x="7063740" y="19430"/>
                  </a:lnTo>
                  <a:lnTo>
                    <a:pt x="7062204" y="11894"/>
                  </a:lnTo>
                  <a:lnTo>
                    <a:pt x="7058025" y="5715"/>
                  </a:lnTo>
                  <a:lnTo>
                    <a:pt x="7051845" y="1535"/>
                  </a:lnTo>
                  <a:lnTo>
                    <a:pt x="7044309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45463" y="3552444"/>
              <a:ext cx="7063740" cy="466725"/>
            </a:xfrm>
            <a:custGeom>
              <a:avLst/>
              <a:gdLst/>
              <a:ahLst/>
              <a:cxnLst/>
              <a:rect l="l" t="t" r="r" b="b"/>
              <a:pathLst>
                <a:path w="7063740" h="466725">
                  <a:moveTo>
                    <a:pt x="0" y="19430"/>
                  </a:moveTo>
                  <a:lnTo>
                    <a:pt x="1526" y="11894"/>
                  </a:lnTo>
                  <a:lnTo>
                    <a:pt x="5691" y="5714"/>
                  </a:lnTo>
                  <a:lnTo>
                    <a:pt x="11867" y="1535"/>
                  </a:lnTo>
                  <a:lnTo>
                    <a:pt x="19431" y="0"/>
                  </a:lnTo>
                  <a:lnTo>
                    <a:pt x="7044309" y="0"/>
                  </a:lnTo>
                  <a:lnTo>
                    <a:pt x="7051845" y="1535"/>
                  </a:lnTo>
                  <a:lnTo>
                    <a:pt x="7058025" y="5715"/>
                  </a:lnTo>
                  <a:lnTo>
                    <a:pt x="7062204" y="11894"/>
                  </a:lnTo>
                  <a:lnTo>
                    <a:pt x="7063740" y="19430"/>
                  </a:lnTo>
                  <a:lnTo>
                    <a:pt x="7063740" y="446912"/>
                  </a:lnTo>
                  <a:lnTo>
                    <a:pt x="7062204" y="454449"/>
                  </a:lnTo>
                  <a:lnTo>
                    <a:pt x="7058025" y="460628"/>
                  </a:lnTo>
                  <a:lnTo>
                    <a:pt x="7051845" y="464808"/>
                  </a:lnTo>
                  <a:lnTo>
                    <a:pt x="7044309" y="466343"/>
                  </a:lnTo>
                  <a:lnTo>
                    <a:pt x="19431" y="466343"/>
                  </a:lnTo>
                  <a:lnTo>
                    <a:pt x="11867" y="464808"/>
                  </a:lnTo>
                  <a:lnTo>
                    <a:pt x="5691" y="460628"/>
                  </a:lnTo>
                  <a:lnTo>
                    <a:pt x="1526" y="454449"/>
                  </a:lnTo>
                  <a:lnTo>
                    <a:pt x="0" y="446912"/>
                  </a:lnTo>
                  <a:lnTo>
                    <a:pt x="0" y="19430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56005" y="1636267"/>
            <a:ext cx="7343140" cy="2284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Verdana"/>
                <a:cs typeface="Verdana"/>
              </a:rPr>
              <a:t>New DHCP features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include: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900">
              <a:latin typeface="Verdana"/>
              <a:cs typeface="Verdana"/>
            </a:endParaRPr>
          </a:p>
          <a:p>
            <a:pPr marL="622935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623570" algn="l"/>
              </a:tabLst>
            </a:pPr>
            <a:r>
              <a:rPr sz="1800" b="1" spc="-5" dirty="0">
                <a:latin typeface="Verdana"/>
                <a:cs typeface="Verdana"/>
              </a:rPr>
              <a:t>Windows Server </a:t>
            </a:r>
            <a:r>
              <a:rPr sz="1800" b="1" dirty="0">
                <a:latin typeface="Verdana"/>
                <a:cs typeface="Verdana"/>
              </a:rPr>
              <a:t>2008 </a:t>
            </a:r>
            <a:r>
              <a:rPr sz="1800" b="1" spc="-5" dirty="0">
                <a:latin typeface="Verdana"/>
                <a:cs typeface="Verdana"/>
              </a:rPr>
              <a:t>Support for</a:t>
            </a:r>
            <a:r>
              <a:rPr sz="1800" b="1" spc="-3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DHCPv6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6699"/>
              </a:buClr>
              <a:buFont typeface="Verdana"/>
              <a:buChar char="•"/>
            </a:pPr>
            <a:endParaRPr sz="2200">
              <a:latin typeface="Verdana"/>
              <a:cs typeface="Verdana"/>
            </a:endParaRPr>
          </a:p>
          <a:p>
            <a:pPr marL="625475" marR="1684655" indent="-229235">
              <a:lnSpc>
                <a:spcPts val="1939"/>
              </a:lnSpc>
              <a:buClr>
                <a:srgbClr val="006699"/>
              </a:buClr>
              <a:buFont typeface="Verdana"/>
              <a:buChar char="•"/>
              <a:tabLst>
                <a:tab pos="626110" algn="l"/>
              </a:tabLst>
            </a:pPr>
            <a:r>
              <a:rPr sz="1800" b="1" spc="-5" dirty="0">
                <a:latin typeface="Verdana"/>
                <a:cs typeface="Verdana"/>
              </a:rPr>
              <a:t>Support for advanced network security  configuration using</a:t>
            </a:r>
            <a:r>
              <a:rPr sz="1800" b="1" spc="3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NAP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006699"/>
              </a:buClr>
              <a:buFont typeface="Verdana"/>
              <a:buChar char="•"/>
            </a:pPr>
            <a:endParaRPr sz="1950">
              <a:latin typeface="Verdana"/>
              <a:cs typeface="Verdana"/>
            </a:endParaRPr>
          </a:p>
          <a:p>
            <a:pPr marL="615315" indent="-229870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615950" algn="l"/>
              </a:tabLst>
            </a:pPr>
            <a:r>
              <a:rPr sz="1800" b="1" dirty="0">
                <a:latin typeface="Verdana"/>
                <a:cs typeface="Verdana"/>
              </a:rPr>
              <a:t>DHCP on </a:t>
            </a:r>
            <a:r>
              <a:rPr sz="1800" b="1" spc="-5" dirty="0">
                <a:latin typeface="Verdana"/>
                <a:cs typeface="Verdana"/>
              </a:rPr>
              <a:t>Server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Core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93547" y="5539740"/>
            <a:ext cx="8783320" cy="848994"/>
            <a:chOff x="193547" y="5539740"/>
            <a:chExt cx="8783320" cy="848994"/>
          </a:xfrm>
        </p:grpSpPr>
        <p:sp>
          <p:nvSpPr>
            <p:cNvPr id="14" name="object 14"/>
            <p:cNvSpPr/>
            <p:nvPr/>
          </p:nvSpPr>
          <p:spPr>
            <a:xfrm>
              <a:off x="217931" y="5564124"/>
              <a:ext cx="8758428" cy="82448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8119" y="5544312"/>
              <a:ext cx="8746236" cy="81229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8119" y="5544312"/>
              <a:ext cx="8746490" cy="812800"/>
            </a:xfrm>
            <a:custGeom>
              <a:avLst/>
              <a:gdLst/>
              <a:ahLst/>
              <a:cxnLst/>
              <a:rect l="l" t="t" r="r" b="b"/>
              <a:pathLst>
                <a:path w="8746490" h="812800">
                  <a:moveTo>
                    <a:pt x="0" y="135381"/>
                  </a:moveTo>
                  <a:lnTo>
                    <a:pt x="6902" y="92592"/>
                  </a:lnTo>
                  <a:lnTo>
                    <a:pt x="26122" y="55429"/>
                  </a:lnTo>
                  <a:lnTo>
                    <a:pt x="55429" y="26122"/>
                  </a:lnTo>
                  <a:lnTo>
                    <a:pt x="92592" y="6902"/>
                  </a:lnTo>
                  <a:lnTo>
                    <a:pt x="135382" y="0"/>
                  </a:lnTo>
                  <a:lnTo>
                    <a:pt x="8610854" y="0"/>
                  </a:lnTo>
                  <a:lnTo>
                    <a:pt x="8653658" y="6902"/>
                  </a:lnTo>
                  <a:lnTo>
                    <a:pt x="8690823" y="26122"/>
                  </a:lnTo>
                  <a:lnTo>
                    <a:pt x="8720124" y="55429"/>
                  </a:lnTo>
                  <a:lnTo>
                    <a:pt x="8739337" y="92592"/>
                  </a:lnTo>
                  <a:lnTo>
                    <a:pt x="8746236" y="135381"/>
                  </a:lnTo>
                  <a:lnTo>
                    <a:pt x="8746236" y="676910"/>
                  </a:lnTo>
                  <a:lnTo>
                    <a:pt x="8739337" y="719699"/>
                  </a:lnTo>
                  <a:lnTo>
                    <a:pt x="8720124" y="756862"/>
                  </a:lnTo>
                  <a:lnTo>
                    <a:pt x="8690823" y="786169"/>
                  </a:lnTo>
                  <a:lnTo>
                    <a:pt x="8653658" y="805389"/>
                  </a:lnTo>
                  <a:lnTo>
                    <a:pt x="8610854" y="812292"/>
                  </a:lnTo>
                  <a:lnTo>
                    <a:pt x="135382" y="812292"/>
                  </a:lnTo>
                  <a:lnTo>
                    <a:pt x="92592" y="805389"/>
                  </a:lnTo>
                  <a:lnTo>
                    <a:pt x="55429" y="786169"/>
                  </a:lnTo>
                  <a:lnTo>
                    <a:pt x="26122" y="756862"/>
                  </a:lnTo>
                  <a:lnTo>
                    <a:pt x="6902" y="719699"/>
                  </a:lnTo>
                  <a:lnTo>
                    <a:pt x="0" y="676910"/>
                  </a:lnTo>
                  <a:lnTo>
                    <a:pt x="0" y="135381"/>
                  </a:lnTo>
                  <a:close/>
                </a:path>
              </a:pathLst>
            </a:custGeom>
            <a:ln w="9143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16788" y="5799835"/>
            <a:ext cx="770000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Verdana"/>
                <a:cs typeface="Verdana"/>
              </a:rPr>
              <a:t>These new features were added with </a:t>
            </a:r>
            <a:r>
              <a:rPr sz="1800" b="1" spc="-5" dirty="0">
                <a:latin typeface="Verdana"/>
                <a:cs typeface="Verdana"/>
              </a:rPr>
              <a:t>Windows </a:t>
            </a:r>
            <a:r>
              <a:rPr sz="1800" b="1" dirty="0">
                <a:latin typeface="Verdana"/>
                <a:cs typeface="Verdana"/>
              </a:rPr>
              <a:t>Server</a:t>
            </a:r>
            <a:r>
              <a:rPr sz="1800" b="1" spc="2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2008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5217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How </a:t>
            </a:r>
            <a:r>
              <a:rPr dirty="0"/>
              <a:t>DHCP </a:t>
            </a:r>
            <a:r>
              <a:rPr spc="-5" dirty="0"/>
              <a:t>Allocates </a:t>
            </a:r>
            <a:r>
              <a:rPr spc="-10" dirty="0"/>
              <a:t>IP</a:t>
            </a:r>
            <a:r>
              <a:rPr spc="35" dirty="0"/>
              <a:t> </a:t>
            </a:r>
            <a:r>
              <a:rPr spc="-5" dirty="0"/>
              <a:t>Addresses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26107" y="1196339"/>
            <a:ext cx="6178550" cy="3820795"/>
            <a:chOff x="1626107" y="1196339"/>
            <a:chExt cx="6178550" cy="3820795"/>
          </a:xfrm>
        </p:grpSpPr>
        <p:sp>
          <p:nvSpPr>
            <p:cNvPr id="4" name="object 4"/>
            <p:cNvSpPr/>
            <p:nvPr/>
          </p:nvSpPr>
          <p:spPr>
            <a:xfrm>
              <a:off x="1650491" y="1778507"/>
              <a:ext cx="5638800" cy="265023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6107" y="1741931"/>
              <a:ext cx="5635752" cy="264718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06267" y="1455419"/>
              <a:ext cx="1037844" cy="129387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5399" y="3396995"/>
              <a:ext cx="1228344" cy="147827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21907" y="3851147"/>
              <a:ext cx="1678305" cy="360045"/>
            </a:xfrm>
            <a:custGeom>
              <a:avLst/>
              <a:gdLst/>
              <a:ahLst/>
              <a:cxnLst/>
              <a:rect l="l" t="t" r="r" b="b"/>
              <a:pathLst>
                <a:path w="1678304" h="360045">
                  <a:moveTo>
                    <a:pt x="1638172" y="0"/>
                  </a:moveTo>
                  <a:lnTo>
                    <a:pt x="39750" y="0"/>
                  </a:lnTo>
                  <a:lnTo>
                    <a:pt x="24270" y="3121"/>
                  </a:lnTo>
                  <a:lnTo>
                    <a:pt x="11636" y="11636"/>
                  </a:lnTo>
                  <a:lnTo>
                    <a:pt x="3121" y="24270"/>
                  </a:lnTo>
                  <a:lnTo>
                    <a:pt x="0" y="39750"/>
                  </a:lnTo>
                  <a:lnTo>
                    <a:pt x="0" y="319913"/>
                  </a:lnTo>
                  <a:lnTo>
                    <a:pt x="3121" y="335393"/>
                  </a:lnTo>
                  <a:lnTo>
                    <a:pt x="11636" y="348027"/>
                  </a:lnTo>
                  <a:lnTo>
                    <a:pt x="24270" y="356542"/>
                  </a:lnTo>
                  <a:lnTo>
                    <a:pt x="39750" y="359663"/>
                  </a:lnTo>
                  <a:lnTo>
                    <a:pt x="1638172" y="359663"/>
                  </a:lnTo>
                  <a:lnTo>
                    <a:pt x="1653653" y="356542"/>
                  </a:lnTo>
                  <a:lnTo>
                    <a:pt x="1666287" y="348027"/>
                  </a:lnTo>
                  <a:lnTo>
                    <a:pt x="1674802" y="335393"/>
                  </a:lnTo>
                  <a:lnTo>
                    <a:pt x="1677923" y="319913"/>
                  </a:lnTo>
                  <a:lnTo>
                    <a:pt x="1677923" y="39750"/>
                  </a:lnTo>
                  <a:lnTo>
                    <a:pt x="1674802" y="24270"/>
                  </a:lnTo>
                  <a:lnTo>
                    <a:pt x="1666287" y="11636"/>
                  </a:lnTo>
                  <a:lnTo>
                    <a:pt x="1653653" y="3121"/>
                  </a:lnTo>
                  <a:lnTo>
                    <a:pt x="16381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121907" y="3851147"/>
              <a:ext cx="1678305" cy="360045"/>
            </a:xfrm>
            <a:custGeom>
              <a:avLst/>
              <a:gdLst/>
              <a:ahLst/>
              <a:cxnLst/>
              <a:rect l="l" t="t" r="r" b="b"/>
              <a:pathLst>
                <a:path w="1678304" h="360045">
                  <a:moveTo>
                    <a:pt x="0" y="39750"/>
                  </a:moveTo>
                  <a:lnTo>
                    <a:pt x="3121" y="24270"/>
                  </a:lnTo>
                  <a:lnTo>
                    <a:pt x="11636" y="11636"/>
                  </a:lnTo>
                  <a:lnTo>
                    <a:pt x="24270" y="3121"/>
                  </a:lnTo>
                  <a:lnTo>
                    <a:pt x="39750" y="0"/>
                  </a:lnTo>
                  <a:lnTo>
                    <a:pt x="1638172" y="0"/>
                  </a:lnTo>
                  <a:lnTo>
                    <a:pt x="1653653" y="3121"/>
                  </a:lnTo>
                  <a:lnTo>
                    <a:pt x="1666287" y="11636"/>
                  </a:lnTo>
                  <a:lnTo>
                    <a:pt x="1674802" y="24270"/>
                  </a:lnTo>
                  <a:lnTo>
                    <a:pt x="1677923" y="39750"/>
                  </a:lnTo>
                  <a:lnTo>
                    <a:pt x="1677923" y="319913"/>
                  </a:lnTo>
                  <a:lnTo>
                    <a:pt x="1674802" y="335393"/>
                  </a:lnTo>
                  <a:lnTo>
                    <a:pt x="1666287" y="348027"/>
                  </a:lnTo>
                  <a:lnTo>
                    <a:pt x="1653653" y="356542"/>
                  </a:lnTo>
                  <a:lnTo>
                    <a:pt x="1638172" y="359663"/>
                  </a:lnTo>
                  <a:lnTo>
                    <a:pt x="39750" y="359663"/>
                  </a:lnTo>
                  <a:lnTo>
                    <a:pt x="24270" y="356542"/>
                  </a:lnTo>
                  <a:lnTo>
                    <a:pt x="11636" y="348027"/>
                  </a:lnTo>
                  <a:lnTo>
                    <a:pt x="3121" y="335393"/>
                  </a:lnTo>
                  <a:lnTo>
                    <a:pt x="0" y="319913"/>
                  </a:lnTo>
                  <a:lnTo>
                    <a:pt x="0" y="39750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19116" y="1196339"/>
              <a:ext cx="1037843" cy="129387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14727" y="3090672"/>
              <a:ext cx="1036319" cy="129387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64936" y="4328160"/>
              <a:ext cx="1028700" cy="68884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996432" y="4392879"/>
            <a:ext cx="97916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Verdana"/>
                <a:cs typeface="Verdana"/>
              </a:rPr>
              <a:t>DHCP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15" dirty="0">
                <a:latin typeface="Verdana"/>
                <a:cs typeface="Verdana"/>
              </a:rPr>
              <a:t>D</a:t>
            </a:r>
            <a:r>
              <a:rPr sz="1600" spc="-5" dirty="0">
                <a:latin typeface="Verdana"/>
                <a:cs typeface="Verdana"/>
              </a:rPr>
              <a:t>atabase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341876" y="5068823"/>
            <a:ext cx="4052570" cy="1219200"/>
            <a:chOff x="4341876" y="5068823"/>
            <a:chExt cx="4052570" cy="1219200"/>
          </a:xfrm>
        </p:grpSpPr>
        <p:sp>
          <p:nvSpPr>
            <p:cNvPr id="15" name="object 15"/>
            <p:cNvSpPr/>
            <p:nvPr/>
          </p:nvSpPr>
          <p:spPr>
            <a:xfrm>
              <a:off x="4346448" y="5073395"/>
              <a:ext cx="4043172" cy="121005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46448" y="5073395"/>
              <a:ext cx="4043679" cy="1210310"/>
            </a:xfrm>
            <a:custGeom>
              <a:avLst/>
              <a:gdLst/>
              <a:ahLst/>
              <a:cxnLst/>
              <a:rect l="l" t="t" r="r" b="b"/>
              <a:pathLst>
                <a:path w="4043679" h="1210310">
                  <a:moveTo>
                    <a:pt x="0" y="50418"/>
                  </a:moveTo>
                  <a:lnTo>
                    <a:pt x="3966" y="30807"/>
                  </a:lnTo>
                  <a:lnTo>
                    <a:pt x="14779" y="14779"/>
                  </a:lnTo>
                  <a:lnTo>
                    <a:pt x="30807" y="3966"/>
                  </a:lnTo>
                  <a:lnTo>
                    <a:pt x="50418" y="0"/>
                  </a:lnTo>
                  <a:lnTo>
                    <a:pt x="3992753" y="0"/>
                  </a:lnTo>
                  <a:lnTo>
                    <a:pt x="4012364" y="3966"/>
                  </a:lnTo>
                  <a:lnTo>
                    <a:pt x="4028392" y="14779"/>
                  </a:lnTo>
                  <a:lnTo>
                    <a:pt x="4039205" y="30807"/>
                  </a:lnTo>
                  <a:lnTo>
                    <a:pt x="4043172" y="50418"/>
                  </a:lnTo>
                  <a:lnTo>
                    <a:pt x="4043172" y="1159636"/>
                  </a:lnTo>
                  <a:lnTo>
                    <a:pt x="4039205" y="1179259"/>
                  </a:lnTo>
                  <a:lnTo>
                    <a:pt x="4028392" y="1195285"/>
                  </a:lnTo>
                  <a:lnTo>
                    <a:pt x="4012364" y="1206092"/>
                  </a:lnTo>
                  <a:lnTo>
                    <a:pt x="3992753" y="1210055"/>
                  </a:lnTo>
                  <a:lnTo>
                    <a:pt x="50418" y="1210055"/>
                  </a:lnTo>
                  <a:lnTo>
                    <a:pt x="30807" y="1206092"/>
                  </a:lnTo>
                  <a:lnTo>
                    <a:pt x="14779" y="1195285"/>
                  </a:lnTo>
                  <a:lnTo>
                    <a:pt x="3966" y="1179259"/>
                  </a:lnTo>
                  <a:lnTo>
                    <a:pt x="0" y="1159636"/>
                  </a:lnTo>
                  <a:lnTo>
                    <a:pt x="0" y="50418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358409" y="5140655"/>
            <a:ext cx="4019550" cy="976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" marR="110489" algn="just">
              <a:lnSpc>
                <a:spcPct val="130000"/>
              </a:lnSpc>
              <a:spcBef>
                <a:spcPts val="100"/>
              </a:spcBef>
            </a:pPr>
            <a:r>
              <a:rPr sz="1600" dirty="0">
                <a:latin typeface="Verdana"/>
                <a:cs typeface="Verdana"/>
              </a:rPr>
              <a:t>IP </a:t>
            </a:r>
            <a:r>
              <a:rPr sz="1600" spc="-5" dirty="0">
                <a:latin typeface="Verdana"/>
                <a:cs typeface="Verdana"/>
              </a:rPr>
              <a:t>Address1: Leased to DHCP Client1  </a:t>
            </a:r>
            <a:r>
              <a:rPr sz="1600" dirty="0">
                <a:latin typeface="Verdana"/>
                <a:cs typeface="Verdana"/>
              </a:rPr>
              <a:t>IP </a:t>
            </a:r>
            <a:r>
              <a:rPr sz="1600" spc="-5" dirty="0">
                <a:latin typeface="Verdana"/>
                <a:cs typeface="Verdana"/>
              </a:rPr>
              <a:t>Address2: Leased to DHCP Client2  </a:t>
            </a:r>
            <a:r>
              <a:rPr sz="1600" dirty="0">
                <a:latin typeface="Verdana"/>
                <a:cs typeface="Verdana"/>
              </a:rPr>
              <a:t>IP </a:t>
            </a:r>
            <a:r>
              <a:rPr sz="1600" spc="-5" dirty="0">
                <a:latin typeface="Verdana"/>
                <a:cs typeface="Verdana"/>
              </a:rPr>
              <a:t>Address3: </a:t>
            </a:r>
            <a:r>
              <a:rPr sz="1600" spc="-10" dirty="0">
                <a:latin typeface="Verdana"/>
                <a:cs typeface="Verdana"/>
              </a:rPr>
              <a:t>Available </a:t>
            </a:r>
            <a:r>
              <a:rPr sz="1600" spc="-5" dirty="0">
                <a:latin typeface="Verdana"/>
                <a:cs typeface="Verdana"/>
              </a:rPr>
              <a:t>to be</a:t>
            </a:r>
            <a:r>
              <a:rPr sz="1600" spc="7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leased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219253" y="1398841"/>
            <a:ext cx="2084070" cy="896619"/>
            <a:chOff x="6219253" y="1398841"/>
            <a:chExt cx="2084070" cy="896619"/>
          </a:xfrm>
        </p:grpSpPr>
        <p:sp>
          <p:nvSpPr>
            <p:cNvPr id="19" name="object 19"/>
            <p:cNvSpPr/>
            <p:nvPr/>
          </p:nvSpPr>
          <p:spPr>
            <a:xfrm>
              <a:off x="6224015" y="1403603"/>
              <a:ext cx="2074545" cy="887094"/>
            </a:xfrm>
            <a:custGeom>
              <a:avLst/>
              <a:gdLst/>
              <a:ahLst/>
              <a:cxnLst/>
              <a:rect l="l" t="t" r="r" b="b"/>
              <a:pathLst>
                <a:path w="2074545" h="887094">
                  <a:moveTo>
                    <a:pt x="2040889" y="0"/>
                  </a:moveTo>
                  <a:lnTo>
                    <a:pt x="33274" y="0"/>
                  </a:lnTo>
                  <a:lnTo>
                    <a:pt x="20306" y="2609"/>
                  </a:lnTo>
                  <a:lnTo>
                    <a:pt x="9731" y="9731"/>
                  </a:lnTo>
                  <a:lnTo>
                    <a:pt x="2609" y="20306"/>
                  </a:lnTo>
                  <a:lnTo>
                    <a:pt x="0" y="33274"/>
                  </a:lnTo>
                  <a:lnTo>
                    <a:pt x="0" y="853694"/>
                  </a:lnTo>
                  <a:lnTo>
                    <a:pt x="2609" y="866661"/>
                  </a:lnTo>
                  <a:lnTo>
                    <a:pt x="9731" y="877236"/>
                  </a:lnTo>
                  <a:lnTo>
                    <a:pt x="20306" y="884358"/>
                  </a:lnTo>
                  <a:lnTo>
                    <a:pt x="33274" y="886968"/>
                  </a:lnTo>
                  <a:lnTo>
                    <a:pt x="2040889" y="886968"/>
                  </a:lnTo>
                  <a:lnTo>
                    <a:pt x="2053857" y="884358"/>
                  </a:lnTo>
                  <a:lnTo>
                    <a:pt x="2064432" y="877236"/>
                  </a:lnTo>
                  <a:lnTo>
                    <a:pt x="2071554" y="866661"/>
                  </a:lnTo>
                  <a:lnTo>
                    <a:pt x="2074164" y="853694"/>
                  </a:lnTo>
                  <a:lnTo>
                    <a:pt x="2074164" y="33274"/>
                  </a:lnTo>
                  <a:lnTo>
                    <a:pt x="2071554" y="20306"/>
                  </a:lnTo>
                  <a:lnTo>
                    <a:pt x="2064432" y="9731"/>
                  </a:lnTo>
                  <a:lnTo>
                    <a:pt x="2053857" y="2609"/>
                  </a:lnTo>
                  <a:lnTo>
                    <a:pt x="20408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24015" y="1403603"/>
              <a:ext cx="2074545" cy="887094"/>
            </a:xfrm>
            <a:custGeom>
              <a:avLst/>
              <a:gdLst/>
              <a:ahLst/>
              <a:cxnLst/>
              <a:rect l="l" t="t" r="r" b="b"/>
              <a:pathLst>
                <a:path w="2074545" h="887094">
                  <a:moveTo>
                    <a:pt x="0" y="33274"/>
                  </a:moveTo>
                  <a:lnTo>
                    <a:pt x="2609" y="20306"/>
                  </a:lnTo>
                  <a:lnTo>
                    <a:pt x="9731" y="9731"/>
                  </a:lnTo>
                  <a:lnTo>
                    <a:pt x="20306" y="2609"/>
                  </a:lnTo>
                  <a:lnTo>
                    <a:pt x="33274" y="0"/>
                  </a:lnTo>
                  <a:lnTo>
                    <a:pt x="2040889" y="0"/>
                  </a:lnTo>
                  <a:lnTo>
                    <a:pt x="2053857" y="2609"/>
                  </a:lnTo>
                  <a:lnTo>
                    <a:pt x="2064432" y="9731"/>
                  </a:lnTo>
                  <a:lnTo>
                    <a:pt x="2071554" y="20306"/>
                  </a:lnTo>
                  <a:lnTo>
                    <a:pt x="2074164" y="33274"/>
                  </a:lnTo>
                  <a:lnTo>
                    <a:pt x="2074164" y="853694"/>
                  </a:lnTo>
                  <a:lnTo>
                    <a:pt x="2071554" y="866661"/>
                  </a:lnTo>
                  <a:lnTo>
                    <a:pt x="2064432" y="877236"/>
                  </a:lnTo>
                  <a:lnTo>
                    <a:pt x="2053857" y="884358"/>
                  </a:lnTo>
                  <a:lnTo>
                    <a:pt x="2040889" y="886968"/>
                  </a:lnTo>
                  <a:lnTo>
                    <a:pt x="33274" y="886968"/>
                  </a:lnTo>
                  <a:lnTo>
                    <a:pt x="20306" y="884358"/>
                  </a:lnTo>
                  <a:lnTo>
                    <a:pt x="9731" y="877236"/>
                  </a:lnTo>
                  <a:lnTo>
                    <a:pt x="2609" y="866661"/>
                  </a:lnTo>
                  <a:lnTo>
                    <a:pt x="0" y="853694"/>
                  </a:lnTo>
                  <a:lnTo>
                    <a:pt x="0" y="33274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314313" y="1467358"/>
            <a:ext cx="186055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DHCP Client2:  </a:t>
            </a:r>
            <a:r>
              <a:rPr sz="1600" dirty="0">
                <a:latin typeface="Verdana"/>
                <a:cs typeface="Verdana"/>
              </a:rPr>
              <a:t>IP </a:t>
            </a:r>
            <a:r>
              <a:rPr sz="1600" spc="-5" dirty="0">
                <a:latin typeface="Verdana"/>
                <a:cs typeface="Verdana"/>
              </a:rPr>
              <a:t>configuration  from </a:t>
            </a:r>
            <a:r>
              <a:rPr sz="1600" spc="-10" dirty="0">
                <a:latin typeface="Verdana"/>
                <a:cs typeface="Verdana"/>
              </a:rPr>
              <a:t>DHCP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server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37781" y="1566481"/>
            <a:ext cx="2248535" cy="898525"/>
            <a:chOff x="537781" y="1566481"/>
            <a:chExt cx="2248535" cy="898525"/>
          </a:xfrm>
        </p:grpSpPr>
        <p:sp>
          <p:nvSpPr>
            <p:cNvPr id="23" name="object 23"/>
            <p:cNvSpPr/>
            <p:nvPr/>
          </p:nvSpPr>
          <p:spPr>
            <a:xfrm>
              <a:off x="542544" y="1571244"/>
              <a:ext cx="2239010" cy="889000"/>
            </a:xfrm>
            <a:custGeom>
              <a:avLst/>
              <a:gdLst/>
              <a:ahLst/>
              <a:cxnLst/>
              <a:rect l="l" t="t" r="r" b="b"/>
              <a:pathLst>
                <a:path w="2239010" h="889000">
                  <a:moveTo>
                    <a:pt x="2205355" y="0"/>
                  </a:moveTo>
                  <a:lnTo>
                    <a:pt x="33362" y="0"/>
                  </a:lnTo>
                  <a:lnTo>
                    <a:pt x="20375" y="2629"/>
                  </a:lnTo>
                  <a:lnTo>
                    <a:pt x="9771" y="9794"/>
                  </a:lnTo>
                  <a:lnTo>
                    <a:pt x="2621" y="20413"/>
                  </a:lnTo>
                  <a:lnTo>
                    <a:pt x="0" y="33400"/>
                  </a:lnTo>
                  <a:lnTo>
                    <a:pt x="0" y="855090"/>
                  </a:lnTo>
                  <a:lnTo>
                    <a:pt x="2621" y="868078"/>
                  </a:lnTo>
                  <a:lnTo>
                    <a:pt x="9771" y="878697"/>
                  </a:lnTo>
                  <a:lnTo>
                    <a:pt x="20375" y="885862"/>
                  </a:lnTo>
                  <a:lnTo>
                    <a:pt x="33362" y="888491"/>
                  </a:lnTo>
                  <a:lnTo>
                    <a:pt x="2205355" y="888491"/>
                  </a:lnTo>
                  <a:lnTo>
                    <a:pt x="2218342" y="885862"/>
                  </a:lnTo>
                  <a:lnTo>
                    <a:pt x="2228961" y="878697"/>
                  </a:lnTo>
                  <a:lnTo>
                    <a:pt x="2236126" y="868078"/>
                  </a:lnTo>
                  <a:lnTo>
                    <a:pt x="2238756" y="855090"/>
                  </a:lnTo>
                  <a:lnTo>
                    <a:pt x="2238756" y="33400"/>
                  </a:lnTo>
                  <a:lnTo>
                    <a:pt x="2236126" y="20413"/>
                  </a:lnTo>
                  <a:lnTo>
                    <a:pt x="2228961" y="9794"/>
                  </a:lnTo>
                  <a:lnTo>
                    <a:pt x="2218342" y="2629"/>
                  </a:lnTo>
                  <a:lnTo>
                    <a:pt x="22053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42544" y="1571244"/>
              <a:ext cx="2239010" cy="889000"/>
            </a:xfrm>
            <a:custGeom>
              <a:avLst/>
              <a:gdLst/>
              <a:ahLst/>
              <a:cxnLst/>
              <a:rect l="l" t="t" r="r" b="b"/>
              <a:pathLst>
                <a:path w="2239010" h="889000">
                  <a:moveTo>
                    <a:pt x="0" y="33400"/>
                  </a:moveTo>
                  <a:lnTo>
                    <a:pt x="2621" y="20413"/>
                  </a:lnTo>
                  <a:lnTo>
                    <a:pt x="9771" y="9794"/>
                  </a:lnTo>
                  <a:lnTo>
                    <a:pt x="20375" y="2629"/>
                  </a:lnTo>
                  <a:lnTo>
                    <a:pt x="33362" y="0"/>
                  </a:lnTo>
                  <a:lnTo>
                    <a:pt x="2205355" y="0"/>
                  </a:lnTo>
                  <a:lnTo>
                    <a:pt x="2218342" y="2629"/>
                  </a:lnTo>
                  <a:lnTo>
                    <a:pt x="2228961" y="9794"/>
                  </a:lnTo>
                  <a:lnTo>
                    <a:pt x="2236126" y="20413"/>
                  </a:lnTo>
                  <a:lnTo>
                    <a:pt x="2238756" y="33400"/>
                  </a:lnTo>
                  <a:lnTo>
                    <a:pt x="2238756" y="855090"/>
                  </a:lnTo>
                  <a:lnTo>
                    <a:pt x="2236126" y="868078"/>
                  </a:lnTo>
                  <a:lnTo>
                    <a:pt x="2228961" y="878697"/>
                  </a:lnTo>
                  <a:lnTo>
                    <a:pt x="2218342" y="885862"/>
                  </a:lnTo>
                  <a:lnTo>
                    <a:pt x="2205355" y="888491"/>
                  </a:lnTo>
                  <a:lnTo>
                    <a:pt x="33362" y="888491"/>
                  </a:lnTo>
                  <a:lnTo>
                    <a:pt x="20375" y="885862"/>
                  </a:lnTo>
                  <a:lnTo>
                    <a:pt x="9771" y="878697"/>
                  </a:lnTo>
                  <a:lnTo>
                    <a:pt x="2621" y="868078"/>
                  </a:lnTo>
                  <a:lnTo>
                    <a:pt x="0" y="855090"/>
                  </a:lnTo>
                  <a:lnTo>
                    <a:pt x="0" y="33400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31647" y="1635632"/>
            <a:ext cx="201930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Verdana"/>
                <a:cs typeface="Verdana"/>
              </a:rPr>
              <a:t>Non-DHCP</a:t>
            </a:r>
            <a:r>
              <a:rPr sz="1600" b="1" spc="-6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Client:  </a:t>
            </a:r>
            <a:r>
              <a:rPr sz="1600" spc="-5" dirty="0">
                <a:latin typeface="Verdana"/>
                <a:cs typeface="Verdana"/>
              </a:rPr>
              <a:t>Static </a:t>
            </a:r>
            <a:r>
              <a:rPr sz="1600" dirty="0">
                <a:latin typeface="Verdana"/>
                <a:cs typeface="Verdana"/>
              </a:rPr>
              <a:t>IP  </a:t>
            </a:r>
            <a:r>
              <a:rPr sz="1600" spc="-5" dirty="0">
                <a:latin typeface="Verdana"/>
                <a:cs typeface="Verdana"/>
              </a:rPr>
              <a:t>configuration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068133" y="4411789"/>
            <a:ext cx="2196465" cy="896619"/>
            <a:chOff x="1068133" y="4411789"/>
            <a:chExt cx="2196465" cy="896619"/>
          </a:xfrm>
        </p:grpSpPr>
        <p:sp>
          <p:nvSpPr>
            <p:cNvPr id="27" name="object 27"/>
            <p:cNvSpPr/>
            <p:nvPr/>
          </p:nvSpPr>
          <p:spPr>
            <a:xfrm>
              <a:off x="1072896" y="4416552"/>
              <a:ext cx="2186940" cy="887094"/>
            </a:xfrm>
            <a:custGeom>
              <a:avLst/>
              <a:gdLst/>
              <a:ahLst/>
              <a:cxnLst/>
              <a:rect l="l" t="t" r="r" b="b"/>
              <a:pathLst>
                <a:path w="2186940" h="887095">
                  <a:moveTo>
                    <a:pt x="2153666" y="0"/>
                  </a:moveTo>
                  <a:lnTo>
                    <a:pt x="33312" y="0"/>
                  </a:lnTo>
                  <a:lnTo>
                    <a:pt x="20343" y="2609"/>
                  </a:lnTo>
                  <a:lnTo>
                    <a:pt x="9755" y="9731"/>
                  </a:lnTo>
                  <a:lnTo>
                    <a:pt x="2617" y="20306"/>
                  </a:lnTo>
                  <a:lnTo>
                    <a:pt x="0" y="33274"/>
                  </a:lnTo>
                  <a:lnTo>
                    <a:pt x="0" y="853694"/>
                  </a:lnTo>
                  <a:lnTo>
                    <a:pt x="2617" y="866661"/>
                  </a:lnTo>
                  <a:lnTo>
                    <a:pt x="9755" y="877236"/>
                  </a:lnTo>
                  <a:lnTo>
                    <a:pt x="20343" y="884358"/>
                  </a:lnTo>
                  <a:lnTo>
                    <a:pt x="33312" y="886968"/>
                  </a:lnTo>
                  <a:lnTo>
                    <a:pt x="2153666" y="886968"/>
                  </a:lnTo>
                  <a:lnTo>
                    <a:pt x="2166633" y="884358"/>
                  </a:lnTo>
                  <a:lnTo>
                    <a:pt x="2177208" y="877236"/>
                  </a:lnTo>
                  <a:lnTo>
                    <a:pt x="2184330" y="866661"/>
                  </a:lnTo>
                  <a:lnTo>
                    <a:pt x="2186940" y="853694"/>
                  </a:lnTo>
                  <a:lnTo>
                    <a:pt x="2186940" y="33274"/>
                  </a:lnTo>
                  <a:lnTo>
                    <a:pt x="2184330" y="20306"/>
                  </a:lnTo>
                  <a:lnTo>
                    <a:pt x="2177208" y="9731"/>
                  </a:lnTo>
                  <a:lnTo>
                    <a:pt x="2166633" y="2609"/>
                  </a:lnTo>
                  <a:lnTo>
                    <a:pt x="21536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72896" y="4416552"/>
              <a:ext cx="2186940" cy="887094"/>
            </a:xfrm>
            <a:custGeom>
              <a:avLst/>
              <a:gdLst/>
              <a:ahLst/>
              <a:cxnLst/>
              <a:rect l="l" t="t" r="r" b="b"/>
              <a:pathLst>
                <a:path w="2186940" h="887095">
                  <a:moveTo>
                    <a:pt x="0" y="33274"/>
                  </a:moveTo>
                  <a:lnTo>
                    <a:pt x="2617" y="20306"/>
                  </a:lnTo>
                  <a:lnTo>
                    <a:pt x="9755" y="9731"/>
                  </a:lnTo>
                  <a:lnTo>
                    <a:pt x="20343" y="2609"/>
                  </a:lnTo>
                  <a:lnTo>
                    <a:pt x="33312" y="0"/>
                  </a:lnTo>
                  <a:lnTo>
                    <a:pt x="2153666" y="0"/>
                  </a:lnTo>
                  <a:lnTo>
                    <a:pt x="2166633" y="2609"/>
                  </a:lnTo>
                  <a:lnTo>
                    <a:pt x="2177208" y="9731"/>
                  </a:lnTo>
                  <a:lnTo>
                    <a:pt x="2184330" y="20306"/>
                  </a:lnTo>
                  <a:lnTo>
                    <a:pt x="2186940" y="33274"/>
                  </a:lnTo>
                  <a:lnTo>
                    <a:pt x="2186940" y="853694"/>
                  </a:lnTo>
                  <a:lnTo>
                    <a:pt x="2184330" y="866661"/>
                  </a:lnTo>
                  <a:lnTo>
                    <a:pt x="2177208" y="877236"/>
                  </a:lnTo>
                  <a:lnTo>
                    <a:pt x="2166633" y="884358"/>
                  </a:lnTo>
                  <a:lnTo>
                    <a:pt x="2153666" y="886968"/>
                  </a:lnTo>
                  <a:lnTo>
                    <a:pt x="33312" y="886968"/>
                  </a:lnTo>
                  <a:lnTo>
                    <a:pt x="20343" y="884358"/>
                  </a:lnTo>
                  <a:lnTo>
                    <a:pt x="9755" y="877236"/>
                  </a:lnTo>
                  <a:lnTo>
                    <a:pt x="2617" y="866661"/>
                  </a:lnTo>
                  <a:lnTo>
                    <a:pt x="0" y="853694"/>
                  </a:lnTo>
                  <a:lnTo>
                    <a:pt x="0" y="33274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161999" y="4481322"/>
            <a:ext cx="1859914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DHCP Client1:  </a:t>
            </a:r>
            <a:r>
              <a:rPr sz="1600" dirty="0">
                <a:latin typeface="Verdana"/>
                <a:cs typeface="Verdana"/>
              </a:rPr>
              <a:t>IP </a:t>
            </a:r>
            <a:r>
              <a:rPr sz="1600" spc="-5" dirty="0">
                <a:latin typeface="Verdana"/>
                <a:cs typeface="Verdana"/>
              </a:rPr>
              <a:t>configuration  from </a:t>
            </a:r>
            <a:r>
              <a:rPr sz="1600" spc="-10" dirty="0">
                <a:latin typeface="Verdana"/>
                <a:cs typeface="Verdana"/>
              </a:rPr>
              <a:t>DHCP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server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080004" y="2417063"/>
            <a:ext cx="2473960" cy="1559560"/>
          </a:xfrm>
          <a:custGeom>
            <a:avLst/>
            <a:gdLst/>
            <a:ahLst/>
            <a:cxnLst/>
            <a:rect l="l" t="t" r="r" b="b"/>
            <a:pathLst>
              <a:path w="2473960" h="1559560">
                <a:moveTo>
                  <a:pt x="1955292" y="1379220"/>
                </a:moveTo>
                <a:lnTo>
                  <a:pt x="1643126" y="1199388"/>
                </a:lnTo>
                <a:lnTo>
                  <a:pt x="1643126" y="1289685"/>
                </a:lnTo>
                <a:lnTo>
                  <a:pt x="312166" y="1289685"/>
                </a:lnTo>
                <a:lnTo>
                  <a:pt x="312166" y="1199388"/>
                </a:lnTo>
                <a:lnTo>
                  <a:pt x="0" y="1379220"/>
                </a:lnTo>
                <a:lnTo>
                  <a:pt x="312166" y="1559052"/>
                </a:lnTo>
                <a:lnTo>
                  <a:pt x="312166" y="1468755"/>
                </a:lnTo>
                <a:lnTo>
                  <a:pt x="1643126" y="1468755"/>
                </a:lnTo>
                <a:lnTo>
                  <a:pt x="1643126" y="1559052"/>
                </a:lnTo>
                <a:lnTo>
                  <a:pt x="1955292" y="1379220"/>
                </a:lnTo>
                <a:close/>
              </a:path>
              <a:path w="2473960" h="1559560">
                <a:moveTo>
                  <a:pt x="2473452" y="211074"/>
                </a:moveTo>
                <a:lnTo>
                  <a:pt x="2305812" y="0"/>
                </a:lnTo>
                <a:lnTo>
                  <a:pt x="2138172" y="211074"/>
                </a:lnTo>
                <a:lnTo>
                  <a:pt x="2221992" y="211074"/>
                </a:lnTo>
                <a:lnTo>
                  <a:pt x="2221992" y="843534"/>
                </a:lnTo>
                <a:lnTo>
                  <a:pt x="2138172" y="843534"/>
                </a:lnTo>
                <a:lnTo>
                  <a:pt x="2305812" y="1054608"/>
                </a:lnTo>
                <a:lnTo>
                  <a:pt x="2473452" y="843534"/>
                </a:lnTo>
                <a:lnTo>
                  <a:pt x="2389632" y="843534"/>
                </a:lnTo>
                <a:lnTo>
                  <a:pt x="2389632" y="211074"/>
                </a:lnTo>
                <a:lnTo>
                  <a:pt x="2473452" y="211074"/>
                </a:lnTo>
                <a:close/>
              </a:path>
            </a:pathLst>
          </a:custGeom>
          <a:solidFill>
            <a:srgbClr val="FF0000">
              <a:alpha val="7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199257" y="2799714"/>
            <a:ext cx="4487545" cy="1364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6253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Verdana"/>
                <a:cs typeface="Verdana"/>
              </a:rPr>
              <a:t>Lease </a:t>
            </a:r>
            <a:r>
              <a:rPr sz="1600" spc="-15" dirty="0">
                <a:latin typeface="Verdana"/>
                <a:cs typeface="Verdana"/>
              </a:rPr>
              <a:t>Renewal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Verdana"/>
                <a:cs typeface="Verdana"/>
              </a:rPr>
              <a:t>Lease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Generation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15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latin typeface="Verdana"/>
                <a:cs typeface="Verdana"/>
              </a:rPr>
              <a:t>DHCP</a:t>
            </a:r>
            <a:r>
              <a:rPr sz="1600" b="1" spc="-6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Server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5499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How </a:t>
            </a:r>
            <a:r>
              <a:rPr dirty="0"/>
              <a:t>DHCP </a:t>
            </a:r>
            <a:r>
              <a:rPr spc="-5" dirty="0"/>
              <a:t>Lease </a:t>
            </a:r>
            <a:r>
              <a:rPr spc="-10" dirty="0"/>
              <a:t>Generation</a:t>
            </a:r>
            <a:r>
              <a:rPr spc="35" dirty="0"/>
              <a:t> </a:t>
            </a:r>
            <a:r>
              <a:rPr spc="-5" dirty="0"/>
              <a:t>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31797" y="4292150"/>
            <a:ext cx="4521200" cy="39814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56235">
              <a:lnSpc>
                <a:spcPts val="1555"/>
              </a:lnSpc>
              <a:spcBef>
                <a:spcPts val="10"/>
              </a:spcBef>
            </a:pPr>
            <a:r>
              <a:rPr sz="1400" b="1" spc="-5" dirty="0">
                <a:latin typeface="Verdana"/>
                <a:cs typeface="Verdana"/>
              </a:rPr>
              <a:t>DHCP client broadcasts </a:t>
            </a:r>
            <a:r>
              <a:rPr sz="1400" b="1" dirty="0">
                <a:latin typeface="Verdana"/>
                <a:cs typeface="Verdana"/>
              </a:rPr>
              <a:t>a</a:t>
            </a:r>
            <a:r>
              <a:rPr sz="1400" b="1" spc="-6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DHCPDISCOVER</a:t>
            </a:r>
            <a:endParaRPr sz="1400">
              <a:latin typeface="Verdana"/>
              <a:cs typeface="Verdana"/>
            </a:endParaRPr>
          </a:p>
          <a:p>
            <a:pPr>
              <a:lnSpc>
                <a:spcPts val="1555"/>
              </a:lnSpc>
              <a:tabLst>
                <a:tab pos="356235" algn="l"/>
              </a:tabLst>
            </a:pPr>
            <a:r>
              <a:rPr sz="2100" b="1" baseline="23809" dirty="0">
                <a:solidFill>
                  <a:srgbClr val="990033"/>
                </a:solidFill>
                <a:latin typeface="Verdana"/>
                <a:cs typeface="Verdana"/>
              </a:rPr>
              <a:t>1	</a:t>
            </a:r>
            <a:r>
              <a:rPr sz="1400" b="1" spc="-5" dirty="0">
                <a:latin typeface="Verdana"/>
                <a:cs typeface="Verdana"/>
              </a:rPr>
              <a:t>packet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34705" y="4288345"/>
            <a:ext cx="5387975" cy="438150"/>
            <a:chOff x="1834705" y="4288345"/>
            <a:chExt cx="5387975" cy="438150"/>
          </a:xfrm>
        </p:grpSpPr>
        <p:sp>
          <p:nvSpPr>
            <p:cNvPr id="5" name="object 5"/>
            <p:cNvSpPr/>
            <p:nvPr/>
          </p:nvSpPr>
          <p:spPr>
            <a:xfrm>
              <a:off x="2008631" y="4293108"/>
              <a:ext cx="5209540" cy="428625"/>
            </a:xfrm>
            <a:custGeom>
              <a:avLst/>
              <a:gdLst/>
              <a:ahLst/>
              <a:cxnLst/>
              <a:rect l="l" t="t" r="r" b="b"/>
              <a:pathLst>
                <a:path w="5209540" h="428625">
                  <a:moveTo>
                    <a:pt x="5201031" y="0"/>
                  </a:moveTo>
                  <a:lnTo>
                    <a:pt x="8000" y="0"/>
                  </a:lnTo>
                  <a:lnTo>
                    <a:pt x="0" y="8001"/>
                  </a:lnTo>
                  <a:lnTo>
                    <a:pt x="0" y="420243"/>
                  </a:lnTo>
                  <a:lnTo>
                    <a:pt x="8000" y="428244"/>
                  </a:lnTo>
                  <a:lnTo>
                    <a:pt x="5201031" y="428244"/>
                  </a:lnTo>
                  <a:lnTo>
                    <a:pt x="5209032" y="420243"/>
                  </a:lnTo>
                  <a:lnTo>
                    <a:pt x="5209032" y="8001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08631" y="4293108"/>
              <a:ext cx="5209540" cy="428625"/>
            </a:xfrm>
            <a:custGeom>
              <a:avLst/>
              <a:gdLst/>
              <a:ahLst/>
              <a:cxnLst/>
              <a:rect l="l" t="t" r="r" b="b"/>
              <a:pathLst>
                <a:path w="5209540" h="428625">
                  <a:moveTo>
                    <a:pt x="0" y="17907"/>
                  </a:moveTo>
                  <a:lnTo>
                    <a:pt x="0" y="8001"/>
                  </a:lnTo>
                  <a:lnTo>
                    <a:pt x="8000" y="0"/>
                  </a:lnTo>
                  <a:lnTo>
                    <a:pt x="17906" y="0"/>
                  </a:lnTo>
                  <a:lnTo>
                    <a:pt x="5191125" y="0"/>
                  </a:lnTo>
                  <a:lnTo>
                    <a:pt x="5201031" y="0"/>
                  </a:lnTo>
                  <a:lnTo>
                    <a:pt x="5209032" y="8001"/>
                  </a:lnTo>
                  <a:lnTo>
                    <a:pt x="5209032" y="17907"/>
                  </a:lnTo>
                  <a:lnTo>
                    <a:pt x="5209032" y="410337"/>
                  </a:lnTo>
                  <a:lnTo>
                    <a:pt x="5209032" y="420243"/>
                  </a:lnTo>
                  <a:lnTo>
                    <a:pt x="5201031" y="428244"/>
                  </a:lnTo>
                  <a:lnTo>
                    <a:pt x="5191125" y="428244"/>
                  </a:lnTo>
                  <a:lnTo>
                    <a:pt x="17906" y="428244"/>
                  </a:lnTo>
                  <a:lnTo>
                    <a:pt x="8000" y="428244"/>
                  </a:lnTo>
                  <a:lnTo>
                    <a:pt x="0" y="420243"/>
                  </a:lnTo>
                  <a:lnTo>
                    <a:pt x="0" y="410337"/>
                  </a:lnTo>
                  <a:lnTo>
                    <a:pt x="0" y="17907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39467" y="4341876"/>
              <a:ext cx="284988" cy="33070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39467" y="4341876"/>
              <a:ext cx="285115" cy="330835"/>
            </a:xfrm>
            <a:custGeom>
              <a:avLst/>
              <a:gdLst/>
              <a:ahLst/>
              <a:cxnLst/>
              <a:rect l="l" t="t" r="r" b="b"/>
              <a:pathLst>
                <a:path w="285114" h="330835">
                  <a:moveTo>
                    <a:pt x="0" y="330707"/>
                  </a:moveTo>
                  <a:lnTo>
                    <a:pt x="284988" y="330707"/>
                  </a:lnTo>
                  <a:lnTo>
                    <a:pt x="284988" y="0"/>
                  </a:lnTo>
                  <a:lnTo>
                    <a:pt x="0" y="0"/>
                  </a:lnTo>
                  <a:lnTo>
                    <a:pt x="0" y="33070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931797" y="4889304"/>
            <a:ext cx="4925695" cy="23304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  <a:tabLst>
                <a:tab pos="356235" algn="l"/>
              </a:tabLst>
            </a:pPr>
            <a:r>
              <a:rPr sz="2100" b="1" baseline="-3968" dirty="0">
                <a:solidFill>
                  <a:srgbClr val="990033"/>
                </a:solidFill>
                <a:latin typeface="Verdana"/>
                <a:cs typeface="Verdana"/>
              </a:rPr>
              <a:t>2	</a:t>
            </a:r>
            <a:r>
              <a:rPr sz="1400" b="1" spc="-5" dirty="0">
                <a:latin typeface="Verdana"/>
                <a:cs typeface="Verdana"/>
              </a:rPr>
              <a:t>DHCP servers broadcast </a:t>
            </a:r>
            <a:r>
              <a:rPr sz="1400" b="1" dirty="0">
                <a:latin typeface="Verdana"/>
                <a:cs typeface="Verdana"/>
              </a:rPr>
              <a:t>a </a:t>
            </a:r>
            <a:r>
              <a:rPr sz="1400" b="1" spc="-5" dirty="0">
                <a:latin typeface="Verdana"/>
                <a:cs typeface="Verdana"/>
              </a:rPr>
              <a:t>DHCPOFFER</a:t>
            </a:r>
            <a:r>
              <a:rPr sz="1400" b="1" spc="-6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packet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834705" y="4794313"/>
            <a:ext cx="5387975" cy="438150"/>
            <a:chOff x="1834705" y="4794313"/>
            <a:chExt cx="5387975" cy="438150"/>
          </a:xfrm>
        </p:grpSpPr>
        <p:sp>
          <p:nvSpPr>
            <p:cNvPr id="11" name="object 11"/>
            <p:cNvSpPr/>
            <p:nvPr/>
          </p:nvSpPr>
          <p:spPr>
            <a:xfrm>
              <a:off x="2008631" y="4799076"/>
              <a:ext cx="5209540" cy="428625"/>
            </a:xfrm>
            <a:custGeom>
              <a:avLst/>
              <a:gdLst/>
              <a:ahLst/>
              <a:cxnLst/>
              <a:rect l="l" t="t" r="r" b="b"/>
              <a:pathLst>
                <a:path w="5209540" h="428625">
                  <a:moveTo>
                    <a:pt x="5201031" y="0"/>
                  </a:moveTo>
                  <a:lnTo>
                    <a:pt x="8000" y="0"/>
                  </a:lnTo>
                  <a:lnTo>
                    <a:pt x="0" y="8000"/>
                  </a:lnTo>
                  <a:lnTo>
                    <a:pt x="0" y="420243"/>
                  </a:lnTo>
                  <a:lnTo>
                    <a:pt x="8000" y="428244"/>
                  </a:lnTo>
                  <a:lnTo>
                    <a:pt x="5201031" y="428244"/>
                  </a:lnTo>
                  <a:lnTo>
                    <a:pt x="5209032" y="420243"/>
                  </a:lnTo>
                  <a:lnTo>
                    <a:pt x="5209032" y="800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008631" y="4799076"/>
              <a:ext cx="5209540" cy="428625"/>
            </a:xfrm>
            <a:custGeom>
              <a:avLst/>
              <a:gdLst/>
              <a:ahLst/>
              <a:cxnLst/>
              <a:rect l="l" t="t" r="r" b="b"/>
              <a:pathLst>
                <a:path w="5209540" h="428625">
                  <a:moveTo>
                    <a:pt x="0" y="17906"/>
                  </a:moveTo>
                  <a:lnTo>
                    <a:pt x="0" y="8000"/>
                  </a:lnTo>
                  <a:lnTo>
                    <a:pt x="8000" y="0"/>
                  </a:lnTo>
                  <a:lnTo>
                    <a:pt x="17906" y="0"/>
                  </a:lnTo>
                  <a:lnTo>
                    <a:pt x="5191125" y="0"/>
                  </a:lnTo>
                  <a:lnTo>
                    <a:pt x="5201031" y="0"/>
                  </a:lnTo>
                  <a:lnTo>
                    <a:pt x="5209032" y="8000"/>
                  </a:lnTo>
                  <a:lnTo>
                    <a:pt x="5209032" y="17906"/>
                  </a:lnTo>
                  <a:lnTo>
                    <a:pt x="5209032" y="410337"/>
                  </a:lnTo>
                  <a:lnTo>
                    <a:pt x="5209032" y="420243"/>
                  </a:lnTo>
                  <a:lnTo>
                    <a:pt x="5201031" y="428244"/>
                  </a:lnTo>
                  <a:lnTo>
                    <a:pt x="5191125" y="428244"/>
                  </a:lnTo>
                  <a:lnTo>
                    <a:pt x="17906" y="428244"/>
                  </a:lnTo>
                  <a:lnTo>
                    <a:pt x="8000" y="428244"/>
                  </a:lnTo>
                  <a:lnTo>
                    <a:pt x="0" y="420243"/>
                  </a:lnTo>
                  <a:lnTo>
                    <a:pt x="0" y="410337"/>
                  </a:lnTo>
                  <a:lnTo>
                    <a:pt x="0" y="17906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39467" y="4847844"/>
              <a:ext cx="284988" cy="33070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839467" y="4847844"/>
              <a:ext cx="285115" cy="330835"/>
            </a:xfrm>
            <a:custGeom>
              <a:avLst/>
              <a:gdLst/>
              <a:ahLst/>
              <a:cxnLst/>
              <a:rect l="l" t="t" r="r" b="b"/>
              <a:pathLst>
                <a:path w="285114" h="330835">
                  <a:moveTo>
                    <a:pt x="0" y="330707"/>
                  </a:moveTo>
                  <a:lnTo>
                    <a:pt x="284988" y="330707"/>
                  </a:lnTo>
                  <a:lnTo>
                    <a:pt x="284988" y="0"/>
                  </a:lnTo>
                  <a:lnTo>
                    <a:pt x="0" y="0"/>
                  </a:lnTo>
                  <a:lnTo>
                    <a:pt x="0" y="33070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931797" y="5395780"/>
            <a:ext cx="5126990" cy="23304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  <a:tabLst>
                <a:tab pos="356235" algn="l"/>
              </a:tabLst>
            </a:pPr>
            <a:r>
              <a:rPr sz="2100" b="1" baseline="-5952" dirty="0">
                <a:solidFill>
                  <a:srgbClr val="990033"/>
                </a:solidFill>
                <a:latin typeface="Verdana"/>
                <a:cs typeface="Verdana"/>
              </a:rPr>
              <a:t>3	</a:t>
            </a:r>
            <a:r>
              <a:rPr sz="1400" b="1" spc="-5" dirty="0">
                <a:latin typeface="Verdana"/>
                <a:cs typeface="Verdana"/>
              </a:rPr>
              <a:t>DHCP client broadcasts </a:t>
            </a:r>
            <a:r>
              <a:rPr sz="1400" b="1" dirty="0">
                <a:latin typeface="Verdana"/>
                <a:cs typeface="Verdana"/>
              </a:rPr>
              <a:t>a DHCPREQUEST</a:t>
            </a:r>
            <a:r>
              <a:rPr sz="1400" b="1" spc="-85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packet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834705" y="5300281"/>
            <a:ext cx="5387975" cy="439420"/>
            <a:chOff x="1834705" y="5300281"/>
            <a:chExt cx="5387975" cy="439420"/>
          </a:xfrm>
        </p:grpSpPr>
        <p:sp>
          <p:nvSpPr>
            <p:cNvPr id="17" name="object 17"/>
            <p:cNvSpPr/>
            <p:nvPr/>
          </p:nvSpPr>
          <p:spPr>
            <a:xfrm>
              <a:off x="2008631" y="5305044"/>
              <a:ext cx="5209540" cy="429895"/>
            </a:xfrm>
            <a:custGeom>
              <a:avLst/>
              <a:gdLst/>
              <a:ahLst/>
              <a:cxnLst/>
              <a:rect l="l" t="t" r="r" b="b"/>
              <a:pathLst>
                <a:path w="5209540" h="429895">
                  <a:moveTo>
                    <a:pt x="5201031" y="0"/>
                  </a:moveTo>
                  <a:lnTo>
                    <a:pt x="8000" y="0"/>
                  </a:lnTo>
                  <a:lnTo>
                    <a:pt x="0" y="8000"/>
                  </a:lnTo>
                  <a:lnTo>
                    <a:pt x="0" y="421754"/>
                  </a:lnTo>
                  <a:lnTo>
                    <a:pt x="8000" y="429767"/>
                  </a:lnTo>
                  <a:lnTo>
                    <a:pt x="5201031" y="429767"/>
                  </a:lnTo>
                  <a:lnTo>
                    <a:pt x="5209032" y="421754"/>
                  </a:lnTo>
                  <a:lnTo>
                    <a:pt x="5209032" y="800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08631" y="5305044"/>
              <a:ext cx="5209540" cy="429895"/>
            </a:xfrm>
            <a:custGeom>
              <a:avLst/>
              <a:gdLst/>
              <a:ahLst/>
              <a:cxnLst/>
              <a:rect l="l" t="t" r="r" b="b"/>
              <a:pathLst>
                <a:path w="5209540" h="429895">
                  <a:moveTo>
                    <a:pt x="0" y="17906"/>
                  </a:moveTo>
                  <a:lnTo>
                    <a:pt x="0" y="8000"/>
                  </a:lnTo>
                  <a:lnTo>
                    <a:pt x="8000" y="0"/>
                  </a:lnTo>
                  <a:lnTo>
                    <a:pt x="17906" y="0"/>
                  </a:lnTo>
                  <a:lnTo>
                    <a:pt x="5191125" y="0"/>
                  </a:lnTo>
                  <a:lnTo>
                    <a:pt x="5201031" y="0"/>
                  </a:lnTo>
                  <a:lnTo>
                    <a:pt x="5209032" y="8000"/>
                  </a:lnTo>
                  <a:lnTo>
                    <a:pt x="5209032" y="17906"/>
                  </a:lnTo>
                  <a:lnTo>
                    <a:pt x="5209032" y="411860"/>
                  </a:lnTo>
                  <a:lnTo>
                    <a:pt x="5209032" y="421754"/>
                  </a:lnTo>
                  <a:lnTo>
                    <a:pt x="5201031" y="429767"/>
                  </a:lnTo>
                  <a:lnTo>
                    <a:pt x="5191125" y="429767"/>
                  </a:lnTo>
                  <a:lnTo>
                    <a:pt x="17906" y="429767"/>
                  </a:lnTo>
                  <a:lnTo>
                    <a:pt x="8000" y="429767"/>
                  </a:lnTo>
                  <a:lnTo>
                    <a:pt x="0" y="421754"/>
                  </a:lnTo>
                  <a:lnTo>
                    <a:pt x="0" y="411860"/>
                  </a:lnTo>
                  <a:lnTo>
                    <a:pt x="0" y="17906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39467" y="5355336"/>
              <a:ext cx="284988" cy="32918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839467" y="5355336"/>
              <a:ext cx="285115" cy="329565"/>
            </a:xfrm>
            <a:custGeom>
              <a:avLst/>
              <a:gdLst/>
              <a:ahLst/>
              <a:cxnLst/>
              <a:rect l="l" t="t" r="r" b="b"/>
              <a:pathLst>
                <a:path w="285114" h="329564">
                  <a:moveTo>
                    <a:pt x="0" y="329183"/>
                  </a:moveTo>
                  <a:lnTo>
                    <a:pt x="284988" y="329183"/>
                  </a:lnTo>
                  <a:lnTo>
                    <a:pt x="284988" y="0"/>
                  </a:lnTo>
                  <a:lnTo>
                    <a:pt x="0" y="0"/>
                  </a:lnTo>
                  <a:lnTo>
                    <a:pt x="0" y="32918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931797" y="5902408"/>
            <a:ext cx="4833620" cy="23304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  <a:tabLst>
                <a:tab pos="356235" algn="l"/>
              </a:tabLst>
            </a:pPr>
            <a:r>
              <a:rPr sz="2100" b="1" baseline="-3968" dirty="0">
                <a:solidFill>
                  <a:srgbClr val="990033"/>
                </a:solidFill>
                <a:latin typeface="Verdana"/>
                <a:cs typeface="Verdana"/>
              </a:rPr>
              <a:t>4	</a:t>
            </a:r>
            <a:r>
              <a:rPr sz="1400" b="1" spc="-5" dirty="0">
                <a:latin typeface="Verdana"/>
                <a:cs typeface="Verdana"/>
              </a:rPr>
              <a:t>DHCP Server1 broadcasts </a:t>
            </a:r>
            <a:r>
              <a:rPr sz="1400" b="1" dirty="0">
                <a:latin typeface="Verdana"/>
                <a:cs typeface="Verdana"/>
              </a:rPr>
              <a:t>a DHCPACK</a:t>
            </a:r>
            <a:r>
              <a:rPr sz="1400" b="1" spc="-10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packet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834705" y="5807773"/>
            <a:ext cx="5387975" cy="438150"/>
            <a:chOff x="1834705" y="5807773"/>
            <a:chExt cx="5387975" cy="438150"/>
          </a:xfrm>
        </p:grpSpPr>
        <p:sp>
          <p:nvSpPr>
            <p:cNvPr id="23" name="object 23"/>
            <p:cNvSpPr/>
            <p:nvPr/>
          </p:nvSpPr>
          <p:spPr>
            <a:xfrm>
              <a:off x="2008631" y="5812535"/>
              <a:ext cx="5209540" cy="428625"/>
            </a:xfrm>
            <a:custGeom>
              <a:avLst/>
              <a:gdLst/>
              <a:ahLst/>
              <a:cxnLst/>
              <a:rect l="l" t="t" r="r" b="b"/>
              <a:pathLst>
                <a:path w="5209540" h="428625">
                  <a:moveTo>
                    <a:pt x="5201031" y="0"/>
                  </a:moveTo>
                  <a:lnTo>
                    <a:pt x="8000" y="0"/>
                  </a:lnTo>
                  <a:lnTo>
                    <a:pt x="0" y="7988"/>
                  </a:lnTo>
                  <a:lnTo>
                    <a:pt x="0" y="420255"/>
                  </a:lnTo>
                  <a:lnTo>
                    <a:pt x="8000" y="428243"/>
                  </a:lnTo>
                  <a:lnTo>
                    <a:pt x="5201031" y="428243"/>
                  </a:lnTo>
                  <a:lnTo>
                    <a:pt x="5209032" y="420255"/>
                  </a:lnTo>
                  <a:lnTo>
                    <a:pt x="5209032" y="7988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008631" y="5812535"/>
              <a:ext cx="5209540" cy="428625"/>
            </a:xfrm>
            <a:custGeom>
              <a:avLst/>
              <a:gdLst/>
              <a:ahLst/>
              <a:cxnLst/>
              <a:rect l="l" t="t" r="r" b="b"/>
              <a:pathLst>
                <a:path w="5209540" h="428625">
                  <a:moveTo>
                    <a:pt x="0" y="17843"/>
                  </a:moveTo>
                  <a:lnTo>
                    <a:pt x="0" y="7988"/>
                  </a:lnTo>
                  <a:lnTo>
                    <a:pt x="8000" y="0"/>
                  </a:lnTo>
                  <a:lnTo>
                    <a:pt x="17906" y="0"/>
                  </a:lnTo>
                  <a:lnTo>
                    <a:pt x="5191125" y="0"/>
                  </a:lnTo>
                  <a:lnTo>
                    <a:pt x="5201031" y="0"/>
                  </a:lnTo>
                  <a:lnTo>
                    <a:pt x="5209032" y="7988"/>
                  </a:lnTo>
                  <a:lnTo>
                    <a:pt x="5209032" y="17843"/>
                  </a:lnTo>
                  <a:lnTo>
                    <a:pt x="5209032" y="410400"/>
                  </a:lnTo>
                  <a:lnTo>
                    <a:pt x="5209032" y="420255"/>
                  </a:lnTo>
                  <a:lnTo>
                    <a:pt x="5201031" y="428243"/>
                  </a:lnTo>
                  <a:lnTo>
                    <a:pt x="5191125" y="428243"/>
                  </a:lnTo>
                  <a:lnTo>
                    <a:pt x="17906" y="428243"/>
                  </a:lnTo>
                  <a:lnTo>
                    <a:pt x="8000" y="428243"/>
                  </a:lnTo>
                  <a:lnTo>
                    <a:pt x="0" y="420255"/>
                  </a:lnTo>
                  <a:lnTo>
                    <a:pt x="0" y="410400"/>
                  </a:lnTo>
                  <a:lnTo>
                    <a:pt x="0" y="17843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839467" y="5861303"/>
              <a:ext cx="284988" cy="33070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39467" y="5861303"/>
              <a:ext cx="285115" cy="330835"/>
            </a:xfrm>
            <a:custGeom>
              <a:avLst/>
              <a:gdLst/>
              <a:ahLst/>
              <a:cxnLst/>
              <a:rect l="l" t="t" r="r" b="b"/>
              <a:pathLst>
                <a:path w="285114" h="330835">
                  <a:moveTo>
                    <a:pt x="0" y="330708"/>
                  </a:moveTo>
                  <a:lnTo>
                    <a:pt x="284988" y="330708"/>
                  </a:lnTo>
                  <a:lnTo>
                    <a:pt x="284988" y="0"/>
                  </a:lnTo>
                  <a:lnTo>
                    <a:pt x="0" y="0"/>
                  </a:lnTo>
                  <a:lnTo>
                    <a:pt x="0" y="33070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720661" y="1033272"/>
            <a:ext cx="7408545" cy="3693160"/>
            <a:chOff x="720661" y="1033272"/>
            <a:chExt cx="7408545" cy="3693160"/>
          </a:xfrm>
        </p:grpSpPr>
        <p:sp>
          <p:nvSpPr>
            <p:cNvPr id="28" name="object 28"/>
            <p:cNvSpPr/>
            <p:nvPr/>
          </p:nvSpPr>
          <p:spPr>
            <a:xfrm>
              <a:off x="1481327" y="1335024"/>
              <a:ext cx="6076188" cy="280263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444751" y="1298447"/>
              <a:ext cx="6073140" cy="279958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665731" y="2680716"/>
              <a:ext cx="996695" cy="1199387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324856" y="1136904"/>
              <a:ext cx="842772" cy="105156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235195" y="3217164"/>
              <a:ext cx="844296" cy="105308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405371" y="2732532"/>
              <a:ext cx="844296" cy="10515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631947" y="1033272"/>
              <a:ext cx="996696" cy="119938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127504" y="3067811"/>
              <a:ext cx="844295" cy="15392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963412" y="3122676"/>
              <a:ext cx="844295" cy="15240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970531" y="3293364"/>
              <a:ext cx="844295" cy="15544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113276" y="2511552"/>
              <a:ext cx="844296" cy="153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827019" y="1632204"/>
              <a:ext cx="844295" cy="15392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019800" y="3349751"/>
              <a:ext cx="844296" cy="15392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301483" y="2980944"/>
              <a:ext cx="822960" cy="576580"/>
            </a:xfrm>
            <a:custGeom>
              <a:avLst/>
              <a:gdLst/>
              <a:ahLst/>
              <a:cxnLst/>
              <a:rect l="l" t="t" r="r" b="b"/>
              <a:pathLst>
                <a:path w="822959" h="576579">
                  <a:moveTo>
                    <a:pt x="798957" y="0"/>
                  </a:moveTo>
                  <a:lnTo>
                    <a:pt x="24002" y="0"/>
                  </a:lnTo>
                  <a:lnTo>
                    <a:pt x="14680" y="1893"/>
                  </a:lnTo>
                  <a:lnTo>
                    <a:pt x="7048" y="7048"/>
                  </a:lnTo>
                  <a:lnTo>
                    <a:pt x="1893" y="14680"/>
                  </a:lnTo>
                  <a:lnTo>
                    <a:pt x="0" y="24002"/>
                  </a:lnTo>
                  <a:lnTo>
                    <a:pt x="0" y="552068"/>
                  </a:lnTo>
                  <a:lnTo>
                    <a:pt x="1893" y="561391"/>
                  </a:lnTo>
                  <a:lnTo>
                    <a:pt x="7048" y="569023"/>
                  </a:lnTo>
                  <a:lnTo>
                    <a:pt x="14680" y="574178"/>
                  </a:lnTo>
                  <a:lnTo>
                    <a:pt x="24002" y="576071"/>
                  </a:lnTo>
                  <a:lnTo>
                    <a:pt x="798957" y="576071"/>
                  </a:lnTo>
                  <a:lnTo>
                    <a:pt x="808279" y="574178"/>
                  </a:lnTo>
                  <a:lnTo>
                    <a:pt x="815911" y="569023"/>
                  </a:lnTo>
                  <a:lnTo>
                    <a:pt x="821066" y="561391"/>
                  </a:lnTo>
                  <a:lnTo>
                    <a:pt x="822960" y="552068"/>
                  </a:lnTo>
                  <a:lnTo>
                    <a:pt x="822960" y="24002"/>
                  </a:lnTo>
                  <a:lnTo>
                    <a:pt x="821066" y="14680"/>
                  </a:lnTo>
                  <a:lnTo>
                    <a:pt x="815911" y="7048"/>
                  </a:lnTo>
                  <a:lnTo>
                    <a:pt x="808279" y="1893"/>
                  </a:lnTo>
                  <a:lnTo>
                    <a:pt x="7989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301483" y="2980944"/>
              <a:ext cx="822960" cy="576580"/>
            </a:xfrm>
            <a:custGeom>
              <a:avLst/>
              <a:gdLst/>
              <a:ahLst/>
              <a:cxnLst/>
              <a:rect l="l" t="t" r="r" b="b"/>
              <a:pathLst>
                <a:path w="822959" h="576579">
                  <a:moveTo>
                    <a:pt x="0" y="24002"/>
                  </a:moveTo>
                  <a:lnTo>
                    <a:pt x="1893" y="14680"/>
                  </a:lnTo>
                  <a:lnTo>
                    <a:pt x="7048" y="7048"/>
                  </a:lnTo>
                  <a:lnTo>
                    <a:pt x="14680" y="1893"/>
                  </a:lnTo>
                  <a:lnTo>
                    <a:pt x="24002" y="0"/>
                  </a:lnTo>
                  <a:lnTo>
                    <a:pt x="798957" y="0"/>
                  </a:lnTo>
                  <a:lnTo>
                    <a:pt x="808279" y="1893"/>
                  </a:lnTo>
                  <a:lnTo>
                    <a:pt x="815911" y="7048"/>
                  </a:lnTo>
                  <a:lnTo>
                    <a:pt x="821066" y="14680"/>
                  </a:lnTo>
                  <a:lnTo>
                    <a:pt x="822960" y="24002"/>
                  </a:lnTo>
                  <a:lnTo>
                    <a:pt x="822960" y="552068"/>
                  </a:lnTo>
                  <a:lnTo>
                    <a:pt x="821066" y="561391"/>
                  </a:lnTo>
                  <a:lnTo>
                    <a:pt x="815911" y="569023"/>
                  </a:lnTo>
                  <a:lnTo>
                    <a:pt x="808279" y="574178"/>
                  </a:lnTo>
                  <a:lnTo>
                    <a:pt x="798957" y="576071"/>
                  </a:lnTo>
                  <a:lnTo>
                    <a:pt x="24002" y="576071"/>
                  </a:lnTo>
                  <a:lnTo>
                    <a:pt x="14680" y="574178"/>
                  </a:lnTo>
                  <a:lnTo>
                    <a:pt x="7048" y="569023"/>
                  </a:lnTo>
                  <a:lnTo>
                    <a:pt x="1893" y="561391"/>
                  </a:lnTo>
                  <a:lnTo>
                    <a:pt x="0" y="552068"/>
                  </a:lnTo>
                  <a:lnTo>
                    <a:pt x="0" y="24002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25423" y="2919983"/>
              <a:ext cx="882650" cy="562610"/>
            </a:xfrm>
            <a:custGeom>
              <a:avLst/>
              <a:gdLst/>
              <a:ahLst/>
              <a:cxnLst/>
              <a:rect l="l" t="t" r="r" b="b"/>
              <a:pathLst>
                <a:path w="882650" h="562610">
                  <a:moveTo>
                    <a:pt x="858901" y="0"/>
                  </a:moveTo>
                  <a:lnTo>
                    <a:pt x="23431" y="0"/>
                  </a:lnTo>
                  <a:lnTo>
                    <a:pt x="14310" y="1849"/>
                  </a:lnTo>
                  <a:lnTo>
                    <a:pt x="6862" y="6889"/>
                  </a:lnTo>
                  <a:lnTo>
                    <a:pt x="1841" y="14358"/>
                  </a:lnTo>
                  <a:lnTo>
                    <a:pt x="0" y="23494"/>
                  </a:lnTo>
                  <a:lnTo>
                    <a:pt x="0" y="538861"/>
                  </a:lnTo>
                  <a:lnTo>
                    <a:pt x="1841" y="547997"/>
                  </a:lnTo>
                  <a:lnTo>
                    <a:pt x="6862" y="555466"/>
                  </a:lnTo>
                  <a:lnTo>
                    <a:pt x="14310" y="560506"/>
                  </a:lnTo>
                  <a:lnTo>
                    <a:pt x="23431" y="562355"/>
                  </a:lnTo>
                  <a:lnTo>
                    <a:pt x="858901" y="562355"/>
                  </a:lnTo>
                  <a:lnTo>
                    <a:pt x="868037" y="560506"/>
                  </a:lnTo>
                  <a:lnTo>
                    <a:pt x="875506" y="555466"/>
                  </a:lnTo>
                  <a:lnTo>
                    <a:pt x="880546" y="547997"/>
                  </a:lnTo>
                  <a:lnTo>
                    <a:pt x="882395" y="538861"/>
                  </a:lnTo>
                  <a:lnTo>
                    <a:pt x="882395" y="23494"/>
                  </a:lnTo>
                  <a:lnTo>
                    <a:pt x="880546" y="14358"/>
                  </a:lnTo>
                  <a:lnTo>
                    <a:pt x="875506" y="6889"/>
                  </a:lnTo>
                  <a:lnTo>
                    <a:pt x="868037" y="1849"/>
                  </a:lnTo>
                  <a:lnTo>
                    <a:pt x="8589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25423" y="2919983"/>
              <a:ext cx="882650" cy="562610"/>
            </a:xfrm>
            <a:custGeom>
              <a:avLst/>
              <a:gdLst/>
              <a:ahLst/>
              <a:cxnLst/>
              <a:rect l="l" t="t" r="r" b="b"/>
              <a:pathLst>
                <a:path w="882650" h="562610">
                  <a:moveTo>
                    <a:pt x="0" y="23494"/>
                  </a:moveTo>
                  <a:lnTo>
                    <a:pt x="1841" y="14358"/>
                  </a:lnTo>
                  <a:lnTo>
                    <a:pt x="6862" y="6889"/>
                  </a:lnTo>
                  <a:lnTo>
                    <a:pt x="14310" y="1849"/>
                  </a:lnTo>
                  <a:lnTo>
                    <a:pt x="23431" y="0"/>
                  </a:lnTo>
                  <a:lnTo>
                    <a:pt x="858901" y="0"/>
                  </a:lnTo>
                  <a:lnTo>
                    <a:pt x="868037" y="1849"/>
                  </a:lnTo>
                  <a:lnTo>
                    <a:pt x="875506" y="6889"/>
                  </a:lnTo>
                  <a:lnTo>
                    <a:pt x="880546" y="14358"/>
                  </a:lnTo>
                  <a:lnTo>
                    <a:pt x="882395" y="23494"/>
                  </a:lnTo>
                  <a:lnTo>
                    <a:pt x="882395" y="538861"/>
                  </a:lnTo>
                  <a:lnTo>
                    <a:pt x="880546" y="547997"/>
                  </a:lnTo>
                  <a:lnTo>
                    <a:pt x="875506" y="555466"/>
                  </a:lnTo>
                  <a:lnTo>
                    <a:pt x="868037" y="560506"/>
                  </a:lnTo>
                  <a:lnTo>
                    <a:pt x="858901" y="562355"/>
                  </a:lnTo>
                  <a:lnTo>
                    <a:pt x="23431" y="562355"/>
                  </a:lnTo>
                  <a:lnTo>
                    <a:pt x="14310" y="560506"/>
                  </a:lnTo>
                  <a:lnTo>
                    <a:pt x="6862" y="555466"/>
                  </a:lnTo>
                  <a:lnTo>
                    <a:pt x="1841" y="547997"/>
                  </a:lnTo>
                  <a:lnTo>
                    <a:pt x="0" y="538861"/>
                  </a:lnTo>
                  <a:lnTo>
                    <a:pt x="0" y="23494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665731" y="1243584"/>
              <a:ext cx="882650" cy="562610"/>
            </a:xfrm>
            <a:custGeom>
              <a:avLst/>
              <a:gdLst/>
              <a:ahLst/>
              <a:cxnLst/>
              <a:rect l="l" t="t" r="r" b="b"/>
              <a:pathLst>
                <a:path w="882650" h="562610">
                  <a:moveTo>
                    <a:pt x="858901" y="0"/>
                  </a:moveTo>
                  <a:lnTo>
                    <a:pt x="23494" y="0"/>
                  </a:lnTo>
                  <a:lnTo>
                    <a:pt x="14358" y="1849"/>
                  </a:lnTo>
                  <a:lnTo>
                    <a:pt x="6889" y="6889"/>
                  </a:lnTo>
                  <a:lnTo>
                    <a:pt x="1849" y="14358"/>
                  </a:lnTo>
                  <a:lnTo>
                    <a:pt x="0" y="23494"/>
                  </a:lnTo>
                  <a:lnTo>
                    <a:pt x="0" y="538861"/>
                  </a:lnTo>
                  <a:lnTo>
                    <a:pt x="1849" y="547997"/>
                  </a:lnTo>
                  <a:lnTo>
                    <a:pt x="6889" y="555466"/>
                  </a:lnTo>
                  <a:lnTo>
                    <a:pt x="14358" y="560506"/>
                  </a:lnTo>
                  <a:lnTo>
                    <a:pt x="23494" y="562355"/>
                  </a:lnTo>
                  <a:lnTo>
                    <a:pt x="858901" y="562355"/>
                  </a:lnTo>
                  <a:lnTo>
                    <a:pt x="868037" y="560506"/>
                  </a:lnTo>
                  <a:lnTo>
                    <a:pt x="875506" y="555466"/>
                  </a:lnTo>
                  <a:lnTo>
                    <a:pt x="880546" y="547997"/>
                  </a:lnTo>
                  <a:lnTo>
                    <a:pt x="882395" y="538861"/>
                  </a:lnTo>
                  <a:lnTo>
                    <a:pt x="882395" y="23494"/>
                  </a:lnTo>
                  <a:lnTo>
                    <a:pt x="880546" y="14358"/>
                  </a:lnTo>
                  <a:lnTo>
                    <a:pt x="875506" y="6889"/>
                  </a:lnTo>
                  <a:lnTo>
                    <a:pt x="868037" y="1849"/>
                  </a:lnTo>
                  <a:lnTo>
                    <a:pt x="8589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665731" y="1243584"/>
              <a:ext cx="882650" cy="562610"/>
            </a:xfrm>
            <a:custGeom>
              <a:avLst/>
              <a:gdLst/>
              <a:ahLst/>
              <a:cxnLst/>
              <a:rect l="l" t="t" r="r" b="b"/>
              <a:pathLst>
                <a:path w="882650" h="562610">
                  <a:moveTo>
                    <a:pt x="0" y="23494"/>
                  </a:moveTo>
                  <a:lnTo>
                    <a:pt x="1849" y="14358"/>
                  </a:lnTo>
                  <a:lnTo>
                    <a:pt x="6889" y="6889"/>
                  </a:lnTo>
                  <a:lnTo>
                    <a:pt x="14358" y="1849"/>
                  </a:lnTo>
                  <a:lnTo>
                    <a:pt x="23494" y="0"/>
                  </a:lnTo>
                  <a:lnTo>
                    <a:pt x="858901" y="0"/>
                  </a:lnTo>
                  <a:lnTo>
                    <a:pt x="868037" y="1849"/>
                  </a:lnTo>
                  <a:lnTo>
                    <a:pt x="875506" y="6889"/>
                  </a:lnTo>
                  <a:lnTo>
                    <a:pt x="880546" y="14358"/>
                  </a:lnTo>
                  <a:lnTo>
                    <a:pt x="882395" y="23494"/>
                  </a:lnTo>
                  <a:lnTo>
                    <a:pt x="882395" y="538861"/>
                  </a:lnTo>
                  <a:lnTo>
                    <a:pt x="880546" y="547997"/>
                  </a:lnTo>
                  <a:lnTo>
                    <a:pt x="875506" y="555466"/>
                  </a:lnTo>
                  <a:lnTo>
                    <a:pt x="868037" y="560506"/>
                  </a:lnTo>
                  <a:lnTo>
                    <a:pt x="858901" y="562355"/>
                  </a:lnTo>
                  <a:lnTo>
                    <a:pt x="23494" y="562355"/>
                  </a:lnTo>
                  <a:lnTo>
                    <a:pt x="14358" y="560506"/>
                  </a:lnTo>
                  <a:lnTo>
                    <a:pt x="6889" y="555466"/>
                  </a:lnTo>
                  <a:lnTo>
                    <a:pt x="1849" y="547997"/>
                  </a:lnTo>
                  <a:lnTo>
                    <a:pt x="0" y="538861"/>
                  </a:lnTo>
                  <a:lnTo>
                    <a:pt x="0" y="23494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444751" y="1298447"/>
              <a:ext cx="6073140" cy="279958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665731" y="2680716"/>
              <a:ext cx="996695" cy="1199387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324856" y="1136904"/>
              <a:ext cx="842772" cy="105156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235195" y="3217164"/>
              <a:ext cx="844296" cy="105308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405371" y="2732532"/>
              <a:ext cx="844296" cy="10515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631947" y="1033272"/>
              <a:ext cx="996696" cy="119938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008631" y="4293107"/>
              <a:ext cx="5209540" cy="428625"/>
            </a:xfrm>
            <a:custGeom>
              <a:avLst/>
              <a:gdLst/>
              <a:ahLst/>
              <a:cxnLst/>
              <a:rect l="l" t="t" r="r" b="b"/>
              <a:pathLst>
                <a:path w="5209540" h="428625">
                  <a:moveTo>
                    <a:pt x="5201031" y="0"/>
                  </a:moveTo>
                  <a:lnTo>
                    <a:pt x="8000" y="0"/>
                  </a:lnTo>
                  <a:lnTo>
                    <a:pt x="0" y="8001"/>
                  </a:lnTo>
                  <a:lnTo>
                    <a:pt x="0" y="420243"/>
                  </a:lnTo>
                  <a:lnTo>
                    <a:pt x="8000" y="428244"/>
                  </a:lnTo>
                  <a:lnTo>
                    <a:pt x="5201031" y="428244"/>
                  </a:lnTo>
                  <a:lnTo>
                    <a:pt x="5209032" y="420243"/>
                  </a:lnTo>
                  <a:lnTo>
                    <a:pt x="5209032" y="8001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008631" y="4293107"/>
              <a:ext cx="5209540" cy="428625"/>
            </a:xfrm>
            <a:custGeom>
              <a:avLst/>
              <a:gdLst/>
              <a:ahLst/>
              <a:cxnLst/>
              <a:rect l="l" t="t" r="r" b="b"/>
              <a:pathLst>
                <a:path w="5209540" h="428625">
                  <a:moveTo>
                    <a:pt x="0" y="17907"/>
                  </a:moveTo>
                  <a:lnTo>
                    <a:pt x="0" y="8001"/>
                  </a:lnTo>
                  <a:lnTo>
                    <a:pt x="8000" y="0"/>
                  </a:lnTo>
                  <a:lnTo>
                    <a:pt x="17906" y="0"/>
                  </a:lnTo>
                  <a:lnTo>
                    <a:pt x="5191125" y="0"/>
                  </a:lnTo>
                  <a:lnTo>
                    <a:pt x="5201031" y="0"/>
                  </a:lnTo>
                  <a:lnTo>
                    <a:pt x="5209032" y="8001"/>
                  </a:lnTo>
                  <a:lnTo>
                    <a:pt x="5209032" y="17907"/>
                  </a:lnTo>
                  <a:lnTo>
                    <a:pt x="5209032" y="410337"/>
                  </a:lnTo>
                  <a:lnTo>
                    <a:pt x="5209032" y="420243"/>
                  </a:lnTo>
                  <a:lnTo>
                    <a:pt x="5201031" y="428244"/>
                  </a:lnTo>
                  <a:lnTo>
                    <a:pt x="5191125" y="428244"/>
                  </a:lnTo>
                  <a:lnTo>
                    <a:pt x="17906" y="428244"/>
                  </a:lnTo>
                  <a:lnTo>
                    <a:pt x="8000" y="428244"/>
                  </a:lnTo>
                  <a:lnTo>
                    <a:pt x="0" y="420243"/>
                  </a:lnTo>
                  <a:lnTo>
                    <a:pt x="0" y="410337"/>
                  </a:lnTo>
                  <a:lnTo>
                    <a:pt x="0" y="17907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" name="object 55"/>
          <p:cNvGrpSpPr/>
          <p:nvPr/>
        </p:nvGrpSpPr>
        <p:grpSpPr>
          <a:xfrm>
            <a:off x="8031480" y="6263640"/>
            <a:ext cx="928369" cy="440690"/>
            <a:chOff x="8031480" y="6263640"/>
            <a:chExt cx="928369" cy="440690"/>
          </a:xfrm>
        </p:grpSpPr>
        <p:sp>
          <p:nvSpPr>
            <p:cNvPr id="56" name="object 56"/>
            <p:cNvSpPr/>
            <p:nvPr/>
          </p:nvSpPr>
          <p:spPr>
            <a:xfrm>
              <a:off x="8042148" y="6274308"/>
              <a:ext cx="917448" cy="429768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031480" y="6263640"/>
              <a:ext cx="914400" cy="426719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209788" y="6396228"/>
              <a:ext cx="188975" cy="179832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228076" y="6390132"/>
              <a:ext cx="176783" cy="167640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223504" y="6385560"/>
              <a:ext cx="185927" cy="176784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519160" y="6355080"/>
              <a:ext cx="304800" cy="243840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592312" y="6423660"/>
              <a:ext cx="132588" cy="134112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610600" y="6417564"/>
              <a:ext cx="120396" cy="121920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610600" y="6417564"/>
              <a:ext cx="120650" cy="121920"/>
            </a:xfrm>
            <a:custGeom>
              <a:avLst/>
              <a:gdLst/>
              <a:ahLst/>
              <a:cxnLst/>
              <a:rect l="l" t="t" r="r" b="b"/>
              <a:pathLst>
                <a:path w="120650" h="121920">
                  <a:moveTo>
                    <a:pt x="0" y="121920"/>
                  </a:moveTo>
                  <a:lnTo>
                    <a:pt x="120396" y="121920"/>
                  </a:lnTo>
                  <a:lnTo>
                    <a:pt x="120396" y="0"/>
                  </a:lnTo>
                  <a:lnTo>
                    <a:pt x="0" y="0"/>
                  </a:lnTo>
                  <a:lnTo>
                    <a:pt x="0" y="121920"/>
                  </a:lnTo>
                  <a:close/>
                </a:path>
              </a:pathLst>
            </a:custGeom>
            <a:ln w="9144">
              <a:solidFill>
                <a:srgbClr val="666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2275458" y="4280408"/>
            <a:ext cx="4190365" cy="421005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359"/>
              </a:spcBef>
            </a:pPr>
            <a:r>
              <a:rPr sz="1400" b="1" spc="-5" dirty="0">
                <a:latin typeface="Verdana"/>
                <a:cs typeface="Verdana"/>
              </a:rPr>
              <a:t>DHCP client broadcasts </a:t>
            </a:r>
            <a:r>
              <a:rPr sz="1400" b="1" dirty="0">
                <a:latin typeface="Verdana"/>
                <a:cs typeface="Verdana"/>
              </a:rPr>
              <a:t>a </a:t>
            </a:r>
            <a:r>
              <a:rPr sz="1400" b="1" spc="-5" dirty="0">
                <a:latin typeface="Verdana"/>
                <a:cs typeface="Verdana"/>
              </a:rPr>
              <a:t>DHCPDISCOVER  packet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1834705" y="4337113"/>
            <a:ext cx="294640" cy="340360"/>
            <a:chOff x="1834705" y="4337113"/>
            <a:chExt cx="294640" cy="340360"/>
          </a:xfrm>
        </p:grpSpPr>
        <p:sp>
          <p:nvSpPr>
            <p:cNvPr id="67" name="object 67"/>
            <p:cNvSpPr/>
            <p:nvPr/>
          </p:nvSpPr>
          <p:spPr>
            <a:xfrm>
              <a:off x="1839467" y="4341876"/>
              <a:ext cx="284988" cy="330707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839467" y="4341876"/>
              <a:ext cx="285115" cy="330835"/>
            </a:xfrm>
            <a:custGeom>
              <a:avLst/>
              <a:gdLst/>
              <a:ahLst/>
              <a:cxnLst/>
              <a:rect l="l" t="t" r="r" b="b"/>
              <a:pathLst>
                <a:path w="285114" h="330835">
                  <a:moveTo>
                    <a:pt x="0" y="330707"/>
                  </a:moveTo>
                  <a:lnTo>
                    <a:pt x="284988" y="330707"/>
                  </a:lnTo>
                  <a:lnTo>
                    <a:pt x="284988" y="0"/>
                  </a:lnTo>
                  <a:lnTo>
                    <a:pt x="0" y="0"/>
                  </a:lnTo>
                  <a:lnTo>
                    <a:pt x="0" y="33070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1919097" y="4387088"/>
            <a:ext cx="1524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990033"/>
                </a:solidFill>
                <a:latin typeface="Verdana"/>
                <a:cs typeface="Verdana"/>
              </a:rPr>
              <a:t>1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2003869" y="4794313"/>
            <a:ext cx="5219065" cy="438150"/>
            <a:chOff x="2003869" y="4794313"/>
            <a:chExt cx="5219065" cy="438150"/>
          </a:xfrm>
        </p:grpSpPr>
        <p:sp>
          <p:nvSpPr>
            <p:cNvPr id="71" name="object 71"/>
            <p:cNvSpPr/>
            <p:nvPr/>
          </p:nvSpPr>
          <p:spPr>
            <a:xfrm>
              <a:off x="2008632" y="4799076"/>
              <a:ext cx="5209540" cy="428625"/>
            </a:xfrm>
            <a:custGeom>
              <a:avLst/>
              <a:gdLst/>
              <a:ahLst/>
              <a:cxnLst/>
              <a:rect l="l" t="t" r="r" b="b"/>
              <a:pathLst>
                <a:path w="5209540" h="428625">
                  <a:moveTo>
                    <a:pt x="5201031" y="0"/>
                  </a:moveTo>
                  <a:lnTo>
                    <a:pt x="8000" y="0"/>
                  </a:lnTo>
                  <a:lnTo>
                    <a:pt x="0" y="8000"/>
                  </a:lnTo>
                  <a:lnTo>
                    <a:pt x="0" y="420243"/>
                  </a:lnTo>
                  <a:lnTo>
                    <a:pt x="8000" y="428244"/>
                  </a:lnTo>
                  <a:lnTo>
                    <a:pt x="5201031" y="428244"/>
                  </a:lnTo>
                  <a:lnTo>
                    <a:pt x="5209032" y="420243"/>
                  </a:lnTo>
                  <a:lnTo>
                    <a:pt x="5209032" y="800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008632" y="4799076"/>
              <a:ext cx="5209540" cy="428625"/>
            </a:xfrm>
            <a:custGeom>
              <a:avLst/>
              <a:gdLst/>
              <a:ahLst/>
              <a:cxnLst/>
              <a:rect l="l" t="t" r="r" b="b"/>
              <a:pathLst>
                <a:path w="5209540" h="428625">
                  <a:moveTo>
                    <a:pt x="0" y="17906"/>
                  </a:moveTo>
                  <a:lnTo>
                    <a:pt x="0" y="8000"/>
                  </a:lnTo>
                  <a:lnTo>
                    <a:pt x="8000" y="0"/>
                  </a:lnTo>
                  <a:lnTo>
                    <a:pt x="17906" y="0"/>
                  </a:lnTo>
                  <a:lnTo>
                    <a:pt x="5191125" y="0"/>
                  </a:lnTo>
                  <a:lnTo>
                    <a:pt x="5201031" y="0"/>
                  </a:lnTo>
                  <a:lnTo>
                    <a:pt x="5209032" y="8000"/>
                  </a:lnTo>
                  <a:lnTo>
                    <a:pt x="5209032" y="17906"/>
                  </a:lnTo>
                  <a:lnTo>
                    <a:pt x="5209032" y="410337"/>
                  </a:lnTo>
                  <a:lnTo>
                    <a:pt x="5209032" y="420243"/>
                  </a:lnTo>
                  <a:lnTo>
                    <a:pt x="5201031" y="428244"/>
                  </a:lnTo>
                  <a:lnTo>
                    <a:pt x="5191125" y="428244"/>
                  </a:lnTo>
                  <a:lnTo>
                    <a:pt x="17906" y="428244"/>
                  </a:lnTo>
                  <a:lnTo>
                    <a:pt x="8000" y="428244"/>
                  </a:lnTo>
                  <a:lnTo>
                    <a:pt x="0" y="420243"/>
                  </a:lnTo>
                  <a:lnTo>
                    <a:pt x="0" y="410337"/>
                  </a:lnTo>
                  <a:lnTo>
                    <a:pt x="0" y="17906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2275458" y="4877561"/>
            <a:ext cx="45948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Verdana"/>
                <a:cs typeface="Verdana"/>
              </a:rPr>
              <a:t>DHCP servers broadcast </a:t>
            </a:r>
            <a:r>
              <a:rPr sz="1400" b="1" dirty="0">
                <a:latin typeface="Verdana"/>
                <a:cs typeface="Verdana"/>
              </a:rPr>
              <a:t>a </a:t>
            </a:r>
            <a:r>
              <a:rPr sz="1400" b="1" spc="-5" dirty="0">
                <a:latin typeface="Verdana"/>
                <a:cs typeface="Verdana"/>
              </a:rPr>
              <a:t>DHCPOFFER</a:t>
            </a:r>
            <a:r>
              <a:rPr sz="1400" b="1" spc="-6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packet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1834895" y="4843271"/>
            <a:ext cx="294640" cy="340360"/>
            <a:chOff x="1834895" y="4843271"/>
            <a:chExt cx="294640" cy="340360"/>
          </a:xfrm>
        </p:grpSpPr>
        <p:sp>
          <p:nvSpPr>
            <p:cNvPr id="75" name="object 75"/>
            <p:cNvSpPr/>
            <p:nvPr/>
          </p:nvSpPr>
          <p:spPr>
            <a:xfrm>
              <a:off x="1839467" y="4847843"/>
              <a:ext cx="284988" cy="330707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1839467" y="4847843"/>
              <a:ext cx="285115" cy="330835"/>
            </a:xfrm>
            <a:custGeom>
              <a:avLst/>
              <a:gdLst/>
              <a:ahLst/>
              <a:cxnLst/>
              <a:rect l="l" t="t" r="r" b="b"/>
              <a:pathLst>
                <a:path w="285114" h="330835">
                  <a:moveTo>
                    <a:pt x="0" y="330707"/>
                  </a:moveTo>
                  <a:lnTo>
                    <a:pt x="284988" y="330707"/>
                  </a:lnTo>
                  <a:lnTo>
                    <a:pt x="284988" y="0"/>
                  </a:lnTo>
                  <a:lnTo>
                    <a:pt x="0" y="0"/>
                  </a:lnTo>
                  <a:lnTo>
                    <a:pt x="0" y="33070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1919097" y="4893005"/>
            <a:ext cx="15240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990033"/>
                </a:solidFill>
                <a:latin typeface="Verdana"/>
                <a:cs typeface="Verdana"/>
              </a:rPr>
              <a:t>2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2003869" y="5300281"/>
            <a:ext cx="5219065" cy="439420"/>
            <a:chOff x="2003869" y="5300281"/>
            <a:chExt cx="5219065" cy="439420"/>
          </a:xfrm>
        </p:grpSpPr>
        <p:sp>
          <p:nvSpPr>
            <p:cNvPr id="79" name="object 79"/>
            <p:cNvSpPr/>
            <p:nvPr/>
          </p:nvSpPr>
          <p:spPr>
            <a:xfrm>
              <a:off x="2008632" y="5305044"/>
              <a:ext cx="5209540" cy="429895"/>
            </a:xfrm>
            <a:custGeom>
              <a:avLst/>
              <a:gdLst/>
              <a:ahLst/>
              <a:cxnLst/>
              <a:rect l="l" t="t" r="r" b="b"/>
              <a:pathLst>
                <a:path w="5209540" h="429895">
                  <a:moveTo>
                    <a:pt x="5201031" y="0"/>
                  </a:moveTo>
                  <a:lnTo>
                    <a:pt x="8000" y="0"/>
                  </a:lnTo>
                  <a:lnTo>
                    <a:pt x="0" y="8000"/>
                  </a:lnTo>
                  <a:lnTo>
                    <a:pt x="0" y="421754"/>
                  </a:lnTo>
                  <a:lnTo>
                    <a:pt x="8000" y="429767"/>
                  </a:lnTo>
                  <a:lnTo>
                    <a:pt x="5201031" y="429767"/>
                  </a:lnTo>
                  <a:lnTo>
                    <a:pt x="5209032" y="421754"/>
                  </a:lnTo>
                  <a:lnTo>
                    <a:pt x="5209032" y="800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2008632" y="5305044"/>
              <a:ext cx="5209540" cy="429895"/>
            </a:xfrm>
            <a:custGeom>
              <a:avLst/>
              <a:gdLst/>
              <a:ahLst/>
              <a:cxnLst/>
              <a:rect l="l" t="t" r="r" b="b"/>
              <a:pathLst>
                <a:path w="5209540" h="429895">
                  <a:moveTo>
                    <a:pt x="0" y="17906"/>
                  </a:moveTo>
                  <a:lnTo>
                    <a:pt x="0" y="8000"/>
                  </a:lnTo>
                  <a:lnTo>
                    <a:pt x="8000" y="0"/>
                  </a:lnTo>
                  <a:lnTo>
                    <a:pt x="17906" y="0"/>
                  </a:lnTo>
                  <a:lnTo>
                    <a:pt x="5191125" y="0"/>
                  </a:lnTo>
                  <a:lnTo>
                    <a:pt x="5201031" y="0"/>
                  </a:lnTo>
                  <a:lnTo>
                    <a:pt x="5209032" y="8000"/>
                  </a:lnTo>
                  <a:lnTo>
                    <a:pt x="5209032" y="17906"/>
                  </a:lnTo>
                  <a:lnTo>
                    <a:pt x="5209032" y="411860"/>
                  </a:lnTo>
                  <a:lnTo>
                    <a:pt x="5209032" y="421754"/>
                  </a:lnTo>
                  <a:lnTo>
                    <a:pt x="5201031" y="429767"/>
                  </a:lnTo>
                  <a:lnTo>
                    <a:pt x="5191125" y="429767"/>
                  </a:lnTo>
                  <a:lnTo>
                    <a:pt x="17906" y="429767"/>
                  </a:lnTo>
                  <a:lnTo>
                    <a:pt x="8000" y="429767"/>
                  </a:lnTo>
                  <a:lnTo>
                    <a:pt x="0" y="421754"/>
                  </a:lnTo>
                  <a:lnTo>
                    <a:pt x="0" y="411860"/>
                  </a:lnTo>
                  <a:lnTo>
                    <a:pt x="0" y="17906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2275458" y="5384038"/>
            <a:ext cx="47955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Verdana"/>
                <a:cs typeface="Verdana"/>
              </a:rPr>
              <a:t>DHCP client broadcasts </a:t>
            </a:r>
            <a:r>
              <a:rPr sz="1400" b="1" dirty="0">
                <a:latin typeface="Verdana"/>
                <a:cs typeface="Verdana"/>
              </a:rPr>
              <a:t>a DHCPREQUEST</a:t>
            </a:r>
            <a:r>
              <a:rPr sz="1400" b="1" spc="-85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packet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1834895" y="5350764"/>
            <a:ext cx="294640" cy="338455"/>
            <a:chOff x="1834895" y="5350764"/>
            <a:chExt cx="294640" cy="338455"/>
          </a:xfrm>
        </p:grpSpPr>
        <p:sp>
          <p:nvSpPr>
            <p:cNvPr id="83" name="object 83"/>
            <p:cNvSpPr/>
            <p:nvPr/>
          </p:nvSpPr>
          <p:spPr>
            <a:xfrm>
              <a:off x="1839467" y="5355336"/>
              <a:ext cx="284988" cy="329184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1839467" y="5355336"/>
              <a:ext cx="285115" cy="329565"/>
            </a:xfrm>
            <a:custGeom>
              <a:avLst/>
              <a:gdLst/>
              <a:ahLst/>
              <a:cxnLst/>
              <a:rect l="l" t="t" r="r" b="b"/>
              <a:pathLst>
                <a:path w="285114" h="329564">
                  <a:moveTo>
                    <a:pt x="0" y="329183"/>
                  </a:moveTo>
                  <a:lnTo>
                    <a:pt x="284988" y="329183"/>
                  </a:lnTo>
                  <a:lnTo>
                    <a:pt x="284988" y="0"/>
                  </a:lnTo>
                  <a:lnTo>
                    <a:pt x="0" y="0"/>
                  </a:lnTo>
                  <a:lnTo>
                    <a:pt x="0" y="32918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1919097" y="5399938"/>
            <a:ext cx="1524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990033"/>
                </a:solidFill>
                <a:latin typeface="Verdana"/>
                <a:cs typeface="Verdana"/>
              </a:rPr>
              <a:t>3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2003869" y="5807773"/>
            <a:ext cx="5219065" cy="438150"/>
            <a:chOff x="2003869" y="5807773"/>
            <a:chExt cx="5219065" cy="438150"/>
          </a:xfrm>
        </p:grpSpPr>
        <p:sp>
          <p:nvSpPr>
            <p:cNvPr id="87" name="object 87"/>
            <p:cNvSpPr/>
            <p:nvPr/>
          </p:nvSpPr>
          <p:spPr>
            <a:xfrm>
              <a:off x="2008632" y="5812535"/>
              <a:ext cx="5209540" cy="428625"/>
            </a:xfrm>
            <a:custGeom>
              <a:avLst/>
              <a:gdLst/>
              <a:ahLst/>
              <a:cxnLst/>
              <a:rect l="l" t="t" r="r" b="b"/>
              <a:pathLst>
                <a:path w="5209540" h="428625">
                  <a:moveTo>
                    <a:pt x="5201031" y="0"/>
                  </a:moveTo>
                  <a:lnTo>
                    <a:pt x="8000" y="0"/>
                  </a:lnTo>
                  <a:lnTo>
                    <a:pt x="0" y="7988"/>
                  </a:lnTo>
                  <a:lnTo>
                    <a:pt x="0" y="420255"/>
                  </a:lnTo>
                  <a:lnTo>
                    <a:pt x="8000" y="428243"/>
                  </a:lnTo>
                  <a:lnTo>
                    <a:pt x="5201031" y="428243"/>
                  </a:lnTo>
                  <a:lnTo>
                    <a:pt x="5209032" y="420255"/>
                  </a:lnTo>
                  <a:lnTo>
                    <a:pt x="5209032" y="7988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2008632" y="5812535"/>
              <a:ext cx="5209540" cy="428625"/>
            </a:xfrm>
            <a:custGeom>
              <a:avLst/>
              <a:gdLst/>
              <a:ahLst/>
              <a:cxnLst/>
              <a:rect l="l" t="t" r="r" b="b"/>
              <a:pathLst>
                <a:path w="5209540" h="428625">
                  <a:moveTo>
                    <a:pt x="0" y="17843"/>
                  </a:moveTo>
                  <a:lnTo>
                    <a:pt x="0" y="7988"/>
                  </a:lnTo>
                  <a:lnTo>
                    <a:pt x="8000" y="0"/>
                  </a:lnTo>
                  <a:lnTo>
                    <a:pt x="17906" y="0"/>
                  </a:lnTo>
                  <a:lnTo>
                    <a:pt x="5191125" y="0"/>
                  </a:lnTo>
                  <a:lnTo>
                    <a:pt x="5201031" y="0"/>
                  </a:lnTo>
                  <a:lnTo>
                    <a:pt x="5209032" y="7988"/>
                  </a:lnTo>
                  <a:lnTo>
                    <a:pt x="5209032" y="17843"/>
                  </a:lnTo>
                  <a:lnTo>
                    <a:pt x="5209032" y="410400"/>
                  </a:lnTo>
                  <a:lnTo>
                    <a:pt x="5209032" y="420255"/>
                  </a:lnTo>
                  <a:lnTo>
                    <a:pt x="5201031" y="428243"/>
                  </a:lnTo>
                  <a:lnTo>
                    <a:pt x="5191125" y="428243"/>
                  </a:lnTo>
                  <a:lnTo>
                    <a:pt x="17906" y="428243"/>
                  </a:lnTo>
                  <a:lnTo>
                    <a:pt x="8000" y="428243"/>
                  </a:lnTo>
                  <a:lnTo>
                    <a:pt x="0" y="420255"/>
                  </a:lnTo>
                  <a:lnTo>
                    <a:pt x="0" y="410400"/>
                  </a:lnTo>
                  <a:lnTo>
                    <a:pt x="0" y="17843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2275458" y="5890666"/>
            <a:ext cx="45027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Verdana"/>
                <a:cs typeface="Verdana"/>
              </a:rPr>
              <a:t>DHCP Server1 broadcasts </a:t>
            </a:r>
            <a:r>
              <a:rPr sz="1400" b="1" dirty="0">
                <a:latin typeface="Verdana"/>
                <a:cs typeface="Verdana"/>
              </a:rPr>
              <a:t>a DHCPACK</a:t>
            </a:r>
            <a:r>
              <a:rPr sz="1400" b="1" spc="-10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packet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1834895" y="5856732"/>
            <a:ext cx="294640" cy="340360"/>
            <a:chOff x="1834895" y="5856732"/>
            <a:chExt cx="294640" cy="340360"/>
          </a:xfrm>
        </p:grpSpPr>
        <p:sp>
          <p:nvSpPr>
            <p:cNvPr id="91" name="object 91"/>
            <p:cNvSpPr/>
            <p:nvPr/>
          </p:nvSpPr>
          <p:spPr>
            <a:xfrm>
              <a:off x="1839467" y="5861304"/>
              <a:ext cx="284988" cy="330707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839467" y="5861304"/>
              <a:ext cx="285115" cy="330835"/>
            </a:xfrm>
            <a:custGeom>
              <a:avLst/>
              <a:gdLst/>
              <a:ahLst/>
              <a:cxnLst/>
              <a:rect l="l" t="t" r="r" b="b"/>
              <a:pathLst>
                <a:path w="285114" h="330835">
                  <a:moveTo>
                    <a:pt x="0" y="330708"/>
                  </a:moveTo>
                  <a:lnTo>
                    <a:pt x="284988" y="330708"/>
                  </a:lnTo>
                  <a:lnTo>
                    <a:pt x="284988" y="0"/>
                  </a:lnTo>
                  <a:lnTo>
                    <a:pt x="0" y="0"/>
                  </a:lnTo>
                  <a:lnTo>
                    <a:pt x="0" y="33070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93"/>
          <p:cNvSpPr txBox="1"/>
          <p:nvPr/>
        </p:nvSpPr>
        <p:spPr>
          <a:xfrm>
            <a:off x="1919097" y="5906515"/>
            <a:ext cx="1524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990033"/>
                </a:solidFill>
                <a:latin typeface="Verdana"/>
                <a:cs typeface="Verdana"/>
              </a:rPr>
              <a:t>4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7296721" y="2976181"/>
            <a:ext cx="832485" cy="586105"/>
            <a:chOff x="7296721" y="2976181"/>
            <a:chExt cx="832485" cy="586105"/>
          </a:xfrm>
        </p:grpSpPr>
        <p:sp>
          <p:nvSpPr>
            <p:cNvPr id="95" name="object 95"/>
            <p:cNvSpPr/>
            <p:nvPr/>
          </p:nvSpPr>
          <p:spPr>
            <a:xfrm>
              <a:off x="7301483" y="2980944"/>
              <a:ext cx="822960" cy="576580"/>
            </a:xfrm>
            <a:custGeom>
              <a:avLst/>
              <a:gdLst/>
              <a:ahLst/>
              <a:cxnLst/>
              <a:rect l="l" t="t" r="r" b="b"/>
              <a:pathLst>
                <a:path w="822959" h="576579">
                  <a:moveTo>
                    <a:pt x="798957" y="0"/>
                  </a:moveTo>
                  <a:lnTo>
                    <a:pt x="24002" y="0"/>
                  </a:lnTo>
                  <a:lnTo>
                    <a:pt x="14680" y="1893"/>
                  </a:lnTo>
                  <a:lnTo>
                    <a:pt x="7048" y="7048"/>
                  </a:lnTo>
                  <a:lnTo>
                    <a:pt x="1893" y="14680"/>
                  </a:lnTo>
                  <a:lnTo>
                    <a:pt x="0" y="24002"/>
                  </a:lnTo>
                  <a:lnTo>
                    <a:pt x="0" y="552068"/>
                  </a:lnTo>
                  <a:lnTo>
                    <a:pt x="1893" y="561391"/>
                  </a:lnTo>
                  <a:lnTo>
                    <a:pt x="7048" y="569023"/>
                  </a:lnTo>
                  <a:lnTo>
                    <a:pt x="14680" y="574178"/>
                  </a:lnTo>
                  <a:lnTo>
                    <a:pt x="24002" y="576071"/>
                  </a:lnTo>
                  <a:lnTo>
                    <a:pt x="798957" y="576071"/>
                  </a:lnTo>
                  <a:lnTo>
                    <a:pt x="808279" y="574178"/>
                  </a:lnTo>
                  <a:lnTo>
                    <a:pt x="815911" y="569023"/>
                  </a:lnTo>
                  <a:lnTo>
                    <a:pt x="821066" y="561391"/>
                  </a:lnTo>
                  <a:lnTo>
                    <a:pt x="822960" y="552068"/>
                  </a:lnTo>
                  <a:lnTo>
                    <a:pt x="822960" y="24002"/>
                  </a:lnTo>
                  <a:lnTo>
                    <a:pt x="821066" y="14680"/>
                  </a:lnTo>
                  <a:lnTo>
                    <a:pt x="815911" y="7048"/>
                  </a:lnTo>
                  <a:lnTo>
                    <a:pt x="808279" y="1893"/>
                  </a:lnTo>
                  <a:lnTo>
                    <a:pt x="7989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7301483" y="2980944"/>
              <a:ext cx="822960" cy="576580"/>
            </a:xfrm>
            <a:custGeom>
              <a:avLst/>
              <a:gdLst/>
              <a:ahLst/>
              <a:cxnLst/>
              <a:rect l="l" t="t" r="r" b="b"/>
              <a:pathLst>
                <a:path w="822959" h="576579">
                  <a:moveTo>
                    <a:pt x="0" y="24002"/>
                  </a:moveTo>
                  <a:lnTo>
                    <a:pt x="1893" y="14680"/>
                  </a:lnTo>
                  <a:lnTo>
                    <a:pt x="7048" y="7048"/>
                  </a:lnTo>
                  <a:lnTo>
                    <a:pt x="14680" y="1893"/>
                  </a:lnTo>
                  <a:lnTo>
                    <a:pt x="24002" y="0"/>
                  </a:lnTo>
                  <a:lnTo>
                    <a:pt x="798957" y="0"/>
                  </a:lnTo>
                  <a:lnTo>
                    <a:pt x="808279" y="1893"/>
                  </a:lnTo>
                  <a:lnTo>
                    <a:pt x="815911" y="7048"/>
                  </a:lnTo>
                  <a:lnTo>
                    <a:pt x="821066" y="14680"/>
                  </a:lnTo>
                  <a:lnTo>
                    <a:pt x="822960" y="24002"/>
                  </a:lnTo>
                  <a:lnTo>
                    <a:pt x="822960" y="552068"/>
                  </a:lnTo>
                  <a:lnTo>
                    <a:pt x="821066" y="561391"/>
                  </a:lnTo>
                  <a:lnTo>
                    <a:pt x="815911" y="569023"/>
                  </a:lnTo>
                  <a:lnTo>
                    <a:pt x="808279" y="574178"/>
                  </a:lnTo>
                  <a:lnTo>
                    <a:pt x="798957" y="576071"/>
                  </a:lnTo>
                  <a:lnTo>
                    <a:pt x="24002" y="576071"/>
                  </a:lnTo>
                  <a:lnTo>
                    <a:pt x="14680" y="574178"/>
                  </a:lnTo>
                  <a:lnTo>
                    <a:pt x="7048" y="569023"/>
                  </a:lnTo>
                  <a:lnTo>
                    <a:pt x="1893" y="561391"/>
                  </a:lnTo>
                  <a:lnTo>
                    <a:pt x="0" y="552068"/>
                  </a:lnTo>
                  <a:lnTo>
                    <a:pt x="0" y="24002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7388097" y="3042666"/>
            <a:ext cx="60388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Verdana"/>
                <a:cs typeface="Verdana"/>
              </a:rPr>
              <a:t>DHCP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Cli</a:t>
            </a:r>
            <a:r>
              <a:rPr sz="1400" b="1" spc="5" dirty="0">
                <a:latin typeface="Verdana"/>
                <a:cs typeface="Verdana"/>
              </a:rPr>
              <a:t>e</a:t>
            </a:r>
            <a:r>
              <a:rPr sz="1400" b="1" spc="-5" dirty="0">
                <a:latin typeface="Verdana"/>
                <a:cs typeface="Verdana"/>
              </a:rPr>
              <a:t>nt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720661" y="2915221"/>
            <a:ext cx="892175" cy="572135"/>
            <a:chOff x="720661" y="2915221"/>
            <a:chExt cx="892175" cy="572135"/>
          </a:xfrm>
        </p:grpSpPr>
        <p:sp>
          <p:nvSpPr>
            <p:cNvPr id="99" name="object 99"/>
            <p:cNvSpPr/>
            <p:nvPr/>
          </p:nvSpPr>
          <p:spPr>
            <a:xfrm>
              <a:off x="725423" y="2919983"/>
              <a:ext cx="882650" cy="562610"/>
            </a:xfrm>
            <a:custGeom>
              <a:avLst/>
              <a:gdLst/>
              <a:ahLst/>
              <a:cxnLst/>
              <a:rect l="l" t="t" r="r" b="b"/>
              <a:pathLst>
                <a:path w="882650" h="562610">
                  <a:moveTo>
                    <a:pt x="858901" y="0"/>
                  </a:moveTo>
                  <a:lnTo>
                    <a:pt x="23431" y="0"/>
                  </a:lnTo>
                  <a:lnTo>
                    <a:pt x="14310" y="1849"/>
                  </a:lnTo>
                  <a:lnTo>
                    <a:pt x="6862" y="6889"/>
                  </a:lnTo>
                  <a:lnTo>
                    <a:pt x="1841" y="14358"/>
                  </a:lnTo>
                  <a:lnTo>
                    <a:pt x="0" y="23494"/>
                  </a:lnTo>
                  <a:lnTo>
                    <a:pt x="0" y="538861"/>
                  </a:lnTo>
                  <a:lnTo>
                    <a:pt x="1841" y="547997"/>
                  </a:lnTo>
                  <a:lnTo>
                    <a:pt x="6862" y="555466"/>
                  </a:lnTo>
                  <a:lnTo>
                    <a:pt x="14310" y="560506"/>
                  </a:lnTo>
                  <a:lnTo>
                    <a:pt x="23431" y="562355"/>
                  </a:lnTo>
                  <a:lnTo>
                    <a:pt x="858901" y="562355"/>
                  </a:lnTo>
                  <a:lnTo>
                    <a:pt x="868037" y="560506"/>
                  </a:lnTo>
                  <a:lnTo>
                    <a:pt x="875506" y="555466"/>
                  </a:lnTo>
                  <a:lnTo>
                    <a:pt x="880546" y="547997"/>
                  </a:lnTo>
                  <a:lnTo>
                    <a:pt x="882395" y="538861"/>
                  </a:lnTo>
                  <a:lnTo>
                    <a:pt x="882395" y="23494"/>
                  </a:lnTo>
                  <a:lnTo>
                    <a:pt x="880546" y="14358"/>
                  </a:lnTo>
                  <a:lnTo>
                    <a:pt x="875506" y="6889"/>
                  </a:lnTo>
                  <a:lnTo>
                    <a:pt x="868037" y="1849"/>
                  </a:lnTo>
                  <a:lnTo>
                    <a:pt x="8589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725423" y="2919983"/>
              <a:ext cx="882650" cy="562610"/>
            </a:xfrm>
            <a:custGeom>
              <a:avLst/>
              <a:gdLst/>
              <a:ahLst/>
              <a:cxnLst/>
              <a:rect l="l" t="t" r="r" b="b"/>
              <a:pathLst>
                <a:path w="882650" h="562610">
                  <a:moveTo>
                    <a:pt x="0" y="23494"/>
                  </a:moveTo>
                  <a:lnTo>
                    <a:pt x="1841" y="14358"/>
                  </a:lnTo>
                  <a:lnTo>
                    <a:pt x="6862" y="6889"/>
                  </a:lnTo>
                  <a:lnTo>
                    <a:pt x="14310" y="1849"/>
                  </a:lnTo>
                  <a:lnTo>
                    <a:pt x="23431" y="0"/>
                  </a:lnTo>
                  <a:lnTo>
                    <a:pt x="858901" y="0"/>
                  </a:lnTo>
                  <a:lnTo>
                    <a:pt x="868037" y="1849"/>
                  </a:lnTo>
                  <a:lnTo>
                    <a:pt x="875506" y="6889"/>
                  </a:lnTo>
                  <a:lnTo>
                    <a:pt x="880546" y="14358"/>
                  </a:lnTo>
                  <a:lnTo>
                    <a:pt x="882395" y="23494"/>
                  </a:lnTo>
                  <a:lnTo>
                    <a:pt x="882395" y="538861"/>
                  </a:lnTo>
                  <a:lnTo>
                    <a:pt x="880546" y="547997"/>
                  </a:lnTo>
                  <a:lnTo>
                    <a:pt x="875506" y="555466"/>
                  </a:lnTo>
                  <a:lnTo>
                    <a:pt x="868037" y="560506"/>
                  </a:lnTo>
                  <a:lnTo>
                    <a:pt x="858901" y="562355"/>
                  </a:lnTo>
                  <a:lnTo>
                    <a:pt x="23431" y="562355"/>
                  </a:lnTo>
                  <a:lnTo>
                    <a:pt x="14310" y="560506"/>
                  </a:lnTo>
                  <a:lnTo>
                    <a:pt x="6862" y="555466"/>
                  </a:lnTo>
                  <a:lnTo>
                    <a:pt x="1841" y="547997"/>
                  </a:lnTo>
                  <a:lnTo>
                    <a:pt x="0" y="538861"/>
                  </a:lnTo>
                  <a:lnTo>
                    <a:pt x="0" y="23494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811174" y="2974339"/>
            <a:ext cx="80899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Verdana"/>
                <a:cs typeface="Verdana"/>
              </a:rPr>
              <a:t>DHCP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spc="-5" dirty="0">
                <a:latin typeface="Verdana"/>
                <a:cs typeface="Verdana"/>
              </a:rPr>
              <a:t>Server1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1661160" y="1239011"/>
            <a:ext cx="891540" cy="571500"/>
            <a:chOff x="1661160" y="1239011"/>
            <a:chExt cx="891540" cy="571500"/>
          </a:xfrm>
        </p:grpSpPr>
        <p:sp>
          <p:nvSpPr>
            <p:cNvPr id="103" name="object 103"/>
            <p:cNvSpPr/>
            <p:nvPr/>
          </p:nvSpPr>
          <p:spPr>
            <a:xfrm>
              <a:off x="1665732" y="1243583"/>
              <a:ext cx="882650" cy="562610"/>
            </a:xfrm>
            <a:custGeom>
              <a:avLst/>
              <a:gdLst/>
              <a:ahLst/>
              <a:cxnLst/>
              <a:rect l="l" t="t" r="r" b="b"/>
              <a:pathLst>
                <a:path w="882650" h="562610">
                  <a:moveTo>
                    <a:pt x="858901" y="0"/>
                  </a:moveTo>
                  <a:lnTo>
                    <a:pt x="23494" y="0"/>
                  </a:lnTo>
                  <a:lnTo>
                    <a:pt x="14358" y="1849"/>
                  </a:lnTo>
                  <a:lnTo>
                    <a:pt x="6889" y="6889"/>
                  </a:lnTo>
                  <a:lnTo>
                    <a:pt x="1849" y="14358"/>
                  </a:lnTo>
                  <a:lnTo>
                    <a:pt x="0" y="23494"/>
                  </a:lnTo>
                  <a:lnTo>
                    <a:pt x="0" y="538861"/>
                  </a:lnTo>
                  <a:lnTo>
                    <a:pt x="1849" y="547997"/>
                  </a:lnTo>
                  <a:lnTo>
                    <a:pt x="6889" y="555466"/>
                  </a:lnTo>
                  <a:lnTo>
                    <a:pt x="14358" y="560506"/>
                  </a:lnTo>
                  <a:lnTo>
                    <a:pt x="23494" y="562355"/>
                  </a:lnTo>
                  <a:lnTo>
                    <a:pt x="858901" y="562355"/>
                  </a:lnTo>
                  <a:lnTo>
                    <a:pt x="868037" y="560506"/>
                  </a:lnTo>
                  <a:lnTo>
                    <a:pt x="875506" y="555466"/>
                  </a:lnTo>
                  <a:lnTo>
                    <a:pt x="880546" y="547997"/>
                  </a:lnTo>
                  <a:lnTo>
                    <a:pt x="882395" y="538861"/>
                  </a:lnTo>
                  <a:lnTo>
                    <a:pt x="882395" y="23494"/>
                  </a:lnTo>
                  <a:lnTo>
                    <a:pt x="880546" y="14358"/>
                  </a:lnTo>
                  <a:lnTo>
                    <a:pt x="875506" y="6889"/>
                  </a:lnTo>
                  <a:lnTo>
                    <a:pt x="868037" y="1849"/>
                  </a:lnTo>
                  <a:lnTo>
                    <a:pt x="8589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1665732" y="1243583"/>
              <a:ext cx="882650" cy="562610"/>
            </a:xfrm>
            <a:custGeom>
              <a:avLst/>
              <a:gdLst/>
              <a:ahLst/>
              <a:cxnLst/>
              <a:rect l="l" t="t" r="r" b="b"/>
              <a:pathLst>
                <a:path w="882650" h="562610">
                  <a:moveTo>
                    <a:pt x="0" y="23494"/>
                  </a:moveTo>
                  <a:lnTo>
                    <a:pt x="1849" y="14358"/>
                  </a:lnTo>
                  <a:lnTo>
                    <a:pt x="6889" y="6889"/>
                  </a:lnTo>
                  <a:lnTo>
                    <a:pt x="14358" y="1849"/>
                  </a:lnTo>
                  <a:lnTo>
                    <a:pt x="23494" y="0"/>
                  </a:lnTo>
                  <a:lnTo>
                    <a:pt x="858901" y="0"/>
                  </a:lnTo>
                  <a:lnTo>
                    <a:pt x="868037" y="1849"/>
                  </a:lnTo>
                  <a:lnTo>
                    <a:pt x="875506" y="6889"/>
                  </a:lnTo>
                  <a:lnTo>
                    <a:pt x="880546" y="14358"/>
                  </a:lnTo>
                  <a:lnTo>
                    <a:pt x="882395" y="23494"/>
                  </a:lnTo>
                  <a:lnTo>
                    <a:pt x="882395" y="538861"/>
                  </a:lnTo>
                  <a:lnTo>
                    <a:pt x="880546" y="547997"/>
                  </a:lnTo>
                  <a:lnTo>
                    <a:pt x="875506" y="555466"/>
                  </a:lnTo>
                  <a:lnTo>
                    <a:pt x="868037" y="560506"/>
                  </a:lnTo>
                  <a:lnTo>
                    <a:pt x="858901" y="562355"/>
                  </a:lnTo>
                  <a:lnTo>
                    <a:pt x="23494" y="562355"/>
                  </a:lnTo>
                  <a:lnTo>
                    <a:pt x="14358" y="560506"/>
                  </a:lnTo>
                  <a:lnTo>
                    <a:pt x="6889" y="555466"/>
                  </a:lnTo>
                  <a:lnTo>
                    <a:pt x="1849" y="547997"/>
                  </a:lnTo>
                  <a:lnTo>
                    <a:pt x="0" y="538861"/>
                  </a:lnTo>
                  <a:lnTo>
                    <a:pt x="0" y="23494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1751202" y="1297686"/>
            <a:ext cx="80899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Verdana"/>
                <a:cs typeface="Verdana"/>
              </a:rPr>
              <a:t>DHCP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spc="-5" dirty="0">
                <a:latin typeface="Verdana"/>
                <a:cs typeface="Verdana"/>
              </a:rPr>
              <a:t>Server2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852" y="4953"/>
            <a:ext cx="8248294" cy="369332"/>
          </a:xfrm>
        </p:spPr>
        <p:txBody>
          <a:bodyPr/>
          <a:lstStyle/>
          <a:p>
            <a:r>
              <a:rPr lang="en-US" dirty="0" smtClean="0"/>
              <a:t>How DHCP Lease Renewal Works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" y="690562"/>
            <a:ext cx="89058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949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41484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DHCP </a:t>
            </a:r>
            <a:r>
              <a:rPr spc="-5" dirty="0"/>
              <a:t>Server</a:t>
            </a:r>
            <a:r>
              <a:rPr spc="-65" dirty="0"/>
              <a:t> </a:t>
            </a:r>
            <a:r>
              <a:rPr spc="-5" dirty="0"/>
              <a:t>Authorization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27441" y="5562409"/>
            <a:ext cx="4519295" cy="791845"/>
            <a:chOff x="1627441" y="5562409"/>
            <a:chExt cx="4519295" cy="791845"/>
          </a:xfrm>
        </p:grpSpPr>
        <p:sp>
          <p:nvSpPr>
            <p:cNvPr id="4" name="object 4"/>
            <p:cNvSpPr/>
            <p:nvPr/>
          </p:nvSpPr>
          <p:spPr>
            <a:xfrm>
              <a:off x="1632204" y="5567171"/>
              <a:ext cx="4509516" cy="78181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32204" y="5567171"/>
              <a:ext cx="4509770" cy="782320"/>
            </a:xfrm>
            <a:custGeom>
              <a:avLst/>
              <a:gdLst/>
              <a:ahLst/>
              <a:cxnLst/>
              <a:rect l="l" t="t" r="r" b="b"/>
              <a:pathLst>
                <a:path w="4509770" h="782320">
                  <a:moveTo>
                    <a:pt x="0" y="32575"/>
                  </a:moveTo>
                  <a:lnTo>
                    <a:pt x="2563" y="19904"/>
                  </a:lnTo>
                  <a:lnTo>
                    <a:pt x="9556" y="9548"/>
                  </a:lnTo>
                  <a:lnTo>
                    <a:pt x="19931" y="2562"/>
                  </a:lnTo>
                  <a:lnTo>
                    <a:pt x="32638" y="0"/>
                  </a:lnTo>
                  <a:lnTo>
                    <a:pt x="4476877" y="0"/>
                  </a:lnTo>
                  <a:lnTo>
                    <a:pt x="4489584" y="2562"/>
                  </a:lnTo>
                  <a:lnTo>
                    <a:pt x="4499959" y="9548"/>
                  </a:lnTo>
                  <a:lnTo>
                    <a:pt x="4506952" y="19904"/>
                  </a:lnTo>
                  <a:lnTo>
                    <a:pt x="4509516" y="32575"/>
                  </a:lnTo>
                  <a:lnTo>
                    <a:pt x="4509516" y="749236"/>
                  </a:lnTo>
                  <a:lnTo>
                    <a:pt x="4506952" y="761913"/>
                  </a:lnTo>
                  <a:lnTo>
                    <a:pt x="4499959" y="772267"/>
                  </a:lnTo>
                  <a:lnTo>
                    <a:pt x="4489584" y="779250"/>
                  </a:lnTo>
                  <a:lnTo>
                    <a:pt x="4476877" y="781811"/>
                  </a:lnTo>
                  <a:lnTo>
                    <a:pt x="32638" y="781811"/>
                  </a:lnTo>
                  <a:lnTo>
                    <a:pt x="19931" y="779250"/>
                  </a:lnTo>
                  <a:lnTo>
                    <a:pt x="9556" y="772267"/>
                  </a:lnTo>
                  <a:lnTo>
                    <a:pt x="2563" y="761913"/>
                  </a:lnTo>
                  <a:lnTo>
                    <a:pt x="0" y="749236"/>
                  </a:lnTo>
                  <a:lnTo>
                    <a:pt x="0" y="32575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32204" y="5567171"/>
              <a:ext cx="4509516" cy="78181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32204" y="5567171"/>
              <a:ext cx="4509770" cy="782320"/>
            </a:xfrm>
            <a:custGeom>
              <a:avLst/>
              <a:gdLst/>
              <a:ahLst/>
              <a:cxnLst/>
              <a:rect l="l" t="t" r="r" b="b"/>
              <a:pathLst>
                <a:path w="4509770" h="782320">
                  <a:moveTo>
                    <a:pt x="0" y="32575"/>
                  </a:moveTo>
                  <a:lnTo>
                    <a:pt x="2563" y="19904"/>
                  </a:lnTo>
                  <a:lnTo>
                    <a:pt x="9556" y="9548"/>
                  </a:lnTo>
                  <a:lnTo>
                    <a:pt x="19931" y="2562"/>
                  </a:lnTo>
                  <a:lnTo>
                    <a:pt x="32638" y="0"/>
                  </a:lnTo>
                  <a:lnTo>
                    <a:pt x="4476877" y="0"/>
                  </a:lnTo>
                  <a:lnTo>
                    <a:pt x="4489584" y="2562"/>
                  </a:lnTo>
                  <a:lnTo>
                    <a:pt x="4499959" y="9548"/>
                  </a:lnTo>
                  <a:lnTo>
                    <a:pt x="4506952" y="19904"/>
                  </a:lnTo>
                  <a:lnTo>
                    <a:pt x="4509516" y="32575"/>
                  </a:lnTo>
                  <a:lnTo>
                    <a:pt x="4509516" y="749236"/>
                  </a:lnTo>
                  <a:lnTo>
                    <a:pt x="4506952" y="761913"/>
                  </a:lnTo>
                  <a:lnTo>
                    <a:pt x="4499959" y="772267"/>
                  </a:lnTo>
                  <a:lnTo>
                    <a:pt x="4489584" y="779250"/>
                  </a:lnTo>
                  <a:lnTo>
                    <a:pt x="4476877" y="781811"/>
                  </a:lnTo>
                  <a:lnTo>
                    <a:pt x="32638" y="781811"/>
                  </a:lnTo>
                  <a:lnTo>
                    <a:pt x="19931" y="779250"/>
                  </a:lnTo>
                  <a:lnTo>
                    <a:pt x="9556" y="772267"/>
                  </a:lnTo>
                  <a:lnTo>
                    <a:pt x="2563" y="761913"/>
                  </a:lnTo>
                  <a:lnTo>
                    <a:pt x="0" y="749236"/>
                  </a:lnTo>
                  <a:lnTo>
                    <a:pt x="0" y="32575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32204" y="5567171"/>
              <a:ext cx="4509516" cy="78181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32204" y="5567171"/>
              <a:ext cx="4509770" cy="782320"/>
            </a:xfrm>
            <a:custGeom>
              <a:avLst/>
              <a:gdLst/>
              <a:ahLst/>
              <a:cxnLst/>
              <a:rect l="l" t="t" r="r" b="b"/>
              <a:pathLst>
                <a:path w="4509770" h="782320">
                  <a:moveTo>
                    <a:pt x="0" y="32575"/>
                  </a:moveTo>
                  <a:lnTo>
                    <a:pt x="2563" y="19904"/>
                  </a:lnTo>
                  <a:lnTo>
                    <a:pt x="9556" y="9548"/>
                  </a:lnTo>
                  <a:lnTo>
                    <a:pt x="19931" y="2562"/>
                  </a:lnTo>
                  <a:lnTo>
                    <a:pt x="32638" y="0"/>
                  </a:lnTo>
                  <a:lnTo>
                    <a:pt x="4476877" y="0"/>
                  </a:lnTo>
                  <a:lnTo>
                    <a:pt x="4489584" y="2562"/>
                  </a:lnTo>
                  <a:lnTo>
                    <a:pt x="4499959" y="9548"/>
                  </a:lnTo>
                  <a:lnTo>
                    <a:pt x="4506952" y="19904"/>
                  </a:lnTo>
                  <a:lnTo>
                    <a:pt x="4509516" y="32575"/>
                  </a:lnTo>
                  <a:lnTo>
                    <a:pt x="4509516" y="749236"/>
                  </a:lnTo>
                  <a:lnTo>
                    <a:pt x="4506952" y="761913"/>
                  </a:lnTo>
                  <a:lnTo>
                    <a:pt x="4499959" y="772267"/>
                  </a:lnTo>
                  <a:lnTo>
                    <a:pt x="4489584" y="779250"/>
                  </a:lnTo>
                  <a:lnTo>
                    <a:pt x="4476877" y="781811"/>
                  </a:lnTo>
                  <a:lnTo>
                    <a:pt x="32638" y="781811"/>
                  </a:lnTo>
                  <a:lnTo>
                    <a:pt x="19931" y="779250"/>
                  </a:lnTo>
                  <a:lnTo>
                    <a:pt x="9556" y="772267"/>
                  </a:lnTo>
                  <a:lnTo>
                    <a:pt x="2563" y="761913"/>
                  </a:lnTo>
                  <a:lnTo>
                    <a:pt x="0" y="749236"/>
                  </a:lnTo>
                  <a:lnTo>
                    <a:pt x="0" y="32575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694942" y="5597448"/>
            <a:ext cx="41979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b="1" spc="-590" dirty="0">
                <a:latin typeface="Verdana"/>
                <a:cs typeface="Verdana"/>
              </a:rPr>
              <a:t>DI</a:t>
            </a:r>
            <a:r>
              <a:rPr sz="2400" b="1" spc="-885" baseline="-27777" dirty="0">
                <a:latin typeface="Verdana"/>
                <a:cs typeface="Verdana"/>
              </a:rPr>
              <a:t>D</a:t>
            </a:r>
            <a:r>
              <a:rPr sz="1600" b="1" spc="-590" dirty="0">
                <a:latin typeface="Verdana"/>
                <a:cs typeface="Verdana"/>
              </a:rPr>
              <a:t>f</a:t>
            </a:r>
            <a:r>
              <a:rPr sz="2400" b="1" spc="-885" baseline="-27777" dirty="0">
                <a:latin typeface="Verdana"/>
                <a:cs typeface="Verdana"/>
              </a:rPr>
              <a:t>H</a:t>
            </a:r>
            <a:r>
              <a:rPr sz="1600" b="1" spc="-590" dirty="0">
                <a:latin typeface="Verdana"/>
                <a:cs typeface="Verdana"/>
              </a:rPr>
              <a:t>D</a:t>
            </a:r>
            <a:r>
              <a:rPr sz="2400" b="1" spc="-885" baseline="-27777" dirty="0">
                <a:latin typeface="Verdana"/>
                <a:cs typeface="Verdana"/>
              </a:rPr>
              <a:t>C</a:t>
            </a:r>
            <a:r>
              <a:rPr sz="1600" b="1" spc="-590" dirty="0">
                <a:latin typeface="Verdana"/>
                <a:cs typeface="Verdana"/>
              </a:rPr>
              <a:t>H</a:t>
            </a:r>
            <a:r>
              <a:rPr sz="2400" b="1" spc="-885" baseline="-27777" dirty="0">
                <a:latin typeface="Verdana"/>
                <a:cs typeface="Verdana"/>
              </a:rPr>
              <a:t>P</a:t>
            </a:r>
            <a:r>
              <a:rPr sz="1600" b="1" spc="-590" dirty="0">
                <a:latin typeface="Verdana"/>
                <a:cs typeface="Verdana"/>
              </a:rPr>
              <a:t>CS</a:t>
            </a:r>
            <a:r>
              <a:rPr sz="2400" b="1" spc="-885" baseline="-27777" dirty="0">
                <a:latin typeface="Verdana"/>
                <a:cs typeface="Verdana"/>
              </a:rPr>
              <a:t>c</a:t>
            </a:r>
            <a:r>
              <a:rPr sz="1600" b="1" spc="-590" dirty="0">
                <a:latin typeface="Verdana"/>
                <a:cs typeface="Verdana"/>
              </a:rPr>
              <a:t>P</a:t>
            </a:r>
            <a:r>
              <a:rPr sz="2400" b="1" spc="-885" baseline="-27777" dirty="0">
                <a:latin typeface="Verdana"/>
                <a:cs typeface="Verdana"/>
              </a:rPr>
              <a:t>l</a:t>
            </a:r>
            <a:r>
              <a:rPr sz="1600" b="1" spc="-590" dirty="0">
                <a:latin typeface="Verdana"/>
                <a:cs typeface="Verdana"/>
              </a:rPr>
              <a:t>e</a:t>
            </a:r>
            <a:r>
              <a:rPr sz="2400" b="1" spc="-885" baseline="-27777" dirty="0">
                <a:latin typeface="Verdana"/>
                <a:cs typeface="Verdana"/>
              </a:rPr>
              <a:t>ie</a:t>
            </a:r>
            <a:r>
              <a:rPr sz="1600" b="1" spc="-590" dirty="0">
                <a:latin typeface="Verdana"/>
                <a:cs typeface="Verdana"/>
              </a:rPr>
              <a:t>Srv</a:t>
            </a:r>
            <a:r>
              <a:rPr sz="2400" b="1" spc="-885" baseline="-27777" dirty="0">
                <a:latin typeface="Verdana"/>
                <a:cs typeface="Verdana"/>
              </a:rPr>
              <a:t>n</a:t>
            </a:r>
            <a:r>
              <a:rPr sz="1600" b="1" spc="-590" dirty="0">
                <a:latin typeface="Verdana"/>
                <a:cs typeface="Verdana"/>
              </a:rPr>
              <a:t>ee</a:t>
            </a:r>
            <a:r>
              <a:rPr sz="2400" b="1" spc="-885" baseline="-27777" dirty="0">
                <a:latin typeface="Verdana"/>
                <a:cs typeface="Verdana"/>
              </a:rPr>
              <a:t>t</a:t>
            </a:r>
            <a:r>
              <a:rPr sz="1600" b="1" spc="-590" dirty="0">
                <a:latin typeface="Verdana"/>
                <a:cs typeface="Verdana"/>
              </a:rPr>
              <a:t>rrv</a:t>
            </a:r>
            <a:r>
              <a:rPr sz="2400" b="1" spc="-885" baseline="-27777" dirty="0">
                <a:latin typeface="Verdana"/>
                <a:cs typeface="Verdana"/>
              </a:rPr>
              <a:t>r</a:t>
            </a:r>
            <a:r>
              <a:rPr sz="1600" b="1" spc="-590" dirty="0">
                <a:latin typeface="Verdana"/>
                <a:cs typeface="Verdana"/>
              </a:rPr>
              <a:t>2</a:t>
            </a:r>
            <a:r>
              <a:rPr sz="2400" b="1" spc="-885" baseline="-27777" dirty="0">
                <a:latin typeface="Verdana"/>
                <a:cs typeface="Verdana"/>
              </a:rPr>
              <a:t>ec</a:t>
            </a:r>
            <a:r>
              <a:rPr sz="1600" b="1" spc="-590" dirty="0">
                <a:latin typeface="Verdana"/>
                <a:cs typeface="Verdana"/>
              </a:rPr>
              <a:t>c2</a:t>
            </a:r>
            <a:r>
              <a:rPr sz="2400" b="1" spc="-885" baseline="-27777" dirty="0">
                <a:latin typeface="Verdana"/>
                <a:cs typeface="Verdana"/>
              </a:rPr>
              <a:t>e</a:t>
            </a:r>
            <a:r>
              <a:rPr sz="1600" b="1" spc="-590" dirty="0">
                <a:latin typeface="Verdana"/>
                <a:cs typeface="Verdana"/>
              </a:rPr>
              <a:t>h</a:t>
            </a:r>
            <a:r>
              <a:rPr sz="2400" b="1" spc="-885" baseline="-27777" dirty="0">
                <a:latin typeface="Verdana"/>
                <a:cs typeface="Verdana"/>
              </a:rPr>
              <a:t>i</a:t>
            </a:r>
            <a:r>
              <a:rPr sz="1600" b="1" spc="-590" dirty="0">
                <a:latin typeface="Verdana"/>
                <a:cs typeface="Verdana"/>
              </a:rPr>
              <a:t>ed</a:t>
            </a:r>
            <a:r>
              <a:rPr sz="2400" b="1" spc="-885" baseline="-27777" dirty="0">
                <a:latin typeface="Verdana"/>
                <a:cs typeface="Verdana"/>
              </a:rPr>
              <a:t>v</a:t>
            </a:r>
            <a:r>
              <a:rPr sz="1600" b="1" spc="-590" dirty="0">
                <a:latin typeface="Verdana"/>
                <a:cs typeface="Verdana"/>
              </a:rPr>
              <a:t>co</a:t>
            </a:r>
            <a:r>
              <a:rPr sz="2400" b="1" spc="-885" baseline="-27777" dirty="0">
                <a:latin typeface="Verdana"/>
                <a:cs typeface="Verdana"/>
              </a:rPr>
              <a:t>e</a:t>
            </a:r>
            <a:r>
              <a:rPr sz="1600" b="1" spc="-590" dirty="0">
                <a:latin typeface="Verdana"/>
                <a:cs typeface="Verdana"/>
              </a:rPr>
              <a:t>ke</a:t>
            </a:r>
            <a:r>
              <a:rPr sz="2400" b="1" spc="-885" baseline="-27777" dirty="0">
                <a:latin typeface="Verdana"/>
                <a:cs typeface="Verdana"/>
              </a:rPr>
              <a:t>s</a:t>
            </a:r>
            <a:r>
              <a:rPr sz="1600" b="1" spc="-590" dirty="0">
                <a:latin typeface="Verdana"/>
                <a:cs typeface="Verdana"/>
              </a:rPr>
              <a:t>ss</a:t>
            </a:r>
            <a:r>
              <a:rPr sz="2400" b="1" spc="-885" baseline="-27777" dirty="0">
                <a:latin typeface="Verdana"/>
                <a:cs typeface="Verdana"/>
              </a:rPr>
              <a:t>I</a:t>
            </a:r>
            <a:r>
              <a:rPr sz="1600" b="1" spc="-590" dirty="0">
                <a:latin typeface="Verdana"/>
                <a:cs typeface="Verdana"/>
              </a:rPr>
              <a:t>w</a:t>
            </a:r>
            <a:r>
              <a:rPr sz="2400" b="1" spc="-885" baseline="-27777" dirty="0">
                <a:latin typeface="Verdana"/>
                <a:cs typeface="Verdana"/>
              </a:rPr>
              <a:t>P</a:t>
            </a:r>
            <a:r>
              <a:rPr sz="1600" b="1" spc="-590" dirty="0">
                <a:latin typeface="Verdana"/>
                <a:cs typeface="Verdana"/>
              </a:rPr>
              <a:t>noi</a:t>
            </a:r>
            <a:r>
              <a:rPr sz="2400" b="1" spc="-885" baseline="-27777" dirty="0">
                <a:latin typeface="Verdana"/>
                <a:cs typeface="Verdana"/>
              </a:rPr>
              <a:t>a</a:t>
            </a:r>
            <a:r>
              <a:rPr sz="1600" b="1" spc="-590" dirty="0">
                <a:latin typeface="Verdana"/>
                <a:cs typeface="Verdana"/>
              </a:rPr>
              <a:t>tth</a:t>
            </a:r>
            <a:r>
              <a:rPr sz="2400" b="1" spc="-885" baseline="-27777" dirty="0">
                <a:latin typeface="Verdana"/>
                <a:cs typeface="Verdana"/>
              </a:rPr>
              <a:t>d</a:t>
            </a:r>
            <a:r>
              <a:rPr sz="1600" b="1" spc="-590" dirty="0">
                <a:latin typeface="Verdana"/>
                <a:cs typeface="Verdana"/>
              </a:rPr>
              <a:t>f</a:t>
            </a:r>
            <a:r>
              <a:rPr sz="2400" b="1" spc="-885" baseline="-27777" dirty="0">
                <a:latin typeface="Verdana"/>
                <a:cs typeface="Verdana"/>
              </a:rPr>
              <a:t>d</a:t>
            </a:r>
            <a:r>
              <a:rPr sz="1600" b="1" spc="-590" dirty="0">
                <a:latin typeface="Verdana"/>
                <a:cs typeface="Verdana"/>
              </a:rPr>
              <a:t>itn</a:t>
            </a:r>
            <a:r>
              <a:rPr sz="2400" b="1" spc="-885" baseline="-27777" dirty="0">
                <a:latin typeface="Verdana"/>
                <a:cs typeface="Verdana"/>
              </a:rPr>
              <a:t>r</a:t>
            </a:r>
            <a:r>
              <a:rPr sz="1600" b="1" spc="-590" dirty="0">
                <a:latin typeface="Verdana"/>
                <a:cs typeface="Verdana"/>
              </a:rPr>
              <a:t>h</a:t>
            </a:r>
            <a:r>
              <a:rPr sz="2400" b="1" spc="-885" baseline="-27777" dirty="0">
                <a:latin typeface="Verdana"/>
                <a:cs typeface="Verdana"/>
              </a:rPr>
              <a:t>e</a:t>
            </a:r>
            <a:r>
              <a:rPr sz="1600" b="1" spc="-590" dirty="0">
                <a:latin typeface="Verdana"/>
                <a:cs typeface="Verdana"/>
              </a:rPr>
              <a:t>de</a:t>
            </a:r>
            <a:r>
              <a:rPr sz="2400" b="1" spc="-885" baseline="-27777" dirty="0">
                <a:latin typeface="Verdana"/>
                <a:cs typeface="Verdana"/>
              </a:rPr>
              <a:t>s</a:t>
            </a:r>
            <a:r>
              <a:rPr sz="1600" b="1" spc="-590" dirty="0">
                <a:latin typeface="Verdana"/>
                <a:cs typeface="Verdana"/>
              </a:rPr>
              <a:t>i</a:t>
            </a:r>
            <a:r>
              <a:rPr sz="2400" b="1" spc="-885" baseline="-27777" dirty="0">
                <a:latin typeface="Verdana"/>
                <a:cs typeface="Verdana"/>
              </a:rPr>
              <a:t>s</a:t>
            </a:r>
            <a:r>
              <a:rPr sz="1600" b="1" spc="-590" dirty="0">
                <a:latin typeface="Verdana"/>
                <a:cs typeface="Verdana"/>
              </a:rPr>
              <a:t>ts</a:t>
            </a:r>
            <a:r>
              <a:rPr sz="1600" b="1" spc="70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IP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82242" y="5804712"/>
            <a:ext cx="4228465" cy="47625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86055" marR="43180" indent="-135890">
              <a:lnSpc>
                <a:spcPts val="1630"/>
              </a:lnSpc>
              <a:spcBef>
                <a:spcPts val="390"/>
              </a:spcBef>
            </a:pPr>
            <a:r>
              <a:rPr sz="1600" b="1" spc="-600" dirty="0">
                <a:latin typeface="Verdana"/>
                <a:cs typeface="Verdana"/>
              </a:rPr>
              <a:t>ad</a:t>
            </a:r>
            <a:r>
              <a:rPr sz="2400" b="1" spc="-900" baseline="-57291" dirty="0">
                <a:latin typeface="Verdana"/>
                <a:cs typeface="Verdana"/>
              </a:rPr>
              <a:t>na</a:t>
            </a:r>
            <a:r>
              <a:rPr sz="2400" b="1" spc="-900" baseline="-27777" dirty="0">
                <a:latin typeface="Verdana"/>
                <a:cs typeface="Verdana"/>
              </a:rPr>
              <a:t>fr</a:t>
            </a:r>
            <a:r>
              <a:rPr sz="1600" b="1" spc="-600" dirty="0">
                <a:latin typeface="Verdana"/>
                <a:cs typeface="Verdana"/>
              </a:rPr>
              <a:t>do</a:t>
            </a:r>
            <a:r>
              <a:rPr sz="2400" b="1" spc="-900" baseline="-27777" dirty="0">
                <a:latin typeface="Verdana"/>
                <a:cs typeface="Verdana"/>
              </a:rPr>
              <a:t>o</a:t>
            </a:r>
            <a:r>
              <a:rPr sz="1600" b="1" spc="-600" dirty="0">
                <a:latin typeface="Verdana"/>
                <a:cs typeface="Verdana"/>
              </a:rPr>
              <a:t>dm</a:t>
            </a:r>
            <a:r>
              <a:rPr sz="2400" b="1" spc="-900" baseline="-27777" dirty="0">
                <a:latin typeface="Verdana"/>
                <a:cs typeface="Verdana"/>
              </a:rPr>
              <a:t>m</a:t>
            </a:r>
            <a:r>
              <a:rPr sz="1600" b="1" spc="-600" dirty="0">
                <a:latin typeface="Verdana"/>
                <a:cs typeface="Verdana"/>
              </a:rPr>
              <a:t>rae</a:t>
            </a:r>
            <a:r>
              <a:rPr sz="2400" b="1" spc="-900" baseline="-27777" dirty="0">
                <a:latin typeface="Verdana"/>
                <a:cs typeface="Verdana"/>
              </a:rPr>
              <a:t>a</a:t>
            </a:r>
            <a:r>
              <a:rPr sz="1600" b="1" spc="-600" dirty="0">
                <a:latin typeface="Verdana"/>
                <a:cs typeface="Verdana"/>
              </a:rPr>
              <a:t>isn</a:t>
            </a:r>
            <a:r>
              <a:rPr sz="2400" b="1" spc="-900" baseline="-27777" dirty="0">
                <a:latin typeface="Verdana"/>
                <a:cs typeface="Verdana"/>
              </a:rPr>
              <a:t>u</a:t>
            </a:r>
            <a:r>
              <a:rPr sz="1600" b="1" spc="-600" dirty="0">
                <a:latin typeface="Verdana"/>
                <a:cs typeface="Verdana"/>
              </a:rPr>
              <a:t>s</a:t>
            </a:r>
            <a:r>
              <a:rPr sz="2400" b="1" spc="-900" baseline="-27777" dirty="0">
                <a:latin typeface="Verdana"/>
                <a:cs typeface="Verdana"/>
              </a:rPr>
              <a:t>t</a:t>
            </a:r>
            <a:r>
              <a:rPr sz="1600" b="1" spc="-600" dirty="0">
                <a:latin typeface="Verdana"/>
                <a:cs typeface="Verdana"/>
              </a:rPr>
              <a:t>co</a:t>
            </a:r>
            <a:r>
              <a:rPr sz="2400" b="1" spc="-900" baseline="-27777" dirty="0">
                <a:latin typeface="Verdana"/>
                <a:cs typeface="Verdana"/>
              </a:rPr>
              <a:t>h</a:t>
            </a:r>
            <a:r>
              <a:rPr sz="1600" b="1" spc="-600" dirty="0">
                <a:latin typeface="Verdana"/>
                <a:cs typeface="Verdana"/>
              </a:rPr>
              <a:t>on</a:t>
            </a:r>
            <a:r>
              <a:rPr sz="2400" b="1" spc="-900" baseline="-27777" dirty="0">
                <a:latin typeface="Verdana"/>
                <a:cs typeface="Verdana"/>
              </a:rPr>
              <a:t>o</a:t>
            </a:r>
            <a:r>
              <a:rPr sz="1600" b="1" spc="-600" dirty="0">
                <a:latin typeface="Verdana"/>
                <a:cs typeface="Verdana"/>
              </a:rPr>
              <a:t>n</a:t>
            </a:r>
            <a:r>
              <a:rPr sz="2400" b="1" spc="-900" baseline="-27777" dirty="0">
                <a:latin typeface="Verdana"/>
                <a:cs typeface="Verdana"/>
              </a:rPr>
              <a:t>r</a:t>
            </a:r>
            <a:r>
              <a:rPr sz="1600" b="1" spc="-600" dirty="0">
                <a:latin typeface="Verdana"/>
                <a:cs typeface="Verdana"/>
              </a:rPr>
              <a:t>t</a:t>
            </a:r>
            <a:r>
              <a:rPr sz="2400" b="1" spc="-900" baseline="-27777" dirty="0">
                <a:latin typeface="Verdana"/>
                <a:cs typeface="Verdana"/>
              </a:rPr>
              <a:t>i</a:t>
            </a:r>
            <a:r>
              <a:rPr sz="1600" b="1" spc="-600" dirty="0">
                <a:latin typeface="Verdana"/>
                <a:cs typeface="Verdana"/>
              </a:rPr>
              <a:t>rh</a:t>
            </a:r>
            <a:r>
              <a:rPr sz="2400" b="1" spc="-900" baseline="-27777" dirty="0">
                <a:latin typeface="Verdana"/>
                <a:cs typeface="Verdana"/>
              </a:rPr>
              <a:t>z</a:t>
            </a:r>
            <a:r>
              <a:rPr sz="1600" b="1" spc="-600" dirty="0">
                <a:latin typeface="Verdana"/>
                <a:cs typeface="Verdana"/>
              </a:rPr>
              <a:t>o</a:t>
            </a:r>
            <a:r>
              <a:rPr sz="2400" b="1" spc="-900" baseline="-27777" dirty="0">
                <a:latin typeface="Verdana"/>
                <a:cs typeface="Verdana"/>
              </a:rPr>
              <a:t>e</a:t>
            </a:r>
            <a:r>
              <a:rPr sz="1600" b="1" spc="-600" dirty="0">
                <a:latin typeface="Verdana"/>
                <a:cs typeface="Verdana"/>
              </a:rPr>
              <a:t>l</a:t>
            </a:r>
            <a:r>
              <a:rPr sz="2400" b="1" spc="-900" baseline="-27777" dirty="0">
                <a:latin typeface="Verdana"/>
                <a:cs typeface="Verdana"/>
              </a:rPr>
              <a:t>d</a:t>
            </a:r>
            <a:r>
              <a:rPr sz="1600" b="1" spc="-600" dirty="0">
                <a:latin typeface="Verdana"/>
                <a:cs typeface="Verdana"/>
              </a:rPr>
              <a:t>leis</a:t>
            </a:r>
            <a:r>
              <a:rPr sz="2400" b="1" spc="-900" baseline="-27777" dirty="0">
                <a:latin typeface="Verdana"/>
                <a:cs typeface="Verdana"/>
              </a:rPr>
              <a:t>D</a:t>
            </a:r>
            <a:r>
              <a:rPr sz="1600" b="1" spc="-600" dirty="0">
                <a:latin typeface="Verdana"/>
                <a:cs typeface="Verdana"/>
              </a:rPr>
              <a:t>rt</a:t>
            </a:r>
            <a:r>
              <a:rPr sz="2400" b="1" spc="-900" baseline="-27777" dirty="0">
                <a:latin typeface="Verdana"/>
                <a:cs typeface="Verdana"/>
              </a:rPr>
              <a:t>H</a:t>
            </a:r>
            <a:r>
              <a:rPr sz="1600" b="1" spc="-600" dirty="0">
                <a:latin typeface="Verdana"/>
                <a:cs typeface="Verdana"/>
              </a:rPr>
              <a:t>t,o</a:t>
            </a:r>
            <a:r>
              <a:rPr sz="2400" b="1" spc="-900" baseline="-27777" dirty="0">
                <a:latin typeface="Verdana"/>
                <a:cs typeface="Verdana"/>
              </a:rPr>
              <a:t>C</a:t>
            </a:r>
            <a:r>
              <a:rPr sz="1600" b="1" spc="-600" dirty="0">
                <a:latin typeface="Verdana"/>
                <a:cs typeface="Verdana"/>
              </a:rPr>
              <a:t>th</a:t>
            </a:r>
            <a:r>
              <a:rPr sz="2400" b="1" spc="-900" baseline="-27777" dirty="0">
                <a:latin typeface="Verdana"/>
                <a:cs typeface="Verdana"/>
              </a:rPr>
              <a:t>P</a:t>
            </a:r>
            <a:r>
              <a:rPr sz="1600" b="1" spc="-600" dirty="0">
                <a:latin typeface="Verdana"/>
                <a:cs typeface="Verdana"/>
              </a:rPr>
              <a:t>oeb</a:t>
            </a:r>
            <a:r>
              <a:rPr sz="2400" b="1" spc="-900" baseline="-27777" dirty="0">
                <a:latin typeface="Verdana"/>
                <a:cs typeface="Verdana"/>
              </a:rPr>
              <a:t>S</a:t>
            </a:r>
            <a:r>
              <a:rPr sz="1600" b="1" spc="-600" dirty="0">
                <a:latin typeface="Verdana"/>
                <a:cs typeface="Verdana"/>
              </a:rPr>
              <a:t>ts</a:t>
            </a:r>
            <a:r>
              <a:rPr sz="2400" b="1" spc="-900" baseline="-27777" dirty="0">
                <a:latin typeface="Verdana"/>
                <a:cs typeface="Verdana"/>
              </a:rPr>
              <a:t>e</a:t>
            </a:r>
            <a:r>
              <a:rPr sz="1600" b="1" spc="-600" dirty="0">
                <a:latin typeface="Verdana"/>
                <a:cs typeface="Verdana"/>
              </a:rPr>
              <a:t>ae</a:t>
            </a:r>
            <a:r>
              <a:rPr sz="2400" b="1" spc="-900" baseline="-27777" dirty="0">
                <a:latin typeface="Verdana"/>
                <a:cs typeface="Verdana"/>
              </a:rPr>
              <a:t>r</a:t>
            </a:r>
            <a:r>
              <a:rPr sz="1600" b="1" spc="-600" dirty="0">
                <a:latin typeface="Verdana"/>
                <a:cs typeface="Verdana"/>
              </a:rPr>
              <a:t>irn</a:t>
            </a:r>
            <a:r>
              <a:rPr sz="2400" b="1" spc="-900" baseline="-27777" dirty="0">
                <a:latin typeface="Verdana"/>
                <a:cs typeface="Verdana"/>
              </a:rPr>
              <a:t>v</a:t>
            </a:r>
            <a:r>
              <a:rPr sz="1600" b="1" spc="-600" dirty="0">
                <a:latin typeface="Verdana"/>
                <a:cs typeface="Verdana"/>
              </a:rPr>
              <a:t>v</a:t>
            </a:r>
            <a:r>
              <a:rPr sz="2400" b="1" spc="-900" baseline="-27777" dirty="0">
                <a:latin typeface="Verdana"/>
                <a:cs typeface="Verdana"/>
              </a:rPr>
              <a:t>e</a:t>
            </a:r>
            <a:r>
              <a:rPr sz="1600" b="1" spc="-600" dirty="0">
                <a:latin typeface="Verdana"/>
                <a:cs typeface="Verdana"/>
              </a:rPr>
              <a:t>ia</a:t>
            </a:r>
            <a:r>
              <a:rPr sz="2400" b="1" spc="-900" baseline="-27777" dirty="0">
                <a:latin typeface="Verdana"/>
                <a:cs typeface="Verdana"/>
              </a:rPr>
              <a:t>r</a:t>
            </a:r>
            <a:r>
              <a:rPr sz="1600" b="1" spc="-600" dirty="0">
                <a:latin typeface="Verdana"/>
                <a:cs typeface="Verdana"/>
              </a:rPr>
              <a:t>c</a:t>
            </a:r>
            <a:r>
              <a:rPr sz="2400" b="1" spc="-900" baseline="-27777" dirty="0">
                <a:latin typeface="Verdana"/>
                <a:cs typeface="Verdana"/>
              </a:rPr>
              <a:t>1</a:t>
            </a:r>
            <a:r>
              <a:rPr sz="1600" b="1" spc="-600" dirty="0">
                <a:latin typeface="Verdana"/>
                <a:cs typeface="Verdana"/>
              </a:rPr>
              <a:t>elisdtooefs </a:t>
            </a:r>
            <a:r>
              <a:rPr sz="1600" b="1" spc="-540" dirty="0">
                <a:latin typeface="Verdana"/>
                <a:cs typeface="Verdana"/>
              </a:rPr>
              <a:t> </a:t>
            </a:r>
            <a:r>
              <a:rPr sz="1600" b="1" spc="-425" dirty="0">
                <a:latin typeface="Verdana"/>
                <a:cs typeface="Verdana"/>
              </a:rPr>
              <a:t>uothsotrairzteadnDdHsCuPppsoertveDrHsCP</a:t>
            </a:r>
            <a:r>
              <a:rPr sz="1600" b="1" spc="-34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clients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819655" y="1847088"/>
            <a:ext cx="4136390" cy="818515"/>
            <a:chOff x="1819655" y="1847088"/>
            <a:chExt cx="4136390" cy="818515"/>
          </a:xfrm>
        </p:grpSpPr>
        <p:sp>
          <p:nvSpPr>
            <p:cNvPr id="13" name="object 13"/>
            <p:cNvSpPr/>
            <p:nvPr/>
          </p:nvSpPr>
          <p:spPr>
            <a:xfrm>
              <a:off x="1824227" y="1851660"/>
              <a:ext cx="4126992" cy="80924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824227" y="1851660"/>
              <a:ext cx="4127500" cy="809625"/>
            </a:xfrm>
            <a:custGeom>
              <a:avLst/>
              <a:gdLst/>
              <a:ahLst/>
              <a:cxnLst/>
              <a:rect l="l" t="t" r="r" b="b"/>
              <a:pathLst>
                <a:path w="4127500" h="809625">
                  <a:moveTo>
                    <a:pt x="0" y="33781"/>
                  </a:moveTo>
                  <a:lnTo>
                    <a:pt x="2653" y="20627"/>
                  </a:lnTo>
                  <a:lnTo>
                    <a:pt x="9890" y="9890"/>
                  </a:lnTo>
                  <a:lnTo>
                    <a:pt x="20627" y="2653"/>
                  </a:lnTo>
                  <a:lnTo>
                    <a:pt x="33782" y="0"/>
                  </a:lnTo>
                  <a:lnTo>
                    <a:pt x="4093210" y="0"/>
                  </a:lnTo>
                  <a:lnTo>
                    <a:pt x="4106364" y="2653"/>
                  </a:lnTo>
                  <a:lnTo>
                    <a:pt x="4117101" y="9890"/>
                  </a:lnTo>
                  <a:lnTo>
                    <a:pt x="4124338" y="20627"/>
                  </a:lnTo>
                  <a:lnTo>
                    <a:pt x="4126992" y="33781"/>
                  </a:lnTo>
                  <a:lnTo>
                    <a:pt x="4126992" y="775462"/>
                  </a:lnTo>
                  <a:lnTo>
                    <a:pt x="4124338" y="788616"/>
                  </a:lnTo>
                  <a:lnTo>
                    <a:pt x="4117101" y="799353"/>
                  </a:lnTo>
                  <a:lnTo>
                    <a:pt x="4106364" y="806590"/>
                  </a:lnTo>
                  <a:lnTo>
                    <a:pt x="4093210" y="809243"/>
                  </a:lnTo>
                  <a:lnTo>
                    <a:pt x="33782" y="809243"/>
                  </a:lnTo>
                  <a:lnTo>
                    <a:pt x="20627" y="806590"/>
                  </a:lnTo>
                  <a:lnTo>
                    <a:pt x="9890" y="799353"/>
                  </a:lnTo>
                  <a:lnTo>
                    <a:pt x="2653" y="788616"/>
                  </a:lnTo>
                  <a:lnTo>
                    <a:pt x="0" y="775462"/>
                  </a:lnTo>
                  <a:lnTo>
                    <a:pt x="0" y="33781"/>
                  </a:lnTo>
                  <a:close/>
                </a:path>
              </a:pathLst>
            </a:custGeom>
            <a:ln w="9143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824227" y="1851660"/>
              <a:ext cx="4126992" cy="80924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24227" y="1851660"/>
              <a:ext cx="4127500" cy="809625"/>
            </a:xfrm>
            <a:custGeom>
              <a:avLst/>
              <a:gdLst/>
              <a:ahLst/>
              <a:cxnLst/>
              <a:rect l="l" t="t" r="r" b="b"/>
              <a:pathLst>
                <a:path w="4127500" h="809625">
                  <a:moveTo>
                    <a:pt x="0" y="33781"/>
                  </a:moveTo>
                  <a:lnTo>
                    <a:pt x="2653" y="20627"/>
                  </a:lnTo>
                  <a:lnTo>
                    <a:pt x="9890" y="9890"/>
                  </a:lnTo>
                  <a:lnTo>
                    <a:pt x="20627" y="2653"/>
                  </a:lnTo>
                  <a:lnTo>
                    <a:pt x="33782" y="0"/>
                  </a:lnTo>
                  <a:lnTo>
                    <a:pt x="4093210" y="0"/>
                  </a:lnTo>
                  <a:lnTo>
                    <a:pt x="4106364" y="2653"/>
                  </a:lnTo>
                  <a:lnTo>
                    <a:pt x="4117101" y="9890"/>
                  </a:lnTo>
                  <a:lnTo>
                    <a:pt x="4124338" y="20627"/>
                  </a:lnTo>
                  <a:lnTo>
                    <a:pt x="4126992" y="33781"/>
                  </a:lnTo>
                  <a:lnTo>
                    <a:pt x="4126992" y="775462"/>
                  </a:lnTo>
                  <a:lnTo>
                    <a:pt x="4124338" y="788616"/>
                  </a:lnTo>
                  <a:lnTo>
                    <a:pt x="4117101" y="799353"/>
                  </a:lnTo>
                  <a:lnTo>
                    <a:pt x="4106364" y="806590"/>
                  </a:lnTo>
                  <a:lnTo>
                    <a:pt x="4093210" y="809243"/>
                  </a:lnTo>
                  <a:lnTo>
                    <a:pt x="33782" y="809243"/>
                  </a:lnTo>
                  <a:lnTo>
                    <a:pt x="20627" y="806590"/>
                  </a:lnTo>
                  <a:lnTo>
                    <a:pt x="9890" y="799353"/>
                  </a:lnTo>
                  <a:lnTo>
                    <a:pt x="2653" y="788616"/>
                  </a:lnTo>
                  <a:lnTo>
                    <a:pt x="0" y="775462"/>
                  </a:lnTo>
                  <a:lnTo>
                    <a:pt x="0" y="33781"/>
                  </a:lnTo>
                  <a:close/>
                </a:path>
              </a:pathLst>
            </a:custGeom>
            <a:ln w="9143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812101" y="2731007"/>
            <a:ext cx="5499100" cy="2795270"/>
            <a:chOff x="812101" y="2731007"/>
            <a:chExt cx="5499100" cy="2795270"/>
          </a:xfrm>
        </p:grpSpPr>
        <p:sp>
          <p:nvSpPr>
            <p:cNvPr id="18" name="object 18"/>
            <p:cNvSpPr/>
            <p:nvPr/>
          </p:nvSpPr>
          <p:spPr>
            <a:xfrm>
              <a:off x="1859280" y="3221735"/>
              <a:ext cx="4451604" cy="21351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34896" y="3185159"/>
              <a:ext cx="4448556" cy="213207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023104" y="2846831"/>
              <a:ext cx="1034796" cy="124510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09800" y="4258055"/>
              <a:ext cx="891539" cy="111404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243327" y="2743199"/>
              <a:ext cx="1036320" cy="124663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023104" y="4279391"/>
              <a:ext cx="1036320" cy="124663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36675" y="2782823"/>
              <a:ext cx="1367027" cy="51206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16863" y="2731007"/>
              <a:ext cx="1380744" cy="63703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16863" y="2763011"/>
              <a:ext cx="1355090" cy="500380"/>
            </a:xfrm>
            <a:custGeom>
              <a:avLst/>
              <a:gdLst/>
              <a:ahLst/>
              <a:cxnLst/>
              <a:rect l="l" t="t" r="r" b="b"/>
              <a:pathLst>
                <a:path w="1355089" h="500379">
                  <a:moveTo>
                    <a:pt x="1334008" y="0"/>
                  </a:moveTo>
                  <a:lnTo>
                    <a:pt x="20828" y="0"/>
                  </a:lnTo>
                  <a:lnTo>
                    <a:pt x="12719" y="1629"/>
                  </a:lnTo>
                  <a:lnTo>
                    <a:pt x="6099" y="6080"/>
                  </a:lnTo>
                  <a:lnTo>
                    <a:pt x="1636" y="12698"/>
                  </a:lnTo>
                  <a:lnTo>
                    <a:pt x="0" y="20827"/>
                  </a:lnTo>
                  <a:lnTo>
                    <a:pt x="0" y="479043"/>
                  </a:lnTo>
                  <a:lnTo>
                    <a:pt x="1636" y="487173"/>
                  </a:lnTo>
                  <a:lnTo>
                    <a:pt x="6099" y="493791"/>
                  </a:lnTo>
                  <a:lnTo>
                    <a:pt x="12719" y="498242"/>
                  </a:lnTo>
                  <a:lnTo>
                    <a:pt x="20828" y="499872"/>
                  </a:lnTo>
                  <a:lnTo>
                    <a:pt x="1334008" y="499872"/>
                  </a:lnTo>
                  <a:lnTo>
                    <a:pt x="1342137" y="498242"/>
                  </a:lnTo>
                  <a:lnTo>
                    <a:pt x="1348755" y="493791"/>
                  </a:lnTo>
                  <a:lnTo>
                    <a:pt x="1353206" y="487173"/>
                  </a:lnTo>
                  <a:lnTo>
                    <a:pt x="1354836" y="479043"/>
                  </a:lnTo>
                  <a:lnTo>
                    <a:pt x="1354836" y="20827"/>
                  </a:lnTo>
                  <a:lnTo>
                    <a:pt x="1353206" y="12698"/>
                  </a:lnTo>
                  <a:lnTo>
                    <a:pt x="1348755" y="6080"/>
                  </a:lnTo>
                  <a:lnTo>
                    <a:pt x="1342137" y="1629"/>
                  </a:lnTo>
                  <a:lnTo>
                    <a:pt x="13340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16863" y="2763011"/>
              <a:ext cx="1355090" cy="500380"/>
            </a:xfrm>
            <a:custGeom>
              <a:avLst/>
              <a:gdLst/>
              <a:ahLst/>
              <a:cxnLst/>
              <a:rect l="l" t="t" r="r" b="b"/>
              <a:pathLst>
                <a:path w="1355089" h="500379">
                  <a:moveTo>
                    <a:pt x="0" y="20827"/>
                  </a:moveTo>
                  <a:lnTo>
                    <a:pt x="1636" y="12698"/>
                  </a:lnTo>
                  <a:lnTo>
                    <a:pt x="6099" y="6080"/>
                  </a:lnTo>
                  <a:lnTo>
                    <a:pt x="12719" y="1629"/>
                  </a:lnTo>
                  <a:lnTo>
                    <a:pt x="20828" y="0"/>
                  </a:lnTo>
                  <a:lnTo>
                    <a:pt x="1334008" y="0"/>
                  </a:lnTo>
                  <a:lnTo>
                    <a:pt x="1342137" y="1629"/>
                  </a:lnTo>
                  <a:lnTo>
                    <a:pt x="1348755" y="6080"/>
                  </a:lnTo>
                  <a:lnTo>
                    <a:pt x="1353206" y="12698"/>
                  </a:lnTo>
                  <a:lnTo>
                    <a:pt x="1354836" y="20827"/>
                  </a:lnTo>
                  <a:lnTo>
                    <a:pt x="1354836" y="479043"/>
                  </a:lnTo>
                  <a:lnTo>
                    <a:pt x="1353206" y="487173"/>
                  </a:lnTo>
                  <a:lnTo>
                    <a:pt x="1348755" y="493791"/>
                  </a:lnTo>
                  <a:lnTo>
                    <a:pt x="1342137" y="498242"/>
                  </a:lnTo>
                  <a:lnTo>
                    <a:pt x="1334008" y="499872"/>
                  </a:lnTo>
                  <a:lnTo>
                    <a:pt x="20828" y="499872"/>
                  </a:lnTo>
                  <a:lnTo>
                    <a:pt x="12719" y="498242"/>
                  </a:lnTo>
                  <a:lnTo>
                    <a:pt x="6099" y="493791"/>
                  </a:lnTo>
                  <a:lnTo>
                    <a:pt x="1636" y="487173"/>
                  </a:lnTo>
                  <a:lnTo>
                    <a:pt x="0" y="479043"/>
                  </a:lnTo>
                  <a:lnTo>
                    <a:pt x="0" y="20827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27795" y="2754883"/>
            <a:ext cx="1323340" cy="47625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86995" marR="93980">
              <a:lnSpc>
                <a:spcPts val="1630"/>
              </a:lnSpc>
              <a:spcBef>
                <a:spcPts val="390"/>
              </a:spcBef>
            </a:pPr>
            <a:r>
              <a:rPr sz="1600" b="1" spc="-10" dirty="0">
                <a:latin typeface="Verdana"/>
                <a:cs typeface="Verdana"/>
              </a:rPr>
              <a:t>Domain  </a:t>
            </a:r>
            <a:r>
              <a:rPr sz="1600" b="1" spc="-5" dirty="0">
                <a:latin typeface="Verdana"/>
                <a:cs typeface="Verdana"/>
              </a:rPr>
              <a:t>C</a:t>
            </a:r>
            <a:r>
              <a:rPr sz="1600" b="1" spc="-15" dirty="0">
                <a:latin typeface="Verdana"/>
                <a:cs typeface="Verdana"/>
              </a:rPr>
              <a:t>o</a:t>
            </a:r>
            <a:r>
              <a:rPr sz="1600" b="1" spc="-10" dirty="0">
                <a:latin typeface="Verdana"/>
                <a:cs typeface="Verdana"/>
              </a:rPr>
              <a:t>n</a:t>
            </a:r>
            <a:r>
              <a:rPr sz="1600" b="1" dirty="0">
                <a:latin typeface="Verdana"/>
                <a:cs typeface="Verdana"/>
              </a:rPr>
              <a:t>t</a:t>
            </a:r>
            <a:r>
              <a:rPr sz="1600" b="1" spc="-10" dirty="0">
                <a:latin typeface="Verdana"/>
                <a:cs typeface="Verdana"/>
              </a:rPr>
              <a:t>r</a:t>
            </a:r>
            <a:r>
              <a:rPr sz="1600" b="1" spc="-15" dirty="0">
                <a:latin typeface="Verdana"/>
                <a:cs typeface="Verdana"/>
              </a:rPr>
              <a:t>oll</a:t>
            </a:r>
            <a:r>
              <a:rPr sz="1600" b="1" spc="-10" dirty="0">
                <a:latin typeface="Verdana"/>
                <a:cs typeface="Verdana"/>
              </a:rPr>
              <a:t>er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79869" y="3608832"/>
            <a:ext cx="1373505" cy="637540"/>
            <a:chOff x="479869" y="3608832"/>
            <a:chExt cx="1373505" cy="637540"/>
          </a:xfrm>
        </p:grpSpPr>
        <p:sp>
          <p:nvSpPr>
            <p:cNvPr id="30" name="object 30"/>
            <p:cNvSpPr/>
            <p:nvPr/>
          </p:nvSpPr>
          <p:spPr>
            <a:xfrm>
              <a:off x="504443" y="3646932"/>
              <a:ext cx="1348740" cy="53644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84631" y="3608832"/>
              <a:ext cx="1301495" cy="637032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84631" y="3627120"/>
              <a:ext cx="1336675" cy="524510"/>
            </a:xfrm>
            <a:custGeom>
              <a:avLst/>
              <a:gdLst/>
              <a:ahLst/>
              <a:cxnLst/>
              <a:rect l="l" t="t" r="r" b="b"/>
              <a:pathLst>
                <a:path w="1336675" h="524510">
                  <a:moveTo>
                    <a:pt x="1314704" y="0"/>
                  </a:moveTo>
                  <a:lnTo>
                    <a:pt x="21844" y="0"/>
                  </a:lnTo>
                  <a:lnTo>
                    <a:pt x="13340" y="1716"/>
                  </a:lnTo>
                  <a:lnTo>
                    <a:pt x="6397" y="6397"/>
                  </a:lnTo>
                  <a:lnTo>
                    <a:pt x="1716" y="13340"/>
                  </a:lnTo>
                  <a:lnTo>
                    <a:pt x="0" y="21843"/>
                  </a:lnTo>
                  <a:lnTo>
                    <a:pt x="0" y="502411"/>
                  </a:lnTo>
                  <a:lnTo>
                    <a:pt x="1716" y="510915"/>
                  </a:lnTo>
                  <a:lnTo>
                    <a:pt x="6397" y="517858"/>
                  </a:lnTo>
                  <a:lnTo>
                    <a:pt x="13340" y="522539"/>
                  </a:lnTo>
                  <a:lnTo>
                    <a:pt x="21844" y="524255"/>
                  </a:lnTo>
                  <a:lnTo>
                    <a:pt x="1314704" y="524255"/>
                  </a:lnTo>
                  <a:lnTo>
                    <a:pt x="1323207" y="522539"/>
                  </a:lnTo>
                  <a:lnTo>
                    <a:pt x="1330150" y="517858"/>
                  </a:lnTo>
                  <a:lnTo>
                    <a:pt x="1334831" y="510915"/>
                  </a:lnTo>
                  <a:lnTo>
                    <a:pt x="1336548" y="502411"/>
                  </a:lnTo>
                  <a:lnTo>
                    <a:pt x="1336548" y="21843"/>
                  </a:lnTo>
                  <a:lnTo>
                    <a:pt x="1334831" y="13340"/>
                  </a:lnTo>
                  <a:lnTo>
                    <a:pt x="1330150" y="6397"/>
                  </a:lnTo>
                  <a:lnTo>
                    <a:pt x="1323207" y="1716"/>
                  </a:lnTo>
                  <a:lnTo>
                    <a:pt x="13147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84631" y="3627120"/>
              <a:ext cx="1336675" cy="524510"/>
            </a:xfrm>
            <a:custGeom>
              <a:avLst/>
              <a:gdLst/>
              <a:ahLst/>
              <a:cxnLst/>
              <a:rect l="l" t="t" r="r" b="b"/>
              <a:pathLst>
                <a:path w="1336675" h="524510">
                  <a:moveTo>
                    <a:pt x="0" y="21843"/>
                  </a:moveTo>
                  <a:lnTo>
                    <a:pt x="1716" y="13340"/>
                  </a:lnTo>
                  <a:lnTo>
                    <a:pt x="6397" y="6397"/>
                  </a:lnTo>
                  <a:lnTo>
                    <a:pt x="13340" y="1716"/>
                  </a:lnTo>
                  <a:lnTo>
                    <a:pt x="21844" y="0"/>
                  </a:lnTo>
                  <a:lnTo>
                    <a:pt x="1314704" y="0"/>
                  </a:lnTo>
                  <a:lnTo>
                    <a:pt x="1323207" y="1716"/>
                  </a:lnTo>
                  <a:lnTo>
                    <a:pt x="1330150" y="6397"/>
                  </a:lnTo>
                  <a:lnTo>
                    <a:pt x="1334831" y="13340"/>
                  </a:lnTo>
                  <a:lnTo>
                    <a:pt x="1336548" y="21843"/>
                  </a:lnTo>
                  <a:lnTo>
                    <a:pt x="1336548" y="502411"/>
                  </a:lnTo>
                  <a:lnTo>
                    <a:pt x="1334831" y="510915"/>
                  </a:lnTo>
                  <a:lnTo>
                    <a:pt x="1330150" y="517858"/>
                  </a:lnTo>
                  <a:lnTo>
                    <a:pt x="1323207" y="522539"/>
                  </a:lnTo>
                  <a:lnTo>
                    <a:pt x="1314704" y="524255"/>
                  </a:lnTo>
                  <a:lnTo>
                    <a:pt x="21844" y="524255"/>
                  </a:lnTo>
                  <a:lnTo>
                    <a:pt x="13340" y="522539"/>
                  </a:lnTo>
                  <a:lnTo>
                    <a:pt x="6397" y="517858"/>
                  </a:lnTo>
                  <a:lnTo>
                    <a:pt x="1716" y="510915"/>
                  </a:lnTo>
                  <a:lnTo>
                    <a:pt x="0" y="502411"/>
                  </a:lnTo>
                  <a:lnTo>
                    <a:pt x="0" y="21843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69468" y="3632072"/>
            <a:ext cx="1079500" cy="47625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>
              <a:lnSpc>
                <a:spcPts val="1630"/>
              </a:lnSpc>
              <a:spcBef>
                <a:spcPts val="390"/>
              </a:spcBef>
            </a:pPr>
            <a:r>
              <a:rPr sz="1600" b="1" spc="-10" dirty="0">
                <a:latin typeface="Verdana"/>
                <a:cs typeface="Verdana"/>
              </a:rPr>
              <a:t>Active  D</a:t>
            </a:r>
            <a:r>
              <a:rPr sz="1600" b="1" spc="-20" dirty="0">
                <a:latin typeface="Verdana"/>
                <a:cs typeface="Verdana"/>
              </a:rPr>
              <a:t>i</a:t>
            </a:r>
            <a:r>
              <a:rPr sz="1600" b="1" spc="-10" dirty="0">
                <a:latin typeface="Verdana"/>
                <a:cs typeface="Verdana"/>
              </a:rPr>
              <a:t>rectory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41604" y="4783835"/>
            <a:ext cx="1681480" cy="460375"/>
            <a:chOff x="641604" y="4783835"/>
            <a:chExt cx="1681480" cy="460375"/>
          </a:xfrm>
        </p:grpSpPr>
        <p:sp>
          <p:nvSpPr>
            <p:cNvPr id="36" name="object 36"/>
            <p:cNvSpPr/>
            <p:nvPr/>
          </p:nvSpPr>
          <p:spPr>
            <a:xfrm>
              <a:off x="662940" y="4803647"/>
              <a:ext cx="1519428" cy="39319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41604" y="4814315"/>
              <a:ext cx="1680972" cy="429768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43128" y="4783835"/>
              <a:ext cx="1507490" cy="381000"/>
            </a:xfrm>
            <a:custGeom>
              <a:avLst/>
              <a:gdLst/>
              <a:ahLst/>
              <a:cxnLst/>
              <a:rect l="l" t="t" r="r" b="b"/>
              <a:pathLst>
                <a:path w="1507489" h="381000">
                  <a:moveTo>
                    <a:pt x="1500123" y="0"/>
                  </a:moveTo>
                  <a:lnTo>
                    <a:pt x="7112" y="0"/>
                  </a:lnTo>
                  <a:lnTo>
                    <a:pt x="0" y="7112"/>
                  </a:lnTo>
                  <a:lnTo>
                    <a:pt x="0" y="373888"/>
                  </a:lnTo>
                  <a:lnTo>
                    <a:pt x="7112" y="381000"/>
                  </a:lnTo>
                  <a:lnTo>
                    <a:pt x="1500123" y="381000"/>
                  </a:lnTo>
                  <a:lnTo>
                    <a:pt x="1507236" y="373888"/>
                  </a:lnTo>
                  <a:lnTo>
                    <a:pt x="1507236" y="71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43127" y="4783835"/>
            <a:ext cx="1507490" cy="381000"/>
          </a:xfrm>
          <a:prstGeom prst="rect">
            <a:avLst/>
          </a:prstGeom>
          <a:ln w="20447">
            <a:solidFill>
              <a:srgbClr val="4D4D4D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525"/>
              </a:spcBef>
            </a:pPr>
            <a:r>
              <a:rPr sz="1600" b="1" spc="-10" dirty="0">
                <a:latin typeface="Verdana"/>
                <a:cs typeface="Verdana"/>
              </a:rPr>
              <a:t>DHCP</a:t>
            </a:r>
            <a:r>
              <a:rPr sz="1600" b="1" spc="-3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Client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399032" y="3243072"/>
            <a:ext cx="7112634" cy="2778760"/>
            <a:chOff x="1399032" y="3243072"/>
            <a:chExt cx="7112634" cy="2778760"/>
          </a:xfrm>
        </p:grpSpPr>
        <p:sp>
          <p:nvSpPr>
            <p:cNvPr id="41" name="object 41"/>
            <p:cNvSpPr/>
            <p:nvPr/>
          </p:nvSpPr>
          <p:spPr>
            <a:xfrm>
              <a:off x="1399032" y="3445764"/>
              <a:ext cx="947928" cy="62179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987548" y="3267455"/>
              <a:ext cx="1858010" cy="1376680"/>
            </a:xfrm>
            <a:custGeom>
              <a:avLst/>
              <a:gdLst/>
              <a:ahLst/>
              <a:cxnLst/>
              <a:rect l="l" t="t" r="r" b="b"/>
              <a:pathLst>
                <a:path w="1858010" h="1376679">
                  <a:moveTo>
                    <a:pt x="1728470" y="226314"/>
                  </a:moveTo>
                  <a:lnTo>
                    <a:pt x="1690370" y="207264"/>
                  </a:lnTo>
                  <a:lnTo>
                    <a:pt x="1614170" y="169164"/>
                  </a:lnTo>
                  <a:lnTo>
                    <a:pt x="1614170" y="207264"/>
                  </a:lnTo>
                  <a:lnTo>
                    <a:pt x="207518" y="207264"/>
                  </a:lnTo>
                  <a:lnTo>
                    <a:pt x="207518" y="245364"/>
                  </a:lnTo>
                  <a:lnTo>
                    <a:pt x="1614170" y="245364"/>
                  </a:lnTo>
                  <a:lnTo>
                    <a:pt x="1614170" y="283476"/>
                  </a:lnTo>
                  <a:lnTo>
                    <a:pt x="1690370" y="245364"/>
                  </a:lnTo>
                  <a:lnTo>
                    <a:pt x="1728470" y="226314"/>
                  </a:lnTo>
                  <a:close/>
                </a:path>
                <a:path w="1858010" h="1376679">
                  <a:moveTo>
                    <a:pt x="1728470" y="38100"/>
                  </a:moveTo>
                  <a:lnTo>
                    <a:pt x="321805" y="38100"/>
                  </a:lnTo>
                  <a:lnTo>
                    <a:pt x="321805" y="0"/>
                  </a:lnTo>
                  <a:lnTo>
                    <a:pt x="207518" y="57150"/>
                  </a:lnTo>
                  <a:lnTo>
                    <a:pt x="321805" y="114300"/>
                  </a:lnTo>
                  <a:lnTo>
                    <a:pt x="321805" y="76200"/>
                  </a:lnTo>
                  <a:lnTo>
                    <a:pt x="1728470" y="76200"/>
                  </a:lnTo>
                  <a:lnTo>
                    <a:pt x="1728470" y="38100"/>
                  </a:lnTo>
                  <a:close/>
                </a:path>
                <a:path w="1858010" h="1376679">
                  <a:moveTo>
                    <a:pt x="1857629" y="704469"/>
                  </a:moveTo>
                  <a:lnTo>
                    <a:pt x="1844040" y="668782"/>
                  </a:lnTo>
                  <a:lnTo>
                    <a:pt x="1190790" y="917448"/>
                  </a:lnTo>
                  <a:lnTo>
                    <a:pt x="1137208" y="897064"/>
                  </a:lnTo>
                  <a:lnTo>
                    <a:pt x="1137208" y="937844"/>
                  </a:lnTo>
                  <a:lnTo>
                    <a:pt x="928789" y="1017181"/>
                  </a:lnTo>
                  <a:lnTo>
                    <a:pt x="720382" y="937844"/>
                  </a:lnTo>
                  <a:lnTo>
                    <a:pt x="928801" y="858507"/>
                  </a:lnTo>
                  <a:lnTo>
                    <a:pt x="1137208" y="937844"/>
                  </a:lnTo>
                  <a:lnTo>
                    <a:pt x="1137208" y="897064"/>
                  </a:lnTo>
                  <a:lnTo>
                    <a:pt x="982357" y="838123"/>
                  </a:lnTo>
                  <a:lnTo>
                    <a:pt x="1685683" y="570395"/>
                  </a:lnTo>
                  <a:lnTo>
                    <a:pt x="1699260" y="606044"/>
                  </a:lnTo>
                  <a:lnTo>
                    <a:pt x="1770913" y="528066"/>
                  </a:lnTo>
                  <a:lnTo>
                    <a:pt x="1785747" y="511937"/>
                  </a:lnTo>
                  <a:lnTo>
                    <a:pt x="1658620" y="499237"/>
                  </a:lnTo>
                  <a:lnTo>
                    <a:pt x="1672158" y="534847"/>
                  </a:lnTo>
                  <a:lnTo>
                    <a:pt x="928801" y="817740"/>
                  </a:lnTo>
                  <a:lnTo>
                    <a:pt x="185458" y="534847"/>
                  </a:lnTo>
                  <a:lnTo>
                    <a:pt x="188036" y="528066"/>
                  </a:lnTo>
                  <a:lnTo>
                    <a:pt x="199009" y="499237"/>
                  </a:lnTo>
                  <a:lnTo>
                    <a:pt x="71882" y="511937"/>
                  </a:lnTo>
                  <a:lnTo>
                    <a:pt x="158369" y="606044"/>
                  </a:lnTo>
                  <a:lnTo>
                    <a:pt x="171932" y="570395"/>
                  </a:lnTo>
                  <a:lnTo>
                    <a:pt x="875245" y="838123"/>
                  </a:lnTo>
                  <a:lnTo>
                    <a:pt x="666800" y="917448"/>
                  </a:lnTo>
                  <a:lnTo>
                    <a:pt x="13589" y="668782"/>
                  </a:lnTo>
                  <a:lnTo>
                    <a:pt x="0" y="704469"/>
                  </a:lnTo>
                  <a:lnTo>
                    <a:pt x="613206" y="937844"/>
                  </a:lnTo>
                  <a:lnTo>
                    <a:pt x="0" y="1171194"/>
                  </a:lnTo>
                  <a:lnTo>
                    <a:pt x="13589" y="1206881"/>
                  </a:lnTo>
                  <a:lnTo>
                    <a:pt x="666800" y="958240"/>
                  </a:lnTo>
                  <a:lnTo>
                    <a:pt x="875233" y="1037564"/>
                  </a:lnTo>
                  <a:lnTo>
                    <a:pt x="171932" y="1305280"/>
                  </a:lnTo>
                  <a:lnTo>
                    <a:pt x="158369" y="1269619"/>
                  </a:lnTo>
                  <a:lnTo>
                    <a:pt x="71882" y="1363726"/>
                  </a:lnTo>
                  <a:lnTo>
                    <a:pt x="199009" y="1376426"/>
                  </a:lnTo>
                  <a:lnTo>
                    <a:pt x="188036" y="1347597"/>
                  </a:lnTo>
                  <a:lnTo>
                    <a:pt x="185458" y="1340827"/>
                  </a:lnTo>
                  <a:lnTo>
                    <a:pt x="928789" y="1057948"/>
                  </a:lnTo>
                  <a:lnTo>
                    <a:pt x="1672158" y="1340827"/>
                  </a:lnTo>
                  <a:lnTo>
                    <a:pt x="1658620" y="1376426"/>
                  </a:lnTo>
                  <a:lnTo>
                    <a:pt x="1785747" y="1363726"/>
                  </a:lnTo>
                  <a:lnTo>
                    <a:pt x="1770913" y="1347597"/>
                  </a:lnTo>
                  <a:lnTo>
                    <a:pt x="1699260" y="1269619"/>
                  </a:lnTo>
                  <a:lnTo>
                    <a:pt x="1685683" y="1305280"/>
                  </a:lnTo>
                  <a:lnTo>
                    <a:pt x="982345" y="1037564"/>
                  </a:lnTo>
                  <a:lnTo>
                    <a:pt x="1190802" y="958240"/>
                  </a:lnTo>
                  <a:lnTo>
                    <a:pt x="1844040" y="1206881"/>
                  </a:lnTo>
                  <a:lnTo>
                    <a:pt x="1857629" y="1171194"/>
                  </a:lnTo>
                  <a:lnTo>
                    <a:pt x="1244396" y="937844"/>
                  </a:lnTo>
                  <a:lnTo>
                    <a:pt x="1857629" y="704469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569720" y="3243072"/>
              <a:ext cx="655319" cy="620267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178296" y="4689347"/>
              <a:ext cx="2333244" cy="1331976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6734682" y="4982336"/>
            <a:ext cx="1721485" cy="913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Verdana"/>
                <a:cs typeface="Verdana"/>
              </a:rPr>
              <a:t>Unauthorized</a:t>
            </a:r>
            <a:endParaRPr sz="16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1230"/>
              </a:spcBef>
            </a:pPr>
            <a:r>
              <a:rPr sz="1600" spc="-5" dirty="0">
                <a:latin typeface="Verdana"/>
                <a:cs typeface="Verdana"/>
              </a:rPr>
              <a:t>Does not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service  DHCP</a:t>
            </a:r>
            <a:r>
              <a:rPr sz="1600" spc="-1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requests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178296" y="3040379"/>
            <a:ext cx="2333625" cy="2813685"/>
            <a:chOff x="6178296" y="3040379"/>
            <a:chExt cx="2333625" cy="2813685"/>
          </a:xfrm>
        </p:grpSpPr>
        <p:sp>
          <p:nvSpPr>
            <p:cNvPr id="47" name="object 47"/>
            <p:cNvSpPr/>
            <p:nvPr/>
          </p:nvSpPr>
          <p:spPr>
            <a:xfrm>
              <a:off x="6310884" y="4963667"/>
              <a:ext cx="310895" cy="373379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310884" y="5480303"/>
              <a:ext cx="310895" cy="373379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178296" y="3040379"/>
              <a:ext cx="2333244" cy="1331976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734682" y="3239287"/>
            <a:ext cx="1525270" cy="99377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600" spc="-10" dirty="0">
                <a:latin typeface="Verdana"/>
                <a:cs typeface="Verdana"/>
              </a:rPr>
              <a:t>Authorized</a:t>
            </a:r>
            <a:endParaRPr sz="16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930"/>
              </a:spcBef>
            </a:pPr>
            <a:r>
              <a:rPr sz="1600" spc="-5" dirty="0">
                <a:latin typeface="Verdana"/>
                <a:cs typeface="Verdana"/>
              </a:rPr>
              <a:t>Services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DHCP  </a:t>
            </a:r>
            <a:r>
              <a:rPr sz="1600" spc="-5" dirty="0">
                <a:latin typeface="Verdana"/>
                <a:cs typeface="Verdana"/>
              </a:rPr>
              <a:t>requests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6169152" y="2852927"/>
            <a:ext cx="2382520" cy="1373505"/>
            <a:chOff x="6169152" y="2852927"/>
            <a:chExt cx="2382520" cy="1373505"/>
          </a:xfrm>
        </p:grpSpPr>
        <p:sp>
          <p:nvSpPr>
            <p:cNvPr id="52" name="object 52"/>
            <p:cNvSpPr/>
            <p:nvPr/>
          </p:nvSpPr>
          <p:spPr>
            <a:xfrm>
              <a:off x="6310884" y="3328415"/>
              <a:ext cx="405384" cy="420624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310884" y="3805427"/>
              <a:ext cx="405384" cy="420624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192012" y="2872739"/>
              <a:ext cx="2359151" cy="364236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169152" y="2869691"/>
              <a:ext cx="1839468" cy="429767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172200" y="2852927"/>
              <a:ext cx="2346960" cy="352425"/>
            </a:xfrm>
            <a:custGeom>
              <a:avLst/>
              <a:gdLst/>
              <a:ahLst/>
              <a:cxnLst/>
              <a:rect l="l" t="t" r="r" b="b"/>
              <a:pathLst>
                <a:path w="2346959" h="352425">
                  <a:moveTo>
                    <a:pt x="2340355" y="0"/>
                  </a:moveTo>
                  <a:lnTo>
                    <a:pt x="6603" y="0"/>
                  </a:lnTo>
                  <a:lnTo>
                    <a:pt x="0" y="6604"/>
                  </a:lnTo>
                  <a:lnTo>
                    <a:pt x="0" y="345439"/>
                  </a:lnTo>
                  <a:lnTo>
                    <a:pt x="6603" y="352044"/>
                  </a:lnTo>
                  <a:lnTo>
                    <a:pt x="2340355" y="352044"/>
                  </a:lnTo>
                  <a:lnTo>
                    <a:pt x="2346959" y="345439"/>
                  </a:lnTo>
                  <a:lnTo>
                    <a:pt x="2346959" y="66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172200" y="2852927"/>
            <a:ext cx="2346960" cy="352425"/>
          </a:xfrm>
          <a:prstGeom prst="rect">
            <a:avLst/>
          </a:prstGeom>
          <a:ln w="19303">
            <a:solidFill>
              <a:srgbClr val="4D4D4D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415"/>
              </a:spcBef>
            </a:pPr>
            <a:r>
              <a:rPr sz="1600" b="1" spc="-10" dirty="0">
                <a:latin typeface="Verdana"/>
                <a:cs typeface="Verdana"/>
              </a:rPr>
              <a:t>DHCP</a:t>
            </a:r>
            <a:r>
              <a:rPr sz="1600" b="1" spc="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Server1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6158484" y="4500371"/>
            <a:ext cx="2403475" cy="447040"/>
            <a:chOff x="6158484" y="4500371"/>
            <a:chExt cx="2403475" cy="447040"/>
          </a:xfrm>
        </p:grpSpPr>
        <p:sp>
          <p:nvSpPr>
            <p:cNvPr id="59" name="object 59"/>
            <p:cNvSpPr/>
            <p:nvPr/>
          </p:nvSpPr>
          <p:spPr>
            <a:xfrm>
              <a:off x="6181344" y="4520183"/>
              <a:ext cx="2380488" cy="36423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158484" y="4517135"/>
              <a:ext cx="1839467" cy="429768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161532" y="4500371"/>
              <a:ext cx="2368550" cy="352425"/>
            </a:xfrm>
            <a:custGeom>
              <a:avLst/>
              <a:gdLst/>
              <a:ahLst/>
              <a:cxnLst/>
              <a:rect l="l" t="t" r="r" b="b"/>
              <a:pathLst>
                <a:path w="2368550" h="352425">
                  <a:moveTo>
                    <a:pt x="2361691" y="0"/>
                  </a:moveTo>
                  <a:lnTo>
                    <a:pt x="6603" y="0"/>
                  </a:lnTo>
                  <a:lnTo>
                    <a:pt x="0" y="6603"/>
                  </a:lnTo>
                  <a:lnTo>
                    <a:pt x="0" y="345439"/>
                  </a:lnTo>
                  <a:lnTo>
                    <a:pt x="6603" y="352044"/>
                  </a:lnTo>
                  <a:lnTo>
                    <a:pt x="2361691" y="352044"/>
                  </a:lnTo>
                  <a:lnTo>
                    <a:pt x="2368295" y="345439"/>
                  </a:lnTo>
                  <a:lnTo>
                    <a:pt x="2368295" y="66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6161532" y="4500371"/>
            <a:ext cx="2368550" cy="352425"/>
          </a:xfrm>
          <a:prstGeom prst="rect">
            <a:avLst/>
          </a:prstGeom>
          <a:ln w="19303">
            <a:solidFill>
              <a:srgbClr val="4D4D4D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420"/>
              </a:spcBef>
            </a:pPr>
            <a:r>
              <a:rPr sz="1600" b="1" spc="-10" dirty="0">
                <a:latin typeface="Verdana"/>
                <a:cs typeface="Verdana"/>
              </a:rPr>
              <a:t>DHCP</a:t>
            </a:r>
            <a:r>
              <a:rPr sz="1600" b="1" spc="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Server2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1470660" y="3241548"/>
            <a:ext cx="7492365" cy="3459479"/>
            <a:chOff x="1470660" y="3241548"/>
            <a:chExt cx="7492365" cy="3459479"/>
          </a:xfrm>
        </p:grpSpPr>
        <p:sp>
          <p:nvSpPr>
            <p:cNvPr id="64" name="object 64"/>
            <p:cNvSpPr/>
            <p:nvPr/>
          </p:nvSpPr>
          <p:spPr>
            <a:xfrm>
              <a:off x="1470660" y="3241548"/>
              <a:ext cx="598931" cy="729995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195066" y="4942332"/>
              <a:ext cx="1521460" cy="114300"/>
            </a:xfrm>
            <a:custGeom>
              <a:avLst/>
              <a:gdLst/>
              <a:ahLst/>
              <a:cxnLst/>
              <a:rect l="l" t="t" r="r" b="b"/>
              <a:pathLst>
                <a:path w="1521460" h="114300">
                  <a:moveTo>
                    <a:pt x="1406651" y="0"/>
                  </a:moveTo>
                  <a:lnTo>
                    <a:pt x="1406651" y="114300"/>
                  </a:lnTo>
                  <a:lnTo>
                    <a:pt x="1482851" y="76200"/>
                  </a:lnTo>
                  <a:lnTo>
                    <a:pt x="1425701" y="76200"/>
                  </a:lnTo>
                  <a:lnTo>
                    <a:pt x="1425701" y="38100"/>
                  </a:lnTo>
                  <a:lnTo>
                    <a:pt x="1482851" y="38100"/>
                  </a:lnTo>
                  <a:lnTo>
                    <a:pt x="1406651" y="0"/>
                  </a:lnTo>
                  <a:close/>
                </a:path>
                <a:path w="1521460" h="114300">
                  <a:moveTo>
                    <a:pt x="1406651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406651" y="76200"/>
                  </a:lnTo>
                  <a:lnTo>
                    <a:pt x="1406651" y="38100"/>
                  </a:lnTo>
                  <a:close/>
                </a:path>
                <a:path w="1521460" h="114300">
                  <a:moveTo>
                    <a:pt x="1482851" y="38100"/>
                  </a:moveTo>
                  <a:lnTo>
                    <a:pt x="1425701" y="38100"/>
                  </a:lnTo>
                  <a:lnTo>
                    <a:pt x="1425701" y="76200"/>
                  </a:lnTo>
                  <a:lnTo>
                    <a:pt x="1482851" y="76200"/>
                  </a:lnTo>
                  <a:lnTo>
                    <a:pt x="1520951" y="57150"/>
                  </a:lnTo>
                  <a:lnTo>
                    <a:pt x="1482851" y="3810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045195" y="6271260"/>
              <a:ext cx="917448" cy="429768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8034528" y="6260592"/>
              <a:ext cx="914400" cy="426720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8212836" y="6393180"/>
              <a:ext cx="188975" cy="179832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231124" y="6387083"/>
              <a:ext cx="176783" cy="167640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226552" y="6382512"/>
              <a:ext cx="185927" cy="176783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522207" y="6352032"/>
              <a:ext cx="304800" cy="243840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596883" y="6420612"/>
              <a:ext cx="132588" cy="134111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615172" y="6414516"/>
              <a:ext cx="120396" cy="121920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8615172" y="6414516"/>
              <a:ext cx="120650" cy="121920"/>
            </a:xfrm>
            <a:custGeom>
              <a:avLst/>
              <a:gdLst/>
              <a:ahLst/>
              <a:cxnLst/>
              <a:rect l="l" t="t" r="r" b="b"/>
              <a:pathLst>
                <a:path w="120650" h="121920">
                  <a:moveTo>
                    <a:pt x="0" y="121920"/>
                  </a:moveTo>
                  <a:lnTo>
                    <a:pt x="120396" y="121920"/>
                  </a:lnTo>
                  <a:lnTo>
                    <a:pt x="120396" y="0"/>
                  </a:lnTo>
                  <a:lnTo>
                    <a:pt x="0" y="0"/>
                  </a:lnTo>
                  <a:lnTo>
                    <a:pt x="0" y="121920"/>
                  </a:lnTo>
                  <a:close/>
                </a:path>
              </a:pathLst>
            </a:custGeom>
            <a:ln w="9144">
              <a:solidFill>
                <a:srgbClr val="666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5" name="object 75"/>
          <p:cNvGrpSpPr/>
          <p:nvPr/>
        </p:nvGrpSpPr>
        <p:grpSpPr>
          <a:xfrm>
            <a:off x="193547" y="888491"/>
            <a:ext cx="8790940" cy="850900"/>
            <a:chOff x="193547" y="888491"/>
            <a:chExt cx="8790940" cy="850900"/>
          </a:xfrm>
        </p:grpSpPr>
        <p:sp>
          <p:nvSpPr>
            <p:cNvPr id="76" name="object 76"/>
            <p:cNvSpPr/>
            <p:nvPr/>
          </p:nvSpPr>
          <p:spPr>
            <a:xfrm>
              <a:off x="217931" y="912875"/>
              <a:ext cx="8758428" cy="826008"/>
            </a:xfrm>
            <a:prstGeom prst="rect">
              <a:avLst/>
            </a:prstGeom>
            <a:blipFill>
              <a:blip r:embed="rId3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16407" y="981455"/>
              <a:ext cx="8767572" cy="757427"/>
            </a:xfrm>
            <a:prstGeom prst="rect">
              <a:avLst/>
            </a:prstGeom>
            <a:blipFill>
              <a:blip r:embed="rId3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98119" y="893063"/>
              <a:ext cx="8746236" cy="813815"/>
            </a:xfrm>
            <a:prstGeom prst="rect">
              <a:avLst/>
            </a:prstGeom>
            <a:blipFill>
              <a:blip r:embed="rId3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98119" y="893063"/>
              <a:ext cx="8746490" cy="814069"/>
            </a:xfrm>
            <a:custGeom>
              <a:avLst/>
              <a:gdLst/>
              <a:ahLst/>
              <a:cxnLst/>
              <a:rect l="l" t="t" r="r" b="b"/>
              <a:pathLst>
                <a:path w="8746490" h="814069">
                  <a:moveTo>
                    <a:pt x="0" y="135636"/>
                  </a:moveTo>
                  <a:lnTo>
                    <a:pt x="6915" y="92756"/>
                  </a:lnTo>
                  <a:lnTo>
                    <a:pt x="26171" y="55522"/>
                  </a:lnTo>
                  <a:lnTo>
                    <a:pt x="55533" y="26164"/>
                  </a:lnTo>
                  <a:lnTo>
                    <a:pt x="92766" y="6912"/>
                  </a:lnTo>
                  <a:lnTo>
                    <a:pt x="135636" y="0"/>
                  </a:lnTo>
                  <a:lnTo>
                    <a:pt x="8610600" y="0"/>
                  </a:lnTo>
                  <a:lnTo>
                    <a:pt x="8653479" y="6912"/>
                  </a:lnTo>
                  <a:lnTo>
                    <a:pt x="8690713" y="26164"/>
                  </a:lnTo>
                  <a:lnTo>
                    <a:pt x="8720071" y="55522"/>
                  </a:lnTo>
                  <a:lnTo>
                    <a:pt x="8739323" y="92756"/>
                  </a:lnTo>
                  <a:lnTo>
                    <a:pt x="8746236" y="135636"/>
                  </a:lnTo>
                  <a:lnTo>
                    <a:pt x="8746236" y="678180"/>
                  </a:lnTo>
                  <a:lnTo>
                    <a:pt x="8739323" y="721059"/>
                  </a:lnTo>
                  <a:lnTo>
                    <a:pt x="8720071" y="758293"/>
                  </a:lnTo>
                  <a:lnTo>
                    <a:pt x="8690713" y="787651"/>
                  </a:lnTo>
                  <a:lnTo>
                    <a:pt x="8653479" y="806903"/>
                  </a:lnTo>
                  <a:lnTo>
                    <a:pt x="8610600" y="813815"/>
                  </a:lnTo>
                  <a:lnTo>
                    <a:pt x="135636" y="813815"/>
                  </a:lnTo>
                  <a:lnTo>
                    <a:pt x="92766" y="806903"/>
                  </a:lnTo>
                  <a:lnTo>
                    <a:pt x="55533" y="787651"/>
                  </a:lnTo>
                  <a:lnTo>
                    <a:pt x="26171" y="758293"/>
                  </a:lnTo>
                  <a:lnTo>
                    <a:pt x="6915" y="721059"/>
                  </a:lnTo>
                  <a:lnTo>
                    <a:pt x="0" y="678180"/>
                  </a:lnTo>
                  <a:lnTo>
                    <a:pt x="0" y="135636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316788" y="1012063"/>
            <a:ext cx="8438515" cy="1565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Verdana"/>
                <a:cs typeface="Verdana"/>
              </a:rPr>
              <a:t>DHCP authorization </a:t>
            </a:r>
            <a:r>
              <a:rPr sz="1800" b="1" dirty="0">
                <a:latin typeface="Verdana"/>
                <a:cs typeface="Verdana"/>
              </a:rPr>
              <a:t>is the process of </a:t>
            </a:r>
            <a:r>
              <a:rPr sz="1800" b="1" spc="-5" dirty="0">
                <a:latin typeface="Verdana"/>
                <a:cs typeface="Verdana"/>
              </a:rPr>
              <a:t>registering </a:t>
            </a:r>
            <a:r>
              <a:rPr sz="1800" b="1" dirty="0">
                <a:latin typeface="Verdana"/>
                <a:cs typeface="Verdana"/>
              </a:rPr>
              <a:t>the DHCP </a:t>
            </a:r>
            <a:r>
              <a:rPr sz="1800" b="1" spc="-5" dirty="0">
                <a:latin typeface="Verdana"/>
                <a:cs typeface="Verdana"/>
              </a:rPr>
              <a:t>Server  </a:t>
            </a:r>
            <a:r>
              <a:rPr sz="1800" b="1" dirty="0">
                <a:latin typeface="Verdana"/>
                <a:cs typeface="Verdana"/>
              </a:rPr>
              <a:t>service in the </a:t>
            </a:r>
            <a:r>
              <a:rPr sz="1800" b="1" spc="-5" dirty="0">
                <a:latin typeface="Verdana"/>
                <a:cs typeface="Verdana"/>
              </a:rPr>
              <a:t>Active </a:t>
            </a:r>
            <a:r>
              <a:rPr sz="1800" b="1" dirty="0">
                <a:latin typeface="Verdana"/>
                <a:cs typeface="Verdana"/>
              </a:rPr>
              <a:t>Directory </a:t>
            </a:r>
            <a:r>
              <a:rPr sz="1800" b="1" spc="-5" dirty="0">
                <a:latin typeface="Verdana"/>
                <a:cs typeface="Verdana"/>
              </a:rPr>
              <a:t>domain </a:t>
            </a:r>
            <a:r>
              <a:rPr sz="1800" b="1" dirty="0">
                <a:latin typeface="Verdana"/>
                <a:cs typeface="Verdana"/>
              </a:rPr>
              <a:t>to support DHCP</a:t>
            </a:r>
            <a:r>
              <a:rPr sz="1800" b="1" spc="8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clients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400">
              <a:latin typeface="Verdana"/>
              <a:cs typeface="Verdana"/>
            </a:endParaRPr>
          </a:p>
          <a:p>
            <a:pPr marL="1608455" marR="3068955">
              <a:lnSpc>
                <a:spcPts val="1630"/>
              </a:lnSpc>
            </a:pPr>
            <a:r>
              <a:rPr sz="1600" b="1" spc="-475" dirty="0">
                <a:latin typeface="Verdana"/>
                <a:cs typeface="Verdana"/>
              </a:rPr>
              <a:t>DIfHDCHPCSPeSrveerrv1erc1heficnkdss </a:t>
            </a:r>
            <a:r>
              <a:rPr sz="1600" b="1" spc="-315" dirty="0">
                <a:latin typeface="Verdana"/>
                <a:cs typeface="Verdana"/>
              </a:rPr>
              <a:t>witisthIPthe  </a:t>
            </a:r>
            <a:r>
              <a:rPr sz="1600" b="1" spc="-520" dirty="0">
                <a:latin typeface="Verdana"/>
                <a:cs typeface="Verdana"/>
              </a:rPr>
              <a:t>addodmraeisns </a:t>
            </a:r>
            <a:r>
              <a:rPr sz="1600" b="1" spc="-360" dirty="0">
                <a:latin typeface="Verdana"/>
                <a:cs typeface="Verdana"/>
              </a:rPr>
              <a:t>coonntrhoellleisrtt,othoebtsaeirnviacelist  </a:t>
            </a:r>
            <a:r>
              <a:rPr sz="1600" b="1" spc="-470" dirty="0">
                <a:latin typeface="Verdana"/>
                <a:cs typeface="Verdana"/>
              </a:rPr>
              <a:t>sotfaarutsthaonrdizseudpDpHorCtPs</a:t>
            </a:r>
            <a:r>
              <a:rPr sz="1600" b="1" spc="-405" dirty="0">
                <a:latin typeface="Verdana"/>
                <a:cs typeface="Verdana"/>
              </a:rPr>
              <a:t> </a:t>
            </a:r>
            <a:r>
              <a:rPr sz="1600" b="1" spc="-340" dirty="0">
                <a:latin typeface="Verdana"/>
                <a:cs typeface="Verdana"/>
              </a:rPr>
              <a:t>sDeHrCvePrsclients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852" y="4953"/>
            <a:ext cx="8248294" cy="369332"/>
          </a:xfrm>
        </p:spPr>
        <p:txBody>
          <a:bodyPr/>
          <a:lstStyle/>
          <a:p>
            <a:r>
              <a:rPr lang="en-US" dirty="0" smtClean="0"/>
              <a:t>DHCP Server Authentication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1655"/>
            <a:ext cx="9144000" cy="579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216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55486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 smtClean="0"/>
              <a:t> </a:t>
            </a:r>
            <a:r>
              <a:rPr spc="-5" dirty="0" smtClean="0"/>
              <a:t> </a:t>
            </a:r>
            <a:r>
              <a:rPr dirty="0"/>
              <a:t>2: </a:t>
            </a:r>
            <a:r>
              <a:rPr spc="-5" dirty="0"/>
              <a:t>Configuring </a:t>
            </a:r>
            <a:r>
              <a:rPr dirty="0"/>
              <a:t>DHCP</a:t>
            </a:r>
            <a:r>
              <a:rPr spc="15" dirty="0"/>
              <a:t> </a:t>
            </a:r>
            <a:r>
              <a:rPr dirty="0"/>
              <a:t>Scopes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328" y="946150"/>
            <a:ext cx="6357620" cy="2282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10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What </a:t>
            </a:r>
            <a:r>
              <a:rPr sz="2000" spc="-5" dirty="0">
                <a:latin typeface="Verdana"/>
                <a:cs typeface="Verdana"/>
              </a:rPr>
              <a:t>Are </a:t>
            </a:r>
            <a:r>
              <a:rPr sz="2000" dirty="0">
                <a:latin typeface="Verdana"/>
                <a:cs typeface="Verdana"/>
              </a:rPr>
              <a:t>DHCP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Scopes?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3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What Are </a:t>
            </a:r>
            <a:r>
              <a:rPr sz="2000" spc="-5" dirty="0">
                <a:latin typeface="Verdana"/>
                <a:cs typeface="Verdana"/>
              </a:rPr>
              <a:t>Superscopes </a:t>
            </a:r>
            <a:r>
              <a:rPr sz="2000" dirty="0">
                <a:latin typeface="Verdana"/>
                <a:cs typeface="Verdana"/>
              </a:rPr>
              <a:t>and Multicast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Scopes?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Demonstration: </a:t>
            </a:r>
            <a:r>
              <a:rPr sz="2000" dirty="0">
                <a:latin typeface="Verdana"/>
                <a:cs typeface="Verdana"/>
              </a:rPr>
              <a:t>How </a:t>
            </a:r>
            <a:r>
              <a:rPr sz="2000" spc="-5" dirty="0">
                <a:latin typeface="Verdana"/>
                <a:cs typeface="Verdana"/>
              </a:rPr>
              <a:t>To Configure </a:t>
            </a:r>
            <a:r>
              <a:rPr sz="2000" dirty="0">
                <a:latin typeface="Verdana"/>
                <a:cs typeface="Verdana"/>
              </a:rPr>
              <a:t>DHCP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Scopes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What Is a DHCP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Reservation?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DHCP </a:t>
            </a:r>
            <a:r>
              <a:rPr sz="2000" spc="-5" dirty="0">
                <a:latin typeface="Verdana"/>
                <a:cs typeface="Verdana"/>
              </a:rPr>
              <a:t>Sizing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Availability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37782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Are DHCP</a:t>
            </a:r>
            <a:r>
              <a:rPr spc="-95" dirty="0"/>
              <a:t> </a:t>
            </a:r>
            <a:r>
              <a:rPr dirty="0"/>
              <a:t>Scopes?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49261" y="1013269"/>
            <a:ext cx="7258050" cy="763905"/>
            <a:chOff x="949261" y="1013269"/>
            <a:chExt cx="7258050" cy="763905"/>
          </a:xfrm>
        </p:grpSpPr>
        <p:sp>
          <p:nvSpPr>
            <p:cNvPr id="4" name="object 4"/>
            <p:cNvSpPr/>
            <p:nvPr/>
          </p:nvSpPr>
          <p:spPr>
            <a:xfrm>
              <a:off x="973836" y="1037844"/>
              <a:ext cx="7232904" cy="65379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3168" y="1019556"/>
              <a:ext cx="7100316" cy="75742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54024" y="1018032"/>
              <a:ext cx="7220711" cy="64160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54024" y="1018032"/>
              <a:ext cx="7221220" cy="641985"/>
            </a:xfrm>
            <a:custGeom>
              <a:avLst/>
              <a:gdLst/>
              <a:ahLst/>
              <a:cxnLst/>
              <a:rect l="l" t="t" r="r" b="b"/>
              <a:pathLst>
                <a:path w="7221220" h="641985">
                  <a:moveTo>
                    <a:pt x="0" y="106933"/>
                  </a:moveTo>
                  <a:lnTo>
                    <a:pt x="8403" y="65311"/>
                  </a:lnTo>
                  <a:lnTo>
                    <a:pt x="31321" y="31321"/>
                  </a:lnTo>
                  <a:lnTo>
                    <a:pt x="65311" y="8403"/>
                  </a:lnTo>
                  <a:lnTo>
                    <a:pt x="106934" y="0"/>
                  </a:lnTo>
                  <a:lnTo>
                    <a:pt x="7113778" y="0"/>
                  </a:lnTo>
                  <a:lnTo>
                    <a:pt x="7155400" y="8403"/>
                  </a:lnTo>
                  <a:lnTo>
                    <a:pt x="7189390" y="31321"/>
                  </a:lnTo>
                  <a:lnTo>
                    <a:pt x="7212308" y="65311"/>
                  </a:lnTo>
                  <a:lnTo>
                    <a:pt x="7220711" y="106933"/>
                  </a:lnTo>
                  <a:lnTo>
                    <a:pt x="7220711" y="534669"/>
                  </a:lnTo>
                  <a:lnTo>
                    <a:pt x="7212308" y="576292"/>
                  </a:lnTo>
                  <a:lnTo>
                    <a:pt x="7189390" y="610282"/>
                  </a:lnTo>
                  <a:lnTo>
                    <a:pt x="7155400" y="633200"/>
                  </a:lnTo>
                  <a:lnTo>
                    <a:pt x="7113778" y="641603"/>
                  </a:lnTo>
                  <a:lnTo>
                    <a:pt x="106934" y="641603"/>
                  </a:lnTo>
                  <a:lnTo>
                    <a:pt x="65311" y="633200"/>
                  </a:lnTo>
                  <a:lnTo>
                    <a:pt x="31321" y="610282"/>
                  </a:lnTo>
                  <a:lnTo>
                    <a:pt x="8403" y="576292"/>
                  </a:lnTo>
                  <a:lnTo>
                    <a:pt x="0" y="534669"/>
                  </a:lnTo>
                  <a:lnTo>
                    <a:pt x="0" y="106933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64463" y="1050163"/>
            <a:ext cx="67684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Verdana"/>
                <a:cs typeface="Verdana"/>
              </a:rPr>
              <a:t>A </a:t>
            </a:r>
            <a:r>
              <a:rPr sz="1800" b="1" i="1" spc="-5" dirty="0">
                <a:latin typeface="Verdana"/>
                <a:cs typeface="Verdana"/>
              </a:rPr>
              <a:t>scope </a:t>
            </a:r>
            <a:r>
              <a:rPr sz="1800" b="1" dirty="0">
                <a:latin typeface="Verdana"/>
                <a:cs typeface="Verdana"/>
              </a:rPr>
              <a:t>is a </a:t>
            </a:r>
            <a:r>
              <a:rPr sz="1800" b="1" spc="-5" dirty="0">
                <a:latin typeface="Verdana"/>
                <a:cs typeface="Verdana"/>
              </a:rPr>
              <a:t>range </a:t>
            </a:r>
            <a:r>
              <a:rPr sz="1800" b="1" dirty="0">
                <a:latin typeface="Verdana"/>
                <a:cs typeface="Verdana"/>
              </a:rPr>
              <a:t>of IP </a:t>
            </a:r>
            <a:r>
              <a:rPr sz="1800" b="1" spc="-5" dirty="0">
                <a:latin typeface="Verdana"/>
                <a:cs typeface="Verdana"/>
              </a:rPr>
              <a:t>addresses </a:t>
            </a:r>
            <a:r>
              <a:rPr sz="1800" b="1" dirty="0">
                <a:latin typeface="Verdana"/>
                <a:cs typeface="Verdana"/>
              </a:rPr>
              <a:t>that are </a:t>
            </a:r>
            <a:r>
              <a:rPr sz="1800" b="1" spc="-10" dirty="0">
                <a:latin typeface="Verdana"/>
                <a:cs typeface="Verdana"/>
              </a:rPr>
              <a:t>available  </a:t>
            </a:r>
            <a:r>
              <a:rPr sz="1800" b="1" dirty="0">
                <a:latin typeface="Verdana"/>
                <a:cs typeface="Verdana"/>
              </a:rPr>
              <a:t>to </a:t>
            </a:r>
            <a:r>
              <a:rPr sz="1800" b="1" spc="-5" dirty="0">
                <a:latin typeface="Verdana"/>
                <a:cs typeface="Verdana"/>
              </a:rPr>
              <a:t>be</a:t>
            </a:r>
            <a:r>
              <a:rPr sz="1800" b="1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leased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39177" y="4265485"/>
            <a:ext cx="7071995" cy="1927225"/>
            <a:chOff x="1039177" y="4265485"/>
            <a:chExt cx="7071995" cy="1927225"/>
          </a:xfrm>
        </p:grpSpPr>
        <p:sp>
          <p:nvSpPr>
            <p:cNvPr id="10" name="object 10"/>
            <p:cNvSpPr/>
            <p:nvPr/>
          </p:nvSpPr>
          <p:spPr>
            <a:xfrm>
              <a:off x="1043939" y="4270247"/>
              <a:ext cx="7062470" cy="1917700"/>
            </a:xfrm>
            <a:custGeom>
              <a:avLst/>
              <a:gdLst/>
              <a:ahLst/>
              <a:cxnLst/>
              <a:rect l="l" t="t" r="r" b="b"/>
              <a:pathLst>
                <a:path w="7062470" h="1917700">
                  <a:moveTo>
                    <a:pt x="6982333" y="0"/>
                  </a:moveTo>
                  <a:lnTo>
                    <a:pt x="79895" y="0"/>
                  </a:lnTo>
                  <a:lnTo>
                    <a:pt x="48793" y="6284"/>
                  </a:lnTo>
                  <a:lnTo>
                    <a:pt x="23398" y="23415"/>
                  </a:lnTo>
                  <a:lnTo>
                    <a:pt x="6277" y="48809"/>
                  </a:lnTo>
                  <a:lnTo>
                    <a:pt x="0" y="79882"/>
                  </a:lnTo>
                  <a:lnTo>
                    <a:pt x="0" y="1837296"/>
                  </a:lnTo>
                  <a:lnTo>
                    <a:pt x="6277" y="1868398"/>
                  </a:lnTo>
                  <a:lnTo>
                    <a:pt x="23398" y="1893793"/>
                  </a:lnTo>
                  <a:lnTo>
                    <a:pt x="48793" y="1910914"/>
                  </a:lnTo>
                  <a:lnTo>
                    <a:pt x="79895" y="1917191"/>
                  </a:lnTo>
                  <a:lnTo>
                    <a:pt x="6982333" y="1917191"/>
                  </a:lnTo>
                  <a:lnTo>
                    <a:pt x="7013406" y="1910914"/>
                  </a:lnTo>
                  <a:lnTo>
                    <a:pt x="7038800" y="1893793"/>
                  </a:lnTo>
                  <a:lnTo>
                    <a:pt x="7055931" y="1868398"/>
                  </a:lnTo>
                  <a:lnTo>
                    <a:pt x="7062215" y="1837296"/>
                  </a:lnTo>
                  <a:lnTo>
                    <a:pt x="7062215" y="79882"/>
                  </a:lnTo>
                  <a:lnTo>
                    <a:pt x="7055931" y="48809"/>
                  </a:lnTo>
                  <a:lnTo>
                    <a:pt x="7038800" y="23415"/>
                  </a:lnTo>
                  <a:lnTo>
                    <a:pt x="7013406" y="6284"/>
                  </a:lnTo>
                  <a:lnTo>
                    <a:pt x="6982333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43939" y="4270247"/>
              <a:ext cx="7062470" cy="1917700"/>
            </a:xfrm>
            <a:custGeom>
              <a:avLst/>
              <a:gdLst/>
              <a:ahLst/>
              <a:cxnLst/>
              <a:rect l="l" t="t" r="r" b="b"/>
              <a:pathLst>
                <a:path w="7062470" h="1917700">
                  <a:moveTo>
                    <a:pt x="0" y="79882"/>
                  </a:moveTo>
                  <a:lnTo>
                    <a:pt x="6277" y="48809"/>
                  </a:lnTo>
                  <a:lnTo>
                    <a:pt x="23398" y="23415"/>
                  </a:lnTo>
                  <a:lnTo>
                    <a:pt x="48793" y="6284"/>
                  </a:lnTo>
                  <a:lnTo>
                    <a:pt x="79895" y="0"/>
                  </a:lnTo>
                  <a:lnTo>
                    <a:pt x="6982333" y="0"/>
                  </a:lnTo>
                  <a:lnTo>
                    <a:pt x="7013406" y="6284"/>
                  </a:lnTo>
                  <a:lnTo>
                    <a:pt x="7038800" y="23415"/>
                  </a:lnTo>
                  <a:lnTo>
                    <a:pt x="7055931" y="48809"/>
                  </a:lnTo>
                  <a:lnTo>
                    <a:pt x="7062215" y="79882"/>
                  </a:lnTo>
                  <a:lnTo>
                    <a:pt x="7062215" y="1837296"/>
                  </a:lnTo>
                  <a:lnTo>
                    <a:pt x="7055931" y="1868398"/>
                  </a:lnTo>
                  <a:lnTo>
                    <a:pt x="7038800" y="1893793"/>
                  </a:lnTo>
                  <a:lnTo>
                    <a:pt x="7013406" y="1910914"/>
                  </a:lnTo>
                  <a:lnTo>
                    <a:pt x="6982333" y="1917191"/>
                  </a:lnTo>
                  <a:lnTo>
                    <a:pt x="79895" y="1917191"/>
                  </a:lnTo>
                  <a:lnTo>
                    <a:pt x="48793" y="1910914"/>
                  </a:lnTo>
                  <a:lnTo>
                    <a:pt x="23398" y="1893793"/>
                  </a:lnTo>
                  <a:lnTo>
                    <a:pt x="6277" y="1868398"/>
                  </a:lnTo>
                  <a:lnTo>
                    <a:pt x="0" y="1837296"/>
                  </a:lnTo>
                  <a:lnTo>
                    <a:pt x="0" y="79882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147063" y="4325823"/>
            <a:ext cx="22047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Verdana"/>
                <a:cs typeface="Verdana"/>
              </a:rPr>
              <a:t>Scope</a:t>
            </a:r>
            <a:r>
              <a:rPr sz="1800" b="1" spc="-7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Properties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69301" y="4701349"/>
            <a:ext cx="6486525" cy="1186180"/>
            <a:chOff x="1269301" y="4701349"/>
            <a:chExt cx="6486525" cy="1186180"/>
          </a:xfrm>
        </p:grpSpPr>
        <p:sp>
          <p:nvSpPr>
            <p:cNvPr id="14" name="object 14"/>
            <p:cNvSpPr/>
            <p:nvPr/>
          </p:nvSpPr>
          <p:spPr>
            <a:xfrm>
              <a:off x="1274063" y="4706111"/>
              <a:ext cx="6477000" cy="1176655"/>
            </a:xfrm>
            <a:custGeom>
              <a:avLst/>
              <a:gdLst/>
              <a:ahLst/>
              <a:cxnLst/>
              <a:rect l="l" t="t" r="r" b="b"/>
              <a:pathLst>
                <a:path w="6477000" h="1176654">
                  <a:moveTo>
                    <a:pt x="6427978" y="0"/>
                  </a:moveTo>
                  <a:lnTo>
                    <a:pt x="49022" y="0"/>
                  </a:lnTo>
                  <a:lnTo>
                    <a:pt x="29950" y="3855"/>
                  </a:lnTo>
                  <a:lnTo>
                    <a:pt x="14366" y="14366"/>
                  </a:lnTo>
                  <a:lnTo>
                    <a:pt x="3855" y="29950"/>
                  </a:lnTo>
                  <a:lnTo>
                    <a:pt x="0" y="49021"/>
                  </a:lnTo>
                  <a:lnTo>
                    <a:pt x="0" y="1127506"/>
                  </a:lnTo>
                  <a:lnTo>
                    <a:pt x="3855" y="1146588"/>
                  </a:lnTo>
                  <a:lnTo>
                    <a:pt x="14366" y="1162170"/>
                  </a:lnTo>
                  <a:lnTo>
                    <a:pt x="29950" y="1172675"/>
                  </a:lnTo>
                  <a:lnTo>
                    <a:pt x="49022" y="1176528"/>
                  </a:lnTo>
                  <a:lnTo>
                    <a:pt x="6427978" y="1176528"/>
                  </a:lnTo>
                  <a:lnTo>
                    <a:pt x="6447049" y="1172675"/>
                  </a:lnTo>
                  <a:lnTo>
                    <a:pt x="6462633" y="1162170"/>
                  </a:lnTo>
                  <a:lnTo>
                    <a:pt x="6473144" y="1146588"/>
                  </a:lnTo>
                  <a:lnTo>
                    <a:pt x="6477000" y="1127506"/>
                  </a:lnTo>
                  <a:lnTo>
                    <a:pt x="6477000" y="49021"/>
                  </a:lnTo>
                  <a:lnTo>
                    <a:pt x="6473144" y="29950"/>
                  </a:lnTo>
                  <a:lnTo>
                    <a:pt x="6462633" y="14366"/>
                  </a:lnTo>
                  <a:lnTo>
                    <a:pt x="6447049" y="3855"/>
                  </a:lnTo>
                  <a:lnTo>
                    <a:pt x="6427978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74063" y="4706111"/>
              <a:ext cx="6477000" cy="1176655"/>
            </a:xfrm>
            <a:custGeom>
              <a:avLst/>
              <a:gdLst/>
              <a:ahLst/>
              <a:cxnLst/>
              <a:rect l="l" t="t" r="r" b="b"/>
              <a:pathLst>
                <a:path w="6477000" h="1176654">
                  <a:moveTo>
                    <a:pt x="0" y="49021"/>
                  </a:moveTo>
                  <a:lnTo>
                    <a:pt x="3855" y="29950"/>
                  </a:lnTo>
                  <a:lnTo>
                    <a:pt x="14366" y="14366"/>
                  </a:lnTo>
                  <a:lnTo>
                    <a:pt x="29950" y="3855"/>
                  </a:lnTo>
                  <a:lnTo>
                    <a:pt x="49022" y="0"/>
                  </a:lnTo>
                  <a:lnTo>
                    <a:pt x="6427978" y="0"/>
                  </a:lnTo>
                  <a:lnTo>
                    <a:pt x="6447049" y="3855"/>
                  </a:lnTo>
                  <a:lnTo>
                    <a:pt x="6462633" y="14366"/>
                  </a:lnTo>
                  <a:lnTo>
                    <a:pt x="6473144" y="29950"/>
                  </a:lnTo>
                  <a:lnTo>
                    <a:pt x="6477000" y="49021"/>
                  </a:lnTo>
                  <a:lnTo>
                    <a:pt x="6477000" y="1127506"/>
                  </a:lnTo>
                  <a:lnTo>
                    <a:pt x="6473144" y="1146588"/>
                  </a:lnTo>
                  <a:lnTo>
                    <a:pt x="6462633" y="1162170"/>
                  </a:lnTo>
                  <a:lnTo>
                    <a:pt x="6447049" y="1172675"/>
                  </a:lnTo>
                  <a:lnTo>
                    <a:pt x="6427978" y="1176528"/>
                  </a:lnTo>
                  <a:lnTo>
                    <a:pt x="49022" y="1176528"/>
                  </a:lnTo>
                  <a:lnTo>
                    <a:pt x="29950" y="1172675"/>
                  </a:lnTo>
                  <a:lnTo>
                    <a:pt x="14366" y="1162170"/>
                  </a:lnTo>
                  <a:lnTo>
                    <a:pt x="3855" y="1146588"/>
                  </a:lnTo>
                  <a:lnTo>
                    <a:pt x="0" y="1127506"/>
                  </a:lnTo>
                  <a:lnTo>
                    <a:pt x="0" y="49021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91555" y="4756403"/>
              <a:ext cx="2054860" cy="828040"/>
            </a:xfrm>
            <a:custGeom>
              <a:avLst/>
              <a:gdLst/>
              <a:ahLst/>
              <a:cxnLst/>
              <a:rect l="l" t="t" r="r" b="b"/>
              <a:pathLst>
                <a:path w="2054859" h="828039">
                  <a:moveTo>
                    <a:pt x="2054352" y="0"/>
                  </a:moveTo>
                  <a:lnTo>
                    <a:pt x="0" y="0"/>
                  </a:lnTo>
                  <a:lnTo>
                    <a:pt x="0" y="827532"/>
                  </a:lnTo>
                  <a:lnTo>
                    <a:pt x="2054352" y="827532"/>
                  </a:lnTo>
                  <a:lnTo>
                    <a:pt x="205435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670930" y="4826965"/>
            <a:ext cx="1807210" cy="659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00" indent="-178435">
              <a:lnSpc>
                <a:spcPct val="100000"/>
              </a:lnSpc>
              <a:spcBef>
                <a:spcPts val="95"/>
              </a:spcBef>
              <a:buClr>
                <a:srgbClr val="006699"/>
              </a:buClr>
              <a:buSzPct val="90625"/>
              <a:buChar char="•"/>
              <a:tabLst>
                <a:tab pos="191135" algn="l"/>
              </a:tabLst>
            </a:pPr>
            <a:r>
              <a:rPr sz="1600" spc="-5" dirty="0">
                <a:latin typeface="Verdana"/>
                <a:cs typeface="Verdana"/>
              </a:rPr>
              <a:t>Scope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name</a:t>
            </a:r>
            <a:endParaRPr sz="1600">
              <a:latin typeface="Verdana"/>
              <a:cs typeface="Verdana"/>
            </a:endParaRPr>
          </a:p>
          <a:p>
            <a:pPr marL="190500" indent="-178435">
              <a:lnSpc>
                <a:spcPct val="100000"/>
              </a:lnSpc>
              <a:spcBef>
                <a:spcPts val="1155"/>
              </a:spcBef>
              <a:buClr>
                <a:srgbClr val="006699"/>
              </a:buClr>
              <a:buSzPct val="90625"/>
              <a:buChar char="•"/>
              <a:tabLst>
                <a:tab pos="191135" algn="l"/>
              </a:tabLst>
            </a:pPr>
            <a:r>
              <a:rPr sz="1600" spc="-10" dirty="0">
                <a:latin typeface="Verdana"/>
                <a:cs typeface="Verdana"/>
              </a:rPr>
              <a:t>Exclusion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range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383279" y="4812791"/>
            <a:ext cx="2208530" cy="944880"/>
          </a:xfrm>
          <a:custGeom>
            <a:avLst/>
            <a:gdLst/>
            <a:ahLst/>
            <a:cxnLst/>
            <a:rect l="l" t="t" r="r" b="b"/>
            <a:pathLst>
              <a:path w="2208529" h="944879">
                <a:moveTo>
                  <a:pt x="2208276" y="0"/>
                </a:moveTo>
                <a:lnTo>
                  <a:pt x="0" y="0"/>
                </a:lnTo>
                <a:lnTo>
                  <a:pt x="0" y="944880"/>
                </a:lnTo>
                <a:lnTo>
                  <a:pt x="2208276" y="944880"/>
                </a:lnTo>
                <a:lnTo>
                  <a:pt x="2208276" y="0"/>
                </a:lnTo>
                <a:close/>
              </a:path>
            </a:pathLst>
          </a:custGeom>
          <a:solidFill>
            <a:srgbClr val="F1E7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462273" y="4833620"/>
            <a:ext cx="170370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00" indent="-178435">
              <a:lnSpc>
                <a:spcPct val="100000"/>
              </a:lnSpc>
              <a:spcBef>
                <a:spcPts val="95"/>
              </a:spcBef>
              <a:buClr>
                <a:srgbClr val="006699"/>
              </a:buClr>
              <a:buSzPct val="90625"/>
              <a:buChar char="•"/>
              <a:tabLst>
                <a:tab pos="191135" algn="l"/>
              </a:tabLst>
            </a:pPr>
            <a:r>
              <a:rPr sz="1600" spc="-5" dirty="0">
                <a:latin typeface="Verdana"/>
                <a:cs typeface="Verdana"/>
              </a:rPr>
              <a:t>Lease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duration</a:t>
            </a:r>
            <a:endParaRPr sz="1600">
              <a:latin typeface="Verdana"/>
              <a:cs typeface="Verdana"/>
            </a:endParaRPr>
          </a:p>
          <a:p>
            <a:pPr marL="190500" marR="54610" indent="-178435">
              <a:lnSpc>
                <a:spcPts val="1730"/>
              </a:lnSpc>
              <a:spcBef>
                <a:spcPts val="1370"/>
              </a:spcBef>
              <a:buClr>
                <a:srgbClr val="006699"/>
              </a:buClr>
              <a:buSzPct val="90625"/>
              <a:buChar char="•"/>
              <a:tabLst>
                <a:tab pos="191135" algn="l"/>
              </a:tabLst>
            </a:pPr>
            <a:r>
              <a:rPr sz="1600" spc="-10" dirty="0">
                <a:latin typeface="Verdana"/>
                <a:cs typeface="Verdana"/>
              </a:rPr>
              <a:t>Network </a:t>
            </a:r>
            <a:r>
              <a:rPr sz="1600" dirty="0">
                <a:latin typeface="Verdana"/>
                <a:cs typeface="Verdana"/>
              </a:rPr>
              <a:t>IP  </a:t>
            </a:r>
            <a:r>
              <a:rPr sz="1600" spc="-5" dirty="0">
                <a:latin typeface="Verdana"/>
                <a:cs typeface="Verdana"/>
              </a:rPr>
              <a:t>address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range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356360" y="4765547"/>
            <a:ext cx="2026920" cy="870585"/>
          </a:xfrm>
          <a:custGeom>
            <a:avLst/>
            <a:gdLst/>
            <a:ahLst/>
            <a:cxnLst/>
            <a:rect l="l" t="t" r="r" b="b"/>
            <a:pathLst>
              <a:path w="2026920" h="870585">
                <a:moveTo>
                  <a:pt x="2026919" y="0"/>
                </a:moveTo>
                <a:lnTo>
                  <a:pt x="0" y="0"/>
                </a:lnTo>
                <a:lnTo>
                  <a:pt x="0" y="870204"/>
                </a:lnTo>
                <a:lnTo>
                  <a:pt x="2026919" y="870204"/>
                </a:lnTo>
                <a:lnTo>
                  <a:pt x="2026919" y="0"/>
                </a:lnTo>
                <a:close/>
              </a:path>
            </a:pathLst>
          </a:custGeom>
          <a:solidFill>
            <a:srgbClr val="F1E7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434846" y="4858258"/>
            <a:ext cx="1543685" cy="659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00" indent="-178435">
              <a:lnSpc>
                <a:spcPct val="100000"/>
              </a:lnSpc>
              <a:spcBef>
                <a:spcPts val="95"/>
              </a:spcBef>
              <a:buClr>
                <a:srgbClr val="006699"/>
              </a:buClr>
              <a:buSzPct val="90625"/>
              <a:buChar char="•"/>
              <a:tabLst>
                <a:tab pos="191135" algn="l"/>
              </a:tabLst>
            </a:pPr>
            <a:r>
              <a:rPr sz="1600" spc="-10" dirty="0">
                <a:latin typeface="Verdana"/>
                <a:cs typeface="Verdana"/>
              </a:rPr>
              <a:t>Network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ID</a:t>
            </a:r>
            <a:endParaRPr sz="1600">
              <a:latin typeface="Verdana"/>
              <a:cs typeface="Verdana"/>
            </a:endParaRPr>
          </a:p>
          <a:p>
            <a:pPr marL="190500" indent="-178435">
              <a:lnSpc>
                <a:spcPct val="100000"/>
              </a:lnSpc>
              <a:spcBef>
                <a:spcPts val="1150"/>
              </a:spcBef>
              <a:buClr>
                <a:srgbClr val="006699"/>
              </a:buClr>
              <a:buSzPct val="90625"/>
              <a:buChar char="•"/>
              <a:tabLst>
                <a:tab pos="191135" algn="l"/>
              </a:tabLst>
            </a:pPr>
            <a:r>
              <a:rPr sz="1600" spc="-5" dirty="0">
                <a:latin typeface="Verdana"/>
                <a:cs typeface="Verdana"/>
              </a:rPr>
              <a:t>Subnet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mask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033081" y="1788985"/>
            <a:ext cx="7061200" cy="2256155"/>
            <a:chOff x="1033081" y="1788985"/>
            <a:chExt cx="7061200" cy="2256155"/>
          </a:xfrm>
        </p:grpSpPr>
        <p:sp>
          <p:nvSpPr>
            <p:cNvPr id="23" name="object 23"/>
            <p:cNvSpPr/>
            <p:nvPr/>
          </p:nvSpPr>
          <p:spPr>
            <a:xfrm>
              <a:off x="1037844" y="1793748"/>
              <a:ext cx="7051675" cy="2246630"/>
            </a:xfrm>
            <a:custGeom>
              <a:avLst/>
              <a:gdLst/>
              <a:ahLst/>
              <a:cxnLst/>
              <a:rect l="l" t="t" r="r" b="b"/>
              <a:pathLst>
                <a:path w="7051675" h="2246629">
                  <a:moveTo>
                    <a:pt x="6780783" y="0"/>
                  </a:moveTo>
                  <a:lnTo>
                    <a:pt x="270764" y="0"/>
                  </a:lnTo>
                  <a:lnTo>
                    <a:pt x="222099" y="4364"/>
                  </a:lnTo>
                  <a:lnTo>
                    <a:pt x="176294" y="16946"/>
                  </a:lnTo>
                  <a:lnTo>
                    <a:pt x="134113" y="36980"/>
                  </a:lnTo>
                  <a:lnTo>
                    <a:pt x="96323" y="63699"/>
                  </a:lnTo>
                  <a:lnTo>
                    <a:pt x="63687" y="96338"/>
                  </a:lnTo>
                  <a:lnTo>
                    <a:pt x="36972" y="134130"/>
                  </a:lnTo>
                  <a:lnTo>
                    <a:pt x="16942" y="176309"/>
                  </a:lnTo>
                  <a:lnTo>
                    <a:pt x="4363" y="222109"/>
                  </a:lnTo>
                  <a:lnTo>
                    <a:pt x="0" y="270763"/>
                  </a:lnTo>
                  <a:lnTo>
                    <a:pt x="0" y="1975612"/>
                  </a:lnTo>
                  <a:lnTo>
                    <a:pt x="4363" y="2024266"/>
                  </a:lnTo>
                  <a:lnTo>
                    <a:pt x="16942" y="2070066"/>
                  </a:lnTo>
                  <a:lnTo>
                    <a:pt x="36972" y="2112245"/>
                  </a:lnTo>
                  <a:lnTo>
                    <a:pt x="63687" y="2150037"/>
                  </a:lnTo>
                  <a:lnTo>
                    <a:pt x="96323" y="2182676"/>
                  </a:lnTo>
                  <a:lnTo>
                    <a:pt x="134113" y="2209395"/>
                  </a:lnTo>
                  <a:lnTo>
                    <a:pt x="176294" y="2229429"/>
                  </a:lnTo>
                  <a:lnTo>
                    <a:pt x="222099" y="2242011"/>
                  </a:lnTo>
                  <a:lnTo>
                    <a:pt x="270764" y="2246376"/>
                  </a:lnTo>
                  <a:lnTo>
                    <a:pt x="6780783" y="2246376"/>
                  </a:lnTo>
                  <a:lnTo>
                    <a:pt x="6829438" y="2242011"/>
                  </a:lnTo>
                  <a:lnTo>
                    <a:pt x="6875238" y="2229429"/>
                  </a:lnTo>
                  <a:lnTo>
                    <a:pt x="6917417" y="2209395"/>
                  </a:lnTo>
                  <a:lnTo>
                    <a:pt x="6955209" y="2182676"/>
                  </a:lnTo>
                  <a:lnTo>
                    <a:pt x="6987848" y="2150037"/>
                  </a:lnTo>
                  <a:lnTo>
                    <a:pt x="7014567" y="2112245"/>
                  </a:lnTo>
                  <a:lnTo>
                    <a:pt x="7034601" y="2070066"/>
                  </a:lnTo>
                  <a:lnTo>
                    <a:pt x="7047183" y="2024266"/>
                  </a:lnTo>
                  <a:lnTo>
                    <a:pt x="7051548" y="1975612"/>
                  </a:lnTo>
                  <a:lnTo>
                    <a:pt x="7051548" y="270763"/>
                  </a:lnTo>
                  <a:lnTo>
                    <a:pt x="7047183" y="222109"/>
                  </a:lnTo>
                  <a:lnTo>
                    <a:pt x="7034601" y="176309"/>
                  </a:lnTo>
                  <a:lnTo>
                    <a:pt x="7014567" y="134130"/>
                  </a:lnTo>
                  <a:lnTo>
                    <a:pt x="6987848" y="96338"/>
                  </a:lnTo>
                  <a:lnTo>
                    <a:pt x="6955209" y="63699"/>
                  </a:lnTo>
                  <a:lnTo>
                    <a:pt x="6917417" y="36980"/>
                  </a:lnTo>
                  <a:lnTo>
                    <a:pt x="6875238" y="16946"/>
                  </a:lnTo>
                  <a:lnTo>
                    <a:pt x="6829438" y="4364"/>
                  </a:lnTo>
                  <a:lnTo>
                    <a:pt x="6780783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37844" y="1793748"/>
              <a:ext cx="7051675" cy="2246630"/>
            </a:xfrm>
            <a:custGeom>
              <a:avLst/>
              <a:gdLst/>
              <a:ahLst/>
              <a:cxnLst/>
              <a:rect l="l" t="t" r="r" b="b"/>
              <a:pathLst>
                <a:path w="7051675" h="2246629">
                  <a:moveTo>
                    <a:pt x="0" y="270763"/>
                  </a:moveTo>
                  <a:lnTo>
                    <a:pt x="4363" y="222109"/>
                  </a:lnTo>
                  <a:lnTo>
                    <a:pt x="16942" y="176309"/>
                  </a:lnTo>
                  <a:lnTo>
                    <a:pt x="36972" y="134130"/>
                  </a:lnTo>
                  <a:lnTo>
                    <a:pt x="63687" y="96338"/>
                  </a:lnTo>
                  <a:lnTo>
                    <a:pt x="96323" y="63699"/>
                  </a:lnTo>
                  <a:lnTo>
                    <a:pt x="134113" y="36980"/>
                  </a:lnTo>
                  <a:lnTo>
                    <a:pt x="176294" y="16946"/>
                  </a:lnTo>
                  <a:lnTo>
                    <a:pt x="222099" y="4364"/>
                  </a:lnTo>
                  <a:lnTo>
                    <a:pt x="270764" y="0"/>
                  </a:lnTo>
                  <a:lnTo>
                    <a:pt x="6780783" y="0"/>
                  </a:lnTo>
                  <a:lnTo>
                    <a:pt x="6829438" y="4364"/>
                  </a:lnTo>
                  <a:lnTo>
                    <a:pt x="6875238" y="16946"/>
                  </a:lnTo>
                  <a:lnTo>
                    <a:pt x="6917417" y="36980"/>
                  </a:lnTo>
                  <a:lnTo>
                    <a:pt x="6955209" y="63699"/>
                  </a:lnTo>
                  <a:lnTo>
                    <a:pt x="6987848" y="96338"/>
                  </a:lnTo>
                  <a:lnTo>
                    <a:pt x="7014567" y="134130"/>
                  </a:lnTo>
                  <a:lnTo>
                    <a:pt x="7034601" y="176309"/>
                  </a:lnTo>
                  <a:lnTo>
                    <a:pt x="7047183" y="222109"/>
                  </a:lnTo>
                  <a:lnTo>
                    <a:pt x="7051548" y="270763"/>
                  </a:lnTo>
                  <a:lnTo>
                    <a:pt x="7051548" y="1975612"/>
                  </a:lnTo>
                  <a:lnTo>
                    <a:pt x="7047183" y="2024266"/>
                  </a:lnTo>
                  <a:lnTo>
                    <a:pt x="7034601" y="2070066"/>
                  </a:lnTo>
                  <a:lnTo>
                    <a:pt x="7014567" y="2112245"/>
                  </a:lnTo>
                  <a:lnTo>
                    <a:pt x="6987848" y="2150037"/>
                  </a:lnTo>
                  <a:lnTo>
                    <a:pt x="6955209" y="2182676"/>
                  </a:lnTo>
                  <a:lnTo>
                    <a:pt x="6917417" y="2209395"/>
                  </a:lnTo>
                  <a:lnTo>
                    <a:pt x="6875238" y="2229429"/>
                  </a:lnTo>
                  <a:lnTo>
                    <a:pt x="6829438" y="2242011"/>
                  </a:lnTo>
                  <a:lnTo>
                    <a:pt x="6780783" y="2246376"/>
                  </a:lnTo>
                  <a:lnTo>
                    <a:pt x="270764" y="2246376"/>
                  </a:lnTo>
                  <a:lnTo>
                    <a:pt x="222099" y="2242011"/>
                  </a:lnTo>
                  <a:lnTo>
                    <a:pt x="176294" y="2229429"/>
                  </a:lnTo>
                  <a:lnTo>
                    <a:pt x="134113" y="2209395"/>
                  </a:lnTo>
                  <a:lnTo>
                    <a:pt x="96323" y="2182676"/>
                  </a:lnTo>
                  <a:lnTo>
                    <a:pt x="63687" y="2150037"/>
                  </a:lnTo>
                  <a:lnTo>
                    <a:pt x="36972" y="2112245"/>
                  </a:lnTo>
                  <a:lnTo>
                    <a:pt x="16942" y="2070066"/>
                  </a:lnTo>
                  <a:lnTo>
                    <a:pt x="4363" y="2024266"/>
                  </a:lnTo>
                  <a:lnTo>
                    <a:pt x="0" y="1975612"/>
                  </a:lnTo>
                  <a:lnTo>
                    <a:pt x="0" y="270763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64336" y="1991868"/>
              <a:ext cx="2281428" cy="193547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009648" y="3073349"/>
            <a:ext cx="62611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Verdana"/>
                <a:cs typeface="Verdana"/>
              </a:rPr>
              <a:t>LAN</a:t>
            </a:r>
            <a:r>
              <a:rPr sz="1400" b="1" spc="-100" dirty="0">
                <a:latin typeface="Verdana"/>
                <a:cs typeface="Verdana"/>
              </a:rPr>
              <a:t> </a:t>
            </a:r>
            <a:r>
              <a:rPr sz="1400" b="1" spc="5" dirty="0">
                <a:latin typeface="Verdana"/>
                <a:cs typeface="Verdana"/>
              </a:rPr>
              <a:t>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710428" y="1991867"/>
            <a:ext cx="2282952" cy="19354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557009" y="3073349"/>
            <a:ext cx="6235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Verdana"/>
                <a:cs typeface="Verdana"/>
              </a:rPr>
              <a:t>LAN</a:t>
            </a:r>
            <a:r>
              <a:rPr sz="1400" b="1" spc="-9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B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727703" y="1947672"/>
            <a:ext cx="1702435" cy="429895"/>
            <a:chOff x="3727703" y="1947672"/>
            <a:chExt cx="1702435" cy="429895"/>
          </a:xfrm>
        </p:grpSpPr>
        <p:sp>
          <p:nvSpPr>
            <p:cNvPr id="30" name="object 30"/>
            <p:cNvSpPr/>
            <p:nvPr/>
          </p:nvSpPr>
          <p:spPr>
            <a:xfrm>
              <a:off x="3750563" y="1947672"/>
              <a:ext cx="1679448" cy="37033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727703" y="1947672"/>
              <a:ext cx="1694688" cy="429767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730752" y="1927860"/>
            <a:ext cx="1667510" cy="358140"/>
          </a:xfrm>
          <a:prstGeom prst="rect">
            <a:avLst/>
          </a:prstGeom>
          <a:solidFill>
            <a:srgbClr val="FFFFFF"/>
          </a:solidFill>
          <a:ln w="19558">
            <a:solidFill>
              <a:srgbClr val="4D4D4D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434"/>
              </a:spcBef>
            </a:pPr>
            <a:r>
              <a:rPr sz="1600" b="1" spc="-10" dirty="0">
                <a:latin typeface="Verdana"/>
                <a:cs typeface="Verdana"/>
              </a:rPr>
              <a:t>DHCP</a:t>
            </a:r>
            <a:r>
              <a:rPr sz="1600" b="1" spc="-1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Server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387597" y="2427732"/>
            <a:ext cx="2653665" cy="1428115"/>
            <a:chOff x="3387597" y="2427732"/>
            <a:chExt cx="2653665" cy="1428115"/>
          </a:xfrm>
        </p:grpSpPr>
        <p:sp>
          <p:nvSpPr>
            <p:cNvPr id="34" name="object 34"/>
            <p:cNvSpPr/>
            <p:nvPr/>
          </p:nvSpPr>
          <p:spPr>
            <a:xfrm>
              <a:off x="3416807" y="3046476"/>
              <a:ext cx="2369820" cy="0"/>
            </a:xfrm>
            <a:custGeom>
              <a:avLst/>
              <a:gdLst/>
              <a:ahLst/>
              <a:cxnLst/>
              <a:rect l="l" t="t" r="r" b="b"/>
              <a:pathLst>
                <a:path w="2369820">
                  <a:moveTo>
                    <a:pt x="0" y="0"/>
                  </a:moveTo>
                  <a:lnTo>
                    <a:pt x="2369819" y="0"/>
                  </a:lnTo>
                </a:path>
              </a:pathLst>
            </a:custGeom>
            <a:ln w="57912">
              <a:solidFill>
                <a:srgbClr val="80808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053839" y="2427732"/>
              <a:ext cx="1021080" cy="129235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843271" y="3396996"/>
              <a:ext cx="1197864" cy="42824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837175" y="3425952"/>
              <a:ext cx="1152144" cy="42976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823459" y="3377184"/>
              <a:ext cx="1185672" cy="41605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823459" y="3377184"/>
              <a:ext cx="1186180" cy="416559"/>
            </a:xfrm>
            <a:custGeom>
              <a:avLst/>
              <a:gdLst/>
              <a:ahLst/>
              <a:cxnLst/>
              <a:rect l="l" t="t" r="r" b="b"/>
              <a:pathLst>
                <a:path w="1186179" h="416560">
                  <a:moveTo>
                    <a:pt x="0" y="69341"/>
                  </a:moveTo>
                  <a:lnTo>
                    <a:pt x="5441" y="42326"/>
                  </a:lnTo>
                  <a:lnTo>
                    <a:pt x="20288" y="20288"/>
                  </a:lnTo>
                  <a:lnTo>
                    <a:pt x="42326" y="5441"/>
                  </a:lnTo>
                  <a:lnTo>
                    <a:pt x="69341" y="0"/>
                  </a:lnTo>
                  <a:lnTo>
                    <a:pt x="1116329" y="0"/>
                  </a:lnTo>
                  <a:lnTo>
                    <a:pt x="1143345" y="5441"/>
                  </a:lnTo>
                  <a:lnTo>
                    <a:pt x="1165383" y="20288"/>
                  </a:lnTo>
                  <a:lnTo>
                    <a:pt x="1180230" y="42326"/>
                  </a:lnTo>
                  <a:lnTo>
                    <a:pt x="1185672" y="69341"/>
                  </a:lnTo>
                  <a:lnTo>
                    <a:pt x="1185672" y="346709"/>
                  </a:lnTo>
                  <a:lnTo>
                    <a:pt x="1180230" y="373725"/>
                  </a:lnTo>
                  <a:lnTo>
                    <a:pt x="1165383" y="395763"/>
                  </a:lnTo>
                  <a:lnTo>
                    <a:pt x="1143345" y="410610"/>
                  </a:lnTo>
                  <a:lnTo>
                    <a:pt x="1116329" y="416051"/>
                  </a:lnTo>
                  <a:lnTo>
                    <a:pt x="69341" y="416051"/>
                  </a:lnTo>
                  <a:lnTo>
                    <a:pt x="42326" y="410610"/>
                  </a:lnTo>
                  <a:lnTo>
                    <a:pt x="20288" y="395763"/>
                  </a:lnTo>
                  <a:lnTo>
                    <a:pt x="5441" y="373725"/>
                  </a:lnTo>
                  <a:lnTo>
                    <a:pt x="0" y="346709"/>
                  </a:lnTo>
                  <a:lnTo>
                    <a:pt x="0" y="69341"/>
                  </a:lnTo>
                  <a:close/>
                </a:path>
              </a:pathLst>
            </a:custGeom>
            <a:ln w="9143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4922646" y="3449192"/>
            <a:ext cx="9309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Scope</a:t>
            </a:r>
            <a:r>
              <a:rPr sz="1600" b="1" spc="-45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B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011423" y="3354323"/>
            <a:ext cx="1222375" cy="483234"/>
            <a:chOff x="3011423" y="3354323"/>
            <a:chExt cx="1222375" cy="483234"/>
          </a:xfrm>
        </p:grpSpPr>
        <p:sp>
          <p:nvSpPr>
            <p:cNvPr id="42" name="object 42"/>
            <p:cNvSpPr/>
            <p:nvPr/>
          </p:nvSpPr>
          <p:spPr>
            <a:xfrm>
              <a:off x="3035807" y="3378707"/>
              <a:ext cx="1197864" cy="42824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029711" y="3407663"/>
              <a:ext cx="1155191" cy="429768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015995" y="3358895"/>
              <a:ext cx="1185671" cy="416051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015995" y="3358895"/>
              <a:ext cx="1186180" cy="416559"/>
            </a:xfrm>
            <a:custGeom>
              <a:avLst/>
              <a:gdLst/>
              <a:ahLst/>
              <a:cxnLst/>
              <a:rect l="l" t="t" r="r" b="b"/>
              <a:pathLst>
                <a:path w="1186179" h="416560">
                  <a:moveTo>
                    <a:pt x="0" y="69341"/>
                  </a:moveTo>
                  <a:lnTo>
                    <a:pt x="5441" y="42326"/>
                  </a:lnTo>
                  <a:lnTo>
                    <a:pt x="20288" y="20288"/>
                  </a:lnTo>
                  <a:lnTo>
                    <a:pt x="42326" y="5441"/>
                  </a:lnTo>
                  <a:lnTo>
                    <a:pt x="69342" y="0"/>
                  </a:lnTo>
                  <a:lnTo>
                    <a:pt x="1116330" y="0"/>
                  </a:lnTo>
                  <a:lnTo>
                    <a:pt x="1143345" y="5441"/>
                  </a:lnTo>
                  <a:lnTo>
                    <a:pt x="1165383" y="20288"/>
                  </a:lnTo>
                  <a:lnTo>
                    <a:pt x="1180230" y="42326"/>
                  </a:lnTo>
                  <a:lnTo>
                    <a:pt x="1185671" y="69341"/>
                  </a:lnTo>
                  <a:lnTo>
                    <a:pt x="1185671" y="346709"/>
                  </a:lnTo>
                  <a:lnTo>
                    <a:pt x="1180230" y="373725"/>
                  </a:lnTo>
                  <a:lnTo>
                    <a:pt x="1165383" y="395763"/>
                  </a:lnTo>
                  <a:lnTo>
                    <a:pt x="1143345" y="410610"/>
                  </a:lnTo>
                  <a:lnTo>
                    <a:pt x="1116330" y="416051"/>
                  </a:lnTo>
                  <a:lnTo>
                    <a:pt x="69342" y="416051"/>
                  </a:lnTo>
                  <a:lnTo>
                    <a:pt x="42326" y="410610"/>
                  </a:lnTo>
                  <a:lnTo>
                    <a:pt x="20288" y="395763"/>
                  </a:lnTo>
                  <a:lnTo>
                    <a:pt x="5441" y="373725"/>
                  </a:lnTo>
                  <a:lnTo>
                    <a:pt x="0" y="346709"/>
                  </a:lnTo>
                  <a:lnTo>
                    <a:pt x="0" y="69341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3115817" y="3431794"/>
            <a:ext cx="9340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Scope</a:t>
            </a:r>
            <a:r>
              <a:rPr sz="1600" b="1" spc="-45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A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6997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Are </a:t>
            </a:r>
            <a:r>
              <a:rPr spc="-5" dirty="0"/>
              <a:t>Superscopes </a:t>
            </a:r>
            <a:r>
              <a:rPr dirty="0"/>
              <a:t>and Multicast</a:t>
            </a:r>
            <a:r>
              <a:rPr spc="-20" dirty="0"/>
              <a:t> </a:t>
            </a:r>
            <a:r>
              <a:rPr dirty="0"/>
              <a:t>Scopes?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31557" y="1171765"/>
            <a:ext cx="7088505" cy="2442210"/>
            <a:chOff x="1031557" y="1171765"/>
            <a:chExt cx="7088505" cy="2442210"/>
          </a:xfrm>
        </p:grpSpPr>
        <p:sp>
          <p:nvSpPr>
            <p:cNvPr id="4" name="object 4"/>
            <p:cNvSpPr/>
            <p:nvPr/>
          </p:nvSpPr>
          <p:spPr>
            <a:xfrm>
              <a:off x="1056131" y="1196339"/>
              <a:ext cx="7063740" cy="24170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36319" y="1176527"/>
              <a:ext cx="7051548" cy="24048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36319" y="1176527"/>
              <a:ext cx="7051675" cy="2405380"/>
            </a:xfrm>
            <a:custGeom>
              <a:avLst/>
              <a:gdLst/>
              <a:ahLst/>
              <a:cxnLst/>
              <a:rect l="l" t="t" r="r" b="b"/>
              <a:pathLst>
                <a:path w="7051675" h="2405379">
                  <a:moveTo>
                    <a:pt x="0" y="289941"/>
                  </a:moveTo>
                  <a:lnTo>
                    <a:pt x="3794" y="242906"/>
                  </a:lnTo>
                  <a:lnTo>
                    <a:pt x="14780" y="198290"/>
                  </a:lnTo>
                  <a:lnTo>
                    <a:pt x="32361" y="156688"/>
                  </a:lnTo>
                  <a:lnTo>
                    <a:pt x="55940" y="118698"/>
                  </a:lnTo>
                  <a:lnTo>
                    <a:pt x="84920" y="84915"/>
                  </a:lnTo>
                  <a:lnTo>
                    <a:pt x="118703" y="55936"/>
                  </a:lnTo>
                  <a:lnTo>
                    <a:pt x="156694" y="32359"/>
                  </a:lnTo>
                  <a:lnTo>
                    <a:pt x="198295" y="14779"/>
                  </a:lnTo>
                  <a:lnTo>
                    <a:pt x="242910" y="3794"/>
                  </a:lnTo>
                  <a:lnTo>
                    <a:pt x="289941" y="0"/>
                  </a:lnTo>
                  <a:lnTo>
                    <a:pt x="6761607" y="0"/>
                  </a:lnTo>
                  <a:lnTo>
                    <a:pt x="6808641" y="3794"/>
                  </a:lnTo>
                  <a:lnTo>
                    <a:pt x="6853257" y="14779"/>
                  </a:lnTo>
                  <a:lnTo>
                    <a:pt x="6894859" y="32359"/>
                  </a:lnTo>
                  <a:lnTo>
                    <a:pt x="6932849" y="55936"/>
                  </a:lnTo>
                  <a:lnTo>
                    <a:pt x="6966632" y="84915"/>
                  </a:lnTo>
                  <a:lnTo>
                    <a:pt x="6995611" y="118698"/>
                  </a:lnTo>
                  <a:lnTo>
                    <a:pt x="7019188" y="156688"/>
                  </a:lnTo>
                  <a:lnTo>
                    <a:pt x="7036768" y="198290"/>
                  </a:lnTo>
                  <a:lnTo>
                    <a:pt x="7047753" y="242906"/>
                  </a:lnTo>
                  <a:lnTo>
                    <a:pt x="7051548" y="289941"/>
                  </a:lnTo>
                  <a:lnTo>
                    <a:pt x="7051548" y="2114931"/>
                  </a:lnTo>
                  <a:lnTo>
                    <a:pt x="7047753" y="2161965"/>
                  </a:lnTo>
                  <a:lnTo>
                    <a:pt x="7036768" y="2206581"/>
                  </a:lnTo>
                  <a:lnTo>
                    <a:pt x="7019188" y="2248183"/>
                  </a:lnTo>
                  <a:lnTo>
                    <a:pt x="6995611" y="2286173"/>
                  </a:lnTo>
                  <a:lnTo>
                    <a:pt x="6966632" y="2319956"/>
                  </a:lnTo>
                  <a:lnTo>
                    <a:pt x="6932849" y="2348935"/>
                  </a:lnTo>
                  <a:lnTo>
                    <a:pt x="6894859" y="2372512"/>
                  </a:lnTo>
                  <a:lnTo>
                    <a:pt x="6853257" y="2390092"/>
                  </a:lnTo>
                  <a:lnTo>
                    <a:pt x="6808641" y="2401077"/>
                  </a:lnTo>
                  <a:lnTo>
                    <a:pt x="6761607" y="2404872"/>
                  </a:lnTo>
                  <a:lnTo>
                    <a:pt x="289941" y="2404872"/>
                  </a:lnTo>
                  <a:lnTo>
                    <a:pt x="242910" y="2401077"/>
                  </a:lnTo>
                  <a:lnTo>
                    <a:pt x="198295" y="2390092"/>
                  </a:lnTo>
                  <a:lnTo>
                    <a:pt x="156694" y="2372512"/>
                  </a:lnTo>
                  <a:lnTo>
                    <a:pt x="118703" y="2348935"/>
                  </a:lnTo>
                  <a:lnTo>
                    <a:pt x="84920" y="2319956"/>
                  </a:lnTo>
                  <a:lnTo>
                    <a:pt x="55940" y="2286173"/>
                  </a:lnTo>
                  <a:lnTo>
                    <a:pt x="32361" y="2248183"/>
                  </a:lnTo>
                  <a:lnTo>
                    <a:pt x="14780" y="2206581"/>
                  </a:lnTo>
                  <a:lnTo>
                    <a:pt x="3794" y="2161965"/>
                  </a:lnTo>
                  <a:lnTo>
                    <a:pt x="0" y="2114931"/>
                  </a:lnTo>
                  <a:lnTo>
                    <a:pt x="0" y="289941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51559" y="1565147"/>
              <a:ext cx="2282952" cy="193547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930145" y="2630805"/>
            <a:ext cx="6254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Verdana"/>
                <a:cs typeface="Verdana"/>
              </a:rPr>
              <a:t>LAN</a:t>
            </a:r>
            <a:r>
              <a:rPr sz="1400" b="1" spc="-10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88152" y="1597152"/>
            <a:ext cx="2282952" cy="19354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650481" y="2630805"/>
            <a:ext cx="6229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Verdana"/>
                <a:cs typeface="Verdana"/>
              </a:rPr>
              <a:t>LAN</a:t>
            </a:r>
            <a:r>
              <a:rPr sz="1400" b="1" spc="-10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B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11523" y="1310639"/>
            <a:ext cx="1495425" cy="360045"/>
          </a:xfrm>
          <a:prstGeom prst="rect">
            <a:avLst/>
          </a:prstGeom>
          <a:solidFill>
            <a:srgbClr val="FFFFFF"/>
          </a:solidFill>
          <a:ln w="19557">
            <a:solidFill>
              <a:srgbClr val="4D4D4D"/>
            </a:solidFill>
          </a:ln>
        </p:spPr>
        <p:txBody>
          <a:bodyPr vert="horz" wrap="square" lIns="0" tIns="7239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570"/>
              </a:spcBef>
            </a:pPr>
            <a:r>
              <a:rPr sz="1400" b="1" spc="-5" dirty="0">
                <a:latin typeface="Verdana"/>
                <a:cs typeface="Verdana"/>
              </a:rPr>
              <a:t>DHCP</a:t>
            </a:r>
            <a:r>
              <a:rPr sz="1400" b="1" spc="-4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Server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118104" y="1798320"/>
            <a:ext cx="2679700" cy="1637030"/>
            <a:chOff x="3118104" y="1798320"/>
            <a:chExt cx="2679700" cy="1637030"/>
          </a:xfrm>
        </p:grpSpPr>
        <p:sp>
          <p:nvSpPr>
            <p:cNvPr id="13" name="object 13"/>
            <p:cNvSpPr/>
            <p:nvPr/>
          </p:nvSpPr>
          <p:spPr>
            <a:xfrm>
              <a:off x="3147060" y="3390900"/>
              <a:ext cx="2574290" cy="15240"/>
            </a:xfrm>
            <a:custGeom>
              <a:avLst/>
              <a:gdLst/>
              <a:ahLst/>
              <a:cxnLst/>
              <a:rect l="l" t="t" r="r" b="b"/>
              <a:pathLst>
                <a:path w="2574290" h="15239">
                  <a:moveTo>
                    <a:pt x="0" y="0"/>
                  </a:moveTo>
                  <a:lnTo>
                    <a:pt x="2574036" y="15239"/>
                  </a:lnTo>
                </a:path>
              </a:pathLst>
            </a:custGeom>
            <a:ln w="57911">
              <a:solidFill>
                <a:srgbClr val="80808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148328" y="1798320"/>
              <a:ext cx="768096" cy="97383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78708" y="2855976"/>
              <a:ext cx="2414016" cy="41605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378708" y="2855976"/>
              <a:ext cx="2414270" cy="416559"/>
            </a:xfrm>
            <a:custGeom>
              <a:avLst/>
              <a:gdLst/>
              <a:ahLst/>
              <a:cxnLst/>
              <a:rect l="l" t="t" r="r" b="b"/>
              <a:pathLst>
                <a:path w="2414270" h="416560">
                  <a:moveTo>
                    <a:pt x="0" y="69341"/>
                  </a:moveTo>
                  <a:lnTo>
                    <a:pt x="5441" y="42326"/>
                  </a:lnTo>
                  <a:lnTo>
                    <a:pt x="20288" y="20288"/>
                  </a:lnTo>
                  <a:lnTo>
                    <a:pt x="42326" y="5441"/>
                  </a:lnTo>
                  <a:lnTo>
                    <a:pt x="69341" y="0"/>
                  </a:lnTo>
                  <a:lnTo>
                    <a:pt x="2344674" y="0"/>
                  </a:lnTo>
                  <a:lnTo>
                    <a:pt x="2371689" y="5441"/>
                  </a:lnTo>
                  <a:lnTo>
                    <a:pt x="2393727" y="20288"/>
                  </a:lnTo>
                  <a:lnTo>
                    <a:pt x="2408574" y="42326"/>
                  </a:lnTo>
                  <a:lnTo>
                    <a:pt x="2414016" y="69341"/>
                  </a:lnTo>
                  <a:lnTo>
                    <a:pt x="2414016" y="346710"/>
                  </a:lnTo>
                  <a:lnTo>
                    <a:pt x="2408574" y="373725"/>
                  </a:lnTo>
                  <a:lnTo>
                    <a:pt x="2393727" y="395763"/>
                  </a:lnTo>
                  <a:lnTo>
                    <a:pt x="2371689" y="410610"/>
                  </a:lnTo>
                  <a:lnTo>
                    <a:pt x="2344674" y="416051"/>
                  </a:lnTo>
                  <a:lnTo>
                    <a:pt x="69341" y="416051"/>
                  </a:lnTo>
                  <a:lnTo>
                    <a:pt x="42326" y="410610"/>
                  </a:lnTo>
                  <a:lnTo>
                    <a:pt x="20288" y="395763"/>
                  </a:lnTo>
                  <a:lnTo>
                    <a:pt x="5441" y="373725"/>
                  </a:lnTo>
                  <a:lnTo>
                    <a:pt x="0" y="346710"/>
                  </a:lnTo>
                  <a:lnTo>
                    <a:pt x="0" y="69341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477895" y="2943606"/>
            <a:ext cx="21005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Verdana"/>
                <a:cs typeface="Verdana"/>
              </a:rPr>
              <a:t>Scope </a:t>
            </a:r>
            <a:r>
              <a:rPr sz="1400" b="1" dirty="0">
                <a:latin typeface="Verdana"/>
                <a:cs typeface="Verdana"/>
              </a:rPr>
              <a:t>A </a:t>
            </a:r>
            <a:r>
              <a:rPr sz="1400" b="1" spc="-5" dirty="0">
                <a:latin typeface="Verdana"/>
                <a:cs typeface="Verdana"/>
              </a:rPr>
              <a:t>and Scope</a:t>
            </a:r>
            <a:r>
              <a:rPr sz="1400" b="1" spc="-9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B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59929" y="3896677"/>
            <a:ext cx="7088505" cy="2283460"/>
            <a:chOff x="959929" y="3896677"/>
            <a:chExt cx="7088505" cy="2283460"/>
          </a:xfrm>
        </p:grpSpPr>
        <p:sp>
          <p:nvSpPr>
            <p:cNvPr id="19" name="object 19"/>
            <p:cNvSpPr/>
            <p:nvPr/>
          </p:nvSpPr>
          <p:spPr>
            <a:xfrm>
              <a:off x="984503" y="3921252"/>
              <a:ext cx="7063740" cy="225856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64691" y="3901440"/>
              <a:ext cx="7051548" cy="224637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64691" y="3901440"/>
              <a:ext cx="7051675" cy="2246630"/>
            </a:xfrm>
            <a:custGeom>
              <a:avLst/>
              <a:gdLst/>
              <a:ahLst/>
              <a:cxnLst/>
              <a:rect l="l" t="t" r="r" b="b"/>
              <a:pathLst>
                <a:path w="7051675" h="2246629">
                  <a:moveTo>
                    <a:pt x="0" y="270764"/>
                  </a:moveTo>
                  <a:lnTo>
                    <a:pt x="4363" y="222109"/>
                  </a:lnTo>
                  <a:lnTo>
                    <a:pt x="16942" y="176309"/>
                  </a:lnTo>
                  <a:lnTo>
                    <a:pt x="36974" y="134130"/>
                  </a:lnTo>
                  <a:lnTo>
                    <a:pt x="63693" y="96338"/>
                  </a:lnTo>
                  <a:lnTo>
                    <a:pt x="96334" y="63699"/>
                  </a:lnTo>
                  <a:lnTo>
                    <a:pt x="134132" y="36980"/>
                  </a:lnTo>
                  <a:lnTo>
                    <a:pt x="176324" y="16946"/>
                  </a:lnTo>
                  <a:lnTo>
                    <a:pt x="222144" y="4364"/>
                  </a:lnTo>
                  <a:lnTo>
                    <a:pt x="270827" y="0"/>
                  </a:lnTo>
                  <a:lnTo>
                    <a:pt x="6780783" y="0"/>
                  </a:lnTo>
                  <a:lnTo>
                    <a:pt x="6829438" y="4364"/>
                  </a:lnTo>
                  <a:lnTo>
                    <a:pt x="6875238" y="16946"/>
                  </a:lnTo>
                  <a:lnTo>
                    <a:pt x="6917417" y="36980"/>
                  </a:lnTo>
                  <a:lnTo>
                    <a:pt x="6955209" y="63699"/>
                  </a:lnTo>
                  <a:lnTo>
                    <a:pt x="6987848" y="96338"/>
                  </a:lnTo>
                  <a:lnTo>
                    <a:pt x="7014567" y="134130"/>
                  </a:lnTo>
                  <a:lnTo>
                    <a:pt x="7034601" y="176309"/>
                  </a:lnTo>
                  <a:lnTo>
                    <a:pt x="7047183" y="222109"/>
                  </a:lnTo>
                  <a:lnTo>
                    <a:pt x="7051548" y="270764"/>
                  </a:lnTo>
                  <a:lnTo>
                    <a:pt x="7051548" y="1975548"/>
                  </a:lnTo>
                  <a:lnTo>
                    <a:pt x="7047183" y="2024228"/>
                  </a:lnTo>
                  <a:lnTo>
                    <a:pt x="7034601" y="2070046"/>
                  </a:lnTo>
                  <a:lnTo>
                    <a:pt x="7014567" y="2112237"/>
                  </a:lnTo>
                  <a:lnTo>
                    <a:pt x="6987848" y="2150036"/>
                  </a:lnTo>
                  <a:lnTo>
                    <a:pt x="6955209" y="2182678"/>
                  </a:lnTo>
                  <a:lnTo>
                    <a:pt x="6917417" y="2209398"/>
                  </a:lnTo>
                  <a:lnTo>
                    <a:pt x="6875238" y="2229431"/>
                  </a:lnTo>
                  <a:lnTo>
                    <a:pt x="6829438" y="2242012"/>
                  </a:lnTo>
                  <a:lnTo>
                    <a:pt x="6780783" y="2246376"/>
                  </a:lnTo>
                  <a:lnTo>
                    <a:pt x="270827" y="2246376"/>
                  </a:lnTo>
                  <a:lnTo>
                    <a:pt x="222144" y="2242012"/>
                  </a:lnTo>
                  <a:lnTo>
                    <a:pt x="176324" y="2229431"/>
                  </a:lnTo>
                  <a:lnTo>
                    <a:pt x="134132" y="2209398"/>
                  </a:lnTo>
                  <a:lnTo>
                    <a:pt x="96334" y="2182678"/>
                  </a:lnTo>
                  <a:lnTo>
                    <a:pt x="63693" y="2150036"/>
                  </a:lnTo>
                  <a:lnTo>
                    <a:pt x="36974" y="2112237"/>
                  </a:lnTo>
                  <a:lnTo>
                    <a:pt x="16942" y="2070046"/>
                  </a:lnTo>
                  <a:lnTo>
                    <a:pt x="4363" y="2024228"/>
                  </a:lnTo>
                  <a:lnTo>
                    <a:pt x="0" y="1975548"/>
                  </a:lnTo>
                  <a:lnTo>
                    <a:pt x="0" y="270764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91183" y="4101084"/>
              <a:ext cx="2282952" cy="193395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936495" y="5182616"/>
            <a:ext cx="6254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Verdana"/>
                <a:cs typeface="Verdana"/>
              </a:rPr>
              <a:t>LAN</a:t>
            </a:r>
            <a:r>
              <a:rPr sz="1400" b="1" spc="-10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637276" y="4101084"/>
            <a:ext cx="2282952" cy="19339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483858" y="5182616"/>
            <a:ext cx="622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Verdana"/>
                <a:cs typeface="Verdana"/>
              </a:rPr>
              <a:t>LAN</a:t>
            </a:r>
            <a:r>
              <a:rPr sz="1400" b="1" spc="-10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B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810000" y="4035552"/>
            <a:ext cx="1495425" cy="358140"/>
          </a:xfrm>
          <a:prstGeom prst="rect">
            <a:avLst/>
          </a:prstGeom>
          <a:solidFill>
            <a:srgbClr val="FFFFFF"/>
          </a:solidFill>
          <a:ln w="19558">
            <a:solidFill>
              <a:srgbClr val="4D4D4D"/>
            </a:solidFill>
          </a:ln>
        </p:spPr>
        <p:txBody>
          <a:bodyPr vert="horz" wrap="square" lIns="0" tIns="7239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570"/>
              </a:spcBef>
            </a:pPr>
            <a:r>
              <a:rPr sz="1400" b="1" spc="-5" dirty="0">
                <a:latin typeface="Verdana"/>
                <a:cs typeface="Verdana"/>
              </a:rPr>
              <a:t>DHCP</a:t>
            </a:r>
            <a:r>
              <a:rPr sz="1400" b="1" spc="-4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Server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314446" y="4535423"/>
            <a:ext cx="2626360" cy="1370330"/>
            <a:chOff x="3314446" y="4535423"/>
            <a:chExt cx="2626360" cy="1370330"/>
          </a:xfrm>
        </p:grpSpPr>
        <p:sp>
          <p:nvSpPr>
            <p:cNvPr id="28" name="object 28"/>
            <p:cNvSpPr/>
            <p:nvPr/>
          </p:nvSpPr>
          <p:spPr>
            <a:xfrm>
              <a:off x="3343656" y="5154167"/>
              <a:ext cx="2369820" cy="0"/>
            </a:xfrm>
            <a:custGeom>
              <a:avLst/>
              <a:gdLst/>
              <a:ahLst/>
              <a:cxnLst/>
              <a:rect l="l" t="t" r="r" b="b"/>
              <a:pathLst>
                <a:path w="2369820">
                  <a:moveTo>
                    <a:pt x="0" y="0"/>
                  </a:moveTo>
                  <a:lnTo>
                    <a:pt x="2369820" y="0"/>
                  </a:lnTo>
                </a:path>
              </a:pathLst>
            </a:custGeom>
            <a:ln w="57912">
              <a:solidFill>
                <a:srgbClr val="80808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82212" y="4535423"/>
              <a:ext cx="1019556" cy="129235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750308" y="5484875"/>
              <a:ext cx="1185671" cy="41605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50308" y="5484875"/>
              <a:ext cx="1186180" cy="416559"/>
            </a:xfrm>
            <a:custGeom>
              <a:avLst/>
              <a:gdLst/>
              <a:ahLst/>
              <a:cxnLst/>
              <a:rect l="l" t="t" r="r" b="b"/>
              <a:pathLst>
                <a:path w="1186179" h="416560">
                  <a:moveTo>
                    <a:pt x="0" y="69342"/>
                  </a:moveTo>
                  <a:lnTo>
                    <a:pt x="5441" y="42326"/>
                  </a:lnTo>
                  <a:lnTo>
                    <a:pt x="20288" y="20288"/>
                  </a:lnTo>
                  <a:lnTo>
                    <a:pt x="42326" y="5441"/>
                  </a:lnTo>
                  <a:lnTo>
                    <a:pt x="69341" y="0"/>
                  </a:lnTo>
                  <a:lnTo>
                    <a:pt x="1116329" y="0"/>
                  </a:lnTo>
                  <a:lnTo>
                    <a:pt x="1143345" y="5441"/>
                  </a:lnTo>
                  <a:lnTo>
                    <a:pt x="1165383" y="20288"/>
                  </a:lnTo>
                  <a:lnTo>
                    <a:pt x="1180230" y="42326"/>
                  </a:lnTo>
                  <a:lnTo>
                    <a:pt x="1185671" y="69342"/>
                  </a:lnTo>
                  <a:lnTo>
                    <a:pt x="1185671" y="346710"/>
                  </a:lnTo>
                  <a:lnTo>
                    <a:pt x="1180230" y="373698"/>
                  </a:lnTo>
                  <a:lnTo>
                    <a:pt x="1165383" y="395739"/>
                  </a:lnTo>
                  <a:lnTo>
                    <a:pt x="1143345" y="410601"/>
                  </a:lnTo>
                  <a:lnTo>
                    <a:pt x="1116329" y="416052"/>
                  </a:lnTo>
                  <a:lnTo>
                    <a:pt x="69341" y="416052"/>
                  </a:lnTo>
                  <a:lnTo>
                    <a:pt x="42326" y="410601"/>
                  </a:lnTo>
                  <a:lnTo>
                    <a:pt x="20288" y="395739"/>
                  </a:lnTo>
                  <a:lnTo>
                    <a:pt x="5441" y="373698"/>
                  </a:lnTo>
                  <a:lnTo>
                    <a:pt x="0" y="346710"/>
                  </a:lnTo>
                  <a:lnTo>
                    <a:pt x="0" y="69342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849748" y="5573064"/>
            <a:ext cx="8159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Verdana"/>
                <a:cs typeface="Verdana"/>
              </a:rPr>
              <a:t>Scope</a:t>
            </a:r>
            <a:r>
              <a:rPr sz="1400" b="1" spc="-9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B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938081" y="5463349"/>
            <a:ext cx="1195705" cy="424180"/>
            <a:chOff x="2938081" y="5463349"/>
            <a:chExt cx="1195705" cy="424180"/>
          </a:xfrm>
        </p:grpSpPr>
        <p:sp>
          <p:nvSpPr>
            <p:cNvPr id="34" name="object 34"/>
            <p:cNvSpPr/>
            <p:nvPr/>
          </p:nvSpPr>
          <p:spPr>
            <a:xfrm>
              <a:off x="2942844" y="5468111"/>
              <a:ext cx="1185671" cy="414528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942844" y="5468111"/>
              <a:ext cx="1186180" cy="414655"/>
            </a:xfrm>
            <a:custGeom>
              <a:avLst/>
              <a:gdLst/>
              <a:ahLst/>
              <a:cxnLst/>
              <a:rect l="l" t="t" r="r" b="b"/>
              <a:pathLst>
                <a:path w="1186179" h="414654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116583" y="0"/>
                  </a:lnTo>
                  <a:lnTo>
                    <a:pt x="1143452" y="5437"/>
                  </a:lnTo>
                  <a:lnTo>
                    <a:pt x="1165415" y="20256"/>
                  </a:lnTo>
                  <a:lnTo>
                    <a:pt x="1180234" y="42219"/>
                  </a:lnTo>
                  <a:lnTo>
                    <a:pt x="1185671" y="69087"/>
                  </a:lnTo>
                  <a:lnTo>
                    <a:pt x="1185671" y="345440"/>
                  </a:lnTo>
                  <a:lnTo>
                    <a:pt x="1180234" y="372329"/>
                  </a:lnTo>
                  <a:lnTo>
                    <a:pt x="1165415" y="394290"/>
                  </a:lnTo>
                  <a:lnTo>
                    <a:pt x="1143452" y="409097"/>
                  </a:lnTo>
                  <a:lnTo>
                    <a:pt x="1116583" y="414528"/>
                  </a:lnTo>
                  <a:lnTo>
                    <a:pt x="69087" y="414528"/>
                  </a:lnTo>
                  <a:lnTo>
                    <a:pt x="42219" y="409097"/>
                  </a:lnTo>
                  <a:lnTo>
                    <a:pt x="20256" y="394290"/>
                  </a:lnTo>
                  <a:lnTo>
                    <a:pt x="5437" y="372329"/>
                  </a:lnTo>
                  <a:lnTo>
                    <a:pt x="0" y="345440"/>
                  </a:lnTo>
                  <a:lnTo>
                    <a:pt x="0" y="69087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042920" y="5555691"/>
            <a:ext cx="8185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Verdana"/>
                <a:cs typeface="Verdana"/>
              </a:rPr>
              <a:t>Scope</a:t>
            </a:r>
            <a:r>
              <a:rPr sz="1400" b="1" spc="-9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670048" y="4392167"/>
            <a:ext cx="3810000" cy="710565"/>
          </a:xfrm>
          <a:custGeom>
            <a:avLst/>
            <a:gdLst/>
            <a:ahLst/>
            <a:cxnLst/>
            <a:rect l="l" t="t" r="r" b="b"/>
            <a:pathLst>
              <a:path w="3810000" h="710564">
                <a:moveTo>
                  <a:pt x="2308860" y="710183"/>
                </a:moveTo>
                <a:lnTo>
                  <a:pt x="3810000" y="0"/>
                </a:lnTo>
              </a:path>
              <a:path w="3810000" h="710564">
                <a:moveTo>
                  <a:pt x="0" y="42671"/>
                </a:moveTo>
                <a:lnTo>
                  <a:pt x="1284731" y="687323"/>
                </a:lnTo>
              </a:path>
            </a:pathLst>
          </a:custGeom>
          <a:ln w="57912">
            <a:solidFill>
              <a:srgbClr val="80808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45586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</a:t>
            </a:r>
            <a:r>
              <a:rPr spc="-10" dirty="0"/>
              <a:t>Is </a:t>
            </a:r>
            <a:r>
              <a:rPr dirty="0"/>
              <a:t>a DHCP</a:t>
            </a:r>
            <a:r>
              <a:rPr spc="-40" dirty="0"/>
              <a:t> </a:t>
            </a:r>
            <a:r>
              <a:rPr spc="-5" dirty="0"/>
              <a:t>Reservation?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6633" y="1249680"/>
            <a:ext cx="8009255" cy="4951730"/>
            <a:chOff x="496633" y="1249680"/>
            <a:chExt cx="8009255" cy="4951730"/>
          </a:xfrm>
        </p:grpSpPr>
        <p:sp>
          <p:nvSpPr>
            <p:cNvPr id="4" name="object 4"/>
            <p:cNvSpPr/>
            <p:nvPr/>
          </p:nvSpPr>
          <p:spPr>
            <a:xfrm>
              <a:off x="902207" y="1249680"/>
              <a:ext cx="7222236" cy="4951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1207" y="1327404"/>
              <a:ext cx="7984235" cy="84429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9495" y="1405128"/>
              <a:ext cx="7880604" cy="7299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01395" y="1307592"/>
              <a:ext cx="7972044" cy="83210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1395" y="1307592"/>
              <a:ext cx="7972425" cy="832485"/>
            </a:xfrm>
            <a:custGeom>
              <a:avLst/>
              <a:gdLst/>
              <a:ahLst/>
              <a:cxnLst/>
              <a:rect l="l" t="t" r="r" b="b"/>
              <a:pathLst>
                <a:path w="7972425" h="832485">
                  <a:moveTo>
                    <a:pt x="0" y="201675"/>
                  </a:moveTo>
                  <a:lnTo>
                    <a:pt x="5326" y="155434"/>
                  </a:lnTo>
                  <a:lnTo>
                    <a:pt x="20499" y="112985"/>
                  </a:lnTo>
                  <a:lnTo>
                    <a:pt x="44307" y="75539"/>
                  </a:lnTo>
                  <a:lnTo>
                    <a:pt x="75539" y="44307"/>
                  </a:lnTo>
                  <a:lnTo>
                    <a:pt x="112985" y="20499"/>
                  </a:lnTo>
                  <a:lnTo>
                    <a:pt x="155434" y="5326"/>
                  </a:lnTo>
                  <a:lnTo>
                    <a:pt x="201676" y="0"/>
                  </a:lnTo>
                  <a:lnTo>
                    <a:pt x="7770368" y="0"/>
                  </a:lnTo>
                  <a:lnTo>
                    <a:pt x="7816609" y="5326"/>
                  </a:lnTo>
                  <a:lnTo>
                    <a:pt x="7859058" y="20499"/>
                  </a:lnTo>
                  <a:lnTo>
                    <a:pt x="7896504" y="44307"/>
                  </a:lnTo>
                  <a:lnTo>
                    <a:pt x="7927736" y="75539"/>
                  </a:lnTo>
                  <a:lnTo>
                    <a:pt x="7951544" y="112985"/>
                  </a:lnTo>
                  <a:lnTo>
                    <a:pt x="7966717" y="155434"/>
                  </a:lnTo>
                  <a:lnTo>
                    <a:pt x="7972044" y="201675"/>
                  </a:lnTo>
                  <a:lnTo>
                    <a:pt x="7972044" y="630428"/>
                  </a:lnTo>
                  <a:lnTo>
                    <a:pt x="7966717" y="676669"/>
                  </a:lnTo>
                  <a:lnTo>
                    <a:pt x="7951544" y="719118"/>
                  </a:lnTo>
                  <a:lnTo>
                    <a:pt x="7927736" y="756564"/>
                  </a:lnTo>
                  <a:lnTo>
                    <a:pt x="7896504" y="787796"/>
                  </a:lnTo>
                  <a:lnTo>
                    <a:pt x="7859058" y="811604"/>
                  </a:lnTo>
                  <a:lnTo>
                    <a:pt x="7816609" y="826777"/>
                  </a:lnTo>
                  <a:lnTo>
                    <a:pt x="7770368" y="832104"/>
                  </a:lnTo>
                  <a:lnTo>
                    <a:pt x="201676" y="832104"/>
                  </a:lnTo>
                  <a:lnTo>
                    <a:pt x="155434" y="826777"/>
                  </a:lnTo>
                  <a:lnTo>
                    <a:pt x="112985" y="811604"/>
                  </a:lnTo>
                  <a:lnTo>
                    <a:pt x="75539" y="787796"/>
                  </a:lnTo>
                  <a:lnTo>
                    <a:pt x="44307" y="756564"/>
                  </a:lnTo>
                  <a:lnTo>
                    <a:pt x="20499" y="719118"/>
                  </a:lnTo>
                  <a:lnTo>
                    <a:pt x="5326" y="676669"/>
                  </a:lnTo>
                  <a:lnTo>
                    <a:pt x="0" y="630428"/>
                  </a:lnTo>
                  <a:lnTo>
                    <a:pt x="0" y="201675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39572" y="1435430"/>
            <a:ext cx="7545070" cy="547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55"/>
              </a:lnSpc>
              <a:spcBef>
                <a:spcPts val="100"/>
              </a:spcBef>
            </a:pPr>
            <a:r>
              <a:rPr sz="1800" b="1" dirty="0">
                <a:latin typeface="Verdana"/>
                <a:cs typeface="Verdana"/>
              </a:rPr>
              <a:t>A </a:t>
            </a:r>
            <a:r>
              <a:rPr sz="1800" b="1" i="1" spc="-5" dirty="0">
                <a:latin typeface="Verdana"/>
                <a:cs typeface="Verdana"/>
              </a:rPr>
              <a:t>reservation </a:t>
            </a:r>
            <a:r>
              <a:rPr sz="1800" b="1" dirty="0">
                <a:latin typeface="Verdana"/>
                <a:cs typeface="Verdana"/>
              </a:rPr>
              <a:t>is a </a:t>
            </a:r>
            <a:r>
              <a:rPr sz="1800" b="1" spc="-5" dirty="0">
                <a:latin typeface="Verdana"/>
                <a:cs typeface="Verdana"/>
              </a:rPr>
              <a:t>specific </a:t>
            </a:r>
            <a:r>
              <a:rPr sz="1800" b="1" dirty="0">
                <a:latin typeface="Verdana"/>
                <a:cs typeface="Verdana"/>
              </a:rPr>
              <a:t>IP address, </a:t>
            </a:r>
            <a:r>
              <a:rPr sz="1800" b="1" spc="-5" dirty="0">
                <a:latin typeface="Verdana"/>
                <a:cs typeface="Verdana"/>
              </a:rPr>
              <a:t>within </a:t>
            </a:r>
            <a:r>
              <a:rPr sz="1800" b="1" dirty="0">
                <a:latin typeface="Verdana"/>
                <a:cs typeface="Verdana"/>
              </a:rPr>
              <a:t>a </a:t>
            </a:r>
            <a:r>
              <a:rPr sz="1800" b="1" spc="-5" dirty="0">
                <a:latin typeface="Verdana"/>
                <a:cs typeface="Verdana"/>
              </a:rPr>
              <a:t>scope,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that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ts val="2055"/>
              </a:lnSpc>
            </a:pPr>
            <a:r>
              <a:rPr sz="1800" b="1" dirty="0">
                <a:latin typeface="Verdana"/>
                <a:cs typeface="Verdana"/>
              </a:rPr>
              <a:t>is </a:t>
            </a:r>
            <a:r>
              <a:rPr sz="1800" b="1" spc="-5" dirty="0">
                <a:latin typeface="Verdana"/>
                <a:cs typeface="Verdana"/>
              </a:rPr>
              <a:t>reserved permanently for </a:t>
            </a:r>
            <a:r>
              <a:rPr sz="1800" b="1" dirty="0">
                <a:latin typeface="Verdana"/>
                <a:cs typeface="Verdana"/>
              </a:rPr>
              <a:t>lease to a </a:t>
            </a:r>
            <a:r>
              <a:rPr sz="1800" b="1" spc="-5" dirty="0">
                <a:latin typeface="Verdana"/>
                <a:cs typeface="Verdana"/>
              </a:rPr>
              <a:t>specific </a:t>
            </a:r>
            <a:r>
              <a:rPr sz="1800" b="1" dirty="0">
                <a:latin typeface="Verdana"/>
                <a:cs typeface="Verdana"/>
              </a:rPr>
              <a:t>DHCP</a:t>
            </a:r>
            <a:r>
              <a:rPr sz="1800" b="1" spc="-3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client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243393" y="2970085"/>
            <a:ext cx="5080000" cy="2454275"/>
            <a:chOff x="1243393" y="2970085"/>
            <a:chExt cx="5080000" cy="2454275"/>
          </a:xfrm>
        </p:grpSpPr>
        <p:sp>
          <p:nvSpPr>
            <p:cNvPr id="11" name="object 11"/>
            <p:cNvSpPr/>
            <p:nvPr/>
          </p:nvSpPr>
          <p:spPr>
            <a:xfrm>
              <a:off x="2383536" y="4227576"/>
              <a:ext cx="3939540" cy="119634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06495" y="3520440"/>
              <a:ext cx="2486025" cy="0"/>
            </a:xfrm>
            <a:custGeom>
              <a:avLst/>
              <a:gdLst/>
              <a:ahLst/>
              <a:cxnLst/>
              <a:rect l="l" t="t" r="r" b="b"/>
              <a:pathLst>
                <a:path w="2486025">
                  <a:moveTo>
                    <a:pt x="0" y="0"/>
                  </a:moveTo>
                  <a:lnTo>
                    <a:pt x="2485644" y="0"/>
                  </a:lnTo>
                </a:path>
              </a:pathLst>
            </a:custGeom>
            <a:ln w="57912">
              <a:solidFill>
                <a:srgbClr val="80808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67967" y="2994660"/>
              <a:ext cx="1993392" cy="134873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48155" y="2974848"/>
              <a:ext cx="1981200" cy="1336547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48155" y="2974848"/>
              <a:ext cx="1981200" cy="1336675"/>
            </a:xfrm>
            <a:custGeom>
              <a:avLst/>
              <a:gdLst/>
              <a:ahLst/>
              <a:cxnLst/>
              <a:rect l="l" t="t" r="r" b="b"/>
              <a:pathLst>
                <a:path w="1981200" h="1336675">
                  <a:moveTo>
                    <a:pt x="0" y="668274"/>
                  </a:moveTo>
                  <a:lnTo>
                    <a:pt x="6216" y="592988"/>
                  </a:lnTo>
                  <a:lnTo>
                    <a:pt x="24419" y="520147"/>
                  </a:lnTo>
                  <a:lnTo>
                    <a:pt x="53941" y="450202"/>
                  </a:lnTo>
                  <a:lnTo>
                    <a:pt x="72737" y="416457"/>
                  </a:lnTo>
                  <a:lnTo>
                    <a:pt x="94112" y="383605"/>
                  </a:lnTo>
                  <a:lnTo>
                    <a:pt x="117982" y="351702"/>
                  </a:lnTo>
                  <a:lnTo>
                    <a:pt x="144264" y="320806"/>
                  </a:lnTo>
                  <a:lnTo>
                    <a:pt x="172873" y="290973"/>
                  </a:lnTo>
                  <a:lnTo>
                    <a:pt x="203727" y="262258"/>
                  </a:lnTo>
                  <a:lnTo>
                    <a:pt x="236741" y="234719"/>
                  </a:lnTo>
                  <a:lnTo>
                    <a:pt x="271833" y="208412"/>
                  </a:lnTo>
                  <a:lnTo>
                    <a:pt x="308917" y="183393"/>
                  </a:lnTo>
                  <a:lnTo>
                    <a:pt x="347912" y="159719"/>
                  </a:lnTo>
                  <a:lnTo>
                    <a:pt x="388733" y="137446"/>
                  </a:lnTo>
                  <a:lnTo>
                    <a:pt x="431297" y="116631"/>
                  </a:lnTo>
                  <a:lnTo>
                    <a:pt x="475519" y="97330"/>
                  </a:lnTo>
                  <a:lnTo>
                    <a:pt x="521318" y="79599"/>
                  </a:lnTo>
                  <a:lnTo>
                    <a:pt x="568608" y="63494"/>
                  </a:lnTo>
                  <a:lnTo>
                    <a:pt x="617306" y="49074"/>
                  </a:lnTo>
                  <a:lnTo>
                    <a:pt x="667328" y="36393"/>
                  </a:lnTo>
                  <a:lnTo>
                    <a:pt x="718592" y="25508"/>
                  </a:lnTo>
                  <a:lnTo>
                    <a:pt x="771013" y="16475"/>
                  </a:lnTo>
                  <a:lnTo>
                    <a:pt x="824508" y="9352"/>
                  </a:lnTo>
                  <a:lnTo>
                    <a:pt x="878993" y="4194"/>
                  </a:lnTo>
                  <a:lnTo>
                    <a:pt x="934385" y="1057"/>
                  </a:lnTo>
                  <a:lnTo>
                    <a:pt x="990600" y="0"/>
                  </a:lnTo>
                  <a:lnTo>
                    <a:pt x="1046814" y="1057"/>
                  </a:lnTo>
                  <a:lnTo>
                    <a:pt x="1102206" y="4194"/>
                  </a:lnTo>
                  <a:lnTo>
                    <a:pt x="1156691" y="9352"/>
                  </a:lnTo>
                  <a:lnTo>
                    <a:pt x="1210186" y="16475"/>
                  </a:lnTo>
                  <a:lnTo>
                    <a:pt x="1262607" y="25508"/>
                  </a:lnTo>
                  <a:lnTo>
                    <a:pt x="1313871" y="36393"/>
                  </a:lnTo>
                  <a:lnTo>
                    <a:pt x="1363893" y="49074"/>
                  </a:lnTo>
                  <a:lnTo>
                    <a:pt x="1412591" y="63494"/>
                  </a:lnTo>
                  <a:lnTo>
                    <a:pt x="1459881" y="79599"/>
                  </a:lnTo>
                  <a:lnTo>
                    <a:pt x="1505680" y="97330"/>
                  </a:lnTo>
                  <a:lnTo>
                    <a:pt x="1549902" y="116631"/>
                  </a:lnTo>
                  <a:lnTo>
                    <a:pt x="1592466" y="137446"/>
                  </a:lnTo>
                  <a:lnTo>
                    <a:pt x="1633287" y="159719"/>
                  </a:lnTo>
                  <a:lnTo>
                    <a:pt x="1672282" y="183393"/>
                  </a:lnTo>
                  <a:lnTo>
                    <a:pt x="1709366" y="208412"/>
                  </a:lnTo>
                  <a:lnTo>
                    <a:pt x="1744458" y="234719"/>
                  </a:lnTo>
                  <a:lnTo>
                    <a:pt x="1777472" y="262258"/>
                  </a:lnTo>
                  <a:lnTo>
                    <a:pt x="1808326" y="290973"/>
                  </a:lnTo>
                  <a:lnTo>
                    <a:pt x="1836935" y="320806"/>
                  </a:lnTo>
                  <a:lnTo>
                    <a:pt x="1863217" y="351702"/>
                  </a:lnTo>
                  <a:lnTo>
                    <a:pt x="1887087" y="383605"/>
                  </a:lnTo>
                  <a:lnTo>
                    <a:pt x="1908462" y="416457"/>
                  </a:lnTo>
                  <a:lnTo>
                    <a:pt x="1927258" y="450202"/>
                  </a:lnTo>
                  <a:lnTo>
                    <a:pt x="1943392" y="484784"/>
                  </a:lnTo>
                  <a:lnTo>
                    <a:pt x="1967338" y="556233"/>
                  </a:lnTo>
                  <a:lnTo>
                    <a:pt x="1979631" y="630353"/>
                  </a:lnTo>
                  <a:lnTo>
                    <a:pt x="1981200" y="668274"/>
                  </a:lnTo>
                  <a:lnTo>
                    <a:pt x="1979631" y="706194"/>
                  </a:lnTo>
                  <a:lnTo>
                    <a:pt x="1967338" y="780314"/>
                  </a:lnTo>
                  <a:lnTo>
                    <a:pt x="1943392" y="851763"/>
                  </a:lnTo>
                  <a:lnTo>
                    <a:pt x="1927258" y="886345"/>
                  </a:lnTo>
                  <a:lnTo>
                    <a:pt x="1908462" y="920090"/>
                  </a:lnTo>
                  <a:lnTo>
                    <a:pt x="1887087" y="952942"/>
                  </a:lnTo>
                  <a:lnTo>
                    <a:pt x="1863217" y="984845"/>
                  </a:lnTo>
                  <a:lnTo>
                    <a:pt x="1836935" y="1015741"/>
                  </a:lnTo>
                  <a:lnTo>
                    <a:pt x="1808326" y="1045574"/>
                  </a:lnTo>
                  <a:lnTo>
                    <a:pt x="1777472" y="1074289"/>
                  </a:lnTo>
                  <a:lnTo>
                    <a:pt x="1744458" y="1101828"/>
                  </a:lnTo>
                  <a:lnTo>
                    <a:pt x="1709366" y="1128135"/>
                  </a:lnTo>
                  <a:lnTo>
                    <a:pt x="1672282" y="1153154"/>
                  </a:lnTo>
                  <a:lnTo>
                    <a:pt x="1633287" y="1176828"/>
                  </a:lnTo>
                  <a:lnTo>
                    <a:pt x="1592466" y="1199101"/>
                  </a:lnTo>
                  <a:lnTo>
                    <a:pt x="1549902" y="1219916"/>
                  </a:lnTo>
                  <a:lnTo>
                    <a:pt x="1505680" y="1239217"/>
                  </a:lnTo>
                  <a:lnTo>
                    <a:pt x="1459881" y="1256948"/>
                  </a:lnTo>
                  <a:lnTo>
                    <a:pt x="1412591" y="1273053"/>
                  </a:lnTo>
                  <a:lnTo>
                    <a:pt x="1363893" y="1287473"/>
                  </a:lnTo>
                  <a:lnTo>
                    <a:pt x="1313871" y="1300154"/>
                  </a:lnTo>
                  <a:lnTo>
                    <a:pt x="1262607" y="1311039"/>
                  </a:lnTo>
                  <a:lnTo>
                    <a:pt x="1210186" y="1320072"/>
                  </a:lnTo>
                  <a:lnTo>
                    <a:pt x="1156691" y="1327195"/>
                  </a:lnTo>
                  <a:lnTo>
                    <a:pt x="1102206" y="1332353"/>
                  </a:lnTo>
                  <a:lnTo>
                    <a:pt x="1046814" y="1335490"/>
                  </a:lnTo>
                  <a:lnTo>
                    <a:pt x="990600" y="1336547"/>
                  </a:lnTo>
                  <a:lnTo>
                    <a:pt x="934385" y="1335490"/>
                  </a:lnTo>
                  <a:lnTo>
                    <a:pt x="878993" y="1332353"/>
                  </a:lnTo>
                  <a:lnTo>
                    <a:pt x="824508" y="1327195"/>
                  </a:lnTo>
                  <a:lnTo>
                    <a:pt x="771013" y="1320072"/>
                  </a:lnTo>
                  <a:lnTo>
                    <a:pt x="718592" y="1311039"/>
                  </a:lnTo>
                  <a:lnTo>
                    <a:pt x="667328" y="1300154"/>
                  </a:lnTo>
                  <a:lnTo>
                    <a:pt x="617306" y="1287473"/>
                  </a:lnTo>
                  <a:lnTo>
                    <a:pt x="568608" y="1273053"/>
                  </a:lnTo>
                  <a:lnTo>
                    <a:pt x="521318" y="1256948"/>
                  </a:lnTo>
                  <a:lnTo>
                    <a:pt x="475519" y="1239217"/>
                  </a:lnTo>
                  <a:lnTo>
                    <a:pt x="431297" y="1219916"/>
                  </a:lnTo>
                  <a:lnTo>
                    <a:pt x="388733" y="1199101"/>
                  </a:lnTo>
                  <a:lnTo>
                    <a:pt x="347912" y="1176828"/>
                  </a:lnTo>
                  <a:lnTo>
                    <a:pt x="308917" y="1153154"/>
                  </a:lnTo>
                  <a:lnTo>
                    <a:pt x="271833" y="1128135"/>
                  </a:lnTo>
                  <a:lnTo>
                    <a:pt x="236741" y="1101828"/>
                  </a:lnTo>
                  <a:lnTo>
                    <a:pt x="203727" y="1074289"/>
                  </a:lnTo>
                  <a:lnTo>
                    <a:pt x="172873" y="1045574"/>
                  </a:lnTo>
                  <a:lnTo>
                    <a:pt x="144264" y="1015741"/>
                  </a:lnTo>
                  <a:lnTo>
                    <a:pt x="117982" y="984845"/>
                  </a:lnTo>
                  <a:lnTo>
                    <a:pt x="94112" y="952942"/>
                  </a:lnTo>
                  <a:lnTo>
                    <a:pt x="72737" y="920090"/>
                  </a:lnTo>
                  <a:lnTo>
                    <a:pt x="53941" y="886345"/>
                  </a:lnTo>
                  <a:lnTo>
                    <a:pt x="37807" y="851763"/>
                  </a:lnTo>
                  <a:lnTo>
                    <a:pt x="13861" y="780314"/>
                  </a:lnTo>
                  <a:lnTo>
                    <a:pt x="1568" y="706194"/>
                  </a:lnTo>
                  <a:lnTo>
                    <a:pt x="0" y="668274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617091" y="3507994"/>
            <a:ext cx="10560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Subnet</a:t>
            </a:r>
            <a:r>
              <a:rPr sz="1600" b="1" spc="-50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A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141475" y="2705100"/>
            <a:ext cx="6550659" cy="1908175"/>
            <a:chOff x="1141475" y="2705100"/>
            <a:chExt cx="6550659" cy="1908175"/>
          </a:xfrm>
        </p:grpSpPr>
        <p:sp>
          <p:nvSpPr>
            <p:cNvPr id="18" name="object 18"/>
            <p:cNvSpPr/>
            <p:nvPr/>
          </p:nvSpPr>
          <p:spPr>
            <a:xfrm>
              <a:off x="1141475" y="2705100"/>
              <a:ext cx="693419" cy="844296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653283" y="3736847"/>
              <a:ext cx="691895" cy="87630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919983" y="3259836"/>
              <a:ext cx="722376" cy="4617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98235" y="2994659"/>
              <a:ext cx="1993391" cy="134873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78423" y="2974847"/>
              <a:ext cx="1981200" cy="1336547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678423" y="2974847"/>
              <a:ext cx="1981200" cy="1336675"/>
            </a:xfrm>
            <a:custGeom>
              <a:avLst/>
              <a:gdLst/>
              <a:ahLst/>
              <a:cxnLst/>
              <a:rect l="l" t="t" r="r" b="b"/>
              <a:pathLst>
                <a:path w="1981200" h="1336675">
                  <a:moveTo>
                    <a:pt x="0" y="668274"/>
                  </a:moveTo>
                  <a:lnTo>
                    <a:pt x="6216" y="592988"/>
                  </a:lnTo>
                  <a:lnTo>
                    <a:pt x="24419" y="520147"/>
                  </a:lnTo>
                  <a:lnTo>
                    <a:pt x="53941" y="450202"/>
                  </a:lnTo>
                  <a:lnTo>
                    <a:pt x="72737" y="416457"/>
                  </a:lnTo>
                  <a:lnTo>
                    <a:pt x="94112" y="383605"/>
                  </a:lnTo>
                  <a:lnTo>
                    <a:pt x="117982" y="351702"/>
                  </a:lnTo>
                  <a:lnTo>
                    <a:pt x="144264" y="320806"/>
                  </a:lnTo>
                  <a:lnTo>
                    <a:pt x="172873" y="290973"/>
                  </a:lnTo>
                  <a:lnTo>
                    <a:pt x="203727" y="262258"/>
                  </a:lnTo>
                  <a:lnTo>
                    <a:pt x="236741" y="234719"/>
                  </a:lnTo>
                  <a:lnTo>
                    <a:pt x="271833" y="208412"/>
                  </a:lnTo>
                  <a:lnTo>
                    <a:pt x="308917" y="183393"/>
                  </a:lnTo>
                  <a:lnTo>
                    <a:pt x="347912" y="159719"/>
                  </a:lnTo>
                  <a:lnTo>
                    <a:pt x="388733" y="137446"/>
                  </a:lnTo>
                  <a:lnTo>
                    <a:pt x="431297" y="116631"/>
                  </a:lnTo>
                  <a:lnTo>
                    <a:pt x="475519" y="97330"/>
                  </a:lnTo>
                  <a:lnTo>
                    <a:pt x="521318" y="79599"/>
                  </a:lnTo>
                  <a:lnTo>
                    <a:pt x="568608" y="63494"/>
                  </a:lnTo>
                  <a:lnTo>
                    <a:pt x="617306" y="49074"/>
                  </a:lnTo>
                  <a:lnTo>
                    <a:pt x="667328" y="36393"/>
                  </a:lnTo>
                  <a:lnTo>
                    <a:pt x="718592" y="25508"/>
                  </a:lnTo>
                  <a:lnTo>
                    <a:pt x="771013" y="16475"/>
                  </a:lnTo>
                  <a:lnTo>
                    <a:pt x="824508" y="9352"/>
                  </a:lnTo>
                  <a:lnTo>
                    <a:pt x="878993" y="4194"/>
                  </a:lnTo>
                  <a:lnTo>
                    <a:pt x="934385" y="1057"/>
                  </a:lnTo>
                  <a:lnTo>
                    <a:pt x="990600" y="0"/>
                  </a:lnTo>
                  <a:lnTo>
                    <a:pt x="1046814" y="1057"/>
                  </a:lnTo>
                  <a:lnTo>
                    <a:pt x="1102206" y="4194"/>
                  </a:lnTo>
                  <a:lnTo>
                    <a:pt x="1156691" y="9352"/>
                  </a:lnTo>
                  <a:lnTo>
                    <a:pt x="1210186" y="16475"/>
                  </a:lnTo>
                  <a:lnTo>
                    <a:pt x="1262607" y="25508"/>
                  </a:lnTo>
                  <a:lnTo>
                    <a:pt x="1313871" y="36393"/>
                  </a:lnTo>
                  <a:lnTo>
                    <a:pt x="1363893" y="49074"/>
                  </a:lnTo>
                  <a:lnTo>
                    <a:pt x="1412591" y="63494"/>
                  </a:lnTo>
                  <a:lnTo>
                    <a:pt x="1459881" y="79599"/>
                  </a:lnTo>
                  <a:lnTo>
                    <a:pt x="1505680" y="97330"/>
                  </a:lnTo>
                  <a:lnTo>
                    <a:pt x="1549902" y="116631"/>
                  </a:lnTo>
                  <a:lnTo>
                    <a:pt x="1592466" y="137446"/>
                  </a:lnTo>
                  <a:lnTo>
                    <a:pt x="1633287" y="159719"/>
                  </a:lnTo>
                  <a:lnTo>
                    <a:pt x="1672282" y="183393"/>
                  </a:lnTo>
                  <a:lnTo>
                    <a:pt x="1709366" y="208412"/>
                  </a:lnTo>
                  <a:lnTo>
                    <a:pt x="1744458" y="234719"/>
                  </a:lnTo>
                  <a:lnTo>
                    <a:pt x="1777472" y="262258"/>
                  </a:lnTo>
                  <a:lnTo>
                    <a:pt x="1808326" y="290973"/>
                  </a:lnTo>
                  <a:lnTo>
                    <a:pt x="1836935" y="320806"/>
                  </a:lnTo>
                  <a:lnTo>
                    <a:pt x="1863217" y="351702"/>
                  </a:lnTo>
                  <a:lnTo>
                    <a:pt x="1887087" y="383605"/>
                  </a:lnTo>
                  <a:lnTo>
                    <a:pt x="1908462" y="416457"/>
                  </a:lnTo>
                  <a:lnTo>
                    <a:pt x="1927258" y="450202"/>
                  </a:lnTo>
                  <a:lnTo>
                    <a:pt x="1943392" y="484784"/>
                  </a:lnTo>
                  <a:lnTo>
                    <a:pt x="1967338" y="556233"/>
                  </a:lnTo>
                  <a:lnTo>
                    <a:pt x="1979631" y="630353"/>
                  </a:lnTo>
                  <a:lnTo>
                    <a:pt x="1981200" y="668274"/>
                  </a:lnTo>
                  <a:lnTo>
                    <a:pt x="1979631" y="706194"/>
                  </a:lnTo>
                  <a:lnTo>
                    <a:pt x="1967338" y="780314"/>
                  </a:lnTo>
                  <a:lnTo>
                    <a:pt x="1943392" y="851763"/>
                  </a:lnTo>
                  <a:lnTo>
                    <a:pt x="1927258" y="886345"/>
                  </a:lnTo>
                  <a:lnTo>
                    <a:pt x="1908462" y="920090"/>
                  </a:lnTo>
                  <a:lnTo>
                    <a:pt x="1887087" y="952942"/>
                  </a:lnTo>
                  <a:lnTo>
                    <a:pt x="1863217" y="984845"/>
                  </a:lnTo>
                  <a:lnTo>
                    <a:pt x="1836935" y="1015741"/>
                  </a:lnTo>
                  <a:lnTo>
                    <a:pt x="1808326" y="1045574"/>
                  </a:lnTo>
                  <a:lnTo>
                    <a:pt x="1777472" y="1074289"/>
                  </a:lnTo>
                  <a:lnTo>
                    <a:pt x="1744458" y="1101828"/>
                  </a:lnTo>
                  <a:lnTo>
                    <a:pt x="1709366" y="1128135"/>
                  </a:lnTo>
                  <a:lnTo>
                    <a:pt x="1672282" y="1153154"/>
                  </a:lnTo>
                  <a:lnTo>
                    <a:pt x="1633287" y="1176828"/>
                  </a:lnTo>
                  <a:lnTo>
                    <a:pt x="1592466" y="1199101"/>
                  </a:lnTo>
                  <a:lnTo>
                    <a:pt x="1549902" y="1219916"/>
                  </a:lnTo>
                  <a:lnTo>
                    <a:pt x="1505680" y="1239217"/>
                  </a:lnTo>
                  <a:lnTo>
                    <a:pt x="1459881" y="1256948"/>
                  </a:lnTo>
                  <a:lnTo>
                    <a:pt x="1412591" y="1273053"/>
                  </a:lnTo>
                  <a:lnTo>
                    <a:pt x="1363893" y="1287473"/>
                  </a:lnTo>
                  <a:lnTo>
                    <a:pt x="1313871" y="1300154"/>
                  </a:lnTo>
                  <a:lnTo>
                    <a:pt x="1262607" y="1311039"/>
                  </a:lnTo>
                  <a:lnTo>
                    <a:pt x="1210186" y="1320072"/>
                  </a:lnTo>
                  <a:lnTo>
                    <a:pt x="1156691" y="1327195"/>
                  </a:lnTo>
                  <a:lnTo>
                    <a:pt x="1102206" y="1332353"/>
                  </a:lnTo>
                  <a:lnTo>
                    <a:pt x="1046814" y="1335490"/>
                  </a:lnTo>
                  <a:lnTo>
                    <a:pt x="990600" y="1336547"/>
                  </a:lnTo>
                  <a:lnTo>
                    <a:pt x="934385" y="1335490"/>
                  </a:lnTo>
                  <a:lnTo>
                    <a:pt x="878993" y="1332353"/>
                  </a:lnTo>
                  <a:lnTo>
                    <a:pt x="824508" y="1327195"/>
                  </a:lnTo>
                  <a:lnTo>
                    <a:pt x="771013" y="1320072"/>
                  </a:lnTo>
                  <a:lnTo>
                    <a:pt x="718592" y="1311039"/>
                  </a:lnTo>
                  <a:lnTo>
                    <a:pt x="667328" y="1300154"/>
                  </a:lnTo>
                  <a:lnTo>
                    <a:pt x="617306" y="1287473"/>
                  </a:lnTo>
                  <a:lnTo>
                    <a:pt x="568608" y="1273053"/>
                  </a:lnTo>
                  <a:lnTo>
                    <a:pt x="521318" y="1256948"/>
                  </a:lnTo>
                  <a:lnTo>
                    <a:pt x="475519" y="1239217"/>
                  </a:lnTo>
                  <a:lnTo>
                    <a:pt x="431297" y="1219916"/>
                  </a:lnTo>
                  <a:lnTo>
                    <a:pt x="388733" y="1199101"/>
                  </a:lnTo>
                  <a:lnTo>
                    <a:pt x="347912" y="1176828"/>
                  </a:lnTo>
                  <a:lnTo>
                    <a:pt x="308917" y="1153154"/>
                  </a:lnTo>
                  <a:lnTo>
                    <a:pt x="271833" y="1128135"/>
                  </a:lnTo>
                  <a:lnTo>
                    <a:pt x="236741" y="1101828"/>
                  </a:lnTo>
                  <a:lnTo>
                    <a:pt x="203727" y="1074289"/>
                  </a:lnTo>
                  <a:lnTo>
                    <a:pt x="172873" y="1045574"/>
                  </a:lnTo>
                  <a:lnTo>
                    <a:pt x="144264" y="1015741"/>
                  </a:lnTo>
                  <a:lnTo>
                    <a:pt x="117982" y="984845"/>
                  </a:lnTo>
                  <a:lnTo>
                    <a:pt x="94112" y="952942"/>
                  </a:lnTo>
                  <a:lnTo>
                    <a:pt x="72737" y="920090"/>
                  </a:lnTo>
                  <a:lnTo>
                    <a:pt x="53941" y="886345"/>
                  </a:lnTo>
                  <a:lnTo>
                    <a:pt x="37807" y="851763"/>
                  </a:lnTo>
                  <a:lnTo>
                    <a:pt x="13861" y="780314"/>
                  </a:lnTo>
                  <a:lnTo>
                    <a:pt x="1568" y="706194"/>
                  </a:lnTo>
                  <a:lnTo>
                    <a:pt x="0" y="668274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048502" y="3507994"/>
            <a:ext cx="10528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Subnet</a:t>
            </a:r>
            <a:r>
              <a:rPr sz="1600" b="1" spc="-50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B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26948" y="2676144"/>
            <a:ext cx="7048500" cy="2085339"/>
            <a:chOff x="726948" y="2676144"/>
            <a:chExt cx="7048500" cy="2085339"/>
          </a:xfrm>
        </p:grpSpPr>
        <p:sp>
          <p:nvSpPr>
            <p:cNvPr id="26" name="object 26"/>
            <p:cNvSpPr/>
            <p:nvPr/>
          </p:nvSpPr>
          <p:spPr>
            <a:xfrm>
              <a:off x="5785104" y="3781044"/>
              <a:ext cx="693420" cy="844296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083551" y="2676144"/>
              <a:ext cx="691896" cy="87630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26948" y="4418076"/>
              <a:ext cx="1696720" cy="342900"/>
            </a:xfrm>
            <a:custGeom>
              <a:avLst/>
              <a:gdLst/>
              <a:ahLst/>
              <a:cxnLst/>
              <a:rect l="l" t="t" r="r" b="b"/>
              <a:pathLst>
                <a:path w="1696720" h="342900">
                  <a:moveTo>
                    <a:pt x="1689862" y="0"/>
                  </a:moveTo>
                  <a:lnTo>
                    <a:pt x="6400" y="0"/>
                  </a:lnTo>
                  <a:lnTo>
                    <a:pt x="0" y="6350"/>
                  </a:lnTo>
                  <a:lnTo>
                    <a:pt x="0" y="336550"/>
                  </a:lnTo>
                  <a:lnTo>
                    <a:pt x="6400" y="342900"/>
                  </a:lnTo>
                  <a:lnTo>
                    <a:pt x="1689862" y="342900"/>
                  </a:lnTo>
                  <a:lnTo>
                    <a:pt x="1696212" y="336550"/>
                  </a:lnTo>
                  <a:lnTo>
                    <a:pt x="1696212" y="6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903476" y="2538983"/>
            <a:ext cx="1830705" cy="342900"/>
          </a:xfrm>
          <a:prstGeom prst="rect">
            <a:avLst/>
          </a:prstGeom>
          <a:solidFill>
            <a:srgbClr val="FFFFFF"/>
          </a:solidFill>
          <a:ln w="18923">
            <a:solidFill>
              <a:srgbClr val="777777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80"/>
              </a:spcBef>
            </a:pPr>
            <a:r>
              <a:rPr sz="1600" b="1" spc="-5" dirty="0">
                <a:latin typeface="Verdana"/>
                <a:cs typeface="Verdana"/>
              </a:rPr>
              <a:t>Workstation</a:t>
            </a:r>
            <a:r>
              <a:rPr sz="1600" b="1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1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6948" y="4418076"/>
            <a:ext cx="1696720" cy="342900"/>
          </a:xfrm>
          <a:prstGeom prst="rect">
            <a:avLst/>
          </a:prstGeom>
          <a:ln w="18923">
            <a:solidFill>
              <a:srgbClr val="777777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90"/>
              </a:spcBef>
            </a:pPr>
            <a:r>
              <a:rPr sz="1600" b="1" spc="-10" dirty="0">
                <a:latin typeface="Verdana"/>
                <a:cs typeface="Verdana"/>
              </a:rPr>
              <a:t>DHCP Server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423659" y="4561332"/>
            <a:ext cx="1815464" cy="342900"/>
          </a:xfrm>
          <a:custGeom>
            <a:avLst/>
            <a:gdLst/>
            <a:ahLst/>
            <a:cxnLst/>
            <a:rect l="l" t="t" r="r" b="b"/>
            <a:pathLst>
              <a:path w="1815465" h="342900">
                <a:moveTo>
                  <a:pt x="1808734" y="0"/>
                </a:moveTo>
                <a:lnTo>
                  <a:pt x="6350" y="0"/>
                </a:lnTo>
                <a:lnTo>
                  <a:pt x="0" y="6350"/>
                </a:lnTo>
                <a:lnTo>
                  <a:pt x="0" y="336550"/>
                </a:lnTo>
                <a:lnTo>
                  <a:pt x="6350" y="342900"/>
                </a:lnTo>
                <a:lnTo>
                  <a:pt x="1808734" y="342900"/>
                </a:lnTo>
                <a:lnTo>
                  <a:pt x="1815084" y="336550"/>
                </a:lnTo>
                <a:lnTo>
                  <a:pt x="1815084" y="63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423659" y="4561332"/>
            <a:ext cx="1815464" cy="342900"/>
          </a:xfrm>
          <a:prstGeom prst="rect">
            <a:avLst/>
          </a:prstGeom>
          <a:ln w="18923">
            <a:solidFill>
              <a:srgbClr val="777777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85"/>
              </a:spcBef>
            </a:pPr>
            <a:r>
              <a:rPr sz="1600" b="1" spc="-5" dirty="0">
                <a:latin typeface="Verdana"/>
                <a:cs typeface="Verdana"/>
              </a:rPr>
              <a:t>Workstation</a:t>
            </a:r>
            <a:r>
              <a:rPr sz="1600" b="1" spc="5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2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274373" y="2532697"/>
            <a:ext cx="1737995" cy="558165"/>
            <a:chOff x="5274373" y="2532697"/>
            <a:chExt cx="1737995" cy="558165"/>
          </a:xfrm>
        </p:grpSpPr>
        <p:sp>
          <p:nvSpPr>
            <p:cNvPr id="34" name="object 34"/>
            <p:cNvSpPr/>
            <p:nvPr/>
          </p:nvSpPr>
          <p:spPr>
            <a:xfrm>
              <a:off x="5279135" y="2537460"/>
              <a:ext cx="1728470" cy="548640"/>
            </a:xfrm>
            <a:custGeom>
              <a:avLst/>
              <a:gdLst/>
              <a:ahLst/>
              <a:cxnLst/>
              <a:rect l="l" t="t" r="r" b="b"/>
              <a:pathLst>
                <a:path w="1728470" h="548639">
                  <a:moveTo>
                    <a:pt x="1705356" y="0"/>
                  </a:moveTo>
                  <a:lnTo>
                    <a:pt x="22860" y="0"/>
                  </a:lnTo>
                  <a:lnTo>
                    <a:pt x="13983" y="1803"/>
                  </a:lnTo>
                  <a:lnTo>
                    <a:pt x="6715" y="6715"/>
                  </a:lnTo>
                  <a:lnTo>
                    <a:pt x="1803" y="13983"/>
                  </a:lnTo>
                  <a:lnTo>
                    <a:pt x="0" y="22860"/>
                  </a:lnTo>
                  <a:lnTo>
                    <a:pt x="0" y="525779"/>
                  </a:lnTo>
                  <a:lnTo>
                    <a:pt x="1803" y="534656"/>
                  </a:lnTo>
                  <a:lnTo>
                    <a:pt x="6715" y="541924"/>
                  </a:lnTo>
                  <a:lnTo>
                    <a:pt x="13983" y="546836"/>
                  </a:lnTo>
                  <a:lnTo>
                    <a:pt x="22860" y="548639"/>
                  </a:lnTo>
                  <a:lnTo>
                    <a:pt x="1705356" y="548639"/>
                  </a:lnTo>
                  <a:lnTo>
                    <a:pt x="1714232" y="546836"/>
                  </a:lnTo>
                  <a:lnTo>
                    <a:pt x="1721500" y="541924"/>
                  </a:lnTo>
                  <a:lnTo>
                    <a:pt x="1726412" y="534656"/>
                  </a:lnTo>
                  <a:lnTo>
                    <a:pt x="1728215" y="525779"/>
                  </a:lnTo>
                  <a:lnTo>
                    <a:pt x="1728215" y="22860"/>
                  </a:lnTo>
                  <a:lnTo>
                    <a:pt x="1726412" y="13983"/>
                  </a:lnTo>
                  <a:lnTo>
                    <a:pt x="1721500" y="6715"/>
                  </a:lnTo>
                  <a:lnTo>
                    <a:pt x="1714232" y="1803"/>
                  </a:lnTo>
                  <a:lnTo>
                    <a:pt x="17053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279135" y="2537460"/>
              <a:ext cx="1728470" cy="548640"/>
            </a:xfrm>
            <a:custGeom>
              <a:avLst/>
              <a:gdLst/>
              <a:ahLst/>
              <a:cxnLst/>
              <a:rect l="l" t="t" r="r" b="b"/>
              <a:pathLst>
                <a:path w="1728470" h="548639">
                  <a:moveTo>
                    <a:pt x="0" y="22860"/>
                  </a:moveTo>
                  <a:lnTo>
                    <a:pt x="1803" y="13983"/>
                  </a:lnTo>
                  <a:lnTo>
                    <a:pt x="6715" y="6715"/>
                  </a:lnTo>
                  <a:lnTo>
                    <a:pt x="13983" y="1803"/>
                  </a:lnTo>
                  <a:lnTo>
                    <a:pt x="22860" y="0"/>
                  </a:lnTo>
                  <a:lnTo>
                    <a:pt x="1705356" y="0"/>
                  </a:lnTo>
                  <a:lnTo>
                    <a:pt x="1714232" y="1803"/>
                  </a:lnTo>
                  <a:lnTo>
                    <a:pt x="1721500" y="6715"/>
                  </a:lnTo>
                  <a:lnTo>
                    <a:pt x="1726412" y="13983"/>
                  </a:lnTo>
                  <a:lnTo>
                    <a:pt x="1728215" y="22860"/>
                  </a:lnTo>
                  <a:lnTo>
                    <a:pt x="1728215" y="525779"/>
                  </a:lnTo>
                  <a:lnTo>
                    <a:pt x="1726412" y="534656"/>
                  </a:lnTo>
                  <a:lnTo>
                    <a:pt x="1721500" y="541924"/>
                  </a:lnTo>
                  <a:lnTo>
                    <a:pt x="1714232" y="546836"/>
                  </a:lnTo>
                  <a:lnTo>
                    <a:pt x="1705356" y="548639"/>
                  </a:lnTo>
                  <a:lnTo>
                    <a:pt x="22860" y="548639"/>
                  </a:lnTo>
                  <a:lnTo>
                    <a:pt x="13983" y="546836"/>
                  </a:lnTo>
                  <a:lnTo>
                    <a:pt x="6715" y="541924"/>
                  </a:lnTo>
                  <a:lnTo>
                    <a:pt x="1803" y="534656"/>
                  </a:lnTo>
                  <a:lnTo>
                    <a:pt x="0" y="525779"/>
                  </a:lnTo>
                  <a:lnTo>
                    <a:pt x="0" y="22860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364860" y="2553969"/>
            <a:ext cx="1547495" cy="464184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080">
              <a:lnSpc>
                <a:spcPts val="1540"/>
              </a:lnSpc>
              <a:spcBef>
                <a:spcPts val="459"/>
              </a:spcBef>
            </a:pPr>
            <a:r>
              <a:rPr sz="1600" b="1" spc="-10" dirty="0">
                <a:latin typeface="Verdana"/>
                <a:cs typeface="Verdana"/>
              </a:rPr>
              <a:t>File </a:t>
            </a:r>
            <a:r>
              <a:rPr sz="1600" b="1" spc="-5" dirty="0">
                <a:latin typeface="Verdana"/>
                <a:cs typeface="Verdana"/>
              </a:rPr>
              <a:t>and </a:t>
            </a:r>
            <a:r>
              <a:rPr sz="1600" b="1" spc="-10" dirty="0">
                <a:latin typeface="Verdana"/>
                <a:cs typeface="Verdana"/>
              </a:rPr>
              <a:t>Print  Server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979485" y="5067109"/>
            <a:ext cx="4716145" cy="1169670"/>
            <a:chOff x="1979485" y="5067109"/>
            <a:chExt cx="4716145" cy="1169670"/>
          </a:xfrm>
        </p:grpSpPr>
        <p:sp>
          <p:nvSpPr>
            <p:cNvPr id="38" name="object 38"/>
            <p:cNvSpPr/>
            <p:nvPr/>
          </p:nvSpPr>
          <p:spPr>
            <a:xfrm>
              <a:off x="1984248" y="5071871"/>
              <a:ext cx="4706111" cy="115976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984248" y="5071871"/>
              <a:ext cx="4706620" cy="1160145"/>
            </a:xfrm>
            <a:custGeom>
              <a:avLst/>
              <a:gdLst/>
              <a:ahLst/>
              <a:cxnLst/>
              <a:rect l="l" t="t" r="r" b="b"/>
              <a:pathLst>
                <a:path w="4706620" h="1160145">
                  <a:moveTo>
                    <a:pt x="0" y="48386"/>
                  </a:moveTo>
                  <a:lnTo>
                    <a:pt x="3792" y="29521"/>
                  </a:lnTo>
                  <a:lnTo>
                    <a:pt x="14144" y="14144"/>
                  </a:lnTo>
                  <a:lnTo>
                    <a:pt x="29521" y="3792"/>
                  </a:lnTo>
                  <a:lnTo>
                    <a:pt x="48387" y="0"/>
                  </a:lnTo>
                  <a:lnTo>
                    <a:pt x="4657725" y="0"/>
                  </a:lnTo>
                  <a:lnTo>
                    <a:pt x="4676590" y="3792"/>
                  </a:lnTo>
                  <a:lnTo>
                    <a:pt x="4691967" y="14144"/>
                  </a:lnTo>
                  <a:lnTo>
                    <a:pt x="4702319" y="29521"/>
                  </a:lnTo>
                  <a:lnTo>
                    <a:pt x="4706111" y="48386"/>
                  </a:lnTo>
                  <a:lnTo>
                    <a:pt x="4706111" y="1111440"/>
                  </a:lnTo>
                  <a:lnTo>
                    <a:pt x="4702319" y="1130247"/>
                  </a:lnTo>
                  <a:lnTo>
                    <a:pt x="4691967" y="1145608"/>
                  </a:lnTo>
                  <a:lnTo>
                    <a:pt x="4676590" y="1155965"/>
                  </a:lnTo>
                  <a:lnTo>
                    <a:pt x="4657725" y="1159764"/>
                  </a:lnTo>
                  <a:lnTo>
                    <a:pt x="48387" y="1159764"/>
                  </a:lnTo>
                  <a:lnTo>
                    <a:pt x="29521" y="1155965"/>
                  </a:lnTo>
                  <a:lnTo>
                    <a:pt x="14144" y="1145608"/>
                  </a:lnTo>
                  <a:lnTo>
                    <a:pt x="3792" y="1130247"/>
                  </a:lnTo>
                  <a:lnTo>
                    <a:pt x="0" y="1111440"/>
                  </a:lnTo>
                  <a:lnTo>
                    <a:pt x="0" y="48386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995892" y="5150307"/>
            <a:ext cx="468312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3980" marR="247015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Verdana"/>
                <a:cs typeface="Verdana"/>
              </a:rPr>
              <a:t>IP </a:t>
            </a:r>
            <a:r>
              <a:rPr sz="1600" b="1" spc="-10" dirty="0">
                <a:latin typeface="Verdana"/>
                <a:cs typeface="Verdana"/>
              </a:rPr>
              <a:t>Address1: Leased </a:t>
            </a:r>
            <a:r>
              <a:rPr sz="1600" b="1" spc="-5" dirty="0">
                <a:latin typeface="Verdana"/>
                <a:cs typeface="Verdana"/>
              </a:rPr>
              <a:t>to </a:t>
            </a:r>
            <a:r>
              <a:rPr sz="1600" b="1" spc="-10" dirty="0">
                <a:latin typeface="Verdana"/>
                <a:cs typeface="Verdana"/>
              </a:rPr>
              <a:t>Workstation </a:t>
            </a:r>
            <a:r>
              <a:rPr sz="1600" b="1" spc="-5" dirty="0">
                <a:latin typeface="Verdana"/>
                <a:cs typeface="Verdana"/>
              </a:rPr>
              <a:t>1  IP </a:t>
            </a:r>
            <a:r>
              <a:rPr sz="1600" b="1" spc="-10" dirty="0">
                <a:latin typeface="Verdana"/>
                <a:cs typeface="Verdana"/>
              </a:rPr>
              <a:t>Address2: Leased </a:t>
            </a:r>
            <a:r>
              <a:rPr sz="1600" b="1" spc="-5" dirty="0">
                <a:latin typeface="Verdana"/>
                <a:cs typeface="Verdana"/>
              </a:rPr>
              <a:t>to Workstation 2  IP </a:t>
            </a:r>
            <a:r>
              <a:rPr sz="1600" b="1" spc="-10" dirty="0">
                <a:latin typeface="Verdana"/>
                <a:cs typeface="Verdana"/>
              </a:rPr>
              <a:t>Address3: Reserved for File </a:t>
            </a:r>
            <a:r>
              <a:rPr sz="1600" b="1" spc="-5" dirty="0">
                <a:latin typeface="Verdana"/>
                <a:cs typeface="Verdana"/>
              </a:rPr>
              <a:t>and  </a:t>
            </a:r>
            <a:r>
              <a:rPr sz="1600" b="1" spc="-10" dirty="0">
                <a:latin typeface="Verdana"/>
                <a:cs typeface="Verdana"/>
              </a:rPr>
              <a:t>Print</a:t>
            </a:r>
            <a:r>
              <a:rPr sz="1600" b="1" spc="1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Server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257800" y="3268979"/>
            <a:ext cx="722376" cy="4617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43637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DHCP Sizing and</a:t>
            </a:r>
            <a:r>
              <a:rPr spc="-30" dirty="0"/>
              <a:t> </a:t>
            </a:r>
            <a:r>
              <a:rPr spc="-5" dirty="0"/>
              <a:t>Availability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96240" y="985837"/>
            <a:ext cx="6116320" cy="4022090"/>
            <a:chOff x="396240" y="985837"/>
            <a:chExt cx="6116320" cy="4022090"/>
          </a:xfrm>
        </p:grpSpPr>
        <p:sp>
          <p:nvSpPr>
            <p:cNvPr id="4" name="object 4"/>
            <p:cNvSpPr/>
            <p:nvPr/>
          </p:nvSpPr>
          <p:spPr>
            <a:xfrm>
              <a:off x="396240" y="1124712"/>
              <a:ext cx="6115812" cy="388315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48356" y="990600"/>
              <a:ext cx="859790" cy="448309"/>
            </a:xfrm>
            <a:custGeom>
              <a:avLst/>
              <a:gdLst/>
              <a:ahLst/>
              <a:cxnLst/>
              <a:rect l="l" t="t" r="r" b="b"/>
              <a:pathLst>
                <a:path w="859789" h="448309">
                  <a:moveTo>
                    <a:pt x="840867" y="0"/>
                  </a:moveTo>
                  <a:lnTo>
                    <a:pt x="18668" y="0"/>
                  </a:lnTo>
                  <a:lnTo>
                    <a:pt x="11412" y="1470"/>
                  </a:lnTo>
                  <a:lnTo>
                    <a:pt x="5476" y="5476"/>
                  </a:lnTo>
                  <a:lnTo>
                    <a:pt x="1470" y="11412"/>
                  </a:lnTo>
                  <a:lnTo>
                    <a:pt x="0" y="18669"/>
                  </a:lnTo>
                  <a:lnTo>
                    <a:pt x="0" y="429387"/>
                  </a:lnTo>
                  <a:lnTo>
                    <a:pt x="1470" y="436643"/>
                  </a:lnTo>
                  <a:lnTo>
                    <a:pt x="5476" y="442579"/>
                  </a:lnTo>
                  <a:lnTo>
                    <a:pt x="11412" y="446585"/>
                  </a:lnTo>
                  <a:lnTo>
                    <a:pt x="18668" y="448055"/>
                  </a:lnTo>
                  <a:lnTo>
                    <a:pt x="840867" y="448055"/>
                  </a:lnTo>
                  <a:lnTo>
                    <a:pt x="848123" y="446585"/>
                  </a:lnTo>
                  <a:lnTo>
                    <a:pt x="854059" y="442579"/>
                  </a:lnTo>
                  <a:lnTo>
                    <a:pt x="858065" y="436643"/>
                  </a:lnTo>
                  <a:lnTo>
                    <a:pt x="859535" y="429387"/>
                  </a:lnTo>
                  <a:lnTo>
                    <a:pt x="859535" y="18669"/>
                  </a:lnTo>
                  <a:lnTo>
                    <a:pt x="858065" y="11412"/>
                  </a:lnTo>
                  <a:lnTo>
                    <a:pt x="854059" y="5476"/>
                  </a:lnTo>
                  <a:lnTo>
                    <a:pt x="848123" y="1470"/>
                  </a:lnTo>
                  <a:lnTo>
                    <a:pt x="8408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48356" y="990600"/>
              <a:ext cx="859790" cy="448309"/>
            </a:xfrm>
            <a:custGeom>
              <a:avLst/>
              <a:gdLst/>
              <a:ahLst/>
              <a:cxnLst/>
              <a:rect l="l" t="t" r="r" b="b"/>
              <a:pathLst>
                <a:path w="859789" h="448309">
                  <a:moveTo>
                    <a:pt x="0" y="18669"/>
                  </a:moveTo>
                  <a:lnTo>
                    <a:pt x="1470" y="11412"/>
                  </a:lnTo>
                  <a:lnTo>
                    <a:pt x="5476" y="5476"/>
                  </a:lnTo>
                  <a:lnTo>
                    <a:pt x="11412" y="1470"/>
                  </a:lnTo>
                  <a:lnTo>
                    <a:pt x="18668" y="0"/>
                  </a:lnTo>
                  <a:lnTo>
                    <a:pt x="840867" y="0"/>
                  </a:lnTo>
                  <a:lnTo>
                    <a:pt x="848123" y="1470"/>
                  </a:lnTo>
                  <a:lnTo>
                    <a:pt x="854059" y="5476"/>
                  </a:lnTo>
                  <a:lnTo>
                    <a:pt x="858065" y="11412"/>
                  </a:lnTo>
                  <a:lnTo>
                    <a:pt x="859535" y="18669"/>
                  </a:lnTo>
                  <a:lnTo>
                    <a:pt x="859535" y="429387"/>
                  </a:lnTo>
                  <a:lnTo>
                    <a:pt x="858065" y="436643"/>
                  </a:lnTo>
                  <a:lnTo>
                    <a:pt x="854059" y="442579"/>
                  </a:lnTo>
                  <a:lnTo>
                    <a:pt x="848123" y="446585"/>
                  </a:lnTo>
                  <a:lnTo>
                    <a:pt x="840867" y="448055"/>
                  </a:lnTo>
                  <a:lnTo>
                    <a:pt x="18668" y="448055"/>
                  </a:lnTo>
                  <a:lnTo>
                    <a:pt x="11412" y="446585"/>
                  </a:lnTo>
                  <a:lnTo>
                    <a:pt x="5476" y="442579"/>
                  </a:lnTo>
                  <a:lnTo>
                    <a:pt x="1470" y="436643"/>
                  </a:lnTo>
                  <a:lnTo>
                    <a:pt x="0" y="429387"/>
                  </a:lnTo>
                  <a:lnTo>
                    <a:pt x="0" y="18669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932557" y="987044"/>
            <a:ext cx="70866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Verdana"/>
                <a:cs typeface="Verdana"/>
              </a:rPr>
              <a:t>DHCP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Cli</a:t>
            </a:r>
            <a:r>
              <a:rPr sz="1400" b="1" spc="5" dirty="0">
                <a:latin typeface="Verdana"/>
                <a:cs typeface="Verdana"/>
              </a:rPr>
              <a:t>e</a:t>
            </a:r>
            <a:r>
              <a:rPr sz="1400" b="1" spc="-5" dirty="0">
                <a:latin typeface="Verdana"/>
                <a:cs typeface="Verdana"/>
              </a:rPr>
              <a:t>n</a:t>
            </a:r>
            <a:r>
              <a:rPr sz="1400" b="1" spc="-10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159061" y="2701861"/>
            <a:ext cx="1477645" cy="718185"/>
            <a:chOff x="3159061" y="2701861"/>
            <a:chExt cx="1477645" cy="718185"/>
          </a:xfrm>
        </p:grpSpPr>
        <p:sp>
          <p:nvSpPr>
            <p:cNvPr id="9" name="object 9"/>
            <p:cNvSpPr/>
            <p:nvPr/>
          </p:nvSpPr>
          <p:spPr>
            <a:xfrm>
              <a:off x="3163823" y="2706623"/>
              <a:ext cx="1468120" cy="708660"/>
            </a:xfrm>
            <a:custGeom>
              <a:avLst/>
              <a:gdLst/>
              <a:ahLst/>
              <a:cxnLst/>
              <a:rect l="l" t="t" r="r" b="b"/>
              <a:pathLst>
                <a:path w="1468120" h="708660">
                  <a:moveTo>
                    <a:pt x="1438021" y="0"/>
                  </a:moveTo>
                  <a:lnTo>
                    <a:pt x="29590" y="0"/>
                  </a:lnTo>
                  <a:lnTo>
                    <a:pt x="18055" y="2319"/>
                  </a:lnTo>
                  <a:lnTo>
                    <a:pt x="8651" y="8651"/>
                  </a:lnTo>
                  <a:lnTo>
                    <a:pt x="2319" y="18055"/>
                  </a:lnTo>
                  <a:lnTo>
                    <a:pt x="0" y="29590"/>
                  </a:lnTo>
                  <a:lnTo>
                    <a:pt x="0" y="679068"/>
                  </a:lnTo>
                  <a:lnTo>
                    <a:pt x="2319" y="690604"/>
                  </a:lnTo>
                  <a:lnTo>
                    <a:pt x="8651" y="700008"/>
                  </a:lnTo>
                  <a:lnTo>
                    <a:pt x="18055" y="706340"/>
                  </a:lnTo>
                  <a:lnTo>
                    <a:pt x="29590" y="708660"/>
                  </a:lnTo>
                  <a:lnTo>
                    <a:pt x="1438021" y="708660"/>
                  </a:lnTo>
                  <a:lnTo>
                    <a:pt x="1449556" y="706340"/>
                  </a:lnTo>
                  <a:lnTo>
                    <a:pt x="1458960" y="700008"/>
                  </a:lnTo>
                  <a:lnTo>
                    <a:pt x="1465292" y="690604"/>
                  </a:lnTo>
                  <a:lnTo>
                    <a:pt x="1467612" y="679068"/>
                  </a:lnTo>
                  <a:lnTo>
                    <a:pt x="1467612" y="29590"/>
                  </a:lnTo>
                  <a:lnTo>
                    <a:pt x="1465292" y="18055"/>
                  </a:lnTo>
                  <a:lnTo>
                    <a:pt x="1458960" y="8651"/>
                  </a:lnTo>
                  <a:lnTo>
                    <a:pt x="1449556" y="2319"/>
                  </a:lnTo>
                  <a:lnTo>
                    <a:pt x="14380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63823" y="2706623"/>
              <a:ext cx="1468120" cy="708660"/>
            </a:xfrm>
            <a:custGeom>
              <a:avLst/>
              <a:gdLst/>
              <a:ahLst/>
              <a:cxnLst/>
              <a:rect l="l" t="t" r="r" b="b"/>
              <a:pathLst>
                <a:path w="1468120" h="708660">
                  <a:moveTo>
                    <a:pt x="0" y="29590"/>
                  </a:moveTo>
                  <a:lnTo>
                    <a:pt x="2319" y="18055"/>
                  </a:lnTo>
                  <a:lnTo>
                    <a:pt x="8651" y="8651"/>
                  </a:lnTo>
                  <a:lnTo>
                    <a:pt x="18055" y="2319"/>
                  </a:lnTo>
                  <a:lnTo>
                    <a:pt x="29590" y="0"/>
                  </a:lnTo>
                  <a:lnTo>
                    <a:pt x="1438021" y="0"/>
                  </a:lnTo>
                  <a:lnTo>
                    <a:pt x="1449556" y="2319"/>
                  </a:lnTo>
                  <a:lnTo>
                    <a:pt x="1458960" y="8651"/>
                  </a:lnTo>
                  <a:lnTo>
                    <a:pt x="1465292" y="18055"/>
                  </a:lnTo>
                  <a:lnTo>
                    <a:pt x="1467612" y="29590"/>
                  </a:lnTo>
                  <a:lnTo>
                    <a:pt x="1467612" y="679068"/>
                  </a:lnTo>
                  <a:lnTo>
                    <a:pt x="1465292" y="690604"/>
                  </a:lnTo>
                  <a:lnTo>
                    <a:pt x="1458960" y="700008"/>
                  </a:lnTo>
                  <a:lnTo>
                    <a:pt x="1449556" y="706340"/>
                  </a:lnTo>
                  <a:lnTo>
                    <a:pt x="1438021" y="708660"/>
                  </a:lnTo>
                  <a:lnTo>
                    <a:pt x="29590" y="708660"/>
                  </a:lnTo>
                  <a:lnTo>
                    <a:pt x="18055" y="706340"/>
                  </a:lnTo>
                  <a:lnTo>
                    <a:pt x="8651" y="700008"/>
                  </a:lnTo>
                  <a:lnTo>
                    <a:pt x="2319" y="690604"/>
                  </a:lnTo>
                  <a:lnTo>
                    <a:pt x="0" y="679068"/>
                  </a:lnTo>
                  <a:lnTo>
                    <a:pt x="0" y="29590"/>
                  </a:lnTo>
                  <a:close/>
                </a:path>
              </a:pathLst>
            </a:custGeom>
            <a:ln w="9143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251708" y="2727198"/>
            <a:ext cx="1233170" cy="66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Verdana"/>
                <a:cs typeface="Verdana"/>
              </a:rPr>
              <a:t>DHCP</a:t>
            </a:r>
            <a:endParaRPr sz="14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Server1  192.168.0.1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632013" y="4309681"/>
            <a:ext cx="1375410" cy="721360"/>
            <a:chOff x="1632013" y="4309681"/>
            <a:chExt cx="1375410" cy="721360"/>
          </a:xfrm>
        </p:grpSpPr>
        <p:sp>
          <p:nvSpPr>
            <p:cNvPr id="13" name="object 13"/>
            <p:cNvSpPr/>
            <p:nvPr/>
          </p:nvSpPr>
          <p:spPr>
            <a:xfrm>
              <a:off x="1636776" y="4314444"/>
              <a:ext cx="1365885" cy="711835"/>
            </a:xfrm>
            <a:custGeom>
              <a:avLst/>
              <a:gdLst/>
              <a:ahLst/>
              <a:cxnLst/>
              <a:rect l="l" t="t" r="r" b="b"/>
              <a:pathLst>
                <a:path w="1365885" h="711835">
                  <a:moveTo>
                    <a:pt x="1335786" y="0"/>
                  </a:moveTo>
                  <a:lnTo>
                    <a:pt x="29718" y="0"/>
                  </a:lnTo>
                  <a:lnTo>
                    <a:pt x="18162" y="2339"/>
                  </a:lnTo>
                  <a:lnTo>
                    <a:pt x="8715" y="8715"/>
                  </a:lnTo>
                  <a:lnTo>
                    <a:pt x="2339" y="18162"/>
                  </a:lnTo>
                  <a:lnTo>
                    <a:pt x="0" y="29717"/>
                  </a:lnTo>
                  <a:lnTo>
                    <a:pt x="0" y="681989"/>
                  </a:lnTo>
                  <a:lnTo>
                    <a:pt x="2339" y="693545"/>
                  </a:lnTo>
                  <a:lnTo>
                    <a:pt x="8715" y="702992"/>
                  </a:lnTo>
                  <a:lnTo>
                    <a:pt x="18162" y="709368"/>
                  </a:lnTo>
                  <a:lnTo>
                    <a:pt x="29718" y="711707"/>
                  </a:lnTo>
                  <a:lnTo>
                    <a:pt x="1335786" y="711707"/>
                  </a:lnTo>
                  <a:lnTo>
                    <a:pt x="1347341" y="709368"/>
                  </a:lnTo>
                  <a:lnTo>
                    <a:pt x="1356788" y="702992"/>
                  </a:lnTo>
                  <a:lnTo>
                    <a:pt x="1363164" y="693545"/>
                  </a:lnTo>
                  <a:lnTo>
                    <a:pt x="1365504" y="681989"/>
                  </a:lnTo>
                  <a:lnTo>
                    <a:pt x="1365504" y="29717"/>
                  </a:lnTo>
                  <a:lnTo>
                    <a:pt x="1363164" y="18162"/>
                  </a:lnTo>
                  <a:lnTo>
                    <a:pt x="1356788" y="8715"/>
                  </a:lnTo>
                  <a:lnTo>
                    <a:pt x="1347341" y="2339"/>
                  </a:lnTo>
                  <a:lnTo>
                    <a:pt x="13357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636776" y="4314444"/>
              <a:ext cx="1365885" cy="711835"/>
            </a:xfrm>
            <a:custGeom>
              <a:avLst/>
              <a:gdLst/>
              <a:ahLst/>
              <a:cxnLst/>
              <a:rect l="l" t="t" r="r" b="b"/>
              <a:pathLst>
                <a:path w="1365885" h="711835">
                  <a:moveTo>
                    <a:pt x="0" y="29717"/>
                  </a:moveTo>
                  <a:lnTo>
                    <a:pt x="2339" y="18162"/>
                  </a:lnTo>
                  <a:lnTo>
                    <a:pt x="8715" y="8715"/>
                  </a:lnTo>
                  <a:lnTo>
                    <a:pt x="18162" y="2339"/>
                  </a:lnTo>
                  <a:lnTo>
                    <a:pt x="29718" y="0"/>
                  </a:lnTo>
                  <a:lnTo>
                    <a:pt x="1335786" y="0"/>
                  </a:lnTo>
                  <a:lnTo>
                    <a:pt x="1347341" y="2339"/>
                  </a:lnTo>
                  <a:lnTo>
                    <a:pt x="1356788" y="8715"/>
                  </a:lnTo>
                  <a:lnTo>
                    <a:pt x="1363164" y="18162"/>
                  </a:lnTo>
                  <a:lnTo>
                    <a:pt x="1365504" y="29717"/>
                  </a:lnTo>
                  <a:lnTo>
                    <a:pt x="1365504" y="681989"/>
                  </a:lnTo>
                  <a:lnTo>
                    <a:pt x="1363164" y="693545"/>
                  </a:lnTo>
                  <a:lnTo>
                    <a:pt x="1356788" y="702992"/>
                  </a:lnTo>
                  <a:lnTo>
                    <a:pt x="1347341" y="709368"/>
                  </a:lnTo>
                  <a:lnTo>
                    <a:pt x="1335786" y="711707"/>
                  </a:lnTo>
                  <a:lnTo>
                    <a:pt x="29718" y="711707"/>
                  </a:lnTo>
                  <a:lnTo>
                    <a:pt x="18162" y="709368"/>
                  </a:lnTo>
                  <a:lnTo>
                    <a:pt x="8715" y="702992"/>
                  </a:lnTo>
                  <a:lnTo>
                    <a:pt x="2339" y="693545"/>
                  </a:lnTo>
                  <a:lnTo>
                    <a:pt x="0" y="681989"/>
                  </a:lnTo>
                  <a:lnTo>
                    <a:pt x="0" y="29717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724405" y="4337050"/>
            <a:ext cx="122999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Verdana"/>
                <a:cs typeface="Verdana"/>
              </a:rPr>
              <a:t>DHCP</a:t>
            </a:r>
            <a:endParaRPr sz="14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400" b="1" spc="-5" dirty="0">
                <a:latin typeface="Verdana"/>
                <a:cs typeface="Verdana"/>
              </a:rPr>
              <a:t>Server2  192.168.1.1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77405" y="3357371"/>
            <a:ext cx="1490980" cy="1002030"/>
            <a:chOff x="577405" y="3357371"/>
            <a:chExt cx="1490980" cy="1002030"/>
          </a:xfrm>
        </p:grpSpPr>
        <p:sp>
          <p:nvSpPr>
            <p:cNvPr id="17" name="object 17"/>
            <p:cNvSpPr/>
            <p:nvPr/>
          </p:nvSpPr>
          <p:spPr>
            <a:xfrm>
              <a:off x="1365504" y="3357371"/>
              <a:ext cx="702564" cy="81991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2168" y="3906011"/>
              <a:ext cx="861060" cy="448309"/>
            </a:xfrm>
            <a:custGeom>
              <a:avLst/>
              <a:gdLst/>
              <a:ahLst/>
              <a:cxnLst/>
              <a:rect l="l" t="t" r="r" b="b"/>
              <a:pathLst>
                <a:path w="861060" h="448310">
                  <a:moveTo>
                    <a:pt x="842391" y="0"/>
                  </a:moveTo>
                  <a:lnTo>
                    <a:pt x="18668" y="0"/>
                  </a:lnTo>
                  <a:lnTo>
                    <a:pt x="11401" y="1470"/>
                  </a:lnTo>
                  <a:lnTo>
                    <a:pt x="5467" y="5476"/>
                  </a:lnTo>
                  <a:lnTo>
                    <a:pt x="1466" y="11412"/>
                  </a:lnTo>
                  <a:lnTo>
                    <a:pt x="0" y="18668"/>
                  </a:lnTo>
                  <a:lnTo>
                    <a:pt x="0" y="429387"/>
                  </a:lnTo>
                  <a:lnTo>
                    <a:pt x="1466" y="436643"/>
                  </a:lnTo>
                  <a:lnTo>
                    <a:pt x="5467" y="442579"/>
                  </a:lnTo>
                  <a:lnTo>
                    <a:pt x="11401" y="446585"/>
                  </a:lnTo>
                  <a:lnTo>
                    <a:pt x="18668" y="448056"/>
                  </a:lnTo>
                  <a:lnTo>
                    <a:pt x="842391" y="448056"/>
                  </a:lnTo>
                  <a:lnTo>
                    <a:pt x="849647" y="446585"/>
                  </a:lnTo>
                  <a:lnTo>
                    <a:pt x="855583" y="442579"/>
                  </a:lnTo>
                  <a:lnTo>
                    <a:pt x="859589" y="436643"/>
                  </a:lnTo>
                  <a:lnTo>
                    <a:pt x="861060" y="429387"/>
                  </a:lnTo>
                  <a:lnTo>
                    <a:pt x="861060" y="18668"/>
                  </a:lnTo>
                  <a:lnTo>
                    <a:pt x="859589" y="11412"/>
                  </a:lnTo>
                  <a:lnTo>
                    <a:pt x="855583" y="5476"/>
                  </a:lnTo>
                  <a:lnTo>
                    <a:pt x="849647" y="1470"/>
                  </a:lnTo>
                  <a:lnTo>
                    <a:pt x="8423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2168" y="3906011"/>
              <a:ext cx="861060" cy="448309"/>
            </a:xfrm>
            <a:custGeom>
              <a:avLst/>
              <a:gdLst/>
              <a:ahLst/>
              <a:cxnLst/>
              <a:rect l="l" t="t" r="r" b="b"/>
              <a:pathLst>
                <a:path w="861060" h="448310">
                  <a:moveTo>
                    <a:pt x="0" y="18668"/>
                  </a:moveTo>
                  <a:lnTo>
                    <a:pt x="1466" y="11412"/>
                  </a:lnTo>
                  <a:lnTo>
                    <a:pt x="5467" y="5476"/>
                  </a:lnTo>
                  <a:lnTo>
                    <a:pt x="11401" y="1470"/>
                  </a:lnTo>
                  <a:lnTo>
                    <a:pt x="18668" y="0"/>
                  </a:lnTo>
                  <a:lnTo>
                    <a:pt x="842391" y="0"/>
                  </a:lnTo>
                  <a:lnTo>
                    <a:pt x="849647" y="1470"/>
                  </a:lnTo>
                  <a:lnTo>
                    <a:pt x="855583" y="5476"/>
                  </a:lnTo>
                  <a:lnTo>
                    <a:pt x="859589" y="11412"/>
                  </a:lnTo>
                  <a:lnTo>
                    <a:pt x="861060" y="18668"/>
                  </a:lnTo>
                  <a:lnTo>
                    <a:pt x="861060" y="429387"/>
                  </a:lnTo>
                  <a:lnTo>
                    <a:pt x="859589" y="436643"/>
                  </a:lnTo>
                  <a:lnTo>
                    <a:pt x="855583" y="442579"/>
                  </a:lnTo>
                  <a:lnTo>
                    <a:pt x="849647" y="446585"/>
                  </a:lnTo>
                  <a:lnTo>
                    <a:pt x="842391" y="448056"/>
                  </a:lnTo>
                  <a:lnTo>
                    <a:pt x="18668" y="448056"/>
                  </a:lnTo>
                  <a:lnTo>
                    <a:pt x="11401" y="446585"/>
                  </a:lnTo>
                  <a:lnTo>
                    <a:pt x="5467" y="442579"/>
                  </a:lnTo>
                  <a:lnTo>
                    <a:pt x="1466" y="436643"/>
                  </a:lnTo>
                  <a:lnTo>
                    <a:pt x="0" y="429387"/>
                  </a:lnTo>
                  <a:lnTo>
                    <a:pt x="0" y="18668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67004" y="3903090"/>
            <a:ext cx="709295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Verdana"/>
                <a:cs typeface="Verdana"/>
              </a:rPr>
              <a:t>DHCP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latin typeface="Verdana"/>
                <a:cs typeface="Verdana"/>
              </a:rPr>
              <a:t>Clien</a:t>
            </a:r>
            <a:r>
              <a:rPr sz="1400" b="1" spc="-10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85928" y="940308"/>
            <a:ext cx="8773795" cy="5434965"/>
            <a:chOff x="185928" y="940308"/>
            <a:chExt cx="8773795" cy="5434965"/>
          </a:xfrm>
        </p:grpSpPr>
        <p:sp>
          <p:nvSpPr>
            <p:cNvPr id="22" name="object 22"/>
            <p:cNvSpPr/>
            <p:nvPr/>
          </p:nvSpPr>
          <p:spPr>
            <a:xfrm>
              <a:off x="302514" y="1585722"/>
              <a:ext cx="5398135" cy="2223770"/>
            </a:xfrm>
            <a:custGeom>
              <a:avLst/>
              <a:gdLst/>
              <a:ahLst/>
              <a:cxnLst/>
              <a:rect l="l" t="t" r="r" b="b"/>
              <a:pathLst>
                <a:path w="5398135" h="2223770">
                  <a:moveTo>
                    <a:pt x="5398008" y="667512"/>
                  </a:moveTo>
                  <a:lnTo>
                    <a:pt x="2743200" y="0"/>
                  </a:lnTo>
                </a:path>
                <a:path w="5398135" h="2223770">
                  <a:moveTo>
                    <a:pt x="3800856" y="2223516"/>
                  </a:moveTo>
                  <a:lnTo>
                    <a:pt x="0" y="1188719"/>
                  </a:lnTo>
                </a:path>
                <a:path w="5398135" h="2223770">
                  <a:moveTo>
                    <a:pt x="3829812" y="256031"/>
                  </a:moveTo>
                  <a:lnTo>
                    <a:pt x="1924812" y="1725167"/>
                  </a:lnTo>
                </a:path>
                <a:path w="5398135" h="2223770">
                  <a:moveTo>
                    <a:pt x="1121664" y="1504188"/>
                  </a:moveTo>
                  <a:lnTo>
                    <a:pt x="457200" y="1946148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85928" y="3019043"/>
              <a:ext cx="701040" cy="81991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72817" y="3368802"/>
              <a:ext cx="1828800" cy="864235"/>
            </a:xfrm>
            <a:custGeom>
              <a:avLst/>
              <a:gdLst/>
              <a:ahLst/>
              <a:cxnLst/>
              <a:rect l="l" t="t" r="r" b="b"/>
              <a:pathLst>
                <a:path w="1828800" h="864235">
                  <a:moveTo>
                    <a:pt x="518159" y="0"/>
                  </a:moveTo>
                  <a:lnTo>
                    <a:pt x="0" y="484631"/>
                  </a:lnTo>
                </a:path>
                <a:path w="1828800" h="864235">
                  <a:moveTo>
                    <a:pt x="1828799" y="356616"/>
                  </a:moveTo>
                  <a:lnTo>
                    <a:pt x="1345692" y="864108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912363" y="4003547"/>
              <a:ext cx="829056" cy="93573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024378" y="1294638"/>
              <a:ext cx="2624455" cy="1393190"/>
            </a:xfrm>
            <a:custGeom>
              <a:avLst/>
              <a:gdLst/>
              <a:ahLst/>
              <a:cxnLst/>
              <a:rect l="l" t="t" r="r" b="b"/>
              <a:pathLst>
                <a:path w="2624454" h="1393189">
                  <a:moveTo>
                    <a:pt x="2400300" y="885444"/>
                  </a:moveTo>
                  <a:lnTo>
                    <a:pt x="1918716" y="1392936"/>
                  </a:lnTo>
                </a:path>
                <a:path w="2624454" h="1393189">
                  <a:moveTo>
                    <a:pt x="638556" y="437388"/>
                  </a:moveTo>
                  <a:lnTo>
                    <a:pt x="0" y="946403"/>
                  </a:lnTo>
                </a:path>
                <a:path w="2624454" h="1393189">
                  <a:moveTo>
                    <a:pt x="1357884" y="0"/>
                  </a:moveTo>
                  <a:lnTo>
                    <a:pt x="874776" y="507491"/>
                  </a:lnTo>
                </a:path>
                <a:path w="2624454" h="1393189">
                  <a:moveTo>
                    <a:pt x="2624328" y="307848"/>
                  </a:moveTo>
                  <a:lnTo>
                    <a:pt x="2144268" y="815339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97324" y="2307336"/>
              <a:ext cx="829055" cy="9326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872483" y="940308"/>
              <a:ext cx="699515" cy="8199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549651" y="1609344"/>
              <a:ext cx="701039" cy="82143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207507" y="1255776"/>
              <a:ext cx="701039" cy="82143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889248" y="4418075"/>
              <a:ext cx="5065776" cy="195224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889248" y="4418075"/>
              <a:ext cx="5066030" cy="1952625"/>
            </a:xfrm>
            <a:custGeom>
              <a:avLst/>
              <a:gdLst/>
              <a:ahLst/>
              <a:cxnLst/>
              <a:rect l="l" t="t" r="r" b="b"/>
              <a:pathLst>
                <a:path w="5066030" h="1952625">
                  <a:moveTo>
                    <a:pt x="0" y="81406"/>
                  </a:moveTo>
                  <a:lnTo>
                    <a:pt x="6397" y="49720"/>
                  </a:lnTo>
                  <a:lnTo>
                    <a:pt x="23844" y="23844"/>
                  </a:lnTo>
                  <a:lnTo>
                    <a:pt x="49720" y="6397"/>
                  </a:lnTo>
                  <a:lnTo>
                    <a:pt x="81406" y="0"/>
                  </a:lnTo>
                  <a:lnTo>
                    <a:pt x="4984369" y="0"/>
                  </a:lnTo>
                  <a:lnTo>
                    <a:pt x="5016055" y="6397"/>
                  </a:lnTo>
                  <a:lnTo>
                    <a:pt x="5041931" y="23844"/>
                  </a:lnTo>
                  <a:lnTo>
                    <a:pt x="5059378" y="49720"/>
                  </a:lnTo>
                  <a:lnTo>
                    <a:pt x="5065776" y="81406"/>
                  </a:lnTo>
                  <a:lnTo>
                    <a:pt x="5065776" y="1870887"/>
                  </a:lnTo>
                  <a:lnTo>
                    <a:pt x="5059378" y="1902555"/>
                  </a:lnTo>
                  <a:lnTo>
                    <a:pt x="5041931" y="1928415"/>
                  </a:lnTo>
                  <a:lnTo>
                    <a:pt x="5016055" y="1945850"/>
                  </a:lnTo>
                  <a:lnTo>
                    <a:pt x="4984369" y="1952244"/>
                  </a:lnTo>
                  <a:lnTo>
                    <a:pt x="81406" y="1952244"/>
                  </a:lnTo>
                  <a:lnTo>
                    <a:pt x="49720" y="1945850"/>
                  </a:lnTo>
                  <a:lnTo>
                    <a:pt x="23844" y="1928415"/>
                  </a:lnTo>
                  <a:lnTo>
                    <a:pt x="6397" y="1902555"/>
                  </a:lnTo>
                  <a:lnTo>
                    <a:pt x="0" y="1870887"/>
                  </a:lnTo>
                  <a:lnTo>
                    <a:pt x="0" y="81406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992626" y="4368139"/>
            <a:ext cx="4768850" cy="85788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400" b="1" spc="-5" dirty="0">
                <a:latin typeface="Verdana"/>
                <a:cs typeface="Verdana"/>
              </a:rPr>
              <a:t>DHCP Server1 </a:t>
            </a:r>
            <a:r>
              <a:rPr sz="1400" dirty="0">
                <a:latin typeface="Verdana"/>
                <a:cs typeface="Verdana"/>
              </a:rPr>
              <a:t>has </a:t>
            </a:r>
            <a:r>
              <a:rPr sz="1400" spc="-5" dirty="0">
                <a:latin typeface="Verdana"/>
                <a:cs typeface="Verdana"/>
              </a:rPr>
              <a:t>80% </a:t>
            </a:r>
            <a:r>
              <a:rPr sz="1400" dirty="0">
                <a:latin typeface="Verdana"/>
                <a:cs typeface="Verdana"/>
              </a:rPr>
              <a:t>of addresses as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follows:</a:t>
            </a:r>
            <a:endParaRPr sz="1400">
              <a:latin typeface="Verdana"/>
              <a:cs typeface="Verdana"/>
            </a:endParaRPr>
          </a:p>
          <a:p>
            <a:pPr marL="128270" indent="-116205">
              <a:lnSpc>
                <a:spcPct val="100000"/>
              </a:lnSpc>
              <a:spcBef>
                <a:spcPts val="505"/>
              </a:spcBef>
              <a:buChar char="•"/>
              <a:tabLst>
                <a:tab pos="128905" algn="l"/>
              </a:tabLst>
            </a:pPr>
            <a:r>
              <a:rPr sz="1400" dirty="0">
                <a:latin typeface="Verdana"/>
                <a:cs typeface="Verdana"/>
              </a:rPr>
              <a:t>Scope </a:t>
            </a:r>
            <a:r>
              <a:rPr sz="1400" spc="-5" dirty="0">
                <a:latin typeface="Verdana"/>
                <a:cs typeface="Verdana"/>
              </a:rPr>
              <a:t>range: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192.168.0.2-192.168.0.254</a:t>
            </a:r>
            <a:endParaRPr sz="1400">
              <a:latin typeface="Verdana"/>
              <a:cs typeface="Verdana"/>
            </a:endParaRPr>
          </a:p>
          <a:p>
            <a:pPr marL="128270" indent="-116205">
              <a:lnSpc>
                <a:spcPct val="100000"/>
              </a:lnSpc>
              <a:spcBef>
                <a:spcPts val="509"/>
              </a:spcBef>
              <a:buChar char="•"/>
              <a:tabLst>
                <a:tab pos="128905" algn="l"/>
              </a:tabLst>
            </a:pPr>
            <a:r>
              <a:rPr sz="1400" dirty="0">
                <a:latin typeface="Verdana"/>
                <a:cs typeface="Verdana"/>
              </a:rPr>
              <a:t>Excluded addresses:</a:t>
            </a:r>
            <a:r>
              <a:rPr sz="1400" spc="-100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192.168.0.200-192.168.0.254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992626" y="5477967"/>
            <a:ext cx="4487545" cy="85788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400" b="1" spc="-5" dirty="0">
                <a:latin typeface="Verdana"/>
                <a:cs typeface="Verdana"/>
              </a:rPr>
              <a:t>DHCP Server2 </a:t>
            </a:r>
            <a:r>
              <a:rPr sz="1400" dirty="0">
                <a:latin typeface="Verdana"/>
                <a:cs typeface="Verdana"/>
              </a:rPr>
              <a:t>has </a:t>
            </a:r>
            <a:r>
              <a:rPr sz="1400" spc="-5" dirty="0">
                <a:latin typeface="Verdana"/>
                <a:cs typeface="Verdana"/>
              </a:rPr>
              <a:t>20% </a:t>
            </a:r>
            <a:r>
              <a:rPr sz="1400" dirty="0">
                <a:latin typeface="Verdana"/>
                <a:cs typeface="Verdana"/>
              </a:rPr>
              <a:t>of addresses as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follows:</a:t>
            </a:r>
            <a:endParaRPr sz="1400">
              <a:latin typeface="Verdana"/>
              <a:cs typeface="Verdana"/>
            </a:endParaRPr>
          </a:p>
          <a:p>
            <a:pPr marL="128270" indent="-116205">
              <a:lnSpc>
                <a:spcPct val="100000"/>
              </a:lnSpc>
              <a:spcBef>
                <a:spcPts val="505"/>
              </a:spcBef>
              <a:buChar char="•"/>
              <a:tabLst>
                <a:tab pos="128905" algn="l"/>
              </a:tabLst>
            </a:pPr>
            <a:r>
              <a:rPr sz="1400" dirty="0">
                <a:latin typeface="Verdana"/>
                <a:cs typeface="Verdana"/>
              </a:rPr>
              <a:t>Scope </a:t>
            </a:r>
            <a:r>
              <a:rPr sz="1400" spc="-5" dirty="0">
                <a:latin typeface="Verdana"/>
                <a:cs typeface="Verdana"/>
              </a:rPr>
              <a:t>range: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192.168.0.2-192.168.0.254</a:t>
            </a:r>
            <a:endParaRPr sz="1400">
              <a:latin typeface="Verdana"/>
              <a:cs typeface="Verdana"/>
            </a:endParaRPr>
          </a:p>
          <a:p>
            <a:pPr marL="128270" indent="-116205">
              <a:lnSpc>
                <a:spcPct val="100000"/>
              </a:lnSpc>
              <a:spcBef>
                <a:spcPts val="505"/>
              </a:spcBef>
              <a:buChar char="•"/>
              <a:tabLst>
                <a:tab pos="128905" algn="l"/>
              </a:tabLst>
            </a:pPr>
            <a:r>
              <a:rPr sz="1400" dirty="0">
                <a:latin typeface="Verdana"/>
                <a:cs typeface="Verdana"/>
              </a:rPr>
              <a:t>Excluded addresses: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192.168.0.2-192.168.0199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56343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 smtClean="0"/>
              <a:t> </a:t>
            </a:r>
            <a:r>
              <a:rPr spc="-5" dirty="0" smtClean="0"/>
              <a:t> </a:t>
            </a:r>
            <a:r>
              <a:rPr dirty="0"/>
              <a:t>3: </a:t>
            </a:r>
            <a:r>
              <a:rPr spc="-5" dirty="0"/>
              <a:t>Configuring </a:t>
            </a:r>
            <a:r>
              <a:rPr dirty="0"/>
              <a:t>DHCP</a:t>
            </a:r>
            <a:r>
              <a:rPr spc="20" dirty="0"/>
              <a:t> </a:t>
            </a:r>
            <a:r>
              <a:rPr spc="-5" dirty="0"/>
              <a:t>Options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328" y="946150"/>
            <a:ext cx="6373495" cy="1794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10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What </a:t>
            </a:r>
            <a:r>
              <a:rPr sz="2000" spc="-5" dirty="0">
                <a:latin typeface="Verdana"/>
                <a:cs typeface="Verdana"/>
              </a:rPr>
              <a:t>Are </a:t>
            </a:r>
            <a:r>
              <a:rPr sz="2000" dirty="0">
                <a:latin typeface="Verdana"/>
                <a:cs typeface="Verdana"/>
              </a:rPr>
              <a:t>DHCP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Options?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3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What Are DHCP </a:t>
            </a:r>
            <a:r>
              <a:rPr sz="2000" spc="-5" dirty="0">
                <a:latin typeface="Verdana"/>
                <a:cs typeface="Verdana"/>
              </a:rPr>
              <a:t>Class-Level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Options?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How DHCP </a:t>
            </a:r>
            <a:r>
              <a:rPr sz="2000" spc="-5" dirty="0">
                <a:latin typeface="Verdana"/>
                <a:cs typeface="Verdana"/>
              </a:rPr>
              <a:t>Options Are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Applied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Demonstration: </a:t>
            </a:r>
            <a:r>
              <a:rPr sz="2000" dirty="0">
                <a:latin typeface="Verdana"/>
                <a:cs typeface="Verdana"/>
              </a:rPr>
              <a:t>How </a:t>
            </a:r>
            <a:r>
              <a:rPr sz="2000" spc="-5" dirty="0">
                <a:latin typeface="Verdana"/>
                <a:cs typeface="Verdana"/>
              </a:rPr>
              <a:t>to Configure </a:t>
            </a:r>
            <a:r>
              <a:rPr sz="2000" dirty="0">
                <a:latin typeface="Verdana"/>
                <a:cs typeface="Verdana"/>
              </a:rPr>
              <a:t>DHCP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Options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38639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Are DHCP</a:t>
            </a:r>
            <a:r>
              <a:rPr spc="-85" dirty="0"/>
              <a:t> </a:t>
            </a:r>
            <a:r>
              <a:rPr spc="-5" dirty="0"/>
              <a:t>Options?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26363" y="2744723"/>
            <a:ext cx="7863840" cy="3072765"/>
            <a:chOff x="626363" y="2744723"/>
            <a:chExt cx="7863840" cy="3072765"/>
          </a:xfrm>
        </p:grpSpPr>
        <p:sp>
          <p:nvSpPr>
            <p:cNvPr id="4" name="object 4"/>
            <p:cNvSpPr/>
            <p:nvPr/>
          </p:nvSpPr>
          <p:spPr>
            <a:xfrm>
              <a:off x="1031747" y="4773167"/>
              <a:ext cx="7065645" cy="467995"/>
            </a:xfrm>
            <a:custGeom>
              <a:avLst/>
              <a:gdLst/>
              <a:ahLst/>
              <a:cxnLst/>
              <a:rect l="l" t="t" r="r" b="b"/>
              <a:pathLst>
                <a:path w="7065645" h="467995">
                  <a:moveTo>
                    <a:pt x="7045706" y="0"/>
                  </a:moveTo>
                  <a:lnTo>
                    <a:pt x="19494" y="0"/>
                  </a:lnTo>
                  <a:lnTo>
                    <a:pt x="11905" y="1535"/>
                  </a:lnTo>
                  <a:lnTo>
                    <a:pt x="5708" y="5714"/>
                  </a:lnTo>
                  <a:lnTo>
                    <a:pt x="1531" y="11894"/>
                  </a:lnTo>
                  <a:lnTo>
                    <a:pt x="0" y="19430"/>
                  </a:lnTo>
                  <a:lnTo>
                    <a:pt x="0" y="448309"/>
                  </a:lnTo>
                  <a:lnTo>
                    <a:pt x="1531" y="455920"/>
                  </a:lnTo>
                  <a:lnTo>
                    <a:pt x="5708" y="462137"/>
                  </a:lnTo>
                  <a:lnTo>
                    <a:pt x="11905" y="466330"/>
                  </a:lnTo>
                  <a:lnTo>
                    <a:pt x="19494" y="467867"/>
                  </a:lnTo>
                  <a:lnTo>
                    <a:pt x="7045706" y="467867"/>
                  </a:lnTo>
                  <a:lnTo>
                    <a:pt x="7053316" y="466330"/>
                  </a:lnTo>
                  <a:lnTo>
                    <a:pt x="7059533" y="462137"/>
                  </a:lnTo>
                  <a:lnTo>
                    <a:pt x="7063726" y="455920"/>
                  </a:lnTo>
                  <a:lnTo>
                    <a:pt x="7065263" y="448309"/>
                  </a:lnTo>
                  <a:lnTo>
                    <a:pt x="7065263" y="19430"/>
                  </a:lnTo>
                  <a:lnTo>
                    <a:pt x="7063726" y="11894"/>
                  </a:lnTo>
                  <a:lnTo>
                    <a:pt x="7059533" y="5714"/>
                  </a:lnTo>
                  <a:lnTo>
                    <a:pt x="7053316" y="1535"/>
                  </a:lnTo>
                  <a:lnTo>
                    <a:pt x="7045706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31747" y="4773167"/>
              <a:ext cx="7065645" cy="467995"/>
            </a:xfrm>
            <a:custGeom>
              <a:avLst/>
              <a:gdLst/>
              <a:ahLst/>
              <a:cxnLst/>
              <a:rect l="l" t="t" r="r" b="b"/>
              <a:pathLst>
                <a:path w="7065645" h="467995">
                  <a:moveTo>
                    <a:pt x="0" y="19430"/>
                  </a:moveTo>
                  <a:lnTo>
                    <a:pt x="1531" y="11894"/>
                  </a:lnTo>
                  <a:lnTo>
                    <a:pt x="5708" y="5714"/>
                  </a:lnTo>
                  <a:lnTo>
                    <a:pt x="11905" y="1535"/>
                  </a:lnTo>
                  <a:lnTo>
                    <a:pt x="19494" y="0"/>
                  </a:lnTo>
                  <a:lnTo>
                    <a:pt x="7045706" y="0"/>
                  </a:lnTo>
                  <a:lnTo>
                    <a:pt x="7053316" y="1535"/>
                  </a:lnTo>
                  <a:lnTo>
                    <a:pt x="7059533" y="5714"/>
                  </a:lnTo>
                  <a:lnTo>
                    <a:pt x="7063726" y="11894"/>
                  </a:lnTo>
                  <a:lnTo>
                    <a:pt x="7065263" y="19430"/>
                  </a:lnTo>
                  <a:lnTo>
                    <a:pt x="7065263" y="448309"/>
                  </a:lnTo>
                  <a:lnTo>
                    <a:pt x="7063726" y="455920"/>
                  </a:lnTo>
                  <a:lnTo>
                    <a:pt x="7059533" y="462137"/>
                  </a:lnTo>
                  <a:lnTo>
                    <a:pt x="7053316" y="466330"/>
                  </a:lnTo>
                  <a:lnTo>
                    <a:pt x="7045706" y="467867"/>
                  </a:lnTo>
                  <a:lnTo>
                    <a:pt x="19494" y="467867"/>
                  </a:lnTo>
                  <a:lnTo>
                    <a:pt x="11905" y="466330"/>
                  </a:lnTo>
                  <a:lnTo>
                    <a:pt x="5708" y="462137"/>
                  </a:lnTo>
                  <a:lnTo>
                    <a:pt x="1531" y="455920"/>
                  </a:lnTo>
                  <a:lnTo>
                    <a:pt x="0" y="448309"/>
                  </a:lnTo>
                  <a:lnTo>
                    <a:pt x="0" y="19430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0935" y="2749295"/>
              <a:ext cx="7854950" cy="3063240"/>
            </a:xfrm>
            <a:custGeom>
              <a:avLst/>
              <a:gdLst/>
              <a:ahLst/>
              <a:cxnLst/>
              <a:rect l="l" t="t" r="r" b="b"/>
              <a:pathLst>
                <a:path w="7854950" h="3063240">
                  <a:moveTo>
                    <a:pt x="7727061" y="0"/>
                  </a:moveTo>
                  <a:lnTo>
                    <a:pt x="127647" y="0"/>
                  </a:lnTo>
                  <a:lnTo>
                    <a:pt x="77961" y="10031"/>
                  </a:lnTo>
                  <a:lnTo>
                    <a:pt x="37387" y="37385"/>
                  </a:lnTo>
                  <a:lnTo>
                    <a:pt x="10031" y="77956"/>
                  </a:lnTo>
                  <a:lnTo>
                    <a:pt x="0" y="127634"/>
                  </a:lnTo>
                  <a:lnTo>
                    <a:pt x="0" y="2935592"/>
                  </a:lnTo>
                  <a:lnTo>
                    <a:pt x="10031" y="2985278"/>
                  </a:lnTo>
                  <a:lnTo>
                    <a:pt x="37387" y="3025852"/>
                  </a:lnTo>
                  <a:lnTo>
                    <a:pt x="77961" y="3053208"/>
                  </a:lnTo>
                  <a:lnTo>
                    <a:pt x="127647" y="3063240"/>
                  </a:lnTo>
                  <a:lnTo>
                    <a:pt x="7727061" y="3063240"/>
                  </a:lnTo>
                  <a:lnTo>
                    <a:pt x="7776739" y="3053208"/>
                  </a:lnTo>
                  <a:lnTo>
                    <a:pt x="7817310" y="3025852"/>
                  </a:lnTo>
                  <a:lnTo>
                    <a:pt x="7844664" y="2985278"/>
                  </a:lnTo>
                  <a:lnTo>
                    <a:pt x="7854696" y="2935592"/>
                  </a:lnTo>
                  <a:lnTo>
                    <a:pt x="7854696" y="127634"/>
                  </a:lnTo>
                  <a:lnTo>
                    <a:pt x="7844664" y="77956"/>
                  </a:lnTo>
                  <a:lnTo>
                    <a:pt x="7817310" y="37385"/>
                  </a:lnTo>
                  <a:lnTo>
                    <a:pt x="7776739" y="10031"/>
                  </a:lnTo>
                  <a:lnTo>
                    <a:pt x="7727061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30935" y="2749295"/>
              <a:ext cx="7854950" cy="3063240"/>
            </a:xfrm>
            <a:custGeom>
              <a:avLst/>
              <a:gdLst/>
              <a:ahLst/>
              <a:cxnLst/>
              <a:rect l="l" t="t" r="r" b="b"/>
              <a:pathLst>
                <a:path w="7854950" h="3063240">
                  <a:moveTo>
                    <a:pt x="0" y="127634"/>
                  </a:moveTo>
                  <a:lnTo>
                    <a:pt x="10031" y="77956"/>
                  </a:lnTo>
                  <a:lnTo>
                    <a:pt x="37387" y="37385"/>
                  </a:lnTo>
                  <a:lnTo>
                    <a:pt x="77961" y="10031"/>
                  </a:lnTo>
                  <a:lnTo>
                    <a:pt x="127647" y="0"/>
                  </a:lnTo>
                  <a:lnTo>
                    <a:pt x="7727061" y="0"/>
                  </a:lnTo>
                  <a:lnTo>
                    <a:pt x="7776739" y="10031"/>
                  </a:lnTo>
                  <a:lnTo>
                    <a:pt x="7817310" y="37385"/>
                  </a:lnTo>
                  <a:lnTo>
                    <a:pt x="7844664" y="77956"/>
                  </a:lnTo>
                  <a:lnTo>
                    <a:pt x="7854696" y="127634"/>
                  </a:lnTo>
                  <a:lnTo>
                    <a:pt x="7854696" y="2935592"/>
                  </a:lnTo>
                  <a:lnTo>
                    <a:pt x="7844664" y="2985278"/>
                  </a:lnTo>
                  <a:lnTo>
                    <a:pt x="7817310" y="3025852"/>
                  </a:lnTo>
                  <a:lnTo>
                    <a:pt x="7776739" y="3053208"/>
                  </a:lnTo>
                  <a:lnTo>
                    <a:pt x="7727061" y="3063240"/>
                  </a:lnTo>
                  <a:lnTo>
                    <a:pt x="127647" y="3063240"/>
                  </a:lnTo>
                  <a:lnTo>
                    <a:pt x="77961" y="3053208"/>
                  </a:lnTo>
                  <a:lnTo>
                    <a:pt x="37387" y="3025852"/>
                  </a:lnTo>
                  <a:lnTo>
                    <a:pt x="10031" y="2985278"/>
                  </a:lnTo>
                  <a:lnTo>
                    <a:pt x="0" y="2935592"/>
                  </a:lnTo>
                  <a:lnTo>
                    <a:pt x="0" y="127634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9368" y="3316223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7045833" y="0"/>
                  </a:moveTo>
                  <a:lnTo>
                    <a:pt x="19431" y="0"/>
                  </a:lnTo>
                  <a:lnTo>
                    <a:pt x="11867" y="1535"/>
                  </a:lnTo>
                  <a:lnTo>
                    <a:pt x="5691" y="5714"/>
                  </a:lnTo>
                  <a:lnTo>
                    <a:pt x="1526" y="11894"/>
                  </a:lnTo>
                  <a:lnTo>
                    <a:pt x="0" y="19430"/>
                  </a:lnTo>
                  <a:lnTo>
                    <a:pt x="0" y="446913"/>
                  </a:lnTo>
                  <a:lnTo>
                    <a:pt x="1526" y="454449"/>
                  </a:lnTo>
                  <a:lnTo>
                    <a:pt x="5691" y="460629"/>
                  </a:lnTo>
                  <a:lnTo>
                    <a:pt x="11867" y="464808"/>
                  </a:lnTo>
                  <a:lnTo>
                    <a:pt x="19431" y="466344"/>
                  </a:lnTo>
                  <a:lnTo>
                    <a:pt x="7045833" y="466344"/>
                  </a:lnTo>
                  <a:lnTo>
                    <a:pt x="7053369" y="464808"/>
                  </a:lnTo>
                  <a:lnTo>
                    <a:pt x="7059549" y="460628"/>
                  </a:lnTo>
                  <a:lnTo>
                    <a:pt x="7063728" y="454449"/>
                  </a:lnTo>
                  <a:lnTo>
                    <a:pt x="7065263" y="446913"/>
                  </a:lnTo>
                  <a:lnTo>
                    <a:pt x="7065263" y="19430"/>
                  </a:lnTo>
                  <a:lnTo>
                    <a:pt x="7063728" y="11894"/>
                  </a:lnTo>
                  <a:lnTo>
                    <a:pt x="7059549" y="5715"/>
                  </a:lnTo>
                  <a:lnTo>
                    <a:pt x="7053369" y="1535"/>
                  </a:lnTo>
                  <a:lnTo>
                    <a:pt x="7045833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9368" y="3316223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0" y="19430"/>
                  </a:moveTo>
                  <a:lnTo>
                    <a:pt x="1526" y="11894"/>
                  </a:lnTo>
                  <a:lnTo>
                    <a:pt x="5691" y="5714"/>
                  </a:lnTo>
                  <a:lnTo>
                    <a:pt x="11867" y="1535"/>
                  </a:lnTo>
                  <a:lnTo>
                    <a:pt x="19431" y="0"/>
                  </a:lnTo>
                  <a:lnTo>
                    <a:pt x="7045833" y="0"/>
                  </a:lnTo>
                  <a:lnTo>
                    <a:pt x="7053369" y="1535"/>
                  </a:lnTo>
                  <a:lnTo>
                    <a:pt x="7059549" y="5715"/>
                  </a:lnTo>
                  <a:lnTo>
                    <a:pt x="7063728" y="11894"/>
                  </a:lnTo>
                  <a:lnTo>
                    <a:pt x="7065263" y="19430"/>
                  </a:lnTo>
                  <a:lnTo>
                    <a:pt x="7065263" y="446913"/>
                  </a:lnTo>
                  <a:lnTo>
                    <a:pt x="7063728" y="454449"/>
                  </a:lnTo>
                  <a:lnTo>
                    <a:pt x="7059549" y="460628"/>
                  </a:lnTo>
                  <a:lnTo>
                    <a:pt x="7053369" y="464808"/>
                  </a:lnTo>
                  <a:lnTo>
                    <a:pt x="7045833" y="466344"/>
                  </a:lnTo>
                  <a:lnTo>
                    <a:pt x="19431" y="466344"/>
                  </a:lnTo>
                  <a:lnTo>
                    <a:pt x="11867" y="464808"/>
                  </a:lnTo>
                  <a:lnTo>
                    <a:pt x="5691" y="460629"/>
                  </a:lnTo>
                  <a:lnTo>
                    <a:pt x="1526" y="454449"/>
                  </a:lnTo>
                  <a:lnTo>
                    <a:pt x="0" y="446913"/>
                  </a:lnTo>
                  <a:lnTo>
                    <a:pt x="0" y="19430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39368" y="3913631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7045833" y="0"/>
                  </a:moveTo>
                  <a:lnTo>
                    <a:pt x="19431" y="0"/>
                  </a:lnTo>
                  <a:lnTo>
                    <a:pt x="11867" y="1535"/>
                  </a:lnTo>
                  <a:lnTo>
                    <a:pt x="5691" y="5715"/>
                  </a:lnTo>
                  <a:lnTo>
                    <a:pt x="1526" y="11894"/>
                  </a:lnTo>
                  <a:lnTo>
                    <a:pt x="0" y="19431"/>
                  </a:lnTo>
                  <a:lnTo>
                    <a:pt x="0" y="446913"/>
                  </a:lnTo>
                  <a:lnTo>
                    <a:pt x="1526" y="454449"/>
                  </a:lnTo>
                  <a:lnTo>
                    <a:pt x="5691" y="460629"/>
                  </a:lnTo>
                  <a:lnTo>
                    <a:pt x="11867" y="464808"/>
                  </a:lnTo>
                  <a:lnTo>
                    <a:pt x="19431" y="466344"/>
                  </a:lnTo>
                  <a:lnTo>
                    <a:pt x="7045833" y="466344"/>
                  </a:lnTo>
                  <a:lnTo>
                    <a:pt x="7053369" y="464808"/>
                  </a:lnTo>
                  <a:lnTo>
                    <a:pt x="7059549" y="460629"/>
                  </a:lnTo>
                  <a:lnTo>
                    <a:pt x="7063728" y="454449"/>
                  </a:lnTo>
                  <a:lnTo>
                    <a:pt x="7065263" y="446913"/>
                  </a:lnTo>
                  <a:lnTo>
                    <a:pt x="7065263" y="19431"/>
                  </a:lnTo>
                  <a:lnTo>
                    <a:pt x="7063728" y="11894"/>
                  </a:lnTo>
                  <a:lnTo>
                    <a:pt x="7059549" y="5715"/>
                  </a:lnTo>
                  <a:lnTo>
                    <a:pt x="7053369" y="1535"/>
                  </a:lnTo>
                  <a:lnTo>
                    <a:pt x="7045833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39368" y="3913631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0" y="19431"/>
                  </a:moveTo>
                  <a:lnTo>
                    <a:pt x="1526" y="11894"/>
                  </a:lnTo>
                  <a:lnTo>
                    <a:pt x="5691" y="5715"/>
                  </a:lnTo>
                  <a:lnTo>
                    <a:pt x="11867" y="1535"/>
                  </a:lnTo>
                  <a:lnTo>
                    <a:pt x="19431" y="0"/>
                  </a:lnTo>
                  <a:lnTo>
                    <a:pt x="7045833" y="0"/>
                  </a:lnTo>
                  <a:lnTo>
                    <a:pt x="7053369" y="1535"/>
                  </a:lnTo>
                  <a:lnTo>
                    <a:pt x="7059549" y="5715"/>
                  </a:lnTo>
                  <a:lnTo>
                    <a:pt x="7063728" y="11894"/>
                  </a:lnTo>
                  <a:lnTo>
                    <a:pt x="7065263" y="19431"/>
                  </a:lnTo>
                  <a:lnTo>
                    <a:pt x="7065263" y="446913"/>
                  </a:lnTo>
                  <a:lnTo>
                    <a:pt x="7063728" y="454449"/>
                  </a:lnTo>
                  <a:lnTo>
                    <a:pt x="7059549" y="460629"/>
                  </a:lnTo>
                  <a:lnTo>
                    <a:pt x="7053369" y="464808"/>
                  </a:lnTo>
                  <a:lnTo>
                    <a:pt x="7045833" y="466344"/>
                  </a:lnTo>
                  <a:lnTo>
                    <a:pt x="19431" y="466344"/>
                  </a:lnTo>
                  <a:lnTo>
                    <a:pt x="11867" y="464808"/>
                  </a:lnTo>
                  <a:lnTo>
                    <a:pt x="5691" y="460629"/>
                  </a:lnTo>
                  <a:lnTo>
                    <a:pt x="1526" y="454449"/>
                  </a:lnTo>
                  <a:lnTo>
                    <a:pt x="0" y="446913"/>
                  </a:lnTo>
                  <a:lnTo>
                    <a:pt x="0" y="19431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1748" y="4517135"/>
              <a:ext cx="7070090" cy="1056640"/>
            </a:xfrm>
            <a:custGeom>
              <a:avLst/>
              <a:gdLst/>
              <a:ahLst/>
              <a:cxnLst/>
              <a:rect l="l" t="t" r="r" b="b"/>
              <a:pathLst>
                <a:path w="7070090" h="1056639">
                  <a:moveTo>
                    <a:pt x="7065264" y="19431"/>
                  </a:moveTo>
                  <a:lnTo>
                    <a:pt x="7063727" y="11899"/>
                  </a:lnTo>
                  <a:lnTo>
                    <a:pt x="7059549" y="5715"/>
                  </a:lnTo>
                  <a:lnTo>
                    <a:pt x="7053364" y="1536"/>
                  </a:lnTo>
                  <a:lnTo>
                    <a:pt x="7045833" y="0"/>
                  </a:lnTo>
                  <a:lnTo>
                    <a:pt x="19431" y="0"/>
                  </a:lnTo>
                  <a:lnTo>
                    <a:pt x="11861" y="1536"/>
                  </a:lnTo>
                  <a:lnTo>
                    <a:pt x="5689" y="5727"/>
                  </a:lnTo>
                  <a:lnTo>
                    <a:pt x="1524" y="11899"/>
                  </a:lnTo>
                  <a:lnTo>
                    <a:pt x="0" y="19431"/>
                  </a:lnTo>
                  <a:lnTo>
                    <a:pt x="0" y="446913"/>
                  </a:lnTo>
                  <a:lnTo>
                    <a:pt x="1524" y="454456"/>
                  </a:lnTo>
                  <a:lnTo>
                    <a:pt x="5689" y="460641"/>
                  </a:lnTo>
                  <a:lnTo>
                    <a:pt x="11861" y="464820"/>
                  </a:lnTo>
                  <a:lnTo>
                    <a:pt x="19431" y="466344"/>
                  </a:lnTo>
                  <a:lnTo>
                    <a:pt x="7045833" y="466344"/>
                  </a:lnTo>
                  <a:lnTo>
                    <a:pt x="7053364" y="464820"/>
                  </a:lnTo>
                  <a:lnTo>
                    <a:pt x="7059549" y="460629"/>
                  </a:lnTo>
                  <a:lnTo>
                    <a:pt x="7063727" y="454456"/>
                  </a:lnTo>
                  <a:lnTo>
                    <a:pt x="7065264" y="446913"/>
                  </a:lnTo>
                  <a:lnTo>
                    <a:pt x="7065264" y="19431"/>
                  </a:lnTo>
                  <a:close/>
                </a:path>
                <a:path w="7070090" h="1056639">
                  <a:moveTo>
                    <a:pt x="7069836" y="609219"/>
                  </a:moveTo>
                  <a:lnTo>
                    <a:pt x="7068299" y="601687"/>
                  </a:lnTo>
                  <a:lnTo>
                    <a:pt x="7064121" y="595503"/>
                  </a:lnTo>
                  <a:lnTo>
                    <a:pt x="7057936" y="591324"/>
                  </a:lnTo>
                  <a:lnTo>
                    <a:pt x="7050405" y="589788"/>
                  </a:lnTo>
                  <a:lnTo>
                    <a:pt x="24003" y="589788"/>
                  </a:lnTo>
                  <a:lnTo>
                    <a:pt x="16433" y="591324"/>
                  </a:lnTo>
                  <a:lnTo>
                    <a:pt x="10261" y="595515"/>
                  </a:lnTo>
                  <a:lnTo>
                    <a:pt x="6096" y="601687"/>
                  </a:lnTo>
                  <a:lnTo>
                    <a:pt x="4572" y="609219"/>
                  </a:lnTo>
                  <a:lnTo>
                    <a:pt x="4572" y="1036701"/>
                  </a:lnTo>
                  <a:lnTo>
                    <a:pt x="6096" y="1044244"/>
                  </a:lnTo>
                  <a:lnTo>
                    <a:pt x="10261" y="1050417"/>
                  </a:lnTo>
                  <a:lnTo>
                    <a:pt x="16433" y="1054608"/>
                  </a:lnTo>
                  <a:lnTo>
                    <a:pt x="24003" y="1056132"/>
                  </a:lnTo>
                  <a:lnTo>
                    <a:pt x="7050405" y="1056132"/>
                  </a:lnTo>
                  <a:lnTo>
                    <a:pt x="7057936" y="1054608"/>
                  </a:lnTo>
                  <a:lnTo>
                    <a:pt x="7064121" y="1050429"/>
                  </a:lnTo>
                  <a:lnTo>
                    <a:pt x="7068299" y="1044244"/>
                  </a:lnTo>
                  <a:lnTo>
                    <a:pt x="7069836" y="1036701"/>
                  </a:lnTo>
                  <a:lnTo>
                    <a:pt x="7069836" y="609219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31747" y="4517135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0" y="19431"/>
                  </a:moveTo>
                  <a:lnTo>
                    <a:pt x="1526" y="11894"/>
                  </a:lnTo>
                  <a:lnTo>
                    <a:pt x="5691" y="5715"/>
                  </a:lnTo>
                  <a:lnTo>
                    <a:pt x="11867" y="1535"/>
                  </a:lnTo>
                  <a:lnTo>
                    <a:pt x="19431" y="0"/>
                  </a:lnTo>
                  <a:lnTo>
                    <a:pt x="7045833" y="0"/>
                  </a:lnTo>
                  <a:lnTo>
                    <a:pt x="7053369" y="1535"/>
                  </a:lnTo>
                  <a:lnTo>
                    <a:pt x="7059549" y="5714"/>
                  </a:lnTo>
                  <a:lnTo>
                    <a:pt x="7063728" y="11894"/>
                  </a:lnTo>
                  <a:lnTo>
                    <a:pt x="7065263" y="19431"/>
                  </a:lnTo>
                  <a:lnTo>
                    <a:pt x="7065263" y="446913"/>
                  </a:lnTo>
                  <a:lnTo>
                    <a:pt x="7063728" y="454449"/>
                  </a:lnTo>
                  <a:lnTo>
                    <a:pt x="7059549" y="460628"/>
                  </a:lnTo>
                  <a:lnTo>
                    <a:pt x="7053369" y="464808"/>
                  </a:lnTo>
                  <a:lnTo>
                    <a:pt x="7045833" y="466344"/>
                  </a:lnTo>
                  <a:lnTo>
                    <a:pt x="19431" y="466344"/>
                  </a:lnTo>
                  <a:lnTo>
                    <a:pt x="11867" y="464808"/>
                  </a:lnTo>
                  <a:lnTo>
                    <a:pt x="5691" y="460629"/>
                  </a:lnTo>
                  <a:lnTo>
                    <a:pt x="1526" y="454449"/>
                  </a:lnTo>
                  <a:lnTo>
                    <a:pt x="0" y="446913"/>
                  </a:lnTo>
                  <a:lnTo>
                    <a:pt x="0" y="19431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576072" y="1255775"/>
            <a:ext cx="7888605" cy="1149350"/>
            <a:chOff x="576072" y="1255775"/>
            <a:chExt cx="7888605" cy="1149350"/>
          </a:xfrm>
        </p:grpSpPr>
        <p:sp>
          <p:nvSpPr>
            <p:cNvPr id="15" name="object 15"/>
            <p:cNvSpPr/>
            <p:nvPr/>
          </p:nvSpPr>
          <p:spPr>
            <a:xfrm>
              <a:off x="600456" y="1280159"/>
              <a:ext cx="7863840" cy="112471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4172" y="1360931"/>
              <a:ext cx="7578852" cy="103174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80644" y="1260347"/>
              <a:ext cx="7851648" cy="111251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0644" y="1260347"/>
              <a:ext cx="7851775" cy="1112520"/>
            </a:xfrm>
            <a:custGeom>
              <a:avLst/>
              <a:gdLst/>
              <a:ahLst/>
              <a:cxnLst/>
              <a:rect l="l" t="t" r="r" b="b"/>
              <a:pathLst>
                <a:path w="7851775" h="1112520">
                  <a:moveTo>
                    <a:pt x="0" y="185419"/>
                  </a:moveTo>
                  <a:lnTo>
                    <a:pt x="6623" y="136142"/>
                  </a:lnTo>
                  <a:lnTo>
                    <a:pt x="25316" y="91853"/>
                  </a:lnTo>
                  <a:lnTo>
                    <a:pt x="54309" y="54324"/>
                  </a:lnTo>
                  <a:lnTo>
                    <a:pt x="91836" y="25324"/>
                  </a:lnTo>
                  <a:lnTo>
                    <a:pt x="136129" y="6626"/>
                  </a:lnTo>
                  <a:lnTo>
                    <a:pt x="185420" y="0"/>
                  </a:lnTo>
                  <a:lnTo>
                    <a:pt x="7666228" y="0"/>
                  </a:lnTo>
                  <a:lnTo>
                    <a:pt x="7715505" y="6626"/>
                  </a:lnTo>
                  <a:lnTo>
                    <a:pt x="7759794" y="25324"/>
                  </a:lnTo>
                  <a:lnTo>
                    <a:pt x="7797323" y="54324"/>
                  </a:lnTo>
                  <a:lnTo>
                    <a:pt x="7826323" y="91853"/>
                  </a:lnTo>
                  <a:lnTo>
                    <a:pt x="7845021" y="136142"/>
                  </a:lnTo>
                  <a:lnTo>
                    <a:pt x="7851648" y="185419"/>
                  </a:lnTo>
                  <a:lnTo>
                    <a:pt x="7851648" y="927100"/>
                  </a:lnTo>
                  <a:lnTo>
                    <a:pt x="7845021" y="976377"/>
                  </a:lnTo>
                  <a:lnTo>
                    <a:pt x="7826323" y="1020666"/>
                  </a:lnTo>
                  <a:lnTo>
                    <a:pt x="7797323" y="1058195"/>
                  </a:lnTo>
                  <a:lnTo>
                    <a:pt x="7759794" y="1087195"/>
                  </a:lnTo>
                  <a:lnTo>
                    <a:pt x="7715505" y="1105893"/>
                  </a:lnTo>
                  <a:lnTo>
                    <a:pt x="7666228" y="1112519"/>
                  </a:lnTo>
                  <a:lnTo>
                    <a:pt x="185420" y="1112519"/>
                  </a:lnTo>
                  <a:lnTo>
                    <a:pt x="136129" y="1105893"/>
                  </a:lnTo>
                  <a:lnTo>
                    <a:pt x="91836" y="1087195"/>
                  </a:lnTo>
                  <a:lnTo>
                    <a:pt x="54309" y="1058195"/>
                  </a:lnTo>
                  <a:lnTo>
                    <a:pt x="25316" y="1020666"/>
                  </a:lnTo>
                  <a:lnTo>
                    <a:pt x="6623" y="976377"/>
                  </a:lnTo>
                  <a:lnTo>
                    <a:pt x="0" y="927100"/>
                  </a:lnTo>
                  <a:lnTo>
                    <a:pt x="0" y="185419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14248" y="1391539"/>
            <a:ext cx="7380605" cy="40849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0335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Verdana"/>
                <a:cs typeface="Verdana"/>
              </a:rPr>
              <a:t>DHCP </a:t>
            </a:r>
            <a:r>
              <a:rPr sz="1800" b="1" i="1" spc="-5" dirty="0">
                <a:latin typeface="Verdana"/>
                <a:cs typeface="Verdana"/>
              </a:rPr>
              <a:t>options </a:t>
            </a:r>
            <a:r>
              <a:rPr sz="1800" b="1" dirty="0">
                <a:latin typeface="Verdana"/>
                <a:cs typeface="Verdana"/>
              </a:rPr>
              <a:t>are </a:t>
            </a:r>
            <a:r>
              <a:rPr sz="1800" b="1" spc="-5" dirty="0">
                <a:latin typeface="Verdana"/>
                <a:cs typeface="Verdana"/>
              </a:rPr>
              <a:t>values for common configuration data  </a:t>
            </a:r>
            <a:r>
              <a:rPr sz="1800" b="1" dirty="0">
                <a:latin typeface="Verdana"/>
                <a:cs typeface="Verdana"/>
              </a:rPr>
              <a:t>that </a:t>
            </a:r>
            <a:r>
              <a:rPr sz="1800" b="1" spc="-5" dirty="0">
                <a:latin typeface="Verdana"/>
                <a:cs typeface="Verdana"/>
              </a:rPr>
              <a:t>applies to </a:t>
            </a:r>
            <a:r>
              <a:rPr sz="1800" b="1" dirty="0">
                <a:latin typeface="Verdana"/>
                <a:cs typeface="Verdana"/>
              </a:rPr>
              <a:t>the </a:t>
            </a:r>
            <a:r>
              <a:rPr sz="1800" b="1" spc="-5" dirty="0">
                <a:latin typeface="Verdana"/>
                <a:cs typeface="Verdana"/>
              </a:rPr>
              <a:t>server, scopes, reservations, </a:t>
            </a:r>
            <a:r>
              <a:rPr sz="1800" b="1" dirty="0">
                <a:latin typeface="Verdana"/>
                <a:cs typeface="Verdana"/>
              </a:rPr>
              <a:t>and  </a:t>
            </a:r>
            <a:r>
              <a:rPr sz="1800" b="1" spc="-5" dirty="0">
                <a:latin typeface="Verdana"/>
                <a:cs typeface="Verdana"/>
              </a:rPr>
              <a:t>class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options</a:t>
            </a:r>
            <a:endParaRPr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2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00" dirty="0">
              <a:latin typeface="Verdana"/>
              <a:cs typeface="Verdana"/>
            </a:endParaRPr>
          </a:p>
          <a:p>
            <a:pPr marL="44450">
              <a:lnSpc>
                <a:spcPct val="100000"/>
              </a:lnSpc>
            </a:pPr>
            <a:r>
              <a:rPr sz="1800" b="1" spc="-5" dirty="0">
                <a:latin typeface="Verdana"/>
                <a:cs typeface="Verdana"/>
              </a:rPr>
              <a:t>Common scope options </a:t>
            </a:r>
            <a:r>
              <a:rPr sz="1800" b="1" dirty="0">
                <a:latin typeface="Verdana"/>
                <a:cs typeface="Verdana"/>
              </a:rPr>
              <a:t>are:</a:t>
            </a:r>
            <a:endParaRPr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 dirty="0">
              <a:latin typeface="Verdana"/>
              <a:cs typeface="Verdana"/>
            </a:endParaRPr>
          </a:p>
          <a:p>
            <a:pPr marL="651510" indent="-228600">
              <a:lnSpc>
                <a:spcPct val="100000"/>
              </a:lnSpc>
              <a:spcBef>
                <a:spcPts val="5"/>
              </a:spcBef>
              <a:buClr>
                <a:srgbClr val="006699"/>
              </a:buClr>
              <a:buFont typeface="Verdana"/>
              <a:buChar char="•"/>
              <a:tabLst>
                <a:tab pos="651510" algn="l"/>
              </a:tabLst>
            </a:pPr>
            <a:r>
              <a:rPr sz="1800" b="1" spc="-5" dirty="0">
                <a:latin typeface="Verdana"/>
                <a:cs typeface="Verdana"/>
              </a:rPr>
              <a:t>DNS</a:t>
            </a:r>
            <a:r>
              <a:rPr sz="1800" b="1" spc="-2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Servers</a:t>
            </a:r>
            <a:endParaRPr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006699"/>
              </a:buClr>
              <a:buFont typeface="Verdana"/>
              <a:buChar char="•"/>
            </a:pPr>
            <a:endParaRPr sz="2050" dirty="0">
              <a:latin typeface="Verdana"/>
              <a:cs typeface="Verdana"/>
            </a:endParaRPr>
          </a:p>
          <a:p>
            <a:pPr marL="651510" indent="-228600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651510" algn="l"/>
              </a:tabLst>
            </a:pPr>
            <a:r>
              <a:rPr sz="1800" b="1" dirty="0">
                <a:latin typeface="Verdana"/>
                <a:cs typeface="Verdana"/>
              </a:rPr>
              <a:t>DNS</a:t>
            </a:r>
            <a:r>
              <a:rPr sz="1800" b="1" spc="-2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Name</a:t>
            </a:r>
            <a:endParaRPr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6699"/>
              </a:buClr>
              <a:buFont typeface="Verdana"/>
              <a:buChar char="•"/>
            </a:pPr>
            <a:endParaRPr sz="2100" dirty="0">
              <a:latin typeface="Verdana"/>
              <a:cs typeface="Verdana"/>
            </a:endParaRPr>
          </a:p>
          <a:p>
            <a:pPr marL="643255" indent="-229235">
              <a:lnSpc>
                <a:spcPts val="2095"/>
              </a:lnSpc>
              <a:buClr>
                <a:srgbClr val="006699"/>
              </a:buClr>
              <a:buFont typeface="Verdana"/>
              <a:buChar char="•"/>
              <a:tabLst>
                <a:tab pos="643890" algn="l"/>
              </a:tabLst>
            </a:pPr>
            <a:r>
              <a:rPr sz="1800" b="1" spc="-5" dirty="0">
                <a:latin typeface="Verdana"/>
                <a:cs typeface="Verdana"/>
              </a:rPr>
              <a:t>Default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Gateway</a:t>
            </a:r>
            <a:endParaRPr sz="1800" dirty="0">
              <a:latin typeface="Verdana"/>
              <a:cs typeface="Verdana"/>
            </a:endParaRPr>
          </a:p>
          <a:p>
            <a:pPr marL="340995">
              <a:lnSpc>
                <a:spcPts val="2090"/>
              </a:lnSpc>
              <a:tabLst>
                <a:tab pos="7367270" algn="l"/>
              </a:tabLst>
            </a:pPr>
            <a:r>
              <a:rPr sz="1800" u="sng" spc="125" dirty="0">
                <a:solidFill>
                  <a:srgbClr val="006699"/>
                </a:solidFill>
                <a:uFill>
                  <a:solidFill>
                    <a:srgbClr val="333333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b="1" u="sng" spc="-5" dirty="0">
                <a:uFill>
                  <a:solidFill>
                    <a:srgbClr val="333333"/>
                  </a:solidFill>
                </a:uFill>
                <a:latin typeface="Verdana"/>
                <a:cs typeface="Verdana"/>
              </a:rPr>
              <a:t>	</a:t>
            </a:r>
            <a:endParaRPr sz="1800" dirty="0">
              <a:latin typeface="Verdana"/>
              <a:cs typeface="Verdana"/>
            </a:endParaRPr>
          </a:p>
          <a:p>
            <a:pPr marL="648335" indent="-229870">
              <a:lnSpc>
                <a:spcPct val="100000"/>
              </a:lnSpc>
              <a:spcBef>
                <a:spcPts val="465"/>
              </a:spcBef>
              <a:buClr>
                <a:srgbClr val="006699"/>
              </a:buClr>
              <a:buFont typeface="Verdana"/>
              <a:buChar char="•"/>
              <a:tabLst>
                <a:tab pos="648970" algn="l"/>
              </a:tabLst>
            </a:pPr>
            <a:r>
              <a:rPr sz="1800" b="1" spc="-5" dirty="0">
                <a:latin typeface="Verdana"/>
                <a:cs typeface="Verdana"/>
              </a:rPr>
              <a:t>WINS</a:t>
            </a:r>
            <a:r>
              <a:rPr sz="1800" b="1" spc="-2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Servers</a:t>
            </a:r>
            <a:endParaRPr sz="1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57035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Are DHCP </a:t>
            </a:r>
            <a:r>
              <a:rPr spc="-5" dirty="0"/>
              <a:t>Class-Level</a:t>
            </a:r>
            <a:r>
              <a:rPr spc="-65" dirty="0"/>
              <a:t> </a:t>
            </a:r>
            <a:r>
              <a:rPr spc="-5" dirty="0"/>
              <a:t>Options?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76072" y="1386839"/>
            <a:ext cx="7888605" cy="887094"/>
            <a:chOff x="576072" y="1386839"/>
            <a:chExt cx="7888605" cy="887094"/>
          </a:xfrm>
        </p:grpSpPr>
        <p:sp>
          <p:nvSpPr>
            <p:cNvPr id="4" name="object 4"/>
            <p:cNvSpPr/>
            <p:nvPr/>
          </p:nvSpPr>
          <p:spPr>
            <a:xfrm>
              <a:off x="600456" y="1411223"/>
              <a:ext cx="7863840" cy="86258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0456" y="1496567"/>
              <a:ext cx="7833359" cy="75742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0644" y="1391411"/>
              <a:ext cx="7851648" cy="85039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0644" y="1391411"/>
              <a:ext cx="7851775" cy="850900"/>
            </a:xfrm>
            <a:custGeom>
              <a:avLst/>
              <a:gdLst/>
              <a:ahLst/>
              <a:cxnLst/>
              <a:rect l="l" t="t" r="r" b="b"/>
              <a:pathLst>
                <a:path w="7851775" h="850900">
                  <a:moveTo>
                    <a:pt x="0" y="141732"/>
                  </a:moveTo>
                  <a:lnTo>
                    <a:pt x="7224" y="96950"/>
                  </a:lnTo>
                  <a:lnTo>
                    <a:pt x="27344" y="58046"/>
                  </a:lnTo>
                  <a:lnTo>
                    <a:pt x="58024" y="27358"/>
                  </a:lnTo>
                  <a:lnTo>
                    <a:pt x="96931" y="7229"/>
                  </a:lnTo>
                  <a:lnTo>
                    <a:pt x="141732" y="0"/>
                  </a:lnTo>
                  <a:lnTo>
                    <a:pt x="7709915" y="0"/>
                  </a:lnTo>
                  <a:lnTo>
                    <a:pt x="7754697" y="7229"/>
                  </a:lnTo>
                  <a:lnTo>
                    <a:pt x="7793601" y="27358"/>
                  </a:lnTo>
                  <a:lnTo>
                    <a:pt x="7824289" y="58046"/>
                  </a:lnTo>
                  <a:lnTo>
                    <a:pt x="7844418" y="96950"/>
                  </a:lnTo>
                  <a:lnTo>
                    <a:pt x="7851648" y="141732"/>
                  </a:lnTo>
                  <a:lnTo>
                    <a:pt x="7851648" y="708660"/>
                  </a:lnTo>
                  <a:lnTo>
                    <a:pt x="7844418" y="753441"/>
                  </a:lnTo>
                  <a:lnTo>
                    <a:pt x="7824289" y="792345"/>
                  </a:lnTo>
                  <a:lnTo>
                    <a:pt x="7793601" y="823033"/>
                  </a:lnTo>
                  <a:lnTo>
                    <a:pt x="7754697" y="843162"/>
                  </a:lnTo>
                  <a:lnTo>
                    <a:pt x="7709915" y="850391"/>
                  </a:lnTo>
                  <a:lnTo>
                    <a:pt x="141732" y="850391"/>
                  </a:lnTo>
                  <a:lnTo>
                    <a:pt x="96931" y="843162"/>
                  </a:lnTo>
                  <a:lnTo>
                    <a:pt x="58024" y="823033"/>
                  </a:lnTo>
                  <a:lnTo>
                    <a:pt x="27344" y="792345"/>
                  </a:lnTo>
                  <a:lnTo>
                    <a:pt x="7224" y="753441"/>
                  </a:lnTo>
                  <a:lnTo>
                    <a:pt x="0" y="708660"/>
                  </a:lnTo>
                  <a:lnTo>
                    <a:pt x="0" y="141732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01446" y="1528064"/>
            <a:ext cx="75050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Verdana"/>
                <a:cs typeface="Verdana"/>
              </a:rPr>
              <a:t>DHCP </a:t>
            </a:r>
            <a:r>
              <a:rPr sz="1800" b="1" i="1" spc="-5" dirty="0">
                <a:latin typeface="Verdana"/>
                <a:cs typeface="Verdana"/>
              </a:rPr>
              <a:t>class-level options </a:t>
            </a:r>
            <a:r>
              <a:rPr sz="1800" b="1" dirty="0">
                <a:latin typeface="Verdana"/>
                <a:cs typeface="Verdana"/>
              </a:rPr>
              <a:t>are </a:t>
            </a:r>
            <a:r>
              <a:rPr sz="1800" b="1" spc="-5" dirty="0">
                <a:latin typeface="Verdana"/>
                <a:cs typeface="Verdana"/>
              </a:rPr>
              <a:t>scope options </a:t>
            </a:r>
            <a:r>
              <a:rPr sz="1800" b="1" dirty="0">
                <a:latin typeface="Verdana"/>
                <a:cs typeface="Verdana"/>
              </a:rPr>
              <a:t>that apply </a:t>
            </a:r>
            <a:r>
              <a:rPr sz="1800" b="1" spc="-5" dirty="0">
                <a:latin typeface="Verdana"/>
                <a:cs typeface="Verdana"/>
              </a:rPr>
              <a:t>to </a:t>
            </a:r>
            <a:r>
              <a:rPr sz="1800" b="1" dirty="0">
                <a:latin typeface="Verdana"/>
                <a:cs typeface="Verdana"/>
              </a:rPr>
              <a:t>a  </a:t>
            </a:r>
            <a:r>
              <a:rPr sz="1800" b="1" spc="-5" dirty="0">
                <a:latin typeface="Verdana"/>
                <a:cs typeface="Verdana"/>
              </a:rPr>
              <a:t>specific </a:t>
            </a:r>
            <a:r>
              <a:rPr sz="1800" b="1" dirty="0">
                <a:latin typeface="Verdana"/>
                <a:cs typeface="Verdana"/>
              </a:rPr>
              <a:t>type of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device</a:t>
            </a:r>
            <a:endParaRPr sz="1800">
              <a:latin typeface="Verdana"/>
              <a:cs typeface="Verdana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81037" y="2636901"/>
          <a:ext cx="7751445" cy="22795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0375"/>
                <a:gridCol w="4751070"/>
              </a:tblGrid>
              <a:tr h="786511">
                <a:tc>
                  <a:txBody>
                    <a:bodyPr/>
                    <a:lstStyle/>
                    <a:p>
                      <a:pPr algn="ctr">
                        <a:lnSpc>
                          <a:spcPts val="2510"/>
                        </a:lnSpc>
                        <a:spcBef>
                          <a:spcPts val="445"/>
                        </a:spcBef>
                      </a:pPr>
                      <a:r>
                        <a:rPr sz="2200" b="1" spc="-10" dirty="0">
                          <a:latin typeface="Verdana"/>
                          <a:cs typeface="Verdana"/>
                        </a:rPr>
                        <a:t>DHCP</a:t>
                      </a:r>
                      <a:r>
                        <a:rPr sz="2200" b="1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200" b="1" spc="-5" dirty="0">
                          <a:latin typeface="Verdana"/>
                          <a:cs typeface="Verdana"/>
                        </a:rPr>
                        <a:t>class-level</a:t>
                      </a:r>
                      <a:endParaRPr sz="2200">
                        <a:latin typeface="Verdana"/>
                        <a:cs typeface="Verdana"/>
                      </a:endParaRPr>
                    </a:p>
                    <a:p>
                      <a:pPr marL="1905" algn="ctr">
                        <a:lnSpc>
                          <a:spcPts val="2510"/>
                        </a:lnSpc>
                      </a:pPr>
                      <a:r>
                        <a:rPr sz="2200" b="1" spc="-5" dirty="0">
                          <a:latin typeface="Verdana"/>
                          <a:cs typeface="Verdana"/>
                        </a:rPr>
                        <a:t>option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E3CD9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630"/>
                        </a:spcBef>
                      </a:pPr>
                      <a:r>
                        <a:rPr sz="2200" b="1" spc="-5" dirty="0">
                          <a:latin typeface="Verdana"/>
                          <a:cs typeface="Verdana"/>
                        </a:rPr>
                        <a:t>Description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T="20701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E3CD9A"/>
                    </a:solidFill>
                  </a:tcPr>
                </a:tc>
              </a:tr>
              <a:tr h="78651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630"/>
                        </a:spcBef>
                      </a:pPr>
                      <a:r>
                        <a:rPr sz="2200" spc="-15" dirty="0">
                          <a:latin typeface="Verdana"/>
                          <a:cs typeface="Verdana"/>
                        </a:rPr>
                        <a:t>Vendor-class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T="20701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510"/>
                        </a:lnSpc>
                        <a:spcBef>
                          <a:spcPts val="445"/>
                        </a:spcBef>
                      </a:pPr>
                      <a:r>
                        <a:rPr sz="2200" spc="-10" dirty="0">
                          <a:latin typeface="Verdana"/>
                          <a:cs typeface="Verdana"/>
                        </a:rPr>
                        <a:t>Configured </a:t>
                      </a:r>
                      <a:r>
                        <a:rPr sz="2200" spc="-5" dirty="0">
                          <a:latin typeface="Verdana"/>
                          <a:cs typeface="Verdana"/>
                        </a:rPr>
                        <a:t>by </a:t>
                      </a:r>
                      <a:r>
                        <a:rPr sz="2200" spc="-10" dirty="0">
                          <a:latin typeface="Verdana"/>
                          <a:cs typeface="Verdana"/>
                        </a:rPr>
                        <a:t>vendors </a:t>
                      </a:r>
                      <a:r>
                        <a:rPr sz="2200" spc="-5" dirty="0">
                          <a:latin typeface="Verdana"/>
                          <a:cs typeface="Verdana"/>
                        </a:rPr>
                        <a:t>such</a:t>
                      </a:r>
                      <a:r>
                        <a:rPr sz="2200" spc="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200" spc="-5" dirty="0">
                          <a:latin typeface="Verdana"/>
                          <a:cs typeface="Verdana"/>
                        </a:rPr>
                        <a:t>as</a:t>
                      </a:r>
                      <a:endParaRPr sz="2200">
                        <a:latin typeface="Verdana"/>
                        <a:cs typeface="Verdana"/>
                      </a:endParaRPr>
                    </a:p>
                    <a:p>
                      <a:pPr marL="91440">
                        <a:lnSpc>
                          <a:spcPts val="2510"/>
                        </a:lnSpc>
                      </a:pPr>
                      <a:r>
                        <a:rPr sz="2200" spc="-5" dirty="0">
                          <a:latin typeface="Verdana"/>
                          <a:cs typeface="Verdana"/>
                        </a:rPr>
                        <a:t>Microsoft, </a:t>
                      </a:r>
                      <a:r>
                        <a:rPr sz="2200" spc="-114" dirty="0">
                          <a:latin typeface="Verdana"/>
                          <a:cs typeface="Verdana"/>
                        </a:rPr>
                        <a:t>HP, </a:t>
                      </a:r>
                      <a:r>
                        <a:rPr sz="2200" spc="-5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2200" spc="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200" spc="-5" dirty="0">
                          <a:latin typeface="Verdana"/>
                          <a:cs typeface="Verdana"/>
                        </a:rPr>
                        <a:t>Sun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  <a:tr h="70650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2200" spc="-10" dirty="0">
                          <a:latin typeface="Verdana"/>
                          <a:cs typeface="Verdana"/>
                        </a:rPr>
                        <a:t>User-class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2200" spc="-5" dirty="0">
                          <a:latin typeface="Verdana"/>
                          <a:cs typeface="Verdana"/>
                        </a:rPr>
                        <a:t>Set and viewed by </a:t>
                      </a:r>
                      <a:r>
                        <a:rPr sz="2200" spc="-10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2200" spc="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200" spc="-5" dirty="0">
                          <a:latin typeface="Verdana"/>
                          <a:cs typeface="Verdana"/>
                        </a:rPr>
                        <a:t>user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48025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How </a:t>
            </a:r>
            <a:r>
              <a:rPr dirty="0"/>
              <a:t>DHCP </a:t>
            </a:r>
            <a:r>
              <a:rPr spc="-5" dirty="0"/>
              <a:t>Options </a:t>
            </a:r>
            <a:r>
              <a:rPr dirty="0"/>
              <a:t>Are</a:t>
            </a:r>
            <a:r>
              <a:rPr spc="-25" dirty="0"/>
              <a:t> </a:t>
            </a:r>
            <a:r>
              <a:rPr spc="-5" dirty="0"/>
              <a:t>Applied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26363" y="1731264"/>
            <a:ext cx="7863840" cy="3070860"/>
            <a:chOff x="626363" y="1731264"/>
            <a:chExt cx="7863840" cy="3070860"/>
          </a:xfrm>
        </p:grpSpPr>
        <p:sp>
          <p:nvSpPr>
            <p:cNvPr id="4" name="object 4"/>
            <p:cNvSpPr/>
            <p:nvPr/>
          </p:nvSpPr>
          <p:spPr>
            <a:xfrm>
              <a:off x="630935" y="1735836"/>
              <a:ext cx="7854950" cy="3061970"/>
            </a:xfrm>
            <a:custGeom>
              <a:avLst/>
              <a:gdLst/>
              <a:ahLst/>
              <a:cxnLst/>
              <a:rect l="l" t="t" r="r" b="b"/>
              <a:pathLst>
                <a:path w="7854950" h="3061970">
                  <a:moveTo>
                    <a:pt x="7727061" y="0"/>
                  </a:moveTo>
                  <a:lnTo>
                    <a:pt x="127584" y="0"/>
                  </a:lnTo>
                  <a:lnTo>
                    <a:pt x="77924" y="10031"/>
                  </a:lnTo>
                  <a:lnTo>
                    <a:pt x="37369" y="37385"/>
                  </a:lnTo>
                  <a:lnTo>
                    <a:pt x="10026" y="77956"/>
                  </a:lnTo>
                  <a:lnTo>
                    <a:pt x="0" y="127635"/>
                  </a:lnTo>
                  <a:lnTo>
                    <a:pt x="0" y="2934081"/>
                  </a:lnTo>
                  <a:lnTo>
                    <a:pt x="10026" y="2983759"/>
                  </a:lnTo>
                  <a:lnTo>
                    <a:pt x="37369" y="3024330"/>
                  </a:lnTo>
                  <a:lnTo>
                    <a:pt x="77924" y="3051684"/>
                  </a:lnTo>
                  <a:lnTo>
                    <a:pt x="127584" y="3061716"/>
                  </a:lnTo>
                  <a:lnTo>
                    <a:pt x="7727061" y="3061716"/>
                  </a:lnTo>
                  <a:lnTo>
                    <a:pt x="7776739" y="3051684"/>
                  </a:lnTo>
                  <a:lnTo>
                    <a:pt x="7817310" y="3024330"/>
                  </a:lnTo>
                  <a:lnTo>
                    <a:pt x="7844664" y="2983759"/>
                  </a:lnTo>
                  <a:lnTo>
                    <a:pt x="7854696" y="2934081"/>
                  </a:lnTo>
                  <a:lnTo>
                    <a:pt x="7854696" y="127635"/>
                  </a:lnTo>
                  <a:lnTo>
                    <a:pt x="7844664" y="77956"/>
                  </a:lnTo>
                  <a:lnTo>
                    <a:pt x="7817310" y="37385"/>
                  </a:lnTo>
                  <a:lnTo>
                    <a:pt x="7776739" y="10031"/>
                  </a:lnTo>
                  <a:lnTo>
                    <a:pt x="7727061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30935" y="1735836"/>
              <a:ext cx="7854950" cy="3061970"/>
            </a:xfrm>
            <a:custGeom>
              <a:avLst/>
              <a:gdLst/>
              <a:ahLst/>
              <a:cxnLst/>
              <a:rect l="l" t="t" r="r" b="b"/>
              <a:pathLst>
                <a:path w="7854950" h="3061970">
                  <a:moveTo>
                    <a:pt x="0" y="127635"/>
                  </a:moveTo>
                  <a:lnTo>
                    <a:pt x="10026" y="77956"/>
                  </a:lnTo>
                  <a:lnTo>
                    <a:pt x="37369" y="37385"/>
                  </a:lnTo>
                  <a:lnTo>
                    <a:pt x="77924" y="10031"/>
                  </a:lnTo>
                  <a:lnTo>
                    <a:pt x="127584" y="0"/>
                  </a:lnTo>
                  <a:lnTo>
                    <a:pt x="7727061" y="0"/>
                  </a:lnTo>
                  <a:lnTo>
                    <a:pt x="7776739" y="10031"/>
                  </a:lnTo>
                  <a:lnTo>
                    <a:pt x="7817310" y="37385"/>
                  </a:lnTo>
                  <a:lnTo>
                    <a:pt x="7844664" y="77956"/>
                  </a:lnTo>
                  <a:lnTo>
                    <a:pt x="7854696" y="127635"/>
                  </a:lnTo>
                  <a:lnTo>
                    <a:pt x="7854696" y="2934081"/>
                  </a:lnTo>
                  <a:lnTo>
                    <a:pt x="7844664" y="2983759"/>
                  </a:lnTo>
                  <a:lnTo>
                    <a:pt x="7817310" y="3024330"/>
                  </a:lnTo>
                  <a:lnTo>
                    <a:pt x="7776739" y="3051684"/>
                  </a:lnTo>
                  <a:lnTo>
                    <a:pt x="7727061" y="3061716"/>
                  </a:lnTo>
                  <a:lnTo>
                    <a:pt x="127584" y="3061716"/>
                  </a:lnTo>
                  <a:lnTo>
                    <a:pt x="77924" y="3051684"/>
                  </a:lnTo>
                  <a:lnTo>
                    <a:pt x="37369" y="3024330"/>
                  </a:lnTo>
                  <a:lnTo>
                    <a:pt x="10026" y="2983759"/>
                  </a:lnTo>
                  <a:lnTo>
                    <a:pt x="0" y="2934081"/>
                  </a:lnTo>
                  <a:lnTo>
                    <a:pt x="0" y="127635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39368" y="2301240"/>
              <a:ext cx="7065645" cy="467995"/>
            </a:xfrm>
            <a:custGeom>
              <a:avLst/>
              <a:gdLst/>
              <a:ahLst/>
              <a:cxnLst/>
              <a:rect l="l" t="t" r="r" b="b"/>
              <a:pathLst>
                <a:path w="7065645" h="467994">
                  <a:moveTo>
                    <a:pt x="7045833" y="0"/>
                  </a:moveTo>
                  <a:lnTo>
                    <a:pt x="19494" y="0"/>
                  </a:lnTo>
                  <a:lnTo>
                    <a:pt x="11905" y="1535"/>
                  </a:lnTo>
                  <a:lnTo>
                    <a:pt x="5708" y="5715"/>
                  </a:lnTo>
                  <a:lnTo>
                    <a:pt x="1531" y="11894"/>
                  </a:lnTo>
                  <a:lnTo>
                    <a:pt x="0" y="19431"/>
                  </a:lnTo>
                  <a:lnTo>
                    <a:pt x="0" y="448310"/>
                  </a:lnTo>
                  <a:lnTo>
                    <a:pt x="1531" y="455920"/>
                  </a:lnTo>
                  <a:lnTo>
                    <a:pt x="5708" y="462137"/>
                  </a:lnTo>
                  <a:lnTo>
                    <a:pt x="11905" y="466330"/>
                  </a:lnTo>
                  <a:lnTo>
                    <a:pt x="19494" y="467868"/>
                  </a:lnTo>
                  <a:lnTo>
                    <a:pt x="7045833" y="467868"/>
                  </a:lnTo>
                  <a:lnTo>
                    <a:pt x="7053369" y="466330"/>
                  </a:lnTo>
                  <a:lnTo>
                    <a:pt x="7059549" y="462137"/>
                  </a:lnTo>
                  <a:lnTo>
                    <a:pt x="7063728" y="455920"/>
                  </a:lnTo>
                  <a:lnTo>
                    <a:pt x="7065263" y="448310"/>
                  </a:lnTo>
                  <a:lnTo>
                    <a:pt x="7065263" y="19431"/>
                  </a:lnTo>
                  <a:lnTo>
                    <a:pt x="7063728" y="11894"/>
                  </a:lnTo>
                  <a:lnTo>
                    <a:pt x="7059549" y="5715"/>
                  </a:lnTo>
                  <a:lnTo>
                    <a:pt x="7053369" y="1535"/>
                  </a:lnTo>
                  <a:lnTo>
                    <a:pt x="7045833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39368" y="2301240"/>
              <a:ext cx="7065645" cy="467995"/>
            </a:xfrm>
            <a:custGeom>
              <a:avLst/>
              <a:gdLst/>
              <a:ahLst/>
              <a:cxnLst/>
              <a:rect l="l" t="t" r="r" b="b"/>
              <a:pathLst>
                <a:path w="7065645" h="467994">
                  <a:moveTo>
                    <a:pt x="0" y="19431"/>
                  </a:moveTo>
                  <a:lnTo>
                    <a:pt x="1531" y="11894"/>
                  </a:lnTo>
                  <a:lnTo>
                    <a:pt x="5708" y="5715"/>
                  </a:lnTo>
                  <a:lnTo>
                    <a:pt x="11905" y="1535"/>
                  </a:lnTo>
                  <a:lnTo>
                    <a:pt x="19494" y="0"/>
                  </a:lnTo>
                  <a:lnTo>
                    <a:pt x="7045833" y="0"/>
                  </a:lnTo>
                  <a:lnTo>
                    <a:pt x="7053369" y="1535"/>
                  </a:lnTo>
                  <a:lnTo>
                    <a:pt x="7059549" y="5715"/>
                  </a:lnTo>
                  <a:lnTo>
                    <a:pt x="7063728" y="11894"/>
                  </a:lnTo>
                  <a:lnTo>
                    <a:pt x="7065263" y="19431"/>
                  </a:lnTo>
                  <a:lnTo>
                    <a:pt x="7065263" y="448310"/>
                  </a:lnTo>
                  <a:lnTo>
                    <a:pt x="7063728" y="455920"/>
                  </a:lnTo>
                  <a:lnTo>
                    <a:pt x="7059549" y="462137"/>
                  </a:lnTo>
                  <a:lnTo>
                    <a:pt x="7053369" y="466330"/>
                  </a:lnTo>
                  <a:lnTo>
                    <a:pt x="7045833" y="467868"/>
                  </a:lnTo>
                  <a:lnTo>
                    <a:pt x="19494" y="467868"/>
                  </a:lnTo>
                  <a:lnTo>
                    <a:pt x="11905" y="466330"/>
                  </a:lnTo>
                  <a:lnTo>
                    <a:pt x="5708" y="462137"/>
                  </a:lnTo>
                  <a:lnTo>
                    <a:pt x="1531" y="455920"/>
                  </a:lnTo>
                  <a:lnTo>
                    <a:pt x="0" y="448310"/>
                  </a:lnTo>
                  <a:lnTo>
                    <a:pt x="0" y="19431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9368" y="2898648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7045833" y="0"/>
                  </a:moveTo>
                  <a:lnTo>
                    <a:pt x="19431" y="0"/>
                  </a:lnTo>
                  <a:lnTo>
                    <a:pt x="11867" y="1535"/>
                  </a:lnTo>
                  <a:lnTo>
                    <a:pt x="5691" y="5714"/>
                  </a:lnTo>
                  <a:lnTo>
                    <a:pt x="1526" y="11894"/>
                  </a:lnTo>
                  <a:lnTo>
                    <a:pt x="0" y="19430"/>
                  </a:lnTo>
                  <a:lnTo>
                    <a:pt x="0" y="446913"/>
                  </a:lnTo>
                  <a:lnTo>
                    <a:pt x="1526" y="454449"/>
                  </a:lnTo>
                  <a:lnTo>
                    <a:pt x="5691" y="460628"/>
                  </a:lnTo>
                  <a:lnTo>
                    <a:pt x="11867" y="464808"/>
                  </a:lnTo>
                  <a:lnTo>
                    <a:pt x="19431" y="466343"/>
                  </a:lnTo>
                  <a:lnTo>
                    <a:pt x="7045833" y="466343"/>
                  </a:lnTo>
                  <a:lnTo>
                    <a:pt x="7053369" y="464808"/>
                  </a:lnTo>
                  <a:lnTo>
                    <a:pt x="7059549" y="460628"/>
                  </a:lnTo>
                  <a:lnTo>
                    <a:pt x="7063728" y="454449"/>
                  </a:lnTo>
                  <a:lnTo>
                    <a:pt x="7065263" y="446913"/>
                  </a:lnTo>
                  <a:lnTo>
                    <a:pt x="7065263" y="19430"/>
                  </a:lnTo>
                  <a:lnTo>
                    <a:pt x="7063728" y="11894"/>
                  </a:lnTo>
                  <a:lnTo>
                    <a:pt x="7059549" y="5715"/>
                  </a:lnTo>
                  <a:lnTo>
                    <a:pt x="7053369" y="1535"/>
                  </a:lnTo>
                  <a:lnTo>
                    <a:pt x="7045833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9368" y="2898648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0" y="19430"/>
                  </a:moveTo>
                  <a:lnTo>
                    <a:pt x="1526" y="11894"/>
                  </a:lnTo>
                  <a:lnTo>
                    <a:pt x="5691" y="5714"/>
                  </a:lnTo>
                  <a:lnTo>
                    <a:pt x="11867" y="1535"/>
                  </a:lnTo>
                  <a:lnTo>
                    <a:pt x="19431" y="0"/>
                  </a:lnTo>
                  <a:lnTo>
                    <a:pt x="7045833" y="0"/>
                  </a:lnTo>
                  <a:lnTo>
                    <a:pt x="7053369" y="1535"/>
                  </a:lnTo>
                  <a:lnTo>
                    <a:pt x="7059549" y="5715"/>
                  </a:lnTo>
                  <a:lnTo>
                    <a:pt x="7063728" y="11894"/>
                  </a:lnTo>
                  <a:lnTo>
                    <a:pt x="7065263" y="19430"/>
                  </a:lnTo>
                  <a:lnTo>
                    <a:pt x="7065263" y="446913"/>
                  </a:lnTo>
                  <a:lnTo>
                    <a:pt x="7063728" y="454449"/>
                  </a:lnTo>
                  <a:lnTo>
                    <a:pt x="7059549" y="460628"/>
                  </a:lnTo>
                  <a:lnTo>
                    <a:pt x="7053369" y="464808"/>
                  </a:lnTo>
                  <a:lnTo>
                    <a:pt x="7045833" y="466343"/>
                  </a:lnTo>
                  <a:lnTo>
                    <a:pt x="19431" y="466343"/>
                  </a:lnTo>
                  <a:lnTo>
                    <a:pt x="11867" y="464808"/>
                  </a:lnTo>
                  <a:lnTo>
                    <a:pt x="5691" y="460628"/>
                  </a:lnTo>
                  <a:lnTo>
                    <a:pt x="1526" y="454449"/>
                  </a:lnTo>
                  <a:lnTo>
                    <a:pt x="0" y="446913"/>
                  </a:lnTo>
                  <a:lnTo>
                    <a:pt x="0" y="19430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36319" y="4091940"/>
              <a:ext cx="7065645" cy="467995"/>
            </a:xfrm>
            <a:custGeom>
              <a:avLst/>
              <a:gdLst/>
              <a:ahLst/>
              <a:cxnLst/>
              <a:rect l="l" t="t" r="r" b="b"/>
              <a:pathLst>
                <a:path w="7065645" h="467995">
                  <a:moveTo>
                    <a:pt x="7045706" y="0"/>
                  </a:moveTo>
                  <a:lnTo>
                    <a:pt x="19494" y="0"/>
                  </a:lnTo>
                  <a:lnTo>
                    <a:pt x="11905" y="1535"/>
                  </a:lnTo>
                  <a:lnTo>
                    <a:pt x="5708" y="5715"/>
                  </a:lnTo>
                  <a:lnTo>
                    <a:pt x="1531" y="11894"/>
                  </a:lnTo>
                  <a:lnTo>
                    <a:pt x="0" y="19431"/>
                  </a:lnTo>
                  <a:lnTo>
                    <a:pt x="0" y="448310"/>
                  </a:lnTo>
                  <a:lnTo>
                    <a:pt x="1531" y="455920"/>
                  </a:lnTo>
                  <a:lnTo>
                    <a:pt x="5708" y="462137"/>
                  </a:lnTo>
                  <a:lnTo>
                    <a:pt x="11905" y="466330"/>
                  </a:lnTo>
                  <a:lnTo>
                    <a:pt x="19494" y="467868"/>
                  </a:lnTo>
                  <a:lnTo>
                    <a:pt x="7045706" y="467868"/>
                  </a:lnTo>
                  <a:lnTo>
                    <a:pt x="7053316" y="466330"/>
                  </a:lnTo>
                  <a:lnTo>
                    <a:pt x="7059533" y="462137"/>
                  </a:lnTo>
                  <a:lnTo>
                    <a:pt x="7063726" y="455920"/>
                  </a:lnTo>
                  <a:lnTo>
                    <a:pt x="7065263" y="448310"/>
                  </a:lnTo>
                  <a:lnTo>
                    <a:pt x="7065263" y="19431"/>
                  </a:lnTo>
                  <a:lnTo>
                    <a:pt x="7063726" y="11894"/>
                  </a:lnTo>
                  <a:lnTo>
                    <a:pt x="7059533" y="5714"/>
                  </a:lnTo>
                  <a:lnTo>
                    <a:pt x="7053316" y="1535"/>
                  </a:lnTo>
                  <a:lnTo>
                    <a:pt x="7045706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36319" y="4091940"/>
              <a:ext cx="7065645" cy="467995"/>
            </a:xfrm>
            <a:custGeom>
              <a:avLst/>
              <a:gdLst/>
              <a:ahLst/>
              <a:cxnLst/>
              <a:rect l="l" t="t" r="r" b="b"/>
              <a:pathLst>
                <a:path w="7065645" h="467995">
                  <a:moveTo>
                    <a:pt x="0" y="19431"/>
                  </a:moveTo>
                  <a:lnTo>
                    <a:pt x="1531" y="11894"/>
                  </a:lnTo>
                  <a:lnTo>
                    <a:pt x="5708" y="5715"/>
                  </a:lnTo>
                  <a:lnTo>
                    <a:pt x="11905" y="1535"/>
                  </a:lnTo>
                  <a:lnTo>
                    <a:pt x="19494" y="0"/>
                  </a:lnTo>
                  <a:lnTo>
                    <a:pt x="7045706" y="0"/>
                  </a:lnTo>
                  <a:lnTo>
                    <a:pt x="7053316" y="1535"/>
                  </a:lnTo>
                  <a:lnTo>
                    <a:pt x="7059533" y="5714"/>
                  </a:lnTo>
                  <a:lnTo>
                    <a:pt x="7063726" y="11894"/>
                  </a:lnTo>
                  <a:lnTo>
                    <a:pt x="7065263" y="19431"/>
                  </a:lnTo>
                  <a:lnTo>
                    <a:pt x="7065263" y="448310"/>
                  </a:lnTo>
                  <a:lnTo>
                    <a:pt x="7063726" y="455920"/>
                  </a:lnTo>
                  <a:lnTo>
                    <a:pt x="7059533" y="462137"/>
                  </a:lnTo>
                  <a:lnTo>
                    <a:pt x="7053316" y="466330"/>
                  </a:lnTo>
                  <a:lnTo>
                    <a:pt x="7045706" y="467868"/>
                  </a:lnTo>
                  <a:lnTo>
                    <a:pt x="19494" y="467868"/>
                  </a:lnTo>
                  <a:lnTo>
                    <a:pt x="11905" y="466330"/>
                  </a:lnTo>
                  <a:lnTo>
                    <a:pt x="5708" y="462137"/>
                  </a:lnTo>
                  <a:lnTo>
                    <a:pt x="1531" y="455920"/>
                  </a:lnTo>
                  <a:lnTo>
                    <a:pt x="0" y="448310"/>
                  </a:lnTo>
                  <a:lnTo>
                    <a:pt x="0" y="19431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1747" y="3502152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7045833" y="0"/>
                  </a:moveTo>
                  <a:lnTo>
                    <a:pt x="19431" y="0"/>
                  </a:lnTo>
                  <a:lnTo>
                    <a:pt x="11867" y="1535"/>
                  </a:lnTo>
                  <a:lnTo>
                    <a:pt x="5691" y="5715"/>
                  </a:lnTo>
                  <a:lnTo>
                    <a:pt x="1526" y="11894"/>
                  </a:lnTo>
                  <a:lnTo>
                    <a:pt x="0" y="19431"/>
                  </a:lnTo>
                  <a:lnTo>
                    <a:pt x="0" y="446913"/>
                  </a:lnTo>
                  <a:lnTo>
                    <a:pt x="1526" y="454449"/>
                  </a:lnTo>
                  <a:lnTo>
                    <a:pt x="5691" y="460629"/>
                  </a:lnTo>
                  <a:lnTo>
                    <a:pt x="11867" y="464808"/>
                  </a:lnTo>
                  <a:lnTo>
                    <a:pt x="19431" y="466344"/>
                  </a:lnTo>
                  <a:lnTo>
                    <a:pt x="7045833" y="466344"/>
                  </a:lnTo>
                  <a:lnTo>
                    <a:pt x="7053369" y="464808"/>
                  </a:lnTo>
                  <a:lnTo>
                    <a:pt x="7059549" y="460628"/>
                  </a:lnTo>
                  <a:lnTo>
                    <a:pt x="7063728" y="454449"/>
                  </a:lnTo>
                  <a:lnTo>
                    <a:pt x="7065263" y="446913"/>
                  </a:lnTo>
                  <a:lnTo>
                    <a:pt x="7065263" y="19431"/>
                  </a:lnTo>
                  <a:lnTo>
                    <a:pt x="7063728" y="11894"/>
                  </a:lnTo>
                  <a:lnTo>
                    <a:pt x="7059549" y="5715"/>
                  </a:lnTo>
                  <a:lnTo>
                    <a:pt x="7053369" y="1535"/>
                  </a:lnTo>
                  <a:lnTo>
                    <a:pt x="7045833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31747" y="3502152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0" y="19431"/>
                  </a:moveTo>
                  <a:lnTo>
                    <a:pt x="1526" y="11894"/>
                  </a:lnTo>
                  <a:lnTo>
                    <a:pt x="5691" y="5715"/>
                  </a:lnTo>
                  <a:lnTo>
                    <a:pt x="11867" y="1535"/>
                  </a:lnTo>
                  <a:lnTo>
                    <a:pt x="19431" y="0"/>
                  </a:lnTo>
                  <a:lnTo>
                    <a:pt x="7045833" y="0"/>
                  </a:lnTo>
                  <a:lnTo>
                    <a:pt x="7053369" y="1535"/>
                  </a:lnTo>
                  <a:lnTo>
                    <a:pt x="7059549" y="5715"/>
                  </a:lnTo>
                  <a:lnTo>
                    <a:pt x="7063728" y="11894"/>
                  </a:lnTo>
                  <a:lnTo>
                    <a:pt x="7065263" y="19431"/>
                  </a:lnTo>
                  <a:lnTo>
                    <a:pt x="7065263" y="446913"/>
                  </a:lnTo>
                  <a:lnTo>
                    <a:pt x="7063728" y="454449"/>
                  </a:lnTo>
                  <a:lnTo>
                    <a:pt x="7059549" y="460628"/>
                  </a:lnTo>
                  <a:lnTo>
                    <a:pt x="7053369" y="464808"/>
                  </a:lnTo>
                  <a:lnTo>
                    <a:pt x="7045833" y="466344"/>
                  </a:lnTo>
                  <a:lnTo>
                    <a:pt x="19431" y="466344"/>
                  </a:lnTo>
                  <a:lnTo>
                    <a:pt x="11867" y="464808"/>
                  </a:lnTo>
                  <a:lnTo>
                    <a:pt x="5691" y="460629"/>
                  </a:lnTo>
                  <a:lnTo>
                    <a:pt x="1526" y="454449"/>
                  </a:lnTo>
                  <a:lnTo>
                    <a:pt x="0" y="446913"/>
                  </a:lnTo>
                  <a:lnTo>
                    <a:pt x="0" y="19431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46556" y="1804542"/>
            <a:ext cx="7338695" cy="265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Verdana"/>
                <a:cs typeface="Verdana"/>
              </a:rPr>
              <a:t>DHCP </a:t>
            </a:r>
            <a:r>
              <a:rPr sz="1800" b="1" spc="-5" dirty="0">
                <a:latin typeface="Verdana"/>
                <a:cs typeface="Verdana"/>
              </a:rPr>
              <a:t>options can be applied </a:t>
            </a:r>
            <a:r>
              <a:rPr sz="1800" b="1" dirty="0">
                <a:latin typeface="Verdana"/>
                <a:cs typeface="Verdana"/>
              </a:rPr>
              <a:t>at </a:t>
            </a:r>
            <a:r>
              <a:rPr sz="1800" b="1" spc="-5" dirty="0">
                <a:latin typeface="Verdana"/>
                <a:cs typeface="Verdana"/>
              </a:rPr>
              <a:t>various</a:t>
            </a:r>
            <a:r>
              <a:rPr sz="1800" b="1" spc="2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levels: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50">
              <a:latin typeface="Verdana"/>
              <a:cs typeface="Verdana"/>
            </a:endParaRPr>
          </a:p>
          <a:p>
            <a:pPr marL="619125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619760" algn="l"/>
              </a:tabLst>
            </a:pPr>
            <a:r>
              <a:rPr sz="1800" b="1" spc="-5" dirty="0">
                <a:latin typeface="Verdana"/>
                <a:cs typeface="Verdana"/>
              </a:rPr>
              <a:t>Server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006699"/>
              </a:buClr>
              <a:buFont typeface="Verdana"/>
              <a:buChar char="•"/>
            </a:pPr>
            <a:endParaRPr sz="2050">
              <a:latin typeface="Verdana"/>
              <a:cs typeface="Verdana"/>
            </a:endParaRPr>
          </a:p>
          <a:p>
            <a:pPr marL="619125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619760" algn="l"/>
              </a:tabLst>
            </a:pPr>
            <a:r>
              <a:rPr sz="1800" b="1" spc="-5" dirty="0">
                <a:latin typeface="Verdana"/>
                <a:cs typeface="Verdana"/>
              </a:rPr>
              <a:t>Scope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6699"/>
              </a:buClr>
              <a:buFont typeface="Verdana"/>
              <a:buChar char="•"/>
            </a:pPr>
            <a:endParaRPr sz="2100">
              <a:latin typeface="Verdana"/>
              <a:cs typeface="Verdana"/>
            </a:endParaRPr>
          </a:p>
          <a:p>
            <a:pPr marL="610870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611505" algn="l"/>
              </a:tabLst>
            </a:pPr>
            <a:r>
              <a:rPr sz="1800" b="1" dirty="0">
                <a:latin typeface="Verdana"/>
                <a:cs typeface="Verdana"/>
              </a:rPr>
              <a:t>Class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006699"/>
              </a:buClr>
              <a:buFont typeface="Verdana"/>
              <a:buChar char="•"/>
            </a:pPr>
            <a:endParaRPr sz="2050">
              <a:latin typeface="Verdana"/>
              <a:cs typeface="Verdana"/>
            </a:endParaRPr>
          </a:p>
          <a:p>
            <a:pPr marL="615950" indent="-229870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616585" algn="l"/>
              </a:tabLst>
            </a:pPr>
            <a:r>
              <a:rPr sz="1800" b="1" spc="-5" dirty="0">
                <a:latin typeface="Verdana"/>
                <a:cs typeface="Verdana"/>
              </a:rPr>
              <a:t>Reserved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client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5898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 smtClean="0"/>
              <a:t> </a:t>
            </a:r>
            <a:r>
              <a:rPr spc="-5" dirty="0" smtClean="0"/>
              <a:t> </a:t>
            </a:r>
            <a:r>
              <a:rPr dirty="0"/>
              <a:t>4: Managing a DHCP</a:t>
            </a:r>
            <a:r>
              <a:rPr spc="-5" dirty="0"/>
              <a:t> Database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0738" y="914400"/>
            <a:ext cx="6633209" cy="275780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10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Overview </a:t>
            </a:r>
            <a:r>
              <a:rPr sz="2000" dirty="0">
                <a:latin typeface="Verdana"/>
                <a:cs typeface="Verdana"/>
              </a:rPr>
              <a:t>of DHCP Management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Scenarios</a:t>
            </a:r>
            <a:endParaRPr sz="2000" dirty="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3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DHCP </a:t>
            </a:r>
            <a:r>
              <a:rPr sz="2000" spc="-5" dirty="0">
                <a:latin typeface="Verdana"/>
                <a:cs typeface="Verdana"/>
              </a:rPr>
              <a:t>Server Configuration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Options</a:t>
            </a:r>
            <a:endParaRPr sz="2000" dirty="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What Is a DHCP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Database?</a:t>
            </a: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How a DHCP Database Is </a:t>
            </a:r>
            <a:r>
              <a:rPr sz="2000" spc="-5" dirty="0">
                <a:latin typeface="Verdana"/>
                <a:cs typeface="Verdana"/>
              </a:rPr>
              <a:t>Backed </a:t>
            </a:r>
            <a:r>
              <a:rPr sz="2000" dirty="0">
                <a:latin typeface="Verdana"/>
                <a:cs typeface="Verdana"/>
              </a:rPr>
              <a:t>Up and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Restored</a:t>
            </a:r>
            <a:endParaRPr sz="2000" dirty="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How a DHCP Database Is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Reconciled</a:t>
            </a:r>
            <a:endParaRPr sz="2000" dirty="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Moving a DHCP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 smtClean="0">
                <a:latin typeface="Verdana"/>
                <a:cs typeface="Verdana"/>
              </a:rPr>
              <a:t>Database</a:t>
            </a:r>
            <a:endParaRPr sz="2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65017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Overview </a:t>
            </a:r>
            <a:r>
              <a:rPr dirty="0"/>
              <a:t>of DHCP Management </a:t>
            </a:r>
            <a:r>
              <a:rPr spc="-5" dirty="0"/>
              <a:t>Scenarios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70559" y="2043683"/>
            <a:ext cx="7775575" cy="4236720"/>
            <a:chOff x="670559" y="2043683"/>
            <a:chExt cx="7775575" cy="4236720"/>
          </a:xfrm>
        </p:grpSpPr>
        <p:sp>
          <p:nvSpPr>
            <p:cNvPr id="4" name="object 4"/>
            <p:cNvSpPr/>
            <p:nvPr/>
          </p:nvSpPr>
          <p:spPr>
            <a:xfrm>
              <a:off x="675131" y="2048255"/>
              <a:ext cx="7766684" cy="4227830"/>
            </a:xfrm>
            <a:custGeom>
              <a:avLst/>
              <a:gdLst/>
              <a:ahLst/>
              <a:cxnLst/>
              <a:rect l="l" t="t" r="r" b="b"/>
              <a:pathLst>
                <a:path w="7766684" h="4227830">
                  <a:moveTo>
                    <a:pt x="7590155" y="0"/>
                  </a:moveTo>
                  <a:lnTo>
                    <a:pt x="176161" y="0"/>
                  </a:lnTo>
                  <a:lnTo>
                    <a:pt x="129329" y="6292"/>
                  </a:lnTo>
                  <a:lnTo>
                    <a:pt x="87248" y="24050"/>
                  </a:lnTo>
                  <a:lnTo>
                    <a:pt x="51595" y="51593"/>
                  </a:lnTo>
                  <a:lnTo>
                    <a:pt x="24050" y="87244"/>
                  </a:lnTo>
                  <a:lnTo>
                    <a:pt x="6292" y="129322"/>
                  </a:lnTo>
                  <a:lnTo>
                    <a:pt x="0" y="176149"/>
                  </a:lnTo>
                  <a:lnTo>
                    <a:pt x="0" y="4051414"/>
                  </a:lnTo>
                  <a:lnTo>
                    <a:pt x="6292" y="4098246"/>
                  </a:lnTo>
                  <a:lnTo>
                    <a:pt x="24050" y="4140327"/>
                  </a:lnTo>
                  <a:lnTo>
                    <a:pt x="51595" y="4175980"/>
                  </a:lnTo>
                  <a:lnTo>
                    <a:pt x="87248" y="4203525"/>
                  </a:lnTo>
                  <a:lnTo>
                    <a:pt x="129329" y="4221283"/>
                  </a:lnTo>
                  <a:lnTo>
                    <a:pt x="176161" y="4227576"/>
                  </a:lnTo>
                  <a:lnTo>
                    <a:pt x="7590155" y="4227576"/>
                  </a:lnTo>
                  <a:lnTo>
                    <a:pt x="7636981" y="4221283"/>
                  </a:lnTo>
                  <a:lnTo>
                    <a:pt x="7679059" y="4203525"/>
                  </a:lnTo>
                  <a:lnTo>
                    <a:pt x="7714710" y="4175980"/>
                  </a:lnTo>
                  <a:lnTo>
                    <a:pt x="7742253" y="4140327"/>
                  </a:lnTo>
                  <a:lnTo>
                    <a:pt x="7760011" y="4098246"/>
                  </a:lnTo>
                  <a:lnTo>
                    <a:pt x="7766304" y="4051414"/>
                  </a:lnTo>
                  <a:lnTo>
                    <a:pt x="7766304" y="176149"/>
                  </a:lnTo>
                  <a:lnTo>
                    <a:pt x="7760011" y="129322"/>
                  </a:lnTo>
                  <a:lnTo>
                    <a:pt x="7742253" y="87244"/>
                  </a:lnTo>
                  <a:lnTo>
                    <a:pt x="7714710" y="51593"/>
                  </a:lnTo>
                  <a:lnTo>
                    <a:pt x="7679059" y="24050"/>
                  </a:lnTo>
                  <a:lnTo>
                    <a:pt x="7636981" y="6292"/>
                  </a:lnTo>
                  <a:lnTo>
                    <a:pt x="7590155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5131" y="2048255"/>
              <a:ext cx="7766684" cy="4227830"/>
            </a:xfrm>
            <a:custGeom>
              <a:avLst/>
              <a:gdLst/>
              <a:ahLst/>
              <a:cxnLst/>
              <a:rect l="l" t="t" r="r" b="b"/>
              <a:pathLst>
                <a:path w="7766684" h="4227830">
                  <a:moveTo>
                    <a:pt x="0" y="176149"/>
                  </a:moveTo>
                  <a:lnTo>
                    <a:pt x="6292" y="129322"/>
                  </a:lnTo>
                  <a:lnTo>
                    <a:pt x="24050" y="87244"/>
                  </a:lnTo>
                  <a:lnTo>
                    <a:pt x="51595" y="51593"/>
                  </a:lnTo>
                  <a:lnTo>
                    <a:pt x="87248" y="24050"/>
                  </a:lnTo>
                  <a:lnTo>
                    <a:pt x="129329" y="6292"/>
                  </a:lnTo>
                  <a:lnTo>
                    <a:pt x="176161" y="0"/>
                  </a:lnTo>
                  <a:lnTo>
                    <a:pt x="7590155" y="0"/>
                  </a:lnTo>
                  <a:lnTo>
                    <a:pt x="7636981" y="6292"/>
                  </a:lnTo>
                  <a:lnTo>
                    <a:pt x="7679059" y="24050"/>
                  </a:lnTo>
                  <a:lnTo>
                    <a:pt x="7714710" y="51593"/>
                  </a:lnTo>
                  <a:lnTo>
                    <a:pt x="7742253" y="87244"/>
                  </a:lnTo>
                  <a:lnTo>
                    <a:pt x="7760011" y="129322"/>
                  </a:lnTo>
                  <a:lnTo>
                    <a:pt x="7766304" y="176149"/>
                  </a:lnTo>
                  <a:lnTo>
                    <a:pt x="7766304" y="4051414"/>
                  </a:lnTo>
                  <a:lnTo>
                    <a:pt x="7760011" y="4098246"/>
                  </a:lnTo>
                  <a:lnTo>
                    <a:pt x="7742253" y="4140327"/>
                  </a:lnTo>
                  <a:lnTo>
                    <a:pt x="7714710" y="4175980"/>
                  </a:lnTo>
                  <a:lnTo>
                    <a:pt x="7679059" y="4203525"/>
                  </a:lnTo>
                  <a:lnTo>
                    <a:pt x="7636981" y="4221283"/>
                  </a:lnTo>
                  <a:lnTo>
                    <a:pt x="7590155" y="4227576"/>
                  </a:lnTo>
                  <a:lnTo>
                    <a:pt x="176161" y="4227576"/>
                  </a:lnTo>
                  <a:lnTo>
                    <a:pt x="129329" y="4221283"/>
                  </a:lnTo>
                  <a:lnTo>
                    <a:pt x="87248" y="4203525"/>
                  </a:lnTo>
                  <a:lnTo>
                    <a:pt x="51595" y="4175980"/>
                  </a:lnTo>
                  <a:lnTo>
                    <a:pt x="24050" y="4140327"/>
                  </a:lnTo>
                  <a:lnTo>
                    <a:pt x="6292" y="4098246"/>
                  </a:lnTo>
                  <a:lnTo>
                    <a:pt x="0" y="4051414"/>
                  </a:lnTo>
                  <a:lnTo>
                    <a:pt x="0" y="176149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4107" y="2549651"/>
              <a:ext cx="7388859" cy="486409"/>
            </a:xfrm>
            <a:custGeom>
              <a:avLst/>
              <a:gdLst/>
              <a:ahLst/>
              <a:cxnLst/>
              <a:rect l="l" t="t" r="r" b="b"/>
              <a:pathLst>
                <a:path w="7388859" h="486410">
                  <a:moveTo>
                    <a:pt x="7368032" y="0"/>
                  </a:moveTo>
                  <a:lnTo>
                    <a:pt x="20256" y="0"/>
                  </a:lnTo>
                  <a:lnTo>
                    <a:pt x="12371" y="1585"/>
                  </a:lnTo>
                  <a:lnTo>
                    <a:pt x="5932" y="5921"/>
                  </a:lnTo>
                  <a:lnTo>
                    <a:pt x="1591" y="12376"/>
                  </a:lnTo>
                  <a:lnTo>
                    <a:pt x="0" y="20320"/>
                  </a:lnTo>
                  <a:lnTo>
                    <a:pt x="0" y="465836"/>
                  </a:lnTo>
                  <a:lnTo>
                    <a:pt x="1591" y="473779"/>
                  </a:lnTo>
                  <a:lnTo>
                    <a:pt x="5932" y="480234"/>
                  </a:lnTo>
                  <a:lnTo>
                    <a:pt x="12371" y="484570"/>
                  </a:lnTo>
                  <a:lnTo>
                    <a:pt x="20256" y="486156"/>
                  </a:lnTo>
                  <a:lnTo>
                    <a:pt x="7368032" y="486156"/>
                  </a:lnTo>
                  <a:lnTo>
                    <a:pt x="7375975" y="484570"/>
                  </a:lnTo>
                  <a:lnTo>
                    <a:pt x="7382430" y="480234"/>
                  </a:lnTo>
                  <a:lnTo>
                    <a:pt x="7386766" y="473779"/>
                  </a:lnTo>
                  <a:lnTo>
                    <a:pt x="7388352" y="465836"/>
                  </a:lnTo>
                  <a:lnTo>
                    <a:pt x="7388352" y="20320"/>
                  </a:lnTo>
                  <a:lnTo>
                    <a:pt x="7386766" y="12376"/>
                  </a:lnTo>
                  <a:lnTo>
                    <a:pt x="7382430" y="5921"/>
                  </a:lnTo>
                  <a:lnTo>
                    <a:pt x="7375975" y="1585"/>
                  </a:lnTo>
                  <a:lnTo>
                    <a:pt x="736803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4107" y="2549651"/>
              <a:ext cx="7388859" cy="486409"/>
            </a:xfrm>
            <a:custGeom>
              <a:avLst/>
              <a:gdLst/>
              <a:ahLst/>
              <a:cxnLst/>
              <a:rect l="l" t="t" r="r" b="b"/>
              <a:pathLst>
                <a:path w="7388859" h="486410">
                  <a:moveTo>
                    <a:pt x="0" y="20320"/>
                  </a:moveTo>
                  <a:lnTo>
                    <a:pt x="1591" y="12376"/>
                  </a:lnTo>
                  <a:lnTo>
                    <a:pt x="5932" y="5921"/>
                  </a:lnTo>
                  <a:lnTo>
                    <a:pt x="12371" y="1585"/>
                  </a:lnTo>
                  <a:lnTo>
                    <a:pt x="20256" y="0"/>
                  </a:lnTo>
                  <a:lnTo>
                    <a:pt x="7368032" y="0"/>
                  </a:lnTo>
                  <a:lnTo>
                    <a:pt x="7375975" y="1585"/>
                  </a:lnTo>
                  <a:lnTo>
                    <a:pt x="7382430" y="5921"/>
                  </a:lnTo>
                  <a:lnTo>
                    <a:pt x="7386766" y="12376"/>
                  </a:lnTo>
                  <a:lnTo>
                    <a:pt x="7388352" y="20320"/>
                  </a:lnTo>
                  <a:lnTo>
                    <a:pt x="7388352" y="465836"/>
                  </a:lnTo>
                  <a:lnTo>
                    <a:pt x="7386766" y="473779"/>
                  </a:lnTo>
                  <a:lnTo>
                    <a:pt x="7382430" y="480234"/>
                  </a:lnTo>
                  <a:lnTo>
                    <a:pt x="7375975" y="484570"/>
                  </a:lnTo>
                  <a:lnTo>
                    <a:pt x="7368032" y="486156"/>
                  </a:lnTo>
                  <a:lnTo>
                    <a:pt x="20256" y="486156"/>
                  </a:lnTo>
                  <a:lnTo>
                    <a:pt x="12371" y="484570"/>
                  </a:lnTo>
                  <a:lnTo>
                    <a:pt x="5932" y="480234"/>
                  </a:lnTo>
                  <a:lnTo>
                    <a:pt x="1591" y="473779"/>
                  </a:lnTo>
                  <a:lnTo>
                    <a:pt x="0" y="465836"/>
                  </a:lnTo>
                  <a:lnTo>
                    <a:pt x="0" y="20320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64107" y="3159251"/>
              <a:ext cx="7388859" cy="486409"/>
            </a:xfrm>
            <a:custGeom>
              <a:avLst/>
              <a:gdLst/>
              <a:ahLst/>
              <a:cxnLst/>
              <a:rect l="l" t="t" r="r" b="b"/>
              <a:pathLst>
                <a:path w="7388859" h="486410">
                  <a:moveTo>
                    <a:pt x="7368032" y="0"/>
                  </a:moveTo>
                  <a:lnTo>
                    <a:pt x="20256" y="0"/>
                  </a:lnTo>
                  <a:lnTo>
                    <a:pt x="12371" y="1585"/>
                  </a:lnTo>
                  <a:lnTo>
                    <a:pt x="5932" y="5921"/>
                  </a:lnTo>
                  <a:lnTo>
                    <a:pt x="1591" y="12376"/>
                  </a:lnTo>
                  <a:lnTo>
                    <a:pt x="0" y="20320"/>
                  </a:lnTo>
                  <a:lnTo>
                    <a:pt x="0" y="465836"/>
                  </a:lnTo>
                  <a:lnTo>
                    <a:pt x="1591" y="473779"/>
                  </a:lnTo>
                  <a:lnTo>
                    <a:pt x="5932" y="480234"/>
                  </a:lnTo>
                  <a:lnTo>
                    <a:pt x="12371" y="484570"/>
                  </a:lnTo>
                  <a:lnTo>
                    <a:pt x="20256" y="486156"/>
                  </a:lnTo>
                  <a:lnTo>
                    <a:pt x="7368032" y="486156"/>
                  </a:lnTo>
                  <a:lnTo>
                    <a:pt x="7375975" y="484570"/>
                  </a:lnTo>
                  <a:lnTo>
                    <a:pt x="7382430" y="480234"/>
                  </a:lnTo>
                  <a:lnTo>
                    <a:pt x="7386766" y="473779"/>
                  </a:lnTo>
                  <a:lnTo>
                    <a:pt x="7388352" y="465836"/>
                  </a:lnTo>
                  <a:lnTo>
                    <a:pt x="7388352" y="20320"/>
                  </a:lnTo>
                  <a:lnTo>
                    <a:pt x="7386766" y="12376"/>
                  </a:lnTo>
                  <a:lnTo>
                    <a:pt x="7382430" y="5921"/>
                  </a:lnTo>
                  <a:lnTo>
                    <a:pt x="7375975" y="1585"/>
                  </a:lnTo>
                  <a:lnTo>
                    <a:pt x="736803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4107" y="3159251"/>
              <a:ext cx="7388859" cy="486409"/>
            </a:xfrm>
            <a:custGeom>
              <a:avLst/>
              <a:gdLst/>
              <a:ahLst/>
              <a:cxnLst/>
              <a:rect l="l" t="t" r="r" b="b"/>
              <a:pathLst>
                <a:path w="7388859" h="486410">
                  <a:moveTo>
                    <a:pt x="0" y="20320"/>
                  </a:moveTo>
                  <a:lnTo>
                    <a:pt x="1591" y="12376"/>
                  </a:lnTo>
                  <a:lnTo>
                    <a:pt x="5932" y="5921"/>
                  </a:lnTo>
                  <a:lnTo>
                    <a:pt x="12371" y="1585"/>
                  </a:lnTo>
                  <a:lnTo>
                    <a:pt x="20256" y="0"/>
                  </a:lnTo>
                  <a:lnTo>
                    <a:pt x="7368032" y="0"/>
                  </a:lnTo>
                  <a:lnTo>
                    <a:pt x="7375975" y="1585"/>
                  </a:lnTo>
                  <a:lnTo>
                    <a:pt x="7382430" y="5921"/>
                  </a:lnTo>
                  <a:lnTo>
                    <a:pt x="7386766" y="12376"/>
                  </a:lnTo>
                  <a:lnTo>
                    <a:pt x="7388352" y="20320"/>
                  </a:lnTo>
                  <a:lnTo>
                    <a:pt x="7388352" y="465836"/>
                  </a:lnTo>
                  <a:lnTo>
                    <a:pt x="7386766" y="473779"/>
                  </a:lnTo>
                  <a:lnTo>
                    <a:pt x="7382430" y="480234"/>
                  </a:lnTo>
                  <a:lnTo>
                    <a:pt x="7375975" y="484570"/>
                  </a:lnTo>
                  <a:lnTo>
                    <a:pt x="7368032" y="486156"/>
                  </a:lnTo>
                  <a:lnTo>
                    <a:pt x="20256" y="486156"/>
                  </a:lnTo>
                  <a:lnTo>
                    <a:pt x="12371" y="484570"/>
                  </a:lnTo>
                  <a:lnTo>
                    <a:pt x="5932" y="480234"/>
                  </a:lnTo>
                  <a:lnTo>
                    <a:pt x="1591" y="473779"/>
                  </a:lnTo>
                  <a:lnTo>
                    <a:pt x="0" y="465836"/>
                  </a:lnTo>
                  <a:lnTo>
                    <a:pt x="0" y="20320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" y="3765804"/>
              <a:ext cx="7388859" cy="486409"/>
            </a:xfrm>
            <a:custGeom>
              <a:avLst/>
              <a:gdLst/>
              <a:ahLst/>
              <a:cxnLst/>
              <a:rect l="l" t="t" r="r" b="b"/>
              <a:pathLst>
                <a:path w="7388859" h="486410">
                  <a:moveTo>
                    <a:pt x="7368032" y="0"/>
                  </a:moveTo>
                  <a:lnTo>
                    <a:pt x="20256" y="0"/>
                  </a:lnTo>
                  <a:lnTo>
                    <a:pt x="12371" y="1585"/>
                  </a:lnTo>
                  <a:lnTo>
                    <a:pt x="5932" y="5921"/>
                  </a:lnTo>
                  <a:lnTo>
                    <a:pt x="1591" y="12376"/>
                  </a:lnTo>
                  <a:lnTo>
                    <a:pt x="0" y="20320"/>
                  </a:lnTo>
                  <a:lnTo>
                    <a:pt x="0" y="465836"/>
                  </a:lnTo>
                  <a:lnTo>
                    <a:pt x="1591" y="473779"/>
                  </a:lnTo>
                  <a:lnTo>
                    <a:pt x="5932" y="480234"/>
                  </a:lnTo>
                  <a:lnTo>
                    <a:pt x="12371" y="484570"/>
                  </a:lnTo>
                  <a:lnTo>
                    <a:pt x="20256" y="486156"/>
                  </a:lnTo>
                  <a:lnTo>
                    <a:pt x="7368032" y="486156"/>
                  </a:lnTo>
                  <a:lnTo>
                    <a:pt x="7375975" y="484570"/>
                  </a:lnTo>
                  <a:lnTo>
                    <a:pt x="7382430" y="480234"/>
                  </a:lnTo>
                  <a:lnTo>
                    <a:pt x="7386766" y="473779"/>
                  </a:lnTo>
                  <a:lnTo>
                    <a:pt x="7388352" y="465836"/>
                  </a:lnTo>
                  <a:lnTo>
                    <a:pt x="7388352" y="20320"/>
                  </a:lnTo>
                  <a:lnTo>
                    <a:pt x="7386766" y="12376"/>
                  </a:lnTo>
                  <a:lnTo>
                    <a:pt x="7382430" y="5921"/>
                  </a:lnTo>
                  <a:lnTo>
                    <a:pt x="7375975" y="1585"/>
                  </a:lnTo>
                  <a:lnTo>
                    <a:pt x="736803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" y="3765804"/>
              <a:ext cx="7388859" cy="486409"/>
            </a:xfrm>
            <a:custGeom>
              <a:avLst/>
              <a:gdLst/>
              <a:ahLst/>
              <a:cxnLst/>
              <a:rect l="l" t="t" r="r" b="b"/>
              <a:pathLst>
                <a:path w="7388859" h="486410">
                  <a:moveTo>
                    <a:pt x="0" y="20320"/>
                  </a:moveTo>
                  <a:lnTo>
                    <a:pt x="1591" y="12376"/>
                  </a:lnTo>
                  <a:lnTo>
                    <a:pt x="5932" y="5921"/>
                  </a:lnTo>
                  <a:lnTo>
                    <a:pt x="12371" y="1585"/>
                  </a:lnTo>
                  <a:lnTo>
                    <a:pt x="20256" y="0"/>
                  </a:lnTo>
                  <a:lnTo>
                    <a:pt x="7368032" y="0"/>
                  </a:lnTo>
                  <a:lnTo>
                    <a:pt x="7375975" y="1585"/>
                  </a:lnTo>
                  <a:lnTo>
                    <a:pt x="7382430" y="5921"/>
                  </a:lnTo>
                  <a:lnTo>
                    <a:pt x="7386766" y="12376"/>
                  </a:lnTo>
                  <a:lnTo>
                    <a:pt x="7388352" y="20320"/>
                  </a:lnTo>
                  <a:lnTo>
                    <a:pt x="7388352" y="465836"/>
                  </a:lnTo>
                  <a:lnTo>
                    <a:pt x="7386766" y="473779"/>
                  </a:lnTo>
                  <a:lnTo>
                    <a:pt x="7382430" y="480234"/>
                  </a:lnTo>
                  <a:lnTo>
                    <a:pt x="7375975" y="484570"/>
                  </a:lnTo>
                  <a:lnTo>
                    <a:pt x="7368032" y="486156"/>
                  </a:lnTo>
                  <a:lnTo>
                    <a:pt x="20256" y="486156"/>
                  </a:lnTo>
                  <a:lnTo>
                    <a:pt x="12371" y="484570"/>
                  </a:lnTo>
                  <a:lnTo>
                    <a:pt x="5932" y="480234"/>
                  </a:lnTo>
                  <a:lnTo>
                    <a:pt x="1591" y="473779"/>
                  </a:lnTo>
                  <a:lnTo>
                    <a:pt x="0" y="465836"/>
                  </a:lnTo>
                  <a:lnTo>
                    <a:pt x="0" y="20320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1059" y="4364735"/>
              <a:ext cx="7388859" cy="485140"/>
            </a:xfrm>
            <a:custGeom>
              <a:avLst/>
              <a:gdLst/>
              <a:ahLst/>
              <a:cxnLst/>
              <a:rect l="l" t="t" r="r" b="b"/>
              <a:pathLst>
                <a:path w="7388859" h="485139">
                  <a:moveTo>
                    <a:pt x="7368159" y="0"/>
                  </a:moveTo>
                  <a:lnTo>
                    <a:pt x="20193" y="0"/>
                  </a:lnTo>
                  <a:lnTo>
                    <a:pt x="12333" y="1583"/>
                  </a:lnTo>
                  <a:lnTo>
                    <a:pt x="5915" y="5905"/>
                  </a:lnTo>
                  <a:lnTo>
                    <a:pt x="1587" y="12322"/>
                  </a:lnTo>
                  <a:lnTo>
                    <a:pt x="0" y="20193"/>
                  </a:lnTo>
                  <a:lnTo>
                    <a:pt x="0" y="464438"/>
                  </a:lnTo>
                  <a:lnTo>
                    <a:pt x="1587" y="472309"/>
                  </a:lnTo>
                  <a:lnTo>
                    <a:pt x="5915" y="478726"/>
                  </a:lnTo>
                  <a:lnTo>
                    <a:pt x="12333" y="483048"/>
                  </a:lnTo>
                  <a:lnTo>
                    <a:pt x="20193" y="484631"/>
                  </a:lnTo>
                  <a:lnTo>
                    <a:pt x="7368159" y="484631"/>
                  </a:lnTo>
                  <a:lnTo>
                    <a:pt x="7376029" y="483048"/>
                  </a:lnTo>
                  <a:lnTo>
                    <a:pt x="7382446" y="478726"/>
                  </a:lnTo>
                  <a:lnTo>
                    <a:pt x="7386768" y="472309"/>
                  </a:lnTo>
                  <a:lnTo>
                    <a:pt x="7388352" y="464438"/>
                  </a:lnTo>
                  <a:lnTo>
                    <a:pt x="7388352" y="20193"/>
                  </a:lnTo>
                  <a:lnTo>
                    <a:pt x="7386768" y="12322"/>
                  </a:lnTo>
                  <a:lnTo>
                    <a:pt x="7382446" y="5905"/>
                  </a:lnTo>
                  <a:lnTo>
                    <a:pt x="7376029" y="1583"/>
                  </a:lnTo>
                  <a:lnTo>
                    <a:pt x="7368159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1059" y="4364735"/>
              <a:ext cx="7388859" cy="485140"/>
            </a:xfrm>
            <a:custGeom>
              <a:avLst/>
              <a:gdLst/>
              <a:ahLst/>
              <a:cxnLst/>
              <a:rect l="l" t="t" r="r" b="b"/>
              <a:pathLst>
                <a:path w="7388859" h="485139">
                  <a:moveTo>
                    <a:pt x="0" y="20193"/>
                  </a:moveTo>
                  <a:lnTo>
                    <a:pt x="1587" y="12322"/>
                  </a:lnTo>
                  <a:lnTo>
                    <a:pt x="5915" y="5905"/>
                  </a:lnTo>
                  <a:lnTo>
                    <a:pt x="12333" y="1583"/>
                  </a:lnTo>
                  <a:lnTo>
                    <a:pt x="20193" y="0"/>
                  </a:lnTo>
                  <a:lnTo>
                    <a:pt x="7368159" y="0"/>
                  </a:lnTo>
                  <a:lnTo>
                    <a:pt x="7376029" y="1583"/>
                  </a:lnTo>
                  <a:lnTo>
                    <a:pt x="7382446" y="5905"/>
                  </a:lnTo>
                  <a:lnTo>
                    <a:pt x="7386768" y="12322"/>
                  </a:lnTo>
                  <a:lnTo>
                    <a:pt x="7388352" y="20193"/>
                  </a:lnTo>
                  <a:lnTo>
                    <a:pt x="7388352" y="464438"/>
                  </a:lnTo>
                  <a:lnTo>
                    <a:pt x="7386768" y="472309"/>
                  </a:lnTo>
                  <a:lnTo>
                    <a:pt x="7382446" y="478726"/>
                  </a:lnTo>
                  <a:lnTo>
                    <a:pt x="7376029" y="483048"/>
                  </a:lnTo>
                  <a:lnTo>
                    <a:pt x="7368159" y="484631"/>
                  </a:lnTo>
                  <a:lnTo>
                    <a:pt x="20193" y="484631"/>
                  </a:lnTo>
                  <a:lnTo>
                    <a:pt x="12333" y="483048"/>
                  </a:lnTo>
                  <a:lnTo>
                    <a:pt x="5915" y="478726"/>
                  </a:lnTo>
                  <a:lnTo>
                    <a:pt x="1587" y="472309"/>
                  </a:lnTo>
                  <a:lnTo>
                    <a:pt x="0" y="464438"/>
                  </a:lnTo>
                  <a:lnTo>
                    <a:pt x="0" y="20193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73251" y="4960619"/>
              <a:ext cx="7388859" cy="486409"/>
            </a:xfrm>
            <a:custGeom>
              <a:avLst/>
              <a:gdLst/>
              <a:ahLst/>
              <a:cxnLst/>
              <a:rect l="l" t="t" r="r" b="b"/>
              <a:pathLst>
                <a:path w="7388859" h="486410">
                  <a:moveTo>
                    <a:pt x="7368032" y="0"/>
                  </a:moveTo>
                  <a:lnTo>
                    <a:pt x="20256" y="0"/>
                  </a:lnTo>
                  <a:lnTo>
                    <a:pt x="12371" y="1585"/>
                  </a:lnTo>
                  <a:lnTo>
                    <a:pt x="5932" y="5921"/>
                  </a:lnTo>
                  <a:lnTo>
                    <a:pt x="1591" y="12376"/>
                  </a:lnTo>
                  <a:lnTo>
                    <a:pt x="0" y="20319"/>
                  </a:lnTo>
                  <a:lnTo>
                    <a:pt x="0" y="465835"/>
                  </a:lnTo>
                  <a:lnTo>
                    <a:pt x="1591" y="473779"/>
                  </a:lnTo>
                  <a:lnTo>
                    <a:pt x="5932" y="480234"/>
                  </a:lnTo>
                  <a:lnTo>
                    <a:pt x="12371" y="484570"/>
                  </a:lnTo>
                  <a:lnTo>
                    <a:pt x="20256" y="486155"/>
                  </a:lnTo>
                  <a:lnTo>
                    <a:pt x="7368032" y="486155"/>
                  </a:lnTo>
                  <a:lnTo>
                    <a:pt x="7375975" y="484570"/>
                  </a:lnTo>
                  <a:lnTo>
                    <a:pt x="7382430" y="480234"/>
                  </a:lnTo>
                  <a:lnTo>
                    <a:pt x="7386766" y="473779"/>
                  </a:lnTo>
                  <a:lnTo>
                    <a:pt x="7388352" y="465835"/>
                  </a:lnTo>
                  <a:lnTo>
                    <a:pt x="7388352" y="20319"/>
                  </a:lnTo>
                  <a:lnTo>
                    <a:pt x="7386766" y="12376"/>
                  </a:lnTo>
                  <a:lnTo>
                    <a:pt x="7382430" y="5921"/>
                  </a:lnTo>
                  <a:lnTo>
                    <a:pt x="7375975" y="1585"/>
                  </a:lnTo>
                  <a:lnTo>
                    <a:pt x="736803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73251" y="4960619"/>
              <a:ext cx="7388859" cy="486409"/>
            </a:xfrm>
            <a:custGeom>
              <a:avLst/>
              <a:gdLst/>
              <a:ahLst/>
              <a:cxnLst/>
              <a:rect l="l" t="t" r="r" b="b"/>
              <a:pathLst>
                <a:path w="7388859" h="486410">
                  <a:moveTo>
                    <a:pt x="0" y="20319"/>
                  </a:moveTo>
                  <a:lnTo>
                    <a:pt x="1591" y="12376"/>
                  </a:lnTo>
                  <a:lnTo>
                    <a:pt x="5932" y="5921"/>
                  </a:lnTo>
                  <a:lnTo>
                    <a:pt x="12371" y="1585"/>
                  </a:lnTo>
                  <a:lnTo>
                    <a:pt x="20256" y="0"/>
                  </a:lnTo>
                  <a:lnTo>
                    <a:pt x="7368032" y="0"/>
                  </a:lnTo>
                  <a:lnTo>
                    <a:pt x="7375975" y="1585"/>
                  </a:lnTo>
                  <a:lnTo>
                    <a:pt x="7382430" y="5921"/>
                  </a:lnTo>
                  <a:lnTo>
                    <a:pt x="7386766" y="12376"/>
                  </a:lnTo>
                  <a:lnTo>
                    <a:pt x="7388352" y="20319"/>
                  </a:lnTo>
                  <a:lnTo>
                    <a:pt x="7388352" y="465835"/>
                  </a:lnTo>
                  <a:lnTo>
                    <a:pt x="7386766" y="473779"/>
                  </a:lnTo>
                  <a:lnTo>
                    <a:pt x="7382430" y="480234"/>
                  </a:lnTo>
                  <a:lnTo>
                    <a:pt x="7375975" y="484570"/>
                  </a:lnTo>
                  <a:lnTo>
                    <a:pt x="7368032" y="486155"/>
                  </a:lnTo>
                  <a:lnTo>
                    <a:pt x="20256" y="486155"/>
                  </a:lnTo>
                  <a:lnTo>
                    <a:pt x="12371" y="484570"/>
                  </a:lnTo>
                  <a:lnTo>
                    <a:pt x="5932" y="480234"/>
                  </a:lnTo>
                  <a:lnTo>
                    <a:pt x="1591" y="473779"/>
                  </a:lnTo>
                  <a:lnTo>
                    <a:pt x="0" y="465835"/>
                  </a:lnTo>
                  <a:lnTo>
                    <a:pt x="0" y="20319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70203" y="5559551"/>
              <a:ext cx="7388859" cy="486409"/>
            </a:xfrm>
            <a:custGeom>
              <a:avLst/>
              <a:gdLst/>
              <a:ahLst/>
              <a:cxnLst/>
              <a:rect l="l" t="t" r="r" b="b"/>
              <a:pathLst>
                <a:path w="7388859" h="486410">
                  <a:moveTo>
                    <a:pt x="7368159" y="0"/>
                  </a:moveTo>
                  <a:lnTo>
                    <a:pt x="20256" y="0"/>
                  </a:lnTo>
                  <a:lnTo>
                    <a:pt x="12371" y="1585"/>
                  </a:lnTo>
                  <a:lnTo>
                    <a:pt x="5932" y="5921"/>
                  </a:lnTo>
                  <a:lnTo>
                    <a:pt x="1591" y="12376"/>
                  </a:lnTo>
                  <a:lnTo>
                    <a:pt x="0" y="20320"/>
                  </a:lnTo>
                  <a:lnTo>
                    <a:pt x="0" y="465899"/>
                  </a:lnTo>
                  <a:lnTo>
                    <a:pt x="1591" y="473784"/>
                  </a:lnTo>
                  <a:lnTo>
                    <a:pt x="5932" y="480223"/>
                  </a:lnTo>
                  <a:lnTo>
                    <a:pt x="12371" y="484564"/>
                  </a:lnTo>
                  <a:lnTo>
                    <a:pt x="20256" y="486156"/>
                  </a:lnTo>
                  <a:lnTo>
                    <a:pt x="7368159" y="486156"/>
                  </a:lnTo>
                  <a:lnTo>
                    <a:pt x="7376029" y="484564"/>
                  </a:lnTo>
                  <a:lnTo>
                    <a:pt x="7382446" y="480223"/>
                  </a:lnTo>
                  <a:lnTo>
                    <a:pt x="7386768" y="473784"/>
                  </a:lnTo>
                  <a:lnTo>
                    <a:pt x="7388352" y="465899"/>
                  </a:lnTo>
                  <a:lnTo>
                    <a:pt x="7388352" y="20320"/>
                  </a:lnTo>
                  <a:lnTo>
                    <a:pt x="7386768" y="12376"/>
                  </a:lnTo>
                  <a:lnTo>
                    <a:pt x="7382446" y="5921"/>
                  </a:lnTo>
                  <a:lnTo>
                    <a:pt x="7376029" y="1585"/>
                  </a:lnTo>
                  <a:lnTo>
                    <a:pt x="7368159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70203" y="5559551"/>
              <a:ext cx="7388859" cy="486409"/>
            </a:xfrm>
            <a:custGeom>
              <a:avLst/>
              <a:gdLst/>
              <a:ahLst/>
              <a:cxnLst/>
              <a:rect l="l" t="t" r="r" b="b"/>
              <a:pathLst>
                <a:path w="7388859" h="486410">
                  <a:moveTo>
                    <a:pt x="0" y="20320"/>
                  </a:moveTo>
                  <a:lnTo>
                    <a:pt x="1591" y="12376"/>
                  </a:lnTo>
                  <a:lnTo>
                    <a:pt x="5932" y="5921"/>
                  </a:lnTo>
                  <a:lnTo>
                    <a:pt x="12371" y="1585"/>
                  </a:lnTo>
                  <a:lnTo>
                    <a:pt x="20256" y="0"/>
                  </a:lnTo>
                  <a:lnTo>
                    <a:pt x="7368159" y="0"/>
                  </a:lnTo>
                  <a:lnTo>
                    <a:pt x="7376029" y="1585"/>
                  </a:lnTo>
                  <a:lnTo>
                    <a:pt x="7382446" y="5921"/>
                  </a:lnTo>
                  <a:lnTo>
                    <a:pt x="7386768" y="12376"/>
                  </a:lnTo>
                  <a:lnTo>
                    <a:pt x="7388352" y="20320"/>
                  </a:lnTo>
                  <a:lnTo>
                    <a:pt x="7388352" y="465899"/>
                  </a:lnTo>
                  <a:lnTo>
                    <a:pt x="7386768" y="473784"/>
                  </a:lnTo>
                  <a:lnTo>
                    <a:pt x="7382446" y="480223"/>
                  </a:lnTo>
                  <a:lnTo>
                    <a:pt x="7376029" y="484564"/>
                  </a:lnTo>
                  <a:lnTo>
                    <a:pt x="7368159" y="486156"/>
                  </a:lnTo>
                  <a:lnTo>
                    <a:pt x="20256" y="486156"/>
                  </a:lnTo>
                  <a:lnTo>
                    <a:pt x="12371" y="484564"/>
                  </a:lnTo>
                  <a:lnTo>
                    <a:pt x="5932" y="480223"/>
                  </a:lnTo>
                  <a:lnTo>
                    <a:pt x="1591" y="473784"/>
                  </a:lnTo>
                  <a:lnTo>
                    <a:pt x="0" y="465899"/>
                  </a:lnTo>
                  <a:lnTo>
                    <a:pt x="0" y="20320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667512" y="1010411"/>
            <a:ext cx="7809230" cy="843280"/>
            <a:chOff x="667512" y="1010411"/>
            <a:chExt cx="7809230" cy="843280"/>
          </a:xfrm>
        </p:grpSpPr>
        <p:sp>
          <p:nvSpPr>
            <p:cNvPr id="19" name="object 19"/>
            <p:cNvSpPr/>
            <p:nvPr/>
          </p:nvSpPr>
          <p:spPr>
            <a:xfrm>
              <a:off x="691896" y="1034795"/>
              <a:ext cx="7784592" cy="81381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8848" y="1095755"/>
              <a:ext cx="7246620" cy="75742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72084" y="1014983"/>
              <a:ext cx="7772400" cy="8016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72084" y="1014983"/>
              <a:ext cx="7772400" cy="802005"/>
            </a:xfrm>
            <a:custGeom>
              <a:avLst/>
              <a:gdLst/>
              <a:ahLst/>
              <a:cxnLst/>
              <a:rect l="l" t="t" r="r" b="b"/>
              <a:pathLst>
                <a:path w="7772400" h="802005">
                  <a:moveTo>
                    <a:pt x="0" y="133603"/>
                  </a:moveTo>
                  <a:lnTo>
                    <a:pt x="6811" y="91374"/>
                  </a:lnTo>
                  <a:lnTo>
                    <a:pt x="25777" y="54699"/>
                  </a:lnTo>
                  <a:lnTo>
                    <a:pt x="54699" y="25777"/>
                  </a:lnTo>
                  <a:lnTo>
                    <a:pt x="91374" y="6811"/>
                  </a:lnTo>
                  <a:lnTo>
                    <a:pt x="133603" y="0"/>
                  </a:lnTo>
                  <a:lnTo>
                    <a:pt x="7638796" y="0"/>
                  </a:lnTo>
                  <a:lnTo>
                    <a:pt x="7681025" y="6811"/>
                  </a:lnTo>
                  <a:lnTo>
                    <a:pt x="7717700" y="25777"/>
                  </a:lnTo>
                  <a:lnTo>
                    <a:pt x="7746622" y="54699"/>
                  </a:lnTo>
                  <a:lnTo>
                    <a:pt x="7765588" y="91374"/>
                  </a:lnTo>
                  <a:lnTo>
                    <a:pt x="7772400" y="133603"/>
                  </a:lnTo>
                  <a:lnTo>
                    <a:pt x="7772400" y="668019"/>
                  </a:lnTo>
                  <a:lnTo>
                    <a:pt x="7765588" y="710249"/>
                  </a:lnTo>
                  <a:lnTo>
                    <a:pt x="7746622" y="746924"/>
                  </a:lnTo>
                  <a:lnTo>
                    <a:pt x="7717700" y="775846"/>
                  </a:lnTo>
                  <a:lnTo>
                    <a:pt x="7681025" y="794812"/>
                  </a:lnTo>
                  <a:lnTo>
                    <a:pt x="7638796" y="801624"/>
                  </a:lnTo>
                  <a:lnTo>
                    <a:pt x="133603" y="801624"/>
                  </a:lnTo>
                  <a:lnTo>
                    <a:pt x="91374" y="794812"/>
                  </a:lnTo>
                  <a:lnTo>
                    <a:pt x="54699" y="775846"/>
                  </a:lnTo>
                  <a:lnTo>
                    <a:pt x="25777" y="746924"/>
                  </a:lnTo>
                  <a:lnTo>
                    <a:pt x="6811" y="710249"/>
                  </a:lnTo>
                  <a:lnTo>
                    <a:pt x="0" y="668019"/>
                  </a:lnTo>
                  <a:lnTo>
                    <a:pt x="0" y="133603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89533" y="1126997"/>
            <a:ext cx="6912609" cy="4811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Verdana"/>
                <a:cs typeface="Verdana"/>
              </a:rPr>
              <a:t>The DHCP </a:t>
            </a:r>
            <a:r>
              <a:rPr sz="1800" b="1" spc="-5" dirty="0">
                <a:latin typeface="Verdana"/>
                <a:cs typeface="Verdana"/>
              </a:rPr>
              <a:t>service needs to be managed to respond</a:t>
            </a:r>
            <a:r>
              <a:rPr sz="1800" b="1" spc="1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to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Verdana"/>
                <a:cs typeface="Verdana"/>
              </a:rPr>
              <a:t>network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changes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950">
              <a:latin typeface="Verdana"/>
              <a:cs typeface="Verdana"/>
            </a:endParaRPr>
          </a:p>
          <a:p>
            <a:pPr marL="2794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Verdana"/>
                <a:cs typeface="Verdana"/>
              </a:rPr>
              <a:t>Scenarios for managing</a:t>
            </a:r>
            <a:r>
              <a:rPr sz="1800" b="1" dirty="0">
                <a:latin typeface="Verdana"/>
                <a:cs typeface="Verdana"/>
              </a:rPr>
              <a:t> DHCP:</a:t>
            </a:r>
            <a:endParaRPr sz="1800">
              <a:latin typeface="Verdana"/>
              <a:cs typeface="Verdana"/>
            </a:endParaRPr>
          </a:p>
          <a:p>
            <a:pPr marL="400050" indent="-229235">
              <a:lnSpc>
                <a:spcPct val="100000"/>
              </a:lnSpc>
              <a:spcBef>
                <a:spcPts val="1745"/>
              </a:spcBef>
              <a:buClr>
                <a:srgbClr val="006699"/>
              </a:buClr>
              <a:buFont typeface="Verdana"/>
              <a:buChar char="•"/>
              <a:tabLst>
                <a:tab pos="400685" algn="l"/>
              </a:tabLst>
            </a:pPr>
            <a:r>
              <a:rPr sz="1800" b="1" spc="-5" dirty="0">
                <a:latin typeface="Verdana"/>
                <a:cs typeface="Verdana"/>
              </a:rPr>
              <a:t>Managing </a:t>
            </a:r>
            <a:r>
              <a:rPr sz="1800" b="1" dirty="0">
                <a:latin typeface="Verdana"/>
                <a:cs typeface="Verdana"/>
              </a:rPr>
              <a:t>DHCP </a:t>
            </a:r>
            <a:r>
              <a:rPr sz="1800" b="1" spc="-5" dirty="0">
                <a:latin typeface="Verdana"/>
                <a:cs typeface="Verdana"/>
              </a:rPr>
              <a:t>database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growth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006699"/>
              </a:buClr>
              <a:buFont typeface="Verdana"/>
              <a:buChar char="•"/>
            </a:pPr>
            <a:endParaRPr sz="2150">
              <a:latin typeface="Verdana"/>
              <a:cs typeface="Verdana"/>
            </a:endParaRPr>
          </a:p>
          <a:p>
            <a:pPr marL="400050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400685" algn="l"/>
              </a:tabLst>
            </a:pPr>
            <a:r>
              <a:rPr sz="1800" b="1" spc="-5" dirty="0">
                <a:latin typeface="Verdana"/>
                <a:cs typeface="Verdana"/>
              </a:rPr>
              <a:t>Protecting </a:t>
            </a:r>
            <a:r>
              <a:rPr sz="1800" b="1" dirty="0">
                <a:latin typeface="Verdana"/>
                <a:cs typeface="Verdana"/>
              </a:rPr>
              <a:t>the DHCP</a:t>
            </a:r>
            <a:r>
              <a:rPr sz="1800" b="1" spc="3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database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006699"/>
              </a:buClr>
              <a:buFont typeface="Verdana"/>
              <a:buChar char="•"/>
            </a:pPr>
            <a:endParaRPr sz="2150">
              <a:latin typeface="Verdana"/>
              <a:cs typeface="Verdana"/>
            </a:endParaRPr>
          </a:p>
          <a:p>
            <a:pPr marL="400050" indent="-229235">
              <a:lnSpc>
                <a:spcPct val="100000"/>
              </a:lnSpc>
              <a:spcBef>
                <a:spcPts val="5"/>
              </a:spcBef>
              <a:buClr>
                <a:srgbClr val="006699"/>
              </a:buClr>
              <a:buFont typeface="Verdana"/>
              <a:buChar char="•"/>
              <a:tabLst>
                <a:tab pos="400685" algn="l"/>
              </a:tabLst>
            </a:pPr>
            <a:r>
              <a:rPr sz="1800" b="1" spc="-5" dirty="0">
                <a:latin typeface="Verdana"/>
                <a:cs typeface="Verdana"/>
              </a:rPr>
              <a:t>Ensuring </a:t>
            </a:r>
            <a:r>
              <a:rPr sz="1800" b="1" dirty="0">
                <a:latin typeface="Verdana"/>
                <a:cs typeface="Verdana"/>
              </a:rPr>
              <a:t>DHCP </a:t>
            </a:r>
            <a:r>
              <a:rPr sz="1800" b="1" spc="-5" dirty="0">
                <a:latin typeface="Verdana"/>
                <a:cs typeface="Verdana"/>
              </a:rPr>
              <a:t>database</a:t>
            </a:r>
            <a:r>
              <a:rPr sz="1800" b="1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consistency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006699"/>
              </a:buClr>
              <a:buFont typeface="Verdana"/>
              <a:buChar char="•"/>
            </a:pPr>
            <a:endParaRPr sz="2100">
              <a:latin typeface="Verdana"/>
              <a:cs typeface="Verdana"/>
            </a:endParaRPr>
          </a:p>
          <a:p>
            <a:pPr marL="396875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397510" algn="l"/>
              </a:tabLst>
            </a:pPr>
            <a:r>
              <a:rPr sz="1800" b="1" spc="-5" dirty="0">
                <a:latin typeface="Verdana"/>
                <a:cs typeface="Verdana"/>
              </a:rPr>
              <a:t>Adding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clients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006699"/>
              </a:buClr>
              <a:buFont typeface="Verdana"/>
              <a:buChar char="•"/>
            </a:pPr>
            <a:endParaRPr sz="2050">
              <a:latin typeface="Verdana"/>
              <a:cs typeface="Verdana"/>
            </a:endParaRPr>
          </a:p>
          <a:p>
            <a:pPr marL="409575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410209" algn="l"/>
              </a:tabLst>
            </a:pPr>
            <a:r>
              <a:rPr sz="1800" b="1" spc="-5" dirty="0">
                <a:latin typeface="Verdana"/>
                <a:cs typeface="Verdana"/>
              </a:rPr>
              <a:t>Adding new network service</a:t>
            </a:r>
            <a:r>
              <a:rPr sz="1800" b="1" spc="4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servers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006699"/>
              </a:buClr>
              <a:buFont typeface="Verdana"/>
              <a:buChar char="•"/>
            </a:pPr>
            <a:endParaRPr sz="2100">
              <a:latin typeface="Verdana"/>
              <a:cs typeface="Verdana"/>
            </a:endParaRPr>
          </a:p>
          <a:p>
            <a:pPr marL="406400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407034" algn="l"/>
              </a:tabLst>
            </a:pPr>
            <a:r>
              <a:rPr sz="1800" b="1" spc="-5" dirty="0">
                <a:latin typeface="Verdana"/>
                <a:cs typeface="Verdana"/>
              </a:rPr>
              <a:t>Adding new</a:t>
            </a:r>
            <a:r>
              <a:rPr sz="1800" b="1" spc="1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subnets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54571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DHCP </a:t>
            </a:r>
            <a:r>
              <a:rPr spc="-5" dirty="0"/>
              <a:t>Server </a:t>
            </a:r>
            <a:r>
              <a:rPr spc="-10" dirty="0"/>
              <a:t>Configuration</a:t>
            </a:r>
            <a:r>
              <a:rPr spc="70" dirty="0"/>
              <a:t> </a:t>
            </a:r>
            <a:r>
              <a:rPr spc="-5" dirty="0"/>
              <a:t>Options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14827" y="1616963"/>
            <a:ext cx="3876040" cy="4287520"/>
            <a:chOff x="2814827" y="1616963"/>
            <a:chExt cx="3876040" cy="4287520"/>
          </a:xfrm>
        </p:grpSpPr>
        <p:sp>
          <p:nvSpPr>
            <p:cNvPr id="4" name="object 4"/>
            <p:cNvSpPr/>
            <p:nvPr/>
          </p:nvSpPr>
          <p:spPr>
            <a:xfrm>
              <a:off x="2814827" y="1636775"/>
              <a:ext cx="3848100" cy="4267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52927" y="1616963"/>
              <a:ext cx="3837432" cy="426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23971" y="1636775"/>
              <a:ext cx="3857244" cy="425805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52927" y="1627631"/>
              <a:ext cx="3828288" cy="425653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8028431" y="6257544"/>
            <a:ext cx="928369" cy="439420"/>
            <a:chOff x="8028431" y="6257544"/>
            <a:chExt cx="928369" cy="439420"/>
          </a:xfrm>
        </p:grpSpPr>
        <p:sp>
          <p:nvSpPr>
            <p:cNvPr id="9" name="object 9"/>
            <p:cNvSpPr/>
            <p:nvPr/>
          </p:nvSpPr>
          <p:spPr>
            <a:xfrm>
              <a:off x="8039099" y="6268212"/>
              <a:ext cx="917448" cy="42824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28431" y="6257544"/>
              <a:ext cx="914400" cy="4251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206739" y="6390132"/>
              <a:ext cx="188975" cy="17983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225027" y="6384036"/>
              <a:ext cx="176783" cy="16764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20455" y="6379464"/>
              <a:ext cx="185927" cy="17678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516111" y="6348984"/>
              <a:ext cx="304800" cy="24384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589263" y="6417564"/>
              <a:ext cx="134111" cy="13411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07551" y="6411468"/>
              <a:ext cx="121920" cy="12191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607551" y="6411468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121919"/>
                  </a:moveTo>
                  <a:lnTo>
                    <a:pt x="121920" y="121919"/>
                  </a:lnTo>
                  <a:lnTo>
                    <a:pt x="121920" y="0"/>
                  </a:lnTo>
                  <a:lnTo>
                    <a:pt x="0" y="0"/>
                  </a:lnTo>
                  <a:lnTo>
                    <a:pt x="0" y="121919"/>
                  </a:lnTo>
                  <a:close/>
                </a:path>
              </a:pathLst>
            </a:custGeom>
            <a:ln w="9144">
              <a:solidFill>
                <a:srgbClr val="666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41871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</a:t>
            </a:r>
            <a:r>
              <a:rPr spc="-10" dirty="0"/>
              <a:t>Is </a:t>
            </a:r>
            <a:r>
              <a:rPr dirty="0"/>
              <a:t>a DHCP</a:t>
            </a:r>
            <a:r>
              <a:rPr spc="-25" dirty="0"/>
              <a:t> </a:t>
            </a:r>
            <a:r>
              <a:rPr spc="-5" dirty="0"/>
              <a:t>Database?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19100" y="3517391"/>
            <a:ext cx="8305800" cy="626745"/>
            <a:chOff x="419100" y="3517391"/>
            <a:chExt cx="8305800" cy="626745"/>
          </a:xfrm>
        </p:grpSpPr>
        <p:sp>
          <p:nvSpPr>
            <p:cNvPr id="4" name="object 4"/>
            <p:cNvSpPr/>
            <p:nvPr/>
          </p:nvSpPr>
          <p:spPr>
            <a:xfrm>
              <a:off x="423672" y="3521963"/>
              <a:ext cx="8296909" cy="617220"/>
            </a:xfrm>
            <a:custGeom>
              <a:avLst/>
              <a:gdLst/>
              <a:ahLst/>
              <a:cxnLst/>
              <a:rect l="l" t="t" r="r" b="b"/>
              <a:pathLst>
                <a:path w="8296909" h="617220">
                  <a:moveTo>
                    <a:pt x="8270875" y="0"/>
                  </a:moveTo>
                  <a:lnTo>
                    <a:pt x="25717" y="0"/>
                  </a:lnTo>
                  <a:lnTo>
                    <a:pt x="15709" y="2028"/>
                  </a:lnTo>
                  <a:lnTo>
                    <a:pt x="7534" y="7556"/>
                  </a:lnTo>
                  <a:lnTo>
                    <a:pt x="2021" y="15751"/>
                  </a:lnTo>
                  <a:lnTo>
                    <a:pt x="0" y="25781"/>
                  </a:lnTo>
                  <a:lnTo>
                    <a:pt x="0" y="591438"/>
                  </a:lnTo>
                  <a:lnTo>
                    <a:pt x="2021" y="601468"/>
                  </a:lnTo>
                  <a:lnTo>
                    <a:pt x="7534" y="609663"/>
                  </a:lnTo>
                  <a:lnTo>
                    <a:pt x="15709" y="615191"/>
                  </a:lnTo>
                  <a:lnTo>
                    <a:pt x="25717" y="617219"/>
                  </a:lnTo>
                  <a:lnTo>
                    <a:pt x="8270875" y="617219"/>
                  </a:lnTo>
                  <a:lnTo>
                    <a:pt x="8280904" y="615191"/>
                  </a:lnTo>
                  <a:lnTo>
                    <a:pt x="8289099" y="609663"/>
                  </a:lnTo>
                  <a:lnTo>
                    <a:pt x="8294627" y="601468"/>
                  </a:lnTo>
                  <a:lnTo>
                    <a:pt x="8296656" y="591438"/>
                  </a:lnTo>
                  <a:lnTo>
                    <a:pt x="8296656" y="25781"/>
                  </a:lnTo>
                  <a:lnTo>
                    <a:pt x="8294627" y="15751"/>
                  </a:lnTo>
                  <a:lnTo>
                    <a:pt x="8289099" y="7556"/>
                  </a:lnTo>
                  <a:lnTo>
                    <a:pt x="8280904" y="2028"/>
                  </a:lnTo>
                  <a:lnTo>
                    <a:pt x="8270875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23672" y="3521963"/>
              <a:ext cx="8296909" cy="617220"/>
            </a:xfrm>
            <a:custGeom>
              <a:avLst/>
              <a:gdLst/>
              <a:ahLst/>
              <a:cxnLst/>
              <a:rect l="l" t="t" r="r" b="b"/>
              <a:pathLst>
                <a:path w="8296909" h="617220">
                  <a:moveTo>
                    <a:pt x="0" y="25781"/>
                  </a:moveTo>
                  <a:lnTo>
                    <a:pt x="2021" y="15751"/>
                  </a:lnTo>
                  <a:lnTo>
                    <a:pt x="7534" y="7556"/>
                  </a:lnTo>
                  <a:lnTo>
                    <a:pt x="15709" y="2028"/>
                  </a:lnTo>
                  <a:lnTo>
                    <a:pt x="25717" y="0"/>
                  </a:lnTo>
                  <a:lnTo>
                    <a:pt x="8270875" y="0"/>
                  </a:lnTo>
                  <a:lnTo>
                    <a:pt x="8280904" y="2028"/>
                  </a:lnTo>
                  <a:lnTo>
                    <a:pt x="8289099" y="7556"/>
                  </a:lnTo>
                  <a:lnTo>
                    <a:pt x="8294627" y="15751"/>
                  </a:lnTo>
                  <a:lnTo>
                    <a:pt x="8296656" y="25781"/>
                  </a:lnTo>
                  <a:lnTo>
                    <a:pt x="8296656" y="591438"/>
                  </a:lnTo>
                  <a:lnTo>
                    <a:pt x="8294627" y="601468"/>
                  </a:lnTo>
                  <a:lnTo>
                    <a:pt x="8289099" y="609663"/>
                  </a:lnTo>
                  <a:lnTo>
                    <a:pt x="8280904" y="615191"/>
                  </a:lnTo>
                  <a:lnTo>
                    <a:pt x="8270875" y="617219"/>
                  </a:lnTo>
                  <a:lnTo>
                    <a:pt x="25717" y="617219"/>
                  </a:lnTo>
                  <a:lnTo>
                    <a:pt x="15709" y="615191"/>
                  </a:lnTo>
                  <a:lnTo>
                    <a:pt x="7534" y="609663"/>
                  </a:lnTo>
                  <a:lnTo>
                    <a:pt x="2021" y="601468"/>
                  </a:lnTo>
                  <a:lnTo>
                    <a:pt x="0" y="591438"/>
                  </a:lnTo>
                  <a:lnTo>
                    <a:pt x="0" y="25781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419100" y="4267200"/>
            <a:ext cx="8305800" cy="2005964"/>
            <a:chOff x="419100" y="4267200"/>
            <a:chExt cx="8305800" cy="2005964"/>
          </a:xfrm>
        </p:grpSpPr>
        <p:sp>
          <p:nvSpPr>
            <p:cNvPr id="7" name="object 7"/>
            <p:cNvSpPr/>
            <p:nvPr/>
          </p:nvSpPr>
          <p:spPr>
            <a:xfrm>
              <a:off x="423672" y="4271772"/>
              <a:ext cx="8296909" cy="1996439"/>
            </a:xfrm>
            <a:custGeom>
              <a:avLst/>
              <a:gdLst/>
              <a:ahLst/>
              <a:cxnLst/>
              <a:rect l="l" t="t" r="r" b="b"/>
              <a:pathLst>
                <a:path w="8296909" h="1996439">
                  <a:moveTo>
                    <a:pt x="8213471" y="0"/>
                  </a:moveTo>
                  <a:lnTo>
                    <a:pt x="83197" y="0"/>
                  </a:lnTo>
                  <a:lnTo>
                    <a:pt x="50813" y="6532"/>
                  </a:lnTo>
                  <a:lnTo>
                    <a:pt x="24368" y="24352"/>
                  </a:lnTo>
                  <a:lnTo>
                    <a:pt x="6538" y="50792"/>
                  </a:lnTo>
                  <a:lnTo>
                    <a:pt x="0" y="83184"/>
                  </a:lnTo>
                  <a:lnTo>
                    <a:pt x="0" y="1913242"/>
                  </a:lnTo>
                  <a:lnTo>
                    <a:pt x="6538" y="1945626"/>
                  </a:lnTo>
                  <a:lnTo>
                    <a:pt x="24368" y="1972071"/>
                  </a:lnTo>
                  <a:lnTo>
                    <a:pt x="50813" y="1989901"/>
                  </a:lnTo>
                  <a:lnTo>
                    <a:pt x="83197" y="1996439"/>
                  </a:lnTo>
                  <a:lnTo>
                    <a:pt x="8213471" y="1996439"/>
                  </a:lnTo>
                  <a:lnTo>
                    <a:pt x="8245863" y="1989901"/>
                  </a:lnTo>
                  <a:lnTo>
                    <a:pt x="8272303" y="1972071"/>
                  </a:lnTo>
                  <a:lnTo>
                    <a:pt x="8290123" y="1945626"/>
                  </a:lnTo>
                  <a:lnTo>
                    <a:pt x="8296656" y="1913242"/>
                  </a:lnTo>
                  <a:lnTo>
                    <a:pt x="8296656" y="83184"/>
                  </a:lnTo>
                  <a:lnTo>
                    <a:pt x="8290123" y="50792"/>
                  </a:lnTo>
                  <a:lnTo>
                    <a:pt x="8272303" y="24352"/>
                  </a:lnTo>
                  <a:lnTo>
                    <a:pt x="8245863" y="6532"/>
                  </a:lnTo>
                  <a:lnTo>
                    <a:pt x="8213471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3672" y="4271772"/>
              <a:ext cx="8296909" cy="1996439"/>
            </a:xfrm>
            <a:custGeom>
              <a:avLst/>
              <a:gdLst/>
              <a:ahLst/>
              <a:cxnLst/>
              <a:rect l="l" t="t" r="r" b="b"/>
              <a:pathLst>
                <a:path w="8296909" h="1996439">
                  <a:moveTo>
                    <a:pt x="0" y="83184"/>
                  </a:moveTo>
                  <a:lnTo>
                    <a:pt x="6538" y="50792"/>
                  </a:lnTo>
                  <a:lnTo>
                    <a:pt x="24368" y="24352"/>
                  </a:lnTo>
                  <a:lnTo>
                    <a:pt x="50813" y="6532"/>
                  </a:lnTo>
                  <a:lnTo>
                    <a:pt x="83197" y="0"/>
                  </a:lnTo>
                  <a:lnTo>
                    <a:pt x="8213471" y="0"/>
                  </a:lnTo>
                  <a:lnTo>
                    <a:pt x="8245863" y="6532"/>
                  </a:lnTo>
                  <a:lnTo>
                    <a:pt x="8272303" y="24352"/>
                  </a:lnTo>
                  <a:lnTo>
                    <a:pt x="8290123" y="50792"/>
                  </a:lnTo>
                  <a:lnTo>
                    <a:pt x="8296656" y="83184"/>
                  </a:lnTo>
                  <a:lnTo>
                    <a:pt x="8296656" y="1913242"/>
                  </a:lnTo>
                  <a:lnTo>
                    <a:pt x="8290123" y="1945626"/>
                  </a:lnTo>
                  <a:lnTo>
                    <a:pt x="8272303" y="1972071"/>
                  </a:lnTo>
                  <a:lnTo>
                    <a:pt x="8245863" y="1989901"/>
                  </a:lnTo>
                  <a:lnTo>
                    <a:pt x="8213471" y="1996439"/>
                  </a:lnTo>
                  <a:lnTo>
                    <a:pt x="83197" y="1996439"/>
                  </a:lnTo>
                  <a:lnTo>
                    <a:pt x="50813" y="1989901"/>
                  </a:lnTo>
                  <a:lnTo>
                    <a:pt x="24368" y="1972071"/>
                  </a:lnTo>
                  <a:lnTo>
                    <a:pt x="6538" y="1945626"/>
                  </a:lnTo>
                  <a:lnTo>
                    <a:pt x="0" y="1913242"/>
                  </a:lnTo>
                  <a:lnTo>
                    <a:pt x="0" y="83184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72212" y="911352"/>
            <a:ext cx="8825865" cy="844550"/>
            <a:chOff x="172212" y="911352"/>
            <a:chExt cx="8825865" cy="844550"/>
          </a:xfrm>
        </p:grpSpPr>
        <p:sp>
          <p:nvSpPr>
            <p:cNvPr id="10" name="object 10"/>
            <p:cNvSpPr/>
            <p:nvPr/>
          </p:nvSpPr>
          <p:spPr>
            <a:xfrm>
              <a:off x="196596" y="935736"/>
              <a:ext cx="8801100" cy="81381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3548" y="998220"/>
              <a:ext cx="7563611" cy="75742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6784" y="915924"/>
              <a:ext cx="8788908" cy="8016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6784" y="915924"/>
              <a:ext cx="8789035" cy="802005"/>
            </a:xfrm>
            <a:custGeom>
              <a:avLst/>
              <a:gdLst/>
              <a:ahLst/>
              <a:cxnLst/>
              <a:rect l="l" t="t" r="r" b="b"/>
              <a:pathLst>
                <a:path w="8789035" h="802005">
                  <a:moveTo>
                    <a:pt x="0" y="133603"/>
                  </a:moveTo>
                  <a:lnTo>
                    <a:pt x="6811" y="91374"/>
                  </a:lnTo>
                  <a:lnTo>
                    <a:pt x="25777" y="54699"/>
                  </a:lnTo>
                  <a:lnTo>
                    <a:pt x="54699" y="25777"/>
                  </a:lnTo>
                  <a:lnTo>
                    <a:pt x="91374" y="6811"/>
                  </a:lnTo>
                  <a:lnTo>
                    <a:pt x="133604" y="0"/>
                  </a:lnTo>
                  <a:lnTo>
                    <a:pt x="8655304" y="0"/>
                  </a:lnTo>
                  <a:lnTo>
                    <a:pt x="8697533" y="6811"/>
                  </a:lnTo>
                  <a:lnTo>
                    <a:pt x="8734208" y="25777"/>
                  </a:lnTo>
                  <a:lnTo>
                    <a:pt x="8763130" y="54699"/>
                  </a:lnTo>
                  <a:lnTo>
                    <a:pt x="8782096" y="91374"/>
                  </a:lnTo>
                  <a:lnTo>
                    <a:pt x="8788908" y="133603"/>
                  </a:lnTo>
                  <a:lnTo>
                    <a:pt x="8788908" y="668020"/>
                  </a:lnTo>
                  <a:lnTo>
                    <a:pt x="8782096" y="710249"/>
                  </a:lnTo>
                  <a:lnTo>
                    <a:pt x="8763130" y="746924"/>
                  </a:lnTo>
                  <a:lnTo>
                    <a:pt x="8734208" y="775846"/>
                  </a:lnTo>
                  <a:lnTo>
                    <a:pt x="8697533" y="794812"/>
                  </a:lnTo>
                  <a:lnTo>
                    <a:pt x="8655304" y="801624"/>
                  </a:lnTo>
                  <a:lnTo>
                    <a:pt x="133604" y="801624"/>
                  </a:lnTo>
                  <a:lnTo>
                    <a:pt x="91374" y="794812"/>
                  </a:lnTo>
                  <a:lnTo>
                    <a:pt x="54699" y="775846"/>
                  </a:lnTo>
                  <a:lnTo>
                    <a:pt x="25777" y="746924"/>
                  </a:lnTo>
                  <a:lnTo>
                    <a:pt x="6811" y="710249"/>
                  </a:lnTo>
                  <a:lnTo>
                    <a:pt x="0" y="668020"/>
                  </a:lnTo>
                  <a:lnTo>
                    <a:pt x="0" y="133603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400811" y="1991867"/>
            <a:ext cx="8304530" cy="1397635"/>
            <a:chOff x="400811" y="1991867"/>
            <a:chExt cx="8304530" cy="1397635"/>
          </a:xfrm>
        </p:grpSpPr>
        <p:sp>
          <p:nvSpPr>
            <p:cNvPr id="15" name="object 15"/>
            <p:cNvSpPr/>
            <p:nvPr/>
          </p:nvSpPr>
          <p:spPr>
            <a:xfrm>
              <a:off x="405383" y="1996439"/>
              <a:ext cx="8295640" cy="1388745"/>
            </a:xfrm>
            <a:custGeom>
              <a:avLst/>
              <a:gdLst/>
              <a:ahLst/>
              <a:cxnLst/>
              <a:rect l="l" t="t" r="r" b="b"/>
              <a:pathLst>
                <a:path w="8295640" h="1388745">
                  <a:moveTo>
                    <a:pt x="8237220" y="0"/>
                  </a:moveTo>
                  <a:lnTo>
                    <a:pt x="57848" y="0"/>
                  </a:lnTo>
                  <a:lnTo>
                    <a:pt x="35329" y="4548"/>
                  </a:lnTo>
                  <a:lnTo>
                    <a:pt x="16941" y="16954"/>
                  </a:lnTo>
                  <a:lnTo>
                    <a:pt x="4545" y="35361"/>
                  </a:lnTo>
                  <a:lnTo>
                    <a:pt x="0" y="57912"/>
                  </a:lnTo>
                  <a:lnTo>
                    <a:pt x="0" y="1330452"/>
                  </a:lnTo>
                  <a:lnTo>
                    <a:pt x="4545" y="1353002"/>
                  </a:lnTo>
                  <a:lnTo>
                    <a:pt x="16941" y="1371409"/>
                  </a:lnTo>
                  <a:lnTo>
                    <a:pt x="35329" y="1383815"/>
                  </a:lnTo>
                  <a:lnTo>
                    <a:pt x="57848" y="1388364"/>
                  </a:lnTo>
                  <a:lnTo>
                    <a:pt x="8237220" y="1388364"/>
                  </a:lnTo>
                  <a:lnTo>
                    <a:pt x="8259770" y="1383815"/>
                  </a:lnTo>
                  <a:lnTo>
                    <a:pt x="8278177" y="1371409"/>
                  </a:lnTo>
                  <a:lnTo>
                    <a:pt x="8290583" y="1353002"/>
                  </a:lnTo>
                  <a:lnTo>
                    <a:pt x="8295132" y="1330452"/>
                  </a:lnTo>
                  <a:lnTo>
                    <a:pt x="8295132" y="57912"/>
                  </a:lnTo>
                  <a:lnTo>
                    <a:pt x="8290583" y="35361"/>
                  </a:lnTo>
                  <a:lnTo>
                    <a:pt x="8278177" y="16954"/>
                  </a:lnTo>
                  <a:lnTo>
                    <a:pt x="8259770" y="4548"/>
                  </a:lnTo>
                  <a:lnTo>
                    <a:pt x="8237220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05383" y="1996439"/>
              <a:ext cx="8295640" cy="1388745"/>
            </a:xfrm>
            <a:custGeom>
              <a:avLst/>
              <a:gdLst/>
              <a:ahLst/>
              <a:cxnLst/>
              <a:rect l="l" t="t" r="r" b="b"/>
              <a:pathLst>
                <a:path w="8295640" h="1388745">
                  <a:moveTo>
                    <a:pt x="0" y="57912"/>
                  </a:moveTo>
                  <a:lnTo>
                    <a:pt x="4545" y="35361"/>
                  </a:lnTo>
                  <a:lnTo>
                    <a:pt x="16941" y="16954"/>
                  </a:lnTo>
                  <a:lnTo>
                    <a:pt x="35329" y="4548"/>
                  </a:lnTo>
                  <a:lnTo>
                    <a:pt x="57848" y="0"/>
                  </a:lnTo>
                  <a:lnTo>
                    <a:pt x="8237220" y="0"/>
                  </a:lnTo>
                  <a:lnTo>
                    <a:pt x="8259770" y="4548"/>
                  </a:lnTo>
                  <a:lnTo>
                    <a:pt x="8278177" y="16954"/>
                  </a:lnTo>
                  <a:lnTo>
                    <a:pt x="8290583" y="35361"/>
                  </a:lnTo>
                  <a:lnTo>
                    <a:pt x="8295132" y="57912"/>
                  </a:lnTo>
                  <a:lnTo>
                    <a:pt x="8295132" y="1330452"/>
                  </a:lnTo>
                  <a:lnTo>
                    <a:pt x="8290583" y="1353002"/>
                  </a:lnTo>
                  <a:lnTo>
                    <a:pt x="8278177" y="1371409"/>
                  </a:lnTo>
                  <a:lnTo>
                    <a:pt x="8259770" y="1383815"/>
                  </a:lnTo>
                  <a:lnTo>
                    <a:pt x="8237220" y="1388364"/>
                  </a:lnTo>
                  <a:lnTo>
                    <a:pt x="57848" y="1388364"/>
                  </a:lnTo>
                  <a:lnTo>
                    <a:pt x="35329" y="1383815"/>
                  </a:lnTo>
                  <a:lnTo>
                    <a:pt x="16941" y="1371409"/>
                  </a:lnTo>
                  <a:lnTo>
                    <a:pt x="4545" y="1353002"/>
                  </a:lnTo>
                  <a:lnTo>
                    <a:pt x="0" y="1330452"/>
                  </a:lnTo>
                  <a:lnTo>
                    <a:pt x="0" y="57912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94233" y="1028446"/>
            <a:ext cx="7617459" cy="5155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Verdana"/>
                <a:cs typeface="Verdana"/>
              </a:rPr>
              <a:t>The </a:t>
            </a:r>
            <a:r>
              <a:rPr sz="1800" b="1" i="1" dirty="0">
                <a:latin typeface="Verdana"/>
                <a:cs typeface="Verdana"/>
              </a:rPr>
              <a:t>DHCP </a:t>
            </a:r>
            <a:r>
              <a:rPr sz="1800" b="1" i="1" spc="-5" dirty="0">
                <a:latin typeface="Verdana"/>
                <a:cs typeface="Verdana"/>
              </a:rPr>
              <a:t>database </a:t>
            </a:r>
            <a:r>
              <a:rPr sz="1800" b="1" dirty="0">
                <a:latin typeface="Verdana"/>
                <a:cs typeface="Verdana"/>
              </a:rPr>
              <a:t>is a </a:t>
            </a:r>
            <a:r>
              <a:rPr sz="1800" b="1" spc="-5" dirty="0">
                <a:latin typeface="Verdana"/>
                <a:cs typeface="Verdana"/>
              </a:rPr>
              <a:t>dynamic database </a:t>
            </a:r>
            <a:r>
              <a:rPr sz="1800" b="1" dirty="0">
                <a:latin typeface="Verdana"/>
                <a:cs typeface="Verdana"/>
              </a:rPr>
              <a:t>that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10" dirty="0">
                <a:latin typeface="Verdana"/>
                <a:cs typeface="Verdana"/>
              </a:rPr>
              <a:t>contains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Verdana"/>
                <a:cs typeface="Verdana"/>
              </a:rPr>
              <a:t>configuration</a:t>
            </a:r>
            <a:r>
              <a:rPr sz="1800" b="1" spc="2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information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150">
              <a:latin typeface="Verdana"/>
              <a:cs typeface="Verdana"/>
            </a:endParaRPr>
          </a:p>
          <a:p>
            <a:pPr marL="447040" indent="-229235">
              <a:lnSpc>
                <a:spcPct val="100000"/>
              </a:lnSpc>
              <a:spcBef>
                <a:spcPts val="5"/>
              </a:spcBef>
              <a:buClr>
                <a:srgbClr val="006699"/>
              </a:buClr>
              <a:buFont typeface="Verdana"/>
              <a:buChar char="•"/>
              <a:tabLst>
                <a:tab pos="447675" algn="l"/>
              </a:tabLst>
            </a:pPr>
            <a:r>
              <a:rPr sz="1600" b="1" spc="-5" dirty="0">
                <a:latin typeface="Verdana"/>
                <a:cs typeface="Verdana"/>
              </a:rPr>
              <a:t>The </a:t>
            </a:r>
            <a:r>
              <a:rPr sz="1600" b="1" spc="-10" dirty="0">
                <a:latin typeface="Verdana"/>
                <a:cs typeface="Verdana"/>
              </a:rPr>
              <a:t>DHCP </a:t>
            </a:r>
            <a:r>
              <a:rPr sz="1600" b="1" spc="-5" dirty="0">
                <a:latin typeface="Verdana"/>
                <a:cs typeface="Verdana"/>
              </a:rPr>
              <a:t>database contains </a:t>
            </a:r>
            <a:r>
              <a:rPr sz="1600" b="1" spc="-10" dirty="0">
                <a:latin typeface="Verdana"/>
                <a:cs typeface="Verdana"/>
              </a:rPr>
              <a:t>DHCP configuration </a:t>
            </a:r>
            <a:r>
              <a:rPr sz="1600" b="1" spc="-5" dirty="0">
                <a:latin typeface="Verdana"/>
                <a:cs typeface="Verdana"/>
              </a:rPr>
              <a:t>data </a:t>
            </a:r>
            <a:r>
              <a:rPr sz="1600" b="1" spc="-10" dirty="0">
                <a:latin typeface="Verdana"/>
                <a:cs typeface="Verdana"/>
              </a:rPr>
              <a:t>such</a:t>
            </a:r>
            <a:r>
              <a:rPr sz="1600" b="1" spc="215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as:</a:t>
            </a:r>
            <a:endParaRPr sz="1600">
              <a:latin typeface="Verdana"/>
              <a:cs typeface="Verdana"/>
            </a:endParaRPr>
          </a:p>
          <a:p>
            <a:pPr marL="910590" lvl="1" indent="-235585">
              <a:lnSpc>
                <a:spcPct val="100000"/>
              </a:lnSpc>
              <a:spcBef>
                <a:spcPts val="575"/>
              </a:spcBef>
              <a:buClr>
                <a:srgbClr val="006699"/>
              </a:buClr>
              <a:buChar char="•"/>
              <a:tabLst>
                <a:tab pos="911225" algn="l"/>
              </a:tabLst>
            </a:pPr>
            <a:r>
              <a:rPr sz="1600" spc="-5" dirty="0">
                <a:latin typeface="Verdana"/>
                <a:cs typeface="Verdana"/>
              </a:rPr>
              <a:t>Scopes</a:t>
            </a:r>
            <a:endParaRPr sz="1600">
              <a:latin typeface="Verdana"/>
              <a:cs typeface="Verdana"/>
            </a:endParaRPr>
          </a:p>
          <a:p>
            <a:pPr marL="910590" lvl="1" indent="-235585">
              <a:lnSpc>
                <a:spcPct val="100000"/>
              </a:lnSpc>
              <a:spcBef>
                <a:spcPts val="575"/>
              </a:spcBef>
              <a:buClr>
                <a:srgbClr val="006699"/>
              </a:buClr>
              <a:buChar char="•"/>
              <a:tabLst>
                <a:tab pos="911225" algn="l"/>
              </a:tabLst>
            </a:pPr>
            <a:r>
              <a:rPr sz="1600" spc="-5" dirty="0">
                <a:latin typeface="Verdana"/>
                <a:cs typeface="Verdana"/>
              </a:rPr>
              <a:t>Address</a:t>
            </a:r>
            <a:r>
              <a:rPr sz="1600" spc="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leases</a:t>
            </a:r>
            <a:endParaRPr sz="1600">
              <a:latin typeface="Verdana"/>
              <a:cs typeface="Verdana"/>
            </a:endParaRPr>
          </a:p>
          <a:p>
            <a:pPr marL="910590" lvl="1" indent="-235585">
              <a:lnSpc>
                <a:spcPct val="100000"/>
              </a:lnSpc>
              <a:spcBef>
                <a:spcPts val="575"/>
              </a:spcBef>
              <a:buClr>
                <a:srgbClr val="006699"/>
              </a:buClr>
              <a:buChar char="•"/>
              <a:tabLst>
                <a:tab pos="911225" algn="l"/>
              </a:tabLst>
            </a:pPr>
            <a:r>
              <a:rPr sz="1600" spc="-15" dirty="0">
                <a:latin typeface="Verdana"/>
                <a:cs typeface="Verdana"/>
              </a:rPr>
              <a:t>Reservations</a:t>
            </a:r>
            <a:endParaRPr sz="16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006699"/>
              </a:buClr>
              <a:buFont typeface="Verdana"/>
              <a:buChar char="•"/>
            </a:pPr>
            <a:endParaRPr sz="2000">
              <a:latin typeface="Verdana"/>
              <a:cs typeface="Verdana"/>
            </a:endParaRPr>
          </a:p>
          <a:p>
            <a:pPr marL="457200" indent="-229235">
              <a:lnSpc>
                <a:spcPts val="1825"/>
              </a:lnSpc>
              <a:buClr>
                <a:srgbClr val="006699"/>
              </a:buClr>
              <a:buFont typeface="Verdana"/>
              <a:buChar char="•"/>
              <a:tabLst>
                <a:tab pos="457834" algn="l"/>
              </a:tabLst>
            </a:pPr>
            <a:r>
              <a:rPr sz="1600" b="1" spc="-10" dirty="0">
                <a:latin typeface="Verdana"/>
                <a:cs typeface="Verdana"/>
              </a:rPr>
              <a:t>Windows Server </a:t>
            </a:r>
            <a:r>
              <a:rPr sz="1600" b="1" spc="-5" dirty="0">
                <a:latin typeface="Verdana"/>
                <a:cs typeface="Verdana"/>
              </a:rPr>
              <a:t>2003 </a:t>
            </a:r>
            <a:r>
              <a:rPr sz="1600" b="1" spc="-10" dirty="0">
                <a:latin typeface="Verdana"/>
                <a:cs typeface="Verdana"/>
              </a:rPr>
              <a:t>stores </a:t>
            </a:r>
            <a:r>
              <a:rPr sz="1600" b="1" spc="-5" dirty="0">
                <a:latin typeface="Verdana"/>
                <a:cs typeface="Verdana"/>
              </a:rPr>
              <a:t>the </a:t>
            </a:r>
            <a:r>
              <a:rPr sz="1600" b="1" spc="-10" dirty="0">
                <a:latin typeface="Verdana"/>
                <a:cs typeface="Verdana"/>
              </a:rPr>
              <a:t>DHCP </a:t>
            </a:r>
            <a:r>
              <a:rPr sz="1600" b="1" spc="-5" dirty="0">
                <a:latin typeface="Verdana"/>
                <a:cs typeface="Verdana"/>
              </a:rPr>
              <a:t>database </a:t>
            </a:r>
            <a:r>
              <a:rPr sz="1600" b="1" spc="-10" dirty="0">
                <a:latin typeface="Verdana"/>
                <a:cs typeface="Verdana"/>
              </a:rPr>
              <a:t>in</a:t>
            </a:r>
            <a:r>
              <a:rPr sz="1600" b="1" spc="190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the</a:t>
            </a:r>
            <a:endParaRPr sz="1600">
              <a:latin typeface="Verdana"/>
              <a:cs typeface="Verdana"/>
            </a:endParaRPr>
          </a:p>
          <a:p>
            <a:pPr marL="457200">
              <a:lnSpc>
                <a:spcPts val="1825"/>
              </a:lnSpc>
            </a:pPr>
            <a:r>
              <a:rPr sz="1600" b="1" spc="-5" dirty="0">
                <a:latin typeface="Verdana"/>
                <a:cs typeface="Verdana"/>
              </a:rPr>
              <a:t>%Systemroot%\System32\Dhcp</a:t>
            </a:r>
            <a:r>
              <a:rPr sz="1600" b="1" spc="3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folder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850">
              <a:latin typeface="Verdana"/>
              <a:cs typeface="Verdana"/>
            </a:endParaRPr>
          </a:p>
          <a:p>
            <a:pPr marL="473709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474345" algn="l"/>
              </a:tabLst>
            </a:pPr>
            <a:r>
              <a:rPr sz="1600" b="1" spc="-5" dirty="0">
                <a:latin typeface="Verdana"/>
                <a:cs typeface="Verdana"/>
              </a:rPr>
              <a:t>The </a:t>
            </a:r>
            <a:r>
              <a:rPr sz="1600" b="1" spc="-10" dirty="0">
                <a:latin typeface="Verdana"/>
                <a:cs typeface="Verdana"/>
              </a:rPr>
              <a:t>DHCP </a:t>
            </a:r>
            <a:r>
              <a:rPr sz="1600" b="1" spc="-5" dirty="0">
                <a:latin typeface="Verdana"/>
                <a:cs typeface="Verdana"/>
              </a:rPr>
              <a:t>database </a:t>
            </a:r>
            <a:r>
              <a:rPr sz="1600" b="1" spc="-10" dirty="0">
                <a:latin typeface="Verdana"/>
                <a:cs typeface="Verdana"/>
              </a:rPr>
              <a:t>files</a:t>
            </a:r>
            <a:r>
              <a:rPr sz="1600" b="1" spc="9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include:</a:t>
            </a:r>
            <a:endParaRPr sz="1600">
              <a:latin typeface="Verdana"/>
              <a:cs typeface="Verdana"/>
            </a:endParaRPr>
          </a:p>
          <a:p>
            <a:pPr marL="822960" lvl="1" indent="-235585">
              <a:lnSpc>
                <a:spcPct val="100000"/>
              </a:lnSpc>
              <a:spcBef>
                <a:spcPts val="575"/>
              </a:spcBef>
              <a:buClr>
                <a:srgbClr val="006699"/>
              </a:buClr>
              <a:buChar char="•"/>
              <a:tabLst>
                <a:tab pos="823594" algn="l"/>
              </a:tabLst>
            </a:pPr>
            <a:r>
              <a:rPr sz="1600" spc="-10" dirty="0">
                <a:latin typeface="Verdana"/>
                <a:cs typeface="Verdana"/>
              </a:rPr>
              <a:t>Dhcp.mdb</a:t>
            </a:r>
            <a:endParaRPr sz="1600">
              <a:latin typeface="Verdana"/>
              <a:cs typeface="Verdana"/>
            </a:endParaRPr>
          </a:p>
          <a:p>
            <a:pPr marL="822960" lvl="1" indent="-235585">
              <a:lnSpc>
                <a:spcPct val="100000"/>
              </a:lnSpc>
              <a:spcBef>
                <a:spcPts val="580"/>
              </a:spcBef>
              <a:buClr>
                <a:srgbClr val="006699"/>
              </a:buClr>
              <a:buChar char="•"/>
              <a:tabLst>
                <a:tab pos="823594" algn="l"/>
              </a:tabLst>
            </a:pPr>
            <a:r>
              <a:rPr sz="1600" spc="-10" dirty="0">
                <a:latin typeface="Verdana"/>
                <a:cs typeface="Verdana"/>
              </a:rPr>
              <a:t>Dhcp.tmp</a:t>
            </a:r>
            <a:endParaRPr sz="1600">
              <a:latin typeface="Verdana"/>
              <a:cs typeface="Verdana"/>
            </a:endParaRPr>
          </a:p>
          <a:p>
            <a:pPr marL="822960" lvl="1" indent="-235585">
              <a:lnSpc>
                <a:spcPct val="100000"/>
              </a:lnSpc>
              <a:spcBef>
                <a:spcPts val="575"/>
              </a:spcBef>
              <a:buClr>
                <a:srgbClr val="006699"/>
              </a:buClr>
              <a:buChar char="•"/>
              <a:tabLst>
                <a:tab pos="823594" algn="l"/>
              </a:tabLst>
            </a:pPr>
            <a:r>
              <a:rPr sz="1600" spc="-10" dirty="0">
                <a:latin typeface="Verdana"/>
                <a:cs typeface="Verdana"/>
              </a:rPr>
              <a:t>J50.log </a:t>
            </a:r>
            <a:r>
              <a:rPr sz="1600" spc="-5" dirty="0">
                <a:latin typeface="Verdana"/>
                <a:cs typeface="Verdana"/>
              </a:rPr>
              <a:t>and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J50*.log</a:t>
            </a:r>
            <a:endParaRPr sz="1600">
              <a:latin typeface="Verdana"/>
              <a:cs typeface="Verdana"/>
            </a:endParaRPr>
          </a:p>
          <a:p>
            <a:pPr marL="822960" lvl="1" indent="-235585">
              <a:lnSpc>
                <a:spcPct val="100000"/>
              </a:lnSpc>
              <a:spcBef>
                <a:spcPts val="575"/>
              </a:spcBef>
              <a:buClr>
                <a:srgbClr val="006699"/>
              </a:buClr>
              <a:buChar char="•"/>
              <a:tabLst>
                <a:tab pos="823594" algn="l"/>
              </a:tabLst>
            </a:pPr>
            <a:r>
              <a:rPr sz="1600" spc="-15" dirty="0">
                <a:latin typeface="Verdana"/>
                <a:cs typeface="Verdana"/>
              </a:rPr>
              <a:t>Res*.log</a:t>
            </a:r>
            <a:endParaRPr sz="1600">
              <a:latin typeface="Verdana"/>
              <a:cs typeface="Verdana"/>
            </a:endParaRPr>
          </a:p>
          <a:p>
            <a:pPr marL="822960" lvl="1" indent="-235585">
              <a:lnSpc>
                <a:spcPct val="100000"/>
              </a:lnSpc>
              <a:spcBef>
                <a:spcPts val="575"/>
              </a:spcBef>
              <a:buClr>
                <a:srgbClr val="006699"/>
              </a:buClr>
              <a:buChar char="•"/>
              <a:tabLst>
                <a:tab pos="823594" algn="l"/>
              </a:tabLst>
            </a:pPr>
            <a:r>
              <a:rPr sz="1600" spc="-10" dirty="0">
                <a:latin typeface="Verdana"/>
                <a:cs typeface="Verdana"/>
              </a:rPr>
              <a:t>J50.chk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7758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How </a:t>
            </a:r>
            <a:r>
              <a:rPr dirty="0"/>
              <a:t>a DHCP </a:t>
            </a:r>
            <a:r>
              <a:rPr spc="-5" dirty="0"/>
              <a:t>Database </a:t>
            </a:r>
            <a:r>
              <a:rPr spc="-10" dirty="0"/>
              <a:t>Is </a:t>
            </a:r>
            <a:r>
              <a:rPr spc="-5" dirty="0"/>
              <a:t>Backed </a:t>
            </a:r>
            <a:r>
              <a:rPr dirty="0"/>
              <a:t>Up and</a:t>
            </a:r>
            <a:r>
              <a:rPr spc="75" dirty="0"/>
              <a:t> </a:t>
            </a:r>
            <a:r>
              <a:rPr spc="-10" dirty="0"/>
              <a:t>Restored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75881" y="1348739"/>
            <a:ext cx="7853680" cy="3324225"/>
            <a:chOff x="575881" y="1348739"/>
            <a:chExt cx="7853680" cy="3324225"/>
          </a:xfrm>
        </p:grpSpPr>
        <p:sp>
          <p:nvSpPr>
            <p:cNvPr id="4" name="object 4"/>
            <p:cNvSpPr/>
            <p:nvPr/>
          </p:nvSpPr>
          <p:spPr>
            <a:xfrm>
              <a:off x="5804915" y="1519427"/>
              <a:ext cx="2620010" cy="3148965"/>
            </a:xfrm>
            <a:custGeom>
              <a:avLst/>
              <a:gdLst/>
              <a:ahLst/>
              <a:cxnLst/>
              <a:rect l="l" t="t" r="r" b="b"/>
              <a:pathLst>
                <a:path w="2620009" h="3148965">
                  <a:moveTo>
                    <a:pt x="2510536" y="0"/>
                  </a:moveTo>
                  <a:lnTo>
                    <a:pt x="109220" y="0"/>
                  </a:lnTo>
                  <a:lnTo>
                    <a:pt x="66704" y="8582"/>
                  </a:lnTo>
                  <a:lnTo>
                    <a:pt x="31988" y="31988"/>
                  </a:lnTo>
                  <a:lnTo>
                    <a:pt x="8582" y="66704"/>
                  </a:lnTo>
                  <a:lnTo>
                    <a:pt x="0" y="109220"/>
                  </a:lnTo>
                  <a:lnTo>
                    <a:pt x="0" y="3039364"/>
                  </a:lnTo>
                  <a:lnTo>
                    <a:pt x="8582" y="3081879"/>
                  </a:lnTo>
                  <a:lnTo>
                    <a:pt x="31988" y="3116595"/>
                  </a:lnTo>
                  <a:lnTo>
                    <a:pt x="66704" y="3140001"/>
                  </a:lnTo>
                  <a:lnTo>
                    <a:pt x="109220" y="3148584"/>
                  </a:lnTo>
                  <a:lnTo>
                    <a:pt x="2510536" y="3148584"/>
                  </a:lnTo>
                  <a:lnTo>
                    <a:pt x="2553051" y="3140001"/>
                  </a:lnTo>
                  <a:lnTo>
                    <a:pt x="2587767" y="3116595"/>
                  </a:lnTo>
                  <a:lnTo>
                    <a:pt x="2611173" y="3081879"/>
                  </a:lnTo>
                  <a:lnTo>
                    <a:pt x="2619756" y="3039364"/>
                  </a:lnTo>
                  <a:lnTo>
                    <a:pt x="2619756" y="109220"/>
                  </a:lnTo>
                  <a:lnTo>
                    <a:pt x="2611173" y="66704"/>
                  </a:lnTo>
                  <a:lnTo>
                    <a:pt x="2587767" y="31988"/>
                  </a:lnTo>
                  <a:lnTo>
                    <a:pt x="2553051" y="8582"/>
                  </a:lnTo>
                  <a:lnTo>
                    <a:pt x="2510536" y="0"/>
                  </a:lnTo>
                  <a:close/>
                </a:path>
              </a:pathLst>
            </a:custGeom>
            <a:solidFill>
              <a:srgbClr val="EFF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04915" y="1519427"/>
              <a:ext cx="2620010" cy="3148965"/>
            </a:xfrm>
            <a:custGeom>
              <a:avLst/>
              <a:gdLst/>
              <a:ahLst/>
              <a:cxnLst/>
              <a:rect l="l" t="t" r="r" b="b"/>
              <a:pathLst>
                <a:path w="2620009" h="3148965">
                  <a:moveTo>
                    <a:pt x="0" y="109220"/>
                  </a:moveTo>
                  <a:lnTo>
                    <a:pt x="8582" y="66704"/>
                  </a:lnTo>
                  <a:lnTo>
                    <a:pt x="31988" y="31988"/>
                  </a:lnTo>
                  <a:lnTo>
                    <a:pt x="66704" y="8582"/>
                  </a:lnTo>
                  <a:lnTo>
                    <a:pt x="109220" y="0"/>
                  </a:lnTo>
                  <a:lnTo>
                    <a:pt x="2510536" y="0"/>
                  </a:lnTo>
                  <a:lnTo>
                    <a:pt x="2553051" y="8582"/>
                  </a:lnTo>
                  <a:lnTo>
                    <a:pt x="2587767" y="31988"/>
                  </a:lnTo>
                  <a:lnTo>
                    <a:pt x="2611173" y="66704"/>
                  </a:lnTo>
                  <a:lnTo>
                    <a:pt x="2619756" y="109220"/>
                  </a:lnTo>
                  <a:lnTo>
                    <a:pt x="2619756" y="3039364"/>
                  </a:lnTo>
                  <a:lnTo>
                    <a:pt x="2611173" y="3081879"/>
                  </a:lnTo>
                  <a:lnTo>
                    <a:pt x="2587767" y="3116595"/>
                  </a:lnTo>
                  <a:lnTo>
                    <a:pt x="2553051" y="3140001"/>
                  </a:lnTo>
                  <a:lnTo>
                    <a:pt x="2510536" y="3148584"/>
                  </a:lnTo>
                  <a:lnTo>
                    <a:pt x="109220" y="3148584"/>
                  </a:lnTo>
                  <a:lnTo>
                    <a:pt x="66704" y="3140001"/>
                  </a:lnTo>
                  <a:lnTo>
                    <a:pt x="31988" y="3116595"/>
                  </a:lnTo>
                  <a:lnTo>
                    <a:pt x="8582" y="3081879"/>
                  </a:lnTo>
                  <a:lnTo>
                    <a:pt x="0" y="3039364"/>
                  </a:lnTo>
                  <a:lnTo>
                    <a:pt x="0" y="109220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0644" y="1519427"/>
              <a:ext cx="3794760" cy="3148965"/>
            </a:xfrm>
            <a:custGeom>
              <a:avLst/>
              <a:gdLst/>
              <a:ahLst/>
              <a:cxnLst/>
              <a:rect l="l" t="t" r="r" b="b"/>
              <a:pathLst>
                <a:path w="3794760" h="3148965">
                  <a:moveTo>
                    <a:pt x="3663569" y="0"/>
                  </a:moveTo>
                  <a:lnTo>
                    <a:pt x="131203" y="0"/>
                  </a:lnTo>
                  <a:lnTo>
                    <a:pt x="80131" y="10318"/>
                  </a:lnTo>
                  <a:lnTo>
                    <a:pt x="38427" y="38449"/>
                  </a:lnTo>
                  <a:lnTo>
                    <a:pt x="10310" y="80152"/>
                  </a:lnTo>
                  <a:lnTo>
                    <a:pt x="0" y="131191"/>
                  </a:lnTo>
                  <a:lnTo>
                    <a:pt x="0" y="3017393"/>
                  </a:lnTo>
                  <a:lnTo>
                    <a:pt x="10310" y="3068431"/>
                  </a:lnTo>
                  <a:lnTo>
                    <a:pt x="38427" y="3110134"/>
                  </a:lnTo>
                  <a:lnTo>
                    <a:pt x="80131" y="3138265"/>
                  </a:lnTo>
                  <a:lnTo>
                    <a:pt x="131203" y="3148584"/>
                  </a:lnTo>
                  <a:lnTo>
                    <a:pt x="3663569" y="3148584"/>
                  </a:lnTo>
                  <a:lnTo>
                    <a:pt x="3714607" y="3138265"/>
                  </a:lnTo>
                  <a:lnTo>
                    <a:pt x="3756310" y="3110134"/>
                  </a:lnTo>
                  <a:lnTo>
                    <a:pt x="3784441" y="3068431"/>
                  </a:lnTo>
                  <a:lnTo>
                    <a:pt x="3794759" y="3017393"/>
                  </a:lnTo>
                  <a:lnTo>
                    <a:pt x="3794759" y="131191"/>
                  </a:lnTo>
                  <a:lnTo>
                    <a:pt x="3784441" y="80152"/>
                  </a:lnTo>
                  <a:lnTo>
                    <a:pt x="3756310" y="38449"/>
                  </a:lnTo>
                  <a:lnTo>
                    <a:pt x="3714607" y="10318"/>
                  </a:lnTo>
                  <a:lnTo>
                    <a:pt x="3663569" y="0"/>
                  </a:lnTo>
                  <a:close/>
                </a:path>
              </a:pathLst>
            </a:custGeom>
            <a:solidFill>
              <a:srgbClr val="EFF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0644" y="1519427"/>
              <a:ext cx="3794760" cy="3148965"/>
            </a:xfrm>
            <a:custGeom>
              <a:avLst/>
              <a:gdLst/>
              <a:ahLst/>
              <a:cxnLst/>
              <a:rect l="l" t="t" r="r" b="b"/>
              <a:pathLst>
                <a:path w="3794760" h="3148965">
                  <a:moveTo>
                    <a:pt x="0" y="131191"/>
                  </a:moveTo>
                  <a:lnTo>
                    <a:pt x="10310" y="80152"/>
                  </a:lnTo>
                  <a:lnTo>
                    <a:pt x="38427" y="38449"/>
                  </a:lnTo>
                  <a:lnTo>
                    <a:pt x="80131" y="10318"/>
                  </a:lnTo>
                  <a:lnTo>
                    <a:pt x="131203" y="0"/>
                  </a:lnTo>
                  <a:lnTo>
                    <a:pt x="3663569" y="0"/>
                  </a:lnTo>
                  <a:lnTo>
                    <a:pt x="3714607" y="10318"/>
                  </a:lnTo>
                  <a:lnTo>
                    <a:pt x="3756310" y="38449"/>
                  </a:lnTo>
                  <a:lnTo>
                    <a:pt x="3784441" y="80152"/>
                  </a:lnTo>
                  <a:lnTo>
                    <a:pt x="3794759" y="131191"/>
                  </a:lnTo>
                  <a:lnTo>
                    <a:pt x="3794759" y="3017393"/>
                  </a:lnTo>
                  <a:lnTo>
                    <a:pt x="3784441" y="3068431"/>
                  </a:lnTo>
                  <a:lnTo>
                    <a:pt x="3756310" y="3110134"/>
                  </a:lnTo>
                  <a:lnTo>
                    <a:pt x="3714607" y="3138265"/>
                  </a:lnTo>
                  <a:lnTo>
                    <a:pt x="3663569" y="3148584"/>
                  </a:lnTo>
                  <a:lnTo>
                    <a:pt x="131203" y="3148584"/>
                  </a:lnTo>
                  <a:lnTo>
                    <a:pt x="80131" y="3138265"/>
                  </a:lnTo>
                  <a:lnTo>
                    <a:pt x="38427" y="3110134"/>
                  </a:lnTo>
                  <a:lnTo>
                    <a:pt x="10310" y="3068431"/>
                  </a:lnTo>
                  <a:lnTo>
                    <a:pt x="0" y="3017393"/>
                  </a:lnTo>
                  <a:lnTo>
                    <a:pt x="0" y="131191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3712" y="2069591"/>
              <a:ext cx="1720595" cy="202691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54024" y="1348739"/>
              <a:ext cx="1447800" cy="4709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48127" y="1645919"/>
              <a:ext cx="1143000" cy="9235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58164" y="1326642"/>
            <a:ext cx="1439545" cy="476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139">
              <a:lnSpc>
                <a:spcPts val="1775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DHCP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ts val="1775"/>
              </a:lnSpc>
              <a:tabLst>
                <a:tab pos="1426210" algn="l"/>
              </a:tabLst>
            </a:pPr>
            <a:r>
              <a:rPr sz="1600" b="1" u="sng" spc="-5" dirty="0">
                <a:uFill>
                  <a:solidFill>
                    <a:srgbClr val="4D4D4D"/>
                  </a:solidFill>
                </a:uFill>
                <a:latin typeface="Verdana"/>
                <a:cs typeface="Verdana"/>
              </a:rPr>
              <a:t> </a:t>
            </a:r>
            <a:r>
              <a:rPr sz="1600" b="1" u="sng" spc="-375" dirty="0">
                <a:uFill>
                  <a:solidFill>
                    <a:srgbClr val="4D4D4D"/>
                  </a:solidFill>
                </a:uFill>
                <a:latin typeface="Verdana"/>
                <a:cs typeface="Verdana"/>
              </a:rPr>
              <a:t> </a:t>
            </a:r>
            <a:r>
              <a:rPr sz="1600" b="1" u="sng" spc="-10" dirty="0">
                <a:uFill>
                  <a:solidFill>
                    <a:srgbClr val="4D4D4D"/>
                  </a:solidFill>
                </a:uFill>
                <a:latin typeface="Verdana"/>
                <a:cs typeface="Verdana"/>
              </a:rPr>
              <a:t>Server	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89047" y="2208402"/>
            <a:ext cx="6578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D</a:t>
            </a:r>
            <a:r>
              <a:rPr sz="1600" b="1" spc="-15" dirty="0">
                <a:latin typeface="Verdana"/>
                <a:cs typeface="Verdana"/>
              </a:rPr>
              <a:t>H</a:t>
            </a:r>
            <a:r>
              <a:rPr sz="1600" b="1" spc="-5" dirty="0">
                <a:latin typeface="Verdana"/>
                <a:cs typeface="Verdana"/>
              </a:rPr>
              <a:t>CP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48127" y="3595115"/>
            <a:ext cx="1161288" cy="9403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768600" y="4160011"/>
            <a:ext cx="6578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D</a:t>
            </a:r>
            <a:r>
              <a:rPr sz="1600" b="1" spc="-15" dirty="0">
                <a:latin typeface="Verdana"/>
                <a:cs typeface="Verdana"/>
              </a:rPr>
              <a:t>H</a:t>
            </a:r>
            <a:r>
              <a:rPr sz="1600" b="1" spc="-5" dirty="0">
                <a:latin typeface="Verdana"/>
                <a:cs typeface="Verdana"/>
              </a:rPr>
              <a:t>CP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313932" y="1348739"/>
            <a:ext cx="2054860" cy="2755900"/>
            <a:chOff x="6313932" y="1348739"/>
            <a:chExt cx="2054860" cy="2755900"/>
          </a:xfrm>
        </p:grpSpPr>
        <p:sp>
          <p:nvSpPr>
            <p:cNvPr id="16" name="object 16"/>
            <p:cNvSpPr/>
            <p:nvPr/>
          </p:nvSpPr>
          <p:spPr>
            <a:xfrm>
              <a:off x="6313932" y="2322575"/>
              <a:ext cx="1441704" cy="145999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699504" y="3278123"/>
              <a:ext cx="1668779" cy="826007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313932" y="1348739"/>
              <a:ext cx="1604771" cy="47091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410071" y="1326642"/>
            <a:ext cx="7848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Off</a:t>
            </a:r>
            <a:r>
              <a:rPr sz="1600" b="1" spc="-15" dirty="0">
                <a:latin typeface="Verdana"/>
                <a:cs typeface="Verdana"/>
              </a:rPr>
              <a:t>li</a:t>
            </a:r>
            <a:r>
              <a:rPr sz="1600" b="1" spc="-10" dirty="0">
                <a:latin typeface="Verdana"/>
                <a:cs typeface="Verdana"/>
              </a:rPr>
              <a:t>ne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44296" y="1621536"/>
            <a:ext cx="2734310" cy="2147570"/>
            <a:chOff x="844296" y="1621536"/>
            <a:chExt cx="2734310" cy="2147570"/>
          </a:xfrm>
        </p:grpSpPr>
        <p:sp>
          <p:nvSpPr>
            <p:cNvPr id="21" name="object 21"/>
            <p:cNvSpPr/>
            <p:nvPr/>
          </p:nvSpPr>
          <p:spPr>
            <a:xfrm>
              <a:off x="2634996" y="1621536"/>
              <a:ext cx="943356" cy="1149096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44296" y="2619755"/>
              <a:ext cx="943355" cy="1149096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926080" y="2665475"/>
              <a:ext cx="228600" cy="883919"/>
            </a:xfrm>
            <a:custGeom>
              <a:avLst/>
              <a:gdLst/>
              <a:ahLst/>
              <a:cxnLst/>
              <a:rect l="l" t="t" r="r" b="b"/>
              <a:pathLst>
                <a:path w="228600" h="883920">
                  <a:moveTo>
                    <a:pt x="76200" y="655320"/>
                  </a:moveTo>
                  <a:lnTo>
                    <a:pt x="0" y="655320"/>
                  </a:lnTo>
                  <a:lnTo>
                    <a:pt x="114300" y="883920"/>
                  </a:lnTo>
                  <a:lnTo>
                    <a:pt x="209550" y="693420"/>
                  </a:lnTo>
                  <a:lnTo>
                    <a:pt x="76200" y="693420"/>
                  </a:lnTo>
                  <a:lnTo>
                    <a:pt x="76200" y="655320"/>
                  </a:lnTo>
                  <a:close/>
                </a:path>
                <a:path w="228600" h="883920">
                  <a:moveTo>
                    <a:pt x="152400" y="0"/>
                  </a:moveTo>
                  <a:lnTo>
                    <a:pt x="76200" y="0"/>
                  </a:lnTo>
                  <a:lnTo>
                    <a:pt x="76200" y="693420"/>
                  </a:lnTo>
                  <a:lnTo>
                    <a:pt x="152400" y="693420"/>
                  </a:lnTo>
                  <a:lnTo>
                    <a:pt x="152400" y="0"/>
                  </a:lnTo>
                  <a:close/>
                </a:path>
                <a:path w="228600" h="883920">
                  <a:moveTo>
                    <a:pt x="228600" y="655320"/>
                  </a:moveTo>
                  <a:lnTo>
                    <a:pt x="152400" y="655320"/>
                  </a:lnTo>
                  <a:lnTo>
                    <a:pt x="152400" y="693420"/>
                  </a:lnTo>
                  <a:lnTo>
                    <a:pt x="209550" y="693420"/>
                  </a:lnTo>
                  <a:lnTo>
                    <a:pt x="228600" y="65532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318091" y="1533905"/>
            <a:ext cx="15970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83690" algn="l"/>
              </a:tabLst>
            </a:pPr>
            <a:r>
              <a:rPr sz="1600" b="1" u="sng" spc="-5" dirty="0">
                <a:uFill>
                  <a:solidFill>
                    <a:srgbClr val="4D4D4D"/>
                  </a:solidFill>
                </a:uFill>
                <a:latin typeface="Verdana"/>
                <a:cs typeface="Verdana"/>
              </a:rPr>
              <a:t> </a:t>
            </a:r>
            <a:r>
              <a:rPr sz="1600" b="1" u="sng" spc="-370" dirty="0">
                <a:uFill>
                  <a:solidFill>
                    <a:srgbClr val="4D4D4D"/>
                  </a:solidFill>
                </a:uFill>
                <a:latin typeface="Verdana"/>
                <a:cs typeface="Verdana"/>
              </a:rPr>
              <a:t> </a:t>
            </a:r>
            <a:r>
              <a:rPr sz="1600" b="1" u="sng" spc="-5" dirty="0">
                <a:uFill>
                  <a:solidFill>
                    <a:srgbClr val="4D4D4D"/>
                  </a:solidFill>
                </a:uFill>
                <a:latin typeface="Verdana"/>
                <a:cs typeface="Verdana"/>
              </a:rPr>
              <a:t>Storage	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54024" y="5028178"/>
            <a:ext cx="8543748" cy="1305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/>
              <a:t>If the original database is unable to load, the </a:t>
            </a:r>
            <a:r>
              <a:rPr lang="en-US" sz="2400" b="1" dirty="0" smtClean="0"/>
              <a:t>DHCP service </a:t>
            </a:r>
            <a:r>
              <a:rPr lang="en-US" sz="2400" b="1" dirty="0"/>
              <a:t>automatically restores from </a:t>
            </a:r>
            <a:r>
              <a:rPr lang="en-US" sz="2400" b="1" dirty="0" smtClean="0"/>
              <a:t>the offline storage location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dirty="0"/>
              <a:t/>
            </a:r>
            <a:br>
              <a:rPr lang="en-US" dirty="0"/>
            </a:br>
            <a:endParaRPr sz="1800" dirty="0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938527" y="2933700"/>
            <a:ext cx="982980" cy="192405"/>
          </a:xfrm>
          <a:prstGeom prst="rect">
            <a:avLst/>
          </a:prstGeom>
          <a:solidFill>
            <a:srgbClr val="FFFFFF">
              <a:alpha val="59999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191770">
              <a:lnSpc>
                <a:spcPts val="1510"/>
              </a:lnSpc>
            </a:pPr>
            <a:r>
              <a:rPr sz="1400" b="1" dirty="0">
                <a:latin typeface="Verdana"/>
                <a:cs typeface="Verdana"/>
              </a:rPr>
              <a:t>Back</a:t>
            </a:r>
            <a:r>
              <a:rPr sz="1400" b="1" spc="-10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up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366261" y="2962401"/>
            <a:ext cx="79946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Verdana"/>
                <a:cs typeface="Verdana"/>
              </a:rPr>
              <a:t>Restore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171444" y="2665475"/>
            <a:ext cx="3138170" cy="1515110"/>
          </a:xfrm>
          <a:custGeom>
            <a:avLst/>
            <a:gdLst/>
            <a:ahLst/>
            <a:cxnLst/>
            <a:rect l="l" t="t" r="r" b="b"/>
            <a:pathLst>
              <a:path w="3138170" h="1515110">
                <a:moveTo>
                  <a:pt x="228600" y="228600"/>
                </a:moveTo>
                <a:lnTo>
                  <a:pt x="209550" y="190500"/>
                </a:lnTo>
                <a:lnTo>
                  <a:pt x="114300" y="0"/>
                </a:lnTo>
                <a:lnTo>
                  <a:pt x="0" y="228600"/>
                </a:lnTo>
                <a:lnTo>
                  <a:pt x="76200" y="228600"/>
                </a:lnTo>
                <a:lnTo>
                  <a:pt x="76200" y="883932"/>
                </a:lnTo>
                <a:lnTo>
                  <a:pt x="152400" y="883932"/>
                </a:lnTo>
                <a:lnTo>
                  <a:pt x="152400" y="228600"/>
                </a:lnTo>
                <a:lnTo>
                  <a:pt x="228600" y="228600"/>
                </a:lnTo>
                <a:close/>
              </a:path>
              <a:path w="3138170" h="1515110">
                <a:moveTo>
                  <a:pt x="3137916" y="805688"/>
                </a:moveTo>
                <a:lnTo>
                  <a:pt x="2885440" y="845439"/>
                </a:lnTo>
                <a:lnTo>
                  <a:pt x="2929255" y="906830"/>
                </a:lnTo>
                <a:lnTo>
                  <a:pt x="2906776" y="922147"/>
                </a:lnTo>
                <a:lnTo>
                  <a:pt x="2849880" y="956310"/>
                </a:lnTo>
                <a:lnTo>
                  <a:pt x="2791079" y="989457"/>
                </a:lnTo>
                <a:lnTo>
                  <a:pt x="2730500" y="1021715"/>
                </a:lnTo>
                <a:lnTo>
                  <a:pt x="2668016" y="1052830"/>
                </a:lnTo>
                <a:lnTo>
                  <a:pt x="2604008" y="1082802"/>
                </a:lnTo>
                <a:lnTo>
                  <a:pt x="2538349" y="1111758"/>
                </a:lnTo>
                <a:lnTo>
                  <a:pt x="2471039" y="1139571"/>
                </a:lnTo>
                <a:lnTo>
                  <a:pt x="2402586" y="1166114"/>
                </a:lnTo>
                <a:lnTo>
                  <a:pt x="2260346" y="1216152"/>
                </a:lnTo>
                <a:lnTo>
                  <a:pt x="2112645" y="1261491"/>
                </a:lnTo>
                <a:lnTo>
                  <a:pt x="1960118" y="1302004"/>
                </a:lnTo>
                <a:lnTo>
                  <a:pt x="1802765" y="1337437"/>
                </a:lnTo>
                <a:lnTo>
                  <a:pt x="1641348" y="1367790"/>
                </a:lnTo>
                <a:lnTo>
                  <a:pt x="1476248" y="1393063"/>
                </a:lnTo>
                <a:lnTo>
                  <a:pt x="1307846" y="1412748"/>
                </a:lnTo>
                <a:lnTo>
                  <a:pt x="1136650" y="1427099"/>
                </a:lnTo>
                <a:lnTo>
                  <a:pt x="963041" y="1435735"/>
                </a:lnTo>
                <a:lnTo>
                  <a:pt x="787273" y="1438656"/>
                </a:lnTo>
                <a:lnTo>
                  <a:pt x="702945" y="1438148"/>
                </a:lnTo>
                <a:lnTo>
                  <a:pt x="618109" y="1435989"/>
                </a:lnTo>
                <a:lnTo>
                  <a:pt x="616331" y="1512189"/>
                </a:lnTo>
                <a:lnTo>
                  <a:pt x="701040" y="1514221"/>
                </a:lnTo>
                <a:lnTo>
                  <a:pt x="786638" y="1514856"/>
                </a:lnTo>
                <a:lnTo>
                  <a:pt x="964438" y="1511935"/>
                </a:lnTo>
                <a:lnTo>
                  <a:pt x="1140460" y="1503172"/>
                </a:lnTo>
                <a:lnTo>
                  <a:pt x="1314196" y="1488694"/>
                </a:lnTo>
                <a:lnTo>
                  <a:pt x="1485138" y="1468628"/>
                </a:lnTo>
                <a:lnTo>
                  <a:pt x="1652778" y="1443228"/>
                </a:lnTo>
                <a:lnTo>
                  <a:pt x="1676984" y="1438656"/>
                </a:lnTo>
                <a:lnTo>
                  <a:pt x="1816862" y="1412240"/>
                </a:lnTo>
                <a:lnTo>
                  <a:pt x="1976755" y="1376299"/>
                </a:lnTo>
                <a:lnTo>
                  <a:pt x="2132203" y="1335024"/>
                </a:lnTo>
                <a:lnTo>
                  <a:pt x="2282698" y="1288923"/>
                </a:lnTo>
                <a:lnTo>
                  <a:pt x="2427732" y="1237996"/>
                </a:lnTo>
                <a:lnTo>
                  <a:pt x="2498598" y="1210691"/>
                </a:lnTo>
                <a:lnTo>
                  <a:pt x="2567432" y="1182116"/>
                </a:lnTo>
                <a:lnTo>
                  <a:pt x="2634742" y="1152525"/>
                </a:lnTo>
                <a:lnTo>
                  <a:pt x="2700401" y="1121791"/>
                </a:lnTo>
                <a:lnTo>
                  <a:pt x="2764536" y="1089787"/>
                </a:lnTo>
                <a:lnTo>
                  <a:pt x="2826766" y="1056894"/>
                </a:lnTo>
                <a:lnTo>
                  <a:pt x="2887218" y="1022731"/>
                </a:lnTo>
                <a:lnTo>
                  <a:pt x="2946019" y="987425"/>
                </a:lnTo>
                <a:lnTo>
                  <a:pt x="2973514" y="968806"/>
                </a:lnTo>
                <a:lnTo>
                  <a:pt x="3018282" y="1031494"/>
                </a:lnTo>
                <a:lnTo>
                  <a:pt x="3095917" y="884936"/>
                </a:lnTo>
                <a:lnTo>
                  <a:pt x="3137916" y="805688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495038" y="4185030"/>
            <a:ext cx="8153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Verdana"/>
                <a:cs typeface="Verdana"/>
              </a:rPr>
              <a:t>Back</a:t>
            </a:r>
            <a:r>
              <a:rPr sz="1400" b="1" spc="-9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up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757165" y="1671320"/>
            <a:ext cx="79946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Verdana"/>
                <a:cs typeface="Verdana"/>
              </a:rPr>
              <a:t>Restore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776726" y="1927732"/>
            <a:ext cx="2437765" cy="400685"/>
          </a:xfrm>
          <a:custGeom>
            <a:avLst/>
            <a:gdLst/>
            <a:ahLst/>
            <a:cxnLst/>
            <a:rect l="l" t="t" r="r" b="b"/>
            <a:pathLst>
              <a:path w="2437765" h="400685">
                <a:moveTo>
                  <a:pt x="1671285" y="122046"/>
                </a:moveTo>
                <a:lnTo>
                  <a:pt x="780288" y="122046"/>
                </a:lnTo>
                <a:lnTo>
                  <a:pt x="890015" y="123189"/>
                </a:lnTo>
                <a:lnTo>
                  <a:pt x="999109" y="126618"/>
                </a:lnTo>
                <a:lnTo>
                  <a:pt x="1107694" y="132206"/>
                </a:lnTo>
                <a:lnTo>
                  <a:pt x="1215516" y="140080"/>
                </a:lnTo>
                <a:lnTo>
                  <a:pt x="1322577" y="150240"/>
                </a:lnTo>
                <a:lnTo>
                  <a:pt x="1428750" y="162305"/>
                </a:lnTo>
                <a:lnTo>
                  <a:pt x="1533778" y="176783"/>
                </a:lnTo>
                <a:lnTo>
                  <a:pt x="1637538" y="193293"/>
                </a:lnTo>
                <a:lnTo>
                  <a:pt x="1740027" y="212089"/>
                </a:lnTo>
                <a:lnTo>
                  <a:pt x="1841119" y="232790"/>
                </a:lnTo>
                <a:lnTo>
                  <a:pt x="1940560" y="255524"/>
                </a:lnTo>
                <a:lnTo>
                  <a:pt x="2038350" y="280415"/>
                </a:lnTo>
                <a:lnTo>
                  <a:pt x="2134362" y="307466"/>
                </a:lnTo>
                <a:lnTo>
                  <a:pt x="2228469" y="336295"/>
                </a:lnTo>
                <a:lnTo>
                  <a:pt x="2320416" y="367156"/>
                </a:lnTo>
                <a:lnTo>
                  <a:pt x="2411349" y="400430"/>
                </a:lnTo>
                <a:lnTo>
                  <a:pt x="2437511" y="328929"/>
                </a:lnTo>
                <a:lnTo>
                  <a:pt x="2346706" y="295655"/>
                </a:lnTo>
                <a:lnTo>
                  <a:pt x="2252726" y="264032"/>
                </a:lnTo>
                <a:lnTo>
                  <a:pt x="2156714" y="234568"/>
                </a:lnTo>
                <a:lnTo>
                  <a:pt x="2058924" y="207137"/>
                </a:lnTo>
                <a:lnTo>
                  <a:pt x="1959356" y="181737"/>
                </a:lnTo>
                <a:lnTo>
                  <a:pt x="1858137" y="158495"/>
                </a:lnTo>
                <a:lnTo>
                  <a:pt x="1755394" y="137413"/>
                </a:lnTo>
                <a:lnTo>
                  <a:pt x="1671285" y="122046"/>
                </a:lnTo>
                <a:close/>
              </a:path>
              <a:path w="2437765" h="400685">
                <a:moveTo>
                  <a:pt x="212089" y="0"/>
                </a:moveTo>
                <a:lnTo>
                  <a:pt x="0" y="142493"/>
                </a:lnTo>
                <a:lnTo>
                  <a:pt x="241300" y="226694"/>
                </a:lnTo>
                <a:lnTo>
                  <a:pt x="232201" y="156082"/>
                </a:lnTo>
                <a:lnTo>
                  <a:pt x="193166" y="156082"/>
                </a:lnTo>
                <a:lnTo>
                  <a:pt x="184531" y="80390"/>
                </a:lnTo>
                <a:lnTo>
                  <a:pt x="221904" y="76165"/>
                </a:lnTo>
                <a:lnTo>
                  <a:pt x="212089" y="0"/>
                </a:lnTo>
                <a:close/>
              </a:path>
              <a:path w="2437765" h="400685">
                <a:moveTo>
                  <a:pt x="221904" y="76165"/>
                </a:moveTo>
                <a:lnTo>
                  <a:pt x="184531" y="80390"/>
                </a:lnTo>
                <a:lnTo>
                  <a:pt x="193166" y="156082"/>
                </a:lnTo>
                <a:lnTo>
                  <a:pt x="231640" y="151731"/>
                </a:lnTo>
                <a:lnTo>
                  <a:pt x="221904" y="76165"/>
                </a:lnTo>
                <a:close/>
              </a:path>
              <a:path w="2437765" h="400685">
                <a:moveTo>
                  <a:pt x="231640" y="151731"/>
                </a:moveTo>
                <a:lnTo>
                  <a:pt x="193166" y="156082"/>
                </a:lnTo>
                <a:lnTo>
                  <a:pt x="232201" y="156082"/>
                </a:lnTo>
                <a:lnTo>
                  <a:pt x="231640" y="151731"/>
                </a:lnTo>
                <a:close/>
              </a:path>
              <a:path w="2437765" h="400685">
                <a:moveTo>
                  <a:pt x="781050" y="45846"/>
                </a:moveTo>
                <a:lnTo>
                  <a:pt x="681354" y="46862"/>
                </a:lnTo>
                <a:lnTo>
                  <a:pt x="581913" y="49529"/>
                </a:lnTo>
                <a:lnTo>
                  <a:pt x="482853" y="54228"/>
                </a:lnTo>
                <a:lnTo>
                  <a:pt x="383921" y="60705"/>
                </a:lnTo>
                <a:lnTo>
                  <a:pt x="285623" y="68961"/>
                </a:lnTo>
                <a:lnTo>
                  <a:pt x="221904" y="76165"/>
                </a:lnTo>
                <a:lnTo>
                  <a:pt x="231640" y="151731"/>
                </a:lnTo>
                <a:lnTo>
                  <a:pt x="291973" y="144906"/>
                </a:lnTo>
                <a:lnTo>
                  <a:pt x="389000" y="136778"/>
                </a:lnTo>
                <a:lnTo>
                  <a:pt x="486283" y="130301"/>
                </a:lnTo>
                <a:lnTo>
                  <a:pt x="584073" y="125729"/>
                </a:lnTo>
                <a:lnTo>
                  <a:pt x="682116" y="122936"/>
                </a:lnTo>
                <a:lnTo>
                  <a:pt x="1671285" y="122046"/>
                </a:lnTo>
                <a:lnTo>
                  <a:pt x="1651127" y="118363"/>
                </a:lnTo>
                <a:lnTo>
                  <a:pt x="1545716" y="101600"/>
                </a:lnTo>
                <a:lnTo>
                  <a:pt x="1439164" y="86867"/>
                </a:lnTo>
                <a:lnTo>
                  <a:pt x="1331340" y="74421"/>
                </a:lnTo>
                <a:lnTo>
                  <a:pt x="1222756" y="64262"/>
                </a:lnTo>
                <a:lnTo>
                  <a:pt x="1113282" y="56261"/>
                </a:lnTo>
                <a:lnTo>
                  <a:pt x="1003046" y="50418"/>
                </a:lnTo>
                <a:lnTo>
                  <a:pt x="892428" y="46989"/>
                </a:lnTo>
                <a:lnTo>
                  <a:pt x="781050" y="45846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3" name="object 43"/>
          <p:cNvGrpSpPr/>
          <p:nvPr/>
        </p:nvGrpSpPr>
        <p:grpSpPr>
          <a:xfrm>
            <a:off x="8028431" y="6257544"/>
            <a:ext cx="928369" cy="439420"/>
            <a:chOff x="8028431" y="6257544"/>
            <a:chExt cx="928369" cy="439420"/>
          </a:xfrm>
        </p:grpSpPr>
        <p:sp>
          <p:nvSpPr>
            <p:cNvPr id="44" name="object 44"/>
            <p:cNvSpPr/>
            <p:nvPr/>
          </p:nvSpPr>
          <p:spPr>
            <a:xfrm>
              <a:off x="8039099" y="6268212"/>
              <a:ext cx="917448" cy="42824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028431" y="6257544"/>
              <a:ext cx="914400" cy="42519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206739" y="6390132"/>
              <a:ext cx="188975" cy="17983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225027" y="6384036"/>
              <a:ext cx="176783" cy="16764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516111" y="6348984"/>
              <a:ext cx="304800" cy="243840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220455" y="6379464"/>
              <a:ext cx="185927" cy="176783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589263" y="6417564"/>
              <a:ext cx="134111" cy="134111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607551" y="6411468"/>
              <a:ext cx="121920" cy="121919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607551" y="6411468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121919"/>
                  </a:moveTo>
                  <a:lnTo>
                    <a:pt x="121920" y="121919"/>
                  </a:lnTo>
                  <a:lnTo>
                    <a:pt x="121920" y="0"/>
                  </a:lnTo>
                  <a:lnTo>
                    <a:pt x="0" y="0"/>
                  </a:lnTo>
                  <a:lnTo>
                    <a:pt x="0" y="121919"/>
                  </a:lnTo>
                  <a:close/>
                </a:path>
              </a:pathLst>
            </a:custGeom>
            <a:ln w="9144">
              <a:solidFill>
                <a:srgbClr val="666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56191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How </a:t>
            </a:r>
            <a:r>
              <a:rPr dirty="0"/>
              <a:t>a DHCP </a:t>
            </a:r>
            <a:r>
              <a:rPr spc="-5" dirty="0"/>
              <a:t>Database </a:t>
            </a:r>
            <a:r>
              <a:rPr spc="-10" dirty="0"/>
              <a:t>Is</a:t>
            </a:r>
            <a:r>
              <a:rPr spc="-20" dirty="0"/>
              <a:t> </a:t>
            </a:r>
            <a:r>
              <a:rPr spc="-5" dirty="0"/>
              <a:t>Reconciled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34568" y="1263396"/>
            <a:ext cx="5660390" cy="2120265"/>
            <a:chOff x="734568" y="1263396"/>
            <a:chExt cx="5660390" cy="2120265"/>
          </a:xfrm>
        </p:grpSpPr>
        <p:sp>
          <p:nvSpPr>
            <p:cNvPr id="4" name="object 4"/>
            <p:cNvSpPr/>
            <p:nvPr/>
          </p:nvSpPr>
          <p:spPr>
            <a:xfrm>
              <a:off x="5628132" y="1772411"/>
              <a:ext cx="767080" cy="741045"/>
            </a:xfrm>
            <a:custGeom>
              <a:avLst/>
              <a:gdLst/>
              <a:ahLst/>
              <a:cxnLst/>
              <a:rect l="l" t="t" r="r" b="b"/>
              <a:pathLst>
                <a:path w="767079" h="741044">
                  <a:moveTo>
                    <a:pt x="766572" y="653796"/>
                  </a:moveTo>
                  <a:lnTo>
                    <a:pt x="708647" y="624840"/>
                  </a:lnTo>
                  <a:lnTo>
                    <a:pt x="592836" y="566928"/>
                  </a:lnTo>
                  <a:lnTo>
                    <a:pt x="592836" y="624840"/>
                  </a:lnTo>
                  <a:lnTo>
                    <a:pt x="0" y="624840"/>
                  </a:lnTo>
                  <a:lnTo>
                    <a:pt x="0" y="682752"/>
                  </a:lnTo>
                  <a:lnTo>
                    <a:pt x="592836" y="682752"/>
                  </a:lnTo>
                  <a:lnTo>
                    <a:pt x="592836" y="740664"/>
                  </a:lnTo>
                  <a:lnTo>
                    <a:pt x="708660" y="682752"/>
                  </a:lnTo>
                  <a:lnTo>
                    <a:pt x="766572" y="653796"/>
                  </a:lnTo>
                  <a:close/>
                </a:path>
                <a:path w="767079" h="741044">
                  <a:moveTo>
                    <a:pt x="766572" y="86868"/>
                  </a:moveTo>
                  <a:lnTo>
                    <a:pt x="708660" y="57912"/>
                  </a:lnTo>
                  <a:lnTo>
                    <a:pt x="592836" y="0"/>
                  </a:lnTo>
                  <a:lnTo>
                    <a:pt x="592836" y="57912"/>
                  </a:lnTo>
                  <a:lnTo>
                    <a:pt x="0" y="57912"/>
                  </a:lnTo>
                  <a:lnTo>
                    <a:pt x="0" y="115824"/>
                  </a:lnTo>
                  <a:lnTo>
                    <a:pt x="592836" y="115824"/>
                  </a:lnTo>
                  <a:lnTo>
                    <a:pt x="592836" y="173736"/>
                  </a:lnTo>
                  <a:lnTo>
                    <a:pt x="708647" y="115824"/>
                  </a:lnTo>
                  <a:lnTo>
                    <a:pt x="766572" y="86868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93007" y="2570988"/>
              <a:ext cx="585470" cy="173990"/>
            </a:xfrm>
            <a:custGeom>
              <a:avLst/>
              <a:gdLst/>
              <a:ahLst/>
              <a:cxnLst/>
              <a:rect l="l" t="t" r="r" b="b"/>
              <a:pathLst>
                <a:path w="585470" h="173989">
                  <a:moveTo>
                    <a:pt x="411479" y="0"/>
                  </a:moveTo>
                  <a:lnTo>
                    <a:pt x="411479" y="173736"/>
                  </a:lnTo>
                  <a:lnTo>
                    <a:pt x="527303" y="115824"/>
                  </a:lnTo>
                  <a:lnTo>
                    <a:pt x="440436" y="115824"/>
                  </a:lnTo>
                  <a:lnTo>
                    <a:pt x="440436" y="57912"/>
                  </a:lnTo>
                  <a:lnTo>
                    <a:pt x="527304" y="57912"/>
                  </a:lnTo>
                  <a:lnTo>
                    <a:pt x="411479" y="0"/>
                  </a:lnTo>
                  <a:close/>
                </a:path>
                <a:path w="585470" h="173989">
                  <a:moveTo>
                    <a:pt x="411479" y="57912"/>
                  </a:moveTo>
                  <a:lnTo>
                    <a:pt x="0" y="57912"/>
                  </a:lnTo>
                  <a:lnTo>
                    <a:pt x="0" y="115824"/>
                  </a:lnTo>
                  <a:lnTo>
                    <a:pt x="411479" y="115824"/>
                  </a:lnTo>
                  <a:lnTo>
                    <a:pt x="411479" y="57912"/>
                  </a:lnTo>
                  <a:close/>
                </a:path>
                <a:path w="585470" h="173989">
                  <a:moveTo>
                    <a:pt x="527304" y="57912"/>
                  </a:moveTo>
                  <a:lnTo>
                    <a:pt x="440436" y="57912"/>
                  </a:lnTo>
                  <a:lnTo>
                    <a:pt x="440436" y="115824"/>
                  </a:lnTo>
                  <a:lnTo>
                    <a:pt x="527303" y="115824"/>
                  </a:lnTo>
                  <a:lnTo>
                    <a:pt x="585215" y="86867"/>
                  </a:lnTo>
                  <a:lnTo>
                    <a:pt x="527304" y="57912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34568" y="1264920"/>
              <a:ext cx="1799844" cy="211836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46376" y="2225040"/>
              <a:ext cx="1264920" cy="94030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93007" y="1616964"/>
              <a:ext cx="585470" cy="173990"/>
            </a:xfrm>
            <a:custGeom>
              <a:avLst/>
              <a:gdLst/>
              <a:ahLst/>
              <a:cxnLst/>
              <a:rect l="l" t="t" r="r" b="b"/>
              <a:pathLst>
                <a:path w="585470" h="173989">
                  <a:moveTo>
                    <a:pt x="411479" y="0"/>
                  </a:moveTo>
                  <a:lnTo>
                    <a:pt x="411479" y="173736"/>
                  </a:lnTo>
                  <a:lnTo>
                    <a:pt x="527304" y="115824"/>
                  </a:lnTo>
                  <a:lnTo>
                    <a:pt x="440436" y="115824"/>
                  </a:lnTo>
                  <a:lnTo>
                    <a:pt x="440436" y="57912"/>
                  </a:lnTo>
                  <a:lnTo>
                    <a:pt x="527303" y="57912"/>
                  </a:lnTo>
                  <a:lnTo>
                    <a:pt x="411479" y="0"/>
                  </a:lnTo>
                  <a:close/>
                </a:path>
                <a:path w="585470" h="173989">
                  <a:moveTo>
                    <a:pt x="411479" y="57912"/>
                  </a:moveTo>
                  <a:lnTo>
                    <a:pt x="0" y="57912"/>
                  </a:lnTo>
                  <a:lnTo>
                    <a:pt x="0" y="115824"/>
                  </a:lnTo>
                  <a:lnTo>
                    <a:pt x="411479" y="115824"/>
                  </a:lnTo>
                  <a:lnTo>
                    <a:pt x="411479" y="57912"/>
                  </a:lnTo>
                  <a:close/>
                </a:path>
                <a:path w="585470" h="173989">
                  <a:moveTo>
                    <a:pt x="527303" y="57912"/>
                  </a:moveTo>
                  <a:lnTo>
                    <a:pt x="440436" y="57912"/>
                  </a:lnTo>
                  <a:lnTo>
                    <a:pt x="440436" y="115824"/>
                  </a:lnTo>
                  <a:lnTo>
                    <a:pt x="527304" y="115824"/>
                  </a:lnTo>
                  <a:lnTo>
                    <a:pt x="585215" y="86868"/>
                  </a:lnTo>
                  <a:lnTo>
                    <a:pt x="527303" y="57912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1263396"/>
              <a:ext cx="1245108" cy="9235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600075" y="4494276"/>
            <a:ext cx="7926324" cy="4617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590550" y="4027551"/>
          <a:ext cx="7926704" cy="16874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79675"/>
                <a:gridCol w="2745104"/>
                <a:gridCol w="2701925"/>
              </a:tblGrid>
              <a:tr h="457200">
                <a:tc gridSpan="3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600" b="1" spc="-10" dirty="0">
                          <a:latin typeface="Verdana"/>
                          <a:cs typeface="Verdana"/>
                        </a:rPr>
                        <a:t>Example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3345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  <a:solidFill>
                      <a:srgbClr val="BACDE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61899">
                <a:tc>
                  <a:txBody>
                    <a:bodyPr/>
                    <a:lstStyle/>
                    <a:p>
                      <a:pPr marL="76454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600" b="1" spc="-10" dirty="0">
                          <a:latin typeface="Verdana"/>
                          <a:cs typeface="Verdana"/>
                        </a:rPr>
                        <a:t>Registry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0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315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600" b="1" spc="-10" dirty="0">
                          <a:latin typeface="Verdana"/>
                          <a:cs typeface="Verdana"/>
                        </a:rPr>
                        <a:t>DHCP</a:t>
                      </a:r>
                      <a:r>
                        <a:rPr sz="1600" b="1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b="1" spc="-10" dirty="0">
                          <a:latin typeface="Verdana"/>
                          <a:cs typeface="Verdana"/>
                        </a:rPr>
                        <a:t>Database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0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600" b="1" spc="-10" dirty="0">
                          <a:latin typeface="Verdana"/>
                          <a:cs typeface="Verdana"/>
                        </a:rPr>
                        <a:t>After</a:t>
                      </a:r>
                      <a:r>
                        <a:rPr sz="1600" b="1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b="1" spc="-10" dirty="0">
                          <a:latin typeface="Verdana"/>
                          <a:cs typeface="Verdana"/>
                        </a:rPr>
                        <a:t>Reconciliation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0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768350">
                <a:tc>
                  <a:txBody>
                    <a:bodyPr/>
                    <a:lstStyle/>
                    <a:p>
                      <a:pPr marL="91440" marR="226695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Client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has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IP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address  192.168.1.34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39065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14935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IP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address 192.168.1.34  is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available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39065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90805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600" spc="-5" dirty="0">
                          <a:latin typeface="Verdana"/>
                          <a:cs typeface="Verdana"/>
                        </a:rPr>
                        <a:t>Lease entry is created 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in 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DHCP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Database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39065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1110996" y="3500628"/>
            <a:ext cx="1617345" cy="338455"/>
          </a:xfrm>
          <a:prstGeom prst="rect">
            <a:avLst/>
          </a:prstGeom>
          <a:ln w="18669">
            <a:solidFill>
              <a:srgbClr val="4D4D4D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215"/>
              </a:spcBef>
            </a:pPr>
            <a:r>
              <a:rPr sz="1600" b="1" spc="-10" dirty="0">
                <a:latin typeface="Verdana"/>
                <a:cs typeface="Verdana"/>
              </a:rPr>
              <a:t>DHCP</a:t>
            </a:r>
            <a:r>
              <a:rPr sz="1600" b="1" spc="-2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Server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49245" y="1433575"/>
            <a:ext cx="10890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DHCP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latin typeface="Verdana"/>
                <a:cs typeface="Verdana"/>
              </a:rPr>
              <a:t>Database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03094" y="2337054"/>
            <a:ext cx="9740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Registry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102608" y="2281427"/>
            <a:ext cx="1836419" cy="75285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102608" y="2281427"/>
            <a:ext cx="1836420" cy="753110"/>
          </a:xfrm>
          <a:prstGeom prst="rect">
            <a:avLst/>
          </a:prstGeom>
          <a:ln w="12700">
            <a:solidFill>
              <a:srgbClr val="333333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93345" marR="172085">
              <a:lnSpc>
                <a:spcPts val="1730"/>
              </a:lnSpc>
              <a:spcBef>
                <a:spcPts val="380"/>
              </a:spcBef>
            </a:pPr>
            <a:r>
              <a:rPr sz="1600" b="1" spc="-5" dirty="0">
                <a:latin typeface="Verdana"/>
                <a:cs typeface="Verdana"/>
              </a:rPr>
              <a:t>Summary IP  address </a:t>
            </a:r>
            <a:r>
              <a:rPr sz="1600" b="1" spc="-10" dirty="0">
                <a:latin typeface="Verdana"/>
                <a:cs typeface="Verdana"/>
              </a:rPr>
              <a:t>lease  information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097845" y="1343977"/>
            <a:ext cx="1845945" cy="762635"/>
            <a:chOff x="4097845" y="1343977"/>
            <a:chExt cx="1845945" cy="762635"/>
          </a:xfrm>
        </p:grpSpPr>
        <p:sp>
          <p:nvSpPr>
            <p:cNvPr id="18" name="object 18"/>
            <p:cNvSpPr/>
            <p:nvPr/>
          </p:nvSpPr>
          <p:spPr>
            <a:xfrm>
              <a:off x="4102608" y="1348739"/>
              <a:ext cx="1836419" cy="75285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102608" y="1348739"/>
              <a:ext cx="1836420" cy="753110"/>
            </a:xfrm>
            <a:custGeom>
              <a:avLst/>
              <a:gdLst/>
              <a:ahLst/>
              <a:cxnLst/>
              <a:rect l="l" t="t" r="r" b="b"/>
              <a:pathLst>
                <a:path w="1836420" h="753110">
                  <a:moveTo>
                    <a:pt x="0" y="22225"/>
                  </a:moveTo>
                  <a:lnTo>
                    <a:pt x="1740" y="13555"/>
                  </a:lnTo>
                  <a:lnTo>
                    <a:pt x="6492" y="6492"/>
                  </a:lnTo>
                  <a:lnTo>
                    <a:pt x="13555" y="1740"/>
                  </a:lnTo>
                  <a:lnTo>
                    <a:pt x="22225" y="0"/>
                  </a:lnTo>
                  <a:lnTo>
                    <a:pt x="1814194" y="0"/>
                  </a:lnTo>
                  <a:lnTo>
                    <a:pt x="1822864" y="1740"/>
                  </a:lnTo>
                  <a:lnTo>
                    <a:pt x="1829927" y="6492"/>
                  </a:lnTo>
                  <a:lnTo>
                    <a:pt x="1834679" y="13555"/>
                  </a:lnTo>
                  <a:lnTo>
                    <a:pt x="1836419" y="22225"/>
                  </a:lnTo>
                  <a:lnTo>
                    <a:pt x="1836419" y="730631"/>
                  </a:lnTo>
                  <a:lnTo>
                    <a:pt x="1834679" y="739300"/>
                  </a:lnTo>
                  <a:lnTo>
                    <a:pt x="1829927" y="746363"/>
                  </a:lnTo>
                  <a:lnTo>
                    <a:pt x="1822864" y="751115"/>
                  </a:lnTo>
                  <a:lnTo>
                    <a:pt x="1814194" y="752856"/>
                  </a:lnTo>
                  <a:lnTo>
                    <a:pt x="22225" y="752856"/>
                  </a:lnTo>
                  <a:lnTo>
                    <a:pt x="13555" y="751115"/>
                  </a:lnTo>
                  <a:lnTo>
                    <a:pt x="6492" y="746363"/>
                  </a:lnTo>
                  <a:lnTo>
                    <a:pt x="1740" y="739300"/>
                  </a:lnTo>
                  <a:lnTo>
                    <a:pt x="0" y="730631"/>
                  </a:lnTo>
                  <a:lnTo>
                    <a:pt x="0" y="22225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188078" y="1358265"/>
            <a:ext cx="1588135" cy="70802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310"/>
              </a:spcBef>
            </a:pPr>
            <a:r>
              <a:rPr sz="1600" b="1" spc="-10" dirty="0">
                <a:latin typeface="Verdana"/>
                <a:cs typeface="Verdana"/>
              </a:rPr>
              <a:t>Detailed </a:t>
            </a:r>
            <a:r>
              <a:rPr sz="1600" b="1" spc="-5" dirty="0">
                <a:latin typeface="Verdana"/>
                <a:cs typeface="Verdana"/>
              </a:rPr>
              <a:t>IP  address</a:t>
            </a:r>
            <a:r>
              <a:rPr sz="1600" b="1" spc="-3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lease  information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412991" y="1635251"/>
            <a:ext cx="2512060" cy="988060"/>
            <a:chOff x="6412991" y="1635251"/>
            <a:chExt cx="2512060" cy="988060"/>
          </a:xfrm>
        </p:grpSpPr>
        <p:sp>
          <p:nvSpPr>
            <p:cNvPr id="22" name="object 22"/>
            <p:cNvSpPr/>
            <p:nvPr/>
          </p:nvSpPr>
          <p:spPr>
            <a:xfrm>
              <a:off x="6417563" y="1639823"/>
              <a:ext cx="2502408" cy="97840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17563" y="1639823"/>
              <a:ext cx="2502535" cy="978535"/>
            </a:xfrm>
            <a:custGeom>
              <a:avLst/>
              <a:gdLst/>
              <a:ahLst/>
              <a:cxnLst/>
              <a:rect l="l" t="t" r="r" b="b"/>
              <a:pathLst>
                <a:path w="2502534" h="978535">
                  <a:moveTo>
                    <a:pt x="0" y="24891"/>
                  </a:moveTo>
                  <a:lnTo>
                    <a:pt x="1960" y="15216"/>
                  </a:lnTo>
                  <a:lnTo>
                    <a:pt x="7302" y="7302"/>
                  </a:lnTo>
                  <a:lnTo>
                    <a:pt x="15216" y="1960"/>
                  </a:lnTo>
                  <a:lnTo>
                    <a:pt x="24891" y="0"/>
                  </a:lnTo>
                  <a:lnTo>
                    <a:pt x="2477516" y="0"/>
                  </a:lnTo>
                  <a:lnTo>
                    <a:pt x="2487191" y="1960"/>
                  </a:lnTo>
                  <a:lnTo>
                    <a:pt x="2495105" y="7302"/>
                  </a:lnTo>
                  <a:lnTo>
                    <a:pt x="2500447" y="15216"/>
                  </a:lnTo>
                  <a:lnTo>
                    <a:pt x="2502408" y="24891"/>
                  </a:lnTo>
                  <a:lnTo>
                    <a:pt x="2502408" y="953515"/>
                  </a:lnTo>
                  <a:lnTo>
                    <a:pt x="2500447" y="963191"/>
                  </a:lnTo>
                  <a:lnTo>
                    <a:pt x="2495105" y="971105"/>
                  </a:lnTo>
                  <a:lnTo>
                    <a:pt x="2487191" y="976447"/>
                  </a:lnTo>
                  <a:lnTo>
                    <a:pt x="2477516" y="978408"/>
                  </a:lnTo>
                  <a:lnTo>
                    <a:pt x="24891" y="978408"/>
                  </a:lnTo>
                  <a:lnTo>
                    <a:pt x="15216" y="976447"/>
                  </a:lnTo>
                  <a:lnTo>
                    <a:pt x="7302" y="971105"/>
                  </a:lnTo>
                  <a:lnTo>
                    <a:pt x="1960" y="963191"/>
                  </a:lnTo>
                  <a:lnTo>
                    <a:pt x="0" y="953515"/>
                  </a:lnTo>
                  <a:lnTo>
                    <a:pt x="0" y="24891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505447" y="1663954"/>
            <a:ext cx="2235200" cy="89090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>
              <a:lnSpc>
                <a:spcPts val="1630"/>
              </a:lnSpc>
              <a:spcBef>
                <a:spcPts val="390"/>
              </a:spcBef>
            </a:pPr>
            <a:r>
              <a:rPr sz="1600" b="1" spc="-10" dirty="0">
                <a:latin typeface="Verdana"/>
                <a:cs typeface="Verdana"/>
              </a:rPr>
              <a:t>Compares </a:t>
            </a:r>
            <a:r>
              <a:rPr sz="1600" b="1" spc="-5" dirty="0">
                <a:latin typeface="Verdana"/>
                <a:cs typeface="Verdana"/>
              </a:rPr>
              <a:t>and  </a:t>
            </a:r>
            <a:r>
              <a:rPr sz="1600" b="1" spc="-10" dirty="0">
                <a:latin typeface="Verdana"/>
                <a:cs typeface="Verdana"/>
              </a:rPr>
              <a:t>reconciles  inconsistencies in  </a:t>
            </a:r>
            <a:r>
              <a:rPr sz="1600" b="1" spc="-5" dirty="0">
                <a:latin typeface="Verdana"/>
                <a:cs typeface="Verdana"/>
              </a:rPr>
              <a:t>the </a:t>
            </a:r>
            <a:r>
              <a:rPr sz="1600" b="1" spc="-10" dirty="0">
                <a:latin typeface="Verdana"/>
                <a:cs typeface="Verdana"/>
              </a:rPr>
              <a:t>DHCP</a:t>
            </a:r>
            <a:r>
              <a:rPr sz="1600" b="1" spc="-3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Database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39211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Moving </a:t>
            </a:r>
            <a:r>
              <a:rPr dirty="0"/>
              <a:t>a DHCP</a:t>
            </a:r>
            <a:r>
              <a:rPr spc="-30" dirty="0"/>
              <a:t> </a:t>
            </a:r>
            <a:r>
              <a:rPr dirty="0"/>
              <a:t>Database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1084" y="1249680"/>
            <a:ext cx="8531860" cy="4951730"/>
            <a:chOff x="291084" y="1249680"/>
            <a:chExt cx="8531860" cy="4951730"/>
          </a:xfrm>
        </p:grpSpPr>
        <p:sp>
          <p:nvSpPr>
            <p:cNvPr id="4" name="object 4"/>
            <p:cNvSpPr/>
            <p:nvPr/>
          </p:nvSpPr>
          <p:spPr>
            <a:xfrm>
              <a:off x="291084" y="1249680"/>
              <a:ext cx="8531352" cy="4951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07079" y="2145791"/>
              <a:ext cx="585470" cy="173990"/>
            </a:xfrm>
            <a:custGeom>
              <a:avLst/>
              <a:gdLst/>
              <a:ahLst/>
              <a:cxnLst/>
              <a:rect l="l" t="t" r="r" b="b"/>
              <a:pathLst>
                <a:path w="585470" h="173989">
                  <a:moveTo>
                    <a:pt x="411480" y="0"/>
                  </a:moveTo>
                  <a:lnTo>
                    <a:pt x="411480" y="173736"/>
                  </a:lnTo>
                  <a:lnTo>
                    <a:pt x="527304" y="115824"/>
                  </a:lnTo>
                  <a:lnTo>
                    <a:pt x="440436" y="115824"/>
                  </a:lnTo>
                  <a:lnTo>
                    <a:pt x="440436" y="57912"/>
                  </a:lnTo>
                  <a:lnTo>
                    <a:pt x="527303" y="57912"/>
                  </a:lnTo>
                  <a:lnTo>
                    <a:pt x="411480" y="0"/>
                  </a:lnTo>
                  <a:close/>
                </a:path>
                <a:path w="585470" h="173989">
                  <a:moveTo>
                    <a:pt x="411480" y="57912"/>
                  </a:moveTo>
                  <a:lnTo>
                    <a:pt x="0" y="57912"/>
                  </a:lnTo>
                  <a:lnTo>
                    <a:pt x="0" y="115824"/>
                  </a:lnTo>
                  <a:lnTo>
                    <a:pt x="411480" y="115824"/>
                  </a:lnTo>
                  <a:lnTo>
                    <a:pt x="411480" y="57912"/>
                  </a:lnTo>
                  <a:close/>
                </a:path>
                <a:path w="585470" h="173989">
                  <a:moveTo>
                    <a:pt x="527303" y="57912"/>
                  </a:moveTo>
                  <a:lnTo>
                    <a:pt x="440436" y="57912"/>
                  </a:lnTo>
                  <a:lnTo>
                    <a:pt x="440436" y="115824"/>
                  </a:lnTo>
                  <a:lnTo>
                    <a:pt x="527304" y="115824"/>
                  </a:lnTo>
                  <a:lnTo>
                    <a:pt x="585216" y="86868"/>
                  </a:lnTo>
                  <a:lnTo>
                    <a:pt x="527303" y="57912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7595" y="1793748"/>
              <a:ext cx="1798320" cy="211836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90928" y="1792224"/>
              <a:ext cx="1245108" cy="9235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70960" y="1892808"/>
              <a:ext cx="1667256" cy="82448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74180" y="3275075"/>
              <a:ext cx="1798320" cy="211836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933056" y="5600191"/>
            <a:ext cx="13906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Verdana"/>
                <a:cs typeface="Verdana"/>
              </a:rPr>
              <a:t>New</a:t>
            </a:r>
            <a:r>
              <a:rPr sz="1800" b="1" spc="-7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DHCP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Verdana"/>
                <a:cs typeface="Verdana"/>
              </a:rPr>
              <a:t>Server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728715" y="3416808"/>
            <a:ext cx="1245108" cy="9235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78891" y="1962404"/>
            <a:ext cx="6241415" cy="2716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5905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DHCP</a:t>
            </a:r>
            <a:endParaRPr sz="1600">
              <a:latin typeface="Verdana"/>
              <a:cs typeface="Verdana"/>
            </a:endParaRPr>
          </a:p>
          <a:p>
            <a:pPr marL="1525905">
              <a:lnSpc>
                <a:spcPct val="100000"/>
              </a:lnSpc>
            </a:pPr>
            <a:r>
              <a:rPr sz="1600" b="1" spc="-10" dirty="0">
                <a:latin typeface="Verdana"/>
                <a:cs typeface="Verdana"/>
              </a:rPr>
              <a:t>Database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900">
              <a:latin typeface="Verdana"/>
              <a:cs typeface="Verdana"/>
            </a:endParaRPr>
          </a:p>
          <a:p>
            <a:pPr marL="3242310">
              <a:lnSpc>
                <a:spcPct val="100000"/>
              </a:lnSpc>
            </a:pPr>
            <a:r>
              <a:rPr sz="1800" b="1" spc="-5" dirty="0">
                <a:latin typeface="Verdana"/>
                <a:cs typeface="Verdana"/>
              </a:rPr>
              <a:t>Backup</a:t>
            </a:r>
            <a:endParaRPr sz="1800">
              <a:latin typeface="Verdana"/>
              <a:cs typeface="Verdana"/>
            </a:endParaRPr>
          </a:p>
          <a:p>
            <a:pPr marL="3242310">
              <a:lnSpc>
                <a:spcPct val="100000"/>
              </a:lnSpc>
            </a:pPr>
            <a:r>
              <a:rPr sz="1800" b="1" dirty="0">
                <a:latin typeface="Verdana"/>
                <a:cs typeface="Verdana"/>
              </a:rPr>
              <a:t>Media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Verdana"/>
              <a:cs typeface="Verdana"/>
            </a:endParaRPr>
          </a:p>
          <a:p>
            <a:pPr marL="5164455">
              <a:lnSpc>
                <a:spcPct val="100000"/>
              </a:lnSpc>
            </a:pPr>
            <a:r>
              <a:rPr sz="1600" b="1" spc="-10" dirty="0">
                <a:latin typeface="Verdana"/>
                <a:cs typeface="Verdana"/>
              </a:rPr>
              <a:t>DHCP</a:t>
            </a:r>
            <a:endParaRPr sz="1600">
              <a:latin typeface="Verdana"/>
              <a:cs typeface="Verdana"/>
            </a:endParaRPr>
          </a:p>
          <a:p>
            <a:pPr marL="5164455">
              <a:lnSpc>
                <a:spcPct val="100000"/>
              </a:lnSpc>
            </a:pPr>
            <a:r>
              <a:rPr sz="1600" b="1" spc="-10" dirty="0">
                <a:latin typeface="Verdana"/>
                <a:cs typeface="Verdana"/>
              </a:rPr>
              <a:t>Database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800" b="1" spc="-5" dirty="0">
                <a:latin typeface="Verdana"/>
                <a:cs typeface="Verdana"/>
              </a:rPr>
              <a:t>Old</a:t>
            </a:r>
            <a:r>
              <a:rPr sz="1800" b="1" spc="-2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DHCP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Verdana"/>
                <a:cs typeface="Verdana"/>
              </a:rPr>
              <a:t>Server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58824" y="2404872"/>
            <a:ext cx="4671060" cy="1146175"/>
            <a:chOff x="1258824" y="2404872"/>
            <a:chExt cx="4671060" cy="1146175"/>
          </a:xfrm>
        </p:grpSpPr>
        <p:sp>
          <p:nvSpPr>
            <p:cNvPr id="14" name="object 14"/>
            <p:cNvSpPr/>
            <p:nvPr/>
          </p:nvSpPr>
          <p:spPr>
            <a:xfrm>
              <a:off x="5276469" y="2527300"/>
              <a:ext cx="653415" cy="944880"/>
            </a:xfrm>
            <a:custGeom>
              <a:avLst/>
              <a:gdLst/>
              <a:ahLst/>
              <a:cxnLst/>
              <a:rect l="l" t="t" r="r" b="b"/>
              <a:pathLst>
                <a:path w="653414" h="944879">
                  <a:moveTo>
                    <a:pt x="531932" y="816854"/>
                  </a:moveTo>
                  <a:lnTo>
                    <a:pt x="483996" y="849376"/>
                  </a:lnTo>
                  <a:lnTo>
                    <a:pt x="653414" y="944372"/>
                  </a:lnTo>
                  <a:lnTo>
                    <a:pt x="639606" y="840739"/>
                  </a:lnTo>
                  <a:lnTo>
                    <a:pt x="548131" y="840739"/>
                  </a:lnTo>
                  <a:lnTo>
                    <a:pt x="531932" y="816854"/>
                  </a:lnTo>
                  <a:close/>
                </a:path>
                <a:path w="653414" h="944879">
                  <a:moveTo>
                    <a:pt x="579854" y="784341"/>
                  </a:moveTo>
                  <a:lnTo>
                    <a:pt x="531932" y="816854"/>
                  </a:lnTo>
                  <a:lnTo>
                    <a:pt x="548131" y="840739"/>
                  </a:lnTo>
                  <a:lnTo>
                    <a:pt x="596138" y="808354"/>
                  </a:lnTo>
                  <a:lnTo>
                    <a:pt x="579854" y="784341"/>
                  </a:lnTo>
                  <a:close/>
                </a:path>
                <a:path w="653414" h="944879">
                  <a:moveTo>
                    <a:pt x="627760" y="751839"/>
                  </a:moveTo>
                  <a:lnTo>
                    <a:pt x="579854" y="784341"/>
                  </a:lnTo>
                  <a:lnTo>
                    <a:pt x="596138" y="808354"/>
                  </a:lnTo>
                  <a:lnTo>
                    <a:pt x="548131" y="840739"/>
                  </a:lnTo>
                  <a:lnTo>
                    <a:pt x="639606" y="840739"/>
                  </a:lnTo>
                  <a:lnTo>
                    <a:pt x="627760" y="751839"/>
                  </a:lnTo>
                  <a:close/>
                </a:path>
                <a:path w="653414" h="944879">
                  <a:moveTo>
                    <a:pt x="48005" y="0"/>
                  </a:moveTo>
                  <a:lnTo>
                    <a:pt x="0" y="32512"/>
                  </a:lnTo>
                  <a:lnTo>
                    <a:pt x="531932" y="816854"/>
                  </a:lnTo>
                  <a:lnTo>
                    <a:pt x="579854" y="784341"/>
                  </a:lnTo>
                  <a:lnTo>
                    <a:pt x="48005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58824" y="2404872"/>
              <a:ext cx="941832" cy="114604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8028431" y="6257544"/>
            <a:ext cx="928369" cy="439420"/>
            <a:chOff x="8028431" y="6257544"/>
            <a:chExt cx="928369" cy="439420"/>
          </a:xfrm>
        </p:grpSpPr>
        <p:sp>
          <p:nvSpPr>
            <p:cNvPr id="17" name="object 17"/>
            <p:cNvSpPr/>
            <p:nvPr/>
          </p:nvSpPr>
          <p:spPr>
            <a:xfrm>
              <a:off x="8039099" y="6268212"/>
              <a:ext cx="917448" cy="42824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028431" y="6257544"/>
              <a:ext cx="914400" cy="42519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206739" y="6390132"/>
              <a:ext cx="188975" cy="17983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225027" y="6384036"/>
              <a:ext cx="176783" cy="16764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220455" y="6379464"/>
              <a:ext cx="185927" cy="176783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516111" y="6348984"/>
              <a:ext cx="304800" cy="24384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589263" y="6417564"/>
              <a:ext cx="134111" cy="134111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607551" y="6411468"/>
              <a:ext cx="121920" cy="121919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607551" y="6411468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121919"/>
                  </a:moveTo>
                  <a:lnTo>
                    <a:pt x="121920" y="121919"/>
                  </a:lnTo>
                  <a:lnTo>
                    <a:pt x="121920" y="0"/>
                  </a:lnTo>
                  <a:lnTo>
                    <a:pt x="0" y="0"/>
                  </a:lnTo>
                  <a:lnTo>
                    <a:pt x="0" y="121919"/>
                  </a:lnTo>
                  <a:close/>
                </a:path>
              </a:pathLst>
            </a:custGeom>
            <a:ln w="9144">
              <a:solidFill>
                <a:srgbClr val="666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74669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 smtClean="0"/>
              <a:t> </a:t>
            </a:r>
            <a:r>
              <a:rPr spc="-5" dirty="0" smtClean="0"/>
              <a:t> </a:t>
            </a:r>
            <a:r>
              <a:rPr spc="-5" dirty="0"/>
              <a:t>5: </a:t>
            </a:r>
            <a:r>
              <a:rPr dirty="0"/>
              <a:t>Monitoring and </a:t>
            </a:r>
            <a:r>
              <a:rPr spc="-10" dirty="0"/>
              <a:t>Troubleshooting</a:t>
            </a:r>
            <a:r>
              <a:rPr spc="180" dirty="0"/>
              <a:t> </a:t>
            </a:r>
            <a:r>
              <a:rPr dirty="0"/>
              <a:t>DHCP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328" y="946150"/>
            <a:ext cx="5043805" cy="2769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10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Overview </a:t>
            </a:r>
            <a:r>
              <a:rPr sz="2000" dirty="0">
                <a:latin typeface="Verdana"/>
                <a:cs typeface="Verdana"/>
              </a:rPr>
              <a:t>of </a:t>
            </a:r>
            <a:r>
              <a:rPr sz="2000" spc="-5" dirty="0">
                <a:latin typeface="Verdana"/>
                <a:cs typeface="Verdana"/>
              </a:rPr>
              <a:t>Monitoring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DHCP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3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Common </a:t>
            </a:r>
            <a:r>
              <a:rPr sz="2000" dirty="0">
                <a:latin typeface="Verdana"/>
                <a:cs typeface="Verdana"/>
              </a:rPr>
              <a:t>DHCP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Issues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What </a:t>
            </a:r>
            <a:r>
              <a:rPr sz="2000" spc="-5" dirty="0">
                <a:latin typeface="Verdana"/>
                <a:cs typeface="Verdana"/>
              </a:rPr>
              <a:t>Are </a:t>
            </a:r>
            <a:r>
              <a:rPr sz="2000" dirty="0">
                <a:latin typeface="Verdana"/>
                <a:cs typeface="Verdana"/>
              </a:rPr>
              <a:t>DHCP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Statistics?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What Is a DHCP Audit Log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File?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Monitoring </a:t>
            </a:r>
            <a:r>
              <a:rPr sz="2000" dirty="0">
                <a:latin typeface="Verdana"/>
                <a:cs typeface="Verdana"/>
              </a:rPr>
              <a:t>DHCP </a:t>
            </a:r>
            <a:r>
              <a:rPr sz="2000" spc="-5" dirty="0">
                <a:latin typeface="Verdana"/>
                <a:cs typeface="Verdana"/>
              </a:rPr>
              <a:t>Server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Performance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Demonstration: </a:t>
            </a:r>
            <a:r>
              <a:rPr sz="2000" dirty="0">
                <a:latin typeface="Verdana"/>
                <a:cs typeface="Verdana"/>
              </a:rPr>
              <a:t>How </a:t>
            </a:r>
            <a:r>
              <a:rPr sz="2000" spc="-5" dirty="0">
                <a:latin typeface="Verdana"/>
                <a:cs typeface="Verdana"/>
              </a:rPr>
              <a:t>to </a:t>
            </a:r>
            <a:r>
              <a:rPr sz="2000" dirty="0">
                <a:latin typeface="Verdana"/>
                <a:cs typeface="Verdana"/>
              </a:rPr>
              <a:t>Monitor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DHCP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4554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Overview </a:t>
            </a:r>
            <a:r>
              <a:rPr dirty="0"/>
              <a:t>of </a:t>
            </a:r>
            <a:r>
              <a:rPr spc="-5" dirty="0"/>
              <a:t>Monitoring</a:t>
            </a:r>
            <a:r>
              <a:rPr spc="15" dirty="0"/>
              <a:t> </a:t>
            </a:r>
            <a:r>
              <a:rPr dirty="0"/>
              <a:t>DHCP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02336" y="1069847"/>
            <a:ext cx="8305800" cy="2552700"/>
            <a:chOff x="402336" y="1069847"/>
            <a:chExt cx="8305800" cy="2552700"/>
          </a:xfrm>
        </p:grpSpPr>
        <p:sp>
          <p:nvSpPr>
            <p:cNvPr id="4" name="object 4"/>
            <p:cNvSpPr/>
            <p:nvPr/>
          </p:nvSpPr>
          <p:spPr>
            <a:xfrm>
              <a:off x="406908" y="1074419"/>
              <a:ext cx="8296909" cy="2543810"/>
            </a:xfrm>
            <a:custGeom>
              <a:avLst/>
              <a:gdLst/>
              <a:ahLst/>
              <a:cxnLst/>
              <a:rect l="l" t="t" r="r" b="b"/>
              <a:pathLst>
                <a:path w="8296909" h="2543810">
                  <a:moveTo>
                    <a:pt x="8190611" y="0"/>
                  </a:moveTo>
                  <a:lnTo>
                    <a:pt x="105981" y="0"/>
                  </a:lnTo>
                  <a:lnTo>
                    <a:pt x="64727" y="8336"/>
                  </a:lnTo>
                  <a:lnTo>
                    <a:pt x="31040" y="31067"/>
                  </a:lnTo>
                  <a:lnTo>
                    <a:pt x="8328" y="64775"/>
                  </a:lnTo>
                  <a:lnTo>
                    <a:pt x="0" y="106044"/>
                  </a:lnTo>
                  <a:lnTo>
                    <a:pt x="0" y="2437510"/>
                  </a:lnTo>
                  <a:lnTo>
                    <a:pt x="8328" y="2478780"/>
                  </a:lnTo>
                  <a:lnTo>
                    <a:pt x="31040" y="2512488"/>
                  </a:lnTo>
                  <a:lnTo>
                    <a:pt x="64727" y="2535219"/>
                  </a:lnTo>
                  <a:lnTo>
                    <a:pt x="105981" y="2543555"/>
                  </a:lnTo>
                  <a:lnTo>
                    <a:pt x="8190611" y="2543555"/>
                  </a:lnTo>
                  <a:lnTo>
                    <a:pt x="8231880" y="2535219"/>
                  </a:lnTo>
                  <a:lnTo>
                    <a:pt x="8265588" y="2512488"/>
                  </a:lnTo>
                  <a:lnTo>
                    <a:pt x="8288319" y="2478780"/>
                  </a:lnTo>
                  <a:lnTo>
                    <a:pt x="8296656" y="2437510"/>
                  </a:lnTo>
                  <a:lnTo>
                    <a:pt x="8296656" y="106044"/>
                  </a:lnTo>
                  <a:lnTo>
                    <a:pt x="8288319" y="64775"/>
                  </a:lnTo>
                  <a:lnTo>
                    <a:pt x="8265588" y="31067"/>
                  </a:lnTo>
                  <a:lnTo>
                    <a:pt x="8231880" y="8336"/>
                  </a:lnTo>
                  <a:lnTo>
                    <a:pt x="8190611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6908" y="1074419"/>
              <a:ext cx="8296909" cy="2543810"/>
            </a:xfrm>
            <a:custGeom>
              <a:avLst/>
              <a:gdLst/>
              <a:ahLst/>
              <a:cxnLst/>
              <a:rect l="l" t="t" r="r" b="b"/>
              <a:pathLst>
                <a:path w="8296909" h="2543810">
                  <a:moveTo>
                    <a:pt x="0" y="106044"/>
                  </a:moveTo>
                  <a:lnTo>
                    <a:pt x="8328" y="64775"/>
                  </a:lnTo>
                  <a:lnTo>
                    <a:pt x="31040" y="31067"/>
                  </a:lnTo>
                  <a:lnTo>
                    <a:pt x="64727" y="8336"/>
                  </a:lnTo>
                  <a:lnTo>
                    <a:pt x="105981" y="0"/>
                  </a:lnTo>
                  <a:lnTo>
                    <a:pt x="8190611" y="0"/>
                  </a:lnTo>
                  <a:lnTo>
                    <a:pt x="8231880" y="8336"/>
                  </a:lnTo>
                  <a:lnTo>
                    <a:pt x="8265588" y="31067"/>
                  </a:lnTo>
                  <a:lnTo>
                    <a:pt x="8288319" y="64775"/>
                  </a:lnTo>
                  <a:lnTo>
                    <a:pt x="8296656" y="106044"/>
                  </a:lnTo>
                  <a:lnTo>
                    <a:pt x="8296656" y="2437510"/>
                  </a:lnTo>
                  <a:lnTo>
                    <a:pt x="8288319" y="2478780"/>
                  </a:lnTo>
                  <a:lnTo>
                    <a:pt x="8265588" y="2512488"/>
                  </a:lnTo>
                  <a:lnTo>
                    <a:pt x="8231880" y="2535219"/>
                  </a:lnTo>
                  <a:lnTo>
                    <a:pt x="8190611" y="2543555"/>
                  </a:lnTo>
                  <a:lnTo>
                    <a:pt x="105981" y="2543555"/>
                  </a:lnTo>
                  <a:lnTo>
                    <a:pt x="64727" y="2535219"/>
                  </a:lnTo>
                  <a:lnTo>
                    <a:pt x="31040" y="2512488"/>
                  </a:lnTo>
                  <a:lnTo>
                    <a:pt x="8328" y="2478780"/>
                  </a:lnTo>
                  <a:lnTo>
                    <a:pt x="0" y="2437510"/>
                  </a:lnTo>
                  <a:lnTo>
                    <a:pt x="0" y="106044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5508" y="1577339"/>
              <a:ext cx="7839709" cy="1710055"/>
            </a:xfrm>
            <a:custGeom>
              <a:avLst/>
              <a:gdLst/>
              <a:ahLst/>
              <a:cxnLst/>
              <a:rect l="l" t="t" r="r" b="b"/>
              <a:pathLst>
                <a:path w="7839709" h="1710054">
                  <a:moveTo>
                    <a:pt x="7768209" y="0"/>
                  </a:moveTo>
                  <a:lnTo>
                    <a:pt x="71247" y="0"/>
                  </a:lnTo>
                  <a:lnTo>
                    <a:pt x="43516" y="5595"/>
                  </a:lnTo>
                  <a:lnTo>
                    <a:pt x="20869" y="20859"/>
                  </a:lnTo>
                  <a:lnTo>
                    <a:pt x="5599" y="43505"/>
                  </a:lnTo>
                  <a:lnTo>
                    <a:pt x="0" y="71247"/>
                  </a:lnTo>
                  <a:lnTo>
                    <a:pt x="0" y="1638681"/>
                  </a:lnTo>
                  <a:lnTo>
                    <a:pt x="5599" y="1666422"/>
                  </a:lnTo>
                  <a:lnTo>
                    <a:pt x="20869" y="1689068"/>
                  </a:lnTo>
                  <a:lnTo>
                    <a:pt x="43516" y="1704332"/>
                  </a:lnTo>
                  <a:lnTo>
                    <a:pt x="71247" y="1709927"/>
                  </a:lnTo>
                  <a:lnTo>
                    <a:pt x="7768209" y="1709927"/>
                  </a:lnTo>
                  <a:lnTo>
                    <a:pt x="7795950" y="1704332"/>
                  </a:lnTo>
                  <a:lnTo>
                    <a:pt x="7818596" y="1689068"/>
                  </a:lnTo>
                  <a:lnTo>
                    <a:pt x="7833860" y="1666422"/>
                  </a:lnTo>
                  <a:lnTo>
                    <a:pt x="7839456" y="1638681"/>
                  </a:lnTo>
                  <a:lnTo>
                    <a:pt x="7839456" y="71247"/>
                  </a:lnTo>
                  <a:lnTo>
                    <a:pt x="7833860" y="43505"/>
                  </a:lnTo>
                  <a:lnTo>
                    <a:pt x="7818596" y="20859"/>
                  </a:lnTo>
                  <a:lnTo>
                    <a:pt x="7795950" y="5595"/>
                  </a:lnTo>
                  <a:lnTo>
                    <a:pt x="7768209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35508" y="1577339"/>
              <a:ext cx="7839709" cy="1710055"/>
            </a:xfrm>
            <a:custGeom>
              <a:avLst/>
              <a:gdLst/>
              <a:ahLst/>
              <a:cxnLst/>
              <a:rect l="l" t="t" r="r" b="b"/>
              <a:pathLst>
                <a:path w="7839709" h="1710054">
                  <a:moveTo>
                    <a:pt x="0" y="71247"/>
                  </a:moveTo>
                  <a:lnTo>
                    <a:pt x="5599" y="43505"/>
                  </a:lnTo>
                  <a:lnTo>
                    <a:pt x="20869" y="20859"/>
                  </a:lnTo>
                  <a:lnTo>
                    <a:pt x="43516" y="5595"/>
                  </a:lnTo>
                  <a:lnTo>
                    <a:pt x="71247" y="0"/>
                  </a:lnTo>
                  <a:lnTo>
                    <a:pt x="7768209" y="0"/>
                  </a:lnTo>
                  <a:lnTo>
                    <a:pt x="7795950" y="5595"/>
                  </a:lnTo>
                  <a:lnTo>
                    <a:pt x="7818596" y="20859"/>
                  </a:lnTo>
                  <a:lnTo>
                    <a:pt x="7833860" y="43505"/>
                  </a:lnTo>
                  <a:lnTo>
                    <a:pt x="7839456" y="71247"/>
                  </a:lnTo>
                  <a:lnTo>
                    <a:pt x="7839456" y="1638681"/>
                  </a:lnTo>
                  <a:lnTo>
                    <a:pt x="7833860" y="1666422"/>
                  </a:lnTo>
                  <a:lnTo>
                    <a:pt x="7818596" y="1689068"/>
                  </a:lnTo>
                  <a:lnTo>
                    <a:pt x="7795950" y="1704332"/>
                  </a:lnTo>
                  <a:lnTo>
                    <a:pt x="7768209" y="1709927"/>
                  </a:lnTo>
                  <a:lnTo>
                    <a:pt x="71247" y="1709927"/>
                  </a:lnTo>
                  <a:lnTo>
                    <a:pt x="43516" y="1704332"/>
                  </a:lnTo>
                  <a:lnTo>
                    <a:pt x="20869" y="1689068"/>
                  </a:lnTo>
                  <a:lnTo>
                    <a:pt x="5599" y="1666422"/>
                  </a:lnTo>
                  <a:lnTo>
                    <a:pt x="0" y="1638681"/>
                  </a:lnTo>
                  <a:lnTo>
                    <a:pt x="0" y="71247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16432" y="1137665"/>
            <a:ext cx="6932295" cy="1787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Verdana"/>
                <a:cs typeface="Verdana"/>
              </a:rPr>
              <a:t>Why monitor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DHCP?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200">
              <a:latin typeface="Verdana"/>
              <a:cs typeface="Verdana"/>
            </a:endParaRPr>
          </a:p>
          <a:p>
            <a:pPr marL="459105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459740" algn="l"/>
              </a:tabLst>
            </a:pPr>
            <a:r>
              <a:rPr sz="1800" b="1" dirty="0">
                <a:latin typeface="Verdana"/>
                <a:cs typeface="Verdana"/>
              </a:rPr>
              <a:t>To </a:t>
            </a:r>
            <a:r>
              <a:rPr sz="1800" b="1" spc="-5" dirty="0">
                <a:latin typeface="Verdana"/>
                <a:cs typeface="Verdana"/>
              </a:rPr>
              <a:t>observe </a:t>
            </a:r>
            <a:r>
              <a:rPr sz="1800" b="1" dirty="0">
                <a:latin typeface="Verdana"/>
                <a:cs typeface="Verdana"/>
              </a:rPr>
              <a:t>the </a:t>
            </a:r>
            <a:r>
              <a:rPr sz="1800" b="1" spc="-5" dirty="0">
                <a:latin typeface="Verdana"/>
                <a:cs typeface="Verdana"/>
              </a:rPr>
              <a:t>dynamic </a:t>
            </a:r>
            <a:r>
              <a:rPr sz="1800" b="1" dirty="0">
                <a:latin typeface="Verdana"/>
                <a:cs typeface="Verdana"/>
              </a:rPr>
              <a:t>DHCP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environment</a:t>
            </a:r>
            <a:endParaRPr sz="1800">
              <a:latin typeface="Verdana"/>
              <a:cs typeface="Verdana"/>
            </a:endParaRPr>
          </a:p>
          <a:p>
            <a:pPr marL="459105" indent="-229235">
              <a:lnSpc>
                <a:spcPct val="100000"/>
              </a:lnSpc>
              <a:spcBef>
                <a:spcPts val="655"/>
              </a:spcBef>
              <a:buClr>
                <a:srgbClr val="006699"/>
              </a:buClr>
              <a:buFont typeface="Verdana"/>
              <a:buChar char="•"/>
              <a:tabLst>
                <a:tab pos="459740" algn="l"/>
              </a:tabLst>
            </a:pPr>
            <a:r>
              <a:rPr sz="1800" b="1" dirty="0">
                <a:latin typeface="Verdana"/>
                <a:cs typeface="Verdana"/>
              </a:rPr>
              <a:t>To determine DHCP </a:t>
            </a:r>
            <a:r>
              <a:rPr sz="1800" b="1" spc="-5" dirty="0">
                <a:latin typeface="Verdana"/>
                <a:cs typeface="Verdana"/>
              </a:rPr>
              <a:t>server performance</a:t>
            </a:r>
            <a:endParaRPr sz="1800">
              <a:latin typeface="Verdana"/>
              <a:cs typeface="Verdana"/>
            </a:endParaRPr>
          </a:p>
          <a:p>
            <a:pPr marL="459105" indent="-229235">
              <a:lnSpc>
                <a:spcPct val="100000"/>
              </a:lnSpc>
              <a:spcBef>
                <a:spcPts val="645"/>
              </a:spcBef>
              <a:buClr>
                <a:srgbClr val="006699"/>
              </a:buClr>
              <a:buFont typeface="Verdana"/>
              <a:buChar char="•"/>
              <a:tabLst>
                <a:tab pos="459740" algn="l"/>
              </a:tabLst>
            </a:pPr>
            <a:r>
              <a:rPr sz="1800" b="1" dirty="0">
                <a:latin typeface="Verdana"/>
                <a:cs typeface="Verdana"/>
              </a:rPr>
              <a:t>To </a:t>
            </a:r>
            <a:r>
              <a:rPr sz="1800" b="1" spc="-5" dirty="0">
                <a:latin typeface="Verdana"/>
                <a:cs typeface="Verdana"/>
              </a:rPr>
              <a:t>facilitate planning for current </a:t>
            </a:r>
            <a:r>
              <a:rPr sz="1800" b="1" dirty="0">
                <a:latin typeface="Verdana"/>
                <a:cs typeface="Verdana"/>
              </a:rPr>
              <a:t>and </a:t>
            </a:r>
            <a:r>
              <a:rPr sz="1800" b="1" spc="-5" dirty="0">
                <a:latin typeface="Verdana"/>
                <a:cs typeface="Verdana"/>
              </a:rPr>
              <a:t>future</a:t>
            </a:r>
            <a:r>
              <a:rPr sz="1800" b="1" spc="5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needs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02336" y="3788664"/>
            <a:ext cx="8305800" cy="2270760"/>
            <a:chOff x="402336" y="3788664"/>
            <a:chExt cx="8305800" cy="2270760"/>
          </a:xfrm>
        </p:grpSpPr>
        <p:sp>
          <p:nvSpPr>
            <p:cNvPr id="10" name="object 10"/>
            <p:cNvSpPr/>
            <p:nvPr/>
          </p:nvSpPr>
          <p:spPr>
            <a:xfrm>
              <a:off x="406908" y="3793236"/>
              <a:ext cx="8296909" cy="2261870"/>
            </a:xfrm>
            <a:custGeom>
              <a:avLst/>
              <a:gdLst/>
              <a:ahLst/>
              <a:cxnLst/>
              <a:rect l="l" t="t" r="r" b="b"/>
              <a:pathLst>
                <a:path w="8296909" h="2261870">
                  <a:moveTo>
                    <a:pt x="8202422" y="0"/>
                  </a:moveTo>
                  <a:lnTo>
                    <a:pt x="94246" y="0"/>
                  </a:lnTo>
                  <a:lnTo>
                    <a:pt x="57558" y="7401"/>
                  </a:lnTo>
                  <a:lnTo>
                    <a:pt x="27601" y="27590"/>
                  </a:lnTo>
                  <a:lnTo>
                    <a:pt x="7405" y="57542"/>
                  </a:lnTo>
                  <a:lnTo>
                    <a:pt x="0" y="94233"/>
                  </a:lnTo>
                  <a:lnTo>
                    <a:pt x="0" y="2167369"/>
                  </a:lnTo>
                  <a:lnTo>
                    <a:pt x="7405" y="2204057"/>
                  </a:lnTo>
                  <a:lnTo>
                    <a:pt x="27601" y="2234014"/>
                  </a:lnTo>
                  <a:lnTo>
                    <a:pt x="57558" y="2254210"/>
                  </a:lnTo>
                  <a:lnTo>
                    <a:pt x="94246" y="2261616"/>
                  </a:lnTo>
                  <a:lnTo>
                    <a:pt x="8202422" y="2261616"/>
                  </a:lnTo>
                  <a:lnTo>
                    <a:pt x="8239113" y="2254210"/>
                  </a:lnTo>
                  <a:lnTo>
                    <a:pt x="8269065" y="2234014"/>
                  </a:lnTo>
                  <a:lnTo>
                    <a:pt x="8289254" y="2204057"/>
                  </a:lnTo>
                  <a:lnTo>
                    <a:pt x="8296656" y="2167369"/>
                  </a:lnTo>
                  <a:lnTo>
                    <a:pt x="8296656" y="94233"/>
                  </a:lnTo>
                  <a:lnTo>
                    <a:pt x="8289254" y="57542"/>
                  </a:lnTo>
                  <a:lnTo>
                    <a:pt x="8269065" y="27590"/>
                  </a:lnTo>
                  <a:lnTo>
                    <a:pt x="8239113" y="7401"/>
                  </a:lnTo>
                  <a:lnTo>
                    <a:pt x="8202422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6908" y="3793236"/>
              <a:ext cx="8296909" cy="2261870"/>
            </a:xfrm>
            <a:custGeom>
              <a:avLst/>
              <a:gdLst/>
              <a:ahLst/>
              <a:cxnLst/>
              <a:rect l="l" t="t" r="r" b="b"/>
              <a:pathLst>
                <a:path w="8296909" h="2261870">
                  <a:moveTo>
                    <a:pt x="0" y="94233"/>
                  </a:moveTo>
                  <a:lnTo>
                    <a:pt x="7405" y="57542"/>
                  </a:lnTo>
                  <a:lnTo>
                    <a:pt x="27601" y="27590"/>
                  </a:lnTo>
                  <a:lnTo>
                    <a:pt x="57558" y="7401"/>
                  </a:lnTo>
                  <a:lnTo>
                    <a:pt x="94246" y="0"/>
                  </a:lnTo>
                  <a:lnTo>
                    <a:pt x="8202422" y="0"/>
                  </a:lnTo>
                  <a:lnTo>
                    <a:pt x="8239113" y="7401"/>
                  </a:lnTo>
                  <a:lnTo>
                    <a:pt x="8269065" y="27590"/>
                  </a:lnTo>
                  <a:lnTo>
                    <a:pt x="8289254" y="57542"/>
                  </a:lnTo>
                  <a:lnTo>
                    <a:pt x="8296656" y="94233"/>
                  </a:lnTo>
                  <a:lnTo>
                    <a:pt x="8296656" y="2167369"/>
                  </a:lnTo>
                  <a:lnTo>
                    <a:pt x="8289254" y="2204057"/>
                  </a:lnTo>
                  <a:lnTo>
                    <a:pt x="8269065" y="2234014"/>
                  </a:lnTo>
                  <a:lnTo>
                    <a:pt x="8239113" y="2254210"/>
                  </a:lnTo>
                  <a:lnTo>
                    <a:pt x="8202422" y="2261616"/>
                  </a:lnTo>
                  <a:lnTo>
                    <a:pt x="94246" y="2261616"/>
                  </a:lnTo>
                  <a:lnTo>
                    <a:pt x="57558" y="2254210"/>
                  </a:lnTo>
                  <a:lnTo>
                    <a:pt x="27601" y="2234014"/>
                  </a:lnTo>
                  <a:lnTo>
                    <a:pt x="7405" y="2204057"/>
                  </a:lnTo>
                  <a:lnTo>
                    <a:pt x="0" y="2167369"/>
                  </a:lnTo>
                  <a:lnTo>
                    <a:pt x="0" y="94233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5508" y="4296156"/>
              <a:ext cx="7839709" cy="1428115"/>
            </a:xfrm>
            <a:custGeom>
              <a:avLst/>
              <a:gdLst/>
              <a:ahLst/>
              <a:cxnLst/>
              <a:rect l="l" t="t" r="r" b="b"/>
              <a:pathLst>
                <a:path w="7839709" h="1428114">
                  <a:moveTo>
                    <a:pt x="7779893" y="0"/>
                  </a:moveTo>
                  <a:lnTo>
                    <a:pt x="59512" y="0"/>
                  </a:lnTo>
                  <a:lnTo>
                    <a:pt x="36347" y="4681"/>
                  </a:lnTo>
                  <a:lnTo>
                    <a:pt x="17430" y="17446"/>
                  </a:lnTo>
                  <a:lnTo>
                    <a:pt x="4676" y="36379"/>
                  </a:lnTo>
                  <a:lnTo>
                    <a:pt x="0" y="59563"/>
                  </a:lnTo>
                  <a:lnTo>
                    <a:pt x="0" y="1368475"/>
                  </a:lnTo>
                  <a:lnTo>
                    <a:pt x="4676" y="1391640"/>
                  </a:lnTo>
                  <a:lnTo>
                    <a:pt x="17430" y="1410557"/>
                  </a:lnTo>
                  <a:lnTo>
                    <a:pt x="36347" y="1423311"/>
                  </a:lnTo>
                  <a:lnTo>
                    <a:pt x="59512" y="1427988"/>
                  </a:lnTo>
                  <a:lnTo>
                    <a:pt x="7779893" y="1427988"/>
                  </a:lnTo>
                  <a:lnTo>
                    <a:pt x="7803076" y="1423311"/>
                  </a:lnTo>
                  <a:lnTo>
                    <a:pt x="7822009" y="1410557"/>
                  </a:lnTo>
                  <a:lnTo>
                    <a:pt x="7834774" y="1391640"/>
                  </a:lnTo>
                  <a:lnTo>
                    <a:pt x="7839456" y="1368475"/>
                  </a:lnTo>
                  <a:lnTo>
                    <a:pt x="7839456" y="59563"/>
                  </a:lnTo>
                  <a:lnTo>
                    <a:pt x="7834774" y="36379"/>
                  </a:lnTo>
                  <a:lnTo>
                    <a:pt x="7822009" y="17446"/>
                  </a:lnTo>
                  <a:lnTo>
                    <a:pt x="7803076" y="4681"/>
                  </a:lnTo>
                  <a:lnTo>
                    <a:pt x="7779893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35508" y="4296156"/>
              <a:ext cx="7839709" cy="1428115"/>
            </a:xfrm>
            <a:custGeom>
              <a:avLst/>
              <a:gdLst/>
              <a:ahLst/>
              <a:cxnLst/>
              <a:rect l="l" t="t" r="r" b="b"/>
              <a:pathLst>
                <a:path w="7839709" h="1428114">
                  <a:moveTo>
                    <a:pt x="0" y="59563"/>
                  </a:moveTo>
                  <a:lnTo>
                    <a:pt x="4676" y="36379"/>
                  </a:lnTo>
                  <a:lnTo>
                    <a:pt x="17430" y="17446"/>
                  </a:lnTo>
                  <a:lnTo>
                    <a:pt x="36347" y="4681"/>
                  </a:lnTo>
                  <a:lnTo>
                    <a:pt x="59512" y="0"/>
                  </a:lnTo>
                  <a:lnTo>
                    <a:pt x="7779893" y="0"/>
                  </a:lnTo>
                  <a:lnTo>
                    <a:pt x="7803076" y="4681"/>
                  </a:lnTo>
                  <a:lnTo>
                    <a:pt x="7822009" y="17446"/>
                  </a:lnTo>
                  <a:lnTo>
                    <a:pt x="7834774" y="36379"/>
                  </a:lnTo>
                  <a:lnTo>
                    <a:pt x="7839456" y="59563"/>
                  </a:lnTo>
                  <a:lnTo>
                    <a:pt x="7839456" y="1368475"/>
                  </a:lnTo>
                  <a:lnTo>
                    <a:pt x="7834774" y="1391640"/>
                  </a:lnTo>
                  <a:lnTo>
                    <a:pt x="7822009" y="1410557"/>
                  </a:lnTo>
                  <a:lnTo>
                    <a:pt x="7803076" y="1423311"/>
                  </a:lnTo>
                  <a:lnTo>
                    <a:pt x="7779893" y="1427988"/>
                  </a:lnTo>
                  <a:lnTo>
                    <a:pt x="59512" y="1427988"/>
                  </a:lnTo>
                  <a:lnTo>
                    <a:pt x="36347" y="1423311"/>
                  </a:lnTo>
                  <a:lnTo>
                    <a:pt x="17430" y="1410557"/>
                  </a:lnTo>
                  <a:lnTo>
                    <a:pt x="4676" y="1391640"/>
                  </a:lnTo>
                  <a:lnTo>
                    <a:pt x="0" y="1368475"/>
                  </a:lnTo>
                  <a:lnTo>
                    <a:pt x="0" y="59563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12775" y="3852417"/>
            <a:ext cx="3550920" cy="16503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Verdana"/>
                <a:cs typeface="Verdana"/>
              </a:rPr>
              <a:t>DHCP </a:t>
            </a:r>
            <a:r>
              <a:rPr sz="1800" b="1" spc="-5" dirty="0">
                <a:latin typeface="Verdana"/>
                <a:cs typeface="Verdana"/>
              </a:rPr>
              <a:t>data</a:t>
            </a:r>
            <a:r>
              <a:rPr sz="1800" b="1" spc="-1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includes: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300">
              <a:latin typeface="Verdana"/>
              <a:cs typeface="Verdana"/>
            </a:endParaRPr>
          </a:p>
          <a:p>
            <a:pPr marL="459740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460375" algn="l"/>
              </a:tabLst>
            </a:pPr>
            <a:r>
              <a:rPr sz="1800" b="1" dirty="0">
                <a:latin typeface="Verdana"/>
                <a:cs typeface="Verdana"/>
              </a:rPr>
              <a:t>DHCP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statistics</a:t>
            </a:r>
            <a:endParaRPr sz="1800">
              <a:latin typeface="Verdana"/>
              <a:cs typeface="Verdana"/>
            </a:endParaRPr>
          </a:p>
          <a:p>
            <a:pPr marL="459740" indent="-229235">
              <a:lnSpc>
                <a:spcPct val="100000"/>
              </a:lnSpc>
              <a:spcBef>
                <a:spcPts val="645"/>
              </a:spcBef>
              <a:buClr>
                <a:srgbClr val="006699"/>
              </a:buClr>
              <a:buFont typeface="Verdana"/>
              <a:buChar char="•"/>
              <a:tabLst>
                <a:tab pos="460375" algn="l"/>
              </a:tabLst>
            </a:pPr>
            <a:r>
              <a:rPr sz="1800" b="1" dirty="0">
                <a:latin typeface="Verdana"/>
                <a:cs typeface="Verdana"/>
              </a:rPr>
              <a:t>DHCP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events</a:t>
            </a:r>
            <a:endParaRPr sz="1800">
              <a:latin typeface="Verdana"/>
              <a:cs typeface="Verdana"/>
            </a:endParaRPr>
          </a:p>
          <a:p>
            <a:pPr marL="459740" indent="-229235">
              <a:lnSpc>
                <a:spcPct val="100000"/>
              </a:lnSpc>
              <a:spcBef>
                <a:spcPts val="650"/>
              </a:spcBef>
              <a:buClr>
                <a:srgbClr val="006699"/>
              </a:buClr>
              <a:buFont typeface="Verdana"/>
              <a:buChar char="•"/>
              <a:tabLst>
                <a:tab pos="460375" algn="l"/>
              </a:tabLst>
            </a:pPr>
            <a:r>
              <a:rPr sz="1800" b="1" dirty="0">
                <a:latin typeface="Verdana"/>
                <a:cs typeface="Verdana"/>
              </a:rPr>
              <a:t>DHCP </a:t>
            </a:r>
            <a:r>
              <a:rPr sz="1800" b="1" spc="-5" dirty="0">
                <a:latin typeface="Verdana"/>
                <a:cs typeface="Verdana"/>
              </a:rPr>
              <a:t>performance</a:t>
            </a:r>
            <a:r>
              <a:rPr sz="1800" b="1" spc="-6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data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34505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Common </a:t>
            </a:r>
            <a:r>
              <a:rPr dirty="0"/>
              <a:t>DHCP</a:t>
            </a:r>
            <a:r>
              <a:rPr spc="-45" dirty="0"/>
              <a:t> </a:t>
            </a:r>
            <a:r>
              <a:rPr spc="-5" dirty="0"/>
              <a:t>Issues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70559" y="1426463"/>
            <a:ext cx="7775575" cy="3564890"/>
            <a:chOff x="670559" y="1426463"/>
            <a:chExt cx="7775575" cy="3564890"/>
          </a:xfrm>
        </p:grpSpPr>
        <p:sp>
          <p:nvSpPr>
            <p:cNvPr id="4" name="object 4"/>
            <p:cNvSpPr/>
            <p:nvPr/>
          </p:nvSpPr>
          <p:spPr>
            <a:xfrm>
              <a:off x="675131" y="1431035"/>
              <a:ext cx="7766684" cy="3556000"/>
            </a:xfrm>
            <a:custGeom>
              <a:avLst/>
              <a:gdLst/>
              <a:ahLst/>
              <a:cxnLst/>
              <a:rect l="l" t="t" r="r" b="b"/>
              <a:pathLst>
                <a:path w="7766684" h="3556000">
                  <a:moveTo>
                    <a:pt x="7618095" y="0"/>
                  </a:moveTo>
                  <a:lnTo>
                    <a:pt x="148158" y="0"/>
                  </a:lnTo>
                  <a:lnTo>
                    <a:pt x="101328" y="7549"/>
                  </a:lnTo>
                  <a:lnTo>
                    <a:pt x="60657" y="28578"/>
                  </a:lnTo>
                  <a:lnTo>
                    <a:pt x="28585" y="60652"/>
                  </a:lnTo>
                  <a:lnTo>
                    <a:pt x="7553" y="101339"/>
                  </a:lnTo>
                  <a:lnTo>
                    <a:pt x="0" y="148209"/>
                  </a:lnTo>
                  <a:lnTo>
                    <a:pt x="0" y="3407282"/>
                  </a:lnTo>
                  <a:lnTo>
                    <a:pt x="7553" y="3454152"/>
                  </a:lnTo>
                  <a:lnTo>
                    <a:pt x="28585" y="3494839"/>
                  </a:lnTo>
                  <a:lnTo>
                    <a:pt x="60657" y="3526913"/>
                  </a:lnTo>
                  <a:lnTo>
                    <a:pt x="101328" y="3547942"/>
                  </a:lnTo>
                  <a:lnTo>
                    <a:pt x="148158" y="3555491"/>
                  </a:lnTo>
                  <a:lnTo>
                    <a:pt x="7618095" y="3555491"/>
                  </a:lnTo>
                  <a:lnTo>
                    <a:pt x="7664964" y="3547942"/>
                  </a:lnTo>
                  <a:lnTo>
                    <a:pt x="7705651" y="3526913"/>
                  </a:lnTo>
                  <a:lnTo>
                    <a:pt x="7737725" y="3494839"/>
                  </a:lnTo>
                  <a:lnTo>
                    <a:pt x="7758754" y="3454152"/>
                  </a:lnTo>
                  <a:lnTo>
                    <a:pt x="7766304" y="3407282"/>
                  </a:lnTo>
                  <a:lnTo>
                    <a:pt x="7766304" y="148209"/>
                  </a:lnTo>
                  <a:lnTo>
                    <a:pt x="7758754" y="101339"/>
                  </a:lnTo>
                  <a:lnTo>
                    <a:pt x="7737725" y="60652"/>
                  </a:lnTo>
                  <a:lnTo>
                    <a:pt x="7705651" y="28578"/>
                  </a:lnTo>
                  <a:lnTo>
                    <a:pt x="7664964" y="7549"/>
                  </a:lnTo>
                  <a:lnTo>
                    <a:pt x="7618095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5131" y="1431035"/>
              <a:ext cx="7766684" cy="3556000"/>
            </a:xfrm>
            <a:custGeom>
              <a:avLst/>
              <a:gdLst/>
              <a:ahLst/>
              <a:cxnLst/>
              <a:rect l="l" t="t" r="r" b="b"/>
              <a:pathLst>
                <a:path w="7766684" h="3556000">
                  <a:moveTo>
                    <a:pt x="0" y="148209"/>
                  </a:moveTo>
                  <a:lnTo>
                    <a:pt x="7553" y="101339"/>
                  </a:lnTo>
                  <a:lnTo>
                    <a:pt x="28585" y="60652"/>
                  </a:lnTo>
                  <a:lnTo>
                    <a:pt x="60657" y="28578"/>
                  </a:lnTo>
                  <a:lnTo>
                    <a:pt x="101328" y="7549"/>
                  </a:lnTo>
                  <a:lnTo>
                    <a:pt x="148158" y="0"/>
                  </a:lnTo>
                  <a:lnTo>
                    <a:pt x="7618095" y="0"/>
                  </a:lnTo>
                  <a:lnTo>
                    <a:pt x="7664964" y="7549"/>
                  </a:lnTo>
                  <a:lnTo>
                    <a:pt x="7705651" y="28578"/>
                  </a:lnTo>
                  <a:lnTo>
                    <a:pt x="7737725" y="60652"/>
                  </a:lnTo>
                  <a:lnTo>
                    <a:pt x="7758754" y="101339"/>
                  </a:lnTo>
                  <a:lnTo>
                    <a:pt x="7766304" y="148209"/>
                  </a:lnTo>
                  <a:lnTo>
                    <a:pt x="7766304" y="3407282"/>
                  </a:lnTo>
                  <a:lnTo>
                    <a:pt x="7758754" y="3454152"/>
                  </a:lnTo>
                  <a:lnTo>
                    <a:pt x="7737725" y="3494839"/>
                  </a:lnTo>
                  <a:lnTo>
                    <a:pt x="7705651" y="3526913"/>
                  </a:lnTo>
                  <a:lnTo>
                    <a:pt x="7664964" y="3547942"/>
                  </a:lnTo>
                  <a:lnTo>
                    <a:pt x="7618095" y="3555491"/>
                  </a:lnTo>
                  <a:lnTo>
                    <a:pt x="148158" y="3555491"/>
                  </a:lnTo>
                  <a:lnTo>
                    <a:pt x="101328" y="3547942"/>
                  </a:lnTo>
                  <a:lnTo>
                    <a:pt x="60657" y="3526913"/>
                  </a:lnTo>
                  <a:lnTo>
                    <a:pt x="28585" y="3494839"/>
                  </a:lnTo>
                  <a:lnTo>
                    <a:pt x="7553" y="3454152"/>
                  </a:lnTo>
                  <a:lnTo>
                    <a:pt x="0" y="3407282"/>
                  </a:lnTo>
                  <a:lnTo>
                    <a:pt x="0" y="148209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4107" y="1749552"/>
              <a:ext cx="7388859" cy="486409"/>
            </a:xfrm>
            <a:custGeom>
              <a:avLst/>
              <a:gdLst/>
              <a:ahLst/>
              <a:cxnLst/>
              <a:rect l="l" t="t" r="r" b="b"/>
              <a:pathLst>
                <a:path w="7388859" h="486410">
                  <a:moveTo>
                    <a:pt x="7368032" y="0"/>
                  </a:moveTo>
                  <a:lnTo>
                    <a:pt x="20256" y="0"/>
                  </a:lnTo>
                  <a:lnTo>
                    <a:pt x="12371" y="1585"/>
                  </a:lnTo>
                  <a:lnTo>
                    <a:pt x="5932" y="5921"/>
                  </a:lnTo>
                  <a:lnTo>
                    <a:pt x="1591" y="12376"/>
                  </a:lnTo>
                  <a:lnTo>
                    <a:pt x="0" y="20320"/>
                  </a:lnTo>
                  <a:lnTo>
                    <a:pt x="0" y="465836"/>
                  </a:lnTo>
                  <a:lnTo>
                    <a:pt x="1591" y="473779"/>
                  </a:lnTo>
                  <a:lnTo>
                    <a:pt x="5932" y="480234"/>
                  </a:lnTo>
                  <a:lnTo>
                    <a:pt x="12371" y="484570"/>
                  </a:lnTo>
                  <a:lnTo>
                    <a:pt x="20256" y="486156"/>
                  </a:lnTo>
                  <a:lnTo>
                    <a:pt x="7368032" y="486156"/>
                  </a:lnTo>
                  <a:lnTo>
                    <a:pt x="7375975" y="484570"/>
                  </a:lnTo>
                  <a:lnTo>
                    <a:pt x="7382430" y="480234"/>
                  </a:lnTo>
                  <a:lnTo>
                    <a:pt x="7386766" y="473779"/>
                  </a:lnTo>
                  <a:lnTo>
                    <a:pt x="7388352" y="465836"/>
                  </a:lnTo>
                  <a:lnTo>
                    <a:pt x="7388352" y="20320"/>
                  </a:lnTo>
                  <a:lnTo>
                    <a:pt x="7386766" y="12376"/>
                  </a:lnTo>
                  <a:lnTo>
                    <a:pt x="7382430" y="5921"/>
                  </a:lnTo>
                  <a:lnTo>
                    <a:pt x="7375975" y="1585"/>
                  </a:lnTo>
                  <a:lnTo>
                    <a:pt x="736803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4107" y="1749552"/>
              <a:ext cx="7388859" cy="486409"/>
            </a:xfrm>
            <a:custGeom>
              <a:avLst/>
              <a:gdLst/>
              <a:ahLst/>
              <a:cxnLst/>
              <a:rect l="l" t="t" r="r" b="b"/>
              <a:pathLst>
                <a:path w="7388859" h="486410">
                  <a:moveTo>
                    <a:pt x="0" y="20320"/>
                  </a:moveTo>
                  <a:lnTo>
                    <a:pt x="1591" y="12376"/>
                  </a:lnTo>
                  <a:lnTo>
                    <a:pt x="5932" y="5921"/>
                  </a:lnTo>
                  <a:lnTo>
                    <a:pt x="12371" y="1585"/>
                  </a:lnTo>
                  <a:lnTo>
                    <a:pt x="20256" y="0"/>
                  </a:lnTo>
                  <a:lnTo>
                    <a:pt x="7368032" y="0"/>
                  </a:lnTo>
                  <a:lnTo>
                    <a:pt x="7375975" y="1585"/>
                  </a:lnTo>
                  <a:lnTo>
                    <a:pt x="7382430" y="5921"/>
                  </a:lnTo>
                  <a:lnTo>
                    <a:pt x="7386766" y="12376"/>
                  </a:lnTo>
                  <a:lnTo>
                    <a:pt x="7388352" y="20320"/>
                  </a:lnTo>
                  <a:lnTo>
                    <a:pt x="7388352" y="465836"/>
                  </a:lnTo>
                  <a:lnTo>
                    <a:pt x="7386766" y="473779"/>
                  </a:lnTo>
                  <a:lnTo>
                    <a:pt x="7382430" y="480234"/>
                  </a:lnTo>
                  <a:lnTo>
                    <a:pt x="7375975" y="484570"/>
                  </a:lnTo>
                  <a:lnTo>
                    <a:pt x="7368032" y="486156"/>
                  </a:lnTo>
                  <a:lnTo>
                    <a:pt x="20256" y="486156"/>
                  </a:lnTo>
                  <a:lnTo>
                    <a:pt x="12371" y="484570"/>
                  </a:lnTo>
                  <a:lnTo>
                    <a:pt x="5932" y="480234"/>
                  </a:lnTo>
                  <a:lnTo>
                    <a:pt x="1591" y="473779"/>
                  </a:lnTo>
                  <a:lnTo>
                    <a:pt x="0" y="465836"/>
                  </a:lnTo>
                  <a:lnTo>
                    <a:pt x="0" y="20320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64107" y="2359152"/>
              <a:ext cx="7388859" cy="486409"/>
            </a:xfrm>
            <a:custGeom>
              <a:avLst/>
              <a:gdLst/>
              <a:ahLst/>
              <a:cxnLst/>
              <a:rect l="l" t="t" r="r" b="b"/>
              <a:pathLst>
                <a:path w="7388859" h="486410">
                  <a:moveTo>
                    <a:pt x="7368032" y="0"/>
                  </a:moveTo>
                  <a:lnTo>
                    <a:pt x="20256" y="0"/>
                  </a:lnTo>
                  <a:lnTo>
                    <a:pt x="12371" y="1585"/>
                  </a:lnTo>
                  <a:lnTo>
                    <a:pt x="5932" y="5921"/>
                  </a:lnTo>
                  <a:lnTo>
                    <a:pt x="1591" y="12376"/>
                  </a:lnTo>
                  <a:lnTo>
                    <a:pt x="0" y="20320"/>
                  </a:lnTo>
                  <a:lnTo>
                    <a:pt x="0" y="465836"/>
                  </a:lnTo>
                  <a:lnTo>
                    <a:pt x="1591" y="473779"/>
                  </a:lnTo>
                  <a:lnTo>
                    <a:pt x="5932" y="480234"/>
                  </a:lnTo>
                  <a:lnTo>
                    <a:pt x="12371" y="484570"/>
                  </a:lnTo>
                  <a:lnTo>
                    <a:pt x="20256" y="486156"/>
                  </a:lnTo>
                  <a:lnTo>
                    <a:pt x="7368032" y="486156"/>
                  </a:lnTo>
                  <a:lnTo>
                    <a:pt x="7375975" y="484570"/>
                  </a:lnTo>
                  <a:lnTo>
                    <a:pt x="7382430" y="480234"/>
                  </a:lnTo>
                  <a:lnTo>
                    <a:pt x="7386766" y="473779"/>
                  </a:lnTo>
                  <a:lnTo>
                    <a:pt x="7388352" y="465836"/>
                  </a:lnTo>
                  <a:lnTo>
                    <a:pt x="7388352" y="20320"/>
                  </a:lnTo>
                  <a:lnTo>
                    <a:pt x="7386766" y="12376"/>
                  </a:lnTo>
                  <a:lnTo>
                    <a:pt x="7382430" y="5921"/>
                  </a:lnTo>
                  <a:lnTo>
                    <a:pt x="7375975" y="1585"/>
                  </a:lnTo>
                  <a:lnTo>
                    <a:pt x="736803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4107" y="2359152"/>
              <a:ext cx="7388859" cy="486409"/>
            </a:xfrm>
            <a:custGeom>
              <a:avLst/>
              <a:gdLst/>
              <a:ahLst/>
              <a:cxnLst/>
              <a:rect l="l" t="t" r="r" b="b"/>
              <a:pathLst>
                <a:path w="7388859" h="486410">
                  <a:moveTo>
                    <a:pt x="0" y="20320"/>
                  </a:moveTo>
                  <a:lnTo>
                    <a:pt x="1591" y="12376"/>
                  </a:lnTo>
                  <a:lnTo>
                    <a:pt x="5932" y="5921"/>
                  </a:lnTo>
                  <a:lnTo>
                    <a:pt x="12371" y="1585"/>
                  </a:lnTo>
                  <a:lnTo>
                    <a:pt x="20256" y="0"/>
                  </a:lnTo>
                  <a:lnTo>
                    <a:pt x="7368032" y="0"/>
                  </a:lnTo>
                  <a:lnTo>
                    <a:pt x="7375975" y="1585"/>
                  </a:lnTo>
                  <a:lnTo>
                    <a:pt x="7382430" y="5921"/>
                  </a:lnTo>
                  <a:lnTo>
                    <a:pt x="7386766" y="12376"/>
                  </a:lnTo>
                  <a:lnTo>
                    <a:pt x="7388352" y="20320"/>
                  </a:lnTo>
                  <a:lnTo>
                    <a:pt x="7388352" y="465836"/>
                  </a:lnTo>
                  <a:lnTo>
                    <a:pt x="7386766" y="473779"/>
                  </a:lnTo>
                  <a:lnTo>
                    <a:pt x="7382430" y="480234"/>
                  </a:lnTo>
                  <a:lnTo>
                    <a:pt x="7375975" y="484570"/>
                  </a:lnTo>
                  <a:lnTo>
                    <a:pt x="7368032" y="486156"/>
                  </a:lnTo>
                  <a:lnTo>
                    <a:pt x="20256" y="486156"/>
                  </a:lnTo>
                  <a:lnTo>
                    <a:pt x="12371" y="484570"/>
                  </a:lnTo>
                  <a:lnTo>
                    <a:pt x="5932" y="480234"/>
                  </a:lnTo>
                  <a:lnTo>
                    <a:pt x="1591" y="473779"/>
                  </a:lnTo>
                  <a:lnTo>
                    <a:pt x="0" y="465836"/>
                  </a:lnTo>
                  <a:lnTo>
                    <a:pt x="0" y="20320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" y="2965703"/>
              <a:ext cx="7388859" cy="486409"/>
            </a:xfrm>
            <a:custGeom>
              <a:avLst/>
              <a:gdLst/>
              <a:ahLst/>
              <a:cxnLst/>
              <a:rect l="l" t="t" r="r" b="b"/>
              <a:pathLst>
                <a:path w="7388859" h="486410">
                  <a:moveTo>
                    <a:pt x="7368032" y="0"/>
                  </a:moveTo>
                  <a:lnTo>
                    <a:pt x="20256" y="0"/>
                  </a:lnTo>
                  <a:lnTo>
                    <a:pt x="12371" y="1585"/>
                  </a:lnTo>
                  <a:lnTo>
                    <a:pt x="5932" y="5921"/>
                  </a:lnTo>
                  <a:lnTo>
                    <a:pt x="1591" y="12376"/>
                  </a:lnTo>
                  <a:lnTo>
                    <a:pt x="0" y="20320"/>
                  </a:lnTo>
                  <a:lnTo>
                    <a:pt x="0" y="465836"/>
                  </a:lnTo>
                  <a:lnTo>
                    <a:pt x="1591" y="473779"/>
                  </a:lnTo>
                  <a:lnTo>
                    <a:pt x="5932" y="480234"/>
                  </a:lnTo>
                  <a:lnTo>
                    <a:pt x="12371" y="484570"/>
                  </a:lnTo>
                  <a:lnTo>
                    <a:pt x="20256" y="486156"/>
                  </a:lnTo>
                  <a:lnTo>
                    <a:pt x="7368032" y="486156"/>
                  </a:lnTo>
                  <a:lnTo>
                    <a:pt x="7375975" y="484570"/>
                  </a:lnTo>
                  <a:lnTo>
                    <a:pt x="7382430" y="480234"/>
                  </a:lnTo>
                  <a:lnTo>
                    <a:pt x="7386766" y="473779"/>
                  </a:lnTo>
                  <a:lnTo>
                    <a:pt x="7388352" y="465836"/>
                  </a:lnTo>
                  <a:lnTo>
                    <a:pt x="7388352" y="20320"/>
                  </a:lnTo>
                  <a:lnTo>
                    <a:pt x="7386766" y="12376"/>
                  </a:lnTo>
                  <a:lnTo>
                    <a:pt x="7382430" y="5921"/>
                  </a:lnTo>
                  <a:lnTo>
                    <a:pt x="7375975" y="1585"/>
                  </a:lnTo>
                  <a:lnTo>
                    <a:pt x="736803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" y="2965703"/>
              <a:ext cx="7388859" cy="486409"/>
            </a:xfrm>
            <a:custGeom>
              <a:avLst/>
              <a:gdLst/>
              <a:ahLst/>
              <a:cxnLst/>
              <a:rect l="l" t="t" r="r" b="b"/>
              <a:pathLst>
                <a:path w="7388859" h="486410">
                  <a:moveTo>
                    <a:pt x="0" y="20320"/>
                  </a:moveTo>
                  <a:lnTo>
                    <a:pt x="1591" y="12376"/>
                  </a:lnTo>
                  <a:lnTo>
                    <a:pt x="5932" y="5921"/>
                  </a:lnTo>
                  <a:lnTo>
                    <a:pt x="12371" y="1585"/>
                  </a:lnTo>
                  <a:lnTo>
                    <a:pt x="20256" y="0"/>
                  </a:lnTo>
                  <a:lnTo>
                    <a:pt x="7368032" y="0"/>
                  </a:lnTo>
                  <a:lnTo>
                    <a:pt x="7375975" y="1585"/>
                  </a:lnTo>
                  <a:lnTo>
                    <a:pt x="7382430" y="5921"/>
                  </a:lnTo>
                  <a:lnTo>
                    <a:pt x="7386766" y="12376"/>
                  </a:lnTo>
                  <a:lnTo>
                    <a:pt x="7388352" y="20320"/>
                  </a:lnTo>
                  <a:lnTo>
                    <a:pt x="7388352" y="465836"/>
                  </a:lnTo>
                  <a:lnTo>
                    <a:pt x="7386766" y="473779"/>
                  </a:lnTo>
                  <a:lnTo>
                    <a:pt x="7382430" y="480234"/>
                  </a:lnTo>
                  <a:lnTo>
                    <a:pt x="7375975" y="484570"/>
                  </a:lnTo>
                  <a:lnTo>
                    <a:pt x="7368032" y="486156"/>
                  </a:lnTo>
                  <a:lnTo>
                    <a:pt x="20256" y="486156"/>
                  </a:lnTo>
                  <a:lnTo>
                    <a:pt x="12371" y="484570"/>
                  </a:lnTo>
                  <a:lnTo>
                    <a:pt x="5932" y="480234"/>
                  </a:lnTo>
                  <a:lnTo>
                    <a:pt x="1591" y="473779"/>
                  </a:lnTo>
                  <a:lnTo>
                    <a:pt x="0" y="465836"/>
                  </a:lnTo>
                  <a:lnTo>
                    <a:pt x="0" y="20320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1059" y="3564636"/>
              <a:ext cx="7388859" cy="485140"/>
            </a:xfrm>
            <a:custGeom>
              <a:avLst/>
              <a:gdLst/>
              <a:ahLst/>
              <a:cxnLst/>
              <a:rect l="l" t="t" r="r" b="b"/>
              <a:pathLst>
                <a:path w="7388859" h="485139">
                  <a:moveTo>
                    <a:pt x="7368159" y="0"/>
                  </a:moveTo>
                  <a:lnTo>
                    <a:pt x="20193" y="0"/>
                  </a:lnTo>
                  <a:lnTo>
                    <a:pt x="12333" y="1583"/>
                  </a:lnTo>
                  <a:lnTo>
                    <a:pt x="5915" y="5905"/>
                  </a:lnTo>
                  <a:lnTo>
                    <a:pt x="1587" y="12322"/>
                  </a:lnTo>
                  <a:lnTo>
                    <a:pt x="0" y="20192"/>
                  </a:lnTo>
                  <a:lnTo>
                    <a:pt x="0" y="464438"/>
                  </a:lnTo>
                  <a:lnTo>
                    <a:pt x="1587" y="472309"/>
                  </a:lnTo>
                  <a:lnTo>
                    <a:pt x="5915" y="478726"/>
                  </a:lnTo>
                  <a:lnTo>
                    <a:pt x="12333" y="483048"/>
                  </a:lnTo>
                  <a:lnTo>
                    <a:pt x="20193" y="484631"/>
                  </a:lnTo>
                  <a:lnTo>
                    <a:pt x="7368159" y="484631"/>
                  </a:lnTo>
                  <a:lnTo>
                    <a:pt x="7376029" y="483048"/>
                  </a:lnTo>
                  <a:lnTo>
                    <a:pt x="7382446" y="478726"/>
                  </a:lnTo>
                  <a:lnTo>
                    <a:pt x="7386768" y="472309"/>
                  </a:lnTo>
                  <a:lnTo>
                    <a:pt x="7388352" y="464438"/>
                  </a:lnTo>
                  <a:lnTo>
                    <a:pt x="7388352" y="20192"/>
                  </a:lnTo>
                  <a:lnTo>
                    <a:pt x="7386768" y="12322"/>
                  </a:lnTo>
                  <a:lnTo>
                    <a:pt x="7382446" y="5905"/>
                  </a:lnTo>
                  <a:lnTo>
                    <a:pt x="7376029" y="1583"/>
                  </a:lnTo>
                  <a:lnTo>
                    <a:pt x="7368159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1059" y="3564636"/>
              <a:ext cx="7388859" cy="485140"/>
            </a:xfrm>
            <a:custGeom>
              <a:avLst/>
              <a:gdLst/>
              <a:ahLst/>
              <a:cxnLst/>
              <a:rect l="l" t="t" r="r" b="b"/>
              <a:pathLst>
                <a:path w="7388859" h="485139">
                  <a:moveTo>
                    <a:pt x="0" y="20192"/>
                  </a:moveTo>
                  <a:lnTo>
                    <a:pt x="1587" y="12322"/>
                  </a:lnTo>
                  <a:lnTo>
                    <a:pt x="5915" y="5905"/>
                  </a:lnTo>
                  <a:lnTo>
                    <a:pt x="12333" y="1583"/>
                  </a:lnTo>
                  <a:lnTo>
                    <a:pt x="20193" y="0"/>
                  </a:lnTo>
                  <a:lnTo>
                    <a:pt x="7368159" y="0"/>
                  </a:lnTo>
                  <a:lnTo>
                    <a:pt x="7376029" y="1583"/>
                  </a:lnTo>
                  <a:lnTo>
                    <a:pt x="7382446" y="5905"/>
                  </a:lnTo>
                  <a:lnTo>
                    <a:pt x="7386768" y="12322"/>
                  </a:lnTo>
                  <a:lnTo>
                    <a:pt x="7388352" y="20192"/>
                  </a:lnTo>
                  <a:lnTo>
                    <a:pt x="7388352" y="464438"/>
                  </a:lnTo>
                  <a:lnTo>
                    <a:pt x="7386768" y="472309"/>
                  </a:lnTo>
                  <a:lnTo>
                    <a:pt x="7382446" y="478726"/>
                  </a:lnTo>
                  <a:lnTo>
                    <a:pt x="7376029" y="483048"/>
                  </a:lnTo>
                  <a:lnTo>
                    <a:pt x="7368159" y="484631"/>
                  </a:lnTo>
                  <a:lnTo>
                    <a:pt x="20193" y="484631"/>
                  </a:lnTo>
                  <a:lnTo>
                    <a:pt x="12333" y="483048"/>
                  </a:lnTo>
                  <a:lnTo>
                    <a:pt x="5915" y="478726"/>
                  </a:lnTo>
                  <a:lnTo>
                    <a:pt x="1587" y="472309"/>
                  </a:lnTo>
                  <a:lnTo>
                    <a:pt x="0" y="464438"/>
                  </a:lnTo>
                  <a:lnTo>
                    <a:pt x="0" y="20192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73251" y="4160519"/>
              <a:ext cx="7388859" cy="486409"/>
            </a:xfrm>
            <a:custGeom>
              <a:avLst/>
              <a:gdLst/>
              <a:ahLst/>
              <a:cxnLst/>
              <a:rect l="l" t="t" r="r" b="b"/>
              <a:pathLst>
                <a:path w="7388859" h="486410">
                  <a:moveTo>
                    <a:pt x="7368032" y="0"/>
                  </a:moveTo>
                  <a:lnTo>
                    <a:pt x="20256" y="0"/>
                  </a:lnTo>
                  <a:lnTo>
                    <a:pt x="12371" y="1585"/>
                  </a:lnTo>
                  <a:lnTo>
                    <a:pt x="5932" y="5921"/>
                  </a:lnTo>
                  <a:lnTo>
                    <a:pt x="1591" y="12376"/>
                  </a:lnTo>
                  <a:lnTo>
                    <a:pt x="0" y="20319"/>
                  </a:lnTo>
                  <a:lnTo>
                    <a:pt x="0" y="465835"/>
                  </a:lnTo>
                  <a:lnTo>
                    <a:pt x="1591" y="473779"/>
                  </a:lnTo>
                  <a:lnTo>
                    <a:pt x="5932" y="480234"/>
                  </a:lnTo>
                  <a:lnTo>
                    <a:pt x="12371" y="484570"/>
                  </a:lnTo>
                  <a:lnTo>
                    <a:pt x="20256" y="486155"/>
                  </a:lnTo>
                  <a:lnTo>
                    <a:pt x="7368032" y="486155"/>
                  </a:lnTo>
                  <a:lnTo>
                    <a:pt x="7375975" y="484570"/>
                  </a:lnTo>
                  <a:lnTo>
                    <a:pt x="7382430" y="480234"/>
                  </a:lnTo>
                  <a:lnTo>
                    <a:pt x="7386766" y="473779"/>
                  </a:lnTo>
                  <a:lnTo>
                    <a:pt x="7388352" y="465835"/>
                  </a:lnTo>
                  <a:lnTo>
                    <a:pt x="7388352" y="20319"/>
                  </a:lnTo>
                  <a:lnTo>
                    <a:pt x="7386766" y="12376"/>
                  </a:lnTo>
                  <a:lnTo>
                    <a:pt x="7382430" y="5921"/>
                  </a:lnTo>
                  <a:lnTo>
                    <a:pt x="7375975" y="1585"/>
                  </a:lnTo>
                  <a:lnTo>
                    <a:pt x="736803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73251" y="4160519"/>
              <a:ext cx="7388859" cy="486409"/>
            </a:xfrm>
            <a:custGeom>
              <a:avLst/>
              <a:gdLst/>
              <a:ahLst/>
              <a:cxnLst/>
              <a:rect l="l" t="t" r="r" b="b"/>
              <a:pathLst>
                <a:path w="7388859" h="486410">
                  <a:moveTo>
                    <a:pt x="0" y="20319"/>
                  </a:moveTo>
                  <a:lnTo>
                    <a:pt x="1591" y="12376"/>
                  </a:lnTo>
                  <a:lnTo>
                    <a:pt x="5932" y="5921"/>
                  </a:lnTo>
                  <a:lnTo>
                    <a:pt x="12371" y="1585"/>
                  </a:lnTo>
                  <a:lnTo>
                    <a:pt x="20256" y="0"/>
                  </a:lnTo>
                  <a:lnTo>
                    <a:pt x="7368032" y="0"/>
                  </a:lnTo>
                  <a:lnTo>
                    <a:pt x="7375975" y="1585"/>
                  </a:lnTo>
                  <a:lnTo>
                    <a:pt x="7382430" y="5921"/>
                  </a:lnTo>
                  <a:lnTo>
                    <a:pt x="7386766" y="12376"/>
                  </a:lnTo>
                  <a:lnTo>
                    <a:pt x="7388352" y="20319"/>
                  </a:lnTo>
                  <a:lnTo>
                    <a:pt x="7388352" y="465835"/>
                  </a:lnTo>
                  <a:lnTo>
                    <a:pt x="7386766" y="473779"/>
                  </a:lnTo>
                  <a:lnTo>
                    <a:pt x="7382430" y="480234"/>
                  </a:lnTo>
                  <a:lnTo>
                    <a:pt x="7375975" y="484570"/>
                  </a:lnTo>
                  <a:lnTo>
                    <a:pt x="7368032" y="486155"/>
                  </a:lnTo>
                  <a:lnTo>
                    <a:pt x="20256" y="486155"/>
                  </a:lnTo>
                  <a:lnTo>
                    <a:pt x="12371" y="484570"/>
                  </a:lnTo>
                  <a:lnTo>
                    <a:pt x="5932" y="480234"/>
                  </a:lnTo>
                  <a:lnTo>
                    <a:pt x="1591" y="473779"/>
                  </a:lnTo>
                  <a:lnTo>
                    <a:pt x="0" y="465835"/>
                  </a:lnTo>
                  <a:lnTo>
                    <a:pt x="0" y="20319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45286" y="1827657"/>
            <a:ext cx="6369685" cy="2712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4475" indent="-229870">
              <a:lnSpc>
                <a:spcPct val="100000"/>
              </a:lnSpc>
              <a:spcBef>
                <a:spcPts val="100"/>
              </a:spcBef>
              <a:buClr>
                <a:srgbClr val="006699"/>
              </a:buClr>
              <a:buFont typeface="Verdana"/>
              <a:buChar char="•"/>
              <a:tabLst>
                <a:tab pos="245110" algn="l"/>
              </a:tabLst>
            </a:pPr>
            <a:r>
              <a:rPr sz="1800" b="1" spc="-5" dirty="0">
                <a:latin typeface="Verdana"/>
                <a:cs typeface="Verdana"/>
              </a:rPr>
              <a:t>Address</a:t>
            </a:r>
            <a:r>
              <a:rPr sz="1800" b="1" spc="-10" dirty="0">
                <a:latin typeface="Verdana"/>
                <a:cs typeface="Verdana"/>
              </a:rPr>
              <a:t> conflicts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006699"/>
              </a:buClr>
              <a:buFont typeface="Verdana"/>
              <a:buChar char="•"/>
            </a:pPr>
            <a:endParaRPr sz="2150">
              <a:latin typeface="Verdana"/>
              <a:cs typeface="Verdana"/>
            </a:endParaRPr>
          </a:p>
          <a:p>
            <a:pPr marL="244475" indent="-229870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245110" algn="l"/>
              </a:tabLst>
            </a:pPr>
            <a:r>
              <a:rPr sz="1800" b="1" spc="-5" dirty="0">
                <a:latin typeface="Verdana"/>
                <a:cs typeface="Verdana"/>
              </a:rPr>
              <a:t>Failure to obtain </a:t>
            </a:r>
            <a:r>
              <a:rPr sz="1800" b="1" dirty="0">
                <a:latin typeface="Verdana"/>
                <a:cs typeface="Verdana"/>
              </a:rPr>
              <a:t>a DHCP</a:t>
            </a:r>
            <a:r>
              <a:rPr sz="1800" b="1" spc="1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address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06699"/>
              </a:buClr>
              <a:buFont typeface="Verdana"/>
              <a:buChar char="•"/>
            </a:pPr>
            <a:endParaRPr sz="2150">
              <a:latin typeface="Verdana"/>
              <a:cs typeface="Verdana"/>
            </a:endParaRPr>
          </a:p>
          <a:p>
            <a:pPr marL="244475" indent="-229870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245110" algn="l"/>
              </a:tabLst>
            </a:pPr>
            <a:r>
              <a:rPr sz="1800" b="1" spc="-5" dirty="0">
                <a:latin typeface="Verdana"/>
                <a:cs typeface="Verdana"/>
              </a:rPr>
              <a:t>Address obtained from incorrect</a:t>
            </a:r>
            <a:r>
              <a:rPr sz="1800" b="1" spc="2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scope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006699"/>
              </a:buClr>
              <a:buFont typeface="Verdana"/>
              <a:buChar char="•"/>
            </a:pPr>
            <a:endParaRPr sz="21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800" b="1" dirty="0">
                <a:latin typeface="Verdana"/>
                <a:cs typeface="Verdana"/>
              </a:rPr>
              <a:t>DHCP </a:t>
            </a:r>
            <a:r>
              <a:rPr sz="1800" b="1" spc="-5" dirty="0">
                <a:latin typeface="Verdana"/>
                <a:cs typeface="Verdana"/>
              </a:rPr>
              <a:t>database suffered data corruption </a:t>
            </a:r>
            <a:r>
              <a:rPr sz="1800" b="1" dirty="0">
                <a:latin typeface="Verdana"/>
                <a:cs typeface="Verdana"/>
              </a:rPr>
              <a:t>or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loss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006699"/>
              </a:buClr>
              <a:buFont typeface="Verdana"/>
              <a:buChar char="•"/>
            </a:pPr>
            <a:endParaRPr sz="2050">
              <a:latin typeface="Verdana"/>
              <a:cs typeface="Verdana"/>
            </a:endParaRPr>
          </a:p>
          <a:p>
            <a:pPr marL="254000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254635" algn="l"/>
              </a:tabLst>
            </a:pPr>
            <a:r>
              <a:rPr sz="1800" b="1" dirty="0">
                <a:latin typeface="Verdana"/>
                <a:cs typeface="Verdana"/>
              </a:rPr>
              <a:t>DHCP </a:t>
            </a:r>
            <a:r>
              <a:rPr sz="1800" b="1" spc="-5" dirty="0">
                <a:latin typeface="Verdana"/>
                <a:cs typeface="Verdana"/>
              </a:rPr>
              <a:t>server has exhausted its </a:t>
            </a:r>
            <a:r>
              <a:rPr sz="1800" b="1" dirty="0">
                <a:latin typeface="Verdana"/>
                <a:cs typeface="Verdana"/>
              </a:rPr>
              <a:t>IP address</a:t>
            </a:r>
            <a:r>
              <a:rPr sz="1800" b="1" spc="-4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pool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4090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Are DHCP</a:t>
            </a:r>
            <a:r>
              <a:rPr spc="-50" dirty="0"/>
              <a:t> </a:t>
            </a:r>
            <a:r>
              <a:rPr spc="-5" dirty="0"/>
              <a:t>Statistics?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08659" y="1104900"/>
            <a:ext cx="7713345" cy="757555"/>
            <a:chOff x="708659" y="1104900"/>
            <a:chExt cx="7713345" cy="757555"/>
          </a:xfrm>
        </p:grpSpPr>
        <p:sp>
          <p:nvSpPr>
            <p:cNvPr id="4" name="object 4"/>
            <p:cNvSpPr/>
            <p:nvPr/>
          </p:nvSpPr>
          <p:spPr>
            <a:xfrm>
              <a:off x="745235" y="1150619"/>
              <a:ext cx="7676388" cy="59893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08659" y="1104900"/>
              <a:ext cx="7645908" cy="75742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5423" y="1130807"/>
              <a:ext cx="7664196" cy="58673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5423" y="1130807"/>
              <a:ext cx="7664450" cy="586740"/>
            </a:xfrm>
            <a:custGeom>
              <a:avLst/>
              <a:gdLst/>
              <a:ahLst/>
              <a:cxnLst/>
              <a:rect l="l" t="t" r="r" b="b"/>
              <a:pathLst>
                <a:path w="7664450" h="586739">
                  <a:moveTo>
                    <a:pt x="0" y="17399"/>
                  </a:moveTo>
                  <a:lnTo>
                    <a:pt x="0" y="7746"/>
                  </a:lnTo>
                  <a:lnTo>
                    <a:pt x="7810" y="0"/>
                  </a:lnTo>
                  <a:lnTo>
                    <a:pt x="17437" y="0"/>
                  </a:lnTo>
                  <a:lnTo>
                    <a:pt x="7646797" y="0"/>
                  </a:lnTo>
                  <a:lnTo>
                    <a:pt x="7656449" y="0"/>
                  </a:lnTo>
                  <a:lnTo>
                    <a:pt x="7664196" y="7746"/>
                  </a:lnTo>
                  <a:lnTo>
                    <a:pt x="7664196" y="17399"/>
                  </a:lnTo>
                  <a:lnTo>
                    <a:pt x="7664196" y="569340"/>
                  </a:lnTo>
                  <a:lnTo>
                    <a:pt x="7664196" y="578992"/>
                  </a:lnTo>
                  <a:lnTo>
                    <a:pt x="7656449" y="586739"/>
                  </a:lnTo>
                  <a:lnTo>
                    <a:pt x="7646797" y="586739"/>
                  </a:lnTo>
                  <a:lnTo>
                    <a:pt x="17437" y="586739"/>
                  </a:lnTo>
                  <a:lnTo>
                    <a:pt x="7810" y="586739"/>
                  </a:lnTo>
                  <a:lnTo>
                    <a:pt x="0" y="578992"/>
                  </a:lnTo>
                  <a:lnTo>
                    <a:pt x="0" y="569340"/>
                  </a:lnTo>
                  <a:lnTo>
                    <a:pt x="0" y="17399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09345" y="1135760"/>
            <a:ext cx="7315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Verdana"/>
                <a:cs typeface="Verdana"/>
              </a:rPr>
              <a:t>DHCP </a:t>
            </a:r>
            <a:r>
              <a:rPr sz="1800" b="1" i="1" spc="-5" dirty="0">
                <a:latin typeface="Verdana"/>
                <a:cs typeface="Verdana"/>
              </a:rPr>
              <a:t>statistics </a:t>
            </a:r>
            <a:r>
              <a:rPr sz="1800" b="1" dirty="0">
                <a:latin typeface="Verdana"/>
                <a:cs typeface="Verdana"/>
              </a:rPr>
              <a:t>are </a:t>
            </a:r>
            <a:r>
              <a:rPr sz="1800" b="1" spc="-5" dirty="0">
                <a:latin typeface="Verdana"/>
                <a:cs typeface="Verdana"/>
              </a:rPr>
              <a:t>collected </a:t>
            </a:r>
            <a:r>
              <a:rPr sz="1800" b="1" dirty="0">
                <a:latin typeface="Verdana"/>
                <a:cs typeface="Verdana"/>
              </a:rPr>
              <a:t>at </a:t>
            </a:r>
            <a:r>
              <a:rPr sz="1800" b="1" spc="-5" dirty="0">
                <a:latin typeface="Verdana"/>
                <a:cs typeface="Verdana"/>
              </a:rPr>
              <a:t>either </a:t>
            </a:r>
            <a:r>
              <a:rPr sz="1800" b="1" dirty="0">
                <a:latin typeface="Verdana"/>
                <a:cs typeface="Verdana"/>
              </a:rPr>
              <a:t>the </a:t>
            </a:r>
            <a:r>
              <a:rPr sz="1800" b="1" spc="-5" dirty="0">
                <a:latin typeface="Verdana"/>
                <a:cs typeface="Verdana"/>
              </a:rPr>
              <a:t>server level </a:t>
            </a:r>
            <a:r>
              <a:rPr sz="1800" b="1" dirty="0">
                <a:latin typeface="Verdana"/>
                <a:cs typeface="Verdana"/>
              </a:rPr>
              <a:t>or  </a:t>
            </a:r>
            <a:r>
              <a:rPr sz="1800" b="1" spc="-5" dirty="0">
                <a:latin typeface="Verdana"/>
                <a:cs typeface="Verdana"/>
              </a:rPr>
              <a:t>scope</a:t>
            </a:r>
            <a:r>
              <a:rPr sz="1800" b="1" dirty="0">
                <a:latin typeface="Verdana"/>
                <a:cs typeface="Verdana"/>
              </a:rPr>
              <a:t> level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32916" y="2164079"/>
            <a:ext cx="2342515" cy="3590925"/>
            <a:chOff x="1232916" y="2164079"/>
            <a:chExt cx="2342515" cy="3590925"/>
          </a:xfrm>
        </p:grpSpPr>
        <p:sp>
          <p:nvSpPr>
            <p:cNvPr id="10" name="object 10"/>
            <p:cNvSpPr/>
            <p:nvPr/>
          </p:nvSpPr>
          <p:spPr>
            <a:xfrm>
              <a:off x="2081783" y="2164079"/>
              <a:ext cx="1493520" cy="2970530"/>
            </a:xfrm>
            <a:custGeom>
              <a:avLst/>
              <a:gdLst/>
              <a:ahLst/>
              <a:cxnLst/>
              <a:rect l="l" t="t" r="r" b="b"/>
              <a:pathLst>
                <a:path w="1493520" h="2970529">
                  <a:moveTo>
                    <a:pt x="1493520" y="0"/>
                  </a:moveTo>
                  <a:lnTo>
                    <a:pt x="0" y="2970276"/>
                  </a:lnTo>
                  <a:lnTo>
                    <a:pt x="1493520" y="2894076"/>
                  </a:lnTo>
                  <a:lnTo>
                    <a:pt x="1493520" y="0"/>
                  </a:lnTo>
                  <a:close/>
                </a:path>
              </a:pathLst>
            </a:custGeom>
            <a:solidFill>
              <a:srgbClr val="8DACD0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32916" y="3758183"/>
              <a:ext cx="1697736" cy="199643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80160" y="3259835"/>
              <a:ext cx="1580515" cy="337185"/>
            </a:xfrm>
            <a:custGeom>
              <a:avLst/>
              <a:gdLst/>
              <a:ahLst/>
              <a:cxnLst/>
              <a:rect l="l" t="t" r="r" b="b"/>
              <a:pathLst>
                <a:path w="1580514" h="337185">
                  <a:moveTo>
                    <a:pt x="1574165" y="0"/>
                  </a:moveTo>
                  <a:lnTo>
                    <a:pt x="6223" y="0"/>
                  </a:lnTo>
                  <a:lnTo>
                    <a:pt x="0" y="6223"/>
                  </a:lnTo>
                  <a:lnTo>
                    <a:pt x="0" y="330580"/>
                  </a:lnTo>
                  <a:lnTo>
                    <a:pt x="6223" y="336803"/>
                  </a:lnTo>
                  <a:lnTo>
                    <a:pt x="1574165" y="336803"/>
                  </a:lnTo>
                  <a:lnTo>
                    <a:pt x="1580388" y="330580"/>
                  </a:lnTo>
                  <a:lnTo>
                    <a:pt x="1580388" y="62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280160" y="3259835"/>
            <a:ext cx="1580515" cy="337185"/>
          </a:xfrm>
          <a:prstGeom prst="rect">
            <a:avLst/>
          </a:prstGeom>
          <a:ln w="18669">
            <a:solidFill>
              <a:srgbClr val="4D4D4D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210"/>
              </a:spcBef>
            </a:pPr>
            <a:r>
              <a:rPr sz="1600" b="1" spc="-10" dirty="0">
                <a:latin typeface="Verdana"/>
                <a:cs typeface="Verdana"/>
              </a:rPr>
              <a:t>DHCP</a:t>
            </a:r>
            <a:r>
              <a:rPr sz="1600" b="1" spc="-3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Server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575303" y="2130551"/>
            <a:ext cx="3877055" cy="29748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7852" y="315848"/>
            <a:ext cx="4834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Verdana"/>
                <a:cs typeface="Verdana"/>
              </a:rPr>
              <a:t>What </a:t>
            </a:r>
            <a:r>
              <a:rPr sz="2400" spc="-10" dirty="0">
                <a:latin typeface="Verdana"/>
                <a:cs typeface="Verdana"/>
              </a:rPr>
              <a:t>Is </a:t>
            </a:r>
            <a:r>
              <a:rPr sz="2400" dirty="0">
                <a:latin typeface="Verdana"/>
                <a:cs typeface="Verdana"/>
              </a:rPr>
              <a:t>a DHCP </a:t>
            </a:r>
            <a:r>
              <a:rPr sz="2400" spc="-5" dirty="0">
                <a:latin typeface="Verdana"/>
                <a:cs typeface="Verdana"/>
              </a:rPr>
              <a:t>Audit Log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File?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29412" y="1848611"/>
            <a:ext cx="7554595" cy="4018915"/>
            <a:chOff x="629412" y="1848611"/>
            <a:chExt cx="7554595" cy="4018915"/>
          </a:xfrm>
        </p:grpSpPr>
        <p:sp>
          <p:nvSpPr>
            <p:cNvPr id="4" name="object 4"/>
            <p:cNvSpPr/>
            <p:nvPr/>
          </p:nvSpPr>
          <p:spPr>
            <a:xfrm>
              <a:off x="629412" y="2162555"/>
              <a:ext cx="4937759" cy="370484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92758" y="3243833"/>
              <a:ext cx="1981200" cy="228600"/>
            </a:xfrm>
            <a:custGeom>
              <a:avLst/>
              <a:gdLst/>
              <a:ahLst/>
              <a:cxnLst/>
              <a:rect l="l" t="t" r="r" b="b"/>
              <a:pathLst>
                <a:path w="1981200" h="228600">
                  <a:moveTo>
                    <a:pt x="0" y="114300"/>
                  </a:moveTo>
                  <a:lnTo>
                    <a:pt x="34966" y="78175"/>
                  </a:lnTo>
                  <a:lnTo>
                    <a:pt x="93641" y="56613"/>
                  </a:lnTo>
                  <a:lnTo>
                    <a:pt x="132331" y="46798"/>
                  </a:lnTo>
                  <a:lnTo>
                    <a:pt x="176700" y="37721"/>
                  </a:lnTo>
                  <a:lnTo>
                    <a:pt x="226326" y="29450"/>
                  </a:lnTo>
                  <a:lnTo>
                    <a:pt x="280793" y="22055"/>
                  </a:lnTo>
                  <a:lnTo>
                    <a:pt x="339682" y="15606"/>
                  </a:lnTo>
                  <a:lnTo>
                    <a:pt x="402574" y="10174"/>
                  </a:lnTo>
                  <a:lnTo>
                    <a:pt x="469050" y="5827"/>
                  </a:lnTo>
                  <a:lnTo>
                    <a:pt x="538692" y="2636"/>
                  </a:lnTo>
                  <a:lnTo>
                    <a:pt x="611082" y="670"/>
                  </a:lnTo>
                  <a:lnTo>
                    <a:pt x="685799" y="0"/>
                  </a:lnTo>
                  <a:lnTo>
                    <a:pt x="760517" y="670"/>
                  </a:lnTo>
                  <a:lnTo>
                    <a:pt x="832907" y="2636"/>
                  </a:lnTo>
                  <a:lnTo>
                    <a:pt x="902549" y="5827"/>
                  </a:lnTo>
                  <a:lnTo>
                    <a:pt x="969025" y="10174"/>
                  </a:lnTo>
                  <a:lnTo>
                    <a:pt x="1031917" y="15606"/>
                  </a:lnTo>
                  <a:lnTo>
                    <a:pt x="1090806" y="22055"/>
                  </a:lnTo>
                  <a:lnTo>
                    <a:pt x="1145273" y="29450"/>
                  </a:lnTo>
                  <a:lnTo>
                    <a:pt x="1194899" y="37721"/>
                  </a:lnTo>
                  <a:lnTo>
                    <a:pt x="1239268" y="46798"/>
                  </a:lnTo>
                  <a:lnTo>
                    <a:pt x="1277958" y="56613"/>
                  </a:lnTo>
                  <a:lnTo>
                    <a:pt x="1336633" y="78175"/>
                  </a:lnTo>
                  <a:lnTo>
                    <a:pt x="1367575" y="101847"/>
                  </a:lnTo>
                  <a:lnTo>
                    <a:pt x="1371599" y="114300"/>
                  </a:lnTo>
                  <a:lnTo>
                    <a:pt x="1367575" y="126752"/>
                  </a:lnTo>
                  <a:lnTo>
                    <a:pt x="1336633" y="150424"/>
                  </a:lnTo>
                  <a:lnTo>
                    <a:pt x="1277958" y="171986"/>
                  </a:lnTo>
                  <a:lnTo>
                    <a:pt x="1239268" y="181801"/>
                  </a:lnTo>
                  <a:lnTo>
                    <a:pt x="1194899" y="190878"/>
                  </a:lnTo>
                  <a:lnTo>
                    <a:pt x="1145273" y="199149"/>
                  </a:lnTo>
                  <a:lnTo>
                    <a:pt x="1090806" y="206544"/>
                  </a:lnTo>
                  <a:lnTo>
                    <a:pt x="1031917" y="212993"/>
                  </a:lnTo>
                  <a:lnTo>
                    <a:pt x="969025" y="218425"/>
                  </a:lnTo>
                  <a:lnTo>
                    <a:pt x="902549" y="222772"/>
                  </a:lnTo>
                  <a:lnTo>
                    <a:pt x="832907" y="225963"/>
                  </a:lnTo>
                  <a:lnTo>
                    <a:pt x="760517" y="227929"/>
                  </a:lnTo>
                  <a:lnTo>
                    <a:pt x="685799" y="228600"/>
                  </a:lnTo>
                  <a:lnTo>
                    <a:pt x="611082" y="227929"/>
                  </a:lnTo>
                  <a:lnTo>
                    <a:pt x="538692" y="225963"/>
                  </a:lnTo>
                  <a:lnTo>
                    <a:pt x="469050" y="222772"/>
                  </a:lnTo>
                  <a:lnTo>
                    <a:pt x="402574" y="218425"/>
                  </a:lnTo>
                  <a:lnTo>
                    <a:pt x="339682" y="212993"/>
                  </a:lnTo>
                  <a:lnTo>
                    <a:pt x="280793" y="206544"/>
                  </a:lnTo>
                  <a:lnTo>
                    <a:pt x="226326" y="199149"/>
                  </a:lnTo>
                  <a:lnTo>
                    <a:pt x="176700" y="190878"/>
                  </a:lnTo>
                  <a:lnTo>
                    <a:pt x="132331" y="181801"/>
                  </a:lnTo>
                  <a:lnTo>
                    <a:pt x="93641" y="171986"/>
                  </a:lnTo>
                  <a:lnTo>
                    <a:pt x="34966" y="150424"/>
                  </a:lnTo>
                  <a:lnTo>
                    <a:pt x="4024" y="126752"/>
                  </a:lnTo>
                  <a:lnTo>
                    <a:pt x="0" y="114300"/>
                  </a:lnTo>
                  <a:close/>
                </a:path>
                <a:path w="1981200" h="228600">
                  <a:moveTo>
                    <a:pt x="1333499" y="112775"/>
                  </a:moveTo>
                  <a:lnTo>
                    <a:pt x="1981200" y="117348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44012" y="1848611"/>
              <a:ext cx="5039868" cy="362864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069847" y="1078991"/>
            <a:ext cx="6990715" cy="573405"/>
            <a:chOff x="1069847" y="1078991"/>
            <a:chExt cx="6990715" cy="573405"/>
          </a:xfrm>
        </p:grpSpPr>
        <p:sp>
          <p:nvSpPr>
            <p:cNvPr id="8" name="object 8"/>
            <p:cNvSpPr/>
            <p:nvPr/>
          </p:nvSpPr>
          <p:spPr>
            <a:xfrm>
              <a:off x="1098803" y="1103375"/>
              <a:ext cx="6961632" cy="54863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69847" y="1149095"/>
              <a:ext cx="6734556" cy="48310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78991" y="1083563"/>
              <a:ext cx="6949439" cy="53644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78991" y="1083563"/>
              <a:ext cx="6949440" cy="536575"/>
            </a:xfrm>
            <a:custGeom>
              <a:avLst/>
              <a:gdLst/>
              <a:ahLst/>
              <a:cxnLst/>
              <a:rect l="l" t="t" r="r" b="b"/>
              <a:pathLst>
                <a:path w="6949440" h="536575">
                  <a:moveTo>
                    <a:pt x="0" y="41401"/>
                  </a:moveTo>
                  <a:lnTo>
                    <a:pt x="3252" y="25288"/>
                  </a:lnTo>
                  <a:lnTo>
                    <a:pt x="12120" y="12128"/>
                  </a:lnTo>
                  <a:lnTo>
                    <a:pt x="25272" y="3254"/>
                  </a:lnTo>
                  <a:lnTo>
                    <a:pt x="41376" y="0"/>
                  </a:lnTo>
                  <a:lnTo>
                    <a:pt x="6908037" y="0"/>
                  </a:lnTo>
                  <a:lnTo>
                    <a:pt x="6924151" y="3254"/>
                  </a:lnTo>
                  <a:lnTo>
                    <a:pt x="6937311" y="12128"/>
                  </a:lnTo>
                  <a:lnTo>
                    <a:pt x="6946185" y="25288"/>
                  </a:lnTo>
                  <a:lnTo>
                    <a:pt x="6949439" y="41401"/>
                  </a:lnTo>
                  <a:lnTo>
                    <a:pt x="6949439" y="495046"/>
                  </a:lnTo>
                  <a:lnTo>
                    <a:pt x="6946185" y="511159"/>
                  </a:lnTo>
                  <a:lnTo>
                    <a:pt x="6937311" y="524319"/>
                  </a:lnTo>
                  <a:lnTo>
                    <a:pt x="6924151" y="533193"/>
                  </a:lnTo>
                  <a:lnTo>
                    <a:pt x="6908037" y="536448"/>
                  </a:lnTo>
                  <a:lnTo>
                    <a:pt x="41376" y="536448"/>
                  </a:lnTo>
                  <a:lnTo>
                    <a:pt x="25272" y="533193"/>
                  </a:lnTo>
                  <a:lnTo>
                    <a:pt x="12120" y="524319"/>
                  </a:lnTo>
                  <a:lnTo>
                    <a:pt x="3252" y="511159"/>
                  </a:lnTo>
                  <a:lnTo>
                    <a:pt x="0" y="495046"/>
                  </a:lnTo>
                  <a:lnTo>
                    <a:pt x="0" y="41401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89624" y="1179652"/>
            <a:ext cx="692848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Verdana"/>
                <a:cs typeface="Verdana"/>
              </a:rPr>
              <a:t>A </a:t>
            </a:r>
            <a:r>
              <a:rPr sz="1800" b="1" i="1" dirty="0">
                <a:latin typeface="Verdana"/>
                <a:cs typeface="Verdana"/>
              </a:rPr>
              <a:t>DHCP </a:t>
            </a:r>
            <a:r>
              <a:rPr sz="1800" b="1" i="1" spc="-5" dirty="0">
                <a:latin typeface="Verdana"/>
                <a:cs typeface="Verdana"/>
              </a:rPr>
              <a:t>audit </a:t>
            </a:r>
            <a:r>
              <a:rPr sz="1800" b="1" i="1" dirty="0">
                <a:latin typeface="Verdana"/>
                <a:cs typeface="Verdana"/>
              </a:rPr>
              <a:t>log </a:t>
            </a:r>
            <a:r>
              <a:rPr sz="1800" b="1" dirty="0">
                <a:latin typeface="Verdana"/>
                <a:cs typeface="Verdana"/>
              </a:rPr>
              <a:t>is a </a:t>
            </a:r>
            <a:r>
              <a:rPr sz="1800" b="1" spc="-5" dirty="0">
                <a:latin typeface="Verdana"/>
                <a:cs typeface="Verdana"/>
              </a:rPr>
              <a:t>log of service-related</a:t>
            </a:r>
            <a:r>
              <a:rPr sz="1800" b="1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events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063483" y="5687567"/>
            <a:ext cx="928369" cy="439420"/>
            <a:chOff x="8063483" y="5687567"/>
            <a:chExt cx="928369" cy="439420"/>
          </a:xfrm>
        </p:grpSpPr>
        <p:sp>
          <p:nvSpPr>
            <p:cNvPr id="14" name="object 14"/>
            <p:cNvSpPr/>
            <p:nvPr/>
          </p:nvSpPr>
          <p:spPr>
            <a:xfrm>
              <a:off x="8074151" y="5698235"/>
              <a:ext cx="917448" cy="4282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063483" y="5687567"/>
              <a:ext cx="914400" cy="42519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241791" y="5820155"/>
              <a:ext cx="188975" cy="179831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260079" y="5814059"/>
              <a:ext cx="176784" cy="16764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255507" y="5809487"/>
              <a:ext cx="185928" cy="17678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549639" y="5779007"/>
              <a:ext cx="304800" cy="24383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624315" y="5847587"/>
              <a:ext cx="132588" cy="13411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642603" y="5841491"/>
              <a:ext cx="120396" cy="121919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642603" y="5841491"/>
              <a:ext cx="120650" cy="121920"/>
            </a:xfrm>
            <a:custGeom>
              <a:avLst/>
              <a:gdLst/>
              <a:ahLst/>
              <a:cxnLst/>
              <a:rect l="l" t="t" r="r" b="b"/>
              <a:pathLst>
                <a:path w="120650" h="121920">
                  <a:moveTo>
                    <a:pt x="0" y="121919"/>
                  </a:moveTo>
                  <a:lnTo>
                    <a:pt x="120396" y="121919"/>
                  </a:lnTo>
                  <a:lnTo>
                    <a:pt x="120396" y="0"/>
                  </a:lnTo>
                  <a:lnTo>
                    <a:pt x="0" y="0"/>
                  </a:lnTo>
                  <a:lnTo>
                    <a:pt x="0" y="121919"/>
                  </a:lnTo>
                  <a:close/>
                </a:path>
              </a:pathLst>
            </a:custGeom>
            <a:ln w="9144">
              <a:solidFill>
                <a:srgbClr val="666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5774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Monitoring </a:t>
            </a:r>
            <a:r>
              <a:rPr dirty="0"/>
              <a:t>DHCP </a:t>
            </a:r>
            <a:r>
              <a:rPr spc="-5" dirty="0"/>
              <a:t>Server</a:t>
            </a:r>
            <a:r>
              <a:rPr spc="20" dirty="0"/>
              <a:t> </a:t>
            </a:r>
            <a:r>
              <a:rPr spc="-5" dirty="0"/>
              <a:t>Performance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49845" y="1473517"/>
            <a:ext cx="6957695" cy="2786380"/>
            <a:chOff x="1049845" y="1473517"/>
            <a:chExt cx="6957695" cy="2786380"/>
          </a:xfrm>
        </p:grpSpPr>
        <p:sp>
          <p:nvSpPr>
            <p:cNvPr id="4" name="object 4"/>
            <p:cNvSpPr/>
            <p:nvPr/>
          </p:nvSpPr>
          <p:spPr>
            <a:xfrm>
              <a:off x="1054608" y="1478280"/>
              <a:ext cx="6948170" cy="2776855"/>
            </a:xfrm>
            <a:custGeom>
              <a:avLst/>
              <a:gdLst/>
              <a:ahLst/>
              <a:cxnLst/>
              <a:rect l="l" t="t" r="r" b="b"/>
              <a:pathLst>
                <a:path w="6948170" h="2776854">
                  <a:moveTo>
                    <a:pt x="6832219" y="0"/>
                  </a:moveTo>
                  <a:lnTo>
                    <a:pt x="115709" y="0"/>
                  </a:lnTo>
                  <a:lnTo>
                    <a:pt x="70669" y="9094"/>
                  </a:lnTo>
                  <a:lnTo>
                    <a:pt x="33889" y="33893"/>
                  </a:lnTo>
                  <a:lnTo>
                    <a:pt x="9092" y="70669"/>
                  </a:lnTo>
                  <a:lnTo>
                    <a:pt x="0" y="115697"/>
                  </a:lnTo>
                  <a:lnTo>
                    <a:pt x="0" y="2661031"/>
                  </a:lnTo>
                  <a:lnTo>
                    <a:pt x="9092" y="2706058"/>
                  </a:lnTo>
                  <a:lnTo>
                    <a:pt x="33889" y="2742834"/>
                  </a:lnTo>
                  <a:lnTo>
                    <a:pt x="70669" y="2767633"/>
                  </a:lnTo>
                  <a:lnTo>
                    <a:pt x="115709" y="2776728"/>
                  </a:lnTo>
                  <a:lnTo>
                    <a:pt x="6832219" y="2776728"/>
                  </a:lnTo>
                  <a:lnTo>
                    <a:pt x="6877246" y="2767633"/>
                  </a:lnTo>
                  <a:lnTo>
                    <a:pt x="6914022" y="2742834"/>
                  </a:lnTo>
                  <a:lnTo>
                    <a:pt x="6938821" y="2706058"/>
                  </a:lnTo>
                  <a:lnTo>
                    <a:pt x="6947916" y="2661031"/>
                  </a:lnTo>
                  <a:lnTo>
                    <a:pt x="6947916" y="115697"/>
                  </a:lnTo>
                  <a:lnTo>
                    <a:pt x="6938821" y="70669"/>
                  </a:lnTo>
                  <a:lnTo>
                    <a:pt x="6914022" y="33893"/>
                  </a:lnTo>
                  <a:lnTo>
                    <a:pt x="6877246" y="9094"/>
                  </a:lnTo>
                  <a:lnTo>
                    <a:pt x="6832219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54608" y="1478280"/>
              <a:ext cx="6948170" cy="2776855"/>
            </a:xfrm>
            <a:custGeom>
              <a:avLst/>
              <a:gdLst/>
              <a:ahLst/>
              <a:cxnLst/>
              <a:rect l="l" t="t" r="r" b="b"/>
              <a:pathLst>
                <a:path w="6948170" h="2776854">
                  <a:moveTo>
                    <a:pt x="0" y="115697"/>
                  </a:moveTo>
                  <a:lnTo>
                    <a:pt x="9092" y="70669"/>
                  </a:lnTo>
                  <a:lnTo>
                    <a:pt x="33889" y="33893"/>
                  </a:lnTo>
                  <a:lnTo>
                    <a:pt x="70669" y="9094"/>
                  </a:lnTo>
                  <a:lnTo>
                    <a:pt x="115709" y="0"/>
                  </a:lnTo>
                  <a:lnTo>
                    <a:pt x="6832219" y="0"/>
                  </a:lnTo>
                  <a:lnTo>
                    <a:pt x="6877246" y="9094"/>
                  </a:lnTo>
                  <a:lnTo>
                    <a:pt x="6914022" y="33893"/>
                  </a:lnTo>
                  <a:lnTo>
                    <a:pt x="6938821" y="70669"/>
                  </a:lnTo>
                  <a:lnTo>
                    <a:pt x="6947916" y="115697"/>
                  </a:lnTo>
                  <a:lnTo>
                    <a:pt x="6947916" y="2661031"/>
                  </a:lnTo>
                  <a:lnTo>
                    <a:pt x="6938821" y="2706058"/>
                  </a:lnTo>
                  <a:lnTo>
                    <a:pt x="6914022" y="2742834"/>
                  </a:lnTo>
                  <a:lnTo>
                    <a:pt x="6877246" y="2767633"/>
                  </a:lnTo>
                  <a:lnTo>
                    <a:pt x="6832219" y="2776728"/>
                  </a:lnTo>
                  <a:lnTo>
                    <a:pt x="115709" y="2776728"/>
                  </a:lnTo>
                  <a:lnTo>
                    <a:pt x="70669" y="2767633"/>
                  </a:lnTo>
                  <a:lnTo>
                    <a:pt x="33889" y="2742834"/>
                  </a:lnTo>
                  <a:lnTo>
                    <a:pt x="9092" y="2706058"/>
                  </a:lnTo>
                  <a:lnTo>
                    <a:pt x="0" y="2661031"/>
                  </a:lnTo>
                  <a:lnTo>
                    <a:pt x="0" y="115697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39012" y="1801368"/>
              <a:ext cx="6577965" cy="452755"/>
            </a:xfrm>
            <a:custGeom>
              <a:avLst/>
              <a:gdLst/>
              <a:ahLst/>
              <a:cxnLst/>
              <a:rect l="l" t="t" r="r" b="b"/>
              <a:pathLst>
                <a:path w="6577965" h="452755">
                  <a:moveTo>
                    <a:pt x="6545834" y="0"/>
                  </a:moveTo>
                  <a:lnTo>
                    <a:pt x="31750" y="0"/>
                  </a:lnTo>
                  <a:lnTo>
                    <a:pt x="19389" y="2496"/>
                  </a:lnTo>
                  <a:lnTo>
                    <a:pt x="9297" y="9302"/>
                  </a:lnTo>
                  <a:lnTo>
                    <a:pt x="2494" y="19395"/>
                  </a:lnTo>
                  <a:lnTo>
                    <a:pt x="0" y="31750"/>
                  </a:lnTo>
                  <a:lnTo>
                    <a:pt x="0" y="420878"/>
                  </a:lnTo>
                  <a:lnTo>
                    <a:pt x="2494" y="433232"/>
                  </a:lnTo>
                  <a:lnTo>
                    <a:pt x="9297" y="443325"/>
                  </a:lnTo>
                  <a:lnTo>
                    <a:pt x="19389" y="450131"/>
                  </a:lnTo>
                  <a:lnTo>
                    <a:pt x="31750" y="452628"/>
                  </a:lnTo>
                  <a:lnTo>
                    <a:pt x="6545834" y="452628"/>
                  </a:lnTo>
                  <a:lnTo>
                    <a:pt x="6558188" y="450131"/>
                  </a:lnTo>
                  <a:lnTo>
                    <a:pt x="6568281" y="443325"/>
                  </a:lnTo>
                  <a:lnTo>
                    <a:pt x="6575087" y="433232"/>
                  </a:lnTo>
                  <a:lnTo>
                    <a:pt x="6577584" y="420878"/>
                  </a:lnTo>
                  <a:lnTo>
                    <a:pt x="6577584" y="31750"/>
                  </a:lnTo>
                  <a:lnTo>
                    <a:pt x="6575087" y="19395"/>
                  </a:lnTo>
                  <a:lnTo>
                    <a:pt x="6568281" y="9302"/>
                  </a:lnTo>
                  <a:lnTo>
                    <a:pt x="6558188" y="2496"/>
                  </a:lnTo>
                  <a:lnTo>
                    <a:pt x="6545834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39012" y="1801368"/>
              <a:ext cx="6577965" cy="452755"/>
            </a:xfrm>
            <a:custGeom>
              <a:avLst/>
              <a:gdLst/>
              <a:ahLst/>
              <a:cxnLst/>
              <a:rect l="l" t="t" r="r" b="b"/>
              <a:pathLst>
                <a:path w="6577965" h="452755">
                  <a:moveTo>
                    <a:pt x="0" y="31750"/>
                  </a:moveTo>
                  <a:lnTo>
                    <a:pt x="2494" y="19395"/>
                  </a:lnTo>
                  <a:lnTo>
                    <a:pt x="9297" y="9302"/>
                  </a:lnTo>
                  <a:lnTo>
                    <a:pt x="19389" y="2496"/>
                  </a:lnTo>
                  <a:lnTo>
                    <a:pt x="31750" y="0"/>
                  </a:lnTo>
                  <a:lnTo>
                    <a:pt x="6545834" y="0"/>
                  </a:lnTo>
                  <a:lnTo>
                    <a:pt x="6558188" y="2496"/>
                  </a:lnTo>
                  <a:lnTo>
                    <a:pt x="6568281" y="9302"/>
                  </a:lnTo>
                  <a:lnTo>
                    <a:pt x="6575087" y="19395"/>
                  </a:lnTo>
                  <a:lnTo>
                    <a:pt x="6577584" y="31750"/>
                  </a:lnTo>
                  <a:lnTo>
                    <a:pt x="6577584" y="420878"/>
                  </a:lnTo>
                  <a:lnTo>
                    <a:pt x="6575087" y="433232"/>
                  </a:lnTo>
                  <a:lnTo>
                    <a:pt x="6568281" y="443325"/>
                  </a:lnTo>
                  <a:lnTo>
                    <a:pt x="6558188" y="450131"/>
                  </a:lnTo>
                  <a:lnTo>
                    <a:pt x="6545834" y="452628"/>
                  </a:lnTo>
                  <a:lnTo>
                    <a:pt x="31750" y="452628"/>
                  </a:lnTo>
                  <a:lnTo>
                    <a:pt x="19389" y="450131"/>
                  </a:lnTo>
                  <a:lnTo>
                    <a:pt x="9297" y="443325"/>
                  </a:lnTo>
                  <a:lnTo>
                    <a:pt x="2494" y="433232"/>
                  </a:lnTo>
                  <a:lnTo>
                    <a:pt x="0" y="420878"/>
                  </a:lnTo>
                  <a:lnTo>
                    <a:pt x="0" y="31750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39341" y="1874816"/>
            <a:ext cx="1069340" cy="27813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solidFill>
                  <a:srgbClr val="006699"/>
                </a:solidFill>
                <a:latin typeface="Verdana"/>
                <a:cs typeface="Verdana"/>
              </a:rPr>
              <a:t>•</a:t>
            </a:r>
            <a:r>
              <a:rPr sz="1800" spc="10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Create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86822" y="1874816"/>
            <a:ext cx="3810635" cy="27813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800" b="1" dirty="0">
                <a:latin typeface="Verdana"/>
                <a:cs typeface="Verdana"/>
              </a:rPr>
              <a:t>a DHCP </a:t>
            </a:r>
            <a:r>
              <a:rPr sz="1800" b="1" spc="-5" dirty="0">
                <a:latin typeface="Verdana"/>
                <a:cs typeface="Verdana"/>
              </a:rPr>
              <a:t>performance</a:t>
            </a:r>
            <a:r>
              <a:rPr sz="1800" b="1" spc="-8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baseline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223581" y="2386393"/>
            <a:ext cx="6608445" cy="710565"/>
            <a:chOff x="1223581" y="2386393"/>
            <a:chExt cx="6608445" cy="710565"/>
          </a:xfrm>
        </p:grpSpPr>
        <p:sp>
          <p:nvSpPr>
            <p:cNvPr id="11" name="object 11"/>
            <p:cNvSpPr/>
            <p:nvPr/>
          </p:nvSpPr>
          <p:spPr>
            <a:xfrm>
              <a:off x="1228344" y="2391155"/>
              <a:ext cx="6598920" cy="701040"/>
            </a:xfrm>
            <a:custGeom>
              <a:avLst/>
              <a:gdLst/>
              <a:ahLst/>
              <a:cxnLst/>
              <a:rect l="l" t="t" r="r" b="b"/>
              <a:pathLst>
                <a:path w="6598920" h="701039">
                  <a:moveTo>
                    <a:pt x="6569709" y="0"/>
                  </a:moveTo>
                  <a:lnTo>
                    <a:pt x="29209" y="0"/>
                  </a:lnTo>
                  <a:lnTo>
                    <a:pt x="17841" y="2295"/>
                  </a:lnTo>
                  <a:lnTo>
                    <a:pt x="8556" y="8556"/>
                  </a:lnTo>
                  <a:lnTo>
                    <a:pt x="2295" y="17841"/>
                  </a:lnTo>
                  <a:lnTo>
                    <a:pt x="0" y="29210"/>
                  </a:lnTo>
                  <a:lnTo>
                    <a:pt x="0" y="671830"/>
                  </a:lnTo>
                  <a:lnTo>
                    <a:pt x="2295" y="683198"/>
                  </a:lnTo>
                  <a:lnTo>
                    <a:pt x="8556" y="692483"/>
                  </a:lnTo>
                  <a:lnTo>
                    <a:pt x="17841" y="698744"/>
                  </a:lnTo>
                  <a:lnTo>
                    <a:pt x="29209" y="701040"/>
                  </a:lnTo>
                  <a:lnTo>
                    <a:pt x="6569709" y="701040"/>
                  </a:lnTo>
                  <a:lnTo>
                    <a:pt x="6581078" y="698744"/>
                  </a:lnTo>
                  <a:lnTo>
                    <a:pt x="6590363" y="692483"/>
                  </a:lnTo>
                  <a:lnTo>
                    <a:pt x="6596624" y="683198"/>
                  </a:lnTo>
                  <a:lnTo>
                    <a:pt x="6598920" y="671830"/>
                  </a:lnTo>
                  <a:lnTo>
                    <a:pt x="6598920" y="29210"/>
                  </a:lnTo>
                  <a:lnTo>
                    <a:pt x="6596624" y="17841"/>
                  </a:lnTo>
                  <a:lnTo>
                    <a:pt x="6590363" y="8556"/>
                  </a:lnTo>
                  <a:lnTo>
                    <a:pt x="6581078" y="2295"/>
                  </a:lnTo>
                  <a:lnTo>
                    <a:pt x="6569709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28344" y="2391155"/>
              <a:ext cx="6598920" cy="701040"/>
            </a:xfrm>
            <a:custGeom>
              <a:avLst/>
              <a:gdLst/>
              <a:ahLst/>
              <a:cxnLst/>
              <a:rect l="l" t="t" r="r" b="b"/>
              <a:pathLst>
                <a:path w="6598920" h="701039">
                  <a:moveTo>
                    <a:pt x="0" y="29210"/>
                  </a:moveTo>
                  <a:lnTo>
                    <a:pt x="2295" y="17841"/>
                  </a:lnTo>
                  <a:lnTo>
                    <a:pt x="8556" y="8556"/>
                  </a:lnTo>
                  <a:lnTo>
                    <a:pt x="17841" y="2295"/>
                  </a:lnTo>
                  <a:lnTo>
                    <a:pt x="29209" y="0"/>
                  </a:lnTo>
                  <a:lnTo>
                    <a:pt x="6569709" y="0"/>
                  </a:lnTo>
                  <a:lnTo>
                    <a:pt x="6581078" y="2295"/>
                  </a:lnTo>
                  <a:lnTo>
                    <a:pt x="6590363" y="8556"/>
                  </a:lnTo>
                  <a:lnTo>
                    <a:pt x="6596624" y="17841"/>
                  </a:lnTo>
                  <a:lnTo>
                    <a:pt x="6598920" y="29210"/>
                  </a:lnTo>
                  <a:lnTo>
                    <a:pt x="6598920" y="671830"/>
                  </a:lnTo>
                  <a:lnTo>
                    <a:pt x="6596624" y="683198"/>
                  </a:lnTo>
                  <a:lnTo>
                    <a:pt x="6590363" y="692483"/>
                  </a:lnTo>
                  <a:lnTo>
                    <a:pt x="6581078" y="698744"/>
                  </a:lnTo>
                  <a:lnTo>
                    <a:pt x="6569709" y="701040"/>
                  </a:lnTo>
                  <a:lnTo>
                    <a:pt x="29209" y="701040"/>
                  </a:lnTo>
                  <a:lnTo>
                    <a:pt x="17841" y="698744"/>
                  </a:lnTo>
                  <a:lnTo>
                    <a:pt x="8556" y="692483"/>
                  </a:lnTo>
                  <a:lnTo>
                    <a:pt x="2295" y="683198"/>
                  </a:lnTo>
                  <a:lnTo>
                    <a:pt x="0" y="671830"/>
                  </a:lnTo>
                  <a:lnTo>
                    <a:pt x="0" y="29210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328927" y="2465239"/>
            <a:ext cx="1342390" cy="52514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228600" indent="-228600">
              <a:lnSpc>
                <a:spcPts val="1939"/>
              </a:lnSpc>
              <a:spcBef>
                <a:spcPts val="254"/>
              </a:spcBef>
            </a:pPr>
            <a:r>
              <a:rPr sz="1800" dirty="0">
                <a:solidFill>
                  <a:srgbClr val="006699"/>
                </a:solidFill>
                <a:latin typeface="Verdana"/>
                <a:cs typeface="Verdana"/>
              </a:rPr>
              <a:t>• </a:t>
            </a:r>
            <a:r>
              <a:rPr sz="1800" b="1" spc="-5" dirty="0">
                <a:latin typeface="Verdana"/>
                <a:cs typeface="Verdana"/>
              </a:rPr>
              <a:t>Check </a:t>
            </a:r>
            <a:r>
              <a:rPr sz="1800" b="1" spc="-10" dirty="0">
                <a:latin typeface="Verdana"/>
                <a:cs typeface="Verdana"/>
              </a:rPr>
              <a:t>th  </a:t>
            </a:r>
            <a:r>
              <a:rPr sz="1800" b="1" spc="-5" dirty="0">
                <a:latin typeface="Verdana"/>
                <a:cs typeface="Verdana"/>
              </a:rPr>
              <a:t>server</a:t>
            </a:r>
            <a:r>
              <a:rPr sz="1800" b="1" spc="-4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11745" y="2465239"/>
            <a:ext cx="3080385" cy="52514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indent="59055">
              <a:lnSpc>
                <a:spcPts val="1939"/>
              </a:lnSpc>
              <a:spcBef>
                <a:spcPts val="254"/>
              </a:spcBef>
            </a:pPr>
            <a:r>
              <a:rPr sz="1800" b="1" dirty="0">
                <a:latin typeface="Verdana"/>
                <a:cs typeface="Verdana"/>
              </a:rPr>
              <a:t>e </a:t>
            </a:r>
            <a:r>
              <a:rPr sz="1800" b="1" spc="-5" dirty="0">
                <a:latin typeface="Verdana"/>
                <a:cs typeface="Verdana"/>
              </a:rPr>
              <a:t>standard counters for  erformance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229677" y="3230689"/>
            <a:ext cx="6596380" cy="710565"/>
            <a:chOff x="1229677" y="3230689"/>
            <a:chExt cx="6596380" cy="710565"/>
          </a:xfrm>
        </p:grpSpPr>
        <p:sp>
          <p:nvSpPr>
            <p:cNvPr id="16" name="object 16"/>
            <p:cNvSpPr/>
            <p:nvPr/>
          </p:nvSpPr>
          <p:spPr>
            <a:xfrm>
              <a:off x="1234439" y="3235451"/>
              <a:ext cx="6586855" cy="701040"/>
            </a:xfrm>
            <a:custGeom>
              <a:avLst/>
              <a:gdLst/>
              <a:ahLst/>
              <a:cxnLst/>
              <a:rect l="l" t="t" r="r" b="b"/>
              <a:pathLst>
                <a:path w="6586855" h="701039">
                  <a:moveTo>
                    <a:pt x="6557517" y="0"/>
                  </a:moveTo>
                  <a:lnTo>
                    <a:pt x="29209" y="0"/>
                  </a:lnTo>
                  <a:lnTo>
                    <a:pt x="17841" y="2295"/>
                  </a:lnTo>
                  <a:lnTo>
                    <a:pt x="8556" y="8556"/>
                  </a:lnTo>
                  <a:lnTo>
                    <a:pt x="2295" y="17841"/>
                  </a:lnTo>
                  <a:lnTo>
                    <a:pt x="0" y="29210"/>
                  </a:lnTo>
                  <a:lnTo>
                    <a:pt x="0" y="671830"/>
                  </a:lnTo>
                  <a:lnTo>
                    <a:pt x="2295" y="683198"/>
                  </a:lnTo>
                  <a:lnTo>
                    <a:pt x="8556" y="692483"/>
                  </a:lnTo>
                  <a:lnTo>
                    <a:pt x="17841" y="698744"/>
                  </a:lnTo>
                  <a:lnTo>
                    <a:pt x="29209" y="701040"/>
                  </a:lnTo>
                  <a:lnTo>
                    <a:pt x="6557517" y="701040"/>
                  </a:lnTo>
                  <a:lnTo>
                    <a:pt x="6568886" y="698744"/>
                  </a:lnTo>
                  <a:lnTo>
                    <a:pt x="6578171" y="692483"/>
                  </a:lnTo>
                  <a:lnTo>
                    <a:pt x="6584432" y="683198"/>
                  </a:lnTo>
                  <a:lnTo>
                    <a:pt x="6586728" y="671830"/>
                  </a:lnTo>
                  <a:lnTo>
                    <a:pt x="6586728" y="29210"/>
                  </a:lnTo>
                  <a:lnTo>
                    <a:pt x="6584432" y="17841"/>
                  </a:lnTo>
                  <a:lnTo>
                    <a:pt x="6578171" y="8556"/>
                  </a:lnTo>
                  <a:lnTo>
                    <a:pt x="6568886" y="2295"/>
                  </a:lnTo>
                  <a:lnTo>
                    <a:pt x="6557517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34439" y="3235451"/>
              <a:ext cx="6586855" cy="701040"/>
            </a:xfrm>
            <a:custGeom>
              <a:avLst/>
              <a:gdLst/>
              <a:ahLst/>
              <a:cxnLst/>
              <a:rect l="l" t="t" r="r" b="b"/>
              <a:pathLst>
                <a:path w="6586855" h="701039">
                  <a:moveTo>
                    <a:pt x="0" y="29210"/>
                  </a:moveTo>
                  <a:lnTo>
                    <a:pt x="2295" y="17841"/>
                  </a:lnTo>
                  <a:lnTo>
                    <a:pt x="8556" y="8556"/>
                  </a:lnTo>
                  <a:lnTo>
                    <a:pt x="17841" y="2295"/>
                  </a:lnTo>
                  <a:lnTo>
                    <a:pt x="29209" y="0"/>
                  </a:lnTo>
                  <a:lnTo>
                    <a:pt x="6557517" y="0"/>
                  </a:lnTo>
                  <a:lnTo>
                    <a:pt x="6568886" y="2295"/>
                  </a:lnTo>
                  <a:lnTo>
                    <a:pt x="6578171" y="8556"/>
                  </a:lnTo>
                  <a:lnTo>
                    <a:pt x="6584432" y="17841"/>
                  </a:lnTo>
                  <a:lnTo>
                    <a:pt x="6586728" y="29210"/>
                  </a:lnTo>
                  <a:lnTo>
                    <a:pt x="6586728" y="671830"/>
                  </a:lnTo>
                  <a:lnTo>
                    <a:pt x="6584432" y="683198"/>
                  </a:lnTo>
                  <a:lnTo>
                    <a:pt x="6578171" y="692483"/>
                  </a:lnTo>
                  <a:lnTo>
                    <a:pt x="6568886" y="698744"/>
                  </a:lnTo>
                  <a:lnTo>
                    <a:pt x="6557517" y="701040"/>
                  </a:lnTo>
                  <a:lnTo>
                    <a:pt x="29209" y="701040"/>
                  </a:lnTo>
                  <a:lnTo>
                    <a:pt x="17841" y="698744"/>
                  </a:lnTo>
                  <a:lnTo>
                    <a:pt x="8556" y="692483"/>
                  </a:lnTo>
                  <a:lnTo>
                    <a:pt x="2295" y="683198"/>
                  </a:lnTo>
                  <a:lnTo>
                    <a:pt x="0" y="671830"/>
                  </a:lnTo>
                  <a:lnTo>
                    <a:pt x="0" y="29210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335277" y="3309789"/>
            <a:ext cx="1160780" cy="52514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228600" indent="-228600">
              <a:lnSpc>
                <a:spcPts val="1939"/>
              </a:lnSpc>
              <a:spcBef>
                <a:spcPts val="254"/>
              </a:spcBef>
            </a:pPr>
            <a:r>
              <a:rPr sz="1800" dirty="0">
                <a:solidFill>
                  <a:srgbClr val="006699"/>
                </a:solidFill>
                <a:latin typeface="Verdana"/>
                <a:cs typeface="Verdana"/>
              </a:rPr>
              <a:t>• </a:t>
            </a:r>
            <a:r>
              <a:rPr sz="1800" b="1" spc="-10" dirty="0">
                <a:latin typeface="Verdana"/>
                <a:cs typeface="Verdana"/>
              </a:rPr>
              <a:t>Review  </a:t>
            </a:r>
            <a:r>
              <a:rPr sz="1800" b="1" spc="-5" dirty="0">
                <a:latin typeface="Verdana"/>
                <a:cs typeface="Verdana"/>
              </a:rPr>
              <a:t>change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88601" y="3309789"/>
            <a:ext cx="4764405" cy="52514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indent="87630">
              <a:lnSpc>
                <a:spcPts val="1939"/>
              </a:lnSpc>
              <a:spcBef>
                <a:spcPts val="254"/>
              </a:spcBef>
            </a:pPr>
            <a:r>
              <a:rPr sz="1800" b="1" dirty="0">
                <a:latin typeface="Verdana"/>
                <a:cs typeface="Verdana"/>
              </a:rPr>
              <a:t>DHCP </a:t>
            </a:r>
            <a:r>
              <a:rPr sz="1800" b="1" spc="-5" dirty="0">
                <a:latin typeface="Verdana"/>
                <a:cs typeface="Verdana"/>
              </a:rPr>
              <a:t>server counters for </a:t>
            </a:r>
            <a:r>
              <a:rPr sz="1800" b="1" spc="-10" dirty="0">
                <a:latin typeface="Verdana"/>
                <a:cs typeface="Verdana"/>
              </a:rPr>
              <a:t>significant  </a:t>
            </a:r>
            <a:r>
              <a:rPr sz="1800" b="1" dirty="0">
                <a:latin typeface="Verdana"/>
                <a:cs typeface="Verdana"/>
              </a:rPr>
              <a:t>s in DHCP</a:t>
            </a:r>
            <a:r>
              <a:rPr sz="1800" b="1" spc="-5" dirty="0">
                <a:latin typeface="Verdana"/>
                <a:cs typeface="Verdana"/>
              </a:rPr>
              <a:t> </a:t>
            </a:r>
            <a:r>
              <a:rPr sz="1800" b="1" spc="-10" dirty="0">
                <a:latin typeface="Verdana"/>
                <a:cs typeface="Verdana"/>
              </a:rPr>
              <a:t>traffic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034528" y="6257544"/>
            <a:ext cx="928369" cy="439420"/>
            <a:chOff x="8034528" y="6257544"/>
            <a:chExt cx="928369" cy="439420"/>
          </a:xfrm>
        </p:grpSpPr>
        <p:sp>
          <p:nvSpPr>
            <p:cNvPr id="21" name="object 21"/>
            <p:cNvSpPr/>
            <p:nvPr/>
          </p:nvSpPr>
          <p:spPr>
            <a:xfrm>
              <a:off x="8045196" y="6268212"/>
              <a:ext cx="917448" cy="42824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034528" y="6257544"/>
              <a:ext cx="914400" cy="42519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212836" y="6390132"/>
              <a:ext cx="188975" cy="17983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231124" y="6384036"/>
              <a:ext cx="176783" cy="16764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226552" y="6379464"/>
              <a:ext cx="185927" cy="17678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522208" y="6348984"/>
              <a:ext cx="304800" cy="24384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596884" y="6417564"/>
              <a:ext cx="132588" cy="13411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615172" y="6411468"/>
              <a:ext cx="120396" cy="12191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615172" y="6411468"/>
              <a:ext cx="120650" cy="121920"/>
            </a:xfrm>
            <a:custGeom>
              <a:avLst/>
              <a:gdLst/>
              <a:ahLst/>
              <a:cxnLst/>
              <a:rect l="l" t="t" r="r" b="b"/>
              <a:pathLst>
                <a:path w="120650" h="121920">
                  <a:moveTo>
                    <a:pt x="0" y="121919"/>
                  </a:moveTo>
                  <a:lnTo>
                    <a:pt x="120396" y="121919"/>
                  </a:lnTo>
                  <a:lnTo>
                    <a:pt x="120396" y="0"/>
                  </a:lnTo>
                  <a:lnTo>
                    <a:pt x="0" y="0"/>
                  </a:lnTo>
                  <a:lnTo>
                    <a:pt x="0" y="121919"/>
                  </a:lnTo>
                  <a:close/>
                </a:path>
              </a:pathLst>
            </a:custGeom>
            <a:ln w="9144">
              <a:solidFill>
                <a:srgbClr val="666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439737" y="1189100"/>
            <a:ext cx="8228330" cy="4452620"/>
            <a:chOff x="439737" y="1189100"/>
            <a:chExt cx="8228330" cy="4452620"/>
          </a:xfrm>
        </p:grpSpPr>
        <p:sp>
          <p:nvSpPr>
            <p:cNvPr id="31" name="object 31"/>
            <p:cNvSpPr/>
            <p:nvPr/>
          </p:nvSpPr>
          <p:spPr>
            <a:xfrm>
              <a:off x="446087" y="1195387"/>
              <a:ext cx="8215630" cy="894080"/>
            </a:xfrm>
            <a:custGeom>
              <a:avLst/>
              <a:gdLst/>
              <a:ahLst/>
              <a:cxnLst/>
              <a:rect l="l" t="t" r="r" b="b"/>
              <a:pathLst>
                <a:path w="8215630" h="894080">
                  <a:moveTo>
                    <a:pt x="2141474" y="0"/>
                  </a:moveTo>
                  <a:lnTo>
                    <a:pt x="0" y="0"/>
                  </a:lnTo>
                  <a:lnTo>
                    <a:pt x="0" y="893762"/>
                  </a:lnTo>
                  <a:lnTo>
                    <a:pt x="2141474" y="893762"/>
                  </a:lnTo>
                  <a:lnTo>
                    <a:pt x="2141474" y="0"/>
                  </a:lnTo>
                  <a:close/>
                </a:path>
                <a:path w="8215630" h="894080">
                  <a:moveTo>
                    <a:pt x="8215312" y="0"/>
                  </a:moveTo>
                  <a:lnTo>
                    <a:pt x="2141537" y="0"/>
                  </a:lnTo>
                  <a:lnTo>
                    <a:pt x="2141537" y="893762"/>
                  </a:lnTo>
                  <a:lnTo>
                    <a:pt x="8215312" y="893762"/>
                  </a:lnTo>
                  <a:lnTo>
                    <a:pt x="8215312" y="0"/>
                  </a:lnTo>
                  <a:close/>
                </a:path>
              </a:pathLst>
            </a:custGeom>
            <a:solidFill>
              <a:srgbClr val="E3CD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46087" y="2089213"/>
              <a:ext cx="2141855" cy="894080"/>
            </a:xfrm>
            <a:custGeom>
              <a:avLst/>
              <a:gdLst/>
              <a:ahLst/>
              <a:cxnLst/>
              <a:rect l="l" t="t" r="r" b="b"/>
              <a:pathLst>
                <a:path w="2141855" h="894080">
                  <a:moveTo>
                    <a:pt x="2141474" y="0"/>
                  </a:moveTo>
                  <a:lnTo>
                    <a:pt x="0" y="0"/>
                  </a:lnTo>
                  <a:lnTo>
                    <a:pt x="0" y="893762"/>
                  </a:lnTo>
                  <a:lnTo>
                    <a:pt x="2141474" y="893762"/>
                  </a:lnTo>
                  <a:lnTo>
                    <a:pt x="2141474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587625" y="2089213"/>
              <a:ext cx="6073775" cy="894080"/>
            </a:xfrm>
            <a:custGeom>
              <a:avLst/>
              <a:gdLst/>
              <a:ahLst/>
              <a:cxnLst/>
              <a:rect l="l" t="t" r="r" b="b"/>
              <a:pathLst>
                <a:path w="6073775" h="894080">
                  <a:moveTo>
                    <a:pt x="6073775" y="0"/>
                  </a:moveTo>
                  <a:lnTo>
                    <a:pt x="0" y="0"/>
                  </a:lnTo>
                  <a:lnTo>
                    <a:pt x="0" y="893762"/>
                  </a:lnTo>
                  <a:lnTo>
                    <a:pt x="6073775" y="893762"/>
                  </a:lnTo>
                  <a:lnTo>
                    <a:pt x="60737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46087" y="2982912"/>
              <a:ext cx="2141855" cy="805180"/>
            </a:xfrm>
            <a:custGeom>
              <a:avLst/>
              <a:gdLst/>
              <a:ahLst/>
              <a:cxnLst/>
              <a:rect l="l" t="t" r="r" b="b"/>
              <a:pathLst>
                <a:path w="2141855" h="805179">
                  <a:moveTo>
                    <a:pt x="2141474" y="0"/>
                  </a:moveTo>
                  <a:lnTo>
                    <a:pt x="0" y="0"/>
                  </a:lnTo>
                  <a:lnTo>
                    <a:pt x="0" y="804862"/>
                  </a:lnTo>
                  <a:lnTo>
                    <a:pt x="2141474" y="804862"/>
                  </a:lnTo>
                  <a:lnTo>
                    <a:pt x="2141474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587625" y="2982912"/>
              <a:ext cx="6073775" cy="805180"/>
            </a:xfrm>
            <a:custGeom>
              <a:avLst/>
              <a:gdLst/>
              <a:ahLst/>
              <a:cxnLst/>
              <a:rect l="l" t="t" r="r" b="b"/>
              <a:pathLst>
                <a:path w="6073775" h="805179">
                  <a:moveTo>
                    <a:pt x="6073775" y="0"/>
                  </a:moveTo>
                  <a:lnTo>
                    <a:pt x="0" y="0"/>
                  </a:lnTo>
                  <a:lnTo>
                    <a:pt x="0" y="804862"/>
                  </a:lnTo>
                  <a:lnTo>
                    <a:pt x="6073775" y="804862"/>
                  </a:lnTo>
                  <a:lnTo>
                    <a:pt x="60737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46087" y="3787774"/>
              <a:ext cx="2141855" cy="923925"/>
            </a:xfrm>
            <a:custGeom>
              <a:avLst/>
              <a:gdLst/>
              <a:ahLst/>
              <a:cxnLst/>
              <a:rect l="l" t="t" r="r" b="b"/>
              <a:pathLst>
                <a:path w="2141855" h="923925">
                  <a:moveTo>
                    <a:pt x="2141474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2141474" y="923544"/>
                  </a:lnTo>
                  <a:lnTo>
                    <a:pt x="2141474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587625" y="3787774"/>
              <a:ext cx="6073775" cy="923925"/>
            </a:xfrm>
            <a:custGeom>
              <a:avLst/>
              <a:gdLst/>
              <a:ahLst/>
              <a:cxnLst/>
              <a:rect l="l" t="t" r="r" b="b"/>
              <a:pathLst>
                <a:path w="6073775" h="923925">
                  <a:moveTo>
                    <a:pt x="6073775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6073775" y="923544"/>
                  </a:lnTo>
                  <a:lnTo>
                    <a:pt x="60737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46087" y="4711318"/>
              <a:ext cx="2141855" cy="923925"/>
            </a:xfrm>
            <a:custGeom>
              <a:avLst/>
              <a:gdLst/>
              <a:ahLst/>
              <a:cxnLst/>
              <a:rect l="l" t="t" r="r" b="b"/>
              <a:pathLst>
                <a:path w="2141855" h="923925">
                  <a:moveTo>
                    <a:pt x="2141474" y="0"/>
                  </a:moveTo>
                  <a:lnTo>
                    <a:pt x="0" y="0"/>
                  </a:lnTo>
                  <a:lnTo>
                    <a:pt x="0" y="923543"/>
                  </a:lnTo>
                  <a:lnTo>
                    <a:pt x="2141474" y="923543"/>
                  </a:lnTo>
                  <a:lnTo>
                    <a:pt x="2141474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39737" y="1189100"/>
              <a:ext cx="8228330" cy="4452620"/>
            </a:xfrm>
            <a:custGeom>
              <a:avLst/>
              <a:gdLst/>
              <a:ahLst/>
              <a:cxnLst/>
              <a:rect l="l" t="t" r="r" b="b"/>
              <a:pathLst>
                <a:path w="8228330" h="4452620">
                  <a:moveTo>
                    <a:pt x="2147887" y="0"/>
                  </a:moveTo>
                  <a:lnTo>
                    <a:pt x="2147887" y="4452112"/>
                  </a:lnTo>
                </a:path>
                <a:path w="8228330" h="4452620">
                  <a:moveTo>
                    <a:pt x="0" y="900049"/>
                  </a:moveTo>
                  <a:lnTo>
                    <a:pt x="8228012" y="900049"/>
                  </a:lnTo>
                </a:path>
                <a:path w="8228330" h="4452620">
                  <a:moveTo>
                    <a:pt x="0" y="1793875"/>
                  </a:moveTo>
                  <a:lnTo>
                    <a:pt x="8228012" y="1793875"/>
                  </a:lnTo>
                </a:path>
                <a:path w="8228330" h="4452620">
                  <a:moveTo>
                    <a:pt x="0" y="2598674"/>
                  </a:moveTo>
                  <a:lnTo>
                    <a:pt x="8228012" y="2598674"/>
                  </a:lnTo>
                </a:path>
                <a:path w="8228330" h="4452620">
                  <a:moveTo>
                    <a:pt x="0" y="3522218"/>
                  </a:moveTo>
                  <a:lnTo>
                    <a:pt x="8228012" y="3522218"/>
                  </a:lnTo>
                </a:path>
                <a:path w="8228330" h="4452620">
                  <a:moveTo>
                    <a:pt x="6350" y="0"/>
                  </a:moveTo>
                  <a:lnTo>
                    <a:pt x="6350" y="4452112"/>
                  </a:lnTo>
                </a:path>
                <a:path w="8228330" h="4452620">
                  <a:moveTo>
                    <a:pt x="8221662" y="0"/>
                  </a:moveTo>
                  <a:lnTo>
                    <a:pt x="8221662" y="4452112"/>
                  </a:lnTo>
                </a:path>
                <a:path w="8228330" h="4452620">
                  <a:moveTo>
                    <a:pt x="0" y="6350"/>
                  </a:moveTo>
                  <a:lnTo>
                    <a:pt x="8228012" y="6350"/>
                  </a:lnTo>
                </a:path>
                <a:path w="8228330" h="4452620">
                  <a:moveTo>
                    <a:pt x="0" y="4445762"/>
                  </a:moveTo>
                  <a:lnTo>
                    <a:pt x="8228012" y="4445762"/>
                  </a:lnTo>
                </a:path>
              </a:pathLst>
            </a:custGeom>
            <a:ln w="12700">
              <a:solidFill>
                <a:srgbClr val="D2AC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588060" y="1322070"/>
            <a:ext cx="18573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Verdana"/>
                <a:cs typeface="Verdana"/>
              </a:rPr>
              <a:t>Performance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79144" y="1596085"/>
            <a:ext cx="127571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Verdana"/>
                <a:cs typeface="Verdana"/>
              </a:rPr>
              <a:t>counters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934205" y="1322070"/>
            <a:ext cx="33826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Verdana"/>
                <a:cs typeface="Verdana"/>
              </a:rPr>
              <a:t>What </a:t>
            </a:r>
            <a:r>
              <a:rPr sz="2000" b="1" dirty="0">
                <a:latin typeface="Verdana"/>
                <a:cs typeface="Verdana"/>
              </a:rPr>
              <a:t>to look for after</a:t>
            </a:r>
            <a:r>
              <a:rPr sz="2000" b="1" spc="-5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992117" y="1596085"/>
            <a:ext cx="32664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Verdana"/>
                <a:cs typeface="Verdana"/>
              </a:rPr>
              <a:t>baseline </a:t>
            </a:r>
            <a:r>
              <a:rPr sz="2000" b="1" dirty="0">
                <a:latin typeface="Verdana"/>
                <a:cs typeface="Verdana"/>
              </a:rPr>
              <a:t>is</a:t>
            </a:r>
            <a:r>
              <a:rPr sz="2000" b="1" spc="-4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established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24967" y="2248027"/>
            <a:ext cx="892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Verdana"/>
                <a:cs typeface="Verdana"/>
              </a:rPr>
              <a:t>Packets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24967" y="2494915"/>
            <a:ext cx="18916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Verdana"/>
                <a:cs typeface="Verdana"/>
              </a:rPr>
              <a:t>received/second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666745" y="2248027"/>
            <a:ext cx="57130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Verdana"/>
                <a:cs typeface="Verdana"/>
              </a:rPr>
              <a:t>Monitor </a:t>
            </a:r>
            <a:r>
              <a:rPr sz="1800" dirty="0">
                <a:latin typeface="Verdana"/>
                <a:cs typeface="Verdana"/>
              </a:rPr>
              <a:t>for </a:t>
            </a:r>
            <a:r>
              <a:rPr sz="1800" spc="-5" dirty="0">
                <a:latin typeface="Verdana"/>
                <a:cs typeface="Verdana"/>
              </a:rPr>
              <a:t>sudden increases </a:t>
            </a:r>
            <a:r>
              <a:rPr sz="1800" dirty="0">
                <a:latin typeface="Verdana"/>
                <a:cs typeface="Verdana"/>
              </a:rPr>
              <a:t>or </a:t>
            </a:r>
            <a:r>
              <a:rPr sz="1800" spc="-5" dirty="0">
                <a:latin typeface="Verdana"/>
                <a:cs typeface="Verdana"/>
              </a:rPr>
              <a:t>decreases,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which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666745" y="2494915"/>
            <a:ext cx="3590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could reflect </a:t>
            </a:r>
            <a:r>
              <a:rPr sz="1800" spc="-5" dirty="0">
                <a:latin typeface="Verdana"/>
                <a:cs typeface="Verdana"/>
              </a:rPr>
              <a:t>network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problems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24967" y="3220973"/>
            <a:ext cx="1966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Requests/second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666745" y="3097529"/>
            <a:ext cx="57130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Verdana"/>
                <a:cs typeface="Verdana"/>
              </a:rPr>
              <a:t>Monitor </a:t>
            </a:r>
            <a:r>
              <a:rPr sz="1800" dirty="0">
                <a:latin typeface="Verdana"/>
                <a:cs typeface="Verdana"/>
              </a:rPr>
              <a:t>for </a:t>
            </a:r>
            <a:r>
              <a:rPr sz="1800" spc="-5" dirty="0">
                <a:latin typeface="Verdana"/>
                <a:cs typeface="Verdana"/>
              </a:rPr>
              <a:t>sudden increases </a:t>
            </a:r>
            <a:r>
              <a:rPr sz="1800" dirty="0">
                <a:latin typeface="Verdana"/>
                <a:cs typeface="Verdana"/>
              </a:rPr>
              <a:t>or </a:t>
            </a:r>
            <a:r>
              <a:rPr sz="1800" spc="-5" dirty="0">
                <a:latin typeface="Verdana"/>
                <a:cs typeface="Verdana"/>
              </a:rPr>
              <a:t>decreases,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which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666745" y="3344417"/>
            <a:ext cx="3590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could reflect </a:t>
            </a:r>
            <a:r>
              <a:rPr sz="1800" spc="-5" dirty="0">
                <a:latin typeface="Verdana"/>
                <a:cs typeface="Verdana"/>
              </a:rPr>
              <a:t>network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problems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24967" y="3961892"/>
            <a:ext cx="15087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Active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queue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24967" y="4208779"/>
            <a:ext cx="7467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en</a:t>
            </a:r>
            <a:r>
              <a:rPr sz="1800" spc="-10" dirty="0">
                <a:latin typeface="Verdana"/>
                <a:cs typeface="Verdana"/>
              </a:rPr>
              <a:t>g</a:t>
            </a:r>
            <a:r>
              <a:rPr sz="1800" spc="-5" dirty="0">
                <a:latin typeface="Verdana"/>
                <a:cs typeface="Verdana"/>
              </a:rPr>
              <a:t>th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666745" y="3838447"/>
            <a:ext cx="5619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Verdana"/>
                <a:cs typeface="Verdana"/>
              </a:rPr>
              <a:t>Monitor </a:t>
            </a:r>
            <a:r>
              <a:rPr sz="1800" dirty="0">
                <a:latin typeface="Verdana"/>
                <a:cs typeface="Verdana"/>
              </a:rPr>
              <a:t>for </a:t>
            </a:r>
            <a:r>
              <a:rPr sz="1800" spc="-5" dirty="0">
                <a:latin typeface="Verdana"/>
                <a:cs typeface="Verdana"/>
              </a:rPr>
              <a:t>sudden </a:t>
            </a:r>
            <a:r>
              <a:rPr sz="1800" dirty="0">
                <a:latin typeface="Verdana"/>
                <a:cs typeface="Verdana"/>
              </a:rPr>
              <a:t>and </a:t>
            </a:r>
            <a:r>
              <a:rPr sz="1800" spc="-10" dirty="0">
                <a:latin typeface="Verdana"/>
                <a:cs typeface="Verdana"/>
              </a:rPr>
              <a:t>gradual </a:t>
            </a:r>
            <a:r>
              <a:rPr sz="1800" spc="-5" dirty="0">
                <a:latin typeface="Verdana"/>
                <a:cs typeface="Verdana"/>
              </a:rPr>
              <a:t>increases,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which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666745" y="4085335"/>
            <a:ext cx="5541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could reflect </a:t>
            </a:r>
            <a:r>
              <a:rPr sz="1800" spc="-5" dirty="0">
                <a:latin typeface="Verdana"/>
                <a:cs typeface="Verdana"/>
              </a:rPr>
              <a:t>increased </a:t>
            </a:r>
            <a:r>
              <a:rPr sz="1800" dirty="0">
                <a:latin typeface="Verdana"/>
                <a:cs typeface="Verdana"/>
              </a:rPr>
              <a:t>load or </a:t>
            </a:r>
            <a:r>
              <a:rPr sz="1800" spc="-5" dirty="0">
                <a:latin typeface="Verdana"/>
                <a:cs typeface="Verdana"/>
              </a:rPr>
              <a:t>decreased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server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666745" y="4332223"/>
            <a:ext cx="967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ca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ac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t</a:t>
            </a:r>
            <a:r>
              <a:rPr sz="1800" dirty="0">
                <a:latin typeface="Verdana"/>
                <a:cs typeface="Verdana"/>
              </a:rPr>
              <a:t>y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24967" y="4885690"/>
            <a:ext cx="1867535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345"/>
              </a:spcBef>
            </a:pPr>
            <a:r>
              <a:rPr sz="1800" dirty="0">
                <a:latin typeface="Verdana"/>
                <a:cs typeface="Verdana"/>
              </a:rPr>
              <a:t>Duplicates  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dirty="0">
                <a:latin typeface="Verdana"/>
                <a:cs typeface="Verdana"/>
              </a:rPr>
              <a:t>ro</a:t>
            </a:r>
            <a:r>
              <a:rPr sz="1800" spc="-10" dirty="0">
                <a:latin typeface="Verdana"/>
                <a:cs typeface="Verdana"/>
              </a:rPr>
              <a:t>pp</a:t>
            </a:r>
            <a:r>
              <a:rPr sz="1800" dirty="0">
                <a:latin typeface="Verdana"/>
                <a:cs typeface="Verdana"/>
              </a:rPr>
              <a:t>e</a:t>
            </a:r>
            <a:r>
              <a:rPr sz="1800" spc="-15" dirty="0">
                <a:latin typeface="Verdana"/>
                <a:cs typeface="Verdana"/>
              </a:rPr>
              <a:t>d</a:t>
            </a:r>
            <a:r>
              <a:rPr sz="1800" spc="-5" dirty="0">
                <a:latin typeface="Verdana"/>
                <a:cs typeface="Verdana"/>
              </a:rPr>
              <a:t>/s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cond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666745" y="4762245"/>
            <a:ext cx="5448300" cy="79375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algn="just">
              <a:lnSpc>
                <a:spcPts val="1939"/>
              </a:lnSpc>
              <a:spcBef>
                <a:spcPts val="345"/>
              </a:spcBef>
            </a:pPr>
            <a:r>
              <a:rPr sz="1800" spc="-5" dirty="0">
                <a:latin typeface="Verdana"/>
                <a:cs typeface="Verdana"/>
              </a:rPr>
              <a:t>Monitor </a:t>
            </a:r>
            <a:r>
              <a:rPr sz="1800" dirty="0">
                <a:latin typeface="Verdana"/>
                <a:cs typeface="Verdana"/>
              </a:rPr>
              <a:t>for </a:t>
            </a:r>
            <a:r>
              <a:rPr sz="1800" spc="-5" dirty="0">
                <a:latin typeface="Verdana"/>
                <a:cs typeface="Verdana"/>
              </a:rPr>
              <a:t>any </a:t>
            </a:r>
            <a:r>
              <a:rPr sz="1800" dirty="0">
                <a:latin typeface="Verdana"/>
                <a:cs typeface="Verdana"/>
              </a:rPr>
              <a:t>activity </a:t>
            </a:r>
            <a:r>
              <a:rPr sz="1800" spc="-5" dirty="0">
                <a:latin typeface="Verdana"/>
                <a:cs typeface="Verdana"/>
              </a:rPr>
              <a:t>that </a:t>
            </a:r>
            <a:r>
              <a:rPr sz="1800" dirty="0">
                <a:latin typeface="Verdana"/>
                <a:cs typeface="Verdana"/>
              </a:rPr>
              <a:t>could indicate </a:t>
            </a:r>
            <a:r>
              <a:rPr sz="1800" spc="-5" dirty="0">
                <a:latin typeface="Verdana"/>
                <a:cs typeface="Verdana"/>
              </a:rPr>
              <a:t>that  </a:t>
            </a:r>
            <a:r>
              <a:rPr sz="1800" dirty="0">
                <a:latin typeface="Verdana"/>
                <a:cs typeface="Verdana"/>
              </a:rPr>
              <a:t>more </a:t>
            </a:r>
            <a:r>
              <a:rPr sz="1800" spc="-5" dirty="0">
                <a:latin typeface="Verdana"/>
                <a:cs typeface="Verdana"/>
              </a:rPr>
              <a:t>than </a:t>
            </a:r>
            <a:r>
              <a:rPr sz="1800" dirty="0">
                <a:latin typeface="Verdana"/>
                <a:cs typeface="Verdana"/>
              </a:rPr>
              <a:t>one </a:t>
            </a:r>
            <a:r>
              <a:rPr sz="1800" spc="-5" dirty="0">
                <a:latin typeface="Verdana"/>
                <a:cs typeface="Verdana"/>
              </a:rPr>
              <a:t>request </a:t>
            </a:r>
            <a:r>
              <a:rPr sz="1800" dirty="0">
                <a:latin typeface="Verdana"/>
                <a:cs typeface="Verdana"/>
              </a:rPr>
              <a:t>is </a:t>
            </a:r>
            <a:r>
              <a:rPr sz="1800" spc="-5" dirty="0">
                <a:latin typeface="Verdana"/>
                <a:cs typeface="Verdana"/>
              </a:rPr>
              <a:t>being transmitted </a:t>
            </a:r>
            <a:r>
              <a:rPr sz="1800" dirty="0">
                <a:latin typeface="Verdana"/>
                <a:cs typeface="Verdana"/>
              </a:rPr>
              <a:t>on  </a:t>
            </a:r>
            <a:r>
              <a:rPr sz="1800" spc="-5" dirty="0">
                <a:latin typeface="Verdana"/>
                <a:cs typeface="Verdana"/>
              </a:rPr>
              <a:t>behalf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clients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5721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 smtClean="0"/>
              <a:t> </a:t>
            </a:r>
            <a:r>
              <a:rPr spc="-5" dirty="0" smtClean="0"/>
              <a:t> </a:t>
            </a:r>
            <a:r>
              <a:rPr dirty="0"/>
              <a:t>6: </a:t>
            </a:r>
            <a:r>
              <a:rPr spc="-5" dirty="0"/>
              <a:t>Configuring </a:t>
            </a:r>
            <a:r>
              <a:rPr dirty="0"/>
              <a:t>DHCP</a:t>
            </a:r>
            <a:r>
              <a:rPr spc="40" dirty="0"/>
              <a:t> </a:t>
            </a:r>
            <a:r>
              <a:rPr spc="-5" dirty="0"/>
              <a:t>Security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328" y="946150"/>
            <a:ext cx="7493000" cy="1581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10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Preventing an Unauthorized User from </a:t>
            </a:r>
            <a:r>
              <a:rPr sz="2000" spc="-5" dirty="0">
                <a:latin typeface="Verdana"/>
                <a:cs typeface="Verdana"/>
              </a:rPr>
              <a:t>Obtaining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Lease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ts val="2280"/>
              </a:lnSpc>
              <a:spcBef>
                <a:spcPts val="143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Restricting Unauthorized, </a:t>
            </a:r>
            <a:r>
              <a:rPr sz="2000" spc="-5" dirty="0">
                <a:latin typeface="Verdana"/>
                <a:cs typeface="Verdana"/>
              </a:rPr>
              <a:t>Non-Microsoft </a:t>
            </a:r>
            <a:r>
              <a:rPr sz="2000" dirty="0">
                <a:latin typeface="Verdana"/>
                <a:cs typeface="Verdana"/>
              </a:rPr>
              <a:t>DHCP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Servers</a:t>
            </a:r>
            <a:endParaRPr sz="2000">
              <a:latin typeface="Verdana"/>
              <a:cs typeface="Verdana"/>
            </a:endParaRPr>
          </a:p>
          <a:p>
            <a:pPr marL="187960">
              <a:lnSpc>
                <a:spcPts val="2280"/>
              </a:lnSpc>
            </a:pPr>
            <a:r>
              <a:rPr sz="2000" dirty="0">
                <a:latin typeface="Verdana"/>
                <a:cs typeface="Verdana"/>
              </a:rPr>
              <a:t>from </a:t>
            </a:r>
            <a:r>
              <a:rPr sz="2000" spc="-5" dirty="0">
                <a:latin typeface="Verdana"/>
                <a:cs typeface="Verdana"/>
              </a:rPr>
              <a:t>Leasing </a:t>
            </a:r>
            <a:r>
              <a:rPr sz="2000" dirty="0">
                <a:latin typeface="Verdana"/>
                <a:cs typeface="Verdana"/>
              </a:rPr>
              <a:t>IP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Addresses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Restricting </a:t>
            </a:r>
            <a:r>
              <a:rPr sz="2000" dirty="0">
                <a:latin typeface="Verdana"/>
                <a:cs typeface="Verdana"/>
              </a:rPr>
              <a:t>DHCP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Administration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4953"/>
            <a:ext cx="7504430" cy="70231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ts val="2450"/>
              </a:lnSpc>
              <a:spcBef>
                <a:spcPts val="540"/>
              </a:spcBef>
            </a:pPr>
            <a:r>
              <a:rPr spc="-10" dirty="0"/>
              <a:t>Preventing </a:t>
            </a:r>
            <a:r>
              <a:rPr dirty="0"/>
              <a:t>an </a:t>
            </a:r>
            <a:r>
              <a:rPr spc="-5" dirty="0"/>
              <a:t>Unauthorized User from Obtaining  </a:t>
            </a:r>
            <a:r>
              <a:rPr dirty="0"/>
              <a:t>a</a:t>
            </a:r>
            <a:r>
              <a:rPr spc="-5" dirty="0"/>
              <a:t> Lease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77467" y="1024127"/>
            <a:ext cx="6967855" cy="5394960"/>
            <a:chOff x="1077467" y="1024127"/>
            <a:chExt cx="6967855" cy="5394960"/>
          </a:xfrm>
        </p:grpSpPr>
        <p:sp>
          <p:nvSpPr>
            <p:cNvPr id="4" name="object 4"/>
            <p:cNvSpPr/>
            <p:nvPr/>
          </p:nvSpPr>
          <p:spPr>
            <a:xfrm>
              <a:off x="1082039" y="1028699"/>
              <a:ext cx="6958965" cy="5386070"/>
            </a:xfrm>
            <a:custGeom>
              <a:avLst/>
              <a:gdLst/>
              <a:ahLst/>
              <a:cxnLst/>
              <a:rect l="l" t="t" r="r" b="b"/>
              <a:pathLst>
                <a:path w="6958965" h="5386070">
                  <a:moveTo>
                    <a:pt x="6734175" y="0"/>
                  </a:moveTo>
                  <a:lnTo>
                    <a:pt x="224409" y="0"/>
                  </a:lnTo>
                  <a:lnTo>
                    <a:pt x="179185" y="4558"/>
                  </a:lnTo>
                  <a:lnTo>
                    <a:pt x="137063" y="17633"/>
                  </a:lnTo>
                  <a:lnTo>
                    <a:pt x="98944" y="38321"/>
                  </a:lnTo>
                  <a:lnTo>
                    <a:pt x="65732" y="65722"/>
                  </a:lnTo>
                  <a:lnTo>
                    <a:pt x="38328" y="98933"/>
                  </a:lnTo>
                  <a:lnTo>
                    <a:pt x="17636" y="137052"/>
                  </a:lnTo>
                  <a:lnTo>
                    <a:pt x="4559" y="179178"/>
                  </a:lnTo>
                  <a:lnTo>
                    <a:pt x="0" y="224409"/>
                  </a:lnTo>
                  <a:lnTo>
                    <a:pt x="0" y="5161394"/>
                  </a:lnTo>
                  <a:lnTo>
                    <a:pt x="4559" y="5206621"/>
                  </a:lnTo>
                  <a:lnTo>
                    <a:pt x="17636" y="5248747"/>
                  </a:lnTo>
                  <a:lnTo>
                    <a:pt x="38328" y="5286868"/>
                  </a:lnTo>
                  <a:lnTo>
                    <a:pt x="65732" y="5320082"/>
                  </a:lnTo>
                  <a:lnTo>
                    <a:pt x="98944" y="5347486"/>
                  </a:lnTo>
                  <a:lnTo>
                    <a:pt x="137063" y="5368179"/>
                  </a:lnTo>
                  <a:lnTo>
                    <a:pt x="179185" y="5381256"/>
                  </a:lnTo>
                  <a:lnTo>
                    <a:pt x="224409" y="5385816"/>
                  </a:lnTo>
                  <a:lnTo>
                    <a:pt x="6734175" y="5385816"/>
                  </a:lnTo>
                  <a:lnTo>
                    <a:pt x="6779405" y="5381256"/>
                  </a:lnTo>
                  <a:lnTo>
                    <a:pt x="6821531" y="5368179"/>
                  </a:lnTo>
                  <a:lnTo>
                    <a:pt x="6859650" y="5347486"/>
                  </a:lnTo>
                  <a:lnTo>
                    <a:pt x="6892861" y="5320082"/>
                  </a:lnTo>
                  <a:lnTo>
                    <a:pt x="6920262" y="5286868"/>
                  </a:lnTo>
                  <a:lnTo>
                    <a:pt x="6940950" y="5248747"/>
                  </a:lnTo>
                  <a:lnTo>
                    <a:pt x="6954025" y="5206621"/>
                  </a:lnTo>
                  <a:lnTo>
                    <a:pt x="6958583" y="5161394"/>
                  </a:lnTo>
                  <a:lnTo>
                    <a:pt x="6958583" y="224409"/>
                  </a:lnTo>
                  <a:lnTo>
                    <a:pt x="6954025" y="179178"/>
                  </a:lnTo>
                  <a:lnTo>
                    <a:pt x="6940950" y="137052"/>
                  </a:lnTo>
                  <a:lnTo>
                    <a:pt x="6920262" y="98933"/>
                  </a:lnTo>
                  <a:lnTo>
                    <a:pt x="6892861" y="65722"/>
                  </a:lnTo>
                  <a:lnTo>
                    <a:pt x="6859650" y="38321"/>
                  </a:lnTo>
                  <a:lnTo>
                    <a:pt x="6821531" y="17633"/>
                  </a:lnTo>
                  <a:lnTo>
                    <a:pt x="6779405" y="4558"/>
                  </a:lnTo>
                  <a:lnTo>
                    <a:pt x="6734175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82039" y="1028699"/>
              <a:ext cx="6958965" cy="5386070"/>
            </a:xfrm>
            <a:custGeom>
              <a:avLst/>
              <a:gdLst/>
              <a:ahLst/>
              <a:cxnLst/>
              <a:rect l="l" t="t" r="r" b="b"/>
              <a:pathLst>
                <a:path w="6958965" h="5386070">
                  <a:moveTo>
                    <a:pt x="0" y="224409"/>
                  </a:moveTo>
                  <a:lnTo>
                    <a:pt x="4559" y="179178"/>
                  </a:lnTo>
                  <a:lnTo>
                    <a:pt x="17636" y="137052"/>
                  </a:lnTo>
                  <a:lnTo>
                    <a:pt x="38328" y="98933"/>
                  </a:lnTo>
                  <a:lnTo>
                    <a:pt x="65732" y="65722"/>
                  </a:lnTo>
                  <a:lnTo>
                    <a:pt x="98944" y="38321"/>
                  </a:lnTo>
                  <a:lnTo>
                    <a:pt x="137063" y="17633"/>
                  </a:lnTo>
                  <a:lnTo>
                    <a:pt x="179185" y="4558"/>
                  </a:lnTo>
                  <a:lnTo>
                    <a:pt x="224409" y="0"/>
                  </a:lnTo>
                  <a:lnTo>
                    <a:pt x="6734175" y="0"/>
                  </a:lnTo>
                  <a:lnTo>
                    <a:pt x="6779405" y="4558"/>
                  </a:lnTo>
                  <a:lnTo>
                    <a:pt x="6821531" y="17633"/>
                  </a:lnTo>
                  <a:lnTo>
                    <a:pt x="6859650" y="38321"/>
                  </a:lnTo>
                  <a:lnTo>
                    <a:pt x="6892861" y="65722"/>
                  </a:lnTo>
                  <a:lnTo>
                    <a:pt x="6920262" y="98933"/>
                  </a:lnTo>
                  <a:lnTo>
                    <a:pt x="6940950" y="137052"/>
                  </a:lnTo>
                  <a:lnTo>
                    <a:pt x="6954025" y="179178"/>
                  </a:lnTo>
                  <a:lnTo>
                    <a:pt x="6958583" y="224409"/>
                  </a:lnTo>
                  <a:lnTo>
                    <a:pt x="6958583" y="5161394"/>
                  </a:lnTo>
                  <a:lnTo>
                    <a:pt x="6954025" y="5206621"/>
                  </a:lnTo>
                  <a:lnTo>
                    <a:pt x="6940950" y="5248747"/>
                  </a:lnTo>
                  <a:lnTo>
                    <a:pt x="6920262" y="5286868"/>
                  </a:lnTo>
                  <a:lnTo>
                    <a:pt x="6892861" y="5320082"/>
                  </a:lnTo>
                  <a:lnTo>
                    <a:pt x="6859650" y="5347486"/>
                  </a:lnTo>
                  <a:lnTo>
                    <a:pt x="6821531" y="5368179"/>
                  </a:lnTo>
                  <a:lnTo>
                    <a:pt x="6779405" y="5381256"/>
                  </a:lnTo>
                  <a:lnTo>
                    <a:pt x="6734175" y="5385816"/>
                  </a:lnTo>
                  <a:lnTo>
                    <a:pt x="224409" y="5385816"/>
                  </a:lnTo>
                  <a:lnTo>
                    <a:pt x="179185" y="5381256"/>
                  </a:lnTo>
                  <a:lnTo>
                    <a:pt x="137063" y="5368179"/>
                  </a:lnTo>
                  <a:lnTo>
                    <a:pt x="98944" y="5347486"/>
                  </a:lnTo>
                  <a:lnTo>
                    <a:pt x="65732" y="5320082"/>
                  </a:lnTo>
                  <a:lnTo>
                    <a:pt x="38328" y="5286868"/>
                  </a:lnTo>
                  <a:lnTo>
                    <a:pt x="17636" y="5248747"/>
                  </a:lnTo>
                  <a:lnTo>
                    <a:pt x="4559" y="5206621"/>
                  </a:lnTo>
                  <a:lnTo>
                    <a:pt x="0" y="5161394"/>
                  </a:lnTo>
                  <a:lnTo>
                    <a:pt x="0" y="224409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72539" y="1914144"/>
              <a:ext cx="6585584" cy="721360"/>
            </a:xfrm>
            <a:custGeom>
              <a:avLst/>
              <a:gdLst/>
              <a:ahLst/>
              <a:cxnLst/>
              <a:rect l="l" t="t" r="r" b="b"/>
              <a:pathLst>
                <a:path w="6585584" h="721360">
                  <a:moveTo>
                    <a:pt x="6555105" y="0"/>
                  </a:moveTo>
                  <a:lnTo>
                    <a:pt x="30098" y="0"/>
                  </a:lnTo>
                  <a:lnTo>
                    <a:pt x="18377" y="2363"/>
                  </a:lnTo>
                  <a:lnTo>
                    <a:pt x="8810" y="8810"/>
                  </a:lnTo>
                  <a:lnTo>
                    <a:pt x="2363" y="18377"/>
                  </a:lnTo>
                  <a:lnTo>
                    <a:pt x="0" y="30098"/>
                  </a:lnTo>
                  <a:lnTo>
                    <a:pt x="0" y="690752"/>
                  </a:lnTo>
                  <a:lnTo>
                    <a:pt x="2363" y="702474"/>
                  </a:lnTo>
                  <a:lnTo>
                    <a:pt x="8810" y="712041"/>
                  </a:lnTo>
                  <a:lnTo>
                    <a:pt x="18377" y="718488"/>
                  </a:lnTo>
                  <a:lnTo>
                    <a:pt x="30098" y="720851"/>
                  </a:lnTo>
                  <a:lnTo>
                    <a:pt x="6555105" y="720851"/>
                  </a:lnTo>
                  <a:lnTo>
                    <a:pt x="6566826" y="718488"/>
                  </a:lnTo>
                  <a:lnTo>
                    <a:pt x="6576393" y="712041"/>
                  </a:lnTo>
                  <a:lnTo>
                    <a:pt x="6582840" y="702474"/>
                  </a:lnTo>
                  <a:lnTo>
                    <a:pt x="6585204" y="690752"/>
                  </a:lnTo>
                  <a:lnTo>
                    <a:pt x="6585204" y="30098"/>
                  </a:lnTo>
                  <a:lnTo>
                    <a:pt x="6582840" y="18377"/>
                  </a:lnTo>
                  <a:lnTo>
                    <a:pt x="6576393" y="8810"/>
                  </a:lnTo>
                  <a:lnTo>
                    <a:pt x="6566826" y="2363"/>
                  </a:lnTo>
                  <a:lnTo>
                    <a:pt x="6555105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72539" y="1914144"/>
              <a:ext cx="6585584" cy="721360"/>
            </a:xfrm>
            <a:custGeom>
              <a:avLst/>
              <a:gdLst/>
              <a:ahLst/>
              <a:cxnLst/>
              <a:rect l="l" t="t" r="r" b="b"/>
              <a:pathLst>
                <a:path w="6585584" h="721360">
                  <a:moveTo>
                    <a:pt x="0" y="30098"/>
                  </a:moveTo>
                  <a:lnTo>
                    <a:pt x="2363" y="18377"/>
                  </a:lnTo>
                  <a:lnTo>
                    <a:pt x="8810" y="8810"/>
                  </a:lnTo>
                  <a:lnTo>
                    <a:pt x="18377" y="2363"/>
                  </a:lnTo>
                  <a:lnTo>
                    <a:pt x="30098" y="0"/>
                  </a:lnTo>
                  <a:lnTo>
                    <a:pt x="6555105" y="0"/>
                  </a:lnTo>
                  <a:lnTo>
                    <a:pt x="6566826" y="2363"/>
                  </a:lnTo>
                  <a:lnTo>
                    <a:pt x="6576393" y="8810"/>
                  </a:lnTo>
                  <a:lnTo>
                    <a:pt x="6582840" y="18377"/>
                  </a:lnTo>
                  <a:lnTo>
                    <a:pt x="6585204" y="30098"/>
                  </a:lnTo>
                  <a:lnTo>
                    <a:pt x="6585204" y="690752"/>
                  </a:lnTo>
                  <a:lnTo>
                    <a:pt x="6582840" y="702474"/>
                  </a:lnTo>
                  <a:lnTo>
                    <a:pt x="6576393" y="712041"/>
                  </a:lnTo>
                  <a:lnTo>
                    <a:pt x="6566826" y="718488"/>
                  </a:lnTo>
                  <a:lnTo>
                    <a:pt x="6555105" y="720851"/>
                  </a:lnTo>
                  <a:lnTo>
                    <a:pt x="30098" y="720851"/>
                  </a:lnTo>
                  <a:lnTo>
                    <a:pt x="18377" y="718488"/>
                  </a:lnTo>
                  <a:lnTo>
                    <a:pt x="8810" y="712041"/>
                  </a:lnTo>
                  <a:lnTo>
                    <a:pt x="2363" y="702474"/>
                  </a:lnTo>
                  <a:lnTo>
                    <a:pt x="0" y="690752"/>
                  </a:lnTo>
                  <a:lnTo>
                    <a:pt x="0" y="30098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72539" y="2782823"/>
              <a:ext cx="6585584" cy="739140"/>
            </a:xfrm>
            <a:custGeom>
              <a:avLst/>
              <a:gdLst/>
              <a:ahLst/>
              <a:cxnLst/>
              <a:rect l="l" t="t" r="r" b="b"/>
              <a:pathLst>
                <a:path w="6585584" h="739139">
                  <a:moveTo>
                    <a:pt x="6554342" y="0"/>
                  </a:moveTo>
                  <a:lnTo>
                    <a:pt x="30860" y="0"/>
                  </a:lnTo>
                  <a:lnTo>
                    <a:pt x="18859" y="2428"/>
                  </a:lnTo>
                  <a:lnTo>
                    <a:pt x="9048" y="9048"/>
                  </a:lnTo>
                  <a:lnTo>
                    <a:pt x="2428" y="18859"/>
                  </a:lnTo>
                  <a:lnTo>
                    <a:pt x="0" y="30861"/>
                  </a:lnTo>
                  <a:lnTo>
                    <a:pt x="0" y="708278"/>
                  </a:lnTo>
                  <a:lnTo>
                    <a:pt x="2428" y="720280"/>
                  </a:lnTo>
                  <a:lnTo>
                    <a:pt x="9048" y="730091"/>
                  </a:lnTo>
                  <a:lnTo>
                    <a:pt x="18859" y="736711"/>
                  </a:lnTo>
                  <a:lnTo>
                    <a:pt x="30860" y="739139"/>
                  </a:lnTo>
                  <a:lnTo>
                    <a:pt x="6554342" y="739139"/>
                  </a:lnTo>
                  <a:lnTo>
                    <a:pt x="6566344" y="736711"/>
                  </a:lnTo>
                  <a:lnTo>
                    <a:pt x="6576155" y="730091"/>
                  </a:lnTo>
                  <a:lnTo>
                    <a:pt x="6582775" y="720280"/>
                  </a:lnTo>
                  <a:lnTo>
                    <a:pt x="6585204" y="708278"/>
                  </a:lnTo>
                  <a:lnTo>
                    <a:pt x="6585204" y="30861"/>
                  </a:lnTo>
                  <a:lnTo>
                    <a:pt x="6582775" y="18859"/>
                  </a:lnTo>
                  <a:lnTo>
                    <a:pt x="6576155" y="9048"/>
                  </a:lnTo>
                  <a:lnTo>
                    <a:pt x="6566344" y="2428"/>
                  </a:lnTo>
                  <a:lnTo>
                    <a:pt x="655434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2539" y="2782823"/>
              <a:ext cx="6585584" cy="739140"/>
            </a:xfrm>
            <a:custGeom>
              <a:avLst/>
              <a:gdLst/>
              <a:ahLst/>
              <a:cxnLst/>
              <a:rect l="l" t="t" r="r" b="b"/>
              <a:pathLst>
                <a:path w="6585584" h="739139">
                  <a:moveTo>
                    <a:pt x="0" y="30861"/>
                  </a:moveTo>
                  <a:lnTo>
                    <a:pt x="2428" y="18859"/>
                  </a:lnTo>
                  <a:lnTo>
                    <a:pt x="9048" y="9048"/>
                  </a:lnTo>
                  <a:lnTo>
                    <a:pt x="18859" y="2428"/>
                  </a:lnTo>
                  <a:lnTo>
                    <a:pt x="30860" y="0"/>
                  </a:lnTo>
                  <a:lnTo>
                    <a:pt x="6554342" y="0"/>
                  </a:lnTo>
                  <a:lnTo>
                    <a:pt x="6566344" y="2428"/>
                  </a:lnTo>
                  <a:lnTo>
                    <a:pt x="6576155" y="9048"/>
                  </a:lnTo>
                  <a:lnTo>
                    <a:pt x="6582775" y="18859"/>
                  </a:lnTo>
                  <a:lnTo>
                    <a:pt x="6585204" y="30861"/>
                  </a:lnTo>
                  <a:lnTo>
                    <a:pt x="6585204" y="708278"/>
                  </a:lnTo>
                  <a:lnTo>
                    <a:pt x="6582775" y="720280"/>
                  </a:lnTo>
                  <a:lnTo>
                    <a:pt x="6576155" y="730091"/>
                  </a:lnTo>
                  <a:lnTo>
                    <a:pt x="6566344" y="736711"/>
                  </a:lnTo>
                  <a:lnTo>
                    <a:pt x="6554342" y="739139"/>
                  </a:lnTo>
                  <a:lnTo>
                    <a:pt x="30860" y="739139"/>
                  </a:lnTo>
                  <a:lnTo>
                    <a:pt x="18859" y="736711"/>
                  </a:lnTo>
                  <a:lnTo>
                    <a:pt x="9048" y="730091"/>
                  </a:lnTo>
                  <a:lnTo>
                    <a:pt x="2428" y="720280"/>
                  </a:lnTo>
                  <a:lnTo>
                    <a:pt x="0" y="708278"/>
                  </a:lnTo>
                  <a:lnTo>
                    <a:pt x="0" y="30861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72539" y="3689604"/>
              <a:ext cx="6585584" cy="739140"/>
            </a:xfrm>
            <a:custGeom>
              <a:avLst/>
              <a:gdLst/>
              <a:ahLst/>
              <a:cxnLst/>
              <a:rect l="l" t="t" r="r" b="b"/>
              <a:pathLst>
                <a:path w="6585584" h="739139">
                  <a:moveTo>
                    <a:pt x="6554342" y="0"/>
                  </a:moveTo>
                  <a:lnTo>
                    <a:pt x="30860" y="0"/>
                  </a:lnTo>
                  <a:lnTo>
                    <a:pt x="18859" y="2428"/>
                  </a:lnTo>
                  <a:lnTo>
                    <a:pt x="9048" y="9048"/>
                  </a:lnTo>
                  <a:lnTo>
                    <a:pt x="2428" y="18859"/>
                  </a:lnTo>
                  <a:lnTo>
                    <a:pt x="0" y="30861"/>
                  </a:lnTo>
                  <a:lnTo>
                    <a:pt x="0" y="708279"/>
                  </a:lnTo>
                  <a:lnTo>
                    <a:pt x="2428" y="720280"/>
                  </a:lnTo>
                  <a:lnTo>
                    <a:pt x="9048" y="730091"/>
                  </a:lnTo>
                  <a:lnTo>
                    <a:pt x="18859" y="736711"/>
                  </a:lnTo>
                  <a:lnTo>
                    <a:pt x="30860" y="739140"/>
                  </a:lnTo>
                  <a:lnTo>
                    <a:pt x="6554342" y="739140"/>
                  </a:lnTo>
                  <a:lnTo>
                    <a:pt x="6566344" y="736711"/>
                  </a:lnTo>
                  <a:lnTo>
                    <a:pt x="6576155" y="730091"/>
                  </a:lnTo>
                  <a:lnTo>
                    <a:pt x="6582775" y="720280"/>
                  </a:lnTo>
                  <a:lnTo>
                    <a:pt x="6585204" y="708279"/>
                  </a:lnTo>
                  <a:lnTo>
                    <a:pt x="6585204" y="30861"/>
                  </a:lnTo>
                  <a:lnTo>
                    <a:pt x="6582775" y="18859"/>
                  </a:lnTo>
                  <a:lnTo>
                    <a:pt x="6576155" y="9048"/>
                  </a:lnTo>
                  <a:lnTo>
                    <a:pt x="6566344" y="2428"/>
                  </a:lnTo>
                  <a:lnTo>
                    <a:pt x="655434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72539" y="3689604"/>
              <a:ext cx="6585584" cy="739140"/>
            </a:xfrm>
            <a:custGeom>
              <a:avLst/>
              <a:gdLst/>
              <a:ahLst/>
              <a:cxnLst/>
              <a:rect l="l" t="t" r="r" b="b"/>
              <a:pathLst>
                <a:path w="6585584" h="739139">
                  <a:moveTo>
                    <a:pt x="0" y="30861"/>
                  </a:moveTo>
                  <a:lnTo>
                    <a:pt x="2428" y="18859"/>
                  </a:lnTo>
                  <a:lnTo>
                    <a:pt x="9048" y="9048"/>
                  </a:lnTo>
                  <a:lnTo>
                    <a:pt x="18859" y="2428"/>
                  </a:lnTo>
                  <a:lnTo>
                    <a:pt x="30860" y="0"/>
                  </a:lnTo>
                  <a:lnTo>
                    <a:pt x="6554342" y="0"/>
                  </a:lnTo>
                  <a:lnTo>
                    <a:pt x="6566344" y="2428"/>
                  </a:lnTo>
                  <a:lnTo>
                    <a:pt x="6576155" y="9048"/>
                  </a:lnTo>
                  <a:lnTo>
                    <a:pt x="6582775" y="18859"/>
                  </a:lnTo>
                  <a:lnTo>
                    <a:pt x="6585204" y="30861"/>
                  </a:lnTo>
                  <a:lnTo>
                    <a:pt x="6585204" y="708279"/>
                  </a:lnTo>
                  <a:lnTo>
                    <a:pt x="6582775" y="720280"/>
                  </a:lnTo>
                  <a:lnTo>
                    <a:pt x="6576155" y="730091"/>
                  </a:lnTo>
                  <a:lnTo>
                    <a:pt x="6566344" y="736711"/>
                  </a:lnTo>
                  <a:lnTo>
                    <a:pt x="6554342" y="739140"/>
                  </a:lnTo>
                  <a:lnTo>
                    <a:pt x="30860" y="739140"/>
                  </a:lnTo>
                  <a:lnTo>
                    <a:pt x="18859" y="736711"/>
                  </a:lnTo>
                  <a:lnTo>
                    <a:pt x="9048" y="730091"/>
                  </a:lnTo>
                  <a:lnTo>
                    <a:pt x="2428" y="720280"/>
                  </a:lnTo>
                  <a:lnTo>
                    <a:pt x="0" y="708279"/>
                  </a:lnTo>
                  <a:lnTo>
                    <a:pt x="0" y="30861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72539" y="4596383"/>
              <a:ext cx="6585584" cy="739140"/>
            </a:xfrm>
            <a:custGeom>
              <a:avLst/>
              <a:gdLst/>
              <a:ahLst/>
              <a:cxnLst/>
              <a:rect l="l" t="t" r="r" b="b"/>
              <a:pathLst>
                <a:path w="6585584" h="739139">
                  <a:moveTo>
                    <a:pt x="6554342" y="0"/>
                  </a:moveTo>
                  <a:lnTo>
                    <a:pt x="30860" y="0"/>
                  </a:lnTo>
                  <a:lnTo>
                    <a:pt x="18859" y="2428"/>
                  </a:lnTo>
                  <a:lnTo>
                    <a:pt x="9048" y="9048"/>
                  </a:lnTo>
                  <a:lnTo>
                    <a:pt x="2428" y="18859"/>
                  </a:lnTo>
                  <a:lnTo>
                    <a:pt x="0" y="30861"/>
                  </a:lnTo>
                  <a:lnTo>
                    <a:pt x="0" y="708279"/>
                  </a:lnTo>
                  <a:lnTo>
                    <a:pt x="2428" y="720280"/>
                  </a:lnTo>
                  <a:lnTo>
                    <a:pt x="9048" y="730091"/>
                  </a:lnTo>
                  <a:lnTo>
                    <a:pt x="18859" y="736711"/>
                  </a:lnTo>
                  <a:lnTo>
                    <a:pt x="30860" y="739140"/>
                  </a:lnTo>
                  <a:lnTo>
                    <a:pt x="6554342" y="739140"/>
                  </a:lnTo>
                  <a:lnTo>
                    <a:pt x="6566344" y="736711"/>
                  </a:lnTo>
                  <a:lnTo>
                    <a:pt x="6576155" y="730091"/>
                  </a:lnTo>
                  <a:lnTo>
                    <a:pt x="6582775" y="720280"/>
                  </a:lnTo>
                  <a:lnTo>
                    <a:pt x="6585204" y="708279"/>
                  </a:lnTo>
                  <a:lnTo>
                    <a:pt x="6585204" y="30861"/>
                  </a:lnTo>
                  <a:lnTo>
                    <a:pt x="6582775" y="18859"/>
                  </a:lnTo>
                  <a:lnTo>
                    <a:pt x="6576155" y="9048"/>
                  </a:lnTo>
                  <a:lnTo>
                    <a:pt x="6566344" y="2428"/>
                  </a:lnTo>
                  <a:lnTo>
                    <a:pt x="655434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72539" y="4596383"/>
              <a:ext cx="6585584" cy="739140"/>
            </a:xfrm>
            <a:custGeom>
              <a:avLst/>
              <a:gdLst/>
              <a:ahLst/>
              <a:cxnLst/>
              <a:rect l="l" t="t" r="r" b="b"/>
              <a:pathLst>
                <a:path w="6585584" h="739139">
                  <a:moveTo>
                    <a:pt x="0" y="30861"/>
                  </a:moveTo>
                  <a:lnTo>
                    <a:pt x="2428" y="18859"/>
                  </a:lnTo>
                  <a:lnTo>
                    <a:pt x="9048" y="9048"/>
                  </a:lnTo>
                  <a:lnTo>
                    <a:pt x="18859" y="2428"/>
                  </a:lnTo>
                  <a:lnTo>
                    <a:pt x="30860" y="0"/>
                  </a:lnTo>
                  <a:lnTo>
                    <a:pt x="6554342" y="0"/>
                  </a:lnTo>
                  <a:lnTo>
                    <a:pt x="6566344" y="2428"/>
                  </a:lnTo>
                  <a:lnTo>
                    <a:pt x="6576155" y="9048"/>
                  </a:lnTo>
                  <a:lnTo>
                    <a:pt x="6582775" y="18859"/>
                  </a:lnTo>
                  <a:lnTo>
                    <a:pt x="6585204" y="30861"/>
                  </a:lnTo>
                  <a:lnTo>
                    <a:pt x="6585204" y="708279"/>
                  </a:lnTo>
                  <a:lnTo>
                    <a:pt x="6582775" y="720280"/>
                  </a:lnTo>
                  <a:lnTo>
                    <a:pt x="6576155" y="730091"/>
                  </a:lnTo>
                  <a:lnTo>
                    <a:pt x="6566344" y="736711"/>
                  </a:lnTo>
                  <a:lnTo>
                    <a:pt x="6554342" y="739140"/>
                  </a:lnTo>
                  <a:lnTo>
                    <a:pt x="30860" y="739140"/>
                  </a:lnTo>
                  <a:lnTo>
                    <a:pt x="18859" y="736711"/>
                  </a:lnTo>
                  <a:lnTo>
                    <a:pt x="9048" y="730091"/>
                  </a:lnTo>
                  <a:lnTo>
                    <a:pt x="2428" y="720280"/>
                  </a:lnTo>
                  <a:lnTo>
                    <a:pt x="0" y="708279"/>
                  </a:lnTo>
                  <a:lnTo>
                    <a:pt x="0" y="30861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67967" y="5490972"/>
              <a:ext cx="6585584" cy="741045"/>
            </a:xfrm>
            <a:custGeom>
              <a:avLst/>
              <a:gdLst/>
              <a:ahLst/>
              <a:cxnLst/>
              <a:rect l="l" t="t" r="r" b="b"/>
              <a:pathLst>
                <a:path w="6585584" h="741045">
                  <a:moveTo>
                    <a:pt x="6554342" y="0"/>
                  </a:moveTo>
                  <a:lnTo>
                    <a:pt x="30860" y="0"/>
                  </a:lnTo>
                  <a:lnTo>
                    <a:pt x="18859" y="2428"/>
                  </a:lnTo>
                  <a:lnTo>
                    <a:pt x="9048" y="9048"/>
                  </a:lnTo>
                  <a:lnTo>
                    <a:pt x="2428" y="18859"/>
                  </a:lnTo>
                  <a:lnTo>
                    <a:pt x="0" y="30860"/>
                  </a:lnTo>
                  <a:lnTo>
                    <a:pt x="0" y="709802"/>
                  </a:lnTo>
                  <a:lnTo>
                    <a:pt x="2428" y="721815"/>
                  </a:lnTo>
                  <a:lnTo>
                    <a:pt x="9048" y="731624"/>
                  </a:lnTo>
                  <a:lnTo>
                    <a:pt x="18859" y="738238"/>
                  </a:lnTo>
                  <a:lnTo>
                    <a:pt x="30860" y="740663"/>
                  </a:lnTo>
                  <a:lnTo>
                    <a:pt x="6554342" y="740663"/>
                  </a:lnTo>
                  <a:lnTo>
                    <a:pt x="6566344" y="738238"/>
                  </a:lnTo>
                  <a:lnTo>
                    <a:pt x="6576155" y="731624"/>
                  </a:lnTo>
                  <a:lnTo>
                    <a:pt x="6582775" y="721815"/>
                  </a:lnTo>
                  <a:lnTo>
                    <a:pt x="6585204" y="709802"/>
                  </a:lnTo>
                  <a:lnTo>
                    <a:pt x="6585204" y="30860"/>
                  </a:lnTo>
                  <a:lnTo>
                    <a:pt x="6582775" y="18859"/>
                  </a:lnTo>
                  <a:lnTo>
                    <a:pt x="6576155" y="9048"/>
                  </a:lnTo>
                  <a:lnTo>
                    <a:pt x="6566344" y="2428"/>
                  </a:lnTo>
                  <a:lnTo>
                    <a:pt x="655434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67967" y="5490972"/>
              <a:ext cx="6585584" cy="741045"/>
            </a:xfrm>
            <a:custGeom>
              <a:avLst/>
              <a:gdLst/>
              <a:ahLst/>
              <a:cxnLst/>
              <a:rect l="l" t="t" r="r" b="b"/>
              <a:pathLst>
                <a:path w="6585584" h="741045">
                  <a:moveTo>
                    <a:pt x="0" y="30860"/>
                  </a:moveTo>
                  <a:lnTo>
                    <a:pt x="2428" y="18859"/>
                  </a:lnTo>
                  <a:lnTo>
                    <a:pt x="9048" y="9048"/>
                  </a:lnTo>
                  <a:lnTo>
                    <a:pt x="18859" y="2428"/>
                  </a:lnTo>
                  <a:lnTo>
                    <a:pt x="30860" y="0"/>
                  </a:lnTo>
                  <a:lnTo>
                    <a:pt x="6554342" y="0"/>
                  </a:lnTo>
                  <a:lnTo>
                    <a:pt x="6566344" y="2428"/>
                  </a:lnTo>
                  <a:lnTo>
                    <a:pt x="6576155" y="9048"/>
                  </a:lnTo>
                  <a:lnTo>
                    <a:pt x="6582775" y="18859"/>
                  </a:lnTo>
                  <a:lnTo>
                    <a:pt x="6585204" y="30860"/>
                  </a:lnTo>
                  <a:lnTo>
                    <a:pt x="6585204" y="709802"/>
                  </a:lnTo>
                  <a:lnTo>
                    <a:pt x="6582775" y="721815"/>
                  </a:lnTo>
                  <a:lnTo>
                    <a:pt x="6576155" y="731624"/>
                  </a:lnTo>
                  <a:lnTo>
                    <a:pt x="6566344" y="738238"/>
                  </a:lnTo>
                  <a:lnTo>
                    <a:pt x="6554342" y="740663"/>
                  </a:lnTo>
                  <a:lnTo>
                    <a:pt x="30860" y="740663"/>
                  </a:lnTo>
                  <a:lnTo>
                    <a:pt x="18859" y="738238"/>
                  </a:lnTo>
                  <a:lnTo>
                    <a:pt x="9048" y="731624"/>
                  </a:lnTo>
                  <a:lnTo>
                    <a:pt x="2428" y="721815"/>
                  </a:lnTo>
                  <a:lnTo>
                    <a:pt x="0" y="709802"/>
                  </a:lnTo>
                  <a:lnTo>
                    <a:pt x="0" y="30860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227531" y="1126363"/>
            <a:ext cx="6600190" cy="4994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9052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Verdana"/>
                <a:cs typeface="Verdana"/>
              </a:rPr>
              <a:t>To </a:t>
            </a:r>
            <a:r>
              <a:rPr sz="1800" b="1" spc="-5" dirty="0">
                <a:latin typeface="Verdana"/>
                <a:cs typeface="Verdana"/>
              </a:rPr>
              <a:t>prevent </a:t>
            </a:r>
            <a:r>
              <a:rPr sz="1800" b="1" dirty="0">
                <a:latin typeface="Verdana"/>
                <a:cs typeface="Verdana"/>
              </a:rPr>
              <a:t>an </a:t>
            </a:r>
            <a:r>
              <a:rPr sz="1800" b="1" spc="-5" dirty="0">
                <a:latin typeface="Verdana"/>
                <a:cs typeface="Verdana"/>
              </a:rPr>
              <a:t>unauthorized user from obtaining  </a:t>
            </a:r>
            <a:r>
              <a:rPr sz="1800" b="1" dirty="0">
                <a:latin typeface="Verdana"/>
                <a:cs typeface="Verdana"/>
              </a:rPr>
              <a:t>a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lease: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00">
              <a:latin typeface="Verdana"/>
              <a:cs typeface="Verdana"/>
            </a:endParaRPr>
          </a:p>
          <a:p>
            <a:pPr marL="374650" marR="258445" indent="-228600">
              <a:lnSpc>
                <a:spcPts val="1939"/>
              </a:lnSpc>
              <a:spcBef>
                <a:spcPts val="5"/>
              </a:spcBef>
              <a:buClr>
                <a:srgbClr val="006699"/>
              </a:buClr>
              <a:buFont typeface="Verdana"/>
              <a:buChar char="•"/>
              <a:tabLst>
                <a:tab pos="375285" algn="l"/>
              </a:tabLst>
            </a:pPr>
            <a:r>
              <a:rPr sz="1800" b="1" spc="-5" dirty="0">
                <a:latin typeface="Verdana"/>
                <a:cs typeface="Verdana"/>
              </a:rPr>
              <a:t>Ensure </a:t>
            </a:r>
            <a:r>
              <a:rPr sz="1800" b="1" dirty="0">
                <a:latin typeface="Verdana"/>
                <a:cs typeface="Verdana"/>
              </a:rPr>
              <a:t>that </a:t>
            </a:r>
            <a:r>
              <a:rPr sz="1800" b="1" spc="-5" dirty="0">
                <a:latin typeface="Verdana"/>
                <a:cs typeface="Verdana"/>
              </a:rPr>
              <a:t>unauthorized persons do not have  physical </a:t>
            </a:r>
            <a:r>
              <a:rPr sz="1800" b="1" dirty="0">
                <a:latin typeface="Verdana"/>
                <a:cs typeface="Verdana"/>
              </a:rPr>
              <a:t>or wireless </a:t>
            </a:r>
            <a:r>
              <a:rPr sz="1800" b="1" spc="-5" dirty="0">
                <a:latin typeface="Verdana"/>
                <a:cs typeface="Verdana"/>
              </a:rPr>
              <a:t>access to </a:t>
            </a:r>
            <a:r>
              <a:rPr sz="1800" b="1" dirty="0">
                <a:latin typeface="Verdana"/>
                <a:cs typeface="Verdana"/>
              </a:rPr>
              <a:t>your</a:t>
            </a:r>
            <a:r>
              <a:rPr sz="1800" b="1" spc="-3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network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006699"/>
              </a:buClr>
              <a:buFont typeface="Verdana"/>
              <a:buChar char="•"/>
            </a:pPr>
            <a:endParaRPr sz="2450">
              <a:latin typeface="Verdana"/>
              <a:cs typeface="Verdana"/>
            </a:endParaRPr>
          </a:p>
          <a:p>
            <a:pPr marL="374650" marR="657225" indent="-228600">
              <a:lnSpc>
                <a:spcPts val="1939"/>
              </a:lnSpc>
              <a:buClr>
                <a:srgbClr val="006699"/>
              </a:buClr>
              <a:buFont typeface="Verdana"/>
              <a:buChar char="•"/>
              <a:tabLst>
                <a:tab pos="375285" algn="l"/>
              </a:tabLst>
            </a:pPr>
            <a:r>
              <a:rPr sz="1800" b="1" spc="-5" dirty="0">
                <a:latin typeface="Verdana"/>
                <a:cs typeface="Verdana"/>
              </a:rPr>
              <a:t>Enable </a:t>
            </a:r>
            <a:r>
              <a:rPr sz="1800" b="1" dirty="0">
                <a:latin typeface="Verdana"/>
                <a:cs typeface="Verdana"/>
              </a:rPr>
              <a:t>audit logging </a:t>
            </a:r>
            <a:r>
              <a:rPr sz="1800" b="1" spc="-5" dirty="0">
                <a:latin typeface="Verdana"/>
                <a:cs typeface="Verdana"/>
              </a:rPr>
              <a:t>for every </a:t>
            </a:r>
            <a:r>
              <a:rPr sz="1800" b="1" dirty="0">
                <a:latin typeface="Verdana"/>
                <a:cs typeface="Verdana"/>
              </a:rPr>
              <a:t>DHCP </a:t>
            </a:r>
            <a:r>
              <a:rPr sz="1800" b="1" spc="-5" dirty="0">
                <a:latin typeface="Verdana"/>
                <a:cs typeface="Verdana"/>
              </a:rPr>
              <a:t>server  </a:t>
            </a:r>
            <a:r>
              <a:rPr sz="1800" b="1" dirty="0">
                <a:latin typeface="Verdana"/>
                <a:cs typeface="Verdana"/>
              </a:rPr>
              <a:t>on your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network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006699"/>
              </a:buClr>
              <a:buFont typeface="Verdana"/>
              <a:buChar char="•"/>
            </a:pPr>
            <a:endParaRPr sz="3250">
              <a:latin typeface="Verdana"/>
              <a:cs typeface="Verdana"/>
            </a:endParaRPr>
          </a:p>
          <a:p>
            <a:pPr marL="374650" indent="-229235">
              <a:lnSpc>
                <a:spcPct val="100000"/>
              </a:lnSpc>
              <a:spcBef>
                <a:spcPts val="5"/>
              </a:spcBef>
              <a:buClr>
                <a:srgbClr val="006699"/>
              </a:buClr>
              <a:buFont typeface="Verdana"/>
              <a:buChar char="•"/>
              <a:tabLst>
                <a:tab pos="375285" algn="l"/>
              </a:tabLst>
            </a:pPr>
            <a:r>
              <a:rPr sz="1800" b="1" spc="-5" dirty="0">
                <a:latin typeface="Verdana"/>
                <a:cs typeface="Verdana"/>
              </a:rPr>
              <a:t>Regularly check </a:t>
            </a:r>
            <a:r>
              <a:rPr sz="1800" b="1" dirty="0">
                <a:latin typeface="Verdana"/>
                <a:cs typeface="Verdana"/>
              </a:rPr>
              <a:t>and </a:t>
            </a:r>
            <a:r>
              <a:rPr sz="1800" b="1" spc="-5" dirty="0">
                <a:latin typeface="Verdana"/>
                <a:cs typeface="Verdana"/>
              </a:rPr>
              <a:t>monitor </a:t>
            </a:r>
            <a:r>
              <a:rPr sz="1800" b="1" dirty="0">
                <a:latin typeface="Verdana"/>
                <a:cs typeface="Verdana"/>
              </a:rPr>
              <a:t>audit log</a:t>
            </a:r>
            <a:r>
              <a:rPr sz="1800" b="1" spc="2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files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006699"/>
              </a:buClr>
              <a:buFont typeface="Verdana"/>
              <a:buChar char="•"/>
            </a:pPr>
            <a:endParaRPr sz="2200">
              <a:latin typeface="Verdana"/>
              <a:cs typeface="Verdana"/>
            </a:endParaRPr>
          </a:p>
          <a:p>
            <a:pPr marL="374650" marR="335915" indent="-228600">
              <a:lnSpc>
                <a:spcPts val="1939"/>
              </a:lnSpc>
              <a:spcBef>
                <a:spcPts val="1580"/>
              </a:spcBef>
              <a:buClr>
                <a:srgbClr val="006699"/>
              </a:buClr>
              <a:buFont typeface="Verdana"/>
              <a:buChar char="•"/>
              <a:tabLst>
                <a:tab pos="375285" algn="l"/>
              </a:tabLst>
            </a:pPr>
            <a:r>
              <a:rPr sz="1800" b="1" dirty="0">
                <a:latin typeface="Verdana"/>
                <a:cs typeface="Verdana"/>
              </a:rPr>
              <a:t>Use 802.1X-enabled </a:t>
            </a:r>
            <a:r>
              <a:rPr sz="1800" b="1" spc="-5" dirty="0">
                <a:latin typeface="Verdana"/>
                <a:cs typeface="Verdana"/>
              </a:rPr>
              <a:t>LAN switches </a:t>
            </a:r>
            <a:r>
              <a:rPr sz="1800" b="1" dirty="0">
                <a:latin typeface="Verdana"/>
                <a:cs typeface="Verdana"/>
              </a:rPr>
              <a:t>or </a:t>
            </a:r>
            <a:r>
              <a:rPr sz="1800" b="1" spc="-5" dirty="0">
                <a:latin typeface="Verdana"/>
                <a:cs typeface="Verdana"/>
              </a:rPr>
              <a:t>wireless  access points </a:t>
            </a:r>
            <a:r>
              <a:rPr sz="1800" b="1" dirty="0">
                <a:latin typeface="Verdana"/>
                <a:cs typeface="Verdana"/>
              </a:rPr>
              <a:t>to </a:t>
            </a:r>
            <a:r>
              <a:rPr sz="1800" b="1" spc="-5" dirty="0">
                <a:latin typeface="Verdana"/>
                <a:cs typeface="Verdana"/>
              </a:rPr>
              <a:t>access the</a:t>
            </a:r>
            <a:r>
              <a:rPr sz="1800" b="1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network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06699"/>
              </a:buClr>
              <a:buFont typeface="Verdana"/>
              <a:buChar char="•"/>
            </a:pPr>
            <a:endParaRPr sz="2400">
              <a:latin typeface="Verdana"/>
              <a:cs typeface="Verdana"/>
            </a:endParaRPr>
          </a:p>
          <a:p>
            <a:pPr marL="370205" indent="-229235">
              <a:lnSpc>
                <a:spcPts val="2050"/>
              </a:lnSpc>
              <a:buClr>
                <a:srgbClr val="006699"/>
              </a:buClr>
              <a:buFont typeface="Verdana"/>
              <a:buChar char="•"/>
              <a:tabLst>
                <a:tab pos="370840" algn="l"/>
              </a:tabLst>
            </a:pPr>
            <a:r>
              <a:rPr sz="1800" b="1" spc="-5" dirty="0">
                <a:latin typeface="Verdana"/>
                <a:cs typeface="Verdana"/>
              </a:rPr>
              <a:t>Configure NAP </a:t>
            </a:r>
            <a:r>
              <a:rPr sz="1800" b="1" dirty="0">
                <a:latin typeface="Verdana"/>
                <a:cs typeface="Verdana"/>
              </a:rPr>
              <a:t>to </a:t>
            </a:r>
            <a:r>
              <a:rPr sz="1800" b="1" spc="-5" dirty="0">
                <a:latin typeface="Verdana"/>
                <a:cs typeface="Verdana"/>
              </a:rPr>
              <a:t>validate users </a:t>
            </a:r>
            <a:r>
              <a:rPr sz="1800" b="1" dirty="0">
                <a:latin typeface="Verdana"/>
                <a:cs typeface="Verdana"/>
              </a:rPr>
              <a:t>and</a:t>
            </a:r>
            <a:r>
              <a:rPr sz="1800" b="1" spc="3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security</a:t>
            </a:r>
            <a:endParaRPr sz="1800">
              <a:latin typeface="Verdana"/>
              <a:cs typeface="Verdana"/>
            </a:endParaRPr>
          </a:p>
          <a:p>
            <a:pPr marL="370205">
              <a:lnSpc>
                <a:spcPts val="2050"/>
              </a:lnSpc>
            </a:pPr>
            <a:r>
              <a:rPr sz="1800" b="1" spc="-5" dirty="0">
                <a:latin typeface="Verdana"/>
                <a:cs typeface="Verdana"/>
              </a:rPr>
              <a:t>policy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compliance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4953"/>
            <a:ext cx="7132320" cy="70231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ts val="2450"/>
              </a:lnSpc>
              <a:spcBef>
                <a:spcPts val="540"/>
              </a:spcBef>
            </a:pPr>
            <a:r>
              <a:rPr spc="-10" dirty="0"/>
              <a:t>Restricting </a:t>
            </a:r>
            <a:r>
              <a:rPr spc="-5" dirty="0"/>
              <a:t>Unauthorized, Non-Microsoft </a:t>
            </a:r>
            <a:r>
              <a:rPr dirty="0"/>
              <a:t>DHCP  </a:t>
            </a:r>
            <a:r>
              <a:rPr spc="-5" dirty="0"/>
              <a:t>Servers from Leasing </a:t>
            </a:r>
            <a:r>
              <a:rPr spc="-10" dirty="0"/>
              <a:t>IP</a:t>
            </a:r>
            <a:r>
              <a:rPr spc="95" dirty="0"/>
              <a:t> </a:t>
            </a:r>
            <a:r>
              <a:rPr spc="-5" dirty="0"/>
              <a:t>Addresses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78991" y="4828032"/>
            <a:ext cx="6993890" cy="1277620"/>
            <a:chOff x="1078991" y="4828032"/>
            <a:chExt cx="6993890" cy="1277620"/>
          </a:xfrm>
        </p:grpSpPr>
        <p:sp>
          <p:nvSpPr>
            <p:cNvPr id="4" name="object 4"/>
            <p:cNvSpPr/>
            <p:nvPr/>
          </p:nvSpPr>
          <p:spPr>
            <a:xfrm>
              <a:off x="1106423" y="4852416"/>
              <a:ext cx="6966204" cy="125272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78991" y="4899660"/>
              <a:ext cx="6801611" cy="11826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86611" y="4832604"/>
              <a:ext cx="6954011" cy="124053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86611" y="4832604"/>
              <a:ext cx="6954520" cy="1240790"/>
            </a:xfrm>
            <a:custGeom>
              <a:avLst/>
              <a:gdLst/>
              <a:ahLst/>
              <a:cxnLst/>
              <a:rect l="l" t="t" r="r" b="b"/>
              <a:pathLst>
                <a:path w="6954520" h="1240789">
                  <a:moveTo>
                    <a:pt x="0" y="51689"/>
                  </a:moveTo>
                  <a:lnTo>
                    <a:pt x="4061" y="31557"/>
                  </a:lnTo>
                  <a:lnTo>
                    <a:pt x="15138" y="15128"/>
                  </a:lnTo>
                  <a:lnTo>
                    <a:pt x="31568" y="4058"/>
                  </a:lnTo>
                  <a:lnTo>
                    <a:pt x="51688" y="0"/>
                  </a:lnTo>
                  <a:lnTo>
                    <a:pt x="6902323" y="0"/>
                  </a:lnTo>
                  <a:lnTo>
                    <a:pt x="6922454" y="4058"/>
                  </a:lnTo>
                  <a:lnTo>
                    <a:pt x="6938883" y="15128"/>
                  </a:lnTo>
                  <a:lnTo>
                    <a:pt x="6949953" y="31557"/>
                  </a:lnTo>
                  <a:lnTo>
                    <a:pt x="6954011" y="51689"/>
                  </a:lnTo>
                  <a:lnTo>
                    <a:pt x="6954011" y="1188847"/>
                  </a:lnTo>
                  <a:lnTo>
                    <a:pt x="6949953" y="1208967"/>
                  </a:lnTo>
                  <a:lnTo>
                    <a:pt x="6938883" y="1225397"/>
                  </a:lnTo>
                  <a:lnTo>
                    <a:pt x="6922454" y="1236474"/>
                  </a:lnTo>
                  <a:lnTo>
                    <a:pt x="6902323" y="1240536"/>
                  </a:lnTo>
                  <a:lnTo>
                    <a:pt x="51688" y="1240536"/>
                  </a:lnTo>
                  <a:lnTo>
                    <a:pt x="31568" y="1236474"/>
                  </a:lnTo>
                  <a:lnTo>
                    <a:pt x="15138" y="1225397"/>
                  </a:lnTo>
                  <a:lnTo>
                    <a:pt x="4061" y="1208967"/>
                  </a:lnTo>
                  <a:lnTo>
                    <a:pt x="0" y="1188847"/>
                  </a:lnTo>
                  <a:lnTo>
                    <a:pt x="0" y="51689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98753" y="4932045"/>
            <a:ext cx="6929755" cy="99949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93345" marR="384175">
              <a:lnSpc>
                <a:spcPts val="1839"/>
              </a:lnSpc>
              <a:spcBef>
                <a:spcPts val="425"/>
              </a:spcBef>
            </a:pPr>
            <a:r>
              <a:rPr sz="1800" b="1" dirty="0">
                <a:latin typeface="Verdana"/>
                <a:cs typeface="Verdana"/>
              </a:rPr>
              <a:t>To </a:t>
            </a:r>
            <a:r>
              <a:rPr sz="1800" b="1" spc="-5" dirty="0">
                <a:latin typeface="Verdana"/>
                <a:cs typeface="Verdana"/>
              </a:rPr>
              <a:t>eliminate </a:t>
            </a:r>
            <a:r>
              <a:rPr sz="1800" b="1" dirty="0">
                <a:latin typeface="Verdana"/>
                <a:cs typeface="Verdana"/>
              </a:rPr>
              <a:t>an </a:t>
            </a:r>
            <a:r>
              <a:rPr sz="1800" b="1" spc="-5" dirty="0">
                <a:latin typeface="Verdana"/>
                <a:cs typeface="Verdana"/>
              </a:rPr>
              <a:t>unauthorized </a:t>
            </a:r>
            <a:r>
              <a:rPr sz="1800" b="1" dirty="0">
                <a:latin typeface="Verdana"/>
                <a:cs typeface="Verdana"/>
              </a:rPr>
              <a:t>DHCP </a:t>
            </a:r>
            <a:r>
              <a:rPr sz="1800" b="1" spc="-5" dirty="0">
                <a:latin typeface="Verdana"/>
                <a:cs typeface="Verdana"/>
              </a:rPr>
              <a:t>server, </a:t>
            </a:r>
            <a:r>
              <a:rPr sz="1800" b="1" dirty="0">
                <a:latin typeface="Verdana"/>
                <a:cs typeface="Verdana"/>
              </a:rPr>
              <a:t>you  </a:t>
            </a:r>
            <a:r>
              <a:rPr sz="1800" b="1" spc="-5" dirty="0">
                <a:latin typeface="Verdana"/>
                <a:cs typeface="Verdana"/>
              </a:rPr>
              <a:t>must locate </a:t>
            </a:r>
            <a:r>
              <a:rPr sz="1800" b="1" dirty="0">
                <a:latin typeface="Verdana"/>
                <a:cs typeface="Verdana"/>
              </a:rPr>
              <a:t>and </a:t>
            </a:r>
            <a:r>
              <a:rPr sz="1800" b="1" spc="-5" dirty="0">
                <a:latin typeface="Verdana"/>
                <a:cs typeface="Verdana"/>
              </a:rPr>
              <a:t>disable </a:t>
            </a:r>
            <a:r>
              <a:rPr sz="1800" b="1" dirty="0">
                <a:latin typeface="Verdana"/>
                <a:cs typeface="Verdana"/>
              </a:rPr>
              <a:t>it </a:t>
            </a:r>
            <a:r>
              <a:rPr sz="1800" b="1" spc="-5" dirty="0">
                <a:latin typeface="Verdana"/>
                <a:cs typeface="Verdana"/>
              </a:rPr>
              <a:t>from communicating </a:t>
            </a:r>
            <a:r>
              <a:rPr sz="1800" b="1" dirty="0">
                <a:latin typeface="Verdana"/>
                <a:cs typeface="Verdana"/>
              </a:rPr>
              <a:t>on  the </a:t>
            </a:r>
            <a:r>
              <a:rPr sz="1800" b="1" spc="-5" dirty="0">
                <a:latin typeface="Verdana"/>
                <a:cs typeface="Verdana"/>
              </a:rPr>
              <a:t>network either physically </a:t>
            </a:r>
            <a:r>
              <a:rPr sz="1800" b="1" dirty="0">
                <a:latin typeface="Verdana"/>
                <a:cs typeface="Verdana"/>
              </a:rPr>
              <a:t>or </a:t>
            </a:r>
            <a:r>
              <a:rPr sz="1800" b="1" spc="-5" dirty="0">
                <a:latin typeface="Verdana"/>
                <a:cs typeface="Verdana"/>
              </a:rPr>
              <a:t>by </a:t>
            </a:r>
            <a:r>
              <a:rPr sz="1800" b="1" spc="-10" dirty="0">
                <a:latin typeface="Verdana"/>
                <a:cs typeface="Verdana"/>
              </a:rPr>
              <a:t>disabling </a:t>
            </a:r>
            <a:r>
              <a:rPr sz="1800" b="1" dirty="0">
                <a:latin typeface="Verdana"/>
                <a:cs typeface="Verdana"/>
              </a:rPr>
              <a:t>the  DHCP</a:t>
            </a:r>
            <a:r>
              <a:rPr sz="1800" b="1" spc="-5" dirty="0">
                <a:latin typeface="Verdana"/>
                <a:cs typeface="Verdana"/>
              </a:rPr>
              <a:t> service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77595" y="1793748"/>
            <a:ext cx="1798320" cy="2118360"/>
            <a:chOff x="577595" y="1793748"/>
            <a:chExt cx="1798320" cy="2118360"/>
          </a:xfrm>
        </p:grpSpPr>
        <p:sp>
          <p:nvSpPr>
            <p:cNvPr id="10" name="object 10"/>
            <p:cNvSpPr/>
            <p:nvPr/>
          </p:nvSpPr>
          <p:spPr>
            <a:xfrm>
              <a:off x="577595" y="1793748"/>
              <a:ext cx="1798320" cy="211836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58823" y="2404872"/>
              <a:ext cx="941832" cy="114604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6774180" y="655789"/>
            <a:ext cx="1949450" cy="1749425"/>
            <a:chOff x="6774180" y="655789"/>
            <a:chExt cx="1949450" cy="1749425"/>
          </a:xfrm>
        </p:grpSpPr>
        <p:sp>
          <p:nvSpPr>
            <p:cNvPr id="13" name="object 13"/>
            <p:cNvSpPr/>
            <p:nvPr/>
          </p:nvSpPr>
          <p:spPr>
            <a:xfrm>
              <a:off x="6774180" y="861060"/>
              <a:ext cx="1312164" cy="154381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340701" y="655789"/>
              <a:ext cx="1382445" cy="133633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4962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Restricting </a:t>
            </a:r>
            <a:r>
              <a:rPr dirty="0"/>
              <a:t>DHCP</a:t>
            </a:r>
            <a:r>
              <a:rPr spc="20" dirty="0"/>
              <a:t> </a:t>
            </a:r>
            <a:r>
              <a:rPr spc="-5" dirty="0"/>
              <a:t>Administration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87095" y="1181100"/>
            <a:ext cx="8353425" cy="2435860"/>
            <a:chOff x="387095" y="1181100"/>
            <a:chExt cx="8353425" cy="2435860"/>
          </a:xfrm>
        </p:grpSpPr>
        <p:sp>
          <p:nvSpPr>
            <p:cNvPr id="4" name="object 4"/>
            <p:cNvSpPr/>
            <p:nvPr/>
          </p:nvSpPr>
          <p:spPr>
            <a:xfrm>
              <a:off x="391667" y="1185672"/>
              <a:ext cx="8343900" cy="2426335"/>
            </a:xfrm>
            <a:custGeom>
              <a:avLst/>
              <a:gdLst/>
              <a:ahLst/>
              <a:cxnLst/>
              <a:rect l="l" t="t" r="r" b="b"/>
              <a:pathLst>
                <a:path w="8343900" h="2426335">
                  <a:moveTo>
                    <a:pt x="8242808" y="0"/>
                  </a:moveTo>
                  <a:lnTo>
                    <a:pt x="101091" y="0"/>
                  </a:lnTo>
                  <a:lnTo>
                    <a:pt x="61743" y="7937"/>
                  </a:lnTo>
                  <a:lnTo>
                    <a:pt x="29610" y="29591"/>
                  </a:lnTo>
                  <a:lnTo>
                    <a:pt x="7944" y="61722"/>
                  </a:lnTo>
                  <a:lnTo>
                    <a:pt x="0" y="101091"/>
                  </a:lnTo>
                  <a:lnTo>
                    <a:pt x="0" y="2325116"/>
                  </a:lnTo>
                  <a:lnTo>
                    <a:pt x="7944" y="2364485"/>
                  </a:lnTo>
                  <a:lnTo>
                    <a:pt x="29610" y="2396616"/>
                  </a:lnTo>
                  <a:lnTo>
                    <a:pt x="61743" y="2418270"/>
                  </a:lnTo>
                  <a:lnTo>
                    <a:pt x="101091" y="2426208"/>
                  </a:lnTo>
                  <a:lnTo>
                    <a:pt x="8242808" y="2426208"/>
                  </a:lnTo>
                  <a:lnTo>
                    <a:pt x="8282178" y="2418270"/>
                  </a:lnTo>
                  <a:lnTo>
                    <a:pt x="8314308" y="2396616"/>
                  </a:lnTo>
                  <a:lnTo>
                    <a:pt x="8335962" y="2364485"/>
                  </a:lnTo>
                  <a:lnTo>
                    <a:pt x="8343900" y="2325116"/>
                  </a:lnTo>
                  <a:lnTo>
                    <a:pt x="8343900" y="101091"/>
                  </a:lnTo>
                  <a:lnTo>
                    <a:pt x="8335962" y="61721"/>
                  </a:lnTo>
                  <a:lnTo>
                    <a:pt x="8314308" y="29590"/>
                  </a:lnTo>
                  <a:lnTo>
                    <a:pt x="8282178" y="7937"/>
                  </a:lnTo>
                  <a:lnTo>
                    <a:pt x="8242808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1667" y="1185672"/>
              <a:ext cx="8343900" cy="2426335"/>
            </a:xfrm>
            <a:custGeom>
              <a:avLst/>
              <a:gdLst/>
              <a:ahLst/>
              <a:cxnLst/>
              <a:rect l="l" t="t" r="r" b="b"/>
              <a:pathLst>
                <a:path w="8343900" h="2426335">
                  <a:moveTo>
                    <a:pt x="0" y="101091"/>
                  </a:moveTo>
                  <a:lnTo>
                    <a:pt x="7944" y="61722"/>
                  </a:lnTo>
                  <a:lnTo>
                    <a:pt x="29610" y="29591"/>
                  </a:lnTo>
                  <a:lnTo>
                    <a:pt x="61743" y="7937"/>
                  </a:lnTo>
                  <a:lnTo>
                    <a:pt x="101091" y="0"/>
                  </a:lnTo>
                  <a:lnTo>
                    <a:pt x="8242808" y="0"/>
                  </a:lnTo>
                  <a:lnTo>
                    <a:pt x="8282178" y="7937"/>
                  </a:lnTo>
                  <a:lnTo>
                    <a:pt x="8314308" y="29590"/>
                  </a:lnTo>
                  <a:lnTo>
                    <a:pt x="8335962" y="61721"/>
                  </a:lnTo>
                  <a:lnTo>
                    <a:pt x="8343900" y="101091"/>
                  </a:lnTo>
                  <a:lnTo>
                    <a:pt x="8343900" y="2325116"/>
                  </a:lnTo>
                  <a:lnTo>
                    <a:pt x="8335962" y="2364485"/>
                  </a:lnTo>
                  <a:lnTo>
                    <a:pt x="8314308" y="2396616"/>
                  </a:lnTo>
                  <a:lnTo>
                    <a:pt x="8282178" y="2418270"/>
                  </a:lnTo>
                  <a:lnTo>
                    <a:pt x="8242808" y="2426208"/>
                  </a:lnTo>
                  <a:lnTo>
                    <a:pt x="101091" y="2426208"/>
                  </a:lnTo>
                  <a:lnTo>
                    <a:pt x="61743" y="2418270"/>
                  </a:lnTo>
                  <a:lnTo>
                    <a:pt x="29610" y="2396616"/>
                  </a:lnTo>
                  <a:lnTo>
                    <a:pt x="7944" y="2364485"/>
                  </a:lnTo>
                  <a:lnTo>
                    <a:pt x="0" y="2325116"/>
                  </a:lnTo>
                  <a:lnTo>
                    <a:pt x="0" y="101091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4171" y="1680972"/>
              <a:ext cx="7903845" cy="731520"/>
            </a:xfrm>
            <a:custGeom>
              <a:avLst/>
              <a:gdLst/>
              <a:ahLst/>
              <a:cxnLst/>
              <a:rect l="l" t="t" r="r" b="b"/>
              <a:pathLst>
                <a:path w="7903845" h="731519">
                  <a:moveTo>
                    <a:pt x="7872983" y="0"/>
                  </a:moveTo>
                  <a:lnTo>
                    <a:pt x="30479" y="0"/>
                  </a:lnTo>
                  <a:lnTo>
                    <a:pt x="18618" y="2387"/>
                  </a:lnTo>
                  <a:lnTo>
                    <a:pt x="8929" y="8905"/>
                  </a:lnTo>
                  <a:lnTo>
                    <a:pt x="2396" y="18591"/>
                  </a:lnTo>
                  <a:lnTo>
                    <a:pt x="0" y="30479"/>
                  </a:lnTo>
                  <a:lnTo>
                    <a:pt x="0" y="701039"/>
                  </a:lnTo>
                  <a:lnTo>
                    <a:pt x="2396" y="712928"/>
                  </a:lnTo>
                  <a:lnTo>
                    <a:pt x="8929" y="722614"/>
                  </a:lnTo>
                  <a:lnTo>
                    <a:pt x="18618" y="729132"/>
                  </a:lnTo>
                  <a:lnTo>
                    <a:pt x="30479" y="731519"/>
                  </a:lnTo>
                  <a:lnTo>
                    <a:pt x="7872983" y="731519"/>
                  </a:lnTo>
                  <a:lnTo>
                    <a:pt x="7884872" y="729132"/>
                  </a:lnTo>
                  <a:lnTo>
                    <a:pt x="7894558" y="722614"/>
                  </a:lnTo>
                  <a:lnTo>
                    <a:pt x="7901076" y="712928"/>
                  </a:lnTo>
                  <a:lnTo>
                    <a:pt x="7903463" y="701039"/>
                  </a:lnTo>
                  <a:lnTo>
                    <a:pt x="7903463" y="30479"/>
                  </a:lnTo>
                  <a:lnTo>
                    <a:pt x="7901076" y="18591"/>
                  </a:lnTo>
                  <a:lnTo>
                    <a:pt x="7894558" y="8905"/>
                  </a:lnTo>
                  <a:lnTo>
                    <a:pt x="7884872" y="2387"/>
                  </a:lnTo>
                  <a:lnTo>
                    <a:pt x="7872983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4171" y="1680972"/>
              <a:ext cx="7903845" cy="731520"/>
            </a:xfrm>
            <a:custGeom>
              <a:avLst/>
              <a:gdLst/>
              <a:ahLst/>
              <a:cxnLst/>
              <a:rect l="l" t="t" r="r" b="b"/>
              <a:pathLst>
                <a:path w="7903845" h="731519">
                  <a:moveTo>
                    <a:pt x="0" y="30479"/>
                  </a:moveTo>
                  <a:lnTo>
                    <a:pt x="2396" y="18591"/>
                  </a:lnTo>
                  <a:lnTo>
                    <a:pt x="8929" y="8905"/>
                  </a:lnTo>
                  <a:lnTo>
                    <a:pt x="18618" y="2387"/>
                  </a:lnTo>
                  <a:lnTo>
                    <a:pt x="30479" y="0"/>
                  </a:lnTo>
                  <a:lnTo>
                    <a:pt x="7872983" y="0"/>
                  </a:lnTo>
                  <a:lnTo>
                    <a:pt x="7884872" y="2387"/>
                  </a:lnTo>
                  <a:lnTo>
                    <a:pt x="7894558" y="8905"/>
                  </a:lnTo>
                  <a:lnTo>
                    <a:pt x="7901076" y="18591"/>
                  </a:lnTo>
                  <a:lnTo>
                    <a:pt x="7903463" y="30479"/>
                  </a:lnTo>
                  <a:lnTo>
                    <a:pt x="7903463" y="701039"/>
                  </a:lnTo>
                  <a:lnTo>
                    <a:pt x="7901076" y="712928"/>
                  </a:lnTo>
                  <a:lnTo>
                    <a:pt x="7894558" y="722614"/>
                  </a:lnTo>
                  <a:lnTo>
                    <a:pt x="7884872" y="729132"/>
                  </a:lnTo>
                  <a:lnTo>
                    <a:pt x="7872983" y="731519"/>
                  </a:lnTo>
                  <a:lnTo>
                    <a:pt x="30479" y="731519"/>
                  </a:lnTo>
                  <a:lnTo>
                    <a:pt x="18618" y="729132"/>
                  </a:lnTo>
                  <a:lnTo>
                    <a:pt x="8929" y="722614"/>
                  </a:lnTo>
                  <a:lnTo>
                    <a:pt x="2396" y="712928"/>
                  </a:lnTo>
                  <a:lnTo>
                    <a:pt x="0" y="701039"/>
                  </a:lnTo>
                  <a:lnTo>
                    <a:pt x="0" y="30479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7220" y="2654808"/>
              <a:ext cx="7884159" cy="731520"/>
            </a:xfrm>
            <a:custGeom>
              <a:avLst/>
              <a:gdLst/>
              <a:ahLst/>
              <a:cxnLst/>
              <a:rect l="l" t="t" r="r" b="b"/>
              <a:pathLst>
                <a:path w="7884159" h="731520">
                  <a:moveTo>
                    <a:pt x="7853172" y="0"/>
                  </a:moveTo>
                  <a:lnTo>
                    <a:pt x="30479" y="0"/>
                  </a:lnTo>
                  <a:lnTo>
                    <a:pt x="18618" y="2387"/>
                  </a:lnTo>
                  <a:lnTo>
                    <a:pt x="8929" y="8905"/>
                  </a:lnTo>
                  <a:lnTo>
                    <a:pt x="2396" y="18591"/>
                  </a:lnTo>
                  <a:lnTo>
                    <a:pt x="0" y="30479"/>
                  </a:lnTo>
                  <a:lnTo>
                    <a:pt x="0" y="701039"/>
                  </a:lnTo>
                  <a:lnTo>
                    <a:pt x="2396" y="712928"/>
                  </a:lnTo>
                  <a:lnTo>
                    <a:pt x="8929" y="722614"/>
                  </a:lnTo>
                  <a:lnTo>
                    <a:pt x="18618" y="729132"/>
                  </a:lnTo>
                  <a:lnTo>
                    <a:pt x="30479" y="731519"/>
                  </a:lnTo>
                  <a:lnTo>
                    <a:pt x="7853172" y="731519"/>
                  </a:lnTo>
                  <a:lnTo>
                    <a:pt x="7865060" y="729132"/>
                  </a:lnTo>
                  <a:lnTo>
                    <a:pt x="7874746" y="722614"/>
                  </a:lnTo>
                  <a:lnTo>
                    <a:pt x="7881264" y="712928"/>
                  </a:lnTo>
                  <a:lnTo>
                    <a:pt x="7883652" y="701039"/>
                  </a:lnTo>
                  <a:lnTo>
                    <a:pt x="7883652" y="30479"/>
                  </a:lnTo>
                  <a:lnTo>
                    <a:pt x="7881264" y="18591"/>
                  </a:lnTo>
                  <a:lnTo>
                    <a:pt x="7874746" y="8905"/>
                  </a:lnTo>
                  <a:lnTo>
                    <a:pt x="7865060" y="2387"/>
                  </a:lnTo>
                  <a:lnTo>
                    <a:pt x="785317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17220" y="2654808"/>
              <a:ext cx="7884159" cy="731520"/>
            </a:xfrm>
            <a:custGeom>
              <a:avLst/>
              <a:gdLst/>
              <a:ahLst/>
              <a:cxnLst/>
              <a:rect l="l" t="t" r="r" b="b"/>
              <a:pathLst>
                <a:path w="7884159" h="731520">
                  <a:moveTo>
                    <a:pt x="0" y="30479"/>
                  </a:moveTo>
                  <a:lnTo>
                    <a:pt x="2396" y="18591"/>
                  </a:lnTo>
                  <a:lnTo>
                    <a:pt x="8929" y="8905"/>
                  </a:lnTo>
                  <a:lnTo>
                    <a:pt x="18618" y="2387"/>
                  </a:lnTo>
                  <a:lnTo>
                    <a:pt x="30479" y="0"/>
                  </a:lnTo>
                  <a:lnTo>
                    <a:pt x="7853172" y="0"/>
                  </a:lnTo>
                  <a:lnTo>
                    <a:pt x="7865060" y="2387"/>
                  </a:lnTo>
                  <a:lnTo>
                    <a:pt x="7874746" y="8905"/>
                  </a:lnTo>
                  <a:lnTo>
                    <a:pt x="7881264" y="18591"/>
                  </a:lnTo>
                  <a:lnTo>
                    <a:pt x="7883652" y="30479"/>
                  </a:lnTo>
                  <a:lnTo>
                    <a:pt x="7883652" y="701039"/>
                  </a:lnTo>
                  <a:lnTo>
                    <a:pt x="7881264" y="712928"/>
                  </a:lnTo>
                  <a:lnTo>
                    <a:pt x="7874746" y="722614"/>
                  </a:lnTo>
                  <a:lnTo>
                    <a:pt x="7865060" y="729132"/>
                  </a:lnTo>
                  <a:lnTo>
                    <a:pt x="7853172" y="731519"/>
                  </a:lnTo>
                  <a:lnTo>
                    <a:pt x="30479" y="731519"/>
                  </a:lnTo>
                  <a:lnTo>
                    <a:pt x="18618" y="729132"/>
                  </a:lnTo>
                  <a:lnTo>
                    <a:pt x="8929" y="722614"/>
                  </a:lnTo>
                  <a:lnTo>
                    <a:pt x="2396" y="712928"/>
                  </a:lnTo>
                  <a:lnTo>
                    <a:pt x="0" y="701039"/>
                  </a:lnTo>
                  <a:lnTo>
                    <a:pt x="0" y="30479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00583" y="1247394"/>
            <a:ext cx="7987030" cy="203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Verdana"/>
                <a:cs typeface="Verdana"/>
              </a:rPr>
              <a:t>To </a:t>
            </a:r>
            <a:r>
              <a:rPr sz="1800" b="1" spc="-5" dirty="0">
                <a:latin typeface="Verdana"/>
                <a:cs typeface="Verdana"/>
              </a:rPr>
              <a:t>restrict </a:t>
            </a:r>
            <a:r>
              <a:rPr sz="1800" b="1" dirty="0">
                <a:latin typeface="Verdana"/>
                <a:cs typeface="Verdana"/>
              </a:rPr>
              <a:t>who </a:t>
            </a:r>
            <a:r>
              <a:rPr sz="1800" b="1" spc="-5" dirty="0">
                <a:latin typeface="Verdana"/>
                <a:cs typeface="Verdana"/>
              </a:rPr>
              <a:t>can administer the </a:t>
            </a:r>
            <a:r>
              <a:rPr sz="1800" b="1" dirty="0">
                <a:latin typeface="Verdana"/>
                <a:cs typeface="Verdana"/>
              </a:rPr>
              <a:t>DHCP</a:t>
            </a:r>
            <a:r>
              <a:rPr sz="1800" b="1" spc="2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service: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300">
              <a:latin typeface="Verdana"/>
              <a:cs typeface="Verdana"/>
            </a:endParaRPr>
          </a:p>
          <a:p>
            <a:pPr marL="442595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443230" algn="l"/>
              </a:tabLst>
            </a:pPr>
            <a:r>
              <a:rPr sz="1800" b="1" spc="-5" dirty="0">
                <a:latin typeface="Verdana"/>
                <a:cs typeface="Verdana"/>
              </a:rPr>
              <a:t>Limit the members </a:t>
            </a:r>
            <a:r>
              <a:rPr sz="1800" b="1" dirty="0">
                <a:latin typeface="Verdana"/>
                <a:cs typeface="Verdana"/>
              </a:rPr>
              <a:t>of the DHCP </a:t>
            </a:r>
            <a:r>
              <a:rPr sz="1800" b="1" spc="-5" dirty="0">
                <a:latin typeface="Verdana"/>
                <a:cs typeface="Verdana"/>
              </a:rPr>
              <a:t>Administrators</a:t>
            </a:r>
            <a:r>
              <a:rPr sz="1800" b="1" dirty="0">
                <a:latin typeface="Verdana"/>
                <a:cs typeface="Verdana"/>
              </a:rPr>
              <a:t> group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006699"/>
              </a:buClr>
              <a:buFont typeface="Verdana"/>
              <a:buChar char="•"/>
            </a:pPr>
            <a:endParaRPr sz="2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6699"/>
              </a:buClr>
              <a:buFont typeface="Verdana"/>
              <a:buChar char="•"/>
            </a:pPr>
            <a:endParaRPr sz="1700">
              <a:latin typeface="Verdana"/>
              <a:cs typeface="Verdana"/>
            </a:endParaRPr>
          </a:p>
          <a:p>
            <a:pPr marL="445770" marR="2073910" indent="-228600">
              <a:lnSpc>
                <a:spcPts val="1939"/>
              </a:lnSpc>
              <a:spcBef>
                <a:spcPts val="5"/>
              </a:spcBef>
              <a:buClr>
                <a:srgbClr val="006699"/>
              </a:buClr>
              <a:buFont typeface="Verdana"/>
              <a:buChar char="•"/>
              <a:tabLst>
                <a:tab pos="446405" algn="l"/>
              </a:tabLst>
            </a:pPr>
            <a:r>
              <a:rPr sz="1800" b="1" spc="-5" dirty="0">
                <a:latin typeface="Verdana"/>
                <a:cs typeface="Verdana"/>
              </a:rPr>
              <a:t>Add users needing </a:t>
            </a:r>
            <a:r>
              <a:rPr sz="1800" b="1" dirty="0">
                <a:latin typeface="Verdana"/>
                <a:cs typeface="Verdana"/>
              </a:rPr>
              <a:t>read-only </a:t>
            </a:r>
            <a:r>
              <a:rPr sz="1800" b="1" spc="-5" dirty="0">
                <a:latin typeface="Verdana"/>
                <a:cs typeface="Verdana"/>
              </a:rPr>
              <a:t>access </a:t>
            </a:r>
            <a:r>
              <a:rPr sz="1800" b="1" dirty="0">
                <a:latin typeface="Verdana"/>
                <a:cs typeface="Verdana"/>
              </a:rPr>
              <a:t>to the  DHCP Users</a:t>
            </a:r>
            <a:r>
              <a:rPr sz="1800" b="1" spc="-2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group</a:t>
            </a:r>
            <a:endParaRPr sz="1800">
              <a:latin typeface="Verdana"/>
              <a:cs typeface="Verdana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60362" y="3868801"/>
          <a:ext cx="8375014" cy="18102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4554"/>
                <a:gridCol w="4950460"/>
              </a:tblGrid>
              <a:tr h="457073">
                <a:tc>
                  <a:txBody>
                    <a:bodyPr/>
                    <a:lstStyle/>
                    <a:p>
                      <a:pPr marL="1136015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2000" b="1" spc="-5" dirty="0">
                          <a:latin typeface="Verdana"/>
                          <a:cs typeface="Verdana"/>
                        </a:rPr>
                        <a:t>Account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59054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E3CD9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2000" b="1" spc="-5" dirty="0">
                          <a:latin typeface="Verdana"/>
                          <a:cs typeface="Verdana"/>
                        </a:rPr>
                        <a:t>Permissions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59054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E3CD9A"/>
                    </a:solidFill>
                  </a:tcPr>
                </a:tc>
              </a:tr>
              <a:tr h="676528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DHCP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Administrators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group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8669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055"/>
                        </a:lnSpc>
                        <a:spcBef>
                          <a:spcPts val="495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Can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view and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modify any data about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the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92075">
                        <a:lnSpc>
                          <a:spcPts val="2055"/>
                        </a:lnSpc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DHCP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server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  <a:tr h="676617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DHCP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Users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group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8669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436880">
                        <a:lnSpc>
                          <a:spcPts val="1939"/>
                        </a:lnSpc>
                        <a:spcBef>
                          <a:spcPts val="75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Has read-only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DHCP console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access to  the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server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1400</Words>
  <Application>Microsoft Office PowerPoint</Application>
  <PresentationFormat>On-screen Show (4:3)</PresentationFormat>
  <Paragraphs>356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Times New Roman</vt:lpstr>
      <vt:lpstr>Verdana</vt:lpstr>
      <vt:lpstr>Office Theme</vt:lpstr>
      <vt:lpstr>Lecture 7b</vt:lpstr>
      <vt:lpstr>Module Overview</vt:lpstr>
      <vt:lpstr>  1: Overview of the DHCP Server Role</vt:lpstr>
      <vt:lpstr>Benefits of Using DHCP</vt:lpstr>
      <vt:lpstr>New DHCP Features in Windows Server 2008</vt:lpstr>
      <vt:lpstr>How DHCP Allocates IP Addresses</vt:lpstr>
      <vt:lpstr>How DHCP Lease Generation Works</vt:lpstr>
      <vt:lpstr>How DHCP Lease Renewal Works</vt:lpstr>
      <vt:lpstr>DHCP Server Authorization</vt:lpstr>
      <vt:lpstr>DHCP Server Authentication</vt:lpstr>
      <vt:lpstr>  2: Configuring DHCP Scopes</vt:lpstr>
      <vt:lpstr>What Are DHCP Scopes?</vt:lpstr>
      <vt:lpstr>What Are Superscopes and Multicast Scopes?</vt:lpstr>
      <vt:lpstr>What Is a DHCP Reservation?</vt:lpstr>
      <vt:lpstr>DHCP Sizing and Availability</vt:lpstr>
      <vt:lpstr>  3: Configuring DHCP Options</vt:lpstr>
      <vt:lpstr>What Are DHCP Options?</vt:lpstr>
      <vt:lpstr>What Are DHCP Class-Level Options?</vt:lpstr>
      <vt:lpstr>How DHCP Options Are Applied</vt:lpstr>
      <vt:lpstr>  4: Managing a DHCP Database</vt:lpstr>
      <vt:lpstr>Overview of DHCP Management Scenarios</vt:lpstr>
      <vt:lpstr>DHCP Server Configuration Options</vt:lpstr>
      <vt:lpstr>What Is a DHCP Database?</vt:lpstr>
      <vt:lpstr>How a DHCP Database Is Backed Up and Restored</vt:lpstr>
      <vt:lpstr>How a DHCP Database Is Reconciled</vt:lpstr>
      <vt:lpstr>Moving a DHCP Database</vt:lpstr>
      <vt:lpstr>  5: Monitoring and Troubleshooting DHCP</vt:lpstr>
      <vt:lpstr>Overview of Monitoring DHCP</vt:lpstr>
      <vt:lpstr>Common DHCP Issues</vt:lpstr>
      <vt:lpstr>What Are DHCP Statistics?</vt:lpstr>
      <vt:lpstr>PowerPoint Presentation</vt:lpstr>
      <vt:lpstr>Monitoring DHCP Server Performance</vt:lpstr>
      <vt:lpstr>  6: Configuring DHCP Security</vt:lpstr>
      <vt:lpstr>Preventing an Unauthorized User from Obtaining  a Lease</vt:lpstr>
      <vt:lpstr>Restricting Unauthorized, Non-Microsoft DHCP  Servers from Leasing IP Addresses</vt:lpstr>
      <vt:lpstr>Restricting DHCP Administration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</dc:title>
  <cp:lastModifiedBy>ADMIN</cp:lastModifiedBy>
  <cp:revision>9</cp:revision>
  <dcterms:created xsi:type="dcterms:W3CDTF">2020-11-01T12:56:49Z</dcterms:created>
  <dcterms:modified xsi:type="dcterms:W3CDTF">2020-11-01T13:56:05Z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2015-05-16T00:00:00Z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2020-11-01T00:00:00Z</vt:filetime>
  </property>
</Properties>
</file>