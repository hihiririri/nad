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281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28815"/>
            <a:ext cx="9144000" cy="3291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7010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89303" y="1638300"/>
            <a:ext cx="6716268" cy="3200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446019" y="3360420"/>
            <a:ext cx="4406265" cy="0"/>
          </a:xfrm>
          <a:custGeom>
            <a:avLst/>
            <a:gdLst/>
            <a:ahLst/>
            <a:cxnLst/>
            <a:rect l="l" t="t" r="r" b="b"/>
            <a:pathLst>
              <a:path w="4406265">
                <a:moveTo>
                  <a:pt x="4405883" y="0"/>
                </a:moveTo>
                <a:lnTo>
                  <a:pt x="0" y="0"/>
                </a:lnTo>
              </a:path>
            </a:pathLst>
          </a:custGeom>
          <a:ln w="57912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580637" y="2364359"/>
            <a:ext cx="1855838" cy="181818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481571" y="2545080"/>
            <a:ext cx="1019555" cy="11140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147559" y="2531363"/>
            <a:ext cx="789431" cy="13030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395983" y="2497836"/>
            <a:ext cx="1200912" cy="141427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231891" y="2863596"/>
            <a:ext cx="1274064" cy="9707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3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28815"/>
            <a:ext cx="9144000" cy="3291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7010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7852" y="4953"/>
            <a:ext cx="8248294" cy="702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1415" y="1652777"/>
            <a:ext cx="7021169" cy="2305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3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26" Type="http://schemas.openxmlformats.org/officeDocument/2006/relationships/image" Target="../media/image103.png"/><Relationship Id="rId21" Type="http://schemas.openxmlformats.org/officeDocument/2006/relationships/image" Target="../media/image98.png"/><Relationship Id="rId34" Type="http://schemas.openxmlformats.org/officeDocument/2006/relationships/image" Target="../media/image111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5" Type="http://schemas.openxmlformats.org/officeDocument/2006/relationships/image" Target="../media/image102.png"/><Relationship Id="rId33" Type="http://schemas.openxmlformats.org/officeDocument/2006/relationships/image" Target="../media/image110.png"/><Relationship Id="rId2" Type="http://schemas.openxmlformats.org/officeDocument/2006/relationships/image" Target="../media/image79.png"/><Relationship Id="rId16" Type="http://schemas.openxmlformats.org/officeDocument/2006/relationships/image" Target="../media/image93.png"/><Relationship Id="rId20" Type="http://schemas.openxmlformats.org/officeDocument/2006/relationships/image" Target="../media/image97.png"/><Relationship Id="rId29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24" Type="http://schemas.openxmlformats.org/officeDocument/2006/relationships/image" Target="../media/image101.png"/><Relationship Id="rId32" Type="http://schemas.openxmlformats.org/officeDocument/2006/relationships/image" Target="../media/image109.png"/><Relationship Id="rId37" Type="http://schemas.openxmlformats.org/officeDocument/2006/relationships/image" Target="../media/image114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23" Type="http://schemas.openxmlformats.org/officeDocument/2006/relationships/image" Target="../media/image100.png"/><Relationship Id="rId28" Type="http://schemas.openxmlformats.org/officeDocument/2006/relationships/image" Target="../media/image105.png"/><Relationship Id="rId36" Type="http://schemas.openxmlformats.org/officeDocument/2006/relationships/image" Target="../media/image113.png"/><Relationship Id="rId10" Type="http://schemas.openxmlformats.org/officeDocument/2006/relationships/image" Target="../media/image87.png"/><Relationship Id="rId19" Type="http://schemas.openxmlformats.org/officeDocument/2006/relationships/image" Target="../media/image96.png"/><Relationship Id="rId31" Type="http://schemas.openxmlformats.org/officeDocument/2006/relationships/image" Target="../media/image108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Relationship Id="rId22" Type="http://schemas.openxmlformats.org/officeDocument/2006/relationships/image" Target="../media/image99.png"/><Relationship Id="rId27" Type="http://schemas.openxmlformats.org/officeDocument/2006/relationships/image" Target="../media/image104.png"/><Relationship Id="rId30" Type="http://schemas.openxmlformats.org/officeDocument/2006/relationships/image" Target="../media/image107.png"/><Relationship Id="rId35" Type="http://schemas.openxmlformats.org/officeDocument/2006/relationships/image" Target="../media/image112.png"/><Relationship Id="rId8" Type="http://schemas.openxmlformats.org/officeDocument/2006/relationships/image" Target="../media/image85.png"/><Relationship Id="rId3" Type="http://schemas.openxmlformats.org/officeDocument/2006/relationships/image" Target="../media/image8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png"/><Relationship Id="rId18" Type="http://schemas.openxmlformats.org/officeDocument/2006/relationships/image" Target="../media/image94.png"/><Relationship Id="rId26" Type="http://schemas.openxmlformats.org/officeDocument/2006/relationships/image" Target="../media/image133.png"/><Relationship Id="rId39" Type="http://schemas.openxmlformats.org/officeDocument/2006/relationships/image" Target="../media/image136.png"/><Relationship Id="rId21" Type="http://schemas.openxmlformats.org/officeDocument/2006/relationships/image" Target="../media/image128.png"/><Relationship Id="rId34" Type="http://schemas.openxmlformats.org/officeDocument/2006/relationships/image" Target="../media/image109.png"/><Relationship Id="rId7" Type="http://schemas.openxmlformats.org/officeDocument/2006/relationships/image" Target="../media/image86.png"/><Relationship Id="rId12" Type="http://schemas.openxmlformats.org/officeDocument/2006/relationships/image" Target="../media/image89.png"/><Relationship Id="rId17" Type="http://schemas.openxmlformats.org/officeDocument/2006/relationships/image" Target="../media/image126.png"/><Relationship Id="rId25" Type="http://schemas.openxmlformats.org/officeDocument/2006/relationships/image" Target="../media/image132.png"/><Relationship Id="rId33" Type="http://schemas.openxmlformats.org/officeDocument/2006/relationships/image" Target="../media/image108.png"/><Relationship Id="rId38" Type="http://schemas.openxmlformats.org/officeDocument/2006/relationships/image" Target="../media/image113.png"/><Relationship Id="rId2" Type="http://schemas.openxmlformats.org/officeDocument/2006/relationships/image" Target="../media/image79.png"/><Relationship Id="rId16" Type="http://schemas.openxmlformats.org/officeDocument/2006/relationships/image" Target="../media/image91.png"/><Relationship Id="rId20" Type="http://schemas.openxmlformats.org/officeDocument/2006/relationships/image" Target="../media/image127.png"/><Relationship Id="rId29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88.png"/><Relationship Id="rId24" Type="http://schemas.openxmlformats.org/officeDocument/2006/relationships/image" Target="../media/image131.png"/><Relationship Id="rId32" Type="http://schemas.openxmlformats.org/officeDocument/2006/relationships/image" Target="../media/image107.png"/><Relationship Id="rId37" Type="http://schemas.openxmlformats.org/officeDocument/2006/relationships/image" Target="../media/image112.png"/><Relationship Id="rId5" Type="http://schemas.openxmlformats.org/officeDocument/2006/relationships/image" Target="../media/image85.png"/><Relationship Id="rId15" Type="http://schemas.openxmlformats.org/officeDocument/2006/relationships/image" Target="../media/image90.png"/><Relationship Id="rId23" Type="http://schemas.openxmlformats.org/officeDocument/2006/relationships/image" Target="../media/image130.png"/><Relationship Id="rId28" Type="http://schemas.openxmlformats.org/officeDocument/2006/relationships/image" Target="../media/image106.png"/><Relationship Id="rId36" Type="http://schemas.openxmlformats.org/officeDocument/2006/relationships/image" Target="../media/image111.png"/><Relationship Id="rId10" Type="http://schemas.openxmlformats.org/officeDocument/2006/relationships/image" Target="../media/image124.png"/><Relationship Id="rId19" Type="http://schemas.openxmlformats.org/officeDocument/2006/relationships/image" Target="../media/image103.png"/><Relationship Id="rId31" Type="http://schemas.openxmlformats.org/officeDocument/2006/relationships/image" Target="../media/image135.png"/><Relationship Id="rId4" Type="http://schemas.openxmlformats.org/officeDocument/2006/relationships/image" Target="../media/image83.png"/><Relationship Id="rId9" Type="http://schemas.openxmlformats.org/officeDocument/2006/relationships/image" Target="../media/image81.png"/><Relationship Id="rId14" Type="http://schemas.openxmlformats.org/officeDocument/2006/relationships/image" Target="../media/image125.png"/><Relationship Id="rId22" Type="http://schemas.openxmlformats.org/officeDocument/2006/relationships/image" Target="../media/image129.png"/><Relationship Id="rId27" Type="http://schemas.openxmlformats.org/officeDocument/2006/relationships/image" Target="../media/image82.png"/><Relationship Id="rId30" Type="http://schemas.openxmlformats.org/officeDocument/2006/relationships/image" Target="../media/image134.png"/><Relationship Id="rId35" Type="http://schemas.openxmlformats.org/officeDocument/2006/relationships/image" Target="../media/image110.png"/><Relationship Id="rId8" Type="http://schemas.openxmlformats.org/officeDocument/2006/relationships/image" Target="../media/image100.png"/><Relationship Id="rId3" Type="http://schemas.openxmlformats.org/officeDocument/2006/relationships/image" Target="../media/image80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7.png"/><Relationship Id="rId18" Type="http://schemas.openxmlformats.org/officeDocument/2006/relationships/image" Target="../media/image140.png"/><Relationship Id="rId26" Type="http://schemas.openxmlformats.org/officeDocument/2006/relationships/image" Target="../media/image144.png"/><Relationship Id="rId39" Type="http://schemas.openxmlformats.org/officeDocument/2006/relationships/image" Target="../media/image156.png"/><Relationship Id="rId21" Type="http://schemas.openxmlformats.org/officeDocument/2006/relationships/image" Target="../media/image143.png"/><Relationship Id="rId34" Type="http://schemas.openxmlformats.org/officeDocument/2006/relationships/image" Target="../media/image152.png"/><Relationship Id="rId42" Type="http://schemas.openxmlformats.org/officeDocument/2006/relationships/image" Target="../media/image157.png"/><Relationship Id="rId47" Type="http://schemas.openxmlformats.org/officeDocument/2006/relationships/image" Target="../media/image162.png"/><Relationship Id="rId50" Type="http://schemas.openxmlformats.org/officeDocument/2006/relationships/image" Target="../media/image107.png"/><Relationship Id="rId55" Type="http://schemas.openxmlformats.org/officeDocument/2006/relationships/image" Target="../media/image112.png"/><Relationship Id="rId7" Type="http://schemas.openxmlformats.org/officeDocument/2006/relationships/image" Target="../media/image89.png"/><Relationship Id="rId2" Type="http://schemas.openxmlformats.org/officeDocument/2006/relationships/image" Target="../media/image79.png"/><Relationship Id="rId16" Type="http://schemas.openxmlformats.org/officeDocument/2006/relationships/image" Target="../media/image101.png"/><Relationship Id="rId29" Type="http://schemas.openxmlformats.org/officeDocument/2006/relationships/image" Target="../media/image147.png"/><Relationship Id="rId11" Type="http://schemas.openxmlformats.org/officeDocument/2006/relationships/image" Target="../media/image103.png"/><Relationship Id="rId24" Type="http://schemas.openxmlformats.org/officeDocument/2006/relationships/image" Target="../media/image134.png"/><Relationship Id="rId32" Type="http://schemas.openxmlformats.org/officeDocument/2006/relationships/image" Target="../media/image150.png"/><Relationship Id="rId37" Type="http://schemas.openxmlformats.org/officeDocument/2006/relationships/image" Target="../media/image155.png"/><Relationship Id="rId40" Type="http://schemas.openxmlformats.org/officeDocument/2006/relationships/image" Target="../media/image80.png"/><Relationship Id="rId45" Type="http://schemas.openxmlformats.org/officeDocument/2006/relationships/image" Target="../media/image160.png"/><Relationship Id="rId53" Type="http://schemas.openxmlformats.org/officeDocument/2006/relationships/image" Target="../media/image110.png"/><Relationship Id="rId5" Type="http://schemas.openxmlformats.org/officeDocument/2006/relationships/image" Target="../media/image86.png"/><Relationship Id="rId19" Type="http://schemas.openxmlformats.org/officeDocument/2006/relationships/image" Target="../media/image141.png"/><Relationship Id="rId4" Type="http://schemas.openxmlformats.org/officeDocument/2006/relationships/image" Target="../media/image87.png"/><Relationship Id="rId9" Type="http://schemas.openxmlformats.org/officeDocument/2006/relationships/image" Target="../media/image91.png"/><Relationship Id="rId14" Type="http://schemas.openxmlformats.org/officeDocument/2006/relationships/image" Target="../media/image132.png"/><Relationship Id="rId22" Type="http://schemas.openxmlformats.org/officeDocument/2006/relationships/image" Target="../media/image84.png"/><Relationship Id="rId27" Type="http://schemas.openxmlformats.org/officeDocument/2006/relationships/image" Target="../media/image145.png"/><Relationship Id="rId30" Type="http://schemas.openxmlformats.org/officeDocument/2006/relationships/image" Target="../media/image148.png"/><Relationship Id="rId35" Type="http://schemas.openxmlformats.org/officeDocument/2006/relationships/image" Target="../media/image153.png"/><Relationship Id="rId43" Type="http://schemas.openxmlformats.org/officeDocument/2006/relationships/image" Target="../media/image158.png"/><Relationship Id="rId48" Type="http://schemas.openxmlformats.org/officeDocument/2006/relationships/image" Target="../media/image163.png"/><Relationship Id="rId56" Type="http://schemas.openxmlformats.org/officeDocument/2006/relationships/image" Target="../media/image113.png"/><Relationship Id="rId8" Type="http://schemas.openxmlformats.org/officeDocument/2006/relationships/image" Target="../media/image90.png"/><Relationship Id="rId51" Type="http://schemas.openxmlformats.org/officeDocument/2006/relationships/image" Target="../media/image108.png"/><Relationship Id="rId3" Type="http://schemas.openxmlformats.org/officeDocument/2006/relationships/image" Target="../media/image83.png"/><Relationship Id="rId12" Type="http://schemas.openxmlformats.org/officeDocument/2006/relationships/image" Target="../media/image127.png"/><Relationship Id="rId17" Type="http://schemas.openxmlformats.org/officeDocument/2006/relationships/image" Target="../media/image139.png"/><Relationship Id="rId25" Type="http://schemas.openxmlformats.org/officeDocument/2006/relationships/image" Target="../media/image135.png"/><Relationship Id="rId33" Type="http://schemas.openxmlformats.org/officeDocument/2006/relationships/image" Target="../media/image151.png"/><Relationship Id="rId38" Type="http://schemas.openxmlformats.org/officeDocument/2006/relationships/image" Target="../media/image92.png"/><Relationship Id="rId46" Type="http://schemas.openxmlformats.org/officeDocument/2006/relationships/image" Target="../media/image161.png"/><Relationship Id="rId20" Type="http://schemas.openxmlformats.org/officeDocument/2006/relationships/image" Target="../media/image142.png"/><Relationship Id="rId41" Type="http://schemas.openxmlformats.org/officeDocument/2006/relationships/image" Target="../media/image81.png"/><Relationship Id="rId54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5" Type="http://schemas.openxmlformats.org/officeDocument/2006/relationships/image" Target="../media/image138.png"/><Relationship Id="rId23" Type="http://schemas.openxmlformats.org/officeDocument/2006/relationships/image" Target="../media/image85.png"/><Relationship Id="rId28" Type="http://schemas.openxmlformats.org/officeDocument/2006/relationships/image" Target="../media/image146.png"/><Relationship Id="rId36" Type="http://schemas.openxmlformats.org/officeDocument/2006/relationships/image" Target="../media/image154.png"/><Relationship Id="rId49" Type="http://schemas.openxmlformats.org/officeDocument/2006/relationships/image" Target="../media/image164.png"/><Relationship Id="rId57" Type="http://schemas.openxmlformats.org/officeDocument/2006/relationships/image" Target="../media/image165.png"/><Relationship Id="rId10" Type="http://schemas.openxmlformats.org/officeDocument/2006/relationships/image" Target="../media/image100.png"/><Relationship Id="rId31" Type="http://schemas.openxmlformats.org/officeDocument/2006/relationships/image" Target="../media/image149.png"/><Relationship Id="rId44" Type="http://schemas.openxmlformats.org/officeDocument/2006/relationships/image" Target="../media/image159.png"/><Relationship Id="rId52" Type="http://schemas.openxmlformats.org/officeDocument/2006/relationships/image" Target="../media/image10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3200" y="1768576"/>
            <a:ext cx="5181600" cy="1833193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1282065" indent="975360">
              <a:lnSpc>
                <a:spcPct val="100000"/>
              </a:lnSpc>
              <a:spcBef>
                <a:spcPts val="1814"/>
              </a:spcBef>
            </a:pPr>
            <a:r>
              <a:rPr lang="en-US" sz="2600" dirty="0" smtClean="0">
                <a:latin typeface="Arial"/>
                <a:cs typeface="Arial"/>
              </a:rPr>
              <a:t>Lecture 10: </a:t>
            </a:r>
            <a:r>
              <a:rPr sz="2600" dirty="0" smtClean="0">
                <a:latin typeface="Arial"/>
                <a:cs typeface="Arial"/>
              </a:rPr>
              <a:t>Configuring</a:t>
            </a:r>
            <a:r>
              <a:rPr sz="2600" spc="-80" dirty="0" smtClean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  Troubleshooting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Routing  and Remote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2647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Module</a:t>
            </a:r>
            <a:r>
              <a:rPr spc="-65" dirty="0"/>
              <a:t> </a:t>
            </a:r>
            <a:r>
              <a:rPr spc="-5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7295515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Network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Access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</a:t>
            </a:r>
            <a:r>
              <a:rPr sz="2000" dirty="0">
                <a:latin typeface="Verdana"/>
                <a:cs typeface="Verdana"/>
              </a:rPr>
              <a:t>VPN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Access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Overview </a:t>
            </a:r>
            <a:r>
              <a:rPr sz="2000" dirty="0">
                <a:latin typeface="Verdana"/>
                <a:cs typeface="Verdana"/>
              </a:rPr>
              <a:t>of </a:t>
            </a:r>
            <a:r>
              <a:rPr sz="2000" spc="-5" dirty="0">
                <a:latin typeface="Verdana"/>
                <a:cs typeface="Verdana"/>
              </a:rPr>
              <a:t>Network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Policies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Overview </a:t>
            </a:r>
            <a:r>
              <a:rPr sz="2000" dirty="0">
                <a:latin typeface="Verdana"/>
                <a:cs typeface="Verdana"/>
              </a:rPr>
              <a:t>of </a:t>
            </a:r>
            <a:r>
              <a:rPr sz="2000" spc="-5" dirty="0">
                <a:latin typeface="Verdana"/>
                <a:cs typeface="Verdana"/>
              </a:rPr>
              <a:t>the Connection </a:t>
            </a:r>
            <a:r>
              <a:rPr sz="2000" dirty="0">
                <a:latin typeface="Verdana"/>
                <a:cs typeface="Verdana"/>
              </a:rPr>
              <a:t>Manager </a:t>
            </a:r>
            <a:r>
              <a:rPr sz="2000" spc="-5" dirty="0">
                <a:latin typeface="Verdana"/>
                <a:cs typeface="Verdana"/>
              </a:rPr>
              <a:t>Administration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Kit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Troubleshooting </a:t>
            </a:r>
            <a:r>
              <a:rPr sz="2000" dirty="0">
                <a:latin typeface="Verdana"/>
                <a:cs typeface="Verdana"/>
              </a:rPr>
              <a:t>Routing and </a:t>
            </a:r>
            <a:r>
              <a:rPr sz="2000" spc="-5" dirty="0">
                <a:latin typeface="Verdana"/>
                <a:cs typeface="Verdana"/>
              </a:rPr>
              <a:t>Remote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Access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DirectAccess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902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mtClean="0"/>
              <a:t>1</a:t>
            </a:r>
            <a:r>
              <a:rPr dirty="0"/>
              <a:t>: </a:t>
            </a:r>
            <a:r>
              <a:rPr spc="-5" dirty="0"/>
              <a:t>Configuring Network</a:t>
            </a:r>
            <a:r>
              <a:rPr spc="50" dirty="0"/>
              <a:t> </a:t>
            </a:r>
            <a:r>
              <a:rPr spc="-5" dirty="0"/>
              <a:t>Access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7762240" cy="3044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Components </a:t>
            </a:r>
            <a:r>
              <a:rPr sz="2000" dirty="0">
                <a:latin typeface="Verdana"/>
                <a:cs typeface="Verdana"/>
              </a:rPr>
              <a:t>of a </a:t>
            </a:r>
            <a:r>
              <a:rPr sz="2000" spc="-5" dirty="0">
                <a:latin typeface="Verdana"/>
                <a:cs typeface="Verdana"/>
              </a:rPr>
              <a:t>Network </a:t>
            </a:r>
            <a:r>
              <a:rPr sz="2000" dirty="0">
                <a:latin typeface="Verdana"/>
                <a:cs typeface="Verdana"/>
              </a:rPr>
              <a:t>Access </a:t>
            </a:r>
            <a:r>
              <a:rPr sz="2000" spc="-5" dirty="0">
                <a:latin typeface="Verdana"/>
                <a:cs typeface="Verdana"/>
              </a:rPr>
              <a:t>Services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Infrastructure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the </a:t>
            </a:r>
            <a:r>
              <a:rPr sz="2000" spc="-5" dirty="0">
                <a:latin typeface="Verdana"/>
                <a:cs typeface="Verdana"/>
              </a:rPr>
              <a:t>Network Policy </a:t>
            </a:r>
            <a:r>
              <a:rPr sz="2000" dirty="0">
                <a:latin typeface="Verdana"/>
                <a:cs typeface="Verdana"/>
              </a:rPr>
              <a:t>and Access </a:t>
            </a:r>
            <a:r>
              <a:rPr sz="2000" spc="-5" dirty="0">
                <a:latin typeface="Verdana"/>
                <a:cs typeface="Verdana"/>
              </a:rPr>
              <a:t>Services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Role?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</a:t>
            </a:r>
            <a:r>
              <a:rPr sz="2000" spc="-5" dirty="0">
                <a:latin typeface="Verdana"/>
                <a:cs typeface="Verdana"/>
              </a:rPr>
              <a:t>Routing </a:t>
            </a:r>
            <a:r>
              <a:rPr sz="2000" dirty="0">
                <a:latin typeface="Verdana"/>
                <a:cs typeface="Verdana"/>
              </a:rPr>
              <a:t>and </a:t>
            </a:r>
            <a:r>
              <a:rPr sz="2000" spc="-5" dirty="0">
                <a:latin typeface="Verdana"/>
                <a:cs typeface="Verdana"/>
              </a:rPr>
              <a:t>Remote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Access?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Network </a:t>
            </a:r>
            <a:r>
              <a:rPr sz="2000" dirty="0">
                <a:latin typeface="Verdana"/>
                <a:cs typeface="Verdana"/>
              </a:rPr>
              <a:t>Authentication and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Authorization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Types </a:t>
            </a:r>
            <a:r>
              <a:rPr sz="2000" dirty="0">
                <a:latin typeface="Verdana"/>
                <a:cs typeface="Verdana"/>
              </a:rPr>
              <a:t>of </a:t>
            </a:r>
            <a:r>
              <a:rPr sz="2000" spc="-5" dirty="0">
                <a:latin typeface="Verdana"/>
                <a:cs typeface="Verdana"/>
              </a:rPr>
              <a:t>Authentication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Methods</a:t>
            </a:r>
            <a:endParaRPr sz="2000">
              <a:latin typeface="Verdana"/>
              <a:cs typeface="Verdana"/>
            </a:endParaRPr>
          </a:p>
          <a:p>
            <a:pPr marL="187960" marR="5080" indent="-175260">
              <a:lnSpc>
                <a:spcPts val="2160"/>
              </a:lnSpc>
              <a:spcBef>
                <a:spcPts val="1714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Integrating DHCP </a:t>
            </a:r>
            <a:r>
              <a:rPr sz="2000" spc="-5" dirty="0">
                <a:latin typeface="Verdana"/>
                <a:cs typeface="Verdana"/>
              </a:rPr>
              <a:t>Servers with Routing </a:t>
            </a:r>
            <a:r>
              <a:rPr sz="2000" dirty="0">
                <a:latin typeface="Verdana"/>
                <a:cs typeface="Verdana"/>
              </a:rPr>
              <a:t>and </a:t>
            </a:r>
            <a:r>
              <a:rPr sz="2000" spc="-5" dirty="0">
                <a:latin typeface="Verdana"/>
                <a:cs typeface="Verdana"/>
              </a:rPr>
              <a:t>Remote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Access  </a:t>
            </a:r>
            <a:r>
              <a:rPr sz="2000" spc="-5" dirty="0">
                <a:latin typeface="Verdana"/>
                <a:cs typeface="Verdana"/>
              </a:rPr>
              <a:t>Service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450"/>
              </a:lnSpc>
              <a:spcBef>
                <a:spcPts val="540"/>
              </a:spcBef>
            </a:pPr>
            <a:r>
              <a:rPr spc="-5" dirty="0"/>
              <a:t>Components </a:t>
            </a:r>
            <a:r>
              <a:rPr dirty="0"/>
              <a:t>of a </a:t>
            </a:r>
            <a:r>
              <a:rPr spc="-5" dirty="0"/>
              <a:t>Network Access Services  Infrastructure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00527" y="1345691"/>
            <a:ext cx="6200140" cy="2813685"/>
            <a:chOff x="2700527" y="1345691"/>
            <a:chExt cx="6200140" cy="2813685"/>
          </a:xfrm>
        </p:grpSpPr>
        <p:sp>
          <p:nvSpPr>
            <p:cNvPr id="4" name="object 4"/>
            <p:cNvSpPr/>
            <p:nvPr/>
          </p:nvSpPr>
          <p:spPr>
            <a:xfrm>
              <a:off x="2719577" y="1774697"/>
              <a:ext cx="2101850" cy="0"/>
            </a:xfrm>
            <a:custGeom>
              <a:avLst/>
              <a:gdLst/>
              <a:ahLst/>
              <a:cxnLst/>
              <a:rect l="l" t="t" r="r" b="b"/>
              <a:pathLst>
                <a:path w="2101850">
                  <a:moveTo>
                    <a:pt x="2101596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77995" y="1370075"/>
              <a:ext cx="5122163" cy="27889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53611" y="1345691"/>
              <a:ext cx="5119116" cy="27858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588000" y="3806444"/>
            <a:ext cx="9817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I</a:t>
            </a:r>
            <a:r>
              <a:rPr sz="1600" b="1" dirty="0">
                <a:latin typeface="Verdana"/>
                <a:cs typeface="Verdana"/>
              </a:rPr>
              <a:t>n</a:t>
            </a:r>
            <a:r>
              <a:rPr sz="1600" b="1" spc="-5" dirty="0">
                <a:latin typeface="Verdana"/>
                <a:cs typeface="Verdana"/>
              </a:rPr>
              <a:t>tra</a:t>
            </a:r>
            <a:r>
              <a:rPr sz="1600" b="1" spc="-10" dirty="0">
                <a:latin typeface="Verdana"/>
                <a:cs typeface="Verdana"/>
              </a:rPr>
              <a:t>net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1647" y="2049779"/>
            <a:ext cx="6400800" cy="1656714"/>
            <a:chOff x="231647" y="2049779"/>
            <a:chExt cx="6400800" cy="1656714"/>
          </a:xfrm>
        </p:grpSpPr>
        <p:sp>
          <p:nvSpPr>
            <p:cNvPr id="9" name="object 9"/>
            <p:cNvSpPr/>
            <p:nvPr/>
          </p:nvSpPr>
          <p:spPr>
            <a:xfrm>
              <a:off x="4613147" y="2900171"/>
              <a:ext cx="676655" cy="8061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55792" y="2049779"/>
              <a:ext cx="676656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1647" y="2496311"/>
              <a:ext cx="926591" cy="9189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2217420" y="5393435"/>
            <a:ext cx="1315720" cy="510540"/>
          </a:xfrm>
          <a:custGeom>
            <a:avLst/>
            <a:gdLst/>
            <a:ahLst/>
            <a:cxnLst/>
            <a:rect l="l" t="t" r="r" b="b"/>
            <a:pathLst>
              <a:path w="1315720" h="510539">
                <a:moveTo>
                  <a:pt x="1315212" y="56514"/>
                </a:moveTo>
                <a:lnTo>
                  <a:pt x="1310774" y="34504"/>
                </a:lnTo>
                <a:lnTo>
                  <a:pt x="1298670" y="16541"/>
                </a:lnTo>
                <a:lnTo>
                  <a:pt x="1280707" y="4437"/>
                </a:lnTo>
                <a:lnTo>
                  <a:pt x="1258696" y="0"/>
                </a:lnTo>
                <a:lnTo>
                  <a:pt x="56515" y="0"/>
                </a:lnTo>
                <a:lnTo>
                  <a:pt x="34504" y="4437"/>
                </a:lnTo>
                <a:lnTo>
                  <a:pt x="16541" y="16541"/>
                </a:lnTo>
                <a:lnTo>
                  <a:pt x="4437" y="34504"/>
                </a:lnTo>
                <a:lnTo>
                  <a:pt x="0" y="56514"/>
                </a:lnTo>
                <a:lnTo>
                  <a:pt x="0" y="454075"/>
                </a:lnTo>
                <a:lnTo>
                  <a:pt x="4437" y="476051"/>
                </a:lnTo>
                <a:lnTo>
                  <a:pt x="16541" y="493999"/>
                </a:lnTo>
                <a:lnTo>
                  <a:pt x="34504" y="506101"/>
                </a:lnTo>
                <a:lnTo>
                  <a:pt x="56515" y="510539"/>
                </a:lnTo>
                <a:lnTo>
                  <a:pt x="1258696" y="510539"/>
                </a:lnTo>
                <a:lnTo>
                  <a:pt x="1280707" y="506101"/>
                </a:lnTo>
                <a:lnTo>
                  <a:pt x="1298670" y="493999"/>
                </a:lnTo>
                <a:lnTo>
                  <a:pt x="1310774" y="476051"/>
                </a:lnTo>
                <a:lnTo>
                  <a:pt x="1315212" y="454075"/>
                </a:lnTo>
                <a:lnTo>
                  <a:pt x="1315212" y="56514"/>
                </a:lnTo>
                <a:close/>
              </a:path>
            </a:pathLst>
          </a:custGeom>
          <a:ln w="9144">
            <a:solidFill>
              <a:srgbClr val="777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13558" y="5452364"/>
            <a:ext cx="1102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R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spc="-5" dirty="0">
                <a:latin typeface="Verdana"/>
                <a:cs typeface="Verdana"/>
              </a:rPr>
              <a:t>medi</a:t>
            </a:r>
            <a:r>
              <a:rPr sz="1200" b="1" dirty="0">
                <a:latin typeface="Verdana"/>
                <a:cs typeface="Verdana"/>
              </a:rPr>
              <a:t>a</a:t>
            </a:r>
            <a:r>
              <a:rPr sz="1200" b="1" spc="5" dirty="0">
                <a:latin typeface="Verdana"/>
                <a:cs typeface="Verdana"/>
              </a:rPr>
              <a:t>t</a:t>
            </a:r>
            <a:r>
              <a:rPr sz="1200" b="1" dirty="0">
                <a:latin typeface="Verdana"/>
                <a:cs typeface="Verdana"/>
              </a:rPr>
              <a:t>ion  </a:t>
            </a:r>
            <a:r>
              <a:rPr sz="1200" b="1" spc="-5" dirty="0">
                <a:latin typeface="Verdana"/>
                <a:cs typeface="Verdana"/>
              </a:rPr>
              <a:t>Servers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762" y="3438271"/>
            <a:ext cx="9810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I</a:t>
            </a:r>
            <a:r>
              <a:rPr sz="1600" b="1" dirty="0">
                <a:latin typeface="Verdana"/>
                <a:cs typeface="Verdana"/>
              </a:rPr>
              <a:t>n</a:t>
            </a:r>
            <a:r>
              <a:rPr sz="1600" b="1" spc="-5" dirty="0">
                <a:latin typeface="Verdana"/>
                <a:cs typeface="Verdana"/>
              </a:rPr>
              <a:t>ternet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48333" y="2590800"/>
            <a:ext cx="7842250" cy="1468120"/>
            <a:chOff x="1148333" y="2590800"/>
            <a:chExt cx="7842250" cy="1468120"/>
          </a:xfrm>
        </p:grpSpPr>
        <p:sp>
          <p:nvSpPr>
            <p:cNvPr id="16" name="object 16"/>
            <p:cNvSpPr/>
            <p:nvPr/>
          </p:nvSpPr>
          <p:spPr>
            <a:xfrm>
              <a:off x="3054857" y="2954274"/>
              <a:ext cx="1015365" cy="0"/>
            </a:xfrm>
            <a:custGeom>
              <a:avLst/>
              <a:gdLst/>
              <a:ahLst/>
              <a:cxnLst/>
              <a:rect l="l" t="t" r="r" b="b"/>
              <a:pathLst>
                <a:path w="1015364">
                  <a:moveTo>
                    <a:pt x="101498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55976" y="2592323"/>
              <a:ext cx="1024127" cy="8229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06245" y="2954274"/>
              <a:ext cx="2100580" cy="0"/>
            </a:xfrm>
            <a:custGeom>
              <a:avLst/>
              <a:gdLst/>
              <a:ahLst/>
              <a:cxnLst/>
              <a:rect l="l" t="t" r="r" b="b"/>
              <a:pathLst>
                <a:path w="2100579">
                  <a:moveTo>
                    <a:pt x="210007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08759" y="2590800"/>
              <a:ext cx="1022604" cy="8229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48333" y="2897124"/>
              <a:ext cx="734695" cy="114300"/>
            </a:xfrm>
            <a:custGeom>
              <a:avLst/>
              <a:gdLst/>
              <a:ahLst/>
              <a:cxnLst/>
              <a:rect l="l" t="t" r="r" b="b"/>
              <a:pathLst>
                <a:path w="734694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734694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734694" h="114300">
                  <a:moveTo>
                    <a:pt x="734567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734567" y="76200"/>
                  </a:lnTo>
                  <a:lnTo>
                    <a:pt x="734567" y="3810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66431" y="2907791"/>
              <a:ext cx="675131" cy="8077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33716" y="3621024"/>
              <a:ext cx="1351915" cy="433070"/>
            </a:xfrm>
            <a:custGeom>
              <a:avLst/>
              <a:gdLst/>
              <a:ahLst/>
              <a:cxnLst/>
              <a:rect l="l" t="t" r="r" b="b"/>
              <a:pathLst>
                <a:path w="1351915" h="433070">
                  <a:moveTo>
                    <a:pt x="1303908" y="0"/>
                  </a:moveTo>
                  <a:lnTo>
                    <a:pt x="47878" y="0"/>
                  </a:lnTo>
                  <a:lnTo>
                    <a:pt x="29253" y="3766"/>
                  </a:lnTo>
                  <a:lnTo>
                    <a:pt x="14033" y="14033"/>
                  </a:lnTo>
                  <a:lnTo>
                    <a:pt x="3766" y="29253"/>
                  </a:lnTo>
                  <a:lnTo>
                    <a:pt x="0" y="47878"/>
                  </a:lnTo>
                  <a:lnTo>
                    <a:pt x="0" y="384937"/>
                  </a:lnTo>
                  <a:lnTo>
                    <a:pt x="3766" y="403562"/>
                  </a:lnTo>
                  <a:lnTo>
                    <a:pt x="14033" y="418782"/>
                  </a:lnTo>
                  <a:lnTo>
                    <a:pt x="29253" y="429049"/>
                  </a:lnTo>
                  <a:lnTo>
                    <a:pt x="47878" y="432815"/>
                  </a:lnTo>
                  <a:lnTo>
                    <a:pt x="1303908" y="432815"/>
                  </a:lnTo>
                  <a:lnTo>
                    <a:pt x="1322534" y="429049"/>
                  </a:lnTo>
                  <a:lnTo>
                    <a:pt x="1337754" y="418782"/>
                  </a:lnTo>
                  <a:lnTo>
                    <a:pt x="1348021" y="403562"/>
                  </a:lnTo>
                  <a:lnTo>
                    <a:pt x="1351787" y="384937"/>
                  </a:lnTo>
                  <a:lnTo>
                    <a:pt x="1351787" y="47878"/>
                  </a:lnTo>
                  <a:lnTo>
                    <a:pt x="1348021" y="29253"/>
                  </a:lnTo>
                  <a:lnTo>
                    <a:pt x="1337754" y="14033"/>
                  </a:lnTo>
                  <a:lnTo>
                    <a:pt x="1322534" y="3766"/>
                  </a:lnTo>
                  <a:lnTo>
                    <a:pt x="13039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33716" y="3621024"/>
              <a:ext cx="1351915" cy="433070"/>
            </a:xfrm>
            <a:custGeom>
              <a:avLst/>
              <a:gdLst/>
              <a:ahLst/>
              <a:cxnLst/>
              <a:rect l="l" t="t" r="r" b="b"/>
              <a:pathLst>
                <a:path w="1351915" h="433070">
                  <a:moveTo>
                    <a:pt x="0" y="47878"/>
                  </a:moveTo>
                  <a:lnTo>
                    <a:pt x="3766" y="29253"/>
                  </a:lnTo>
                  <a:lnTo>
                    <a:pt x="14033" y="14033"/>
                  </a:lnTo>
                  <a:lnTo>
                    <a:pt x="29253" y="3766"/>
                  </a:lnTo>
                  <a:lnTo>
                    <a:pt x="47878" y="0"/>
                  </a:lnTo>
                  <a:lnTo>
                    <a:pt x="1303908" y="0"/>
                  </a:lnTo>
                  <a:lnTo>
                    <a:pt x="1322534" y="3766"/>
                  </a:lnTo>
                  <a:lnTo>
                    <a:pt x="1337754" y="14033"/>
                  </a:lnTo>
                  <a:lnTo>
                    <a:pt x="1348021" y="29253"/>
                  </a:lnTo>
                  <a:lnTo>
                    <a:pt x="1351787" y="47878"/>
                  </a:lnTo>
                  <a:lnTo>
                    <a:pt x="1351787" y="384937"/>
                  </a:lnTo>
                  <a:lnTo>
                    <a:pt x="1348021" y="403562"/>
                  </a:lnTo>
                  <a:lnTo>
                    <a:pt x="1337754" y="418782"/>
                  </a:lnTo>
                  <a:lnTo>
                    <a:pt x="1322534" y="429049"/>
                  </a:lnTo>
                  <a:lnTo>
                    <a:pt x="1303908" y="432815"/>
                  </a:lnTo>
                  <a:lnTo>
                    <a:pt x="47878" y="432815"/>
                  </a:lnTo>
                  <a:lnTo>
                    <a:pt x="29253" y="429049"/>
                  </a:lnTo>
                  <a:lnTo>
                    <a:pt x="14033" y="418782"/>
                  </a:lnTo>
                  <a:lnTo>
                    <a:pt x="3766" y="403562"/>
                  </a:lnTo>
                  <a:lnTo>
                    <a:pt x="0" y="384937"/>
                  </a:lnTo>
                  <a:lnTo>
                    <a:pt x="0" y="4787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645304" y="3641597"/>
            <a:ext cx="1329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" marR="1016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Verdana"/>
                <a:cs typeface="Verdana"/>
              </a:rPr>
              <a:t>NAP </a:t>
            </a:r>
            <a:r>
              <a:rPr sz="1200" b="1" spc="-5" dirty="0">
                <a:latin typeface="Verdana"/>
                <a:cs typeface="Verdana"/>
              </a:rPr>
              <a:t>Health  Policy</a:t>
            </a:r>
            <a:r>
              <a:rPr sz="1200" b="1" spc="-5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Server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20477" y="3683317"/>
            <a:ext cx="1337310" cy="297815"/>
            <a:chOff x="3820477" y="3683317"/>
            <a:chExt cx="1337310" cy="297815"/>
          </a:xfrm>
        </p:grpSpPr>
        <p:sp>
          <p:nvSpPr>
            <p:cNvPr id="26" name="object 26"/>
            <p:cNvSpPr/>
            <p:nvPr/>
          </p:nvSpPr>
          <p:spPr>
            <a:xfrm>
              <a:off x="3825240" y="3688079"/>
              <a:ext cx="1327785" cy="288290"/>
            </a:xfrm>
            <a:custGeom>
              <a:avLst/>
              <a:gdLst/>
              <a:ahLst/>
              <a:cxnLst/>
              <a:rect l="l" t="t" r="r" b="b"/>
              <a:pathLst>
                <a:path w="1327785" h="288289">
                  <a:moveTo>
                    <a:pt x="1295527" y="0"/>
                  </a:moveTo>
                  <a:lnTo>
                    <a:pt x="31876" y="0"/>
                  </a:lnTo>
                  <a:lnTo>
                    <a:pt x="19448" y="2498"/>
                  </a:lnTo>
                  <a:lnTo>
                    <a:pt x="9318" y="9318"/>
                  </a:lnTo>
                  <a:lnTo>
                    <a:pt x="2498" y="19448"/>
                  </a:lnTo>
                  <a:lnTo>
                    <a:pt x="0" y="31877"/>
                  </a:lnTo>
                  <a:lnTo>
                    <a:pt x="0" y="256159"/>
                  </a:lnTo>
                  <a:lnTo>
                    <a:pt x="2498" y="268587"/>
                  </a:lnTo>
                  <a:lnTo>
                    <a:pt x="9318" y="278717"/>
                  </a:lnTo>
                  <a:lnTo>
                    <a:pt x="19448" y="285537"/>
                  </a:lnTo>
                  <a:lnTo>
                    <a:pt x="31876" y="288036"/>
                  </a:lnTo>
                  <a:lnTo>
                    <a:pt x="1295527" y="288036"/>
                  </a:lnTo>
                  <a:lnTo>
                    <a:pt x="1307955" y="285537"/>
                  </a:lnTo>
                  <a:lnTo>
                    <a:pt x="1318085" y="278717"/>
                  </a:lnTo>
                  <a:lnTo>
                    <a:pt x="1324905" y="268587"/>
                  </a:lnTo>
                  <a:lnTo>
                    <a:pt x="1327404" y="256159"/>
                  </a:lnTo>
                  <a:lnTo>
                    <a:pt x="1327404" y="31877"/>
                  </a:lnTo>
                  <a:lnTo>
                    <a:pt x="1324905" y="19448"/>
                  </a:lnTo>
                  <a:lnTo>
                    <a:pt x="1318085" y="9318"/>
                  </a:lnTo>
                  <a:lnTo>
                    <a:pt x="1307955" y="2498"/>
                  </a:lnTo>
                  <a:lnTo>
                    <a:pt x="12955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25240" y="3688079"/>
              <a:ext cx="1327785" cy="288290"/>
            </a:xfrm>
            <a:custGeom>
              <a:avLst/>
              <a:gdLst/>
              <a:ahLst/>
              <a:cxnLst/>
              <a:rect l="l" t="t" r="r" b="b"/>
              <a:pathLst>
                <a:path w="1327785" h="288289">
                  <a:moveTo>
                    <a:pt x="0" y="31877"/>
                  </a:moveTo>
                  <a:lnTo>
                    <a:pt x="2498" y="19448"/>
                  </a:lnTo>
                  <a:lnTo>
                    <a:pt x="9318" y="9318"/>
                  </a:lnTo>
                  <a:lnTo>
                    <a:pt x="19448" y="2498"/>
                  </a:lnTo>
                  <a:lnTo>
                    <a:pt x="31876" y="0"/>
                  </a:lnTo>
                  <a:lnTo>
                    <a:pt x="1295527" y="0"/>
                  </a:lnTo>
                  <a:lnTo>
                    <a:pt x="1307955" y="2498"/>
                  </a:lnTo>
                  <a:lnTo>
                    <a:pt x="1318085" y="9318"/>
                  </a:lnTo>
                  <a:lnTo>
                    <a:pt x="1324905" y="19448"/>
                  </a:lnTo>
                  <a:lnTo>
                    <a:pt x="1327404" y="31877"/>
                  </a:lnTo>
                  <a:lnTo>
                    <a:pt x="1327404" y="256159"/>
                  </a:lnTo>
                  <a:lnTo>
                    <a:pt x="1324905" y="268587"/>
                  </a:lnTo>
                  <a:lnTo>
                    <a:pt x="1318085" y="278717"/>
                  </a:lnTo>
                  <a:lnTo>
                    <a:pt x="1307955" y="285537"/>
                  </a:lnTo>
                  <a:lnTo>
                    <a:pt x="1295527" y="288036"/>
                  </a:lnTo>
                  <a:lnTo>
                    <a:pt x="31876" y="288036"/>
                  </a:lnTo>
                  <a:lnTo>
                    <a:pt x="19448" y="285537"/>
                  </a:lnTo>
                  <a:lnTo>
                    <a:pt x="9318" y="278717"/>
                  </a:lnTo>
                  <a:lnTo>
                    <a:pt x="2498" y="268587"/>
                  </a:lnTo>
                  <a:lnTo>
                    <a:pt x="0" y="256159"/>
                  </a:lnTo>
                  <a:lnTo>
                    <a:pt x="0" y="31877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914647" y="3727450"/>
            <a:ext cx="1113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DHCP</a:t>
            </a:r>
            <a:r>
              <a:rPr sz="1200" b="1" spc="-7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Server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647753" y="2889313"/>
            <a:ext cx="1289685" cy="591820"/>
            <a:chOff x="5647753" y="2889313"/>
            <a:chExt cx="1289685" cy="591820"/>
          </a:xfrm>
        </p:grpSpPr>
        <p:sp>
          <p:nvSpPr>
            <p:cNvPr id="30" name="object 30"/>
            <p:cNvSpPr/>
            <p:nvPr/>
          </p:nvSpPr>
          <p:spPr>
            <a:xfrm>
              <a:off x="5652515" y="2894076"/>
              <a:ext cx="1280160" cy="582295"/>
            </a:xfrm>
            <a:custGeom>
              <a:avLst/>
              <a:gdLst/>
              <a:ahLst/>
              <a:cxnLst/>
              <a:rect l="l" t="t" r="r" b="b"/>
              <a:pathLst>
                <a:path w="1280159" h="582295">
                  <a:moveTo>
                    <a:pt x="1215770" y="0"/>
                  </a:moveTo>
                  <a:lnTo>
                    <a:pt x="64388" y="0"/>
                  </a:lnTo>
                  <a:lnTo>
                    <a:pt x="39326" y="5060"/>
                  </a:lnTo>
                  <a:lnTo>
                    <a:pt x="18859" y="18859"/>
                  </a:lnTo>
                  <a:lnTo>
                    <a:pt x="5060" y="39326"/>
                  </a:lnTo>
                  <a:lnTo>
                    <a:pt x="0" y="64388"/>
                  </a:lnTo>
                  <a:lnTo>
                    <a:pt x="0" y="517778"/>
                  </a:lnTo>
                  <a:lnTo>
                    <a:pt x="5060" y="542841"/>
                  </a:lnTo>
                  <a:lnTo>
                    <a:pt x="18859" y="563308"/>
                  </a:lnTo>
                  <a:lnTo>
                    <a:pt x="39326" y="577107"/>
                  </a:lnTo>
                  <a:lnTo>
                    <a:pt x="64388" y="582168"/>
                  </a:lnTo>
                  <a:lnTo>
                    <a:pt x="1215770" y="582168"/>
                  </a:lnTo>
                  <a:lnTo>
                    <a:pt x="1240833" y="577107"/>
                  </a:lnTo>
                  <a:lnTo>
                    <a:pt x="1261300" y="563308"/>
                  </a:lnTo>
                  <a:lnTo>
                    <a:pt x="1275099" y="542841"/>
                  </a:lnTo>
                  <a:lnTo>
                    <a:pt x="1280160" y="517778"/>
                  </a:lnTo>
                  <a:lnTo>
                    <a:pt x="1280160" y="64388"/>
                  </a:lnTo>
                  <a:lnTo>
                    <a:pt x="1275099" y="39326"/>
                  </a:lnTo>
                  <a:lnTo>
                    <a:pt x="1261300" y="18859"/>
                  </a:lnTo>
                  <a:lnTo>
                    <a:pt x="1240833" y="5060"/>
                  </a:lnTo>
                  <a:lnTo>
                    <a:pt x="12157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52515" y="2894076"/>
              <a:ext cx="1280160" cy="582295"/>
            </a:xfrm>
            <a:custGeom>
              <a:avLst/>
              <a:gdLst/>
              <a:ahLst/>
              <a:cxnLst/>
              <a:rect l="l" t="t" r="r" b="b"/>
              <a:pathLst>
                <a:path w="1280159" h="582295">
                  <a:moveTo>
                    <a:pt x="0" y="64388"/>
                  </a:moveTo>
                  <a:lnTo>
                    <a:pt x="5060" y="39326"/>
                  </a:lnTo>
                  <a:lnTo>
                    <a:pt x="18859" y="18859"/>
                  </a:lnTo>
                  <a:lnTo>
                    <a:pt x="39326" y="5060"/>
                  </a:lnTo>
                  <a:lnTo>
                    <a:pt x="64388" y="0"/>
                  </a:lnTo>
                  <a:lnTo>
                    <a:pt x="1215770" y="0"/>
                  </a:lnTo>
                  <a:lnTo>
                    <a:pt x="1240833" y="5060"/>
                  </a:lnTo>
                  <a:lnTo>
                    <a:pt x="1261300" y="18859"/>
                  </a:lnTo>
                  <a:lnTo>
                    <a:pt x="1275099" y="39326"/>
                  </a:lnTo>
                  <a:lnTo>
                    <a:pt x="1280160" y="64388"/>
                  </a:lnTo>
                  <a:lnTo>
                    <a:pt x="1280160" y="517778"/>
                  </a:lnTo>
                  <a:lnTo>
                    <a:pt x="1275099" y="542841"/>
                  </a:lnTo>
                  <a:lnTo>
                    <a:pt x="1261300" y="563308"/>
                  </a:lnTo>
                  <a:lnTo>
                    <a:pt x="1240833" y="577107"/>
                  </a:lnTo>
                  <a:lnTo>
                    <a:pt x="1215770" y="582168"/>
                  </a:lnTo>
                  <a:lnTo>
                    <a:pt x="64388" y="582168"/>
                  </a:lnTo>
                  <a:lnTo>
                    <a:pt x="39326" y="577107"/>
                  </a:lnTo>
                  <a:lnTo>
                    <a:pt x="18859" y="563308"/>
                  </a:lnTo>
                  <a:lnTo>
                    <a:pt x="5060" y="542841"/>
                  </a:lnTo>
                  <a:lnTo>
                    <a:pt x="0" y="517778"/>
                  </a:lnTo>
                  <a:lnTo>
                    <a:pt x="0" y="6438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751703" y="2897504"/>
            <a:ext cx="1076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Health  R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spc="-5" dirty="0">
                <a:latin typeface="Verdana"/>
                <a:cs typeface="Verdana"/>
              </a:rPr>
              <a:t>gi</a:t>
            </a:r>
            <a:r>
              <a:rPr sz="1200" b="1" spc="-10" dirty="0">
                <a:latin typeface="Verdana"/>
                <a:cs typeface="Verdana"/>
              </a:rPr>
              <a:t>s</a:t>
            </a:r>
            <a:r>
              <a:rPr sz="1200" b="1" dirty="0">
                <a:latin typeface="Verdana"/>
                <a:cs typeface="Verdana"/>
              </a:rPr>
              <a:t>t</a:t>
            </a:r>
            <a:r>
              <a:rPr sz="1200" b="1" spc="-5" dirty="0">
                <a:latin typeface="Verdana"/>
                <a:cs typeface="Verdana"/>
              </a:rPr>
              <a:t>r</a:t>
            </a:r>
            <a:r>
              <a:rPr sz="1200" b="1" dirty="0">
                <a:latin typeface="Verdana"/>
                <a:cs typeface="Verdana"/>
              </a:rPr>
              <a:t>ation  </a:t>
            </a:r>
            <a:r>
              <a:rPr sz="1200" b="1" spc="-5" dirty="0">
                <a:latin typeface="Verdana"/>
                <a:cs typeface="Verdana"/>
              </a:rPr>
              <a:t>Authority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752590" y="1272349"/>
            <a:ext cx="2100580" cy="1078230"/>
            <a:chOff x="6752590" y="1272349"/>
            <a:chExt cx="2100580" cy="1078230"/>
          </a:xfrm>
        </p:grpSpPr>
        <p:sp>
          <p:nvSpPr>
            <p:cNvPr id="34" name="object 34"/>
            <p:cNvSpPr/>
            <p:nvPr/>
          </p:nvSpPr>
          <p:spPr>
            <a:xfrm>
              <a:off x="7164324" y="1772411"/>
              <a:ext cx="734568" cy="5775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52590" y="1569389"/>
              <a:ext cx="761089" cy="5164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569708" y="1277111"/>
              <a:ext cx="1278890" cy="439420"/>
            </a:xfrm>
            <a:custGeom>
              <a:avLst/>
              <a:gdLst/>
              <a:ahLst/>
              <a:cxnLst/>
              <a:rect l="l" t="t" r="r" b="b"/>
              <a:pathLst>
                <a:path w="1278890" h="439419">
                  <a:moveTo>
                    <a:pt x="1230122" y="0"/>
                  </a:moveTo>
                  <a:lnTo>
                    <a:pt x="48514" y="0"/>
                  </a:lnTo>
                  <a:lnTo>
                    <a:pt x="29628" y="3811"/>
                  </a:lnTo>
                  <a:lnTo>
                    <a:pt x="14208" y="14208"/>
                  </a:lnTo>
                  <a:lnTo>
                    <a:pt x="3811" y="29628"/>
                  </a:lnTo>
                  <a:lnTo>
                    <a:pt x="0" y="48513"/>
                  </a:lnTo>
                  <a:lnTo>
                    <a:pt x="0" y="390398"/>
                  </a:lnTo>
                  <a:lnTo>
                    <a:pt x="3811" y="409283"/>
                  </a:lnTo>
                  <a:lnTo>
                    <a:pt x="14208" y="424703"/>
                  </a:lnTo>
                  <a:lnTo>
                    <a:pt x="29628" y="435100"/>
                  </a:lnTo>
                  <a:lnTo>
                    <a:pt x="48514" y="438912"/>
                  </a:lnTo>
                  <a:lnTo>
                    <a:pt x="1230122" y="438912"/>
                  </a:lnTo>
                  <a:lnTo>
                    <a:pt x="1249007" y="435100"/>
                  </a:lnTo>
                  <a:lnTo>
                    <a:pt x="1264427" y="424703"/>
                  </a:lnTo>
                  <a:lnTo>
                    <a:pt x="1274824" y="409283"/>
                  </a:lnTo>
                  <a:lnTo>
                    <a:pt x="1278636" y="390398"/>
                  </a:lnTo>
                  <a:lnTo>
                    <a:pt x="1278636" y="48513"/>
                  </a:lnTo>
                  <a:lnTo>
                    <a:pt x="1274824" y="29628"/>
                  </a:lnTo>
                  <a:lnTo>
                    <a:pt x="1264427" y="14208"/>
                  </a:lnTo>
                  <a:lnTo>
                    <a:pt x="1249007" y="3811"/>
                  </a:lnTo>
                  <a:lnTo>
                    <a:pt x="12301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69708" y="1277111"/>
              <a:ext cx="1278890" cy="439420"/>
            </a:xfrm>
            <a:custGeom>
              <a:avLst/>
              <a:gdLst/>
              <a:ahLst/>
              <a:cxnLst/>
              <a:rect l="l" t="t" r="r" b="b"/>
              <a:pathLst>
                <a:path w="1278890" h="439419">
                  <a:moveTo>
                    <a:pt x="0" y="48513"/>
                  </a:moveTo>
                  <a:lnTo>
                    <a:pt x="3811" y="29628"/>
                  </a:lnTo>
                  <a:lnTo>
                    <a:pt x="14208" y="14208"/>
                  </a:lnTo>
                  <a:lnTo>
                    <a:pt x="29628" y="3811"/>
                  </a:lnTo>
                  <a:lnTo>
                    <a:pt x="48514" y="0"/>
                  </a:lnTo>
                  <a:lnTo>
                    <a:pt x="1230122" y="0"/>
                  </a:lnTo>
                  <a:lnTo>
                    <a:pt x="1249007" y="3811"/>
                  </a:lnTo>
                  <a:lnTo>
                    <a:pt x="1264427" y="14208"/>
                  </a:lnTo>
                  <a:lnTo>
                    <a:pt x="1274824" y="29628"/>
                  </a:lnTo>
                  <a:lnTo>
                    <a:pt x="1278636" y="48513"/>
                  </a:lnTo>
                  <a:lnTo>
                    <a:pt x="1278636" y="390398"/>
                  </a:lnTo>
                  <a:lnTo>
                    <a:pt x="1274824" y="409283"/>
                  </a:lnTo>
                  <a:lnTo>
                    <a:pt x="1264427" y="424703"/>
                  </a:lnTo>
                  <a:lnTo>
                    <a:pt x="1249007" y="435100"/>
                  </a:lnTo>
                  <a:lnTo>
                    <a:pt x="1230122" y="438912"/>
                  </a:lnTo>
                  <a:lnTo>
                    <a:pt x="48514" y="438912"/>
                  </a:lnTo>
                  <a:lnTo>
                    <a:pt x="29628" y="435100"/>
                  </a:lnTo>
                  <a:lnTo>
                    <a:pt x="14208" y="424703"/>
                  </a:lnTo>
                  <a:lnTo>
                    <a:pt x="3811" y="409283"/>
                  </a:lnTo>
                  <a:lnTo>
                    <a:pt x="0" y="390398"/>
                  </a:lnTo>
                  <a:lnTo>
                    <a:pt x="0" y="48513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581383" y="1299464"/>
            <a:ext cx="1255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IEEE</a:t>
            </a:r>
            <a:r>
              <a:rPr sz="1200" b="1" spc="-1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802.1X</a:t>
            </a:r>
            <a:endParaRPr sz="1200">
              <a:latin typeface="Verdana"/>
              <a:cs typeface="Verdana"/>
            </a:endParaRPr>
          </a:p>
          <a:p>
            <a:pPr marL="94615">
              <a:lnSpc>
                <a:spcPct val="100000"/>
              </a:lnSpc>
            </a:pPr>
            <a:r>
              <a:rPr sz="1200" b="1" spc="-5" dirty="0">
                <a:latin typeface="Verdana"/>
                <a:cs typeface="Verdana"/>
              </a:rPr>
              <a:t>Devices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474464" y="1267777"/>
            <a:ext cx="1697989" cy="1200150"/>
            <a:chOff x="4474464" y="1267777"/>
            <a:chExt cx="1697989" cy="1200150"/>
          </a:xfrm>
        </p:grpSpPr>
        <p:sp>
          <p:nvSpPr>
            <p:cNvPr id="40" name="object 40"/>
            <p:cNvSpPr/>
            <p:nvPr/>
          </p:nvSpPr>
          <p:spPr>
            <a:xfrm>
              <a:off x="4474464" y="1574291"/>
              <a:ext cx="1011936" cy="89306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43500" y="1272539"/>
              <a:ext cx="1024255" cy="440690"/>
            </a:xfrm>
            <a:custGeom>
              <a:avLst/>
              <a:gdLst/>
              <a:ahLst/>
              <a:cxnLst/>
              <a:rect l="l" t="t" r="r" b="b"/>
              <a:pathLst>
                <a:path w="1024254" h="440689">
                  <a:moveTo>
                    <a:pt x="975360" y="0"/>
                  </a:moveTo>
                  <a:lnTo>
                    <a:pt x="48767" y="0"/>
                  </a:lnTo>
                  <a:lnTo>
                    <a:pt x="29789" y="3833"/>
                  </a:lnTo>
                  <a:lnTo>
                    <a:pt x="14287" y="14287"/>
                  </a:lnTo>
                  <a:lnTo>
                    <a:pt x="3833" y="29789"/>
                  </a:lnTo>
                  <a:lnTo>
                    <a:pt x="0" y="48768"/>
                  </a:lnTo>
                  <a:lnTo>
                    <a:pt x="0" y="391668"/>
                  </a:lnTo>
                  <a:lnTo>
                    <a:pt x="3833" y="410646"/>
                  </a:lnTo>
                  <a:lnTo>
                    <a:pt x="14287" y="426148"/>
                  </a:lnTo>
                  <a:lnTo>
                    <a:pt x="29789" y="436602"/>
                  </a:lnTo>
                  <a:lnTo>
                    <a:pt x="48767" y="440436"/>
                  </a:lnTo>
                  <a:lnTo>
                    <a:pt x="975360" y="440436"/>
                  </a:lnTo>
                  <a:lnTo>
                    <a:pt x="994338" y="436602"/>
                  </a:lnTo>
                  <a:lnTo>
                    <a:pt x="1009840" y="426148"/>
                  </a:lnTo>
                  <a:lnTo>
                    <a:pt x="1020294" y="410646"/>
                  </a:lnTo>
                  <a:lnTo>
                    <a:pt x="1024127" y="391668"/>
                  </a:lnTo>
                  <a:lnTo>
                    <a:pt x="1024127" y="48768"/>
                  </a:lnTo>
                  <a:lnTo>
                    <a:pt x="1020294" y="29789"/>
                  </a:lnTo>
                  <a:lnTo>
                    <a:pt x="1009840" y="14287"/>
                  </a:lnTo>
                  <a:lnTo>
                    <a:pt x="994338" y="3833"/>
                  </a:lnTo>
                  <a:lnTo>
                    <a:pt x="975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143500" y="1272539"/>
              <a:ext cx="1024255" cy="440690"/>
            </a:xfrm>
            <a:custGeom>
              <a:avLst/>
              <a:gdLst/>
              <a:ahLst/>
              <a:cxnLst/>
              <a:rect l="l" t="t" r="r" b="b"/>
              <a:pathLst>
                <a:path w="1024254" h="440689">
                  <a:moveTo>
                    <a:pt x="0" y="48768"/>
                  </a:moveTo>
                  <a:lnTo>
                    <a:pt x="3833" y="29789"/>
                  </a:lnTo>
                  <a:lnTo>
                    <a:pt x="14287" y="14287"/>
                  </a:lnTo>
                  <a:lnTo>
                    <a:pt x="29789" y="3833"/>
                  </a:lnTo>
                  <a:lnTo>
                    <a:pt x="48767" y="0"/>
                  </a:lnTo>
                  <a:lnTo>
                    <a:pt x="975360" y="0"/>
                  </a:lnTo>
                  <a:lnTo>
                    <a:pt x="994338" y="3833"/>
                  </a:lnTo>
                  <a:lnTo>
                    <a:pt x="1009840" y="14287"/>
                  </a:lnTo>
                  <a:lnTo>
                    <a:pt x="1020294" y="29789"/>
                  </a:lnTo>
                  <a:lnTo>
                    <a:pt x="1024127" y="48768"/>
                  </a:lnTo>
                  <a:lnTo>
                    <a:pt x="1024127" y="391668"/>
                  </a:lnTo>
                  <a:lnTo>
                    <a:pt x="1020294" y="410646"/>
                  </a:lnTo>
                  <a:lnTo>
                    <a:pt x="1009840" y="426148"/>
                  </a:lnTo>
                  <a:lnTo>
                    <a:pt x="994338" y="436602"/>
                  </a:lnTo>
                  <a:lnTo>
                    <a:pt x="975360" y="440436"/>
                  </a:lnTo>
                  <a:lnTo>
                    <a:pt x="48767" y="440436"/>
                  </a:lnTo>
                  <a:lnTo>
                    <a:pt x="29789" y="436602"/>
                  </a:lnTo>
                  <a:lnTo>
                    <a:pt x="14287" y="426148"/>
                  </a:lnTo>
                  <a:lnTo>
                    <a:pt x="3833" y="410646"/>
                  </a:lnTo>
                  <a:lnTo>
                    <a:pt x="0" y="391668"/>
                  </a:lnTo>
                  <a:lnTo>
                    <a:pt x="0" y="48768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237479" y="1295857"/>
            <a:ext cx="82041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Active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Verdana"/>
                <a:cs typeface="Verdana"/>
              </a:rPr>
              <a:t>Directory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705100" y="1007173"/>
            <a:ext cx="1315720" cy="1964689"/>
            <a:chOff x="2705100" y="1007173"/>
            <a:chExt cx="1315720" cy="1964689"/>
          </a:xfrm>
        </p:grpSpPr>
        <p:sp>
          <p:nvSpPr>
            <p:cNvPr id="45" name="object 45"/>
            <p:cNvSpPr/>
            <p:nvPr/>
          </p:nvSpPr>
          <p:spPr>
            <a:xfrm>
              <a:off x="2724150" y="1756409"/>
              <a:ext cx="10795" cy="1196340"/>
            </a:xfrm>
            <a:custGeom>
              <a:avLst/>
              <a:gdLst/>
              <a:ahLst/>
              <a:cxnLst/>
              <a:rect l="l" t="t" r="r" b="b"/>
              <a:pathLst>
                <a:path w="10794" h="1196339">
                  <a:moveTo>
                    <a:pt x="10668" y="119633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41548" y="1328927"/>
              <a:ext cx="676655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833115" y="1011936"/>
              <a:ext cx="1183005" cy="288290"/>
            </a:xfrm>
            <a:custGeom>
              <a:avLst/>
              <a:gdLst/>
              <a:ahLst/>
              <a:cxnLst/>
              <a:rect l="l" t="t" r="r" b="b"/>
              <a:pathLst>
                <a:path w="1183004" h="288290">
                  <a:moveTo>
                    <a:pt x="0" y="31876"/>
                  </a:moveTo>
                  <a:lnTo>
                    <a:pt x="2498" y="19448"/>
                  </a:lnTo>
                  <a:lnTo>
                    <a:pt x="9318" y="9318"/>
                  </a:lnTo>
                  <a:lnTo>
                    <a:pt x="19448" y="2498"/>
                  </a:lnTo>
                  <a:lnTo>
                    <a:pt x="31876" y="0"/>
                  </a:lnTo>
                  <a:lnTo>
                    <a:pt x="1150746" y="0"/>
                  </a:lnTo>
                  <a:lnTo>
                    <a:pt x="1163175" y="2498"/>
                  </a:lnTo>
                  <a:lnTo>
                    <a:pt x="1173305" y="9318"/>
                  </a:lnTo>
                  <a:lnTo>
                    <a:pt x="1180125" y="19448"/>
                  </a:lnTo>
                  <a:lnTo>
                    <a:pt x="1182623" y="31876"/>
                  </a:lnTo>
                  <a:lnTo>
                    <a:pt x="1182623" y="256159"/>
                  </a:lnTo>
                  <a:lnTo>
                    <a:pt x="1180125" y="268587"/>
                  </a:lnTo>
                  <a:lnTo>
                    <a:pt x="1173305" y="278717"/>
                  </a:lnTo>
                  <a:lnTo>
                    <a:pt x="1163175" y="285537"/>
                  </a:lnTo>
                  <a:lnTo>
                    <a:pt x="1150746" y="288036"/>
                  </a:lnTo>
                  <a:lnTo>
                    <a:pt x="31876" y="288036"/>
                  </a:lnTo>
                  <a:lnTo>
                    <a:pt x="19448" y="285537"/>
                  </a:lnTo>
                  <a:lnTo>
                    <a:pt x="9318" y="278717"/>
                  </a:lnTo>
                  <a:lnTo>
                    <a:pt x="2498" y="268587"/>
                  </a:lnTo>
                  <a:lnTo>
                    <a:pt x="0" y="256159"/>
                  </a:lnTo>
                  <a:lnTo>
                    <a:pt x="0" y="31876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922270" y="1050416"/>
            <a:ext cx="994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VPN</a:t>
            </a:r>
            <a:r>
              <a:rPr sz="1200" b="1" spc="-7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Server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050791" y="4421123"/>
            <a:ext cx="3197860" cy="1445260"/>
            <a:chOff x="4050791" y="4421123"/>
            <a:chExt cx="3197860" cy="1445260"/>
          </a:xfrm>
        </p:grpSpPr>
        <p:sp>
          <p:nvSpPr>
            <p:cNvPr id="50" name="object 50"/>
            <p:cNvSpPr/>
            <p:nvPr/>
          </p:nvSpPr>
          <p:spPr>
            <a:xfrm>
              <a:off x="4075175" y="4445507"/>
              <a:ext cx="3172968" cy="14203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050791" y="4421123"/>
              <a:ext cx="3169919" cy="141732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972558" y="4864734"/>
            <a:ext cx="118808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10" dirty="0">
                <a:latin typeface="Verdana"/>
                <a:cs typeface="Verdana"/>
              </a:rPr>
              <a:t>Restr</a:t>
            </a:r>
            <a:r>
              <a:rPr sz="1600" b="1" spc="-15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cted  </a:t>
            </a:r>
            <a:r>
              <a:rPr sz="1600" b="1" spc="-5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404615" y="4611623"/>
            <a:ext cx="5250815" cy="1309370"/>
            <a:chOff x="3404615" y="4611623"/>
            <a:chExt cx="5250815" cy="1309370"/>
          </a:xfrm>
        </p:grpSpPr>
        <p:sp>
          <p:nvSpPr>
            <p:cNvPr id="54" name="object 54"/>
            <p:cNvSpPr/>
            <p:nvPr/>
          </p:nvSpPr>
          <p:spPr>
            <a:xfrm>
              <a:off x="3404615" y="4611623"/>
              <a:ext cx="676656" cy="8061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37431" y="4847843"/>
              <a:ext cx="675132" cy="8061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86600" y="5558027"/>
              <a:ext cx="1564005" cy="358140"/>
            </a:xfrm>
            <a:custGeom>
              <a:avLst/>
              <a:gdLst/>
              <a:ahLst/>
              <a:cxnLst/>
              <a:rect l="l" t="t" r="r" b="b"/>
              <a:pathLst>
                <a:path w="1564004" h="358139">
                  <a:moveTo>
                    <a:pt x="1524000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18"/>
                  </a:lnTo>
                  <a:lnTo>
                    <a:pt x="3119" y="24211"/>
                  </a:lnTo>
                  <a:lnTo>
                    <a:pt x="0" y="39611"/>
                  </a:lnTo>
                  <a:lnTo>
                    <a:pt x="0" y="318528"/>
                  </a:lnTo>
                  <a:lnTo>
                    <a:pt x="3119" y="333949"/>
                  </a:lnTo>
                  <a:lnTo>
                    <a:pt x="11620" y="346540"/>
                  </a:lnTo>
                  <a:lnTo>
                    <a:pt x="24217" y="355027"/>
                  </a:lnTo>
                  <a:lnTo>
                    <a:pt x="39624" y="358140"/>
                  </a:lnTo>
                  <a:lnTo>
                    <a:pt x="1524000" y="358140"/>
                  </a:lnTo>
                  <a:lnTo>
                    <a:pt x="1539406" y="355027"/>
                  </a:lnTo>
                  <a:lnTo>
                    <a:pt x="1552003" y="346540"/>
                  </a:lnTo>
                  <a:lnTo>
                    <a:pt x="1560504" y="333949"/>
                  </a:lnTo>
                  <a:lnTo>
                    <a:pt x="1563624" y="318528"/>
                  </a:lnTo>
                  <a:lnTo>
                    <a:pt x="1563624" y="39611"/>
                  </a:lnTo>
                  <a:lnTo>
                    <a:pt x="1560504" y="24211"/>
                  </a:lnTo>
                  <a:lnTo>
                    <a:pt x="1552003" y="11618"/>
                  </a:lnTo>
                  <a:lnTo>
                    <a:pt x="1539406" y="3119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086600" y="5558027"/>
              <a:ext cx="1564005" cy="358140"/>
            </a:xfrm>
            <a:custGeom>
              <a:avLst/>
              <a:gdLst/>
              <a:ahLst/>
              <a:cxnLst/>
              <a:rect l="l" t="t" r="r" b="b"/>
              <a:pathLst>
                <a:path w="1564004" h="358139">
                  <a:moveTo>
                    <a:pt x="0" y="39611"/>
                  </a:moveTo>
                  <a:lnTo>
                    <a:pt x="3119" y="24211"/>
                  </a:lnTo>
                  <a:lnTo>
                    <a:pt x="11620" y="11618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1524000" y="0"/>
                  </a:lnTo>
                  <a:lnTo>
                    <a:pt x="1539406" y="3119"/>
                  </a:lnTo>
                  <a:lnTo>
                    <a:pt x="1552003" y="11618"/>
                  </a:lnTo>
                  <a:lnTo>
                    <a:pt x="1560504" y="24211"/>
                  </a:lnTo>
                  <a:lnTo>
                    <a:pt x="1563624" y="39611"/>
                  </a:lnTo>
                  <a:lnTo>
                    <a:pt x="1563624" y="318528"/>
                  </a:lnTo>
                  <a:lnTo>
                    <a:pt x="1560504" y="333949"/>
                  </a:lnTo>
                  <a:lnTo>
                    <a:pt x="1552003" y="346540"/>
                  </a:lnTo>
                  <a:lnTo>
                    <a:pt x="1539406" y="355027"/>
                  </a:lnTo>
                  <a:lnTo>
                    <a:pt x="1524000" y="358140"/>
                  </a:lnTo>
                  <a:lnTo>
                    <a:pt x="39624" y="358140"/>
                  </a:lnTo>
                  <a:lnTo>
                    <a:pt x="24217" y="355027"/>
                  </a:lnTo>
                  <a:lnTo>
                    <a:pt x="11620" y="346540"/>
                  </a:lnTo>
                  <a:lnTo>
                    <a:pt x="3119" y="333949"/>
                  </a:lnTo>
                  <a:lnTo>
                    <a:pt x="0" y="318528"/>
                  </a:lnTo>
                  <a:lnTo>
                    <a:pt x="0" y="39611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178167" y="5541365"/>
            <a:ext cx="1362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Verdana"/>
                <a:cs typeface="Verdana"/>
              </a:rPr>
              <a:t>NAP </a:t>
            </a:r>
            <a:r>
              <a:rPr sz="1200" b="1" spc="-5" dirty="0">
                <a:latin typeface="Verdana"/>
                <a:cs typeface="Verdana"/>
              </a:rPr>
              <a:t>Client</a:t>
            </a:r>
            <a:r>
              <a:rPr sz="1200" b="1" spc="-85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with  </a:t>
            </a:r>
            <a:r>
              <a:rPr sz="1200" b="1" spc="-5" dirty="0">
                <a:latin typeface="Verdana"/>
                <a:cs typeface="Verdana"/>
              </a:rPr>
              <a:t>limited access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265164" y="5353811"/>
            <a:ext cx="743712" cy="80619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0" name="object 60"/>
          <p:cNvGrpSpPr/>
          <p:nvPr/>
        </p:nvGrpSpPr>
        <p:grpSpPr>
          <a:xfrm>
            <a:off x="2066544" y="3425952"/>
            <a:ext cx="1336675" cy="443865"/>
            <a:chOff x="2066544" y="3425952"/>
            <a:chExt cx="1336675" cy="443865"/>
          </a:xfrm>
        </p:grpSpPr>
        <p:sp>
          <p:nvSpPr>
            <p:cNvPr id="61" name="object 61"/>
            <p:cNvSpPr/>
            <p:nvPr/>
          </p:nvSpPr>
          <p:spPr>
            <a:xfrm>
              <a:off x="2087118" y="3640074"/>
              <a:ext cx="1289685" cy="1905"/>
            </a:xfrm>
            <a:custGeom>
              <a:avLst/>
              <a:gdLst/>
              <a:ahLst/>
              <a:cxnLst/>
              <a:rect l="l" t="t" r="r" b="b"/>
              <a:pathLst>
                <a:path w="1289685" h="1904">
                  <a:moveTo>
                    <a:pt x="1289304" y="0"/>
                  </a:moveTo>
                  <a:lnTo>
                    <a:pt x="0" y="1524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086356" y="3425952"/>
              <a:ext cx="1297305" cy="443865"/>
            </a:xfrm>
            <a:custGeom>
              <a:avLst/>
              <a:gdLst/>
              <a:ahLst/>
              <a:cxnLst/>
              <a:rect l="l" t="t" r="r" b="b"/>
              <a:pathLst>
                <a:path w="1297304" h="443864">
                  <a:moveTo>
                    <a:pt x="0" y="4572"/>
                  </a:moveTo>
                  <a:lnTo>
                    <a:pt x="0" y="249935"/>
                  </a:lnTo>
                </a:path>
                <a:path w="1297304" h="443864">
                  <a:moveTo>
                    <a:pt x="1296923" y="0"/>
                  </a:moveTo>
                  <a:lnTo>
                    <a:pt x="1296923" y="246888"/>
                  </a:lnTo>
                </a:path>
                <a:path w="1297304" h="443864">
                  <a:moveTo>
                    <a:pt x="659892" y="198120"/>
                  </a:moveTo>
                  <a:lnTo>
                    <a:pt x="659892" y="443484"/>
                  </a:lnTo>
                </a:path>
              </a:pathLst>
            </a:custGeom>
            <a:ln w="3962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2050160" y="3815841"/>
            <a:ext cx="115316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15" dirty="0">
                <a:latin typeface="Verdana"/>
                <a:cs typeface="Verdana"/>
              </a:rPr>
              <a:t>P</a:t>
            </a:r>
            <a:r>
              <a:rPr sz="1600" b="1" spc="-10" dirty="0">
                <a:latin typeface="Verdana"/>
                <a:cs typeface="Verdana"/>
              </a:rPr>
              <a:t>er</a:t>
            </a:r>
            <a:r>
              <a:rPr sz="1600" b="1" spc="-15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meter  </a:t>
            </a:r>
            <a:r>
              <a:rPr sz="1600" b="1" spc="-5" dirty="0">
                <a:latin typeface="Verdana"/>
                <a:cs typeface="Verdana"/>
              </a:rPr>
              <a:t>Network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8326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spc="-5" dirty="0"/>
              <a:t>the </a:t>
            </a:r>
            <a:r>
              <a:rPr dirty="0"/>
              <a:t>Network </a:t>
            </a:r>
            <a:r>
              <a:rPr spc="-5" dirty="0"/>
              <a:t>Policy </a:t>
            </a:r>
            <a:r>
              <a:rPr dirty="0"/>
              <a:t>and </a:t>
            </a:r>
            <a:r>
              <a:rPr spc="-5" dirty="0"/>
              <a:t>Access Services</a:t>
            </a:r>
            <a:r>
              <a:rPr spc="90" dirty="0"/>
              <a:t> </a:t>
            </a:r>
            <a:r>
              <a:rPr spc="-5" dirty="0"/>
              <a:t>Role?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3737" y="1570100"/>
          <a:ext cx="7751445" cy="37028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1000"/>
                <a:gridCol w="4830445"/>
              </a:tblGrid>
              <a:tr h="429768">
                <a:tc>
                  <a:txBody>
                    <a:bodyPr/>
                    <a:lstStyle/>
                    <a:p>
                      <a:pPr marL="72771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b="1" spc="-5" dirty="0">
                          <a:latin typeface="Verdana"/>
                          <a:cs typeface="Verdana"/>
                        </a:rPr>
                        <a:t>Component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800" b="1" spc="-5" dirty="0">
                          <a:latin typeface="Verdana"/>
                          <a:cs typeface="Verdana"/>
                        </a:rPr>
                        <a:t>Description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Network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Policy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Server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22288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010919">
                        <a:lnSpc>
                          <a:spcPts val="1939"/>
                        </a:lnSpc>
                        <a:spcBef>
                          <a:spcPts val="103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The Microsoft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implementation of 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RADIUS Server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proxy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11704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91440" marR="482600">
                        <a:lnSpc>
                          <a:spcPts val="1939"/>
                        </a:lnSpc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Routing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Remote 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Access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31470">
                        <a:lnSpc>
                          <a:spcPct val="90000"/>
                        </a:lnSpc>
                        <a:spcBef>
                          <a:spcPts val="71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Provides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VPN and dial-up solutions</a:t>
                      </a:r>
                      <a:r>
                        <a:rPr sz="1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for 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users, deploys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full-featured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software  routers,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and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shares Internet  connections across the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intranet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91440" marR="626745">
                        <a:lnSpc>
                          <a:spcPts val="1939"/>
                        </a:lnSpc>
                        <a:spcBef>
                          <a:spcPts val="74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Health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Registration 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Authority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658495">
                        <a:lnSpc>
                          <a:spcPts val="1939"/>
                        </a:lnSpc>
                        <a:spcBef>
                          <a:spcPts val="74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Issues health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certificates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to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clients  when using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IPsec NAP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enforcement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91440" marR="292100">
                        <a:lnSpc>
                          <a:spcPts val="1939"/>
                        </a:lnSpc>
                        <a:spcBef>
                          <a:spcPts val="74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Host Credential  Authorization</a:t>
                      </a:r>
                      <a:r>
                        <a:rPr sz="1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Protocol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57834">
                        <a:lnSpc>
                          <a:spcPts val="1939"/>
                        </a:lnSpc>
                        <a:spcBef>
                          <a:spcPts val="745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Integrates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with Cisco 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network access 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control</a:t>
                      </a:r>
                      <a:r>
                        <a:rPr sz="1800" spc="-5" dirty="0">
                          <a:latin typeface="Verdana"/>
                          <a:cs typeface="Verdana"/>
                        </a:rPr>
                        <a:t> server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768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spc="-5" dirty="0"/>
              <a:t>Routing </a:t>
            </a:r>
            <a:r>
              <a:rPr dirty="0"/>
              <a:t>and Remote</a:t>
            </a:r>
            <a:r>
              <a:rPr spc="45" dirty="0"/>
              <a:t> </a:t>
            </a:r>
            <a:r>
              <a:rPr spc="-5" dirty="0"/>
              <a:t>Access?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7263" y="1397508"/>
            <a:ext cx="8729980" cy="2781300"/>
            <a:chOff x="207263" y="1397508"/>
            <a:chExt cx="8729980" cy="2781300"/>
          </a:xfrm>
        </p:grpSpPr>
        <p:sp>
          <p:nvSpPr>
            <p:cNvPr id="4" name="object 4"/>
            <p:cNvSpPr/>
            <p:nvPr/>
          </p:nvSpPr>
          <p:spPr>
            <a:xfrm>
              <a:off x="211835" y="1402080"/>
              <a:ext cx="8720455" cy="2772410"/>
            </a:xfrm>
            <a:custGeom>
              <a:avLst/>
              <a:gdLst/>
              <a:ahLst/>
              <a:cxnLst/>
              <a:rect l="l" t="t" r="r" b="b"/>
              <a:pathLst>
                <a:path w="8720455" h="2772410">
                  <a:moveTo>
                    <a:pt x="8604758" y="0"/>
                  </a:moveTo>
                  <a:lnTo>
                    <a:pt x="115519" y="0"/>
                  </a:lnTo>
                  <a:lnTo>
                    <a:pt x="70551" y="9074"/>
                  </a:lnTo>
                  <a:lnTo>
                    <a:pt x="33832" y="33829"/>
                  </a:lnTo>
                  <a:lnTo>
                    <a:pt x="9077" y="70562"/>
                  </a:lnTo>
                  <a:lnTo>
                    <a:pt x="0" y="115570"/>
                  </a:lnTo>
                  <a:lnTo>
                    <a:pt x="0" y="2656586"/>
                  </a:lnTo>
                  <a:lnTo>
                    <a:pt x="9077" y="2701593"/>
                  </a:lnTo>
                  <a:lnTo>
                    <a:pt x="33832" y="2738326"/>
                  </a:lnTo>
                  <a:lnTo>
                    <a:pt x="70551" y="2763081"/>
                  </a:lnTo>
                  <a:lnTo>
                    <a:pt x="115519" y="2772156"/>
                  </a:lnTo>
                  <a:lnTo>
                    <a:pt x="8604758" y="2772156"/>
                  </a:lnTo>
                  <a:lnTo>
                    <a:pt x="8649765" y="2763081"/>
                  </a:lnTo>
                  <a:lnTo>
                    <a:pt x="8686498" y="2738326"/>
                  </a:lnTo>
                  <a:lnTo>
                    <a:pt x="8711253" y="2701593"/>
                  </a:lnTo>
                  <a:lnTo>
                    <a:pt x="8720328" y="2656586"/>
                  </a:lnTo>
                  <a:lnTo>
                    <a:pt x="8720328" y="115570"/>
                  </a:lnTo>
                  <a:lnTo>
                    <a:pt x="8711253" y="70562"/>
                  </a:lnTo>
                  <a:lnTo>
                    <a:pt x="8686498" y="33829"/>
                  </a:lnTo>
                  <a:lnTo>
                    <a:pt x="8649765" y="9074"/>
                  </a:lnTo>
                  <a:lnTo>
                    <a:pt x="8604758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1835" y="1402080"/>
              <a:ext cx="8720455" cy="2772410"/>
            </a:xfrm>
            <a:custGeom>
              <a:avLst/>
              <a:gdLst/>
              <a:ahLst/>
              <a:cxnLst/>
              <a:rect l="l" t="t" r="r" b="b"/>
              <a:pathLst>
                <a:path w="8720455" h="2772410">
                  <a:moveTo>
                    <a:pt x="0" y="115570"/>
                  </a:moveTo>
                  <a:lnTo>
                    <a:pt x="9077" y="70562"/>
                  </a:lnTo>
                  <a:lnTo>
                    <a:pt x="33832" y="33829"/>
                  </a:lnTo>
                  <a:lnTo>
                    <a:pt x="70551" y="9074"/>
                  </a:lnTo>
                  <a:lnTo>
                    <a:pt x="115519" y="0"/>
                  </a:lnTo>
                  <a:lnTo>
                    <a:pt x="8604758" y="0"/>
                  </a:lnTo>
                  <a:lnTo>
                    <a:pt x="8649765" y="9074"/>
                  </a:lnTo>
                  <a:lnTo>
                    <a:pt x="8686498" y="33829"/>
                  </a:lnTo>
                  <a:lnTo>
                    <a:pt x="8711253" y="70562"/>
                  </a:lnTo>
                  <a:lnTo>
                    <a:pt x="8720328" y="115570"/>
                  </a:lnTo>
                  <a:lnTo>
                    <a:pt x="8720328" y="2656586"/>
                  </a:lnTo>
                  <a:lnTo>
                    <a:pt x="8711253" y="2701593"/>
                  </a:lnTo>
                  <a:lnTo>
                    <a:pt x="8686498" y="2738326"/>
                  </a:lnTo>
                  <a:lnTo>
                    <a:pt x="8649765" y="2763081"/>
                  </a:lnTo>
                  <a:lnTo>
                    <a:pt x="8604758" y="2772156"/>
                  </a:lnTo>
                  <a:lnTo>
                    <a:pt x="115519" y="2772156"/>
                  </a:lnTo>
                  <a:lnTo>
                    <a:pt x="70551" y="2763081"/>
                  </a:lnTo>
                  <a:lnTo>
                    <a:pt x="33832" y="2738326"/>
                  </a:lnTo>
                  <a:lnTo>
                    <a:pt x="9077" y="2701593"/>
                  </a:lnTo>
                  <a:lnTo>
                    <a:pt x="0" y="2656586"/>
                  </a:lnTo>
                  <a:lnTo>
                    <a:pt x="0" y="11557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8243" y="1722120"/>
              <a:ext cx="8288020" cy="612775"/>
            </a:xfrm>
            <a:custGeom>
              <a:avLst/>
              <a:gdLst/>
              <a:ahLst/>
              <a:cxnLst/>
              <a:rect l="l" t="t" r="r" b="b"/>
              <a:pathLst>
                <a:path w="8288020" h="612775">
                  <a:moveTo>
                    <a:pt x="8261984" y="0"/>
                  </a:moveTo>
                  <a:lnTo>
                    <a:pt x="25526" y="0"/>
                  </a:lnTo>
                  <a:lnTo>
                    <a:pt x="15591" y="2006"/>
                  </a:lnTo>
                  <a:lnTo>
                    <a:pt x="7477" y="7477"/>
                  </a:lnTo>
                  <a:lnTo>
                    <a:pt x="2006" y="15591"/>
                  </a:lnTo>
                  <a:lnTo>
                    <a:pt x="0" y="25526"/>
                  </a:lnTo>
                  <a:lnTo>
                    <a:pt x="0" y="587120"/>
                  </a:lnTo>
                  <a:lnTo>
                    <a:pt x="2006" y="597056"/>
                  </a:lnTo>
                  <a:lnTo>
                    <a:pt x="7477" y="605170"/>
                  </a:lnTo>
                  <a:lnTo>
                    <a:pt x="15591" y="610641"/>
                  </a:lnTo>
                  <a:lnTo>
                    <a:pt x="25526" y="612647"/>
                  </a:lnTo>
                  <a:lnTo>
                    <a:pt x="8261984" y="612647"/>
                  </a:lnTo>
                  <a:lnTo>
                    <a:pt x="8271920" y="610641"/>
                  </a:lnTo>
                  <a:lnTo>
                    <a:pt x="8280034" y="605170"/>
                  </a:lnTo>
                  <a:lnTo>
                    <a:pt x="8285505" y="597056"/>
                  </a:lnTo>
                  <a:lnTo>
                    <a:pt x="8287511" y="587120"/>
                  </a:lnTo>
                  <a:lnTo>
                    <a:pt x="8287511" y="25526"/>
                  </a:lnTo>
                  <a:lnTo>
                    <a:pt x="8285505" y="15591"/>
                  </a:lnTo>
                  <a:lnTo>
                    <a:pt x="8280034" y="7477"/>
                  </a:lnTo>
                  <a:lnTo>
                    <a:pt x="8271920" y="2006"/>
                  </a:lnTo>
                  <a:lnTo>
                    <a:pt x="826198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8243" y="1722120"/>
              <a:ext cx="8288020" cy="612775"/>
            </a:xfrm>
            <a:custGeom>
              <a:avLst/>
              <a:gdLst/>
              <a:ahLst/>
              <a:cxnLst/>
              <a:rect l="l" t="t" r="r" b="b"/>
              <a:pathLst>
                <a:path w="8288020" h="612775">
                  <a:moveTo>
                    <a:pt x="0" y="25526"/>
                  </a:moveTo>
                  <a:lnTo>
                    <a:pt x="2006" y="15591"/>
                  </a:lnTo>
                  <a:lnTo>
                    <a:pt x="7477" y="7477"/>
                  </a:lnTo>
                  <a:lnTo>
                    <a:pt x="15591" y="2006"/>
                  </a:lnTo>
                  <a:lnTo>
                    <a:pt x="25526" y="0"/>
                  </a:lnTo>
                  <a:lnTo>
                    <a:pt x="8261984" y="0"/>
                  </a:lnTo>
                  <a:lnTo>
                    <a:pt x="8271920" y="2006"/>
                  </a:lnTo>
                  <a:lnTo>
                    <a:pt x="8280034" y="7477"/>
                  </a:lnTo>
                  <a:lnTo>
                    <a:pt x="8285505" y="15591"/>
                  </a:lnTo>
                  <a:lnTo>
                    <a:pt x="8287511" y="25526"/>
                  </a:lnTo>
                  <a:lnTo>
                    <a:pt x="8287511" y="587120"/>
                  </a:lnTo>
                  <a:lnTo>
                    <a:pt x="8285505" y="597056"/>
                  </a:lnTo>
                  <a:lnTo>
                    <a:pt x="8280034" y="605170"/>
                  </a:lnTo>
                  <a:lnTo>
                    <a:pt x="8271920" y="610641"/>
                  </a:lnTo>
                  <a:lnTo>
                    <a:pt x="8261984" y="612647"/>
                  </a:lnTo>
                  <a:lnTo>
                    <a:pt x="25526" y="612647"/>
                  </a:lnTo>
                  <a:lnTo>
                    <a:pt x="15591" y="610641"/>
                  </a:lnTo>
                  <a:lnTo>
                    <a:pt x="7477" y="605170"/>
                  </a:lnTo>
                  <a:lnTo>
                    <a:pt x="2006" y="597056"/>
                  </a:lnTo>
                  <a:lnTo>
                    <a:pt x="0" y="587120"/>
                  </a:lnTo>
                  <a:lnTo>
                    <a:pt x="0" y="2552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8243" y="2487168"/>
              <a:ext cx="8288020" cy="612775"/>
            </a:xfrm>
            <a:custGeom>
              <a:avLst/>
              <a:gdLst/>
              <a:ahLst/>
              <a:cxnLst/>
              <a:rect l="l" t="t" r="r" b="b"/>
              <a:pathLst>
                <a:path w="8288020" h="612775">
                  <a:moveTo>
                    <a:pt x="8261984" y="0"/>
                  </a:moveTo>
                  <a:lnTo>
                    <a:pt x="25526" y="0"/>
                  </a:lnTo>
                  <a:lnTo>
                    <a:pt x="15591" y="2006"/>
                  </a:lnTo>
                  <a:lnTo>
                    <a:pt x="7477" y="7477"/>
                  </a:lnTo>
                  <a:lnTo>
                    <a:pt x="2006" y="15591"/>
                  </a:lnTo>
                  <a:lnTo>
                    <a:pt x="0" y="25527"/>
                  </a:lnTo>
                  <a:lnTo>
                    <a:pt x="0" y="587121"/>
                  </a:lnTo>
                  <a:lnTo>
                    <a:pt x="2006" y="597056"/>
                  </a:lnTo>
                  <a:lnTo>
                    <a:pt x="7477" y="605170"/>
                  </a:lnTo>
                  <a:lnTo>
                    <a:pt x="15591" y="610641"/>
                  </a:lnTo>
                  <a:lnTo>
                    <a:pt x="25526" y="612648"/>
                  </a:lnTo>
                  <a:lnTo>
                    <a:pt x="8261984" y="612648"/>
                  </a:lnTo>
                  <a:lnTo>
                    <a:pt x="8271920" y="610641"/>
                  </a:lnTo>
                  <a:lnTo>
                    <a:pt x="8280034" y="605170"/>
                  </a:lnTo>
                  <a:lnTo>
                    <a:pt x="8285505" y="597056"/>
                  </a:lnTo>
                  <a:lnTo>
                    <a:pt x="8287511" y="587121"/>
                  </a:lnTo>
                  <a:lnTo>
                    <a:pt x="8287511" y="25527"/>
                  </a:lnTo>
                  <a:lnTo>
                    <a:pt x="8285505" y="15591"/>
                  </a:lnTo>
                  <a:lnTo>
                    <a:pt x="8280034" y="7477"/>
                  </a:lnTo>
                  <a:lnTo>
                    <a:pt x="8271920" y="2006"/>
                  </a:lnTo>
                  <a:lnTo>
                    <a:pt x="826198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8243" y="2487168"/>
              <a:ext cx="8288020" cy="612775"/>
            </a:xfrm>
            <a:custGeom>
              <a:avLst/>
              <a:gdLst/>
              <a:ahLst/>
              <a:cxnLst/>
              <a:rect l="l" t="t" r="r" b="b"/>
              <a:pathLst>
                <a:path w="8288020" h="612775">
                  <a:moveTo>
                    <a:pt x="0" y="25527"/>
                  </a:moveTo>
                  <a:lnTo>
                    <a:pt x="2006" y="15591"/>
                  </a:lnTo>
                  <a:lnTo>
                    <a:pt x="7477" y="7477"/>
                  </a:lnTo>
                  <a:lnTo>
                    <a:pt x="15591" y="2006"/>
                  </a:lnTo>
                  <a:lnTo>
                    <a:pt x="25526" y="0"/>
                  </a:lnTo>
                  <a:lnTo>
                    <a:pt x="8261984" y="0"/>
                  </a:lnTo>
                  <a:lnTo>
                    <a:pt x="8271920" y="2006"/>
                  </a:lnTo>
                  <a:lnTo>
                    <a:pt x="8280034" y="7477"/>
                  </a:lnTo>
                  <a:lnTo>
                    <a:pt x="8285505" y="15591"/>
                  </a:lnTo>
                  <a:lnTo>
                    <a:pt x="8287511" y="25527"/>
                  </a:lnTo>
                  <a:lnTo>
                    <a:pt x="8287511" y="587121"/>
                  </a:lnTo>
                  <a:lnTo>
                    <a:pt x="8285505" y="597056"/>
                  </a:lnTo>
                  <a:lnTo>
                    <a:pt x="8280034" y="605170"/>
                  </a:lnTo>
                  <a:lnTo>
                    <a:pt x="8271920" y="610641"/>
                  </a:lnTo>
                  <a:lnTo>
                    <a:pt x="8261984" y="612648"/>
                  </a:lnTo>
                  <a:lnTo>
                    <a:pt x="25526" y="612648"/>
                  </a:lnTo>
                  <a:lnTo>
                    <a:pt x="15591" y="610641"/>
                  </a:lnTo>
                  <a:lnTo>
                    <a:pt x="7477" y="605170"/>
                  </a:lnTo>
                  <a:lnTo>
                    <a:pt x="2006" y="597056"/>
                  </a:lnTo>
                  <a:lnTo>
                    <a:pt x="0" y="587121"/>
                  </a:lnTo>
                  <a:lnTo>
                    <a:pt x="0" y="2552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8243" y="3255263"/>
              <a:ext cx="8288020" cy="614680"/>
            </a:xfrm>
            <a:custGeom>
              <a:avLst/>
              <a:gdLst/>
              <a:ahLst/>
              <a:cxnLst/>
              <a:rect l="l" t="t" r="r" b="b"/>
              <a:pathLst>
                <a:path w="8288020" h="614679">
                  <a:moveTo>
                    <a:pt x="8261858" y="0"/>
                  </a:moveTo>
                  <a:lnTo>
                    <a:pt x="25590" y="0"/>
                  </a:lnTo>
                  <a:lnTo>
                    <a:pt x="15628" y="2008"/>
                  </a:lnTo>
                  <a:lnTo>
                    <a:pt x="7494" y="7493"/>
                  </a:lnTo>
                  <a:lnTo>
                    <a:pt x="2010" y="15644"/>
                  </a:lnTo>
                  <a:lnTo>
                    <a:pt x="0" y="25653"/>
                  </a:lnTo>
                  <a:lnTo>
                    <a:pt x="0" y="588518"/>
                  </a:lnTo>
                  <a:lnTo>
                    <a:pt x="2010" y="598527"/>
                  </a:lnTo>
                  <a:lnTo>
                    <a:pt x="7494" y="606679"/>
                  </a:lnTo>
                  <a:lnTo>
                    <a:pt x="15628" y="612163"/>
                  </a:lnTo>
                  <a:lnTo>
                    <a:pt x="25590" y="614172"/>
                  </a:lnTo>
                  <a:lnTo>
                    <a:pt x="8261858" y="614172"/>
                  </a:lnTo>
                  <a:lnTo>
                    <a:pt x="8271867" y="612163"/>
                  </a:lnTo>
                  <a:lnTo>
                    <a:pt x="8280018" y="606679"/>
                  </a:lnTo>
                  <a:lnTo>
                    <a:pt x="8285503" y="598527"/>
                  </a:lnTo>
                  <a:lnTo>
                    <a:pt x="8287511" y="588518"/>
                  </a:lnTo>
                  <a:lnTo>
                    <a:pt x="8287511" y="25653"/>
                  </a:lnTo>
                  <a:lnTo>
                    <a:pt x="8285503" y="15644"/>
                  </a:lnTo>
                  <a:lnTo>
                    <a:pt x="8280019" y="7492"/>
                  </a:lnTo>
                  <a:lnTo>
                    <a:pt x="8271867" y="2008"/>
                  </a:lnTo>
                  <a:lnTo>
                    <a:pt x="826185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8243" y="3255263"/>
              <a:ext cx="8288020" cy="614680"/>
            </a:xfrm>
            <a:custGeom>
              <a:avLst/>
              <a:gdLst/>
              <a:ahLst/>
              <a:cxnLst/>
              <a:rect l="l" t="t" r="r" b="b"/>
              <a:pathLst>
                <a:path w="8288020" h="614679">
                  <a:moveTo>
                    <a:pt x="0" y="25653"/>
                  </a:moveTo>
                  <a:lnTo>
                    <a:pt x="2010" y="15644"/>
                  </a:lnTo>
                  <a:lnTo>
                    <a:pt x="7494" y="7493"/>
                  </a:lnTo>
                  <a:lnTo>
                    <a:pt x="15628" y="2008"/>
                  </a:lnTo>
                  <a:lnTo>
                    <a:pt x="25590" y="0"/>
                  </a:lnTo>
                  <a:lnTo>
                    <a:pt x="8261858" y="0"/>
                  </a:lnTo>
                  <a:lnTo>
                    <a:pt x="8271867" y="2008"/>
                  </a:lnTo>
                  <a:lnTo>
                    <a:pt x="8280019" y="7492"/>
                  </a:lnTo>
                  <a:lnTo>
                    <a:pt x="8285503" y="15644"/>
                  </a:lnTo>
                  <a:lnTo>
                    <a:pt x="8287511" y="25653"/>
                  </a:lnTo>
                  <a:lnTo>
                    <a:pt x="8287511" y="588518"/>
                  </a:lnTo>
                  <a:lnTo>
                    <a:pt x="8285503" y="598527"/>
                  </a:lnTo>
                  <a:lnTo>
                    <a:pt x="8280018" y="606679"/>
                  </a:lnTo>
                  <a:lnTo>
                    <a:pt x="8271867" y="612163"/>
                  </a:lnTo>
                  <a:lnTo>
                    <a:pt x="8261858" y="614172"/>
                  </a:lnTo>
                  <a:lnTo>
                    <a:pt x="25590" y="614172"/>
                  </a:lnTo>
                  <a:lnTo>
                    <a:pt x="15628" y="612163"/>
                  </a:lnTo>
                  <a:lnTo>
                    <a:pt x="7494" y="606679"/>
                  </a:lnTo>
                  <a:lnTo>
                    <a:pt x="2010" y="598527"/>
                  </a:lnTo>
                  <a:lnTo>
                    <a:pt x="0" y="588518"/>
                  </a:lnTo>
                  <a:lnTo>
                    <a:pt x="0" y="2565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4908" y="1740789"/>
            <a:ext cx="7279005" cy="208089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5080" indent="-228600">
              <a:lnSpc>
                <a:spcPts val="1939"/>
              </a:lnSpc>
              <a:spcBef>
                <a:spcPts val="34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800" b="1" dirty="0">
                <a:latin typeface="Verdana"/>
                <a:cs typeface="Verdana"/>
              </a:rPr>
              <a:t>Used </a:t>
            </a:r>
            <a:r>
              <a:rPr sz="1800" b="1" spc="-5" dirty="0">
                <a:latin typeface="Verdana"/>
                <a:cs typeface="Verdana"/>
              </a:rPr>
              <a:t>to provide remote users access to resources </a:t>
            </a:r>
            <a:r>
              <a:rPr sz="1800" b="1" dirty="0">
                <a:latin typeface="Verdana"/>
                <a:cs typeface="Verdana"/>
              </a:rPr>
              <a:t>on a  </a:t>
            </a:r>
            <a:r>
              <a:rPr sz="1800" b="1" spc="-5" dirty="0">
                <a:latin typeface="Verdana"/>
                <a:cs typeface="Verdana"/>
              </a:rPr>
              <a:t>private network over </a:t>
            </a:r>
            <a:r>
              <a:rPr sz="1800" b="1" dirty="0">
                <a:latin typeface="Verdana"/>
                <a:cs typeface="Verdana"/>
              </a:rPr>
              <a:t>Dial-up or VPN</a:t>
            </a:r>
            <a:r>
              <a:rPr sz="1800" b="1" spc="5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services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699"/>
              </a:buClr>
              <a:buFont typeface="Verdana"/>
              <a:buChar char="•"/>
            </a:pPr>
            <a:endParaRPr sz="2350">
              <a:latin typeface="Verdana"/>
              <a:cs typeface="Verdana"/>
            </a:endParaRPr>
          </a:p>
          <a:p>
            <a:pPr marL="318770" indent="-30670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318770" algn="l"/>
                <a:tab pos="319405" algn="l"/>
              </a:tabLst>
            </a:pPr>
            <a:r>
              <a:rPr sz="1800" b="1" dirty="0">
                <a:latin typeface="Verdana"/>
                <a:cs typeface="Verdana"/>
              </a:rPr>
              <a:t>Can </a:t>
            </a:r>
            <a:r>
              <a:rPr sz="1800" b="1" spc="-5" dirty="0">
                <a:latin typeface="Verdana"/>
                <a:cs typeface="Verdana"/>
              </a:rPr>
              <a:t>be used to provide NAT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services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</a:pPr>
            <a:endParaRPr sz="2600">
              <a:latin typeface="Verdana"/>
              <a:cs typeface="Verdana"/>
            </a:endParaRPr>
          </a:p>
          <a:p>
            <a:pPr marL="241300" marR="73025" indent="-228600">
              <a:lnSpc>
                <a:spcPts val="1939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800" b="1" dirty="0">
                <a:latin typeface="Verdana"/>
                <a:cs typeface="Verdana"/>
              </a:rPr>
              <a:t>Can </a:t>
            </a:r>
            <a:r>
              <a:rPr sz="1800" b="1" spc="-5" dirty="0">
                <a:latin typeface="Verdana"/>
                <a:cs typeface="Verdana"/>
              </a:rPr>
              <a:t>provide LAN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WAN routing services to connect  network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segments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449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Network Authentication </a:t>
            </a:r>
            <a:r>
              <a:rPr dirty="0"/>
              <a:t>and</a:t>
            </a:r>
            <a:r>
              <a:rPr spc="65" dirty="0"/>
              <a:t> </a:t>
            </a:r>
            <a:r>
              <a:rPr spc="-5" dirty="0"/>
              <a:t>Authorization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7929" y="938593"/>
            <a:ext cx="8764905" cy="5186680"/>
            <a:chOff x="197929" y="938593"/>
            <a:chExt cx="8764905" cy="5186680"/>
          </a:xfrm>
        </p:grpSpPr>
        <p:sp>
          <p:nvSpPr>
            <p:cNvPr id="4" name="object 4"/>
            <p:cNvSpPr/>
            <p:nvPr/>
          </p:nvSpPr>
          <p:spPr>
            <a:xfrm>
              <a:off x="202692" y="943355"/>
              <a:ext cx="8755380" cy="5177155"/>
            </a:xfrm>
            <a:custGeom>
              <a:avLst/>
              <a:gdLst/>
              <a:ahLst/>
              <a:cxnLst/>
              <a:rect l="l" t="t" r="r" b="b"/>
              <a:pathLst>
                <a:path w="8755380" h="5177155">
                  <a:moveTo>
                    <a:pt x="8539607" y="0"/>
                  </a:moveTo>
                  <a:lnTo>
                    <a:pt x="215722" y="0"/>
                  </a:lnTo>
                  <a:lnTo>
                    <a:pt x="166259" y="5694"/>
                  </a:lnTo>
                  <a:lnTo>
                    <a:pt x="120853" y="21916"/>
                  </a:lnTo>
                  <a:lnTo>
                    <a:pt x="80799" y="47376"/>
                  </a:lnTo>
                  <a:lnTo>
                    <a:pt x="47392" y="80782"/>
                  </a:lnTo>
                  <a:lnTo>
                    <a:pt x="21926" y="120844"/>
                  </a:lnTo>
                  <a:lnTo>
                    <a:pt x="5697" y="166271"/>
                  </a:lnTo>
                  <a:lnTo>
                    <a:pt x="0" y="215773"/>
                  </a:lnTo>
                  <a:lnTo>
                    <a:pt x="0" y="4961305"/>
                  </a:lnTo>
                  <a:lnTo>
                    <a:pt x="5697" y="5010768"/>
                  </a:lnTo>
                  <a:lnTo>
                    <a:pt x="21926" y="5056174"/>
                  </a:lnTo>
                  <a:lnTo>
                    <a:pt x="47392" y="5096228"/>
                  </a:lnTo>
                  <a:lnTo>
                    <a:pt x="80799" y="5129635"/>
                  </a:lnTo>
                  <a:lnTo>
                    <a:pt x="120853" y="5155101"/>
                  </a:lnTo>
                  <a:lnTo>
                    <a:pt x="166259" y="5171330"/>
                  </a:lnTo>
                  <a:lnTo>
                    <a:pt x="215722" y="5177028"/>
                  </a:lnTo>
                  <a:lnTo>
                    <a:pt x="8539607" y="5177028"/>
                  </a:lnTo>
                  <a:lnTo>
                    <a:pt x="8589108" y="5171330"/>
                  </a:lnTo>
                  <a:lnTo>
                    <a:pt x="8634535" y="5155101"/>
                  </a:lnTo>
                  <a:lnTo>
                    <a:pt x="8674597" y="5129635"/>
                  </a:lnTo>
                  <a:lnTo>
                    <a:pt x="8708003" y="5096228"/>
                  </a:lnTo>
                  <a:lnTo>
                    <a:pt x="8733463" y="5056174"/>
                  </a:lnTo>
                  <a:lnTo>
                    <a:pt x="8749685" y="5010768"/>
                  </a:lnTo>
                  <a:lnTo>
                    <a:pt x="8755380" y="4961305"/>
                  </a:lnTo>
                  <a:lnTo>
                    <a:pt x="8755380" y="215773"/>
                  </a:lnTo>
                  <a:lnTo>
                    <a:pt x="8749685" y="166271"/>
                  </a:lnTo>
                  <a:lnTo>
                    <a:pt x="8733463" y="120844"/>
                  </a:lnTo>
                  <a:lnTo>
                    <a:pt x="8708003" y="80782"/>
                  </a:lnTo>
                  <a:lnTo>
                    <a:pt x="8674597" y="47376"/>
                  </a:lnTo>
                  <a:lnTo>
                    <a:pt x="8634535" y="21916"/>
                  </a:lnTo>
                  <a:lnTo>
                    <a:pt x="8589108" y="5694"/>
                  </a:lnTo>
                  <a:lnTo>
                    <a:pt x="8539607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2692" y="943355"/>
              <a:ext cx="8755380" cy="5177155"/>
            </a:xfrm>
            <a:custGeom>
              <a:avLst/>
              <a:gdLst/>
              <a:ahLst/>
              <a:cxnLst/>
              <a:rect l="l" t="t" r="r" b="b"/>
              <a:pathLst>
                <a:path w="8755380" h="5177155">
                  <a:moveTo>
                    <a:pt x="0" y="215773"/>
                  </a:moveTo>
                  <a:lnTo>
                    <a:pt x="5697" y="166271"/>
                  </a:lnTo>
                  <a:lnTo>
                    <a:pt x="21926" y="120844"/>
                  </a:lnTo>
                  <a:lnTo>
                    <a:pt x="47392" y="80782"/>
                  </a:lnTo>
                  <a:lnTo>
                    <a:pt x="80799" y="47376"/>
                  </a:lnTo>
                  <a:lnTo>
                    <a:pt x="120853" y="21916"/>
                  </a:lnTo>
                  <a:lnTo>
                    <a:pt x="166259" y="5694"/>
                  </a:lnTo>
                  <a:lnTo>
                    <a:pt x="215722" y="0"/>
                  </a:lnTo>
                  <a:lnTo>
                    <a:pt x="8539607" y="0"/>
                  </a:lnTo>
                  <a:lnTo>
                    <a:pt x="8589108" y="5694"/>
                  </a:lnTo>
                  <a:lnTo>
                    <a:pt x="8634535" y="21916"/>
                  </a:lnTo>
                  <a:lnTo>
                    <a:pt x="8674597" y="47376"/>
                  </a:lnTo>
                  <a:lnTo>
                    <a:pt x="8708003" y="80782"/>
                  </a:lnTo>
                  <a:lnTo>
                    <a:pt x="8733463" y="120844"/>
                  </a:lnTo>
                  <a:lnTo>
                    <a:pt x="8749685" y="166271"/>
                  </a:lnTo>
                  <a:lnTo>
                    <a:pt x="8755380" y="215773"/>
                  </a:lnTo>
                  <a:lnTo>
                    <a:pt x="8755380" y="4961305"/>
                  </a:lnTo>
                  <a:lnTo>
                    <a:pt x="8749685" y="5010768"/>
                  </a:lnTo>
                  <a:lnTo>
                    <a:pt x="8733463" y="5056174"/>
                  </a:lnTo>
                  <a:lnTo>
                    <a:pt x="8708003" y="5096228"/>
                  </a:lnTo>
                  <a:lnTo>
                    <a:pt x="8674597" y="5129635"/>
                  </a:lnTo>
                  <a:lnTo>
                    <a:pt x="8634535" y="5155101"/>
                  </a:lnTo>
                  <a:lnTo>
                    <a:pt x="8589108" y="5171330"/>
                  </a:lnTo>
                  <a:lnTo>
                    <a:pt x="8539607" y="5177028"/>
                  </a:lnTo>
                  <a:lnTo>
                    <a:pt x="215722" y="5177028"/>
                  </a:lnTo>
                  <a:lnTo>
                    <a:pt x="166259" y="5171330"/>
                  </a:lnTo>
                  <a:lnTo>
                    <a:pt x="120853" y="5155101"/>
                  </a:lnTo>
                  <a:lnTo>
                    <a:pt x="80799" y="5129635"/>
                  </a:lnTo>
                  <a:lnTo>
                    <a:pt x="47392" y="5096228"/>
                  </a:lnTo>
                  <a:lnTo>
                    <a:pt x="21926" y="5056174"/>
                  </a:lnTo>
                  <a:lnTo>
                    <a:pt x="5697" y="5010768"/>
                  </a:lnTo>
                  <a:lnTo>
                    <a:pt x="0" y="4961305"/>
                  </a:lnTo>
                  <a:lnTo>
                    <a:pt x="0" y="21577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3964" y="1772411"/>
              <a:ext cx="8227059" cy="571500"/>
            </a:xfrm>
            <a:custGeom>
              <a:avLst/>
              <a:gdLst/>
              <a:ahLst/>
              <a:cxnLst/>
              <a:rect l="l" t="t" r="r" b="b"/>
              <a:pathLst>
                <a:path w="8227059" h="571500">
                  <a:moveTo>
                    <a:pt x="8202676" y="0"/>
                  </a:moveTo>
                  <a:lnTo>
                    <a:pt x="23812" y="0"/>
                  </a:lnTo>
                  <a:lnTo>
                    <a:pt x="14546" y="1873"/>
                  </a:lnTo>
                  <a:lnTo>
                    <a:pt x="6977" y="6984"/>
                  </a:lnTo>
                  <a:lnTo>
                    <a:pt x="1872" y="14573"/>
                  </a:lnTo>
                  <a:lnTo>
                    <a:pt x="0" y="23875"/>
                  </a:lnTo>
                  <a:lnTo>
                    <a:pt x="0" y="547624"/>
                  </a:lnTo>
                  <a:lnTo>
                    <a:pt x="1872" y="556926"/>
                  </a:lnTo>
                  <a:lnTo>
                    <a:pt x="6977" y="564515"/>
                  </a:lnTo>
                  <a:lnTo>
                    <a:pt x="14546" y="569626"/>
                  </a:lnTo>
                  <a:lnTo>
                    <a:pt x="23812" y="571500"/>
                  </a:lnTo>
                  <a:lnTo>
                    <a:pt x="8202676" y="571500"/>
                  </a:lnTo>
                  <a:lnTo>
                    <a:pt x="8211978" y="569626"/>
                  </a:lnTo>
                  <a:lnTo>
                    <a:pt x="8219566" y="564515"/>
                  </a:lnTo>
                  <a:lnTo>
                    <a:pt x="8224678" y="556926"/>
                  </a:lnTo>
                  <a:lnTo>
                    <a:pt x="8226552" y="547624"/>
                  </a:lnTo>
                  <a:lnTo>
                    <a:pt x="8226552" y="23875"/>
                  </a:lnTo>
                  <a:lnTo>
                    <a:pt x="8224678" y="14573"/>
                  </a:lnTo>
                  <a:lnTo>
                    <a:pt x="8219566" y="6984"/>
                  </a:lnTo>
                  <a:lnTo>
                    <a:pt x="8211978" y="1873"/>
                  </a:lnTo>
                  <a:lnTo>
                    <a:pt x="820267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3964" y="1772411"/>
              <a:ext cx="8227059" cy="571500"/>
            </a:xfrm>
            <a:custGeom>
              <a:avLst/>
              <a:gdLst/>
              <a:ahLst/>
              <a:cxnLst/>
              <a:rect l="l" t="t" r="r" b="b"/>
              <a:pathLst>
                <a:path w="8227059" h="571500">
                  <a:moveTo>
                    <a:pt x="0" y="23875"/>
                  </a:moveTo>
                  <a:lnTo>
                    <a:pt x="1872" y="14573"/>
                  </a:lnTo>
                  <a:lnTo>
                    <a:pt x="6977" y="6984"/>
                  </a:lnTo>
                  <a:lnTo>
                    <a:pt x="14546" y="1873"/>
                  </a:lnTo>
                  <a:lnTo>
                    <a:pt x="23812" y="0"/>
                  </a:lnTo>
                  <a:lnTo>
                    <a:pt x="8202676" y="0"/>
                  </a:lnTo>
                  <a:lnTo>
                    <a:pt x="8211978" y="1873"/>
                  </a:lnTo>
                  <a:lnTo>
                    <a:pt x="8219566" y="6984"/>
                  </a:lnTo>
                  <a:lnTo>
                    <a:pt x="8224678" y="14573"/>
                  </a:lnTo>
                  <a:lnTo>
                    <a:pt x="8226552" y="23875"/>
                  </a:lnTo>
                  <a:lnTo>
                    <a:pt x="8226552" y="547624"/>
                  </a:lnTo>
                  <a:lnTo>
                    <a:pt x="8224678" y="556926"/>
                  </a:lnTo>
                  <a:lnTo>
                    <a:pt x="8219566" y="564515"/>
                  </a:lnTo>
                  <a:lnTo>
                    <a:pt x="8211978" y="569626"/>
                  </a:lnTo>
                  <a:lnTo>
                    <a:pt x="8202676" y="571500"/>
                  </a:lnTo>
                  <a:lnTo>
                    <a:pt x="23812" y="571500"/>
                  </a:lnTo>
                  <a:lnTo>
                    <a:pt x="14546" y="569626"/>
                  </a:lnTo>
                  <a:lnTo>
                    <a:pt x="6977" y="564515"/>
                  </a:lnTo>
                  <a:lnTo>
                    <a:pt x="1872" y="556926"/>
                  </a:lnTo>
                  <a:lnTo>
                    <a:pt x="0" y="547624"/>
                  </a:lnTo>
                  <a:lnTo>
                    <a:pt x="0" y="2387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0248" y="2493263"/>
              <a:ext cx="8227059" cy="1019810"/>
            </a:xfrm>
            <a:custGeom>
              <a:avLst/>
              <a:gdLst/>
              <a:ahLst/>
              <a:cxnLst/>
              <a:rect l="l" t="t" r="r" b="b"/>
              <a:pathLst>
                <a:path w="8227059" h="1019810">
                  <a:moveTo>
                    <a:pt x="8184007" y="0"/>
                  </a:moveTo>
                  <a:lnTo>
                    <a:pt x="42481" y="0"/>
                  </a:lnTo>
                  <a:lnTo>
                    <a:pt x="25947" y="3343"/>
                  </a:lnTo>
                  <a:lnTo>
                    <a:pt x="12444" y="12461"/>
                  </a:lnTo>
                  <a:lnTo>
                    <a:pt x="3339" y="25985"/>
                  </a:lnTo>
                  <a:lnTo>
                    <a:pt x="0" y="42545"/>
                  </a:lnTo>
                  <a:lnTo>
                    <a:pt x="0" y="977011"/>
                  </a:lnTo>
                  <a:lnTo>
                    <a:pt x="3339" y="993570"/>
                  </a:lnTo>
                  <a:lnTo>
                    <a:pt x="12444" y="1007094"/>
                  </a:lnTo>
                  <a:lnTo>
                    <a:pt x="25947" y="1016212"/>
                  </a:lnTo>
                  <a:lnTo>
                    <a:pt x="42481" y="1019556"/>
                  </a:lnTo>
                  <a:lnTo>
                    <a:pt x="8184007" y="1019556"/>
                  </a:lnTo>
                  <a:lnTo>
                    <a:pt x="8200566" y="1016212"/>
                  </a:lnTo>
                  <a:lnTo>
                    <a:pt x="8214090" y="1007094"/>
                  </a:lnTo>
                  <a:lnTo>
                    <a:pt x="8223208" y="993570"/>
                  </a:lnTo>
                  <a:lnTo>
                    <a:pt x="8226552" y="977011"/>
                  </a:lnTo>
                  <a:lnTo>
                    <a:pt x="8226552" y="42545"/>
                  </a:lnTo>
                  <a:lnTo>
                    <a:pt x="8223208" y="25985"/>
                  </a:lnTo>
                  <a:lnTo>
                    <a:pt x="8214090" y="12461"/>
                  </a:lnTo>
                  <a:lnTo>
                    <a:pt x="8200566" y="3343"/>
                  </a:lnTo>
                  <a:lnTo>
                    <a:pt x="8184007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0248" y="2493263"/>
              <a:ext cx="8227059" cy="1019810"/>
            </a:xfrm>
            <a:custGeom>
              <a:avLst/>
              <a:gdLst/>
              <a:ahLst/>
              <a:cxnLst/>
              <a:rect l="l" t="t" r="r" b="b"/>
              <a:pathLst>
                <a:path w="8227059" h="1019810">
                  <a:moveTo>
                    <a:pt x="0" y="42545"/>
                  </a:moveTo>
                  <a:lnTo>
                    <a:pt x="3339" y="25985"/>
                  </a:lnTo>
                  <a:lnTo>
                    <a:pt x="12444" y="12461"/>
                  </a:lnTo>
                  <a:lnTo>
                    <a:pt x="25947" y="3343"/>
                  </a:lnTo>
                  <a:lnTo>
                    <a:pt x="42481" y="0"/>
                  </a:lnTo>
                  <a:lnTo>
                    <a:pt x="8184007" y="0"/>
                  </a:lnTo>
                  <a:lnTo>
                    <a:pt x="8200566" y="3343"/>
                  </a:lnTo>
                  <a:lnTo>
                    <a:pt x="8214090" y="12461"/>
                  </a:lnTo>
                  <a:lnTo>
                    <a:pt x="8223208" y="25985"/>
                  </a:lnTo>
                  <a:lnTo>
                    <a:pt x="8226552" y="42545"/>
                  </a:lnTo>
                  <a:lnTo>
                    <a:pt x="8226552" y="977011"/>
                  </a:lnTo>
                  <a:lnTo>
                    <a:pt x="8223208" y="993570"/>
                  </a:lnTo>
                  <a:lnTo>
                    <a:pt x="8214090" y="1007094"/>
                  </a:lnTo>
                  <a:lnTo>
                    <a:pt x="8200566" y="1016212"/>
                  </a:lnTo>
                  <a:lnTo>
                    <a:pt x="8184007" y="1019556"/>
                  </a:lnTo>
                  <a:lnTo>
                    <a:pt x="42481" y="1019556"/>
                  </a:lnTo>
                  <a:lnTo>
                    <a:pt x="25947" y="1016212"/>
                  </a:lnTo>
                  <a:lnTo>
                    <a:pt x="12444" y="1007094"/>
                  </a:lnTo>
                  <a:lnTo>
                    <a:pt x="3339" y="993570"/>
                  </a:lnTo>
                  <a:lnTo>
                    <a:pt x="0" y="977011"/>
                  </a:lnTo>
                  <a:lnTo>
                    <a:pt x="0" y="4254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00544" y="1434083"/>
              <a:ext cx="1051559" cy="9768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17334" y="1505076"/>
              <a:ext cx="459740" cy="193675"/>
            </a:xfrm>
            <a:custGeom>
              <a:avLst/>
              <a:gdLst/>
              <a:ahLst/>
              <a:cxnLst/>
              <a:rect l="l" t="t" r="r" b="b"/>
              <a:pathLst>
                <a:path w="459740" h="193675">
                  <a:moveTo>
                    <a:pt x="372789" y="166024"/>
                  </a:moveTo>
                  <a:lnTo>
                    <a:pt x="362712" y="193167"/>
                  </a:lnTo>
                  <a:lnTo>
                    <a:pt x="459232" y="182752"/>
                  </a:lnTo>
                  <a:lnTo>
                    <a:pt x="448321" y="171069"/>
                  </a:lnTo>
                  <a:lnTo>
                    <a:pt x="386334" y="171069"/>
                  </a:lnTo>
                  <a:lnTo>
                    <a:pt x="372789" y="166024"/>
                  </a:lnTo>
                  <a:close/>
                </a:path>
                <a:path w="459740" h="193675">
                  <a:moveTo>
                    <a:pt x="382889" y="138823"/>
                  </a:moveTo>
                  <a:lnTo>
                    <a:pt x="372789" y="166024"/>
                  </a:lnTo>
                  <a:lnTo>
                    <a:pt x="386334" y="171069"/>
                  </a:lnTo>
                  <a:lnTo>
                    <a:pt x="396494" y="143890"/>
                  </a:lnTo>
                  <a:lnTo>
                    <a:pt x="382889" y="138823"/>
                  </a:lnTo>
                  <a:close/>
                </a:path>
                <a:path w="459740" h="193675">
                  <a:moveTo>
                    <a:pt x="392938" y="111760"/>
                  </a:moveTo>
                  <a:lnTo>
                    <a:pt x="382889" y="138823"/>
                  </a:lnTo>
                  <a:lnTo>
                    <a:pt x="396494" y="143890"/>
                  </a:lnTo>
                  <a:lnTo>
                    <a:pt x="386334" y="171069"/>
                  </a:lnTo>
                  <a:lnTo>
                    <a:pt x="448321" y="171069"/>
                  </a:lnTo>
                  <a:lnTo>
                    <a:pt x="392938" y="111760"/>
                  </a:lnTo>
                  <a:close/>
                </a:path>
                <a:path w="459740" h="193675">
                  <a:moveTo>
                    <a:pt x="10160" y="0"/>
                  </a:moveTo>
                  <a:lnTo>
                    <a:pt x="0" y="27177"/>
                  </a:lnTo>
                  <a:lnTo>
                    <a:pt x="372789" y="166024"/>
                  </a:lnTo>
                  <a:lnTo>
                    <a:pt x="382889" y="138823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99276" y="1086611"/>
              <a:ext cx="746760" cy="8046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65008" y="1932431"/>
              <a:ext cx="737616" cy="3566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3964" y="4413503"/>
              <a:ext cx="8227059" cy="576580"/>
            </a:xfrm>
            <a:custGeom>
              <a:avLst/>
              <a:gdLst/>
              <a:ahLst/>
              <a:cxnLst/>
              <a:rect l="l" t="t" r="r" b="b"/>
              <a:pathLst>
                <a:path w="8227059" h="576579">
                  <a:moveTo>
                    <a:pt x="8202549" y="0"/>
                  </a:moveTo>
                  <a:lnTo>
                    <a:pt x="24003" y="0"/>
                  </a:lnTo>
                  <a:lnTo>
                    <a:pt x="14658" y="1893"/>
                  </a:lnTo>
                  <a:lnTo>
                    <a:pt x="7029" y="7048"/>
                  </a:lnTo>
                  <a:lnTo>
                    <a:pt x="1885" y="14680"/>
                  </a:lnTo>
                  <a:lnTo>
                    <a:pt x="0" y="24003"/>
                  </a:lnTo>
                  <a:lnTo>
                    <a:pt x="0" y="552069"/>
                  </a:lnTo>
                  <a:lnTo>
                    <a:pt x="1885" y="561391"/>
                  </a:lnTo>
                  <a:lnTo>
                    <a:pt x="7029" y="569023"/>
                  </a:lnTo>
                  <a:lnTo>
                    <a:pt x="14658" y="574178"/>
                  </a:lnTo>
                  <a:lnTo>
                    <a:pt x="24003" y="576072"/>
                  </a:lnTo>
                  <a:lnTo>
                    <a:pt x="8202549" y="576072"/>
                  </a:lnTo>
                  <a:lnTo>
                    <a:pt x="8211871" y="574178"/>
                  </a:lnTo>
                  <a:lnTo>
                    <a:pt x="8219503" y="569023"/>
                  </a:lnTo>
                  <a:lnTo>
                    <a:pt x="8224658" y="561391"/>
                  </a:lnTo>
                  <a:lnTo>
                    <a:pt x="8226552" y="552069"/>
                  </a:lnTo>
                  <a:lnTo>
                    <a:pt x="8226552" y="24003"/>
                  </a:lnTo>
                  <a:lnTo>
                    <a:pt x="8224658" y="14680"/>
                  </a:lnTo>
                  <a:lnTo>
                    <a:pt x="8219503" y="7048"/>
                  </a:lnTo>
                  <a:lnTo>
                    <a:pt x="8211871" y="1893"/>
                  </a:lnTo>
                  <a:lnTo>
                    <a:pt x="820254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3964" y="4413503"/>
              <a:ext cx="8227059" cy="576580"/>
            </a:xfrm>
            <a:custGeom>
              <a:avLst/>
              <a:gdLst/>
              <a:ahLst/>
              <a:cxnLst/>
              <a:rect l="l" t="t" r="r" b="b"/>
              <a:pathLst>
                <a:path w="8227059" h="576579">
                  <a:moveTo>
                    <a:pt x="0" y="24003"/>
                  </a:moveTo>
                  <a:lnTo>
                    <a:pt x="1885" y="14680"/>
                  </a:lnTo>
                  <a:lnTo>
                    <a:pt x="7029" y="7048"/>
                  </a:lnTo>
                  <a:lnTo>
                    <a:pt x="14658" y="1893"/>
                  </a:lnTo>
                  <a:lnTo>
                    <a:pt x="24003" y="0"/>
                  </a:lnTo>
                  <a:lnTo>
                    <a:pt x="8202549" y="0"/>
                  </a:lnTo>
                  <a:lnTo>
                    <a:pt x="8211871" y="1893"/>
                  </a:lnTo>
                  <a:lnTo>
                    <a:pt x="8219503" y="7048"/>
                  </a:lnTo>
                  <a:lnTo>
                    <a:pt x="8224658" y="14680"/>
                  </a:lnTo>
                  <a:lnTo>
                    <a:pt x="8226552" y="24003"/>
                  </a:lnTo>
                  <a:lnTo>
                    <a:pt x="8226552" y="552069"/>
                  </a:lnTo>
                  <a:lnTo>
                    <a:pt x="8224658" y="561391"/>
                  </a:lnTo>
                  <a:lnTo>
                    <a:pt x="8219503" y="569023"/>
                  </a:lnTo>
                  <a:lnTo>
                    <a:pt x="8211871" y="574178"/>
                  </a:lnTo>
                  <a:lnTo>
                    <a:pt x="8202549" y="576072"/>
                  </a:lnTo>
                  <a:lnTo>
                    <a:pt x="24003" y="576072"/>
                  </a:lnTo>
                  <a:lnTo>
                    <a:pt x="14658" y="574178"/>
                  </a:lnTo>
                  <a:lnTo>
                    <a:pt x="7029" y="569023"/>
                  </a:lnTo>
                  <a:lnTo>
                    <a:pt x="1885" y="561391"/>
                  </a:lnTo>
                  <a:lnTo>
                    <a:pt x="0" y="552069"/>
                  </a:lnTo>
                  <a:lnTo>
                    <a:pt x="0" y="2400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0916" y="5148071"/>
              <a:ext cx="8227059" cy="576580"/>
            </a:xfrm>
            <a:custGeom>
              <a:avLst/>
              <a:gdLst/>
              <a:ahLst/>
              <a:cxnLst/>
              <a:rect l="l" t="t" r="r" b="b"/>
              <a:pathLst>
                <a:path w="8227059" h="576579">
                  <a:moveTo>
                    <a:pt x="8202549" y="0"/>
                  </a:moveTo>
                  <a:lnTo>
                    <a:pt x="24003" y="0"/>
                  </a:lnTo>
                  <a:lnTo>
                    <a:pt x="14658" y="1893"/>
                  </a:lnTo>
                  <a:lnTo>
                    <a:pt x="7029" y="7048"/>
                  </a:lnTo>
                  <a:lnTo>
                    <a:pt x="1885" y="14680"/>
                  </a:lnTo>
                  <a:lnTo>
                    <a:pt x="0" y="24002"/>
                  </a:lnTo>
                  <a:lnTo>
                    <a:pt x="0" y="552068"/>
                  </a:lnTo>
                  <a:lnTo>
                    <a:pt x="1885" y="561413"/>
                  </a:lnTo>
                  <a:lnTo>
                    <a:pt x="7029" y="569042"/>
                  </a:lnTo>
                  <a:lnTo>
                    <a:pt x="14658" y="574186"/>
                  </a:lnTo>
                  <a:lnTo>
                    <a:pt x="24003" y="576071"/>
                  </a:lnTo>
                  <a:lnTo>
                    <a:pt x="8202549" y="576071"/>
                  </a:lnTo>
                  <a:lnTo>
                    <a:pt x="8211871" y="574186"/>
                  </a:lnTo>
                  <a:lnTo>
                    <a:pt x="8219503" y="569042"/>
                  </a:lnTo>
                  <a:lnTo>
                    <a:pt x="8224658" y="561413"/>
                  </a:lnTo>
                  <a:lnTo>
                    <a:pt x="8226552" y="552068"/>
                  </a:lnTo>
                  <a:lnTo>
                    <a:pt x="8226552" y="24002"/>
                  </a:lnTo>
                  <a:lnTo>
                    <a:pt x="8224658" y="14680"/>
                  </a:lnTo>
                  <a:lnTo>
                    <a:pt x="8219503" y="7048"/>
                  </a:lnTo>
                  <a:lnTo>
                    <a:pt x="8211871" y="1893"/>
                  </a:lnTo>
                  <a:lnTo>
                    <a:pt x="820254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0916" y="5148071"/>
              <a:ext cx="8227059" cy="576580"/>
            </a:xfrm>
            <a:custGeom>
              <a:avLst/>
              <a:gdLst/>
              <a:ahLst/>
              <a:cxnLst/>
              <a:rect l="l" t="t" r="r" b="b"/>
              <a:pathLst>
                <a:path w="8227059" h="576579">
                  <a:moveTo>
                    <a:pt x="0" y="24002"/>
                  </a:moveTo>
                  <a:lnTo>
                    <a:pt x="1885" y="14680"/>
                  </a:lnTo>
                  <a:lnTo>
                    <a:pt x="7029" y="7048"/>
                  </a:lnTo>
                  <a:lnTo>
                    <a:pt x="14658" y="1893"/>
                  </a:lnTo>
                  <a:lnTo>
                    <a:pt x="24003" y="0"/>
                  </a:lnTo>
                  <a:lnTo>
                    <a:pt x="8202549" y="0"/>
                  </a:lnTo>
                  <a:lnTo>
                    <a:pt x="8211871" y="1893"/>
                  </a:lnTo>
                  <a:lnTo>
                    <a:pt x="8219503" y="7048"/>
                  </a:lnTo>
                  <a:lnTo>
                    <a:pt x="8224658" y="14680"/>
                  </a:lnTo>
                  <a:lnTo>
                    <a:pt x="8226552" y="24002"/>
                  </a:lnTo>
                  <a:lnTo>
                    <a:pt x="8226552" y="552068"/>
                  </a:lnTo>
                  <a:lnTo>
                    <a:pt x="8224658" y="561413"/>
                  </a:lnTo>
                  <a:lnTo>
                    <a:pt x="8219503" y="569042"/>
                  </a:lnTo>
                  <a:lnTo>
                    <a:pt x="8211871" y="574186"/>
                  </a:lnTo>
                  <a:lnTo>
                    <a:pt x="8202549" y="576071"/>
                  </a:lnTo>
                  <a:lnTo>
                    <a:pt x="24003" y="576071"/>
                  </a:lnTo>
                  <a:lnTo>
                    <a:pt x="14658" y="574186"/>
                  </a:lnTo>
                  <a:lnTo>
                    <a:pt x="7029" y="569042"/>
                  </a:lnTo>
                  <a:lnTo>
                    <a:pt x="1885" y="561413"/>
                  </a:lnTo>
                  <a:lnTo>
                    <a:pt x="0" y="552068"/>
                  </a:lnTo>
                  <a:lnTo>
                    <a:pt x="0" y="2400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6153" y="1341246"/>
            <a:ext cx="8260080" cy="4231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Verdana"/>
                <a:cs typeface="Verdana"/>
              </a:rPr>
              <a:t>Authentication:</a:t>
            </a:r>
            <a:endParaRPr sz="2000">
              <a:latin typeface="Verdana"/>
              <a:cs typeface="Verdana"/>
            </a:endParaRPr>
          </a:p>
          <a:p>
            <a:pPr marL="385445" indent="-229235">
              <a:lnSpc>
                <a:spcPct val="100000"/>
              </a:lnSpc>
              <a:spcBef>
                <a:spcPts val="1935"/>
              </a:spcBef>
              <a:buClr>
                <a:srgbClr val="006699"/>
              </a:buClr>
              <a:buFont typeface="Verdana"/>
              <a:buChar char="•"/>
              <a:tabLst>
                <a:tab pos="386080" algn="l"/>
              </a:tabLst>
            </a:pPr>
            <a:r>
              <a:rPr sz="1800" b="1" spc="-5" dirty="0">
                <a:latin typeface="Verdana"/>
                <a:cs typeface="Verdana"/>
              </a:rPr>
              <a:t>Verifies the credentials </a:t>
            </a:r>
            <a:r>
              <a:rPr sz="1800" b="1" dirty="0">
                <a:latin typeface="Verdana"/>
                <a:cs typeface="Verdana"/>
              </a:rPr>
              <a:t>of a </a:t>
            </a:r>
            <a:r>
              <a:rPr sz="1800" b="1" spc="-5" dirty="0">
                <a:latin typeface="Verdana"/>
                <a:cs typeface="Verdana"/>
              </a:rPr>
              <a:t>connection</a:t>
            </a:r>
            <a:r>
              <a:rPr sz="1800" b="1" spc="3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attempt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699"/>
              </a:buClr>
              <a:buFont typeface="Verdana"/>
              <a:buChar char="•"/>
            </a:pPr>
            <a:endParaRPr sz="2950">
              <a:latin typeface="Verdana"/>
              <a:cs typeface="Verdana"/>
            </a:endParaRPr>
          </a:p>
          <a:p>
            <a:pPr marL="376555" marR="66675" indent="-228600">
              <a:lnSpc>
                <a:spcPts val="1939"/>
              </a:lnSpc>
              <a:buClr>
                <a:srgbClr val="006699"/>
              </a:buClr>
              <a:buFont typeface="Verdana"/>
              <a:buChar char="•"/>
              <a:tabLst>
                <a:tab pos="377190" algn="l"/>
              </a:tabLst>
            </a:pPr>
            <a:r>
              <a:rPr sz="1800" b="1" dirty="0">
                <a:latin typeface="Verdana"/>
                <a:cs typeface="Verdana"/>
              </a:rPr>
              <a:t>Uses an </a:t>
            </a:r>
            <a:r>
              <a:rPr sz="1800" b="1" spc="-5" dirty="0">
                <a:latin typeface="Verdana"/>
                <a:cs typeface="Verdana"/>
              </a:rPr>
              <a:t>authentication protocol </a:t>
            </a: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send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credentials from  the remote access client to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remote access server in  either plain </a:t>
            </a:r>
            <a:r>
              <a:rPr sz="1800" b="1" dirty="0">
                <a:latin typeface="Verdana"/>
                <a:cs typeface="Verdana"/>
              </a:rPr>
              <a:t>text or </a:t>
            </a:r>
            <a:r>
              <a:rPr sz="1800" b="1" spc="-5" dirty="0">
                <a:latin typeface="Verdana"/>
                <a:cs typeface="Verdana"/>
              </a:rPr>
              <a:t>encrypted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form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699"/>
              </a:buClr>
              <a:buFont typeface="Verdana"/>
              <a:buChar char="•"/>
            </a:pP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Authorization:</a:t>
            </a:r>
            <a:endParaRPr sz="2000">
              <a:latin typeface="Verdana"/>
              <a:cs typeface="Verdana"/>
            </a:endParaRPr>
          </a:p>
          <a:p>
            <a:pPr marL="385445" indent="-229235">
              <a:lnSpc>
                <a:spcPct val="100000"/>
              </a:lnSpc>
              <a:spcBef>
                <a:spcPts val="1855"/>
              </a:spcBef>
              <a:buClr>
                <a:srgbClr val="006699"/>
              </a:buClr>
              <a:buFont typeface="Verdana"/>
              <a:buChar char="•"/>
              <a:tabLst>
                <a:tab pos="386080" algn="l"/>
              </a:tabLst>
            </a:pPr>
            <a:r>
              <a:rPr sz="1800" b="1" spc="-5" dirty="0">
                <a:latin typeface="Verdana"/>
                <a:cs typeface="Verdana"/>
              </a:rPr>
              <a:t>Verifies that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connection attempt </a:t>
            </a:r>
            <a:r>
              <a:rPr sz="1800" b="1" dirty="0">
                <a:latin typeface="Verdana"/>
                <a:cs typeface="Verdana"/>
              </a:rPr>
              <a:t>is</a:t>
            </a:r>
            <a:r>
              <a:rPr sz="1800" b="1" spc="5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allowed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6699"/>
              </a:buClr>
              <a:buFont typeface="Verdana"/>
              <a:buChar char="•"/>
            </a:pPr>
            <a:endParaRPr sz="2950">
              <a:latin typeface="Verdana"/>
              <a:cs typeface="Verdana"/>
            </a:endParaRPr>
          </a:p>
          <a:p>
            <a:pPr marL="38227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382905" algn="l"/>
              </a:tabLst>
            </a:pPr>
            <a:r>
              <a:rPr sz="1800" b="1" dirty="0">
                <a:latin typeface="Verdana"/>
                <a:cs typeface="Verdana"/>
              </a:rPr>
              <a:t>Occurs after </a:t>
            </a:r>
            <a:r>
              <a:rPr sz="1800" b="1" spc="-5" dirty="0">
                <a:latin typeface="Verdana"/>
                <a:cs typeface="Verdana"/>
              </a:rPr>
              <a:t>successful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authentication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35952" y="3779520"/>
            <a:ext cx="1060703" cy="9570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048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Types </a:t>
            </a:r>
            <a:r>
              <a:rPr dirty="0"/>
              <a:t>of </a:t>
            </a:r>
            <a:r>
              <a:rPr spc="-5" dirty="0"/>
              <a:t>Authentication</a:t>
            </a:r>
            <a:r>
              <a:rPr spc="35" dirty="0"/>
              <a:t> </a:t>
            </a:r>
            <a:r>
              <a:rPr dirty="0"/>
              <a:t>Methods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137" y="884300"/>
          <a:ext cx="8470899" cy="54802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6030"/>
                <a:gridCol w="3493135"/>
                <a:gridCol w="3721734"/>
              </a:tblGrid>
              <a:tr h="374903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400" b="1" spc="-5" dirty="0">
                          <a:latin typeface="Verdana"/>
                          <a:cs typeface="Verdana"/>
                        </a:rPr>
                        <a:t>Protocol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400" b="1" spc="-5" dirty="0">
                          <a:latin typeface="Verdana"/>
                          <a:cs typeface="Verdana"/>
                        </a:rPr>
                        <a:t>Description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  <a:tc>
                  <a:txBody>
                    <a:bodyPr/>
                    <a:lstStyle/>
                    <a:p>
                      <a:pPr marL="11550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400" b="1" spc="-5" dirty="0">
                          <a:latin typeface="Verdana"/>
                          <a:cs typeface="Verdana"/>
                        </a:rPr>
                        <a:t>Security</a:t>
                      </a:r>
                      <a:r>
                        <a:rPr sz="1400" b="1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b="1" dirty="0">
                          <a:latin typeface="Verdana"/>
                          <a:cs typeface="Verdana"/>
                        </a:rPr>
                        <a:t>Level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PAP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67640">
                        <a:lnSpc>
                          <a:spcPts val="1510"/>
                        </a:lnSpc>
                        <a:spcBef>
                          <a:spcPts val="73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Uses plaintext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passwords. </a:t>
                      </a:r>
                      <a:r>
                        <a:rPr sz="1400" spc="-15" dirty="0">
                          <a:latin typeface="Verdana"/>
                          <a:cs typeface="Verdana"/>
                        </a:rPr>
                        <a:t>Typically 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used if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remote access client</a:t>
                      </a:r>
                      <a:r>
                        <a:rPr sz="14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and  remote access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server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cannot  negotiate a more secure form of 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validation.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67690">
                        <a:lnSpc>
                          <a:spcPts val="1510"/>
                        </a:lnSpc>
                        <a:spcBef>
                          <a:spcPts val="73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least secure authentication 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protocol.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Does not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protect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against  replay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attacks,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remote client  impersonation, or remote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server 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impersonation.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14843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CHAP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91440" marR="131445">
                        <a:lnSpc>
                          <a:spcPts val="1510"/>
                        </a:lnSpc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A challenge-response</a:t>
                      </a:r>
                      <a:r>
                        <a:rPr sz="14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authentication 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protocol that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uses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the industry- 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standard MD5 hashing scheme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to 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encrypt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4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response.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44145">
                        <a:lnSpc>
                          <a:spcPts val="1510"/>
                        </a:lnSpc>
                        <a:spcBef>
                          <a:spcPts val="74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An improvement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over PAP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in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that the  password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is not sent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over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PPP</a:t>
                      </a:r>
                      <a:r>
                        <a:rPr sz="14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link.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92075" marR="485775" algn="just">
                        <a:lnSpc>
                          <a:spcPts val="1510"/>
                        </a:lnSpc>
                        <a:spcBef>
                          <a:spcPts val="1180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Requires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a plaintext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version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the  password to validate the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challenge 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response.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Does not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protect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against  remote server</a:t>
                      </a:r>
                      <a:r>
                        <a:rPr sz="14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impersonation.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1527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MS-CHAPv2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55904">
                        <a:lnSpc>
                          <a:spcPts val="1510"/>
                        </a:lnSpc>
                        <a:spcBef>
                          <a:spcPts val="74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An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upgrade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MS-CHAP. Two-way 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authentication, also known as  mutual authentication, is</a:t>
                      </a:r>
                      <a:r>
                        <a:rPr sz="14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provided.  The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remote access client receives  verification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that the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remote access  server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that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it </a:t>
                      </a:r>
                      <a:r>
                        <a:rPr sz="1400" spc="5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dialing </a:t>
                      </a:r>
                      <a:r>
                        <a:rPr sz="1400" spc="5" dirty="0">
                          <a:latin typeface="Verdana"/>
                          <a:cs typeface="Verdana"/>
                        </a:rPr>
                        <a:t>in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1400" spc="-1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has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91440">
                        <a:lnSpc>
                          <a:spcPts val="1500"/>
                        </a:lnSpc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access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to the user’s</a:t>
                      </a:r>
                      <a:r>
                        <a:rPr sz="14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password.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Provides stronger security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than</a:t>
                      </a:r>
                      <a:r>
                        <a:rPr sz="14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45" dirty="0">
                          <a:latin typeface="Verdana"/>
                          <a:cs typeface="Verdana"/>
                        </a:rPr>
                        <a:t>CHAP.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950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EAP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11125">
                        <a:lnSpc>
                          <a:spcPts val="1510"/>
                        </a:lnSpc>
                        <a:spcBef>
                          <a:spcPts val="74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Allows for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arbitrary authentication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of  a remote access connection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through  the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use of authentication schemes,  known as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EAP</a:t>
                      </a:r>
                      <a:r>
                        <a:rPr sz="14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types.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89305" algn="just">
                        <a:lnSpc>
                          <a:spcPts val="1510"/>
                        </a:lnSpc>
                        <a:spcBef>
                          <a:spcPts val="1500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Offers the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strongest security</a:t>
                      </a:r>
                      <a:r>
                        <a:rPr sz="14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by 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providing 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most flexibility in  authentication</a:t>
                      </a:r>
                      <a:r>
                        <a:rPr sz="14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variations.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9050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4953"/>
            <a:ext cx="6708140" cy="7023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450"/>
              </a:lnSpc>
              <a:spcBef>
                <a:spcPts val="540"/>
              </a:spcBef>
            </a:pPr>
            <a:r>
              <a:rPr spc="-5" dirty="0"/>
              <a:t>Integrating </a:t>
            </a:r>
            <a:r>
              <a:rPr dirty="0"/>
              <a:t>DHCP </a:t>
            </a:r>
            <a:r>
              <a:rPr spc="-5" dirty="0"/>
              <a:t>Servers with Routing </a:t>
            </a:r>
            <a:r>
              <a:rPr dirty="0"/>
              <a:t>and  </a:t>
            </a:r>
            <a:r>
              <a:rPr spc="-5" dirty="0"/>
              <a:t>Remote Access</a:t>
            </a:r>
            <a:r>
              <a:rPr dirty="0"/>
              <a:t> </a:t>
            </a:r>
            <a:r>
              <a:rPr spc="-5" dirty="0"/>
              <a:t>Service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8368" y="938783"/>
            <a:ext cx="7842884" cy="5186680"/>
            <a:chOff x="658368" y="938783"/>
            <a:chExt cx="7842884" cy="5186680"/>
          </a:xfrm>
        </p:grpSpPr>
        <p:sp>
          <p:nvSpPr>
            <p:cNvPr id="4" name="object 4"/>
            <p:cNvSpPr/>
            <p:nvPr/>
          </p:nvSpPr>
          <p:spPr>
            <a:xfrm>
              <a:off x="662940" y="943355"/>
              <a:ext cx="7833359" cy="5177155"/>
            </a:xfrm>
            <a:custGeom>
              <a:avLst/>
              <a:gdLst/>
              <a:ahLst/>
              <a:cxnLst/>
              <a:rect l="l" t="t" r="r" b="b"/>
              <a:pathLst>
                <a:path w="7833359" h="5177155">
                  <a:moveTo>
                    <a:pt x="7617586" y="0"/>
                  </a:moveTo>
                  <a:lnTo>
                    <a:pt x="215722" y="0"/>
                  </a:lnTo>
                  <a:lnTo>
                    <a:pt x="166259" y="5700"/>
                  </a:lnTo>
                  <a:lnTo>
                    <a:pt x="120853" y="21938"/>
                  </a:lnTo>
                  <a:lnTo>
                    <a:pt x="80799" y="47416"/>
                  </a:lnTo>
                  <a:lnTo>
                    <a:pt x="47392" y="80835"/>
                  </a:lnTo>
                  <a:lnTo>
                    <a:pt x="21926" y="120899"/>
                  </a:lnTo>
                  <a:lnTo>
                    <a:pt x="5697" y="166311"/>
                  </a:lnTo>
                  <a:lnTo>
                    <a:pt x="0" y="215773"/>
                  </a:lnTo>
                  <a:lnTo>
                    <a:pt x="0" y="4961305"/>
                  </a:lnTo>
                  <a:lnTo>
                    <a:pt x="5697" y="5010768"/>
                  </a:lnTo>
                  <a:lnTo>
                    <a:pt x="21926" y="5056174"/>
                  </a:lnTo>
                  <a:lnTo>
                    <a:pt x="47392" y="5096228"/>
                  </a:lnTo>
                  <a:lnTo>
                    <a:pt x="80799" y="5129635"/>
                  </a:lnTo>
                  <a:lnTo>
                    <a:pt x="120853" y="5155101"/>
                  </a:lnTo>
                  <a:lnTo>
                    <a:pt x="166259" y="5171330"/>
                  </a:lnTo>
                  <a:lnTo>
                    <a:pt x="215722" y="5177028"/>
                  </a:lnTo>
                  <a:lnTo>
                    <a:pt x="7617586" y="5177028"/>
                  </a:lnTo>
                  <a:lnTo>
                    <a:pt x="7667048" y="5171330"/>
                  </a:lnTo>
                  <a:lnTo>
                    <a:pt x="7712460" y="5155101"/>
                  </a:lnTo>
                  <a:lnTo>
                    <a:pt x="7752524" y="5129635"/>
                  </a:lnTo>
                  <a:lnTo>
                    <a:pt x="7785943" y="5096228"/>
                  </a:lnTo>
                  <a:lnTo>
                    <a:pt x="7811421" y="5056174"/>
                  </a:lnTo>
                  <a:lnTo>
                    <a:pt x="7827659" y="5010768"/>
                  </a:lnTo>
                  <a:lnTo>
                    <a:pt x="7833359" y="4961305"/>
                  </a:lnTo>
                  <a:lnTo>
                    <a:pt x="7833359" y="215773"/>
                  </a:lnTo>
                  <a:lnTo>
                    <a:pt x="7827659" y="166311"/>
                  </a:lnTo>
                  <a:lnTo>
                    <a:pt x="7811421" y="120899"/>
                  </a:lnTo>
                  <a:lnTo>
                    <a:pt x="7785943" y="80835"/>
                  </a:lnTo>
                  <a:lnTo>
                    <a:pt x="7752524" y="47416"/>
                  </a:lnTo>
                  <a:lnTo>
                    <a:pt x="7712460" y="21938"/>
                  </a:lnTo>
                  <a:lnTo>
                    <a:pt x="7667048" y="5700"/>
                  </a:lnTo>
                  <a:lnTo>
                    <a:pt x="7617586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2940" y="943355"/>
              <a:ext cx="7833359" cy="5177155"/>
            </a:xfrm>
            <a:custGeom>
              <a:avLst/>
              <a:gdLst/>
              <a:ahLst/>
              <a:cxnLst/>
              <a:rect l="l" t="t" r="r" b="b"/>
              <a:pathLst>
                <a:path w="7833359" h="5177155">
                  <a:moveTo>
                    <a:pt x="0" y="215773"/>
                  </a:moveTo>
                  <a:lnTo>
                    <a:pt x="5697" y="166311"/>
                  </a:lnTo>
                  <a:lnTo>
                    <a:pt x="21926" y="120899"/>
                  </a:lnTo>
                  <a:lnTo>
                    <a:pt x="47392" y="80835"/>
                  </a:lnTo>
                  <a:lnTo>
                    <a:pt x="80799" y="47416"/>
                  </a:lnTo>
                  <a:lnTo>
                    <a:pt x="120853" y="21938"/>
                  </a:lnTo>
                  <a:lnTo>
                    <a:pt x="166259" y="5700"/>
                  </a:lnTo>
                  <a:lnTo>
                    <a:pt x="215722" y="0"/>
                  </a:lnTo>
                  <a:lnTo>
                    <a:pt x="7617586" y="0"/>
                  </a:lnTo>
                  <a:lnTo>
                    <a:pt x="7667048" y="5700"/>
                  </a:lnTo>
                  <a:lnTo>
                    <a:pt x="7712460" y="21938"/>
                  </a:lnTo>
                  <a:lnTo>
                    <a:pt x="7752524" y="47416"/>
                  </a:lnTo>
                  <a:lnTo>
                    <a:pt x="7785943" y="80835"/>
                  </a:lnTo>
                  <a:lnTo>
                    <a:pt x="7811421" y="120899"/>
                  </a:lnTo>
                  <a:lnTo>
                    <a:pt x="7827659" y="166311"/>
                  </a:lnTo>
                  <a:lnTo>
                    <a:pt x="7833359" y="215773"/>
                  </a:lnTo>
                  <a:lnTo>
                    <a:pt x="7833359" y="4961305"/>
                  </a:lnTo>
                  <a:lnTo>
                    <a:pt x="7827659" y="5010768"/>
                  </a:lnTo>
                  <a:lnTo>
                    <a:pt x="7811421" y="5056174"/>
                  </a:lnTo>
                  <a:lnTo>
                    <a:pt x="7785943" y="5096228"/>
                  </a:lnTo>
                  <a:lnTo>
                    <a:pt x="7752524" y="5129635"/>
                  </a:lnTo>
                  <a:lnTo>
                    <a:pt x="7712460" y="5155101"/>
                  </a:lnTo>
                  <a:lnTo>
                    <a:pt x="7667048" y="5171330"/>
                  </a:lnTo>
                  <a:lnTo>
                    <a:pt x="7617586" y="5177028"/>
                  </a:lnTo>
                  <a:lnTo>
                    <a:pt x="215722" y="5177028"/>
                  </a:lnTo>
                  <a:lnTo>
                    <a:pt x="166259" y="5171330"/>
                  </a:lnTo>
                  <a:lnTo>
                    <a:pt x="120853" y="5155101"/>
                  </a:lnTo>
                  <a:lnTo>
                    <a:pt x="80799" y="5129635"/>
                  </a:lnTo>
                  <a:lnTo>
                    <a:pt x="47392" y="5096228"/>
                  </a:lnTo>
                  <a:lnTo>
                    <a:pt x="21926" y="5056174"/>
                  </a:lnTo>
                  <a:lnTo>
                    <a:pt x="5697" y="5010768"/>
                  </a:lnTo>
                  <a:lnTo>
                    <a:pt x="0" y="4961305"/>
                  </a:lnTo>
                  <a:lnTo>
                    <a:pt x="0" y="21577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3168" y="1804416"/>
              <a:ext cx="7249795" cy="676910"/>
            </a:xfrm>
            <a:custGeom>
              <a:avLst/>
              <a:gdLst/>
              <a:ahLst/>
              <a:cxnLst/>
              <a:rect l="l" t="t" r="r" b="b"/>
              <a:pathLst>
                <a:path w="7249795" h="676910">
                  <a:moveTo>
                    <a:pt x="7221474" y="0"/>
                  </a:moveTo>
                  <a:lnTo>
                    <a:pt x="28193" y="0"/>
                  </a:lnTo>
                  <a:lnTo>
                    <a:pt x="17220" y="2208"/>
                  </a:lnTo>
                  <a:lnTo>
                    <a:pt x="8258" y="8239"/>
                  </a:lnTo>
                  <a:lnTo>
                    <a:pt x="2215" y="17198"/>
                  </a:lnTo>
                  <a:lnTo>
                    <a:pt x="0" y="28194"/>
                  </a:lnTo>
                  <a:lnTo>
                    <a:pt x="0" y="648462"/>
                  </a:lnTo>
                  <a:lnTo>
                    <a:pt x="2215" y="659457"/>
                  </a:lnTo>
                  <a:lnTo>
                    <a:pt x="8258" y="668416"/>
                  </a:lnTo>
                  <a:lnTo>
                    <a:pt x="17220" y="674447"/>
                  </a:lnTo>
                  <a:lnTo>
                    <a:pt x="28193" y="676656"/>
                  </a:lnTo>
                  <a:lnTo>
                    <a:pt x="7221474" y="676656"/>
                  </a:lnTo>
                  <a:lnTo>
                    <a:pt x="7232469" y="674447"/>
                  </a:lnTo>
                  <a:lnTo>
                    <a:pt x="7241428" y="668416"/>
                  </a:lnTo>
                  <a:lnTo>
                    <a:pt x="7247459" y="659457"/>
                  </a:lnTo>
                  <a:lnTo>
                    <a:pt x="7249667" y="648462"/>
                  </a:lnTo>
                  <a:lnTo>
                    <a:pt x="7249667" y="28194"/>
                  </a:lnTo>
                  <a:lnTo>
                    <a:pt x="7247459" y="17198"/>
                  </a:lnTo>
                  <a:lnTo>
                    <a:pt x="7241428" y="8239"/>
                  </a:lnTo>
                  <a:lnTo>
                    <a:pt x="7232469" y="2208"/>
                  </a:lnTo>
                  <a:lnTo>
                    <a:pt x="722147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3168" y="1804416"/>
              <a:ext cx="7249795" cy="676910"/>
            </a:xfrm>
            <a:custGeom>
              <a:avLst/>
              <a:gdLst/>
              <a:ahLst/>
              <a:cxnLst/>
              <a:rect l="l" t="t" r="r" b="b"/>
              <a:pathLst>
                <a:path w="7249795" h="676910">
                  <a:moveTo>
                    <a:pt x="0" y="28194"/>
                  </a:moveTo>
                  <a:lnTo>
                    <a:pt x="2215" y="17198"/>
                  </a:lnTo>
                  <a:lnTo>
                    <a:pt x="8258" y="8239"/>
                  </a:lnTo>
                  <a:lnTo>
                    <a:pt x="17220" y="2208"/>
                  </a:lnTo>
                  <a:lnTo>
                    <a:pt x="28193" y="0"/>
                  </a:lnTo>
                  <a:lnTo>
                    <a:pt x="7221474" y="0"/>
                  </a:lnTo>
                  <a:lnTo>
                    <a:pt x="7232469" y="2208"/>
                  </a:lnTo>
                  <a:lnTo>
                    <a:pt x="7241428" y="8239"/>
                  </a:lnTo>
                  <a:lnTo>
                    <a:pt x="7247459" y="17198"/>
                  </a:lnTo>
                  <a:lnTo>
                    <a:pt x="7249667" y="28194"/>
                  </a:lnTo>
                  <a:lnTo>
                    <a:pt x="7249667" y="648462"/>
                  </a:lnTo>
                  <a:lnTo>
                    <a:pt x="7247459" y="659457"/>
                  </a:lnTo>
                  <a:lnTo>
                    <a:pt x="7241428" y="668416"/>
                  </a:lnTo>
                  <a:lnTo>
                    <a:pt x="7232469" y="674447"/>
                  </a:lnTo>
                  <a:lnTo>
                    <a:pt x="7221474" y="676656"/>
                  </a:lnTo>
                  <a:lnTo>
                    <a:pt x="28193" y="676656"/>
                  </a:lnTo>
                  <a:lnTo>
                    <a:pt x="17220" y="674447"/>
                  </a:lnTo>
                  <a:lnTo>
                    <a:pt x="8258" y="668416"/>
                  </a:lnTo>
                  <a:lnTo>
                    <a:pt x="2215" y="659457"/>
                  </a:lnTo>
                  <a:lnTo>
                    <a:pt x="0" y="648462"/>
                  </a:lnTo>
                  <a:lnTo>
                    <a:pt x="0" y="2819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60120" y="2615183"/>
              <a:ext cx="7248525" cy="675640"/>
            </a:xfrm>
            <a:custGeom>
              <a:avLst/>
              <a:gdLst/>
              <a:ahLst/>
              <a:cxnLst/>
              <a:rect l="l" t="t" r="r" b="b"/>
              <a:pathLst>
                <a:path w="7248525" h="675639">
                  <a:moveTo>
                    <a:pt x="7219950" y="0"/>
                  </a:moveTo>
                  <a:lnTo>
                    <a:pt x="28130" y="0"/>
                  </a:lnTo>
                  <a:lnTo>
                    <a:pt x="17182" y="2208"/>
                  </a:lnTo>
                  <a:lnTo>
                    <a:pt x="8240" y="8239"/>
                  </a:lnTo>
                  <a:lnTo>
                    <a:pt x="2211" y="17198"/>
                  </a:lnTo>
                  <a:lnTo>
                    <a:pt x="0" y="28193"/>
                  </a:lnTo>
                  <a:lnTo>
                    <a:pt x="0" y="646938"/>
                  </a:lnTo>
                  <a:lnTo>
                    <a:pt x="2211" y="657933"/>
                  </a:lnTo>
                  <a:lnTo>
                    <a:pt x="8240" y="666892"/>
                  </a:lnTo>
                  <a:lnTo>
                    <a:pt x="17182" y="672923"/>
                  </a:lnTo>
                  <a:lnTo>
                    <a:pt x="28130" y="675131"/>
                  </a:lnTo>
                  <a:lnTo>
                    <a:pt x="7219950" y="675131"/>
                  </a:lnTo>
                  <a:lnTo>
                    <a:pt x="7230945" y="672923"/>
                  </a:lnTo>
                  <a:lnTo>
                    <a:pt x="7239904" y="666892"/>
                  </a:lnTo>
                  <a:lnTo>
                    <a:pt x="7245935" y="657933"/>
                  </a:lnTo>
                  <a:lnTo>
                    <a:pt x="7248144" y="646938"/>
                  </a:lnTo>
                  <a:lnTo>
                    <a:pt x="7248144" y="28193"/>
                  </a:lnTo>
                  <a:lnTo>
                    <a:pt x="7245935" y="17198"/>
                  </a:lnTo>
                  <a:lnTo>
                    <a:pt x="7239904" y="8239"/>
                  </a:lnTo>
                  <a:lnTo>
                    <a:pt x="7230945" y="2208"/>
                  </a:lnTo>
                  <a:lnTo>
                    <a:pt x="7219950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0120" y="2615183"/>
              <a:ext cx="7248525" cy="675640"/>
            </a:xfrm>
            <a:custGeom>
              <a:avLst/>
              <a:gdLst/>
              <a:ahLst/>
              <a:cxnLst/>
              <a:rect l="l" t="t" r="r" b="b"/>
              <a:pathLst>
                <a:path w="7248525" h="675639">
                  <a:moveTo>
                    <a:pt x="0" y="28193"/>
                  </a:moveTo>
                  <a:lnTo>
                    <a:pt x="2211" y="17198"/>
                  </a:lnTo>
                  <a:lnTo>
                    <a:pt x="8240" y="8239"/>
                  </a:lnTo>
                  <a:lnTo>
                    <a:pt x="17182" y="2208"/>
                  </a:lnTo>
                  <a:lnTo>
                    <a:pt x="28130" y="0"/>
                  </a:lnTo>
                  <a:lnTo>
                    <a:pt x="7219950" y="0"/>
                  </a:lnTo>
                  <a:lnTo>
                    <a:pt x="7230945" y="2208"/>
                  </a:lnTo>
                  <a:lnTo>
                    <a:pt x="7239904" y="8239"/>
                  </a:lnTo>
                  <a:lnTo>
                    <a:pt x="7245935" y="17198"/>
                  </a:lnTo>
                  <a:lnTo>
                    <a:pt x="7248144" y="28193"/>
                  </a:lnTo>
                  <a:lnTo>
                    <a:pt x="7248144" y="646938"/>
                  </a:lnTo>
                  <a:lnTo>
                    <a:pt x="7245935" y="657933"/>
                  </a:lnTo>
                  <a:lnTo>
                    <a:pt x="7239904" y="666892"/>
                  </a:lnTo>
                  <a:lnTo>
                    <a:pt x="7230945" y="672923"/>
                  </a:lnTo>
                  <a:lnTo>
                    <a:pt x="7219950" y="675131"/>
                  </a:lnTo>
                  <a:lnTo>
                    <a:pt x="28130" y="675131"/>
                  </a:lnTo>
                  <a:lnTo>
                    <a:pt x="17182" y="672923"/>
                  </a:lnTo>
                  <a:lnTo>
                    <a:pt x="8240" y="666892"/>
                  </a:lnTo>
                  <a:lnTo>
                    <a:pt x="2211" y="657933"/>
                  </a:lnTo>
                  <a:lnTo>
                    <a:pt x="0" y="646938"/>
                  </a:lnTo>
                  <a:lnTo>
                    <a:pt x="0" y="28193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63168" y="4180332"/>
              <a:ext cx="7249795" cy="675640"/>
            </a:xfrm>
            <a:custGeom>
              <a:avLst/>
              <a:gdLst/>
              <a:ahLst/>
              <a:cxnLst/>
              <a:rect l="l" t="t" r="r" b="b"/>
              <a:pathLst>
                <a:path w="7249795" h="675639">
                  <a:moveTo>
                    <a:pt x="7221474" y="0"/>
                  </a:moveTo>
                  <a:lnTo>
                    <a:pt x="28130" y="0"/>
                  </a:lnTo>
                  <a:lnTo>
                    <a:pt x="17182" y="2206"/>
                  </a:lnTo>
                  <a:lnTo>
                    <a:pt x="8240" y="8223"/>
                  </a:lnTo>
                  <a:lnTo>
                    <a:pt x="2211" y="17145"/>
                  </a:lnTo>
                  <a:lnTo>
                    <a:pt x="0" y="28067"/>
                  </a:lnTo>
                  <a:lnTo>
                    <a:pt x="0" y="647065"/>
                  </a:lnTo>
                  <a:lnTo>
                    <a:pt x="2211" y="657987"/>
                  </a:lnTo>
                  <a:lnTo>
                    <a:pt x="8240" y="666908"/>
                  </a:lnTo>
                  <a:lnTo>
                    <a:pt x="17182" y="672925"/>
                  </a:lnTo>
                  <a:lnTo>
                    <a:pt x="28130" y="675132"/>
                  </a:lnTo>
                  <a:lnTo>
                    <a:pt x="7221474" y="675132"/>
                  </a:lnTo>
                  <a:lnTo>
                    <a:pt x="7232469" y="672925"/>
                  </a:lnTo>
                  <a:lnTo>
                    <a:pt x="7241428" y="666908"/>
                  </a:lnTo>
                  <a:lnTo>
                    <a:pt x="7247459" y="657987"/>
                  </a:lnTo>
                  <a:lnTo>
                    <a:pt x="7249667" y="647065"/>
                  </a:lnTo>
                  <a:lnTo>
                    <a:pt x="7249667" y="28067"/>
                  </a:lnTo>
                  <a:lnTo>
                    <a:pt x="7247459" y="17145"/>
                  </a:lnTo>
                  <a:lnTo>
                    <a:pt x="7241428" y="8223"/>
                  </a:lnTo>
                  <a:lnTo>
                    <a:pt x="7232469" y="2206"/>
                  </a:lnTo>
                  <a:lnTo>
                    <a:pt x="722147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63168" y="4180332"/>
              <a:ext cx="7249795" cy="675640"/>
            </a:xfrm>
            <a:custGeom>
              <a:avLst/>
              <a:gdLst/>
              <a:ahLst/>
              <a:cxnLst/>
              <a:rect l="l" t="t" r="r" b="b"/>
              <a:pathLst>
                <a:path w="7249795" h="675639">
                  <a:moveTo>
                    <a:pt x="0" y="28067"/>
                  </a:moveTo>
                  <a:lnTo>
                    <a:pt x="2211" y="17145"/>
                  </a:lnTo>
                  <a:lnTo>
                    <a:pt x="8240" y="8223"/>
                  </a:lnTo>
                  <a:lnTo>
                    <a:pt x="17182" y="2206"/>
                  </a:lnTo>
                  <a:lnTo>
                    <a:pt x="28130" y="0"/>
                  </a:lnTo>
                  <a:lnTo>
                    <a:pt x="7221474" y="0"/>
                  </a:lnTo>
                  <a:lnTo>
                    <a:pt x="7232469" y="2206"/>
                  </a:lnTo>
                  <a:lnTo>
                    <a:pt x="7241428" y="8223"/>
                  </a:lnTo>
                  <a:lnTo>
                    <a:pt x="7247459" y="17145"/>
                  </a:lnTo>
                  <a:lnTo>
                    <a:pt x="7249667" y="28067"/>
                  </a:lnTo>
                  <a:lnTo>
                    <a:pt x="7249667" y="647065"/>
                  </a:lnTo>
                  <a:lnTo>
                    <a:pt x="7247459" y="657987"/>
                  </a:lnTo>
                  <a:lnTo>
                    <a:pt x="7241428" y="666908"/>
                  </a:lnTo>
                  <a:lnTo>
                    <a:pt x="7232469" y="672925"/>
                  </a:lnTo>
                  <a:lnTo>
                    <a:pt x="7221474" y="675132"/>
                  </a:lnTo>
                  <a:lnTo>
                    <a:pt x="28130" y="675132"/>
                  </a:lnTo>
                  <a:lnTo>
                    <a:pt x="17182" y="672925"/>
                  </a:lnTo>
                  <a:lnTo>
                    <a:pt x="8240" y="666908"/>
                  </a:lnTo>
                  <a:lnTo>
                    <a:pt x="2211" y="657987"/>
                  </a:lnTo>
                  <a:lnTo>
                    <a:pt x="0" y="647065"/>
                  </a:lnTo>
                  <a:lnTo>
                    <a:pt x="0" y="2806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60120" y="4992624"/>
              <a:ext cx="7248525" cy="676910"/>
            </a:xfrm>
            <a:custGeom>
              <a:avLst/>
              <a:gdLst/>
              <a:ahLst/>
              <a:cxnLst/>
              <a:rect l="l" t="t" r="r" b="b"/>
              <a:pathLst>
                <a:path w="7248525" h="676910">
                  <a:moveTo>
                    <a:pt x="7219950" y="0"/>
                  </a:moveTo>
                  <a:lnTo>
                    <a:pt x="28193" y="0"/>
                  </a:lnTo>
                  <a:lnTo>
                    <a:pt x="17220" y="2208"/>
                  </a:lnTo>
                  <a:lnTo>
                    <a:pt x="8258" y="8239"/>
                  </a:lnTo>
                  <a:lnTo>
                    <a:pt x="2215" y="17198"/>
                  </a:lnTo>
                  <a:lnTo>
                    <a:pt x="0" y="28193"/>
                  </a:lnTo>
                  <a:lnTo>
                    <a:pt x="0" y="648462"/>
                  </a:lnTo>
                  <a:lnTo>
                    <a:pt x="2215" y="659435"/>
                  </a:lnTo>
                  <a:lnTo>
                    <a:pt x="8258" y="668397"/>
                  </a:lnTo>
                  <a:lnTo>
                    <a:pt x="17220" y="674440"/>
                  </a:lnTo>
                  <a:lnTo>
                    <a:pt x="28193" y="676656"/>
                  </a:lnTo>
                  <a:lnTo>
                    <a:pt x="7219950" y="676656"/>
                  </a:lnTo>
                  <a:lnTo>
                    <a:pt x="7230945" y="674440"/>
                  </a:lnTo>
                  <a:lnTo>
                    <a:pt x="7239904" y="668397"/>
                  </a:lnTo>
                  <a:lnTo>
                    <a:pt x="7245935" y="659435"/>
                  </a:lnTo>
                  <a:lnTo>
                    <a:pt x="7248144" y="648462"/>
                  </a:lnTo>
                  <a:lnTo>
                    <a:pt x="7248144" y="28193"/>
                  </a:lnTo>
                  <a:lnTo>
                    <a:pt x="7245935" y="17198"/>
                  </a:lnTo>
                  <a:lnTo>
                    <a:pt x="7239904" y="8239"/>
                  </a:lnTo>
                  <a:lnTo>
                    <a:pt x="7230945" y="2208"/>
                  </a:lnTo>
                  <a:lnTo>
                    <a:pt x="7219950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0120" y="4992624"/>
              <a:ext cx="7248525" cy="676910"/>
            </a:xfrm>
            <a:custGeom>
              <a:avLst/>
              <a:gdLst/>
              <a:ahLst/>
              <a:cxnLst/>
              <a:rect l="l" t="t" r="r" b="b"/>
              <a:pathLst>
                <a:path w="7248525" h="676910">
                  <a:moveTo>
                    <a:pt x="0" y="28193"/>
                  </a:moveTo>
                  <a:lnTo>
                    <a:pt x="2215" y="17198"/>
                  </a:lnTo>
                  <a:lnTo>
                    <a:pt x="8258" y="8239"/>
                  </a:lnTo>
                  <a:lnTo>
                    <a:pt x="17220" y="2208"/>
                  </a:lnTo>
                  <a:lnTo>
                    <a:pt x="28193" y="0"/>
                  </a:lnTo>
                  <a:lnTo>
                    <a:pt x="7219950" y="0"/>
                  </a:lnTo>
                  <a:lnTo>
                    <a:pt x="7230945" y="2208"/>
                  </a:lnTo>
                  <a:lnTo>
                    <a:pt x="7239904" y="8239"/>
                  </a:lnTo>
                  <a:lnTo>
                    <a:pt x="7245935" y="17198"/>
                  </a:lnTo>
                  <a:lnTo>
                    <a:pt x="7248144" y="28193"/>
                  </a:lnTo>
                  <a:lnTo>
                    <a:pt x="7248144" y="648462"/>
                  </a:lnTo>
                  <a:lnTo>
                    <a:pt x="7245935" y="659435"/>
                  </a:lnTo>
                  <a:lnTo>
                    <a:pt x="7239904" y="668397"/>
                  </a:lnTo>
                  <a:lnTo>
                    <a:pt x="7230945" y="674440"/>
                  </a:lnTo>
                  <a:lnTo>
                    <a:pt x="7219950" y="676656"/>
                  </a:lnTo>
                  <a:lnTo>
                    <a:pt x="28193" y="676656"/>
                  </a:lnTo>
                  <a:lnTo>
                    <a:pt x="17220" y="674440"/>
                  </a:lnTo>
                  <a:lnTo>
                    <a:pt x="8258" y="668397"/>
                  </a:lnTo>
                  <a:lnTo>
                    <a:pt x="2215" y="659435"/>
                  </a:lnTo>
                  <a:lnTo>
                    <a:pt x="0" y="648462"/>
                  </a:lnTo>
                  <a:lnTo>
                    <a:pt x="0" y="2819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46556" y="1036446"/>
            <a:ext cx="7438390" cy="4553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755" marR="1793239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Verdana"/>
                <a:cs typeface="Verdana"/>
              </a:rPr>
              <a:t>You </a:t>
            </a:r>
            <a:r>
              <a:rPr sz="2000" b="1" spc="-5" dirty="0">
                <a:latin typeface="Verdana"/>
                <a:cs typeface="Verdana"/>
              </a:rPr>
              <a:t>can </a:t>
            </a:r>
            <a:r>
              <a:rPr sz="2000" b="1" dirty="0">
                <a:latin typeface="Verdana"/>
                <a:cs typeface="Verdana"/>
              </a:rPr>
              <a:t>provide remote </a:t>
            </a:r>
            <a:r>
              <a:rPr sz="2000" b="1" spc="-5" dirty="0">
                <a:latin typeface="Verdana"/>
                <a:cs typeface="Verdana"/>
              </a:rPr>
              <a:t>clients </a:t>
            </a:r>
            <a:r>
              <a:rPr sz="2000" b="1" dirty="0">
                <a:latin typeface="Verdana"/>
                <a:cs typeface="Verdana"/>
              </a:rPr>
              <a:t>with IP  configurations by </a:t>
            </a:r>
            <a:r>
              <a:rPr sz="2000" b="1" spc="-5" dirty="0">
                <a:latin typeface="Verdana"/>
                <a:cs typeface="Verdana"/>
              </a:rPr>
              <a:t>using</a:t>
            </a:r>
            <a:r>
              <a:rPr sz="2000" b="1" spc="-3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either:</a:t>
            </a:r>
            <a:endParaRPr sz="2000">
              <a:latin typeface="Verdana"/>
              <a:cs typeface="Verdana"/>
            </a:endParaRPr>
          </a:p>
          <a:p>
            <a:pPr marL="545465" marR="643255" indent="-229235">
              <a:lnSpc>
                <a:spcPts val="1939"/>
              </a:lnSpc>
              <a:spcBef>
                <a:spcPts val="1890"/>
              </a:spcBef>
              <a:buClr>
                <a:srgbClr val="006699"/>
              </a:buClr>
              <a:buFont typeface="Verdana"/>
              <a:buChar char="•"/>
              <a:tabLst>
                <a:tab pos="546100" algn="l"/>
              </a:tabLst>
            </a:pP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spc="-5" dirty="0">
                <a:latin typeface="Verdana"/>
                <a:cs typeface="Verdana"/>
              </a:rPr>
              <a:t>static pool created </a:t>
            </a:r>
            <a:r>
              <a:rPr sz="1800" b="1" dirty="0">
                <a:latin typeface="Verdana"/>
                <a:cs typeface="Verdana"/>
              </a:rPr>
              <a:t>on the </a:t>
            </a:r>
            <a:r>
              <a:rPr sz="1800" b="1" spc="-5" dirty="0">
                <a:latin typeface="Verdana"/>
                <a:cs typeface="Verdana"/>
              </a:rPr>
              <a:t>Routing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Remote  Access server for use with remote</a:t>
            </a:r>
            <a:r>
              <a:rPr sz="1800" b="1" spc="4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clients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2050">
              <a:latin typeface="Verdana"/>
              <a:cs typeface="Verdana"/>
            </a:endParaRPr>
          </a:p>
          <a:p>
            <a:pPr marL="542290" marR="594995" indent="-229235">
              <a:lnSpc>
                <a:spcPts val="1939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542925" algn="l"/>
              </a:tabLst>
            </a:pP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corporate </a:t>
            </a:r>
            <a:r>
              <a:rPr sz="1800" b="1" dirty="0">
                <a:latin typeface="Verdana"/>
                <a:cs typeface="Verdana"/>
              </a:rPr>
              <a:t>DHCP </a:t>
            </a:r>
            <a:r>
              <a:rPr sz="1800" b="1" spc="-5" dirty="0">
                <a:latin typeface="Verdana"/>
                <a:cs typeface="Verdana"/>
              </a:rPr>
              <a:t>server </a:t>
            </a:r>
            <a:r>
              <a:rPr sz="1800" b="1" dirty="0">
                <a:latin typeface="Verdana"/>
                <a:cs typeface="Verdana"/>
              </a:rPr>
              <a:t>that is </a:t>
            </a:r>
            <a:r>
              <a:rPr sz="1800" b="1" spc="-5" dirty="0">
                <a:latin typeface="Verdana"/>
                <a:cs typeface="Verdana"/>
              </a:rPr>
              <a:t>located </a:t>
            </a:r>
            <a:r>
              <a:rPr sz="1800" b="1" dirty="0">
                <a:latin typeface="Verdana"/>
                <a:cs typeface="Verdana"/>
              </a:rPr>
              <a:t>on </a:t>
            </a:r>
            <a:r>
              <a:rPr sz="1800" b="1" spc="-10" dirty="0">
                <a:latin typeface="Verdana"/>
                <a:cs typeface="Verdana"/>
              </a:rPr>
              <a:t>the  </a:t>
            </a:r>
            <a:r>
              <a:rPr sz="1800" b="1" spc="-5" dirty="0">
                <a:latin typeface="Verdana"/>
                <a:cs typeface="Verdana"/>
              </a:rPr>
              <a:t>corporate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LAN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6699"/>
              </a:buClr>
              <a:buFont typeface="Verdana"/>
              <a:buChar char="•"/>
            </a:pPr>
            <a:endParaRPr sz="3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DHCP </a:t>
            </a:r>
            <a:r>
              <a:rPr sz="2000" b="1" spc="-5" dirty="0">
                <a:latin typeface="Verdana"/>
                <a:cs typeface="Verdana"/>
              </a:rPr>
              <a:t>servers </a:t>
            </a:r>
            <a:r>
              <a:rPr sz="2000" b="1" dirty="0">
                <a:latin typeface="Verdana"/>
                <a:cs typeface="Verdana"/>
              </a:rPr>
              <a:t>that </a:t>
            </a:r>
            <a:r>
              <a:rPr sz="2000" b="1" spc="-5" dirty="0">
                <a:latin typeface="Verdana"/>
                <a:cs typeface="Verdana"/>
              </a:rPr>
              <a:t>run </a:t>
            </a:r>
            <a:r>
              <a:rPr sz="2000" b="1" dirty="0">
                <a:latin typeface="Verdana"/>
                <a:cs typeface="Verdana"/>
              </a:rPr>
              <a:t>Windows </a:t>
            </a:r>
            <a:r>
              <a:rPr sz="2000" b="1" spc="-5" dirty="0">
                <a:latin typeface="Verdana"/>
                <a:cs typeface="Verdana"/>
              </a:rPr>
              <a:t>Server </a:t>
            </a:r>
            <a:r>
              <a:rPr sz="2000" b="1" dirty="0">
                <a:latin typeface="Verdana"/>
                <a:cs typeface="Verdana"/>
              </a:rPr>
              <a:t>2008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R2:</a:t>
            </a:r>
            <a:endParaRPr sz="2000">
              <a:latin typeface="Verdana"/>
              <a:cs typeface="Verdana"/>
            </a:endParaRPr>
          </a:p>
          <a:p>
            <a:pPr marL="545465" marR="1521460" indent="-229235">
              <a:lnSpc>
                <a:spcPts val="1939"/>
              </a:lnSpc>
              <a:spcBef>
                <a:spcPts val="2130"/>
              </a:spcBef>
              <a:buClr>
                <a:srgbClr val="006699"/>
              </a:buClr>
              <a:buFont typeface="Verdana"/>
              <a:buChar char="•"/>
              <a:tabLst>
                <a:tab pos="546100" algn="l"/>
              </a:tabLst>
            </a:pPr>
            <a:r>
              <a:rPr sz="1800" b="1" spc="-5" dirty="0">
                <a:latin typeface="Verdana"/>
                <a:cs typeface="Verdana"/>
              </a:rPr>
              <a:t>Provide </a:t>
            </a: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spc="-5" dirty="0">
                <a:latin typeface="Verdana"/>
                <a:cs typeface="Verdana"/>
              </a:rPr>
              <a:t>predefined user class called </a:t>
            </a:r>
            <a:r>
              <a:rPr sz="1800" b="1" dirty="0">
                <a:latin typeface="Verdana"/>
                <a:cs typeface="Verdana"/>
              </a:rPr>
              <a:t>the  </a:t>
            </a:r>
            <a:r>
              <a:rPr sz="1800" b="1" spc="-5" dirty="0">
                <a:latin typeface="Verdana"/>
                <a:cs typeface="Verdana"/>
              </a:rPr>
              <a:t>Default Routing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Remote Access </a:t>
            </a:r>
            <a:r>
              <a:rPr sz="1800" b="1" dirty="0">
                <a:latin typeface="Verdana"/>
                <a:cs typeface="Verdana"/>
              </a:rPr>
              <a:t>Class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6699"/>
              </a:buClr>
              <a:buFont typeface="Verdana"/>
              <a:buChar char="•"/>
            </a:pPr>
            <a:endParaRPr sz="1850">
              <a:latin typeface="Verdana"/>
              <a:cs typeface="Verdana"/>
            </a:endParaRPr>
          </a:p>
          <a:p>
            <a:pPr marL="542290" indent="-229235">
              <a:lnSpc>
                <a:spcPts val="2050"/>
              </a:lnSpc>
              <a:buClr>
                <a:srgbClr val="006699"/>
              </a:buClr>
              <a:buFont typeface="Verdana"/>
              <a:buChar char="•"/>
              <a:tabLst>
                <a:tab pos="542925" algn="l"/>
              </a:tabLst>
            </a:pPr>
            <a:r>
              <a:rPr sz="1800" b="1" spc="-5" dirty="0">
                <a:latin typeface="Verdana"/>
                <a:cs typeface="Verdana"/>
              </a:rPr>
              <a:t>Are useful for </a:t>
            </a:r>
            <a:r>
              <a:rPr sz="1800" b="1" dirty="0">
                <a:latin typeface="Verdana"/>
                <a:cs typeface="Verdana"/>
              </a:rPr>
              <a:t>assigning </a:t>
            </a:r>
            <a:r>
              <a:rPr sz="1800" b="1" spc="-5" dirty="0">
                <a:latin typeface="Verdana"/>
                <a:cs typeface="Verdana"/>
              </a:rPr>
              <a:t>options </a:t>
            </a:r>
            <a:r>
              <a:rPr sz="1800" b="1" dirty="0">
                <a:latin typeface="Verdana"/>
                <a:cs typeface="Verdana"/>
              </a:rPr>
              <a:t>that are </a:t>
            </a:r>
            <a:r>
              <a:rPr sz="1800" b="1" spc="-5" dirty="0">
                <a:latin typeface="Verdana"/>
                <a:cs typeface="Verdana"/>
              </a:rPr>
              <a:t>provided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to</a:t>
            </a:r>
            <a:endParaRPr sz="1800">
              <a:latin typeface="Verdana"/>
              <a:cs typeface="Verdana"/>
            </a:endParaRPr>
          </a:p>
          <a:p>
            <a:pPr marL="542290">
              <a:lnSpc>
                <a:spcPts val="2050"/>
              </a:lnSpc>
            </a:pPr>
            <a:r>
              <a:rPr sz="1800" b="1" spc="-5" dirty="0">
                <a:latin typeface="Verdana"/>
                <a:cs typeface="Verdana"/>
              </a:rPr>
              <a:t>Routing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Remote Access clients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only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248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mtClean="0"/>
              <a:t>2</a:t>
            </a:r>
            <a:r>
              <a:rPr dirty="0"/>
              <a:t>: </a:t>
            </a:r>
            <a:r>
              <a:rPr spc="-5" dirty="0"/>
              <a:t>Configuring </a:t>
            </a:r>
            <a:r>
              <a:rPr dirty="0"/>
              <a:t>VPN</a:t>
            </a:r>
            <a:r>
              <a:rPr spc="30" dirty="0"/>
              <a:t> </a:t>
            </a:r>
            <a:r>
              <a:rPr spc="-5" dirty="0"/>
              <a:t>Access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6052820" cy="27578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a VPN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Connection?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Components of a VPN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Connection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Tunneling Protocols </a:t>
            </a:r>
            <a:r>
              <a:rPr sz="2000" dirty="0">
                <a:latin typeface="Verdana"/>
                <a:cs typeface="Verdana"/>
              </a:rPr>
              <a:t>for a VPN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Connection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Configuration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Requirements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 smtClean="0">
                <a:latin typeface="Verdana"/>
                <a:cs typeface="Verdana"/>
              </a:rPr>
              <a:t>What </a:t>
            </a:r>
            <a:r>
              <a:rPr sz="2000" dirty="0">
                <a:latin typeface="Verdana"/>
                <a:cs typeface="Verdana"/>
              </a:rPr>
              <a:t>Is VPN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Reconnect?</a:t>
            </a: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Completing </a:t>
            </a:r>
            <a:r>
              <a:rPr sz="2000" dirty="0">
                <a:latin typeface="Verdana"/>
                <a:cs typeface="Verdana"/>
              </a:rPr>
              <a:t>Additional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Tasks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218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dirty="0"/>
              <a:t>a VPN</a:t>
            </a:r>
            <a:r>
              <a:rPr spc="-15" dirty="0"/>
              <a:t> </a:t>
            </a:r>
            <a:r>
              <a:rPr spc="-5" dirty="0"/>
              <a:t>Connection?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3773" y="1251013"/>
            <a:ext cx="6247765" cy="4114165"/>
            <a:chOff x="473773" y="1251013"/>
            <a:chExt cx="6247765" cy="4114165"/>
          </a:xfrm>
        </p:grpSpPr>
        <p:sp>
          <p:nvSpPr>
            <p:cNvPr id="4" name="object 4"/>
            <p:cNvSpPr/>
            <p:nvPr/>
          </p:nvSpPr>
          <p:spPr>
            <a:xfrm>
              <a:off x="2426208" y="3451224"/>
              <a:ext cx="1709420" cy="685165"/>
            </a:xfrm>
            <a:custGeom>
              <a:avLst/>
              <a:gdLst/>
              <a:ahLst/>
              <a:cxnLst/>
              <a:rect l="l" t="t" r="r" b="b"/>
              <a:pathLst>
                <a:path w="1709420" h="685164">
                  <a:moveTo>
                    <a:pt x="113454" y="35557"/>
                  </a:moveTo>
                  <a:lnTo>
                    <a:pt x="99791" y="71089"/>
                  </a:lnTo>
                  <a:lnTo>
                    <a:pt x="1695577" y="684911"/>
                  </a:lnTo>
                  <a:lnTo>
                    <a:pt x="1709293" y="649351"/>
                  </a:lnTo>
                  <a:lnTo>
                    <a:pt x="113454" y="35557"/>
                  </a:lnTo>
                  <a:close/>
                </a:path>
                <a:path w="1709420" h="685164">
                  <a:moveTo>
                    <a:pt x="127127" y="0"/>
                  </a:moveTo>
                  <a:lnTo>
                    <a:pt x="0" y="12319"/>
                  </a:lnTo>
                  <a:lnTo>
                    <a:pt x="86106" y="106679"/>
                  </a:lnTo>
                  <a:lnTo>
                    <a:pt x="99791" y="71089"/>
                  </a:lnTo>
                  <a:lnTo>
                    <a:pt x="82042" y="64262"/>
                  </a:lnTo>
                  <a:lnTo>
                    <a:pt x="95631" y="28701"/>
                  </a:lnTo>
                  <a:lnTo>
                    <a:pt x="116090" y="28701"/>
                  </a:lnTo>
                  <a:lnTo>
                    <a:pt x="127127" y="0"/>
                  </a:lnTo>
                  <a:close/>
                </a:path>
                <a:path w="1709420" h="685164">
                  <a:moveTo>
                    <a:pt x="95631" y="28701"/>
                  </a:moveTo>
                  <a:lnTo>
                    <a:pt x="82042" y="64262"/>
                  </a:lnTo>
                  <a:lnTo>
                    <a:pt x="99791" y="71089"/>
                  </a:lnTo>
                  <a:lnTo>
                    <a:pt x="113454" y="35557"/>
                  </a:lnTo>
                  <a:lnTo>
                    <a:pt x="95631" y="28701"/>
                  </a:lnTo>
                  <a:close/>
                </a:path>
                <a:path w="1709420" h="685164">
                  <a:moveTo>
                    <a:pt x="116090" y="28701"/>
                  </a:moveTo>
                  <a:lnTo>
                    <a:pt x="95631" y="28701"/>
                  </a:lnTo>
                  <a:lnTo>
                    <a:pt x="113454" y="35557"/>
                  </a:lnTo>
                  <a:lnTo>
                    <a:pt x="116090" y="28701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6156" y="3886199"/>
              <a:ext cx="2484120" cy="320040"/>
            </a:xfrm>
            <a:custGeom>
              <a:avLst/>
              <a:gdLst/>
              <a:ahLst/>
              <a:cxnLst/>
              <a:rect l="l" t="t" r="r" b="b"/>
              <a:pathLst>
                <a:path w="2484120" h="320039">
                  <a:moveTo>
                    <a:pt x="2484120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2484120" y="320039"/>
                  </a:lnTo>
                  <a:lnTo>
                    <a:pt x="2484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70506" y="4656962"/>
              <a:ext cx="1785620" cy="708025"/>
            </a:xfrm>
            <a:custGeom>
              <a:avLst/>
              <a:gdLst/>
              <a:ahLst/>
              <a:cxnLst/>
              <a:rect l="l" t="t" r="r" b="b"/>
              <a:pathLst>
                <a:path w="1785620" h="708025">
                  <a:moveTo>
                    <a:pt x="86487" y="600837"/>
                  </a:moveTo>
                  <a:lnTo>
                    <a:pt x="0" y="694944"/>
                  </a:lnTo>
                  <a:lnTo>
                    <a:pt x="127126" y="707644"/>
                  </a:lnTo>
                  <a:lnTo>
                    <a:pt x="116157" y="678815"/>
                  </a:lnTo>
                  <a:lnTo>
                    <a:pt x="95757" y="678815"/>
                  </a:lnTo>
                  <a:lnTo>
                    <a:pt x="82168" y="643255"/>
                  </a:lnTo>
                  <a:lnTo>
                    <a:pt x="100038" y="636453"/>
                  </a:lnTo>
                  <a:lnTo>
                    <a:pt x="86487" y="600837"/>
                  </a:lnTo>
                  <a:close/>
                </a:path>
                <a:path w="1785620" h="708025">
                  <a:moveTo>
                    <a:pt x="100038" y="636453"/>
                  </a:moveTo>
                  <a:lnTo>
                    <a:pt x="82168" y="643255"/>
                  </a:lnTo>
                  <a:lnTo>
                    <a:pt x="95757" y="678815"/>
                  </a:lnTo>
                  <a:lnTo>
                    <a:pt x="113577" y="672033"/>
                  </a:lnTo>
                  <a:lnTo>
                    <a:pt x="100038" y="636453"/>
                  </a:lnTo>
                  <a:close/>
                </a:path>
                <a:path w="1785620" h="708025">
                  <a:moveTo>
                    <a:pt x="113577" y="672033"/>
                  </a:moveTo>
                  <a:lnTo>
                    <a:pt x="95757" y="678815"/>
                  </a:lnTo>
                  <a:lnTo>
                    <a:pt x="116157" y="678815"/>
                  </a:lnTo>
                  <a:lnTo>
                    <a:pt x="113577" y="672033"/>
                  </a:lnTo>
                  <a:close/>
                </a:path>
                <a:path w="1785620" h="708025">
                  <a:moveTo>
                    <a:pt x="1772158" y="0"/>
                  </a:moveTo>
                  <a:lnTo>
                    <a:pt x="100038" y="636453"/>
                  </a:lnTo>
                  <a:lnTo>
                    <a:pt x="113577" y="672033"/>
                  </a:lnTo>
                  <a:lnTo>
                    <a:pt x="1785620" y="35687"/>
                  </a:lnTo>
                  <a:lnTo>
                    <a:pt x="1772158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8536" y="1255775"/>
              <a:ext cx="2205355" cy="320040"/>
            </a:xfrm>
            <a:custGeom>
              <a:avLst/>
              <a:gdLst/>
              <a:ahLst/>
              <a:cxnLst/>
              <a:rect l="l" t="t" r="r" b="b"/>
              <a:pathLst>
                <a:path w="2205355" h="320040">
                  <a:moveTo>
                    <a:pt x="0" y="320039"/>
                  </a:moveTo>
                  <a:lnTo>
                    <a:pt x="2205228" y="320039"/>
                  </a:lnTo>
                  <a:lnTo>
                    <a:pt x="2205228" y="0"/>
                  </a:lnTo>
                  <a:lnTo>
                    <a:pt x="0" y="0"/>
                  </a:lnTo>
                  <a:lnTo>
                    <a:pt x="0" y="320039"/>
                  </a:lnTo>
                  <a:close/>
                </a:path>
              </a:pathLst>
            </a:custGeom>
            <a:ln w="9143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00194" y="3362070"/>
              <a:ext cx="2121535" cy="2001520"/>
            </a:xfrm>
            <a:custGeom>
              <a:avLst/>
              <a:gdLst/>
              <a:ahLst/>
              <a:cxnLst/>
              <a:rect l="l" t="t" r="r" b="b"/>
              <a:pathLst>
                <a:path w="2121534" h="2001520">
                  <a:moveTo>
                    <a:pt x="114300" y="1848370"/>
                  </a:moveTo>
                  <a:lnTo>
                    <a:pt x="76136" y="1848497"/>
                  </a:lnTo>
                  <a:lnTo>
                    <a:pt x="75057" y="1471295"/>
                  </a:lnTo>
                  <a:lnTo>
                    <a:pt x="36957" y="1471422"/>
                  </a:lnTo>
                  <a:lnTo>
                    <a:pt x="38036" y="1848624"/>
                  </a:lnTo>
                  <a:lnTo>
                    <a:pt x="0" y="1848751"/>
                  </a:lnTo>
                  <a:lnTo>
                    <a:pt x="57531" y="1962912"/>
                  </a:lnTo>
                  <a:lnTo>
                    <a:pt x="104724" y="1867662"/>
                  </a:lnTo>
                  <a:lnTo>
                    <a:pt x="114300" y="1848370"/>
                  </a:lnTo>
                  <a:close/>
                </a:path>
                <a:path w="2121534" h="2001520">
                  <a:moveTo>
                    <a:pt x="353695" y="127381"/>
                  </a:moveTo>
                  <a:lnTo>
                    <a:pt x="350215" y="80899"/>
                  </a:lnTo>
                  <a:lnTo>
                    <a:pt x="344170" y="0"/>
                  </a:lnTo>
                  <a:lnTo>
                    <a:pt x="248031" y="84201"/>
                  </a:lnTo>
                  <a:lnTo>
                    <a:pt x="283210" y="98590"/>
                  </a:lnTo>
                  <a:lnTo>
                    <a:pt x="146939" y="431419"/>
                  </a:lnTo>
                  <a:lnTo>
                    <a:pt x="182245" y="445897"/>
                  </a:lnTo>
                  <a:lnTo>
                    <a:pt x="318528" y="113017"/>
                  </a:lnTo>
                  <a:lnTo>
                    <a:pt x="353695" y="127381"/>
                  </a:lnTo>
                  <a:close/>
                </a:path>
                <a:path w="2121534" h="2001520">
                  <a:moveTo>
                    <a:pt x="1973326" y="137922"/>
                  </a:moveTo>
                  <a:lnTo>
                    <a:pt x="1846199" y="125222"/>
                  </a:lnTo>
                  <a:lnTo>
                    <a:pt x="1859737" y="160832"/>
                  </a:lnTo>
                  <a:lnTo>
                    <a:pt x="187579" y="797179"/>
                  </a:lnTo>
                  <a:lnTo>
                    <a:pt x="201168" y="832866"/>
                  </a:lnTo>
                  <a:lnTo>
                    <a:pt x="1873262" y="196380"/>
                  </a:lnTo>
                  <a:lnTo>
                    <a:pt x="1886839" y="232029"/>
                  </a:lnTo>
                  <a:lnTo>
                    <a:pt x="1958492" y="154051"/>
                  </a:lnTo>
                  <a:lnTo>
                    <a:pt x="1973326" y="137922"/>
                  </a:lnTo>
                  <a:close/>
                </a:path>
                <a:path w="2121534" h="2001520">
                  <a:moveTo>
                    <a:pt x="2121027" y="1988693"/>
                  </a:moveTo>
                  <a:lnTo>
                    <a:pt x="2106117" y="1972437"/>
                  </a:lnTo>
                  <a:lnTo>
                    <a:pt x="2034654" y="1894459"/>
                  </a:lnTo>
                  <a:lnTo>
                    <a:pt x="2021052" y="1930069"/>
                  </a:lnTo>
                  <a:lnTo>
                    <a:pt x="413893" y="1315085"/>
                  </a:lnTo>
                  <a:lnTo>
                    <a:pt x="400177" y="1350645"/>
                  </a:lnTo>
                  <a:lnTo>
                    <a:pt x="2007463" y="1965629"/>
                  </a:lnTo>
                  <a:lnTo>
                    <a:pt x="1993900" y="2001139"/>
                  </a:lnTo>
                  <a:lnTo>
                    <a:pt x="2121027" y="19886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86155" y="3886200"/>
            <a:ext cx="2484120" cy="320040"/>
          </a:xfrm>
          <a:prstGeom prst="rect">
            <a:avLst/>
          </a:prstGeom>
          <a:ln w="9144">
            <a:solidFill>
              <a:srgbClr val="777777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250"/>
              </a:spcBef>
            </a:pPr>
            <a:r>
              <a:rPr sz="1400" b="1" dirty="0">
                <a:latin typeface="Verdana"/>
                <a:cs typeface="Verdana"/>
              </a:rPr>
              <a:t>Medium </a:t>
            </a:r>
            <a:r>
              <a:rPr sz="1400" b="1" spc="-5" dirty="0">
                <a:latin typeface="Verdana"/>
                <a:cs typeface="Verdana"/>
              </a:rPr>
              <a:t>Branch</a:t>
            </a:r>
            <a:r>
              <a:rPr sz="1400" b="1" spc="-6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Office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73952" y="2130551"/>
            <a:ext cx="2182495" cy="320040"/>
          </a:xfrm>
          <a:custGeom>
            <a:avLst/>
            <a:gdLst/>
            <a:ahLst/>
            <a:cxnLst/>
            <a:rect l="l" t="t" r="r" b="b"/>
            <a:pathLst>
              <a:path w="2182495" h="320039">
                <a:moveTo>
                  <a:pt x="0" y="320039"/>
                </a:moveTo>
                <a:lnTo>
                  <a:pt x="2182368" y="320039"/>
                </a:lnTo>
                <a:lnTo>
                  <a:pt x="2182368" y="0"/>
                </a:lnTo>
                <a:lnTo>
                  <a:pt x="0" y="0"/>
                </a:lnTo>
                <a:lnTo>
                  <a:pt x="0" y="320039"/>
                </a:lnTo>
                <a:close/>
              </a:path>
            </a:pathLst>
          </a:custGeom>
          <a:ln w="9144">
            <a:solidFill>
              <a:srgbClr val="777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71233" y="2148967"/>
            <a:ext cx="19875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Verdana"/>
                <a:cs typeface="Verdana"/>
              </a:rPr>
              <a:t>Small Branch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Office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19316" y="4405884"/>
            <a:ext cx="1935480" cy="475615"/>
          </a:xfrm>
          <a:custGeom>
            <a:avLst/>
            <a:gdLst/>
            <a:ahLst/>
            <a:cxnLst/>
            <a:rect l="l" t="t" r="r" b="b"/>
            <a:pathLst>
              <a:path w="1935479" h="475614">
                <a:moveTo>
                  <a:pt x="0" y="475488"/>
                </a:moveTo>
                <a:lnTo>
                  <a:pt x="1935479" y="475488"/>
                </a:lnTo>
                <a:lnTo>
                  <a:pt x="1935479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9144">
            <a:solidFill>
              <a:srgbClr val="777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825742" y="4416933"/>
            <a:ext cx="1751330" cy="4102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10"/>
              </a:lnSpc>
              <a:spcBef>
                <a:spcPts val="100"/>
              </a:spcBef>
            </a:pPr>
            <a:r>
              <a:rPr sz="1400" b="1" spc="-5" dirty="0">
                <a:latin typeface="Verdana"/>
                <a:cs typeface="Verdana"/>
              </a:rPr>
              <a:t>Home Office</a:t>
            </a:r>
            <a:r>
              <a:rPr sz="1400" b="1" spc="-7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with</a:t>
            </a:r>
            <a:endParaRPr sz="1400">
              <a:latin typeface="Verdana"/>
              <a:cs typeface="Verdana"/>
            </a:endParaRPr>
          </a:p>
          <a:p>
            <a:pPr marL="681355">
              <a:lnSpc>
                <a:spcPts val="1510"/>
              </a:lnSpc>
            </a:pPr>
            <a:r>
              <a:rPr sz="1400" b="1" dirty="0">
                <a:latin typeface="Verdana"/>
                <a:cs typeface="Verdana"/>
              </a:rPr>
              <a:t>VPN</a:t>
            </a:r>
            <a:r>
              <a:rPr sz="1400" b="1" spc="-8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Client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35807" y="1036319"/>
            <a:ext cx="3101340" cy="5293360"/>
          </a:xfrm>
          <a:custGeom>
            <a:avLst/>
            <a:gdLst/>
            <a:ahLst/>
            <a:cxnLst/>
            <a:rect l="l" t="t" r="r" b="b"/>
            <a:pathLst>
              <a:path w="3101340" h="5293360">
                <a:moveTo>
                  <a:pt x="3048" y="5292852"/>
                </a:moveTo>
                <a:lnTo>
                  <a:pt x="3101340" y="5292852"/>
                </a:lnTo>
                <a:lnTo>
                  <a:pt x="3101340" y="4977383"/>
                </a:lnTo>
                <a:lnTo>
                  <a:pt x="3048" y="4977383"/>
                </a:lnTo>
                <a:lnTo>
                  <a:pt x="3048" y="5292852"/>
                </a:lnTo>
                <a:close/>
              </a:path>
              <a:path w="3101340" h="5293360">
                <a:moveTo>
                  <a:pt x="0" y="321563"/>
                </a:moveTo>
                <a:lnTo>
                  <a:pt x="2872740" y="321563"/>
                </a:lnTo>
                <a:lnTo>
                  <a:pt x="2872740" y="0"/>
                </a:lnTo>
                <a:lnTo>
                  <a:pt x="0" y="0"/>
                </a:lnTo>
                <a:lnTo>
                  <a:pt x="0" y="321563"/>
                </a:lnTo>
                <a:close/>
              </a:path>
            </a:pathLst>
          </a:custGeom>
          <a:ln w="9144">
            <a:solidFill>
              <a:srgbClr val="777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3183" y="1054988"/>
            <a:ext cx="5110480" cy="459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80335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Verdana"/>
                <a:cs typeface="Verdana"/>
              </a:rPr>
              <a:t>Corporate</a:t>
            </a:r>
            <a:r>
              <a:rPr sz="1400" b="1" spc="-5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Headquarters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400" b="1" dirty="0">
                <a:latin typeface="Verdana"/>
                <a:cs typeface="Verdana"/>
              </a:rPr>
              <a:t>Large </a:t>
            </a:r>
            <a:r>
              <a:rPr sz="1400" b="1" spc="-5" dirty="0">
                <a:latin typeface="Verdana"/>
                <a:cs typeface="Verdana"/>
              </a:rPr>
              <a:t>Branch</a:t>
            </a:r>
            <a:r>
              <a:rPr sz="1400" b="1" spc="-4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Office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02935" y="4280915"/>
            <a:ext cx="676910" cy="314325"/>
          </a:xfrm>
          <a:custGeom>
            <a:avLst/>
            <a:gdLst/>
            <a:ahLst/>
            <a:cxnLst/>
            <a:rect l="l" t="t" r="r" b="b"/>
            <a:pathLst>
              <a:path w="676910" h="314325">
                <a:moveTo>
                  <a:pt x="0" y="313943"/>
                </a:moveTo>
                <a:lnTo>
                  <a:pt x="676656" y="313943"/>
                </a:lnTo>
                <a:lnTo>
                  <a:pt x="676656" y="0"/>
                </a:lnTo>
                <a:lnTo>
                  <a:pt x="0" y="0"/>
                </a:lnTo>
                <a:lnTo>
                  <a:pt x="0" y="313943"/>
                </a:lnTo>
                <a:close/>
              </a:path>
            </a:pathLst>
          </a:custGeom>
          <a:ln w="9144">
            <a:solidFill>
              <a:srgbClr val="777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91709" y="4278248"/>
            <a:ext cx="501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VPN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32330" y="3571747"/>
            <a:ext cx="994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VPN</a:t>
            </a:r>
            <a:r>
              <a:rPr sz="1200" b="1" spc="-7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Server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17700" y="5802464"/>
            <a:ext cx="4634865" cy="46799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200" b="1" spc="-5" dirty="0">
                <a:latin typeface="Verdana"/>
                <a:cs typeface="Verdana"/>
              </a:rPr>
              <a:t>VPN Server</a:t>
            </a:r>
            <a:endParaRPr sz="1200">
              <a:latin typeface="Verdana"/>
              <a:cs typeface="Verdana"/>
            </a:endParaRPr>
          </a:p>
          <a:p>
            <a:pPr marL="1719580">
              <a:lnSpc>
                <a:spcPct val="100000"/>
              </a:lnSpc>
              <a:spcBef>
                <a:spcPts val="195"/>
              </a:spcBef>
            </a:pPr>
            <a:r>
              <a:rPr sz="1400" b="1" dirty="0">
                <a:latin typeface="Verdana"/>
                <a:cs typeface="Verdana"/>
              </a:rPr>
              <a:t>Remote User with VPN</a:t>
            </a:r>
            <a:r>
              <a:rPr sz="1400" b="1" spc="-13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Client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31740" y="3382771"/>
            <a:ext cx="994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VPN</a:t>
            </a:r>
            <a:r>
              <a:rPr sz="1200" b="1" spc="-7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Server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84416" y="3732021"/>
            <a:ext cx="994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Verdana"/>
                <a:cs typeface="Verdana"/>
              </a:rPr>
              <a:t>VPN</a:t>
            </a:r>
            <a:r>
              <a:rPr sz="1200" b="1" spc="-7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Server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38200" y="1324355"/>
            <a:ext cx="7551420" cy="4777740"/>
            <a:chOff x="838200" y="1324355"/>
            <a:chExt cx="7551420" cy="4777740"/>
          </a:xfrm>
        </p:grpSpPr>
        <p:sp>
          <p:nvSpPr>
            <p:cNvPr id="23" name="object 23"/>
            <p:cNvSpPr/>
            <p:nvPr/>
          </p:nvSpPr>
          <p:spPr>
            <a:xfrm>
              <a:off x="838200" y="4177283"/>
              <a:ext cx="1371600" cy="12786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1160" y="5181600"/>
              <a:ext cx="576072" cy="6781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86611" y="1537715"/>
              <a:ext cx="1371600" cy="165811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98903" y="2933700"/>
              <a:ext cx="576071" cy="6781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30040" y="5289803"/>
              <a:ext cx="627888" cy="66446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49567" y="4759452"/>
              <a:ext cx="1847088" cy="134264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39996" y="5282184"/>
              <a:ext cx="486155" cy="7757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81983" y="1324355"/>
              <a:ext cx="1600200" cy="19354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46320" y="2746247"/>
              <a:ext cx="576072" cy="6781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18020" y="2410967"/>
              <a:ext cx="1371600" cy="10287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614159" y="3089148"/>
              <a:ext cx="576072" cy="6781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27145" y="3641661"/>
              <a:ext cx="1505521" cy="136690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179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Components </a:t>
            </a:r>
            <a:r>
              <a:rPr dirty="0"/>
              <a:t>of a VPN</a:t>
            </a:r>
            <a:r>
              <a:rPr spc="25" dirty="0"/>
              <a:t> </a:t>
            </a:r>
            <a:r>
              <a:rPr spc="-5" dirty="0"/>
              <a:t>Connection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9303" y="1638300"/>
            <a:ext cx="6716395" cy="3200400"/>
            <a:chOff x="1289303" y="1638300"/>
            <a:chExt cx="6716395" cy="3200400"/>
          </a:xfrm>
        </p:grpSpPr>
        <p:sp>
          <p:nvSpPr>
            <p:cNvPr id="4" name="object 4"/>
            <p:cNvSpPr/>
            <p:nvPr/>
          </p:nvSpPr>
          <p:spPr>
            <a:xfrm>
              <a:off x="1289303" y="1638300"/>
              <a:ext cx="6716268" cy="32004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76877" y="2280666"/>
              <a:ext cx="0" cy="850900"/>
            </a:xfrm>
            <a:custGeom>
              <a:avLst/>
              <a:gdLst/>
              <a:ahLst/>
              <a:cxnLst/>
              <a:rect l="l" t="t" r="r" b="b"/>
              <a:pathLst>
                <a:path h="850900">
                  <a:moveTo>
                    <a:pt x="0" y="0"/>
                  </a:moveTo>
                  <a:lnTo>
                    <a:pt x="0" y="850392"/>
                  </a:lnTo>
                </a:path>
              </a:pathLst>
            </a:custGeom>
            <a:ln w="38100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72968" y="1897379"/>
              <a:ext cx="1591310" cy="382905"/>
            </a:xfrm>
            <a:custGeom>
              <a:avLst/>
              <a:gdLst/>
              <a:ahLst/>
              <a:cxnLst/>
              <a:rect l="l" t="t" r="r" b="b"/>
              <a:pathLst>
                <a:path w="1591310" h="382905">
                  <a:moveTo>
                    <a:pt x="0" y="16002"/>
                  </a:moveTo>
                  <a:lnTo>
                    <a:pt x="0" y="7112"/>
                  </a:lnTo>
                  <a:lnTo>
                    <a:pt x="7112" y="0"/>
                  </a:lnTo>
                  <a:lnTo>
                    <a:pt x="16001" y="0"/>
                  </a:lnTo>
                  <a:lnTo>
                    <a:pt x="1575054" y="0"/>
                  </a:lnTo>
                  <a:lnTo>
                    <a:pt x="1583944" y="0"/>
                  </a:lnTo>
                  <a:lnTo>
                    <a:pt x="1591056" y="7112"/>
                  </a:lnTo>
                  <a:lnTo>
                    <a:pt x="1591056" y="16002"/>
                  </a:lnTo>
                  <a:lnTo>
                    <a:pt x="1591056" y="366522"/>
                  </a:lnTo>
                  <a:lnTo>
                    <a:pt x="1591056" y="375412"/>
                  </a:lnTo>
                  <a:lnTo>
                    <a:pt x="1583944" y="382524"/>
                  </a:lnTo>
                  <a:lnTo>
                    <a:pt x="1575054" y="382524"/>
                  </a:lnTo>
                  <a:lnTo>
                    <a:pt x="16001" y="382524"/>
                  </a:lnTo>
                  <a:lnTo>
                    <a:pt x="7112" y="382524"/>
                  </a:lnTo>
                  <a:lnTo>
                    <a:pt x="0" y="375412"/>
                  </a:lnTo>
                  <a:lnTo>
                    <a:pt x="0" y="366522"/>
                  </a:lnTo>
                  <a:lnTo>
                    <a:pt x="0" y="16002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183254" y="1903222"/>
            <a:ext cx="1570990" cy="3663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683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290"/>
              </a:spcBef>
            </a:pPr>
            <a:r>
              <a:rPr sz="1600" b="1" spc="-5" dirty="0">
                <a:latin typeface="Verdana"/>
                <a:cs typeface="Verdana"/>
              </a:rPr>
              <a:t>VPN</a:t>
            </a:r>
            <a:r>
              <a:rPr sz="1600" b="1" spc="-2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Tunnel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86839" y="3855720"/>
            <a:ext cx="6722745" cy="2273935"/>
            <a:chOff x="1386839" y="3855720"/>
            <a:chExt cx="6722745" cy="2273935"/>
          </a:xfrm>
        </p:grpSpPr>
        <p:sp>
          <p:nvSpPr>
            <p:cNvPr id="9" name="object 9"/>
            <p:cNvSpPr/>
            <p:nvPr/>
          </p:nvSpPr>
          <p:spPr>
            <a:xfrm>
              <a:off x="1386839" y="4125468"/>
              <a:ext cx="2773680" cy="20040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26351" y="3855720"/>
              <a:ext cx="1483360" cy="355600"/>
            </a:xfrm>
            <a:custGeom>
              <a:avLst/>
              <a:gdLst/>
              <a:ahLst/>
              <a:cxnLst/>
              <a:rect l="l" t="t" r="r" b="b"/>
              <a:pathLst>
                <a:path w="1483359" h="355600">
                  <a:moveTo>
                    <a:pt x="1476248" y="0"/>
                  </a:moveTo>
                  <a:lnTo>
                    <a:pt x="6603" y="0"/>
                  </a:lnTo>
                  <a:lnTo>
                    <a:pt x="0" y="6603"/>
                  </a:lnTo>
                  <a:lnTo>
                    <a:pt x="0" y="348487"/>
                  </a:lnTo>
                  <a:lnTo>
                    <a:pt x="6603" y="355091"/>
                  </a:lnTo>
                  <a:lnTo>
                    <a:pt x="1476248" y="355091"/>
                  </a:lnTo>
                  <a:lnTo>
                    <a:pt x="1482852" y="348487"/>
                  </a:lnTo>
                  <a:lnTo>
                    <a:pt x="1482852" y="66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626352" y="3855720"/>
            <a:ext cx="1483360" cy="355600"/>
          </a:xfrm>
          <a:prstGeom prst="rect">
            <a:avLst/>
          </a:prstGeom>
          <a:ln w="19430">
            <a:solidFill>
              <a:srgbClr val="777777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235"/>
              </a:spcBef>
            </a:pPr>
            <a:r>
              <a:rPr sz="1600" b="1" spc="-5" dirty="0">
                <a:latin typeface="Verdana"/>
                <a:cs typeface="Verdana"/>
              </a:rPr>
              <a:t>VPN</a:t>
            </a:r>
            <a:r>
              <a:rPr sz="1600" b="1" spc="-2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7449" y="3843337"/>
            <a:ext cx="1588770" cy="352425"/>
            <a:chOff x="167449" y="3843337"/>
            <a:chExt cx="1588770" cy="352425"/>
          </a:xfrm>
        </p:grpSpPr>
        <p:sp>
          <p:nvSpPr>
            <p:cNvPr id="13" name="object 13"/>
            <p:cNvSpPr/>
            <p:nvPr/>
          </p:nvSpPr>
          <p:spPr>
            <a:xfrm>
              <a:off x="172212" y="3848100"/>
              <a:ext cx="1579245" cy="342900"/>
            </a:xfrm>
            <a:custGeom>
              <a:avLst/>
              <a:gdLst/>
              <a:ahLst/>
              <a:cxnLst/>
              <a:rect l="l" t="t" r="r" b="b"/>
              <a:pathLst>
                <a:path w="1579245" h="342900">
                  <a:moveTo>
                    <a:pt x="1572514" y="0"/>
                  </a:moveTo>
                  <a:lnTo>
                    <a:pt x="6400" y="0"/>
                  </a:lnTo>
                  <a:lnTo>
                    <a:pt x="0" y="6350"/>
                  </a:lnTo>
                  <a:lnTo>
                    <a:pt x="0" y="336550"/>
                  </a:lnTo>
                  <a:lnTo>
                    <a:pt x="6400" y="342900"/>
                  </a:lnTo>
                  <a:lnTo>
                    <a:pt x="1572514" y="342900"/>
                  </a:lnTo>
                  <a:lnTo>
                    <a:pt x="1578864" y="336550"/>
                  </a:lnTo>
                  <a:lnTo>
                    <a:pt x="1578864" y="6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2212" y="3848100"/>
              <a:ext cx="1579245" cy="342900"/>
            </a:xfrm>
            <a:custGeom>
              <a:avLst/>
              <a:gdLst/>
              <a:ahLst/>
              <a:cxnLst/>
              <a:rect l="l" t="t" r="r" b="b"/>
              <a:pathLst>
                <a:path w="1579245" h="342900">
                  <a:moveTo>
                    <a:pt x="0" y="14350"/>
                  </a:moveTo>
                  <a:lnTo>
                    <a:pt x="0" y="6350"/>
                  </a:lnTo>
                  <a:lnTo>
                    <a:pt x="6400" y="0"/>
                  </a:lnTo>
                  <a:lnTo>
                    <a:pt x="14287" y="0"/>
                  </a:lnTo>
                  <a:lnTo>
                    <a:pt x="1564513" y="0"/>
                  </a:lnTo>
                  <a:lnTo>
                    <a:pt x="1572514" y="0"/>
                  </a:lnTo>
                  <a:lnTo>
                    <a:pt x="1578864" y="6350"/>
                  </a:lnTo>
                  <a:lnTo>
                    <a:pt x="1578864" y="14350"/>
                  </a:lnTo>
                  <a:lnTo>
                    <a:pt x="1578864" y="328549"/>
                  </a:lnTo>
                  <a:lnTo>
                    <a:pt x="1578864" y="336550"/>
                  </a:lnTo>
                  <a:lnTo>
                    <a:pt x="1572514" y="342900"/>
                  </a:lnTo>
                  <a:lnTo>
                    <a:pt x="1564513" y="342900"/>
                  </a:lnTo>
                  <a:lnTo>
                    <a:pt x="14287" y="342900"/>
                  </a:lnTo>
                  <a:lnTo>
                    <a:pt x="6400" y="342900"/>
                  </a:lnTo>
                  <a:lnTo>
                    <a:pt x="0" y="336550"/>
                  </a:lnTo>
                  <a:lnTo>
                    <a:pt x="0" y="328549"/>
                  </a:lnTo>
                  <a:lnTo>
                    <a:pt x="0" y="14350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4304" y="3859784"/>
            <a:ext cx="13157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VPN</a:t>
            </a:r>
            <a:r>
              <a:rPr sz="1600" b="1" spc="-6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30295" y="5077967"/>
            <a:ext cx="2813685" cy="990600"/>
            <a:chOff x="3130295" y="5077967"/>
            <a:chExt cx="2813685" cy="990600"/>
          </a:xfrm>
        </p:grpSpPr>
        <p:sp>
          <p:nvSpPr>
            <p:cNvPr id="17" name="object 17"/>
            <p:cNvSpPr/>
            <p:nvPr/>
          </p:nvSpPr>
          <p:spPr>
            <a:xfrm>
              <a:off x="3130295" y="5077967"/>
              <a:ext cx="841247" cy="9906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40479" y="5088635"/>
              <a:ext cx="2098675" cy="386080"/>
            </a:xfrm>
            <a:custGeom>
              <a:avLst/>
              <a:gdLst/>
              <a:ahLst/>
              <a:cxnLst/>
              <a:rect l="l" t="t" r="r" b="b"/>
              <a:pathLst>
                <a:path w="2098675" h="386079">
                  <a:moveTo>
                    <a:pt x="2091309" y="0"/>
                  </a:moveTo>
                  <a:lnTo>
                    <a:pt x="7239" y="0"/>
                  </a:lnTo>
                  <a:lnTo>
                    <a:pt x="0" y="7238"/>
                  </a:lnTo>
                  <a:lnTo>
                    <a:pt x="0" y="378332"/>
                  </a:lnTo>
                  <a:lnTo>
                    <a:pt x="7239" y="385572"/>
                  </a:lnTo>
                  <a:lnTo>
                    <a:pt x="2091309" y="385572"/>
                  </a:lnTo>
                  <a:lnTo>
                    <a:pt x="2098548" y="378332"/>
                  </a:lnTo>
                  <a:lnTo>
                    <a:pt x="2098548" y="7238"/>
                  </a:lnTo>
                  <a:close/>
                </a:path>
              </a:pathLst>
            </a:custGeom>
            <a:solidFill>
              <a:srgbClr val="F1C8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0479" y="5088635"/>
              <a:ext cx="2098675" cy="386080"/>
            </a:xfrm>
            <a:custGeom>
              <a:avLst/>
              <a:gdLst/>
              <a:ahLst/>
              <a:cxnLst/>
              <a:rect l="l" t="t" r="r" b="b"/>
              <a:pathLst>
                <a:path w="2098675" h="386079">
                  <a:moveTo>
                    <a:pt x="0" y="16128"/>
                  </a:moveTo>
                  <a:lnTo>
                    <a:pt x="0" y="7238"/>
                  </a:lnTo>
                  <a:lnTo>
                    <a:pt x="7239" y="0"/>
                  </a:lnTo>
                  <a:lnTo>
                    <a:pt x="16129" y="0"/>
                  </a:lnTo>
                  <a:lnTo>
                    <a:pt x="2082419" y="0"/>
                  </a:lnTo>
                  <a:lnTo>
                    <a:pt x="2091309" y="0"/>
                  </a:lnTo>
                  <a:lnTo>
                    <a:pt x="2098548" y="7238"/>
                  </a:lnTo>
                  <a:lnTo>
                    <a:pt x="2098548" y="16128"/>
                  </a:lnTo>
                  <a:lnTo>
                    <a:pt x="2098548" y="369442"/>
                  </a:lnTo>
                  <a:lnTo>
                    <a:pt x="2098548" y="378332"/>
                  </a:lnTo>
                  <a:lnTo>
                    <a:pt x="2091309" y="385572"/>
                  </a:lnTo>
                  <a:lnTo>
                    <a:pt x="2082419" y="385572"/>
                  </a:lnTo>
                  <a:lnTo>
                    <a:pt x="16129" y="385572"/>
                  </a:lnTo>
                  <a:lnTo>
                    <a:pt x="7239" y="385572"/>
                  </a:lnTo>
                  <a:lnTo>
                    <a:pt x="0" y="378332"/>
                  </a:lnTo>
                  <a:lnTo>
                    <a:pt x="0" y="369442"/>
                  </a:lnTo>
                  <a:lnTo>
                    <a:pt x="0" y="1612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848671" y="5133594"/>
            <a:ext cx="20821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IP </a:t>
            </a:r>
            <a:r>
              <a:rPr sz="1600" b="1" spc="-10" dirty="0">
                <a:latin typeface="Verdana"/>
                <a:cs typeface="Verdana"/>
              </a:rPr>
              <a:t>Configuration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796539" y="6099047"/>
            <a:ext cx="1652270" cy="356870"/>
          </a:xfrm>
          <a:custGeom>
            <a:avLst/>
            <a:gdLst/>
            <a:ahLst/>
            <a:cxnLst/>
            <a:rect l="l" t="t" r="r" b="b"/>
            <a:pathLst>
              <a:path w="1652270" h="356870">
                <a:moveTo>
                  <a:pt x="1652015" y="0"/>
                </a:moveTo>
                <a:lnTo>
                  <a:pt x="0" y="0"/>
                </a:lnTo>
                <a:lnTo>
                  <a:pt x="0" y="356615"/>
                </a:lnTo>
                <a:lnTo>
                  <a:pt x="1652015" y="356615"/>
                </a:lnTo>
                <a:lnTo>
                  <a:pt x="16520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796539" y="6099047"/>
            <a:ext cx="1652270" cy="356870"/>
          </a:xfrm>
          <a:prstGeom prst="rect">
            <a:avLst/>
          </a:prstGeom>
          <a:ln w="9144">
            <a:solidFill>
              <a:srgbClr val="777777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50"/>
              </a:spcBef>
            </a:pPr>
            <a:r>
              <a:rPr sz="1600" b="1" spc="-10" dirty="0">
                <a:latin typeface="Verdana"/>
                <a:cs typeface="Verdana"/>
              </a:rPr>
              <a:t>DHCP</a:t>
            </a:r>
            <a:r>
              <a:rPr sz="1600" b="1" spc="-2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2795" y="4593335"/>
            <a:ext cx="2310765" cy="1371600"/>
            <a:chOff x="272795" y="4593335"/>
            <a:chExt cx="2310765" cy="1371600"/>
          </a:xfrm>
        </p:grpSpPr>
        <p:sp>
          <p:nvSpPr>
            <p:cNvPr id="24" name="object 24"/>
            <p:cNvSpPr/>
            <p:nvPr/>
          </p:nvSpPr>
          <p:spPr>
            <a:xfrm>
              <a:off x="1450848" y="4593335"/>
              <a:ext cx="841247" cy="9906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2795" y="5617463"/>
              <a:ext cx="2310765" cy="347980"/>
            </a:xfrm>
            <a:custGeom>
              <a:avLst/>
              <a:gdLst/>
              <a:ahLst/>
              <a:cxnLst/>
              <a:rect l="l" t="t" r="r" b="b"/>
              <a:pathLst>
                <a:path w="2310765" h="347979">
                  <a:moveTo>
                    <a:pt x="2310384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2310384" y="347472"/>
                  </a:lnTo>
                  <a:lnTo>
                    <a:pt x="23103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72795" y="5617464"/>
            <a:ext cx="2310765" cy="347980"/>
          </a:xfrm>
          <a:prstGeom prst="rect">
            <a:avLst/>
          </a:prstGeom>
          <a:ln w="9144">
            <a:solidFill>
              <a:srgbClr val="777777"/>
            </a:solidFill>
          </a:ln>
        </p:spPr>
        <p:txBody>
          <a:bodyPr vert="horz" wrap="square" lIns="0" tIns="26669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209"/>
              </a:spcBef>
            </a:pPr>
            <a:r>
              <a:rPr sz="1600" b="1" spc="-10" dirty="0">
                <a:latin typeface="Verdana"/>
                <a:cs typeface="Verdana"/>
              </a:rPr>
              <a:t>Domain</a:t>
            </a:r>
            <a:r>
              <a:rPr sz="1600" b="1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Controller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93201" y="4428553"/>
            <a:ext cx="1891664" cy="396875"/>
            <a:chOff x="1993201" y="4428553"/>
            <a:chExt cx="1891664" cy="396875"/>
          </a:xfrm>
        </p:grpSpPr>
        <p:sp>
          <p:nvSpPr>
            <p:cNvPr id="28" name="object 28"/>
            <p:cNvSpPr/>
            <p:nvPr/>
          </p:nvSpPr>
          <p:spPr>
            <a:xfrm>
              <a:off x="1997964" y="4433315"/>
              <a:ext cx="1882139" cy="387350"/>
            </a:xfrm>
            <a:custGeom>
              <a:avLst/>
              <a:gdLst/>
              <a:ahLst/>
              <a:cxnLst/>
              <a:rect l="l" t="t" r="r" b="b"/>
              <a:pathLst>
                <a:path w="1882139" h="387350">
                  <a:moveTo>
                    <a:pt x="1874901" y="0"/>
                  </a:moveTo>
                  <a:lnTo>
                    <a:pt x="7238" y="0"/>
                  </a:lnTo>
                  <a:lnTo>
                    <a:pt x="0" y="7238"/>
                  </a:lnTo>
                  <a:lnTo>
                    <a:pt x="0" y="379856"/>
                  </a:lnTo>
                  <a:lnTo>
                    <a:pt x="7238" y="387095"/>
                  </a:lnTo>
                  <a:lnTo>
                    <a:pt x="1874901" y="387095"/>
                  </a:lnTo>
                  <a:lnTo>
                    <a:pt x="1882139" y="379856"/>
                  </a:lnTo>
                  <a:lnTo>
                    <a:pt x="1882139" y="7238"/>
                  </a:lnTo>
                  <a:close/>
                </a:path>
              </a:pathLst>
            </a:custGeom>
            <a:solidFill>
              <a:srgbClr val="F1C8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97964" y="4433315"/>
              <a:ext cx="1882139" cy="387350"/>
            </a:xfrm>
            <a:custGeom>
              <a:avLst/>
              <a:gdLst/>
              <a:ahLst/>
              <a:cxnLst/>
              <a:rect l="l" t="t" r="r" b="b"/>
              <a:pathLst>
                <a:path w="1882139" h="387350">
                  <a:moveTo>
                    <a:pt x="0" y="16128"/>
                  </a:moveTo>
                  <a:lnTo>
                    <a:pt x="0" y="7238"/>
                  </a:lnTo>
                  <a:lnTo>
                    <a:pt x="7238" y="0"/>
                  </a:lnTo>
                  <a:lnTo>
                    <a:pt x="16129" y="0"/>
                  </a:lnTo>
                  <a:lnTo>
                    <a:pt x="1866011" y="0"/>
                  </a:lnTo>
                  <a:lnTo>
                    <a:pt x="1874901" y="0"/>
                  </a:lnTo>
                  <a:lnTo>
                    <a:pt x="1882139" y="7238"/>
                  </a:lnTo>
                  <a:lnTo>
                    <a:pt x="1882139" y="16128"/>
                  </a:lnTo>
                  <a:lnTo>
                    <a:pt x="1882139" y="370966"/>
                  </a:lnTo>
                  <a:lnTo>
                    <a:pt x="1882139" y="379856"/>
                  </a:lnTo>
                  <a:lnTo>
                    <a:pt x="1874901" y="387095"/>
                  </a:lnTo>
                  <a:lnTo>
                    <a:pt x="1866011" y="387095"/>
                  </a:lnTo>
                  <a:lnTo>
                    <a:pt x="16129" y="387095"/>
                  </a:lnTo>
                  <a:lnTo>
                    <a:pt x="7238" y="387095"/>
                  </a:lnTo>
                  <a:lnTo>
                    <a:pt x="0" y="379856"/>
                  </a:lnTo>
                  <a:lnTo>
                    <a:pt x="0" y="370966"/>
                  </a:lnTo>
                  <a:lnTo>
                    <a:pt x="0" y="1612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06155" y="4479416"/>
            <a:ext cx="18662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Authentication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416810" y="2364358"/>
            <a:ext cx="4464685" cy="1990725"/>
            <a:chOff x="2416810" y="2364358"/>
            <a:chExt cx="4464685" cy="1990725"/>
          </a:xfrm>
        </p:grpSpPr>
        <p:sp>
          <p:nvSpPr>
            <p:cNvPr id="32" name="object 32"/>
            <p:cNvSpPr/>
            <p:nvPr/>
          </p:nvSpPr>
          <p:spPr>
            <a:xfrm>
              <a:off x="2446020" y="3360419"/>
              <a:ext cx="4406265" cy="0"/>
            </a:xfrm>
            <a:custGeom>
              <a:avLst/>
              <a:gdLst/>
              <a:ahLst/>
              <a:cxnLst/>
              <a:rect l="l" t="t" r="r" b="b"/>
              <a:pathLst>
                <a:path w="4406265">
                  <a:moveTo>
                    <a:pt x="4405883" y="0"/>
                  </a:moveTo>
                  <a:lnTo>
                    <a:pt x="0" y="0"/>
                  </a:lnTo>
                </a:path>
              </a:pathLst>
            </a:custGeom>
            <a:ln w="57912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80638" y="2364358"/>
              <a:ext cx="1855838" cy="181818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85538" y="3608069"/>
              <a:ext cx="0" cy="727710"/>
            </a:xfrm>
            <a:custGeom>
              <a:avLst/>
              <a:gdLst/>
              <a:ahLst/>
              <a:cxnLst/>
              <a:rect l="l" t="t" r="r" b="b"/>
              <a:pathLst>
                <a:path h="727710">
                  <a:moveTo>
                    <a:pt x="0" y="0"/>
                  </a:moveTo>
                  <a:lnTo>
                    <a:pt x="0" y="727709"/>
                  </a:lnTo>
                </a:path>
              </a:pathLst>
            </a:custGeom>
            <a:ln w="38100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300728" y="4335779"/>
            <a:ext cx="2065020" cy="353695"/>
          </a:xfrm>
          <a:prstGeom prst="rect">
            <a:avLst/>
          </a:prstGeom>
          <a:solidFill>
            <a:srgbClr val="F1C8C2"/>
          </a:solidFill>
          <a:ln w="19304">
            <a:solidFill>
              <a:srgbClr val="333333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325"/>
              </a:spcBef>
            </a:pPr>
            <a:r>
              <a:rPr sz="1600" b="1" spc="-5" dirty="0">
                <a:latin typeface="Verdana"/>
                <a:cs typeface="Verdana"/>
              </a:rPr>
              <a:t>Virtual Network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74079" y="1828800"/>
            <a:ext cx="2979420" cy="1221105"/>
            <a:chOff x="5974079" y="1828800"/>
            <a:chExt cx="2979420" cy="1221105"/>
          </a:xfrm>
        </p:grpSpPr>
        <p:sp>
          <p:nvSpPr>
            <p:cNvPr id="37" name="object 37"/>
            <p:cNvSpPr/>
            <p:nvPr/>
          </p:nvSpPr>
          <p:spPr>
            <a:xfrm>
              <a:off x="7037069" y="2178558"/>
              <a:ext cx="0" cy="852169"/>
            </a:xfrm>
            <a:custGeom>
              <a:avLst/>
              <a:gdLst/>
              <a:ahLst/>
              <a:cxnLst/>
              <a:rect l="l" t="t" r="r" b="b"/>
              <a:pathLst>
                <a:path h="852169">
                  <a:moveTo>
                    <a:pt x="0" y="0"/>
                  </a:moveTo>
                  <a:lnTo>
                    <a:pt x="0" y="851915"/>
                  </a:lnTo>
                </a:path>
              </a:pathLst>
            </a:custGeom>
            <a:ln w="38100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74079" y="1828800"/>
              <a:ext cx="2979420" cy="353695"/>
            </a:xfrm>
            <a:custGeom>
              <a:avLst/>
              <a:gdLst/>
              <a:ahLst/>
              <a:cxnLst/>
              <a:rect l="l" t="t" r="r" b="b"/>
              <a:pathLst>
                <a:path w="2979420" h="353694">
                  <a:moveTo>
                    <a:pt x="2972816" y="0"/>
                  </a:moveTo>
                  <a:lnTo>
                    <a:pt x="6604" y="0"/>
                  </a:lnTo>
                  <a:lnTo>
                    <a:pt x="0" y="6603"/>
                  </a:lnTo>
                  <a:lnTo>
                    <a:pt x="0" y="346963"/>
                  </a:lnTo>
                  <a:lnTo>
                    <a:pt x="6604" y="353567"/>
                  </a:lnTo>
                  <a:lnTo>
                    <a:pt x="2972816" y="353567"/>
                  </a:lnTo>
                  <a:lnTo>
                    <a:pt x="2979420" y="346963"/>
                  </a:lnTo>
                  <a:lnTo>
                    <a:pt x="2979420" y="6603"/>
                  </a:lnTo>
                  <a:close/>
                </a:path>
              </a:pathLst>
            </a:custGeom>
            <a:solidFill>
              <a:srgbClr val="F1C8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974079" y="1828800"/>
            <a:ext cx="2979420" cy="353695"/>
          </a:xfrm>
          <a:prstGeom prst="rect">
            <a:avLst/>
          </a:prstGeom>
          <a:ln w="19303">
            <a:solidFill>
              <a:srgbClr val="333333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25"/>
              </a:spcBef>
            </a:pPr>
            <a:r>
              <a:rPr sz="1600" b="1" spc="-10" dirty="0">
                <a:latin typeface="Verdana"/>
                <a:cs typeface="Verdana"/>
              </a:rPr>
              <a:t>Client Operating</a:t>
            </a:r>
            <a:r>
              <a:rPr sz="1600" b="1" spc="7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System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34695" y="2081783"/>
            <a:ext cx="7702550" cy="2380615"/>
            <a:chOff x="234695" y="2081783"/>
            <a:chExt cx="7702550" cy="2380615"/>
          </a:xfrm>
        </p:grpSpPr>
        <p:sp>
          <p:nvSpPr>
            <p:cNvPr id="41" name="object 41"/>
            <p:cNvSpPr/>
            <p:nvPr/>
          </p:nvSpPr>
          <p:spPr>
            <a:xfrm>
              <a:off x="6481572" y="2545079"/>
              <a:ext cx="1019555" cy="111404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147560" y="2531363"/>
              <a:ext cx="789431" cy="130302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89047" y="3619500"/>
              <a:ext cx="407034" cy="814069"/>
            </a:xfrm>
            <a:custGeom>
              <a:avLst/>
              <a:gdLst/>
              <a:ahLst/>
              <a:cxnLst/>
              <a:rect l="l" t="t" r="r" b="b"/>
              <a:pathLst>
                <a:path w="407035" h="814070">
                  <a:moveTo>
                    <a:pt x="406907" y="813816"/>
                  </a:moveTo>
                  <a:lnTo>
                    <a:pt x="0" y="0"/>
                  </a:lnTo>
                </a:path>
              </a:pathLst>
            </a:custGeom>
            <a:ln w="57912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395984" y="2497835"/>
              <a:ext cx="1200912" cy="141427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39267" y="2086355"/>
              <a:ext cx="1862455" cy="551815"/>
            </a:xfrm>
            <a:custGeom>
              <a:avLst/>
              <a:gdLst/>
              <a:ahLst/>
              <a:cxnLst/>
              <a:rect l="l" t="t" r="r" b="b"/>
              <a:pathLst>
                <a:path w="1862455" h="551814">
                  <a:moveTo>
                    <a:pt x="1839340" y="0"/>
                  </a:moveTo>
                  <a:lnTo>
                    <a:pt x="22986" y="0"/>
                  </a:lnTo>
                  <a:lnTo>
                    <a:pt x="14037" y="1805"/>
                  </a:lnTo>
                  <a:lnTo>
                    <a:pt x="6730" y="6731"/>
                  </a:lnTo>
                  <a:lnTo>
                    <a:pt x="1805" y="14037"/>
                  </a:lnTo>
                  <a:lnTo>
                    <a:pt x="0" y="22987"/>
                  </a:lnTo>
                  <a:lnTo>
                    <a:pt x="0" y="528701"/>
                  </a:lnTo>
                  <a:lnTo>
                    <a:pt x="1805" y="537650"/>
                  </a:lnTo>
                  <a:lnTo>
                    <a:pt x="6731" y="544957"/>
                  </a:lnTo>
                  <a:lnTo>
                    <a:pt x="14037" y="549882"/>
                  </a:lnTo>
                  <a:lnTo>
                    <a:pt x="22986" y="551688"/>
                  </a:lnTo>
                  <a:lnTo>
                    <a:pt x="1839340" y="551688"/>
                  </a:lnTo>
                  <a:lnTo>
                    <a:pt x="1848290" y="549882"/>
                  </a:lnTo>
                  <a:lnTo>
                    <a:pt x="1855596" y="544957"/>
                  </a:lnTo>
                  <a:lnTo>
                    <a:pt x="1860522" y="537650"/>
                  </a:lnTo>
                  <a:lnTo>
                    <a:pt x="1862327" y="528701"/>
                  </a:lnTo>
                  <a:lnTo>
                    <a:pt x="1862327" y="22987"/>
                  </a:lnTo>
                  <a:lnTo>
                    <a:pt x="1860522" y="14037"/>
                  </a:lnTo>
                  <a:lnTo>
                    <a:pt x="1855596" y="6730"/>
                  </a:lnTo>
                  <a:lnTo>
                    <a:pt x="1848290" y="1805"/>
                  </a:lnTo>
                  <a:lnTo>
                    <a:pt x="1839340" y="0"/>
                  </a:lnTo>
                  <a:close/>
                </a:path>
              </a:pathLst>
            </a:custGeom>
            <a:solidFill>
              <a:srgbClr val="F1C8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39267" y="2086355"/>
              <a:ext cx="1862455" cy="551815"/>
            </a:xfrm>
            <a:custGeom>
              <a:avLst/>
              <a:gdLst/>
              <a:ahLst/>
              <a:cxnLst/>
              <a:rect l="l" t="t" r="r" b="b"/>
              <a:pathLst>
                <a:path w="1862455" h="551814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6" y="0"/>
                  </a:lnTo>
                  <a:lnTo>
                    <a:pt x="1839340" y="0"/>
                  </a:lnTo>
                  <a:lnTo>
                    <a:pt x="1848290" y="1805"/>
                  </a:lnTo>
                  <a:lnTo>
                    <a:pt x="1855596" y="6730"/>
                  </a:lnTo>
                  <a:lnTo>
                    <a:pt x="1860522" y="14037"/>
                  </a:lnTo>
                  <a:lnTo>
                    <a:pt x="1862327" y="22987"/>
                  </a:lnTo>
                  <a:lnTo>
                    <a:pt x="1862327" y="528701"/>
                  </a:lnTo>
                  <a:lnTo>
                    <a:pt x="1860522" y="537650"/>
                  </a:lnTo>
                  <a:lnTo>
                    <a:pt x="1855596" y="544957"/>
                  </a:lnTo>
                  <a:lnTo>
                    <a:pt x="1848290" y="549882"/>
                  </a:lnTo>
                  <a:lnTo>
                    <a:pt x="1839340" y="551688"/>
                  </a:lnTo>
                  <a:lnTo>
                    <a:pt x="22986" y="551688"/>
                  </a:lnTo>
                  <a:lnTo>
                    <a:pt x="14037" y="549882"/>
                  </a:lnTo>
                  <a:lnTo>
                    <a:pt x="6731" y="544957"/>
                  </a:lnTo>
                  <a:lnTo>
                    <a:pt x="1805" y="537650"/>
                  </a:lnTo>
                  <a:lnTo>
                    <a:pt x="0" y="528701"/>
                  </a:lnTo>
                  <a:lnTo>
                    <a:pt x="0" y="22987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25323" y="2104770"/>
            <a:ext cx="173990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10" dirty="0">
                <a:latin typeface="Verdana"/>
                <a:cs typeface="Verdana"/>
              </a:rPr>
              <a:t>Routing </a:t>
            </a:r>
            <a:r>
              <a:rPr sz="1600" b="1" spc="-5" dirty="0">
                <a:latin typeface="Verdana"/>
                <a:cs typeface="Verdana"/>
              </a:rPr>
              <a:t>and  </a:t>
            </a:r>
            <a:r>
              <a:rPr sz="1600" b="1" spc="-10" dirty="0">
                <a:latin typeface="Verdana"/>
                <a:cs typeface="Verdana"/>
              </a:rPr>
              <a:t>Remote</a:t>
            </a:r>
            <a:r>
              <a:rPr sz="1600" b="1" spc="-5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Access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388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Tunneling Protocols </a:t>
            </a:r>
            <a:r>
              <a:rPr spc="-5" dirty="0"/>
              <a:t>for </a:t>
            </a:r>
            <a:r>
              <a:rPr dirty="0"/>
              <a:t>a VPN</a:t>
            </a:r>
            <a:r>
              <a:rPr spc="130" dirty="0"/>
              <a:t> </a:t>
            </a:r>
            <a:r>
              <a:rPr spc="-5" dirty="0"/>
              <a:t>Connection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0080" y="1431036"/>
            <a:ext cx="7863840" cy="4249420"/>
            <a:chOff x="640080" y="1431036"/>
            <a:chExt cx="7863840" cy="4249420"/>
          </a:xfrm>
        </p:grpSpPr>
        <p:sp>
          <p:nvSpPr>
            <p:cNvPr id="4" name="object 4"/>
            <p:cNvSpPr/>
            <p:nvPr/>
          </p:nvSpPr>
          <p:spPr>
            <a:xfrm>
              <a:off x="644652" y="1435608"/>
              <a:ext cx="7854950" cy="4239895"/>
            </a:xfrm>
            <a:custGeom>
              <a:avLst/>
              <a:gdLst/>
              <a:ahLst/>
              <a:cxnLst/>
              <a:rect l="l" t="t" r="r" b="b"/>
              <a:pathLst>
                <a:path w="7854950" h="4239895">
                  <a:moveTo>
                    <a:pt x="7678039" y="0"/>
                  </a:moveTo>
                  <a:lnTo>
                    <a:pt x="176669" y="0"/>
                  </a:lnTo>
                  <a:lnTo>
                    <a:pt x="129703" y="6312"/>
                  </a:lnTo>
                  <a:lnTo>
                    <a:pt x="87500" y="24125"/>
                  </a:lnTo>
                  <a:lnTo>
                    <a:pt x="51744" y="51752"/>
                  </a:lnTo>
                  <a:lnTo>
                    <a:pt x="24120" y="87507"/>
                  </a:lnTo>
                  <a:lnTo>
                    <a:pt x="6310" y="129704"/>
                  </a:lnTo>
                  <a:lnTo>
                    <a:pt x="0" y="176656"/>
                  </a:lnTo>
                  <a:lnTo>
                    <a:pt x="0" y="4063110"/>
                  </a:lnTo>
                  <a:lnTo>
                    <a:pt x="6310" y="4110072"/>
                  </a:lnTo>
                  <a:lnTo>
                    <a:pt x="24120" y="4152271"/>
                  </a:lnTo>
                  <a:lnTo>
                    <a:pt x="51744" y="4188025"/>
                  </a:lnTo>
                  <a:lnTo>
                    <a:pt x="87500" y="4215648"/>
                  </a:lnTo>
                  <a:lnTo>
                    <a:pt x="129703" y="4233457"/>
                  </a:lnTo>
                  <a:lnTo>
                    <a:pt x="176669" y="4239768"/>
                  </a:lnTo>
                  <a:lnTo>
                    <a:pt x="7678039" y="4239768"/>
                  </a:lnTo>
                  <a:lnTo>
                    <a:pt x="7724991" y="4233457"/>
                  </a:lnTo>
                  <a:lnTo>
                    <a:pt x="7767188" y="4215648"/>
                  </a:lnTo>
                  <a:lnTo>
                    <a:pt x="7802943" y="4188025"/>
                  </a:lnTo>
                  <a:lnTo>
                    <a:pt x="7830570" y="4152271"/>
                  </a:lnTo>
                  <a:lnTo>
                    <a:pt x="7848383" y="4110072"/>
                  </a:lnTo>
                  <a:lnTo>
                    <a:pt x="7854696" y="4063110"/>
                  </a:lnTo>
                  <a:lnTo>
                    <a:pt x="7854696" y="176656"/>
                  </a:lnTo>
                  <a:lnTo>
                    <a:pt x="7848383" y="129704"/>
                  </a:lnTo>
                  <a:lnTo>
                    <a:pt x="7830570" y="87507"/>
                  </a:lnTo>
                  <a:lnTo>
                    <a:pt x="7802943" y="51752"/>
                  </a:lnTo>
                  <a:lnTo>
                    <a:pt x="7767188" y="24125"/>
                  </a:lnTo>
                  <a:lnTo>
                    <a:pt x="7724991" y="6312"/>
                  </a:lnTo>
                  <a:lnTo>
                    <a:pt x="7678039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2" y="1435608"/>
              <a:ext cx="7854950" cy="4239895"/>
            </a:xfrm>
            <a:custGeom>
              <a:avLst/>
              <a:gdLst/>
              <a:ahLst/>
              <a:cxnLst/>
              <a:rect l="l" t="t" r="r" b="b"/>
              <a:pathLst>
                <a:path w="7854950" h="4239895">
                  <a:moveTo>
                    <a:pt x="0" y="176656"/>
                  </a:moveTo>
                  <a:lnTo>
                    <a:pt x="6310" y="129704"/>
                  </a:lnTo>
                  <a:lnTo>
                    <a:pt x="24120" y="87507"/>
                  </a:lnTo>
                  <a:lnTo>
                    <a:pt x="51744" y="51752"/>
                  </a:lnTo>
                  <a:lnTo>
                    <a:pt x="87500" y="24125"/>
                  </a:lnTo>
                  <a:lnTo>
                    <a:pt x="129703" y="6312"/>
                  </a:lnTo>
                  <a:lnTo>
                    <a:pt x="176669" y="0"/>
                  </a:lnTo>
                  <a:lnTo>
                    <a:pt x="7678039" y="0"/>
                  </a:lnTo>
                  <a:lnTo>
                    <a:pt x="7724991" y="6312"/>
                  </a:lnTo>
                  <a:lnTo>
                    <a:pt x="7767188" y="24125"/>
                  </a:lnTo>
                  <a:lnTo>
                    <a:pt x="7802943" y="51752"/>
                  </a:lnTo>
                  <a:lnTo>
                    <a:pt x="7830570" y="87507"/>
                  </a:lnTo>
                  <a:lnTo>
                    <a:pt x="7848383" y="129704"/>
                  </a:lnTo>
                  <a:lnTo>
                    <a:pt x="7854696" y="176656"/>
                  </a:lnTo>
                  <a:lnTo>
                    <a:pt x="7854696" y="4063110"/>
                  </a:lnTo>
                  <a:lnTo>
                    <a:pt x="7848383" y="4110072"/>
                  </a:lnTo>
                  <a:lnTo>
                    <a:pt x="7830570" y="4152271"/>
                  </a:lnTo>
                  <a:lnTo>
                    <a:pt x="7802943" y="4188025"/>
                  </a:lnTo>
                  <a:lnTo>
                    <a:pt x="7767188" y="4215648"/>
                  </a:lnTo>
                  <a:lnTo>
                    <a:pt x="7724991" y="4233457"/>
                  </a:lnTo>
                  <a:lnTo>
                    <a:pt x="7678039" y="4239768"/>
                  </a:lnTo>
                  <a:lnTo>
                    <a:pt x="176669" y="4239768"/>
                  </a:lnTo>
                  <a:lnTo>
                    <a:pt x="129703" y="4233457"/>
                  </a:lnTo>
                  <a:lnTo>
                    <a:pt x="87500" y="4215648"/>
                  </a:lnTo>
                  <a:lnTo>
                    <a:pt x="51744" y="4188025"/>
                  </a:lnTo>
                  <a:lnTo>
                    <a:pt x="24120" y="4152271"/>
                  </a:lnTo>
                  <a:lnTo>
                    <a:pt x="6310" y="4110072"/>
                  </a:lnTo>
                  <a:lnTo>
                    <a:pt x="0" y="4063110"/>
                  </a:lnTo>
                  <a:lnTo>
                    <a:pt x="0" y="17665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8032" y="2535936"/>
              <a:ext cx="7063740" cy="622300"/>
            </a:xfrm>
            <a:custGeom>
              <a:avLst/>
              <a:gdLst/>
              <a:ahLst/>
              <a:cxnLst/>
              <a:rect l="l" t="t" r="r" b="b"/>
              <a:pathLst>
                <a:path w="7063740" h="622300">
                  <a:moveTo>
                    <a:pt x="7037832" y="0"/>
                  </a:moveTo>
                  <a:lnTo>
                    <a:pt x="25908" y="0"/>
                  </a:lnTo>
                  <a:lnTo>
                    <a:pt x="15821" y="2030"/>
                  </a:lnTo>
                  <a:lnTo>
                    <a:pt x="7586" y="7572"/>
                  </a:lnTo>
                  <a:lnTo>
                    <a:pt x="2035" y="15805"/>
                  </a:lnTo>
                  <a:lnTo>
                    <a:pt x="0" y="25908"/>
                  </a:lnTo>
                  <a:lnTo>
                    <a:pt x="0" y="595884"/>
                  </a:lnTo>
                  <a:lnTo>
                    <a:pt x="2035" y="605986"/>
                  </a:lnTo>
                  <a:lnTo>
                    <a:pt x="7586" y="614219"/>
                  </a:lnTo>
                  <a:lnTo>
                    <a:pt x="15821" y="619761"/>
                  </a:lnTo>
                  <a:lnTo>
                    <a:pt x="25908" y="621791"/>
                  </a:lnTo>
                  <a:lnTo>
                    <a:pt x="7037832" y="621791"/>
                  </a:lnTo>
                  <a:lnTo>
                    <a:pt x="7047934" y="619761"/>
                  </a:lnTo>
                  <a:lnTo>
                    <a:pt x="7056167" y="614219"/>
                  </a:lnTo>
                  <a:lnTo>
                    <a:pt x="7061709" y="605986"/>
                  </a:lnTo>
                  <a:lnTo>
                    <a:pt x="7063740" y="595884"/>
                  </a:lnTo>
                  <a:lnTo>
                    <a:pt x="7063740" y="25908"/>
                  </a:lnTo>
                  <a:lnTo>
                    <a:pt x="7061709" y="15805"/>
                  </a:lnTo>
                  <a:lnTo>
                    <a:pt x="7056167" y="7572"/>
                  </a:lnTo>
                  <a:lnTo>
                    <a:pt x="7047934" y="2030"/>
                  </a:lnTo>
                  <a:lnTo>
                    <a:pt x="703783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18032" y="2535936"/>
              <a:ext cx="7063740" cy="622300"/>
            </a:xfrm>
            <a:custGeom>
              <a:avLst/>
              <a:gdLst/>
              <a:ahLst/>
              <a:cxnLst/>
              <a:rect l="l" t="t" r="r" b="b"/>
              <a:pathLst>
                <a:path w="7063740" h="622300">
                  <a:moveTo>
                    <a:pt x="0" y="25908"/>
                  </a:moveTo>
                  <a:lnTo>
                    <a:pt x="2035" y="15805"/>
                  </a:lnTo>
                  <a:lnTo>
                    <a:pt x="7586" y="7572"/>
                  </a:lnTo>
                  <a:lnTo>
                    <a:pt x="15821" y="2030"/>
                  </a:lnTo>
                  <a:lnTo>
                    <a:pt x="25908" y="0"/>
                  </a:lnTo>
                  <a:lnTo>
                    <a:pt x="7037832" y="0"/>
                  </a:lnTo>
                  <a:lnTo>
                    <a:pt x="7047934" y="2030"/>
                  </a:lnTo>
                  <a:lnTo>
                    <a:pt x="7056167" y="7572"/>
                  </a:lnTo>
                  <a:lnTo>
                    <a:pt x="7061709" y="15805"/>
                  </a:lnTo>
                  <a:lnTo>
                    <a:pt x="7063740" y="25908"/>
                  </a:lnTo>
                  <a:lnTo>
                    <a:pt x="7063740" y="595884"/>
                  </a:lnTo>
                  <a:lnTo>
                    <a:pt x="7061709" y="605986"/>
                  </a:lnTo>
                  <a:lnTo>
                    <a:pt x="7056167" y="614219"/>
                  </a:lnTo>
                  <a:lnTo>
                    <a:pt x="7047934" y="619761"/>
                  </a:lnTo>
                  <a:lnTo>
                    <a:pt x="7037832" y="621791"/>
                  </a:lnTo>
                  <a:lnTo>
                    <a:pt x="25908" y="621791"/>
                  </a:lnTo>
                  <a:lnTo>
                    <a:pt x="15821" y="619761"/>
                  </a:lnTo>
                  <a:lnTo>
                    <a:pt x="7586" y="614219"/>
                  </a:lnTo>
                  <a:lnTo>
                    <a:pt x="2035" y="605986"/>
                  </a:lnTo>
                  <a:lnTo>
                    <a:pt x="0" y="595884"/>
                  </a:lnTo>
                  <a:lnTo>
                    <a:pt x="0" y="2590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9368" y="3244596"/>
              <a:ext cx="7065645" cy="622300"/>
            </a:xfrm>
            <a:custGeom>
              <a:avLst/>
              <a:gdLst/>
              <a:ahLst/>
              <a:cxnLst/>
              <a:rect l="l" t="t" r="r" b="b"/>
              <a:pathLst>
                <a:path w="7065645" h="622300">
                  <a:moveTo>
                    <a:pt x="7039356" y="0"/>
                  </a:moveTo>
                  <a:lnTo>
                    <a:pt x="25907" y="0"/>
                  </a:lnTo>
                  <a:lnTo>
                    <a:pt x="15821" y="2030"/>
                  </a:lnTo>
                  <a:lnTo>
                    <a:pt x="7586" y="7572"/>
                  </a:lnTo>
                  <a:lnTo>
                    <a:pt x="2035" y="15805"/>
                  </a:lnTo>
                  <a:lnTo>
                    <a:pt x="0" y="25907"/>
                  </a:lnTo>
                  <a:lnTo>
                    <a:pt x="0" y="595883"/>
                  </a:lnTo>
                  <a:lnTo>
                    <a:pt x="2035" y="605986"/>
                  </a:lnTo>
                  <a:lnTo>
                    <a:pt x="7586" y="614219"/>
                  </a:lnTo>
                  <a:lnTo>
                    <a:pt x="15821" y="619761"/>
                  </a:lnTo>
                  <a:lnTo>
                    <a:pt x="25907" y="621791"/>
                  </a:lnTo>
                  <a:lnTo>
                    <a:pt x="7039356" y="621791"/>
                  </a:lnTo>
                  <a:lnTo>
                    <a:pt x="7049458" y="619761"/>
                  </a:lnTo>
                  <a:lnTo>
                    <a:pt x="7057691" y="614219"/>
                  </a:lnTo>
                  <a:lnTo>
                    <a:pt x="7063233" y="605986"/>
                  </a:lnTo>
                  <a:lnTo>
                    <a:pt x="7065263" y="595883"/>
                  </a:lnTo>
                  <a:lnTo>
                    <a:pt x="7065263" y="25907"/>
                  </a:lnTo>
                  <a:lnTo>
                    <a:pt x="7063233" y="15805"/>
                  </a:lnTo>
                  <a:lnTo>
                    <a:pt x="7057691" y="7572"/>
                  </a:lnTo>
                  <a:lnTo>
                    <a:pt x="7049458" y="2030"/>
                  </a:lnTo>
                  <a:lnTo>
                    <a:pt x="703935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9368" y="3244596"/>
              <a:ext cx="7065645" cy="622300"/>
            </a:xfrm>
            <a:custGeom>
              <a:avLst/>
              <a:gdLst/>
              <a:ahLst/>
              <a:cxnLst/>
              <a:rect l="l" t="t" r="r" b="b"/>
              <a:pathLst>
                <a:path w="7065645" h="622300">
                  <a:moveTo>
                    <a:pt x="0" y="25907"/>
                  </a:moveTo>
                  <a:lnTo>
                    <a:pt x="2035" y="15805"/>
                  </a:lnTo>
                  <a:lnTo>
                    <a:pt x="7586" y="7572"/>
                  </a:lnTo>
                  <a:lnTo>
                    <a:pt x="15821" y="2030"/>
                  </a:lnTo>
                  <a:lnTo>
                    <a:pt x="25907" y="0"/>
                  </a:lnTo>
                  <a:lnTo>
                    <a:pt x="7039356" y="0"/>
                  </a:lnTo>
                  <a:lnTo>
                    <a:pt x="7049458" y="2030"/>
                  </a:lnTo>
                  <a:lnTo>
                    <a:pt x="7057691" y="7572"/>
                  </a:lnTo>
                  <a:lnTo>
                    <a:pt x="7063233" y="15805"/>
                  </a:lnTo>
                  <a:lnTo>
                    <a:pt x="7065263" y="25907"/>
                  </a:lnTo>
                  <a:lnTo>
                    <a:pt x="7065263" y="595883"/>
                  </a:lnTo>
                  <a:lnTo>
                    <a:pt x="7063233" y="605986"/>
                  </a:lnTo>
                  <a:lnTo>
                    <a:pt x="7057691" y="614219"/>
                  </a:lnTo>
                  <a:lnTo>
                    <a:pt x="7049458" y="619761"/>
                  </a:lnTo>
                  <a:lnTo>
                    <a:pt x="7039356" y="621791"/>
                  </a:lnTo>
                  <a:lnTo>
                    <a:pt x="25907" y="621791"/>
                  </a:lnTo>
                  <a:lnTo>
                    <a:pt x="15821" y="619761"/>
                  </a:lnTo>
                  <a:lnTo>
                    <a:pt x="7586" y="614219"/>
                  </a:lnTo>
                  <a:lnTo>
                    <a:pt x="2035" y="605986"/>
                  </a:lnTo>
                  <a:lnTo>
                    <a:pt x="0" y="595883"/>
                  </a:lnTo>
                  <a:lnTo>
                    <a:pt x="0" y="2590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6320" y="3951731"/>
              <a:ext cx="7065645" cy="623570"/>
            </a:xfrm>
            <a:custGeom>
              <a:avLst/>
              <a:gdLst/>
              <a:ahLst/>
              <a:cxnLst/>
              <a:rect l="l" t="t" r="r" b="b"/>
              <a:pathLst>
                <a:path w="7065645" h="623570">
                  <a:moveTo>
                    <a:pt x="7039229" y="0"/>
                  </a:moveTo>
                  <a:lnTo>
                    <a:pt x="25971" y="0"/>
                  </a:lnTo>
                  <a:lnTo>
                    <a:pt x="15864" y="2049"/>
                  </a:lnTo>
                  <a:lnTo>
                    <a:pt x="7608" y="7635"/>
                  </a:lnTo>
                  <a:lnTo>
                    <a:pt x="2041" y="15912"/>
                  </a:lnTo>
                  <a:lnTo>
                    <a:pt x="0" y="26035"/>
                  </a:lnTo>
                  <a:lnTo>
                    <a:pt x="0" y="597281"/>
                  </a:lnTo>
                  <a:lnTo>
                    <a:pt x="2041" y="607403"/>
                  </a:lnTo>
                  <a:lnTo>
                    <a:pt x="7608" y="615680"/>
                  </a:lnTo>
                  <a:lnTo>
                    <a:pt x="15864" y="621266"/>
                  </a:lnTo>
                  <a:lnTo>
                    <a:pt x="25971" y="623316"/>
                  </a:lnTo>
                  <a:lnTo>
                    <a:pt x="7039229" y="623316"/>
                  </a:lnTo>
                  <a:lnTo>
                    <a:pt x="7049351" y="621266"/>
                  </a:lnTo>
                  <a:lnTo>
                    <a:pt x="7057628" y="615680"/>
                  </a:lnTo>
                  <a:lnTo>
                    <a:pt x="7063214" y="607403"/>
                  </a:lnTo>
                  <a:lnTo>
                    <a:pt x="7065263" y="597281"/>
                  </a:lnTo>
                  <a:lnTo>
                    <a:pt x="7065263" y="26035"/>
                  </a:lnTo>
                  <a:lnTo>
                    <a:pt x="7063214" y="15912"/>
                  </a:lnTo>
                  <a:lnTo>
                    <a:pt x="7057628" y="7635"/>
                  </a:lnTo>
                  <a:lnTo>
                    <a:pt x="7049351" y="2049"/>
                  </a:lnTo>
                  <a:lnTo>
                    <a:pt x="703922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6320" y="3951731"/>
              <a:ext cx="7065645" cy="623570"/>
            </a:xfrm>
            <a:custGeom>
              <a:avLst/>
              <a:gdLst/>
              <a:ahLst/>
              <a:cxnLst/>
              <a:rect l="l" t="t" r="r" b="b"/>
              <a:pathLst>
                <a:path w="7065645" h="623570">
                  <a:moveTo>
                    <a:pt x="0" y="26035"/>
                  </a:moveTo>
                  <a:lnTo>
                    <a:pt x="2041" y="15912"/>
                  </a:lnTo>
                  <a:lnTo>
                    <a:pt x="7608" y="7635"/>
                  </a:lnTo>
                  <a:lnTo>
                    <a:pt x="15864" y="2049"/>
                  </a:lnTo>
                  <a:lnTo>
                    <a:pt x="25971" y="0"/>
                  </a:lnTo>
                  <a:lnTo>
                    <a:pt x="7039229" y="0"/>
                  </a:lnTo>
                  <a:lnTo>
                    <a:pt x="7049351" y="2049"/>
                  </a:lnTo>
                  <a:lnTo>
                    <a:pt x="7057628" y="7635"/>
                  </a:lnTo>
                  <a:lnTo>
                    <a:pt x="7063214" y="15912"/>
                  </a:lnTo>
                  <a:lnTo>
                    <a:pt x="7065263" y="26035"/>
                  </a:lnTo>
                  <a:lnTo>
                    <a:pt x="7065263" y="597281"/>
                  </a:lnTo>
                  <a:lnTo>
                    <a:pt x="7063214" y="607403"/>
                  </a:lnTo>
                  <a:lnTo>
                    <a:pt x="7057628" y="615680"/>
                  </a:lnTo>
                  <a:lnTo>
                    <a:pt x="7049351" y="621266"/>
                  </a:lnTo>
                  <a:lnTo>
                    <a:pt x="7039229" y="623316"/>
                  </a:lnTo>
                  <a:lnTo>
                    <a:pt x="25971" y="623316"/>
                  </a:lnTo>
                  <a:lnTo>
                    <a:pt x="15864" y="621266"/>
                  </a:lnTo>
                  <a:lnTo>
                    <a:pt x="7608" y="615680"/>
                  </a:lnTo>
                  <a:lnTo>
                    <a:pt x="2041" y="607403"/>
                  </a:lnTo>
                  <a:lnTo>
                    <a:pt x="0" y="597281"/>
                  </a:lnTo>
                  <a:lnTo>
                    <a:pt x="0" y="2603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9368" y="4661915"/>
              <a:ext cx="7065645" cy="622300"/>
            </a:xfrm>
            <a:custGeom>
              <a:avLst/>
              <a:gdLst/>
              <a:ahLst/>
              <a:cxnLst/>
              <a:rect l="l" t="t" r="r" b="b"/>
              <a:pathLst>
                <a:path w="7065645" h="622300">
                  <a:moveTo>
                    <a:pt x="7039356" y="0"/>
                  </a:moveTo>
                  <a:lnTo>
                    <a:pt x="25907" y="0"/>
                  </a:lnTo>
                  <a:lnTo>
                    <a:pt x="15821" y="2030"/>
                  </a:lnTo>
                  <a:lnTo>
                    <a:pt x="7586" y="7572"/>
                  </a:lnTo>
                  <a:lnTo>
                    <a:pt x="2035" y="15805"/>
                  </a:lnTo>
                  <a:lnTo>
                    <a:pt x="0" y="25907"/>
                  </a:lnTo>
                  <a:lnTo>
                    <a:pt x="0" y="595883"/>
                  </a:lnTo>
                  <a:lnTo>
                    <a:pt x="2035" y="605986"/>
                  </a:lnTo>
                  <a:lnTo>
                    <a:pt x="7586" y="614219"/>
                  </a:lnTo>
                  <a:lnTo>
                    <a:pt x="15821" y="619761"/>
                  </a:lnTo>
                  <a:lnTo>
                    <a:pt x="25907" y="621791"/>
                  </a:lnTo>
                  <a:lnTo>
                    <a:pt x="7039356" y="621791"/>
                  </a:lnTo>
                  <a:lnTo>
                    <a:pt x="7049458" y="619761"/>
                  </a:lnTo>
                  <a:lnTo>
                    <a:pt x="7057691" y="614219"/>
                  </a:lnTo>
                  <a:lnTo>
                    <a:pt x="7063233" y="605986"/>
                  </a:lnTo>
                  <a:lnTo>
                    <a:pt x="7065263" y="595883"/>
                  </a:lnTo>
                  <a:lnTo>
                    <a:pt x="7065263" y="25907"/>
                  </a:lnTo>
                  <a:lnTo>
                    <a:pt x="7063233" y="15805"/>
                  </a:lnTo>
                  <a:lnTo>
                    <a:pt x="7057691" y="7572"/>
                  </a:lnTo>
                  <a:lnTo>
                    <a:pt x="7049458" y="2030"/>
                  </a:lnTo>
                  <a:lnTo>
                    <a:pt x="703935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39368" y="4661915"/>
              <a:ext cx="7065645" cy="622300"/>
            </a:xfrm>
            <a:custGeom>
              <a:avLst/>
              <a:gdLst/>
              <a:ahLst/>
              <a:cxnLst/>
              <a:rect l="l" t="t" r="r" b="b"/>
              <a:pathLst>
                <a:path w="7065645" h="622300">
                  <a:moveTo>
                    <a:pt x="0" y="25907"/>
                  </a:moveTo>
                  <a:lnTo>
                    <a:pt x="2035" y="15805"/>
                  </a:lnTo>
                  <a:lnTo>
                    <a:pt x="7586" y="7572"/>
                  </a:lnTo>
                  <a:lnTo>
                    <a:pt x="15821" y="2030"/>
                  </a:lnTo>
                  <a:lnTo>
                    <a:pt x="25907" y="0"/>
                  </a:lnTo>
                  <a:lnTo>
                    <a:pt x="7039356" y="0"/>
                  </a:lnTo>
                  <a:lnTo>
                    <a:pt x="7049458" y="2030"/>
                  </a:lnTo>
                  <a:lnTo>
                    <a:pt x="7057691" y="7572"/>
                  </a:lnTo>
                  <a:lnTo>
                    <a:pt x="7063233" y="15805"/>
                  </a:lnTo>
                  <a:lnTo>
                    <a:pt x="7065263" y="25907"/>
                  </a:lnTo>
                  <a:lnTo>
                    <a:pt x="7065263" y="595883"/>
                  </a:lnTo>
                  <a:lnTo>
                    <a:pt x="7063233" y="605986"/>
                  </a:lnTo>
                  <a:lnTo>
                    <a:pt x="7057691" y="614219"/>
                  </a:lnTo>
                  <a:lnTo>
                    <a:pt x="7049458" y="619761"/>
                  </a:lnTo>
                  <a:lnTo>
                    <a:pt x="7039356" y="621791"/>
                  </a:lnTo>
                  <a:lnTo>
                    <a:pt x="25907" y="621791"/>
                  </a:lnTo>
                  <a:lnTo>
                    <a:pt x="15821" y="619761"/>
                  </a:lnTo>
                  <a:lnTo>
                    <a:pt x="7586" y="614219"/>
                  </a:lnTo>
                  <a:lnTo>
                    <a:pt x="2035" y="605986"/>
                  </a:lnTo>
                  <a:lnTo>
                    <a:pt x="0" y="595883"/>
                  </a:lnTo>
                  <a:lnTo>
                    <a:pt x="0" y="2590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5208" y="1518361"/>
            <a:ext cx="6577965" cy="3590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Verdana"/>
                <a:cs typeface="Verdana"/>
              </a:rPr>
              <a:t>Windows Server </a:t>
            </a:r>
            <a:r>
              <a:rPr sz="1800" b="1" dirty="0">
                <a:latin typeface="Verdana"/>
                <a:cs typeface="Verdana"/>
              </a:rPr>
              <a:t>2008 </a:t>
            </a:r>
            <a:r>
              <a:rPr sz="1800" b="1" spc="-5" dirty="0">
                <a:latin typeface="Verdana"/>
                <a:cs typeface="Verdana"/>
              </a:rPr>
              <a:t>supports four </a:t>
            </a:r>
            <a:r>
              <a:rPr sz="1800" b="1" dirty="0">
                <a:latin typeface="Verdana"/>
                <a:cs typeface="Verdana"/>
              </a:rPr>
              <a:t>VPN</a:t>
            </a:r>
            <a:r>
              <a:rPr sz="1800" b="1" spc="-4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tunneling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Verdana"/>
                <a:cs typeface="Verdana"/>
              </a:rPr>
              <a:t>protocols: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Verdana"/>
              <a:cs typeface="Verdana"/>
            </a:endParaRPr>
          </a:p>
          <a:p>
            <a:pPr marL="57023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70230" algn="l"/>
              </a:tabLst>
            </a:pPr>
            <a:r>
              <a:rPr sz="1800" b="1" dirty="0">
                <a:latin typeface="Verdana"/>
                <a:cs typeface="Verdana"/>
              </a:rPr>
              <a:t>PPTP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699"/>
              </a:buClr>
              <a:buFont typeface="Verdana"/>
              <a:buChar char="•"/>
            </a:pPr>
            <a:endParaRPr sz="2800">
              <a:latin typeface="Verdana"/>
              <a:cs typeface="Verdana"/>
            </a:endParaRPr>
          </a:p>
          <a:p>
            <a:pPr marL="59245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92455" algn="l"/>
              </a:tabLst>
            </a:pPr>
            <a:r>
              <a:rPr sz="1800" b="1" spc="-5" dirty="0">
                <a:latin typeface="Verdana"/>
                <a:cs typeface="Verdana"/>
              </a:rPr>
              <a:t>L2TP/IPsec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699"/>
              </a:buClr>
              <a:buFont typeface="Verdana"/>
              <a:buChar char="•"/>
            </a:pPr>
            <a:endParaRPr sz="2800">
              <a:latin typeface="Verdana"/>
              <a:cs typeface="Verdana"/>
            </a:endParaRPr>
          </a:p>
          <a:p>
            <a:pPr marL="58928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89915" algn="l"/>
              </a:tabLst>
            </a:pPr>
            <a:r>
              <a:rPr sz="1800" b="1" dirty="0">
                <a:latin typeface="Verdana"/>
                <a:cs typeface="Verdana"/>
              </a:rPr>
              <a:t>SSTP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6699"/>
              </a:buClr>
              <a:buFont typeface="Verdana"/>
              <a:buChar char="•"/>
            </a:pPr>
            <a:endParaRPr sz="2800">
              <a:latin typeface="Verdana"/>
              <a:cs typeface="Verdana"/>
            </a:endParaRPr>
          </a:p>
          <a:p>
            <a:pPr marL="59245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92455" algn="l"/>
              </a:tabLst>
            </a:pPr>
            <a:r>
              <a:rPr sz="1800" b="1" spc="-5" dirty="0">
                <a:latin typeface="Verdana"/>
                <a:cs typeface="Verdana"/>
              </a:rPr>
              <a:t>IKEv2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318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Configuration</a:t>
            </a:r>
            <a:r>
              <a:rPr spc="50" dirty="0"/>
              <a:t> </a:t>
            </a:r>
            <a:r>
              <a:rPr spc="-5" dirty="0"/>
              <a:t>Requirements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0080" y="1431036"/>
            <a:ext cx="7863840" cy="4249420"/>
            <a:chOff x="640080" y="1431036"/>
            <a:chExt cx="7863840" cy="4249420"/>
          </a:xfrm>
        </p:grpSpPr>
        <p:sp>
          <p:nvSpPr>
            <p:cNvPr id="4" name="object 4"/>
            <p:cNvSpPr/>
            <p:nvPr/>
          </p:nvSpPr>
          <p:spPr>
            <a:xfrm>
              <a:off x="644652" y="1435608"/>
              <a:ext cx="7854950" cy="4239895"/>
            </a:xfrm>
            <a:custGeom>
              <a:avLst/>
              <a:gdLst/>
              <a:ahLst/>
              <a:cxnLst/>
              <a:rect l="l" t="t" r="r" b="b"/>
              <a:pathLst>
                <a:path w="7854950" h="4239895">
                  <a:moveTo>
                    <a:pt x="7678039" y="0"/>
                  </a:moveTo>
                  <a:lnTo>
                    <a:pt x="176669" y="0"/>
                  </a:lnTo>
                  <a:lnTo>
                    <a:pt x="129703" y="6312"/>
                  </a:lnTo>
                  <a:lnTo>
                    <a:pt x="87500" y="24125"/>
                  </a:lnTo>
                  <a:lnTo>
                    <a:pt x="51744" y="51752"/>
                  </a:lnTo>
                  <a:lnTo>
                    <a:pt x="24120" y="87507"/>
                  </a:lnTo>
                  <a:lnTo>
                    <a:pt x="6310" y="129704"/>
                  </a:lnTo>
                  <a:lnTo>
                    <a:pt x="0" y="176656"/>
                  </a:lnTo>
                  <a:lnTo>
                    <a:pt x="0" y="4063110"/>
                  </a:lnTo>
                  <a:lnTo>
                    <a:pt x="6310" y="4110072"/>
                  </a:lnTo>
                  <a:lnTo>
                    <a:pt x="24120" y="4152271"/>
                  </a:lnTo>
                  <a:lnTo>
                    <a:pt x="51744" y="4188025"/>
                  </a:lnTo>
                  <a:lnTo>
                    <a:pt x="87500" y="4215648"/>
                  </a:lnTo>
                  <a:lnTo>
                    <a:pt x="129703" y="4233457"/>
                  </a:lnTo>
                  <a:lnTo>
                    <a:pt x="176669" y="4239768"/>
                  </a:lnTo>
                  <a:lnTo>
                    <a:pt x="7678039" y="4239768"/>
                  </a:lnTo>
                  <a:lnTo>
                    <a:pt x="7724991" y="4233457"/>
                  </a:lnTo>
                  <a:lnTo>
                    <a:pt x="7767188" y="4215648"/>
                  </a:lnTo>
                  <a:lnTo>
                    <a:pt x="7802943" y="4188025"/>
                  </a:lnTo>
                  <a:lnTo>
                    <a:pt x="7830570" y="4152271"/>
                  </a:lnTo>
                  <a:lnTo>
                    <a:pt x="7848383" y="4110072"/>
                  </a:lnTo>
                  <a:lnTo>
                    <a:pt x="7854696" y="4063110"/>
                  </a:lnTo>
                  <a:lnTo>
                    <a:pt x="7854696" y="176656"/>
                  </a:lnTo>
                  <a:lnTo>
                    <a:pt x="7848383" y="129704"/>
                  </a:lnTo>
                  <a:lnTo>
                    <a:pt x="7830570" y="87507"/>
                  </a:lnTo>
                  <a:lnTo>
                    <a:pt x="7802943" y="51752"/>
                  </a:lnTo>
                  <a:lnTo>
                    <a:pt x="7767188" y="24125"/>
                  </a:lnTo>
                  <a:lnTo>
                    <a:pt x="7724991" y="6312"/>
                  </a:lnTo>
                  <a:lnTo>
                    <a:pt x="7678039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2" y="1435608"/>
              <a:ext cx="7854950" cy="4239895"/>
            </a:xfrm>
            <a:custGeom>
              <a:avLst/>
              <a:gdLst/>
              <a:ahLst/>
              <a:cxnLst/>
              <a:rect l="l" t="t" r="r" b="b"/>
              <a:pathLst>
                <a:path w="7854950" h="4239895">
                  <a:moveTo>
                    <a:pt x="0" y="176656"/>
                  </a:moveTo>
                  <a:lnTo>
                    <a:pt x="6310" y="129704"/>
                  </a:lnTo>
                  <a:lnTo>
                    <a:pt x="24120" y="87507"/>
                  </a:lnTo>
                  <a:lnTo>
                    <a:pt x="51744" y="51752"/>
                  </a:lnTo>
                  <a:lnTo>
                    <a:pt x="87500" y="24125"/>
                  </a:lnTo>
                  <a:lnTo>
                    <a:pt x="129703" y="6312"/>
                  </a:lnTo>
                  <a:lnTo>
                    <a:pt x="176669" y="0"/>
                  </a:lnTo>
                  <a:lnTo>
                    <a:pt x="7678039" y="0"/>
                  </a:lnTo>
                  <a:lnTo>
                    <a:pt x="7724991" y="6312"/>
                  </a:lnTo>
                  <a:lnTo>
                    <a:pt x="7767188" y="24125"/>
                  </a:lnTo>
                  <a:lnTo>
                    <a:pt x="7802943" y="51752"/>
                  </a:lnTo>
                  <a:lnTo>
                    <a:pt x="7830570" y="87507"/>
                  </a:lnTo>
                  <a:lnTo>
                    <a:pt x="7848383" y="129704"/>
                  </a:lnTo>
                  <a:lnTo>
                    <a:pt x="7854696" y="176656"/>
                  </a:lnTo>
                  <a:lnTo>
                    <a:pt x="7854696" y="4063110"/>
                  </a:lnTo>
                  <a:lnTo>
                    <a:pt x="7848383" y="4110072"/>
                  </a:lnTo>
                  <a:lnTo>
                    <a:pt x="7830570" y="4152271"/>
                  </a:lnTo>
                  <a:lnTo>
                    <a:pt x="7802943" y="4188025"/>
                  </a:lnTo>
                  <a:lnTo>
                    <a:pt x="7767188" y="4215648"/>
                  </a:lnTo>
                  <a:lnTo>
                    <a:pt x="7724991" y="4233457"/>
                  </a:lnTo>
                  <a:lnTo>
                    <a:pt x="7678039" y="4239768"/>
                  </a:lnTo>
                  <a:lnTo>
                    <a:pt x="176669" y="4239768"/>
                  </a:lnTo>
                  <a:lnTo>
                    <a:pt x="129703" y="4233457"/>
                  </a:lnTo>
                  <a:lnTo>
                    <a:pt x="87500" y="4215648"/>
                  </a:lnTo>
                  <a:lnTo>
                    <a:pt x="51744" y="4188025"/>
                  </a:lnTo>
                  <a:lnTo>
                    <a:pt x="24120" y="4152271"/>
                  </a:lnTo>
                  <a:lnTo>
                    <a:pt x="6310" y="4110072"/>
                  </a:lnTo>
                  <a:lnTo>
                    <a:pt x="0" y="4063110"/>
                  </a:lnTo>
                  <a:lnTo>
                    <a:pt x="0" y="17665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9368" y="1944623"/>
              <a:ext cx="7065645" cy="622300"/>
            </a:xfrm>
            <a:custGeom>
              <a:avLst/>
              <a:gdLst/>
              <a:ahLst/>
              <a:cxnLst/>
              <a:rect l="l" t="t" r="r" b="b"/>
              <a:pathLst>
                <a:path w="7065645" h="622300">
                  <a:moveTo>
                    <a:pt x="7039356" y="0"/>
                  </a:moveTo>
                  <a:lnTo>
                    <a:pt x="25907" y="0"/>
                  </a:lnTo>
                  <a:lnTo>
                    <a:pt x="15821" y="2030"/>
                  </a:lnTo>
                  <a:lnTo>
                    <a:pt x="7586" y="7572"/>
                  </a:lnTo>
                  <a:lnTo>
                    <a:pt x="2035" y="15805"/>
                  </a:lnTo>
                  <a:lnTo>
                    <a:pt x="0" y="25908"/>
                  </a:lnTo>
                  <a:lnTo>
                    <a:pt x="0" y="595884"/>
                  </a:lnTo>
                  <a:lnTo>
                    <a:pt x="2035" y="605986"/>
                  </a:lnTo>
                  <a:lnTo>
                    <a:pt x="7586" y="614219"/>
                  </a:lnTo>
                  <a:lnTo>
                    <a:pt x="15821" y="619761"/>
                  </a:lnTo>
                  <a:lnTo>
                    <a:pt x="25907" y="621791"/>
                  </a:lnTo>
                  <a:lnTo>
                    <a:pt x="7039356" y="621791"/>
                  </a:lnTo>
                  <a:lnTo>
                    <a:pt x="7049458" y="619761"/>
                  </a:lnTo>
                  <a:lnTo>
                    <a:pt x="7057691" y="614219"/>
                  </a:lnTo>
                  <a:lnTo>
                    <a:pt x="7063233" y="605986"/>
                  </a:lnTo>
                  <a:lnTo>
                    <a:pt x="7065263" y="595884"/>
                  </a:lnTo>
                  <a:lnTo>
                    <a:pt x="7065263" y="25908"/>
                  </a:lnTo>
                  <a:lnTo>
                    <a:pt x="7063233" y="15805"/>
                  </a:lnTo>
                  <a:lnTo>
                    <a:pt x="7057691" y="7572"/>
                  </a:lnTo>
                  <a:lnTo>
                    <a:pt x="7049458" y="2030"/>
                  </a:lnTo>
                  <a:lnTo>
                    <a:pt x="703935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9368" y="1944623"/>
              <a:ext cx="7065645" cy="622300"/>
            </a:xfrm>
            <a:custGeom>
              <a:avLst/>
              <a:gdLst/>
              <a:ahLst/>
              <a:cxnLst/>
              <a:rect l="l" t="t" r="r" b="b"/>
              <a:pathLst>
                <a:path w="7065645" h="622300">
                  <a:moveTo>
                    <a:pt x="0" y="25908"/>
                  </a:moveTo>
                  <a:lnTo>
                    <a:pt x="2035" y="15805"/>
                  </a:lnTo>
                  <a:lnTo>
                    <a:pt x="7586" y="7572"/>
                  </a:lnTo>
                  <a:lnTo>
                    <a:pt x="15821" y="2030"/>
                  </a:lnTo>
                  <a:lnTo>
                    <a:pt x="25907" y="0"/>
                  </a:lnTo>
                  <a:lnTo>
                    <a:pt x="7039356" y="0"/>
                  </a:lnTo>
                  <a:lnTo>
                    <a:pt x="7049458" y="2030"/>
                  </a:lnTo>
                  <a:lnTo>
                    <a:pt x="7057691" y="7572"/>
                  </a:lnTo>
                  <a:lnTo>
                    <a:pt x="7063233" y="15805"/>
                  </a:lnTo>
                  <a:lnTo>
                    <a:pt x="7065263" y="25908"/>
                  </a:lnTo>
                  <a:lnTo>
                    <a:pt x="7065263" y="595884"/>
                  </a:lnTo>
                  <a:lnTo>
                    <a:pt x="7063233" y="605986"/>
                  </a:lnTo>
                  <a:lnTo>
                    <a:pt x="7057691" y="614219"/>
                  </a:lnTo>
                  <a:lnTo>
                    <a:pt x="7049458" y="619761"/>
                  </a:lnTo>
                  <a:lnTo>
                    <a:pt x="7039356" y="621791"/>
                  </a:lnTo>
                  <a:lnTo>
                    <a:pt x="25907" y="621791"/>
                  </a:lnTo>
                  <a:lnTo>
                    <a:pt x="15821" y="619761"/>
                  </a:lnTo>
                  <a:lnTo>
                    <a:pt x="7586" y="614219"/>
                  </a:lnTo>
                  <a:lnTo>
                    <a:pt x="2035" y="605986"/>
                  </a:lnTo>
                  <a:lnTo>
                    <a:pt x="0" y="595884"/>
                  </a:lnTo>
                  <a:lnTo>
                    <a:pt x="0" y="2590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62228" y="2653283"/>
              <a:ext cx="7063740" cy="622300"/>
            </a:xfrm>
            <a:custGeom>
              <a:avLst/>
              <a:gdLst/>
              <a:ahLst/>
              <a:cxnLst/>
              <a:rect l="l" t="t" r="r" b="b"/>
              <a:pathLst>
                <a:path w="7063740" h="622300">
                  <a:moveTo>
                    <a:pt x="7037832" y="0"/>
                  </a:moveTo>
                  <a:lnTo>
                    <a:pt x="25908" y="0"/>
                  </a:lnTo>
                  <a:lnTo>
                    <a:pt x="15821" y="2030"/>
                  </a:lnTo>
                  <a:lnTo>
                    <a:pt x="7586" y="7572"/>
                  </a:lnTo>
                  <a:lnTo>
                    <a:pt x="2035" y="15805"/>
                  </a:lnTo>
                  <a:lnTo>
                    <a:pt x="0" y="25907"/>
                  </a:lnTo>
                  <a:lnTo>
                    <a:pt x="0" y="595883"/>
                  </a:lnTo>
                  <a:lnTo>
                    <a:pt x="2035" y="605986"/>
                  </a:lnTo>
                  <a:lnTo>
                    <a:pt x="7586" y="614219"/>
                  </a:lnTo>
                  <a:lnTo>
                    <a:pt x="15821" y="619761"/>
                  </a:lnTo>
                  <a:lnTo>
                    <a:pt x="25908" y="621791"/>
                  </a:lnTo>
                  <a:lnTo>
                    <a:pt x="7037832" y="621791"/>
                  </a:lnTo>
                  <a:lnTo>
                    <a:pt x="7047934" y="619761"/>
                  </a:lnTo>
                  <a:lnTo>
                    <a:pt x="7056167" y="614219"/>
                  </a:lnTo>
                  <a:lnTo>
                    <a:pt x="7061709" y="605986"/>
                  </a:lnTo>
                  <a:lnTo>
                    <a:pt x="7063740" y="595883"/>
                  </a:lnTo>
                  <a:lnTo>
                    <a:pt x="7063740" y="25907"/>
                  </a:lnTo>
                  <a:lnTo>
                    <a:pt x="7061709" y="15805"/>
                  </a:lnTo>
                  <a:lnTo>
                    <a:pt x="7056167" y="7572"/>
                  </a:lnTo>
                  <a:lnTo>
                    <a:pt x="7047934" y="2030"/>
                  </a:lnTo>
                  <a:lnTo>
                    <a:pt x="703783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2228" y="2653283"/>
              <a:ext cx="7063740" cy="622300"/>
            </a:xfrm>
            <a:custGeom>
              <a:avLst/>
              <a:gdLst/>
              <a:ahLst/>
              <a:cxnLst/>
              <a:rect l="l" t="t" r="r" b="b"/>
              <a:pathLst>
                <a:path w="7063740" h="622300">
                  <a:moveTo>
                    <a:pt x="0" y="25907"/>
                  </a:moveTo>
                  <a:lnTo>
                    <a:pt x="2035" y="15805"/>
                  </a:lnTo>
                  <a:lnTo>
                    <a:pt x="7586" y="7572"/>
                  </a:lnTo>
                  <a:lnTo>
                    <a:pt x="15821" y="2030"/>
                  </a:lnTo>
                  <a:lnTo>
                    <a:pt x="25908" y="0"/>
                  </a:lnTo>
                  <a:lnTo>
                    <a:pt x="7037832" y="0"/>
                  </a:lnTo>
                  <a:lnTo>
                    <a:pt x="7047934" y="2030"/>
                  </a:lnTo>
                  <a:lnTo>
                    <a:pt x="7056167" y="7572"/>
                  </a:lnTo>
                  <a:lnTo>
                    <a:pt x="7061709" y="15805"/>
                  </a:lnTo>
                  <a:lnTo>
                    <a:pt x="7063740" y="25907"/>
                  </a:lnTo>
                  <a:lnTo>
                    <a:pt x="7063740" y="595883"/>
                  </a:lnTo>
                  <a:lnTo>
                    <a:pt x="7061709" y="605986"/>
                  </a:lnTo>
                  <a:lnTo>
                    <a:pt x="7056167" y="614219"/>
                  </a:lnTo>
                  <a:lnTo>
                    <a:pt x="7047934" y="619761"/>
                  </a:lnTo>
                  <a:lnTo>
                    <a:pt x="7037832" y="621791"/>
                  </a:lnTo>
                  <a:lnTo>
                    <a:pt x="25908" y="621791"/>
                  </a:lnTo>
                  <a:lnTo>
                    <a:pt x="15821" y="619761"/>
                  </a:lnTo>
                  <a:lnTo>
                    <a:pt x="7586" y="614219"/>
                  </a:lnTo>
                  <a:lnTo>
                    <a:pt x="2035" y="605986"/>
                  </a:lnTo>
                  <a:lnTo>
                    <a:pt x="0" y="595883"/>
                  </a:lnTo>
                  <a:lnTo>
                    <a:pt x="0" y="2590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59180" y="3360419"/>
              <a:ext cx="7063740" cy="623570"/>
            </a:xfrm>
            <a:custGeom>
              <a:avLst/>
              <a:gdLst/>
              <a:ahLst/>
              <a:cxnLst/>
              <a:rect l="l" t="t" r="r" b="b"/>
              <a:pathLst>
                <a:path w="7063740" h="623570">
                  <a:moveTo>
                    <a:pt x="7037705" y="0"/>
                  </a:moveTo>
                  <a:lnTo>
                    <a:pt x="25971" y="0"/>
                  </a:lnTo>
                  <a:lnTo>
                    <a:pt x="15864" y="2047"/>
                  </a:lnTo>
                  <a:lnTo>
                    <a:pt x="7608" y="7619"/>
                  </a:lnTo>
                  <a:lnTo>
                    <a:pt x="2041" y="15859"/>
                  </a:lnTo>
                  <a:lnTo>
                    <a:pt x="0" y="25907"/>
                  </a:lnTo>
                  <a:lnTo>
                    <a:pt x="0" y="597280"/>
                  </a:lnTo>
                  <a:lnTo>
                    <a:pt x="2041" y="607403"/>
                  </a:lnTo>
                  <a:lnTo>
                    <a:pt x="7608" y="615680"/>
                  </a:lnTo>
                  <a:lnTo>
                    <a:pt x="15864" y="621266"/>
                  </a:lnTo>
                  <a:lnTo>
                    <a:pt x="25971" y="623315"/>
                  </a:lnTo>
                  <a:lnTo>
                    <a:pt x="7037705" y="623315"/>
                  </a:lnTo>
                  <a:lnTo>
                    <a:pt x="7047827" y="621266"/>
                  </a:lnTo>
                  <a:lnTo>
                    <a:pt x="7056104" y="615680"/>
                  </a:lnTo>
                  <a:lnTo>
                    <a:pt x="7061690" y="607403"/>
                  </a:lnTo>
                  <a:lnTo>
                    <a:pt x="7063740" y="597280"/>
                  </a:lnTo>
                  <a:lnTo>
                    <a:pt x="7063740" y="25907"/>
                  </a:lnTo>
                  <a:lnTo>
                    <a:pt x="7061690" y="15859"/>
                  </a:lnTo>
                  <a:lnTo>
                    <a:pt x="7056104" y="7619"/>
                  </a:lnTo>
                  <a:lnTo>
                    <a:pt x="7047827" y="2047"/>
                  </a:lnTo>
                  <a:lnTo>
                    <a:pt x="703770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59180" y="3360419"/>
              <a:ext cx="7063740" cy="623570"/>
            </a:xfrm>
            <a:custGeom>
              <a:avLst/>
              <a:gdLst/>
              <a:ahLst/>
              <a:cxnLst/>
              <a:rect l="l" t="t" r="r" b="b"/>
              <a:pathLst>
                <a:path w="7063740" h="623570">
                  <a:moveTo>
                    <a:pt x="0" y="25907"/>
                  </a:moveTo>
                  <a:lnTo>
                    <a:pt x="2041" y="15859"/>
                  </a:lnTo>
                  <a:lnTo>
                    <a:pt x="7608" y="7619"/>
                  </a:lnTo>
                  <a:lnTo>
                    <a:pt x="15864" y="2047"/>
                  </a:lnTo>
                  <a:lnTo>
                    <a:pt x="25971" y="0"/>
                  </a:lnTo>
                  <a:lnTo>
                    <a:pt x="7037705" y="0"/>
                  </a:lnTo>
                  <a:lnTo>
                    <a:pt x="7047827" y="2047"/>
                  </a:lnTo>
                  <a:lnTo>
                    <a:pt x="7056104" y="7619"/>
                  </a:lnTo>
                  <a:lnTo>
                    <a:pt x="7061690" y="15859"/>
                  </a:lnTo>
                  <a:lnTo>
                    <a:pt x="7063740" y="25907"/>
                  </a:lnTo>
                  <a:lnTo>
                    <a:pt x="7063740" y="597280"/>
                  </a:lnTo>
                  <a:lnTo>
                    <a:pt x="7061690" y="607403"/>
                  </a:lnTo>
                  <a:lnTo>
                    <a:pt x="7056104" y="615680"/>
                  </a:lnTo>
                  <a:lnTo>
                    <a:pt x="7047827" y="621266"/>
                  </a:lnTo>
                  <a:lnTo>
                    <a:pt x="7037705" y="623315"/>
                  </a:lnTo>
                  <a:lnTo>
                    <a:pt x="25971" y="623315"/>
                  </a:lnTo>
                  <a:lnTo>
                    <a:pt x="15864" y="621266"/>
                  </a:lnTo>
                  <a:lnTo>
                    <a:pt x="7608" y="615680"/>
                  </a:lnTo>
                  <a:lnTo>
                    <a:pt x="2041" y="607403"/>
                  </a:lnTo>
                  <a:lnTo>
                    <a:pt x="0" y="597280"/>
                  </a:lnTo>
                  <a:lnTo>
                    <a:pt x="0" y="2590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62228" y="4070603"/>
              <a:ext cx="7063740" cy="622300"/>
            </a:xfrm>
            <a:custGeom>
              <a:avLst/>
              <a:gdLst/>
              <a:ahLst/>
              <a:cxnLst/>
              <a:rect l="l" t="t" r="r" b="b"/>
              <a:pathLst>
                <a:path w="7063740" h="622300">
                  <a:moveTo>
                    <a:pt x="7037832" y="0"/>
                  </a:moveTo>
                  <a:lnTo>
                    <a:pt x="25908" y="0"/>
                  </a:lnTo>
                  <a:lnTo>
                    <a:pt x="15821" y="2030"/>
                  </a:lnTo>
                  <a:lnTo>
                    <a:pt x="7586" y="7572"/>
                  </a:lnTo>
                  <a:lnTo>
                    <a:pt x="2035" y="15805"/>
                  </a:lnTo>
                  <a:lnTo>
                    <a:pt x="0" y="25908"/>
                  </a:lnTo>
                  <a:lnTo>
                    <a:pt x="0" y="595884"/>
                  </a:lnTo>
                  <a:lnTo>
                    <a:pt x="2035" y="605986"/>
                  </a:lnTo>
                  <a:lnTo>
                    <a:pt x="7586" y="614219"/>
                  </a:lnTo>
                  <a:lnTo>
                    <a:pt x="15821" y="619761"/>
                  </a:lnTo>
                  <a:lnTo>
                    <a:pt x="25908" y="621792"/>
                  </a:lnTo>
                  <a:lnTo>
                    <a:pt x="7037832" y="621792"/>
                  </a:lnTo>
                  <a:lnTo>
                    <a:pt x="7047934" y="619761"/>
                  </a:lnTo>
                  <a:lnTo>
                    <a:pt x="7056167" y="614219"/>
                  </a:lnTo>
                  <a:lnTo>
                    <a:pt x="7061709" y="605986"/>
                  </a:lnTo>
                  <a:lnTo>
                    <a:pt x="7063740" y="595884"/>
                  </a:lnTo>
                  <a:lnTo>
                    <a:pt x="7063740" y="25908"/>
                  </a:lnTo>
                  <a:lnTo>
                    <a:pt x="7061709" y="15805"/>
                  </a:lnTo>
                  <a:lnTo>
                    <a:pt x="7056167" y="7572"/>
                  </a:lnTo>
                  <a:lnTo>
                    <a:pt x="7047934" y="2030"/>
                  </a:lnTo>
                  <a:lnTo>
                    <a:pt x="703783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62228" y="4070603"/>
              <a:ext cx="7063740" cy="622300"/>
            </a:xfrm>
            <a:custGeom>
              <a:avLst/>
              <a:gdLst/>
              <a:ahLst/>
              <a:cxnLst/>
              <a:rect l="l" t="t" r="r" b="b"/>
              <a:pathLst>
                <a:path w="7063740" h="622300">
                  <a:moveTo>
                    <a:pt x="0" y="25908"/>
                  </a:moveTo>
                  <a:lnTo>
                    <a:pt x="2035" y="15805"/>
                  </a:lnTo>
                  <a:lnTo>
                    <a:pt x="7586" y="7572"/>
                  </a:lnTo>
                  <a:lnTo>
                    <a:pt x="15821" y="2030"/>
                  </a:lnTo>
                  <a:lnTo>
                    <a:pt x="25908" y="0"/>
                  </a:lnTo>
                  <a:lnTo>
                    <a:pt x="7037832" y="0"/>
                  </a:lnTo>
                  <a:lnTo>
                    <a:pt x="7047934" y="2030"/>
                  </a:lnTo>
                  <a:lnTo>
                    <a:pt x="7056167" y="7572"/>
                  </a:lnTo>
                  <a:lnTo>
                    <a:pt x="7061709" y="15805"/>
                  </a:lnTo>
                  <a:lnTo>
                    <a:pt x="7063740" y="25908"/>
                  </a:lnTo>
                  <a:lnTo>
                    <a:pt x="7063740" y="595884"/>
                  </a:lnTo>
                  <a:lnTo>
                    <a:pt x="7061709" y="605986"/>
                  </a:lnTo>
                  <a:lnTo>
                    <a:pt x="7056167" y="614219"/>
                  </a:lnTo>
                  <a:lnTo>
                    <a:pt x="7047934" y="619761"/>
                  </a:lnTo>
                  <a:lnTo>
                    <a:pt x="7037832" y="621792"/>
                  </a:lnTo>
                  <a:lnTo>
                    <a:pt x="25908" y="621792"/>
                  </a:lnTo>
                  <a:lnTo>
                    <a:pt x="15821" y="619761"/>
                  </a:lnTo>
                  <a:lnTo>
                    <a:pt x="7586" y="614219"/>
                  </a:lnTo>
                  <a:lnTo>
                    <a:pt x="2035" y="605986"/>
                  </a:lnTo>
                  <a:lnTo>
                    <a:pt x="0" y="595884"/>
                  </a:lnTo>
                  <a:lnTo>
                    <a:pt x="0" y="2590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59180" y="4777739"/>
              <a:ext cx="7063740" cy="623570"/>
            </a:xfrm>
            <a:custGeom>
              <a:avLst/>
              <a:gdLst/>
              <a:ahLst/>
              <a:cxnLst/>
              <a:rect l="l" t="t" r="r" b="b"/>
              <a:pathLst>
                <a:path w="7063740" h="623570">
                  <a:moveTo>
                    <a:pt x="7037705" y="0"/>
                  </a:moveTo>
                  <a:lnTo>
                    <a:pt x="25971" y="0"/>
                  </a:lnTo>
                  <a:lnTo>
                    <a:pt x="15864" y="2047"/>
                  </a:lnTo>
                  <a:lnTo>
                    <a:pt x="7608" y="7620"/>
                  </a:lnTo>
                  <a:lnTo>
                    <a:pt x="2041" y="15859"/>
                  </a:lnTo>
                  <a:lnTo>
                    <a:pt x="0" y="25908"/>
                  </a:lnTo>
                  <a:lnTo>
                    <a:pt x="0" y="597281"/>
                  </a:lnTo>
                  <a:lnTo>
                    <a:pt x="2041" y="607403"/>
                  </a:lnTo>
                  <a:lnTo>
                    <a:pt x="7608" y="615680"/>
                  </a:lnTo>
                  <a:lnTo>
                    <a:pt x="15864" y="621266"/>
                  </a:lnTo>
                  <a:lnTo>
                    <a:pt x="25971" y="623316"/>
                  </a:lnTo>
                  <a:lnTo>
                    <a:pt x="7037705" y="623316"/>
                  </a:lnTo>
                  <a:lnTo>
                    <a:pt x="7047827" y="621266"/>
                  </a:lnTo>
                  <a:lnTo>
                    <a:pt x="7056104" y="615680"/>
                  </a:lnTo>
                  <a:lnTo>
                    <a:pt x="7061690" y="607403"/>
                  </a:lnTo>
                  <a:lnTo>
                    <a:pt x="7063740" y="597281"/>
                  </a:lnTo>
                  <a:lnTo>
                    <a:pt x="7063740" y="25908"/>
                  </a:lnTo>
                  <a:lnTo>
                    <a:pt x="7061690" y="15859"/>
                  </a:lnTo>
                  <a:lnTo>
                    <a:pt x="7056104" y="7619"/>
                  </a:lnTo>
                  <a:lnTo>
                    <a:pt x="7047827" y="2047"/>
                  </a:lnTo>
                  <a:lnTo>
                    <a:pt x="703770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59180" y="4777739"/>
              <a:ext cx="7063740" cy="623570"/>
            </a:xfrm>
            <a:custGeom>
              <a:avLst/>
              <a:gdLst/>
              <a:ahLst/>
              <a:cxnLst/>
              <a:rect l="l" t="t" r="r" b="b"/>
              <a:pathLst>
                <a:path w="7063740" h="623570">
                  <a:moveTo>
                    <a:pt x="0" y="25908"/>
                  </a:moveTo>
                  <a:lnTo>
                    <a:pt x="2041" y="15859"/>
                  </a:lnTo>
                  <a:lnTo>
                    <a:pt x="7608" y="7620"/>
                  </a:lnTo>
                  <a:lnTo>
                    <a:pt x="15864" y="2047"/>
                  </a:lnTo>
                  <a:lnTo>
                    <a:pt x="25971" y="0"/>
                  </a:lnTo>
                  <a:lnTo>
                    <a:pt x="7037705" y="0"/>
                  </a:lnTo>
                  <a:lnTo>
                    <a:pt x="7047827" y="2047"/>
                  </a:lnTo>
                  <a:lnTo>
                    <a:pt x="7056104" y="7619"/>
                  </a:lnTo>
                  <a:lnTo>
                    <a:pt x="7061690" y="15859"/>
                  </a:lnTo>
                  <a:lnTo>
                    <a:pt x="7063740" y="25908"/>
                  </a:lnTo>
                  <a:lnTo>
                    <a:pt x="7063740" y="597281"/>
                  </a:lnTo>
                  <a:lnTo>
                    <a:pt x="7061690" y="607403"/>
                  </a:lnTo>
                  <a:lnTo>
                    <a:pt x="7056104" y="615680"/>
                  </a:lnTo>
                  <a:lnTo>
                    <a:pt x="7047827" y="621266"/>
                  </a:lnTo>
                  <a:lnTo>
                    <a:pt x="7037705" y="623316"/>
                  </a:lnTo>
                  <a:lnTo>
                    <a:pt x="25971" y="623316"/>
                  </a:lnTo>
                  <a:lnTo>
                    <a:pt x="15864" y="621266"/>
                  </a:lnTo>
                  <a:lnTo>
                    <a:pt x="7608" y="615680"/>
                  </a:lnTo>
                  <a:lnTo>
                    <a:pt x="2041" y="607403"/>
                  </a:lnTo>
                  <a:lnTo>
                    <a:pt x="0" y="597281"/>
                  </a:lnTo>
                  <a:lnTo>
                    <a:pt x="0" y="2590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5208" y="1518361"/>
            <a:ext cx="6587490" cy="3830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VPN </a:t>
            </a:r>
            <a:r>
              <a:rPr sz="1800" b="1" spc="-5" dirty="0">
                <a:latin typeface="Verdana"/>
                <a:cs typeface="Verdana"/>
              </a:rPr>
              <a:t>server configuration requirements</a:t>
            </a:r>
            <a:r>
              <a:rPr sz="1800" b="1" spc="3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include: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Verdana"/>
              <a:cs typeface="Verdana"/>
            </a:endParaRPr>
          </a:p>
          <a:p>
            <a:pPr marL="59245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92455" algn="l"/>
              </a:tabLst>
            </a:pPr>
            <a:r>
              <a:rPr sz="1800" b="1" dirty="0">
                <a:latin typeface="Verdana"/>
                <a:cs typeface="Verdana"/>
              </a:rPr>
              <a:t>Two </a:t>
            </a:r>
            <a:r>
              <a:rPr sz="1800" b="1" spc="-5" dirty="0">
                <a:latin typeface="Verdana"/>
                <a:cs typeface="Verdana"/>
              </a:rPr>
              <a:t>network interfaces (public </a:t>
            </a:r>
            <a:r>
              <a:rPr sz="1800" b="1" dirty="0">
                <a:latin typeface="Verdana"/>
                <a:cs typeface="Verdana"/>
              </a:rPr>
              <a:t>and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private)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699"/>
              </a:buClr>
              <a:buFont typeface="Verdana"/>
              <a:buChar char="•"/>
            </a:pPr>
            <a:endParaRPr sz="2800">
              <a:latin typeface="Verdana"/>
              <a:cs typeface="Verdana"/>
            </a:endParaRPr>
          </a:p>
          <a:p>
            <a:pPr marL="614680" indent="-228600"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614680" algn="l"/>
              </a:tabLst>
            </a:pPr>
            <a:r>
              <a:rPr sz="1800" b="1" dirty="0">
                <a:latin typeface="Verdana"/>
                <a:cs typeface="Verdana"/>
              </a:rPr>
              <a:t>IP </a:t>
            </a:r>
            <a:r>
              <a:rPr sz="1800" b="1" spc="-5" dirty="0">
                <a:latin typeface="Verdana"/>
                <a:cs typeface="Verdana"/>
              </a:rPr>
              <a:t>Address allocation (static pool </a:t>
            </a:r>
            <a:r>
              <a:rPr sz="1800" b="1" dirty="0">
                <a:latin typeface="Verdana"/>
                <a:cs typeface="Verdana"/>
              </a:rPr>
              <a:t>or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DHCP)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699"/>
              </a:buClr>
              <a:buFont typeface="Verdana"/>
              <a:buChar char="•"/>
            </a:pPr>
            <a:endParaRPr sz="2000">
              <a:latin typeface="Verdana"/>
              <a:cs typeface="Verdana"/>
            </a:endParaRPr>
          </a:p>
          <a:p>
            <a:pPr marL="611505" indent="-229235">
              <a:lnSpc>
                <a:spcPts val="2055"/>
              </a:lnSpc>
              <a:buClr>
                <a:srgbClr val="006699"/>
              </a:buClr>
              <a:buFont typeface="Verdana"/>
              <a:buChar char="•"/>
              <a:tabLst>
                <a:tab pos="612140" algn="l"/>
              </a:tabLst>
            </a:pPr>
            <a:r>
              <a:rPr sz="1800" b="1" spc="-5" dirty="0">
                <a:latin typeface="Verdana"/>
                <a:cs typeface="Verdana"/>
              </a:rPr>
              <a:t>Authentication provider (NPS/Radius or</a:t>
            </a:r>
            <a:r>
              <a:rPr sz="1800" b="1" spc="6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the</a:t>
            </a:r>
            <a:endParaRPr sz="1800">
              <a:latin typeface="Verdana"/>
              <a:cs typeface="Verdana"/>
            </a:endParaRPr>
          </a:p>
          <a:p>
            <a:pPr marL="611505">
              <a:lnSpc>
                <a:spcPts val="2055"/>
              </a:lnSpc>
            </a:pPr>
            <a:r>
              <a:rPr sz="1800" b="1" dirty="0">
                <a:latin typeface="Verdana"/>
                <a:cs typeface="Verdana"/>
              </a:rPr>
              <a:t>VPN</a:t>
            </a:r>
            <a:r>
              <a:rPr sz="1800" b="1" spc="-5" dirty="0">
                <a:latin typeface="Verdana"/>
                <a:cs typeface="Verdana"/>
              </a:rPr>
              <a:t> server)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Verdana"/>
              <a:cs typeface="Verdana"/>
            </a:endParaRPr>
          </a:p>
          <a:p>
            <a:pPr marL="614680" indent="-22860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614680" algn="l"/>
              </a:tabLst>
            </a:pPr>
            <a:r>
              <a:rPr sz="1800" b="1" dirty="0">
                <a:latin typeface="Verdana"/>
                <a:cs typeface="Verdana"/>
              </a:rPr>
              <a:t>DHCP </a:t>
            </a:r>
            <a:r>
              <a:rPr sz="1800" b="1" spc="-5" dirty="0">
                <a:latin typeface="Verdana"/>
                <a:cs typeface="Verdana"/>
              </a:rPr>
              <a:t>relay </a:t>
            </a:r>
            <a:r>
              <a:rPr sz="1800" b="1" dirty="0">
                <a:latin typeface="Verdana"/>
                <a:cs typeface="Verdana"/>
              </a:rPr>
              <a:t>agent</a:t>
            </a:r>
            <a:r>
              <a:rPr sz="1800" b="1" spc="-5" dirty="0">
                <a:latin typeface="Verdana"/>
                <a:cs typeface="Verdana"/>
              </a:rPr>
              <a:t> considerations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699"/>
              </a:buClr>
              <a:buFont typeface="Verdana"/>
              <a:buChar char="•"/>
            </a:pPr>
            <a:endParaRPr sz="2000">
              <a:latin typeface="Verdana"/>
              <a:cs typeface="Verdana"/>
            </a:endParaRPr>
          </a:p>
          <a:p>
            <a:pPr marL="611505" indent="-229235">
              <a:lnSpc>
                <a:spcPts val="2055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612140" algn="l"/>
              </a:tabLst>
            </a:pPr>
            <a:r>
              <a:rPr sz="1800" b="1" dirty="0">
                <a:latin typeface="Verdana"/>
                <a:cs typeface="Verdana"/>
              </a:rPr>
              <a:t>Membership in the </a:t>
            </a:r>
            <a:r>
              <a:rPr sz="1800" b="1" spc="-5" dirty="0">
                <a:latin typeface="Verdana"/>
                <a:cs typeface="Verdana"/>
              </a:rPr>
              <a:t>Local Administrators</a:t>
            </a:r>
            <a:r>
              <a:rPr sz="1800" b="1" spc="-5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group</a:t>
            </a:r>
            <a:endParaRPr sz="1800">
              <a:latin typeface="Verdana"/>
              <a:cs typeface="Verdana"/>
            </a:endParaRPr>
          </a:p>
          <a:p>
            <a:pPr marL="611505">
              <a:lnSpc>
                <a:spcPts val="2055"/>
              </a:lnSpc>
            </a:pPr>
            <a:r>
              <a:rPr sz="1800" b="1" dirty="0">
                <a:latin typeface="Verdana"/>
                <a:cs typeface="Verdana"/>
              </a:rPr>
              <a:t>or</a:t>
            </a:r>
            <a:r>
              <a:rPr sz="1800" b="1" spc="-5" dirty="0">
                <a:latin typeface="Verdana"/>
                <a:cs typeface="Verdana"/>
              </a:rPr>
              <a:t> equivalent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804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dirty="0"/>
              <a:t>VPN</a:t>
            </a:r>
            <a:r>
              <a:rPr spc="-30" dirty="0"/>
              <a:t> </a:t>
            </a:r>
            <a:r>
              <a:rPr spc="-5" dirty="0"/>
              <a:t>Reconnect?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8076" y="978408"/>
            <a:ext cx="7912734" cy="1076325"/>
            <a:chOff x="608076" y="978408"/>
            <a:chExt cx="7912734" cy="1076325"/>
          </a:xfrm>
        </p:grpSpPr>
        <p:sp>
          <p:nvSpPr>
            <p:cNvPr id="4" name="object 4"/>
            <p:cNvSpPr/>
            <p:nvPr/>
          </p:nvSpPr>
          <p:spPr>
            <a:xfrm>
              <a:off x="612648" y="982980"/>
              <a:ext cx="7903463" cy="10668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2648" y="982980"/>
              <a:ext cx="7903845" cy="1066800"/>
            </a:xfrm>
            <a:custGeom>
              <a:avLst/>
              <a:gdLst/>
              <a:ahLst/>
              <a:cxnLst/>
              <a:rect l="l" t="t" r="r" b="b"/>
              <a:pathLst>
                <a:path w="7903845" h="1066800">
                  <a:moveTo>
                    <a:pt x="0" y="44450"/>
                  </a:moveTo>
                  <a:lnTo>
                    <a:pt x="3493" y="27164"/>
                  </a:lnTo>
                  <a:lnTo>
                    <a:pt x="13019" y="13033"/>
                  </a:lnTo>
                  <a:lnTo>
                    <a:pt x="27148" y="3498"/>
                  </a:lnTo>
                  <a:lnTo>
                    <a:pt x="44450" y="0"/>
                  </a:lnTo>
                  <a:lnTo>
                    <a:pt x="7859013" y="0"/>
                  </a:lnTo>
                  <a:lnTo>
                    <a:pt x="7876299" y="3498"/>
                  </a:lnTo>
                  <a:lnTo>
                    <a:pt x="7890430" y="13033"/>
                  </a:lnTo>
                  <a:lnTo>
                    <a:pt x="7899965" y="27164"/>
                  </a:lnTo>
                  <a:lnTo>
                    <a:pt x="7903463" y="44450"/>
                  </a:lnTo>
                  <a:lnTo>
                    <a:pt x="7903463" y="1022350"/>
                  </a:lnTo>
                  <a:lnTo>
                    <a:pt x="7899965" y="1039635"/>
                  </a:lnTo>
                  <a:lnTo>
                    <a:pt x="7890430" y="1053766"/>
                  </a:lnTo>
                  <a:lnTo>
                    <a:pt x="7876299" y="1063301"/>
                  </a:lnTo>
                  <a:lnTo>
                    <a:pt x="7859013" y="1066800"/>
                  </a:lnTo>
                  <a:lnTo>
                    <a:pt x="44450" y="1066800"/>
                  </a:lnTo>
                  <a:lnTo>
                    <a:pt x="27148" y="1063301"/>
                  </a:lnTo>
                  <a:lnTo>
                    <a:pt x="13019" y="1053766"/>
                  </a:lnTo>
                  <a:lnTo>
                    <a:pt x="3493" y="1039635"/>
                  </a:lnTo>
                  <a:lnTo>
                    <a:pt x="0" y="1022350"/>
                  </a:lnTo>
                  <a:lnTo>
                    <a:pt x="0" y="44450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47700" y="2243327"/>
            <a:ext cx="7885430" cy="4041775"/>
            <a:chOff x="647700" y="2243327"/>
            <a:chExt cx="7885430" cy="4041775"/>
          </a:xfrm>
        </p:grpSpPr>
        <p:sp>
          <p:nvSpPr>
            <p:cNvPr id="7" name="object 7"/>
            <p:cNvSpPr/>
            <p:nvPr/>
          </p:nvSpPr>
          <p:spPr>
            <a:xfrm>
              <a:off x="652272" y="2247899"/>
              <a:ext cx="7876032" cy="40325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2272" y="2247899"/>
              <a:ext cx="7876540" cy="4032885"/>
            </a:xfrm>
            <a:custGeom>
              <a:avLst/>
              <a:gdLst/>
              <a:ahLst/>
              <a:cxnLst/>
              <a:rect l="l" t="t" r="r" b="b"/>
              <a:pathLst>
                <a:path w="7876540" h="4032885">
                  <a:moveTo>
                    <a:pt x="0" y="168021"/>
                  </a:moveTo>
                  <a:lnTo>
                    <a:pt x="6002" y="123339"/>
                  </a:lnTo>
                  <a:lnTo>
                    <a:pt x="22942" y="83199"/>
                  </a:lnTo>
                  <a:lnTo>
                    <a:pt x="49217" y="49196"/>
                  </a:lnTo>
                  <a:lnTo>
                    <a:pt x="83225" y="22930"/>
                  </a:lnTo>
                  <a:lnTo>
                    <a:pt x="123364" y="5998"/>
                  </a:lnTo>
                  <a:lnTo>
                    <a:pt x="168033" y="0"/>
                  </a:lnTo>
                  <a:lnTo>
                    <a:pt x="7708010" y="0"/>
                  </a:lnTo>
                  <a:lnTo>
                    <a:pt x="7752692" y="5998"/>
                  </a:lnTo>
                  <a:lnTo>
                    <a:pt x="7792832" y="22930"/>
                  </a:lnTo>
                  <a:lnTo>
                    <a:pt x="7826835" y="49196"/>
                  </a:lnTo>
                  <a:lnTo>
                    <a:pt x="7853101" y="83199"/>
                  </a:lnTo>
                  <a:lnTo>
                    <a:pt x="7870033" y="123339"/>
                  </a:lnTo>
                  <a:lnTo>
                    <a:pt x="7876032" y="168021"/>
                  </a:lnTo>
                  <a:lnTo>
                    <a:pt x="7876032" y="3864470"/>
                  </a:lnTo>
                  <a:lnTo>
                    <a:pt x="7870033" y="3909139"/>
                  </a:lnTo>
                  <a:lnTo>
                    <a:pt x="7853101" y="3949278"/>
                  </a:lnTo>
                  <a:lnTo>
                    <a:pt x="7826835" y="3983286"/>
                  </a:lnTo>
                  <a:lnTo>
                    <a:pt x="7792832" y="4009561"/>
                  </a:lnTo>
                  <a:lnTo>
                    <a:pt x="7752692" y="4026501"/>
                  </a:lnTo>
                  <a:lnTo>
                    <a:pt x="7708010" y="4032504"/>
                  </a:lnTo>
                  <a:lnTo>
                    <a:pt x="168033" y="4032504"/>
                  </a:lnTo>
                  <a:lnTo>
                    <a:pt x="123364" y="4026501"/>
                  </a:lnTo>
                  <a:lnTo>
                    <a:pt x="83225" y="4009561"/>
                  </a:lnTo>
                  <a:lnTo>
                    <a:pt x="49217" y="3983286"/>
                  </a:lnTo>
                  <a:lnTo>
                    <a:pt x="22942" y="3949278"/>
                  </a:lnTo>
                  <a:lnTo>
                    <a:pt x="6002" y="3909139"/>
                  </a:lnTo>
                  <a:lnTo>
                    <a:pt x="0" y="3864470"/>
                  </a:lnTo>
                  <a:lnTo>
                    <a:pt x="0" y="168021"/>
                  </a:lnTo>
                  <a:close/>
                </a:path>
              </a:pathLst>
            </a:custGeom>
            <a:ln w="9144">
              <a:solidFill>
                <a:srgbClr val="8DAC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23729" y="1227531"/>
            <a:ext cx="7881620" cy="3651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VPN </a:t>
            </a:r>
            <a:r>
              <a:rPr sz="1800" spc="-10" dirty="0">
                <a:latin typeface="Verdana"/>
                <a:cs typeface="Verdana"/>
              </a:rPr>
              <a:t>Reconnect </a:t>
            </a:r>
            <a:r>
              <a:rPr sz="1800" spc="-5" dirty="0">
                <a:latin typeface="Verdana"/>
                <a:cs typeface="Verdana"/>
              </a:rPr>
              <a:t>feature </a:t>
            </a:r>
            <a:r>
              <a:rPr sz="1800" dirty="0">
                <a:latin typeface="Verdana"/>
                <a:cs typeface="Verdana"/>
              </a:rPr>
              <a:t>maintains </a:t>
            </a:r>
            <a:r>
              <a:rPr sz="1800" spc="-5" dirty="0">
                <a:latin typeface="Verdana"/>
                <a:cs typeface="Verdana"/>
              </a:rPr>
              <a:t>connectivity across</a:t>
            </a:r>
            <a:r>
              <a:rPr sz="1800" spc="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network</a:t>
            </a:r>
            <a:endParaRPr sz="1800">
              <a:latin typeface="Verdana"/>
              <a:cs typeface="Verdana"/>
            </a:endParaRPr>
          </a:p>
          <a:p>
            <a:pPr marL="9271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Verdana"/>
                <a:cs typeface="Verdana"/>
              </a:rPr>
              <a:t>outages. </a:t>
            </a:r>
            <a:r>
              <a:rPr sz="1800" dirty="0">
                <a:latin typeface="Verdana"/>
                <a:cs typeface="Verdana"/>
              </a:rPr>
              <a:t>It </a:t>
            </a:r>
            <a:r>
              <a:rPr sz="1800" spc="-5" dirty="0">
                <a:latin typeface="Verdana"/>
                <a:cs typeface="Verdana"/>
              </a:rPr>
              <a:t>requires Windows Server 2008 R2 </a:t>
            </a:r>
            <a:r>
              <a:rPr sz="1800" dirty="0">
                <a:latin typeface="Verdana"/>
                <a:cs typeface="Verdana"/>
              </a:rPr>
              <a:t>or </a:t>
            </a:r>
            <a:r>
              <a:rPr sz="1800" spc="-5" dirty="0">
                <a:latin typeface="Verdana"/>
                <a:cs typeface="Verdana"/>
              </a:rPr>
              <a:t>Windows</a:t>
            </a:r>
            <a:r>
              <a:rPr sz="1800" spc="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7.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200">
              <a:latin typeface="Verdana"/>
              <a:cs typeface="Verdana"/>
            </a:endParaRPr>
          </a:p>
          <a:p>
            <a:pPr marL="168275">
              <a:lnSpc>
                <a:spcPct val="100000"/>
              </a:lnSpc>
              <a:spcBef>
                <a:spcPts val="1460"/>
              </a:spcBef>
            </a:pPr>
            <a:r>
              <a:rPr sz="1800" b="1" dirty="0">
                <a:latin typeface="Verdana"/>
                <a:cs typeface="Verdana"/>
              </a:rPr>
              <a:t>VPN</a:t>
            </a:r>
            <a:r>
              <a:rPr sz="1800" b="1" spc="-5" dirty="0">
                <a:latin typeface="Verdana"/>
                <a:cs typeface="Verdana"/>
              </a:rPr>
              <a:t> Reconnect:</a:t>
            </a:r>
            <a:endParaRPr sz="1800">
              <a:latin typeface="Verdana"/>
              <a:cs typeface="Verdana"/>
            </a:endParaRPr>
          </a:p>
          <a:p>
            <a:pPr marL="400050" indent="-232410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Char char="•"/>
              <a:tabLst>
                <a:tab pos="400685" algn="l"/>
              </a:tabLst>
            </a:pPr>
            <a:r>
              <a:rPr sz="1800" spc="-5" dirty="0">
                <a:latin typeface="Verdana"/>
                <a:cs typeface="Verdana"/>
              </a:rPr>
              <a:t>Provides seamless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5" dirty="0">
                <a:latin typeface="Verdana"/>
                <a:cs typeface="Verdana"/>
              </a:rPr>
              <a:t>consistent </a:t>
            </a:r>
            <a:r>
              <a:rPr sz="1800" dirty="0">
                <a:latin typeface="Verdana"/>
                <a:cs typeface="Verdana"/>
              </a:rPr>
              <a:t>VPN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connectivity</a:t>
            </a:r>
            <a:endParaRPr sz="1800">
              <a:latin typeface="Verdana"/>
              <a:cs typeface="Verdana"/>
            </a:endParaRPr>
          </a:p>
          <a:p>
            <a:pPr marL="400050" indent="-232410">
              <a:lnSpc>
                <a:spcPct val="100000"/>
              </a:lnSpc>
              <a:spcBef>
                <a:spcPts val="645"/>
              </a:spcBef>
              <a:buClr>
                <a:srgbClr val="006699"/>
              </a:buClr>
              <a:buChar char="•"/>
              <a:tabLst>
                <a:tab pos="400685" algn="l"/>
              </a:tabLst>
            </a:pPr>
            <a:r>
              <a:rPr sz="1800" dirty="0">
                <a:latin typeface="Verdana"/>
                <a:cs typeface="Verdana"/>
              </a:rPr>
              <a:t>Uses </a:t>
            </a:r>
            <a:r>
              <a:rPr sz="1800" spc="-5" dirty="0">
                <a:latin typeface="Verdana"/>
                <a:cs typeface="Verdana"/>
              </a:rPr>
              <a:t>the Internet </a:t>
            </a:r>
            <a:r>
              <a:rPr sz="1800" spc="-20" dirty="0">
                <a:latin typeface="Verdana"/>
                <a:cs typeface="Verdana"/>
              </a:rPr>
              <a:t>Key </a:t>
            </a:r>
            <a:r>
              <a:rPr sz="1800" spc="-5" dirty="0">
                <a:latin typeface="Verdana"/>
                <a:cs typeface="Verdana"/>
              </a:rPr>
              <a:t>Encryption version </a:t>
            </a:r>
            <a:r>
              <a:rPr sz="1800" dirty="0">
                <a:latin typeface="Verdana"/>
                <a:cs typeface="Verdana"/>
              </a:rPr>
              <a:t>2 </a:t>
            </a:r>
            <a:r>
              <a:rPr sz="1800" spc="-5" dirty="0">
                <a:latin typeface="Verdana"/>
                <a:cs typeface="Verdana"/>
              </a:rPr>
              <a:t>(IKEv2)</a:t>
            </a:r>
            <a:r>
              <a:rPr sz="1800" spc="6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technology</a:t>
            </a:r>
            <a:endParaRPr sz="1800">
              <a:latin typeface="Verdana"/>
              <a:cs typeface="Verdana"/>
            </a:endParaRPr>
          </a:p>
          <a:p>
            <a:pPr marL="400050" indent="-232410">
              <a:lnSpc>
                <a:spcPts val="2055"/>
              </a:lnSpc>
              <a:spcBef>
                <a:spcPts val="650"/>
              </a:spcBef>
              <a:buClr>
                <a:srgbClr val="006699"/>
              </a:buClr>
              <a:buChar char="•"/>
              <a:tabLst>
                <a:tab pos="400685" algn="l"/>
              </a:tabLst>
            </a:pPr>
            <a:r>
              <a:rPr sz="1800" dirty="0">
                <a:latin typeface="Verdana"/>
                <a:cs typeface="Verdana"/>
              </a:rPr>
              <a:t>Automatically </a:t>
            </a:r>
            <a:r>
              <a:rPr sz="1800" spc="-5" dirty="0">
                <a:latin typeface="Verdana"/>
                <a:cs typeface="Verdana"/>
              </a:rPr>
              <a:t>re-establishes </a:t>
            </a:r>
            <a:r>
              <a:rPr sz="1800" dirty="0">
                <a:latin typeface="Verdana"/>
                <a:cs typeface="Verdana"/>
              </a:rPr>
              <a:t>VPN connections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when</a:t>
            </a:r>
            <a:endParaRPr sz="1800">
              <a:latin typeface="Verdana"/>
              <a:cs typeface="Verdana"/>
            </a:endParaRPr>
          </a:p>
          <a:p>
            <a:pPr marL="400050">
              <a:lnSpc>
                <a:spcPts val="2055"/>
              </a:lnSpc>
            </a:pPr>
            <a:r>
              <a:rPr sz="1800" spc="-5" dirty="0">
                <a:latin typeface="Verdana"/>
                <a:cs typeface="Verdana"/>
              </a:rPr>
              <a:t>connectivity </a:t>
            </a:r>
            <a:r>
              <a:rPr sz="1800" spc="5" dirty="0">
                <a:latin typeface="Verdana"/>
                <a:cs typeface="Verdana"/>
              </a:rPr>
              <a:t>is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available</a:t>
            </a:r>
            <a:endParaRPr sz="1800">
              <a:latin typeface="Verdana"/>
              <a:cs typeface="Verdana"/>
            </a:endParaRPr>
          </a:p>
          <a:p>
            <a:pPr marL="400050" marR="871219" indent="-231775">
              <a:lnSpc>
                <a:spcPts val="1939"/>
              </a:lnSpc>
              <a:spcBef>
                <a:spcPts val="894"/>
              </a:spcBef>
              <a:buClr>
                <a:srgbClr val="006699"/>
              </a:buClr>
              <a:buChar char="•"/>
              <a:tabLst>
                <a:tab pos="400685" algn="l"/>
              </a:tabLst>
            </a:pPr>
            <a:r>
              <a:rPr sz="1800" dirty="0">
                <a:latin typeface="Verdana"/>
                <a:cs typeface="Verdana"/>
              </a:rPr>
              <a:t>Maintains </a:t>
            </a:r>
            <a:r>
              <a:rPr sz="1800" spc="-5" dirty="0">
                <a:latin typeface="Verdana"/>
                <a:cs typeface="Verdana"/>
              </a:rPr>
              <a:t>the connection </a:t>
            </a:r>
            <a:r>
              <a:rPr sz="1800" dirty="0">
                <a:latin typeface="Verdana"/>
                <a:cs typeface="Verdana"/>
              </a:rPr>
              <a:t>if users </a:t>
            </a:r>
            <a:r>
              <a:rPr sz="1800" spc="-10" dirty="0">
                <a:latin typeface="Verdana"/>
                <a:cs typeface="Verdana"/>
              </a:rPr>
              <a:t>move </a:t>
            </a:r>
            <a:r>
              <a:rPr sz="1800" spc="-5" dirty="0">
                <a:latin typeface="Verdana"/>
                <a:cs typeface="Verdana"/>
              </a:rPr>
              <a:t>between different  networks</a:t>
            </a:r>
            <a:endParaRPr sz="1800">
              <a:latin typeface="Verdana"/>
              <a:cs typeface="Verdana"/>
            </a:endParaRPr>
          </a:p>
          <a:p>
            <a:pPr marL="400050" indent="-232410">
              <a:lnSpc>
                <a:spcPct val="100000"/>
              </a:lnSpc>
              <a:spcBef>
                <a:spcPts val="625"/>
              </a:spcBef>
              <a:buClr>
                <a:srgbClr val="006699"/>
              </a:buClr>
              <a:buChar char="•"/>
              <a:tabLst>
                <a:tab pos="400685" algn="l"/>
              </a:tabLst>
            </a:pPr>
            <a:r>
              <a:rPr sz="1800" spc="-5" dirty="0">
                <a:latin typeface="Verdana"/>
                <a:cs typeface="Verdana"/>
              </a:rPr>
              <a:t>Makes the connection </a:t>
            </a:r>
            <a:r>
              <a:rPr sz="1800" dirty="0">
                <a:latin typeface="Verdana"/>
                <a:cs typeface="Verdana"/>
              </a:rPr>
              <a:t>status </a:t>
            </a:r>
            <a:r>
              <a:rPr sz="1800" spc="-10" dirty="0">
                <a:latin typeface="Verdana"/>
                <a:cs typeface="Verdana"/>
              </a:rPr>
              <a:t>transparent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users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627876" y="4704588"/>
            <a:ext cx="1503045" cy="1287780"/>
            <a:chOff x="6627876" y="4704588"/>
            <a:chExt cx="1503045" cy="1287780"/>
          </a:xfrm>
        </p:grpSpPr>
        <p:sp>
          <p:nvSpPr>
            <p:cNvPr id="11" name="object 11"/>
            <p:cNvSpPr/>
            <p:nvPr/>
          </p:nvSpPr>
          <p:spPr>
            <a:xfrm>
              <a:off x="6627876" y="4704588"/>
              <a:ext cx="1502664" cy="12877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30212" y="4860036"/>
              <a:ext cx="615696" cy="8153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22464" y="5113020"/>
              <a:ext cx="460248" cy="44500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42760" y="5218176"/>
              <a:ext cx="251459" cy="39776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12736" y="4860036"/>
              <a:ext cx="316992" cy="3169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96328" y="5361432"/>
              <a:ext cx="597407" cy="54254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371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Completing Additional</a:t>
            </a:r>
            <a:r>
              <a:rPr spc="15" dirty="0"/>
              <a:t> </a:t>
            </a:r>
            <a:r>
              <a:rPr spc="-5" dirty="0"/>
              <a:t>Tasks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8640" y="838200"/>
            <a:ext cx="8067040" cy="5544820"/>
            <a:chOff x="548640" y="838200"/>
            <a:chExt cx="8067040" cy="5544820"/>
          </a:xfrm>
        </p:grpSpPr>
        <p:sp>
          <p:nvSpPr>
            <p:cNvPr id="4" name="object 4"/>
            <p:cNvSpPr/>
            <p:nvPr/>
          </p:nvSpPr>
          <p:spPr>
            <a:xfrm>
              <a:off x="553212" y="842772"/>
              <a:ext cx="8057515" cy="5535295"/>
            </a:xfrm>
            <a:custGeom>
              <a:avLst/>
              <a:gdLst/>
              <a:ahLst/>
              <a:cxnLst/>
              <a:rect l="l" t="t" r="r" b="b"/>
              <a:pathLst>
                <a:path w="8057515" h="5535295">
                  <a:moveTo>
                    <a:pt x="7826756" y="0"/>
                  </a:moveTo>
                  <a:lnTo>
                    <a:pt x="230657" y="0"/>
                  </a:lnTo>
                  <a:lnTo>
                    <a:pt x="184170" y="4685"/>
                  </a:lnTo>
                  <a:lnTo>
                    <a:pt x="140872" y="18123"/>
                  </a:lnTo>
                  <a:lnTo>
                    <a:pt x="101692" y="39386"/>
                  </a:lnTo>
                  <a:lnTo>
                    <a:pt x="67556" y="67548"/>
                  </a:lnTo>
                  <a:lnTo>
                    <a:pt x="39391" y="101680"/>
                  </a:lnTo>
                  <a:lnTo>
                    <a:pt x="18125" y="140856"/>
                  </a:lnTo>
                  <a:lnTo>
                    <a:pt x="4685" y="184149"/>
                  </a:lnTo>
                  <a:lnTo>
                    <a:pt x="0" y="230631"/>
                  </a:lnTo>
                  <a:lnTo>
                    <a:pt x="0" y="5304510"/>
                  </a:lnTo>
                  <a:lnTo>
                    <a:pt x="4685" y="5350997"/>
                  </a:lnTo>
                  <a:lnTo>
                    <a:pt x="18125" y="5394295"/>
                  </a:lnTo>
                  <a:lnTo>
                    <a:pt x="39391" y="5433475"/>
                  </a:lnTo>
                  <a:lnTo>
                    <a:pt x="67556" y="5467611"/>
                  </a:lnTo>
                  <a:lnTo>
                    <a:pt x="101692" y="5495776"/>
                  </a:lnTo>
                  <a:lnTo>
                    <a:pt x="140872" y="5517042"/>
                  </a:lnTo>
                  <a:lnTo>
                    <a:pt x="184170" y="5530482"/>
                  </a:lnTo>
                  <a:lnTo>
                    <a:pt x="230657" y="5535168"/>
                  </a:lnTo>
                  <a:lnTo>
                    <a:pt x="7826756" y="5535168"/>
                  </a:lnTo>
                  <a:lnTo>
                    <a:pt x="7873238" y="5530482"/>
                  </a:lnTo>
                  <a:lnTo>
                    <a:pt x="7916531" y="5517042"/>
                  </a:lnTo>
                  <a:lnTo>
                    <a:pt x="7955707" y="5495776"/>
                  </a:lnTo>
                  <a:lnTo>
                    <a:pt x="7989839" y="5467611"/>
                  </a:lnTo>
                  <a:lnTo>
                    <a:pt x="8018001" y="5433475"/>
                  </a:lnTo>
                  <a:lnTo>
                    <a:pt x="8039264" y="5394295"/>
                  </a:lnTo>
                  <a:lnTo>
                    <a:pt x="8052702" y="5350997"/>
                  </a:lnTo>
                  <a:lnTo>
                    <a:pt x="8057388" y="5304510"/>
                  </a:lnTo>
                  <a:lnTo>
                    <a:pt x="8057388" y="230631"/>
                  </a:lnTo>
                  <a:lnTo>
                    <a:pt x="8052702" y="184149"/>
                  </a:lnTo>
                  <a:lnTo>
                    <a:pt x="8039264" y="140856"/>
                  </a:lnTo>
                  <a:lnTo>
                    <a:pt x="8018001" y="101680"/>
                  </a:lnTo>
                  <a:lnTo>
                    <a:pt x="7989839" y="67548"/>
                  </a:lnTo>
                  <a:lnTo>
                    <a:pt x="7955707" y="39386"/>
                  </a:lnTo>
                  <a:lnTo>
                    <a:pt x="7916531" y="18123"/>
                  </a:lnTo>
                  <a:lnTo>
                    <a:pt x="7873238" y="4685"/>
                  </a:lnTo>
                  <a:lnTo>
                    <a:pt x="7826756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3212" y="842772"/>
              <a:ext cx="8057515" cy="5535295"/>
            </a:xfrm>
            <a:custGeom>
              <a:avLst/>
              <a:gdLst/>
              <a:ahLst/>
              <a:cxnLst/>
              <a:rect l="l" t="t" r="r" b="b"/>
              <a:pathLst>
                <a:path w="8057515" h="5535295">
                  <a:moveTo>
                    <a:pt x="0" y="230631"/>
                  </a:moveTo>
                  <a:lnTo>
                    <a:pt x="4685" y="184149"/>
                  </a:lnTo>
                  <a:lnTo>
                    <a:pt x="18125" y="140856"/>
                  </a:lnTo>
                  <a:lnTo>
                    <a:pt x="39391" y="101680"/>
                  </a:lnTo>
                  <a:lnTo>
                    <a:pt x="67556" y="67548"/>
                  </a:lnTo>
                  <a:lnTo>
                    <a:pt x="101692" y="39386"/>
                  </a:lnTo>
                  <a:lnTo>
                    <a:pt x="140872" y="18123"/>
                  </a:lnTo>
                  <a:lnTo>
                    <a:pt x="184170" y="4685"/>
                  </a:lnTo>
                  <a:lnTo>
                    <a:pt x="230657" y="0"/>
                  </a:lnTo>
                  <a:lnTo>
                    <a:pt x="7826756" y="0"/>
                  </a:lnTo>
                  <a:lnTo>
                    <a:pt x="7873238" y="4685"/>
                  </a:lnTo>
                  <a:lnTo>
                    <a:pt x="7916531" y="18123"/>
                  </a:lnTo>
                  <a:lnTo>
                    <a:pt x="7955707" y="39386"/>
                  </a:lnTo>
                  <a:lnTo>
                    <a:pt x="7989839" y="67548"/>
                  </a:lnTo>
                  <a:lnTo>
                    <a:pt x="8018001" y="101680"/>
                  </a:lnTo>
                  <a:lnTo>
                    <a:pt x="8039264" y="140856"/>
                  </a:lnTo>
                  <a:lnTo>
                    <a:pt x="8052702" y="184149"/>
                  </a:lnTo>
                  <a:lnTo>
                    <a:pt x="8057388" y="230631"/>
                  </a:lnTo>
                  <a:lnTo>
                    <a:pt x="8057388" y="5304510"/>
                  </a:lnTo>
                  <a:lnTo>
                    <a:pt x="8052702" y="5350997"/>
                  </a:lnTo>
                  <a:lnTo>
                    <a:pt x="8039264" y="5394295"/>
                  </a:lnTo>
                  <a:lnTo>
                    <a:pt x="8018001" y="5433475"/>
                  </a:lnTo>
                  <a:lnTo>
                    <a:pt x="7989839" y="5467611"/>
                  </a:lnTo>
                  <a:lnTo>
                    <a:pt x="7955707" y="5495776"/>
                  </a:lnTo>
                  <a:lnTo>
                    <a:pt x="7916531" y="5517042"/>
                  </a:lnTo>
                  <a:lnTo>
                    <a:pt x="7873238" y="5530482"/>
                  </a:lnTo>
                  <a:lnTo>
                    <a:pt x="7826756" y="5535168"/>
                  </a:lnTo>
                  <a:lnTo>
                    <a:pt x="230657" y="5535168"/>
                  </a:lnTo>
                  <a:lnTo>
                    <a:pt x="184170" y="5530482"/>
                  </a:lnTo>
                  <a:lnTo>
                    <a:pt x="140872" y="5517042"/>
                  </a:lnTo>
                  <a:lnTo>
                    <a:pt x="101692" y="5495776"/>
                  </a:lnTo>
                  <a:lnTo>
                    <a:pt x="67556" y="5467611"/>
                  </a:lnTo>
                  <a:lnTo>
                    <a:pt x="39391" y="5433475"/>
                  </a:lnTo>
                  <a:lnTo>
                    <a:pt x="18125" y="5394295"/>
                  </a:lnTo>
                  <a:lnTo>
                    <a:pt x="4685" y="5350997"/>
                  </a:lnTo>
                  <a:lnTo>
                    <a:pt x="0" y="5304510"/>
                  </a:lnTo>
                  <a:lnTo>
                    <a:pt x="0" y="2306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65276" y="1019555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7155942" y="0"/>
                  </a:moveTo>
                  <a:lnTo>
                    <a:pt x="19050" y="0"/>
                  </a:lnTo>
                  <a:lnTo>
                    <a:pt x="11637" y="1494"/>
                  </a:lnTo>
                  <a:lnTo>
                    <a:pt x="5581" y="5572"/>
                  </a:lnTo>
                  <a:lnTo>
                    <a:pt x="1497" y="11626"/>
                  </a:lnTo>
                  <a:lnTo>
                    <a:pt x="0" y="19050"/>
                  </a:lnTo>
                  <a:lnTo>
                    <a:pt x="0" y="438150"/>
                  </a:lnTo>
                  <a:lnTo>
                    <a:pt x="1497" y="445573"/>
                  </a:lnTo>
                  <a:lnTo>
                    <a:pt x="5581" y="451627"/>
                  </a:lnTo>
                  <a:lnTo>
                    <a:pt x="11637" y="455705"/>
                  </a:lnTo>
                  <a:lnTo>
                    <a:pt x="19050" y="457200"/>
                  </a:lnTo>
                  <a:lnTo>
                    <a:pt x="7155942" y="457200"/>
                  </a:lnTo>
                  <a:lnTo>
                    <a:pt x="7163365" y="455705"/>
                  </a:lnTo>
                  <a:lnTo>
                    <a:pt x="7169419" y="451627"/>
                  </a:lnTo>
                  <a:lnTo>
                    <a:pt x="7173497" y="445573"/>
                  </a:lnTo>
                  <a:lnTo>
                    <a:pt x="7174992" y="438150"/>
                  </a:lnTo>
                  <a:lnTo>
                    <a:pt x="7174992" y="19050"/>
                  </a:lnTo>
                  <a:lnTo>
                    <a:pt x="7173497" y="11626"/>
                  </a:lnTo>
                  <a:lnTo>
                    <a:pt x="7169419" y="5572"/>
                  </a:lnTo>
                  <a:lnTo>
                    <a:pt x="7163365" y="1494"/>
                  </a:lnTo>
                  <a:lnTo>
                    <a:pt x="715594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65276" y="1019555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0" y="19050"/>
                  </a:moveTo>
                  <a:lnTo>
                    <a:pt x="1497" y="11626"/>
                  </a:lnTo>
                  <a:lnTo>
                    <a:pt x="5581" y="5572"/>
                  </a:lnTo>
                  <a:lnTo>
                    <a:pt x="11637" y="1494"/>
                  </a:lnTo>
                  <a:lnTo>
                    <a:pt x="19050" y="0"/>
                  </a:lnTo>
                  <a:lnTo>
                    <a:pt x="7155942" y="0"/>
                  </a:lnTo>
                  <a:lnTo>
                    <a:pt x="7163365" y="1494"/>
                  </a:lnTo>
                  <a:lnTo>
                    <a:pt x="7169419" y="5572"/>
                  </a:lnTo>
                  <a:lnTo>
                    <a:pt x="7173497" y="11626"/>
                  </a:lnTo>
                  <a:lnTo>
                    <a:pt x="7174992" y="19050"/>
                  </a:lnTo>
                  <a:lnTo>
                    <a:pt x="7174992" y="438150"/>
                  </a:lnTo>
                  <a:lnTo>
                    <a:pt x="7173497" y="445573"/>
                  </a:lnTo>
                  <a:lnTo>
                    <a:pt x="7169419" y="451627"/>
                  </a:lnTo>
                  <a:lnTo>
                    <a:pt x="7163365" y="455705"/>
                  </a:lnTo>
                  <a:lnTo>
                    <a:pt x="7155942" y="457200"/>
                  </a:lnTo>
                  <a:lnTo>
                    <a:pt x="19050" y="457200"/>
                  </a:lnTo>
                  <a:lnTo>
                    <a:pt x="11637" y="455705"/>
                  </a:lnTo>
                  <a:lnTo>
                    <a:pt x="5581" y="451627"/>
                  </a:lnTo>
                  <a:lnTo>
                    <a:pt x="1497" y="445573"/>
                  </a:lnTo>
                  <a:lnTo>
                    <a:pt x="0" y="438150"/>
                  </a:lnTo>
                  <a:lnTo>
                    <a:pt x="0" y="1905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5256" y="1098804"/>
              <a:ext cx="336803" cy="3139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3628" y="1002792"/>
              <a:ext cx="559308" cy="5897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5444" y="1078991"/>
              <a:ext cx="324612" cy="30175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5444" y="1078991"/>
              <a:ext cx="325120" cy="302260"/>
            </a:xfrm>
            <a:custGeom>
              <a:avLst/>
              <a:gdLst/>
              <a:ahLst/>
              <a:cxnLst/>
              <a:rect l="l" t="t" r="r" b="b"/>
              <a:pathLst>
                <a:path w="325119" h="302259">
                  <a:moveTo>
                    <a:pt x="0" y="301751"/>
                  </a:moveTo>
                  <a:lnTo>
                    <a:pt x="324612" y="301751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65276" y="1612391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7155942" y="0"/>
                  </a:moveTo>
                  <a:lnTo>
                    <a:pt x="19050" y="0"/>
                  </a:lnTo>
                  <a:lnTo>
                    <a:pt x="11637" y="1494"/>
                  </a:lnTo>
                  <a:lnTo>
                    <a:pt x="5581" y="5572"/>
                  </a:lnTo>
                  <a:lnTo>
                    <a:pt x="1497" y="11626"/>
                  </a:lnTo>
                  <a:lnTo>
                    <a:pt x="0" y="19050"/>
                  </a:lnTo>
                  <a:lnTo>
                    <a:pt x="0" y="438150"/>
                  </a:lnTo>
                  <a:lnTo>
                    <a:pt x="1497" y="445573"/>
                  </a:lnTo>
                  <a:lnTo>
                    <a:pt x="5581" y="451627"/>
                  </a:lnTo>
                  <a:lnTo>
                    <a:pt x="11637" y="455705"/>
                  </a:lnTo>
                  <a:lnTo>
                    <a:pt x="19050" y="457200"/>
                  </a:lnTo>
                  <a:lnTo>
                    <a:pt x="7155942" y="457200"/>
                  </a:lnTo>
                  <a:lnTo>
                    <a:pt x="7163365" y="455705"/>
                  </a:lnTo>
                  <a:lnTo>
                    <a:pt x="7169419" y="451627"/>
                  </a:lnTo>
                  <a:lnTo>
                    <a:pt x="7173497" y="445573"/>
                  </a:lnTo>
                  <a:lnTo>
                    <a:pt x="7174992" y="438150"/>
                  </a:lnTo>
                  <a:lnTo>
                    <a:pt x="7174992" y="19050"/>
                  </a:lnTo>
                  <a:lnTo>
                    <a:pt x="7173497" y="11626"/>
                  </a:lnTo>
                  <a:lnTo>
                    <a:pt x="7169419" y="5572"/>
                  </a:lnTo>
                  <a:lnTo>
                    <a:pt x="7163365" y="1494"/>
                  </a:lnTo>
                  <a:lnTo>
                    <a:pt x="715594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65276" y="1612391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0" y="19050"/>
                  </a:moveTo>
                  <a:lnTo>
                    <a:pt x="1497" y="11626"/>
                  </a:lnTo>
                  <a:lnTo>
                    <a:pt x="5581" y="5572"/>
                  </a:lnTo>
                  <a:lnTo>
                    <a:pt x="11637" y="1494"/>
                  </a:lnTo>
                  <a:lnTo>
                    <a:pt x="19050" y="0"/>
                  </a:lnTo>
                  <a:lnTo>
                    <a:pt x="7155942" y="0"/>
                  </a:lnTo>
                  <a:lnTo>
                    <a:pt x="7163365" y="1494"/>
                  </a:lnTo>
                  <a:lnTo>
                    <a:pt x="7169419" y="5572"/>
                  </a:lnTo>
                  <a:lnTo>
                    <a:pt x="7173497" y="11626"/>
                  </a:lnTo>
                  <a:lnTo>
                    <a:pt x="7174992" y="19050"/>
                  </a:lnTo>
                  <a:lnTo>
                    <a:pt x="7174992" y="438150"/>
                  </a:lnTo>
                  <a:lnTo>
                    <a:pt x="7173497" y="445573"/>
                  </a:lnTo>
                  <a:lnTo>
                    <a:pt x="7169419" y="451627"/>
                  </a:lnTo>
                  <a:lnTo>
                    <a:pt x="7163365" y="455705"/>
                  </a:lnTo>
                  <a:lnTo>
                    <a:pt x="7155942" y="457200"/>
                  </a:lnTo>
                  <a:lnTo>
                    <a:pt x="19050" y="457200"/>
                  </a:lnTo>
                  <a:lnTo>
                    <a:pt x="11637" y="455705"/>
                  </a:lnTo>
                  <a:lnTo>
                    <a:pt x="5581" y="451627"/>
                  </a:lnTo>
                  <a:lnTo>
                    <a:pt x="1497" y="445573"/>
                  </a:lnTo>
                  <a:lnTo>
                    <a:pt x="0" y="438150"/>
                  </a:lnTo>
                  <a:lnTo>
                    <a:pt x="0" y="1905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05256" y="1694688"/>
              <a:ext cx="336803" cy="31394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3628" y="1598676"/>
              <a:ext cx="559308" cy="5897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5444" y="1674875"/>
              <a:ext cx="324612" cy="30175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5444" y="1674875"/>
              <a:ext cx="325120" cy="302260"/>
            </a:xfrm>
            <a:custGeom>
              <a:avLst/>
              <a:gdLst/>
              <a:ahLst/>
              <a:cxnLst/>
              <a:rect l="l" t="t" r="r" b="b"/>
              <a:pathLst>
                <a:path w="325119" h="302260">
                  <a:moveTo>
                    <a:pt x="0" y="301751"/>
                  </a:moveTo>
                  <a:lnTo>
                    <a:pt x="324612" y="301751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65276" y="2197608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7155942" y="0"/>
                  </a:moveTo>
                  <a:lnTo>
                    <a:pt x="19050" y="0"/>
                  </a:lnTo>
                  <a:lnTo>
                    <a:pt x="11637" y="1494"/>
                  </a:lnTo>
                  <a:lnTo>
                    <a:pt x="5581" y="5572"/>
                  </a:lnTo>
                  <a:lnTo>
                    <a:pt x="1497" y="11626"/>
                  </a:lnTo>
                  <a:lnTo>
                    <a:pt x="0" y="19050"/>
                  </a:lnTo>
                  <a:lnTo>
                    <a:pt x="0" y="438150"/>
                  </a:lnTo>
                  <a:lnTo>
                    <a:pt x="1497" y="445573"/>
                  </a:lnTo>
                  <a:lnTo>
                    <a:pt x="5581" y="451627"/>
                  </a:lnTo>
                  <a:lnTo>
                    <a:pt x="11637" y="455705"/>
                  </a:lnTo>
                  <a:lnTo>
                    <a:pt x="19050" y="457200"/>
                  </a:lnTo>
                  <a:lnTo>
                    <a:pt x="7155942" y="457200"/>
                  </a:lnTo>
                  <a:lnTo>
                    <a:pt x="7163365" y="455705"/>
                  </a:lnTo>
                  <a:lnTo>
                    <a:pt x="7169419" y="451627"/>
                  </a:lnTo>
                  <a:lnTo>
                    <a:pt x="7173497" y="445573"/>
                  </a:lnTo>
                  <a:lnTo>
                    <a:pt x="7174992" y="438150"/>
                  </a:lnTo>
                  <a:lnTo>
                    <a:pt x="7174992" y="19050"/>
                  </a:lnTo>
                  <a:lnTo>
                    <a:pt x="7173497" y="11626"/>
                  </a:lnTo>
                  <a:lnTo>
                    <a:pt x="7169419" y="5572"/>
                  </a:lnTo>
                  <a:lnTo>
                    <a:pt x="7163365" y="1494"/>
                  </a:lnTo>
                  <a:lnTo>
                    <a:pt x="715594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65276" y="2197608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0" y="19050"/>
                  </a:moveTo>
                  <a:lnTo>
                    <a:pt x="1497" y="11626"/>
                  </a:lnTo>
                  <a:lnTo>
                    <a:pt x="5581" y="5572"/>
                  </a:lnTo>
                  <a:lnTo>
                    <a:pt x="11637" y="1494"/>
                  </a:lnTo>
                  <a:lnTo>
                    <a:pt x="19050" y="0"/>
                  </a:lnTo>
                  <a:lnTo>
                    <a:pt x="7155942" y="0"/>
                  </a:lnTo>
                  <a:lnTo>
                    <a:pt x="7163365" y="1494"/>
                  </a:lnTo>
                  <a:lnTo>
                    <a:pt x="7169419" y="5572"/>
                  </a:lnTo>
                  <a:lnTo>
                    <a:pt x="7173497" y="11626"/>
                  </a:lnTo>
                  <a:lnTo>
                    <a:pt x="7174992" y="19050"/>
                  </a:lnTo>
                  <a:lnTo>
                    <a:pt x="7174992" y="438150"/>
                  </a:lnTo>
                  <a:lnTo>
                    <a:pt x="7173497" y="445573"/>
                  </a:lnTo>
                  <a:lnTo>
                    <a:pt x="7169419" y="451627"/>
                  </a:lnTo>
                  <a:lnTo>
                    <a:pt x="7163365" y="455705"/>
                  </a:lnTo>
                  <a:lnTo>
                    <a:pt x="7155942" y="457200"/>
                  </a:lnTo>
                  <a:lnTo>
                    <a:pt x="19050" y="457200"/>
                  </a:lnTo>
                  <a:lnTo>
                    <a:pt x="11637" y="455705"/>
                  </a:lnTo>
                  <a:lnTo>
                    <a:pt x="5581" y="451627"/>
                  </a:lnTo>
                  <a:lnTo>
                    <a:pt x="1497" y="445573"/>
                  </a:lnTo>
                  <a:lnTo>
                    <a:pt x="0" y="438150"/>
                  </a:lnTo>
                  <a:lnTo>
                    <a:pt x="0" y="1905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5256" y="2278380"/>
              <a:ext cx="336803" cy="3139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33628" y="2182367"/>
              <a:ext cx="559308" cy="5897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85444" y="2258567"/>
              <a:ext cx="324612" cy="3017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85444" y="2258567"/>
              <a:ext cx="325120" cy="302260"/>
            </a:xfrm>
            <a:custGeom>
              <a:avLst/>
              <a:gdLst/>
              <a:ahLst/>
              <a:cxnLst/>
              <a:rect l="l" t="t" r="r" b="b"/>
              <a:pathLst>
                <a:path w="325119" h="302260">
                  <a:moveTo>
                    <a:pt x="0" y="301751"/>
                  </a:moveTo>
                  <a:lnTo>
                    <a:pt x="324612" y="301751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65276" y="2781300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7155942" y="0"/>
                  </a:moveTo>
                  <a:lnTo>
                    <a:pt x="19050" y="0"/>
                  </a:lnTo>
                  <a:lnTo>
                    <a:pt x="11637" y="1494"/>
                  </a:lnTo>
                  <a:lnTo>
                    <a:pt x="5581" y="5572"/>
                  </a:lnTo>
                  <a:lnTo>
                    <a:pt x="1497" y="11626"/>
                  </a:lnTo>
                  <a:lnTo>
                    <a:pt x="0" y="19050"/>
                  </a:lnTo>
                  <a:lnTo>
                    <a:pt x="0" y="438150"/>
                  </a:lnTo>
                  <a:lnTo>
                    <a:pt x="1497" y="445573"/>
                  </a:lnTo>
                  <a:lnTo>
                    <a:pt x="5581" y="451627"/>
                  </a:lnTo>
                  <a:lnTo>
                    <a:pt x="11637" y="455705"/>
                  </a:lnTo>
                  <a:lnTo>
                    <a:pt x="19050" y="457200"/>
                  </a:lnTo>
                  <a:lnTo>
                    <a:pt x="7155942" y="457200"/>
                  </a:lnTo>
                  <a:lnTo>
                    <a:pt x="7163365" y="455705"/>
                  </a:lnTo>
                  <a:lnTo>
                    <a:pt x="7169419" y="451627"/>
                  </a:lnTo>
                  <a:lnTo>
                    <a:pt x="7173497" y="445573"/>
                  </a:lnTo>
                  <a:lnTo>
                    <a:pt x="7174992" y="438150"/>
                  </a:lnTo>
                  <a:lnTo>
                    <a:pt x="7174992" y="19050"/>
                  </a:lnTo>
                  <a:lnTo>
                    <a:pt x="7173497" y="11626"/>
                  </a:lnTo>
                  <a:lnTo>
                    <a:pt x="7169419" y="5572"/>
                  </a:lnTo>
                  <a:lnTo>
                    <a:pt x="7163365" y="1494"/>
                  </a:lnTo>
                  <a:lnTo>
                    <a:pt x="715594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65276" y="2781300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0" y="19050"/>
                  </a:moveTo>
                  <a:lnTo>
                    <a:pt x="1497" y="11626"/>
                  </a:lnTo>
                  <a:lnTo>
                    <a:pt x="5581" y="5572"/>
                  </a:lnTo>
                  <a:lnTo>
                    <a:pt x="11637" y="1494"/>
                  </a:lnTo>
                  <a:lnTo>
                    <a:pt x="19050" y="0"/>
                  </a:lnTo>
                  <a:lnTo>
                    <a:pt x="7155942" y="0"/>
                  </a:lnTo>
                  <a:lnTo>
                    <a:pt x="7163365" y="1494"/>
                  </a:lnTo>
                  <a:lnTo>
                    <a:pt x="7169419" y="5572"/>
                  </a:lnTo>
                  <a:lnTo>
                    <a:pt x="7173497" y="11626"/>
                  </a:lnTo>
                  <a:lnTo>
                    <a:pt x="7174992" y="19050"/>
                  </a:lnTo>
                  <a:lnTo>
                    <a:pt x="7174992" y="438150"/>
                  </a:lnTo>
                  <a:lnTo>
                    <a:pt x="7173497" y="445573"/>
                  </a:lnTo>
                  <a:lnTo>
                    <a:pt x="7169419" y="451627"/>
                  </a:lnTo>
                  <a:lnTo>
                    <a:pt x="7163365" y="455705"/>
                  </a:lnTo>
                  <a:lnTo>
                    <a:pt x="7155942" y="457200"/>
                  </a:lnTo>
                  <a:lnTo>
                    <a:pt x="19050" y="457200"/>
                  </a:lnTo>
                  <a:lnTo>
                    <a:pt x="11637" y="455705"/>
                  </a:lnTo>
                  <a:lnTo>
                    <a:pt x="5581" y="451627"/>
                  </a:lnTo>
                  <a:lnTo>
                    <a:pt x="1497" y="445573"/>
                  </a:lnTo>
                  <a:lnTo>
                    <a:pt x="0" y="438150"/>
                  </a:lnTo>
                  <a:lnTo>
                    <a:pt x="0" y="1905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5256" y="2862072"/>
              <a:ext cx="336803" cy="3124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3628" y="2764535"/>
              <a:ext cx="559308" cy="58978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85444" y="2842260"/>
              <a:ext cx="324612" cy="30022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5444" y="2842260"/>
              <a:ext cx="325120" cy="300355"/>
            </a:xfrm>
            <a:custGeom>
              <a:avLst/>
              <a:gdLst/>
              <a:ahLst/>
              <a:cxnLst/>
              <a:rect l="l" t="t" r="r" b="b"/>
              <a:pathLst>
                <a:path w="325119" h="300355">
                  <a:moveTo>
                    <a:pt x="0" y="300227"/>
                  </a:moveTo>
                  <a:lnTo>
                    <a:pt x="324612" y="300227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300227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65276" y="3363467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7155942" y="0"/>
                  </a:moveTo>
                  <a:lnTo>
                    <a:pt x="19050" y="0"/>
                  </a:lnTo>
                  <a:lnTo>
                    <a:pt x="11637" y="1494"/>
                  </a:lnTo>
                  <a:lnTo>
                    <a:pt x="5581" y="5572"/>
                  </a:lnTo>
                  <a:lnTo>
                    <a:pt x="1497" y="11626"/>
                  </a:lnTo>
                  <a:lnTo>
                    <a:pt x="0" y="19050"/>
                  </a:lnTo>
                  <a:lnTo>
                    <a:pt x="0" y="438150"/>
                  </a:lnTo>
                  <a:lnTo>
                    <a:pt x="1497" y="445573"/>
                  </a:lnTo>
                  <a:lnTo>
                    <a:pt x="5581" y="451627"/>
                  </a:lnTo>
                  <a:lnTo>
                    <a:pt x="11637" y="455705"/>
                  </a:lnTo>
                  <a:lnTo>
                    <a:pt x="19050" y="457200"/>
                  </a:lnTo>
                  <a:lnTo>
                    <a:pt x="7155942" y="457200"/>
                  </a:lnTo>
                  <a:lnTo>
                    <a:pt x="7163365" y="455705"/>
                  </a:lnTo>
                  <a:lnTo>
                    <a:pt x="7169419" y="451627"/>
                  </a:lnTo>
                  <a:lnTo>
                    <a:pt x="7173497" y="445573"/>
                  </a:lnTo>
                  <a:lnTo>
                    <a:pt x="7174992" y="438150"/>
                  </a:lnTo>
                  <a:lnTo>
                    <a:pt x="7174992" y="19050"/>
                  </a:lnTo>
                  <a:lnTo>
                    <a:pt x="7173497" y="11626"/>
                  </a:lnTo>
                  <a:lnTo>
                    <a:pt x="7169419" y="5572"/>
                  </a:lnTo>
                  <a:lnTo>
                    <a:pt x="7163365" y="1494"/>
                  </a:lnTo>
                  <a:lnTo>
                    <a:pt x="715594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65276" y="3363467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0" y="19050"/>
                  </a:moveTo>
                  <a:lnTo>
                    <a:pt x="1497" y="11626"/>
                  </a:lnTo>
                  <a:lnTo>
                    <a:pt x="5581" y="5572"/>
                  </a:lnTo>
                  <a:lnTo>
                    <a:pt x="11637" y="1494"/>
                  </a:lnTo>
                  <a:lnTo>
                    <a:pt x="19050" y="0"/>
                  </a:lnTo>
                  <a:lnTo>
                    <a:pt x="7155942" y="0"/>
                  </a:lnTo>
                  <a:lnTo>
                    <a:pt x="7163365" y="1494"/>
                  </a:lnTo>
                  <a:lnTo>
                    <a:pt x="7169419" y="5572"/>
                  </a:lnTo>
                  <a:lnTo>
                    <a:pt x="7173497" y="11626"/>
                  </a:lnTo>
                  <a:lnTo>
                    <a:pt x="7174992" y="19050"/>
                  </a:lnTo>
                  <a:lnTo>
                    <a:pt x="7174992" y="438150"/>
                  </a:lnTo>
                  <a:lnTo>
                    <a:pt x="7173497" y="445573"/>
                  </a:lnTo>
                  <a:lnTo>
                    <a:pt x="7169419" y="451627"/>
                  </a:lnTo>
                  <a:lnTo>
                    <a:pt x="7163365" y="455705"/>
                  </a:lnTo>
                  <a:lnTo>
                    <a:pt x="7155942" y="457200"/>
                  </a:lnTo>
                  <a:lnTo>
                    <a:pt x="19050" y="457200"/>
                  </a:lnTo>
                  <a:lnTo>
                    <a:pt x="11637" y="455705"/>
                  </a:lnTo>
                  <a:lnTo>
                    <a:pt x="5581" y="451627"/>
                  </a:lnTo>
                  <a:lnTo>
                    <a:pt x="1497" y="445573"/>
                  </a:lnTo>
                  <a:lnTo>
                    <a:pt x="0" y="438150"/>
                  </a:lnTo>
                  <a:lnTo>
                    <a:pt x="0" y="1905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05256" y="3444239"/>
              <a:ext cx="336803" cy="3139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33628" y="3346704"/>
              <a:ext cx="559308" cy="58978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85444" y="3424427"/>
              <a:ext cx="324612" cy="30175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85444" y="3424427"/>
              <a:ext cx="325120" cy="302260"/>
            </a:xfrm>
            <a:custGeom>
              <a:avLst/>
              <a:gdLst/>
              <a:ahLst/>
              <a:cxnLst/>
              <a:rect l="l" t="t" r="r" b="b"/>
              <a:pathLst>
                <a:path w="325119" h="302260">
                  <a:moveTo>
                    <a:pt x="0" y="301752"/>
                  </a:moveTo>
                  <a:lnTo>
                    <a:pt x="324612" y="301752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30175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65276" y="3948683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7155942" y="0"/>
                  </a:moveTo>
                  <a:lnTo>
                    <a:pt x="19050" y="0"/>
                  </a:lnTo>
                  <a:lnTo>
                    <a:pt x="11637" y="1494"/>
                  </a:lnTo>
                  <a:lnTo>
                    <a:pt x="5581" y="5572"/>
                  </a:lnTo>
                  <a:lnTo>
                    <a:pt x="1497" y="11626"/>
                  </a:lnTo>
                  <a:lnTo>
                    <a:pt x="0" y="19050"/>
                  </a:lnTo>
                  <a:lnTo>
                    <a:pt x="0" y="438150"/>
                  </a:lnTo>
                  <a:lnTo>
                    <a:pt x="1497" y="445573"/>
                  </a:lnTo>
                  <a:lnTo>
                    <a:pt x="5581" y="451627"/>
                  </a:lnTo>
                  <a:lnTo>
                    <a:pt x="11637" y="455705"/>
                  </a:lnTo>
                  <a:lnTo>
                    <a:pt x="19050" y="457200"/>
                  </a:lnTo>
                  <a:lnTo>
                    <a:pt x="7155942" y="457200"/>
                  </a:lnTo>
                  <a:lnTo>
                    <a:pt x="7163365" y="455705"/>
                  </a:lnTo>
                  <a:lnTo>
                    <a:pt x="7169419" y="451627"/>
                  </a:lnTo>
                  <a:lnTo>
                    <a:pt x="7173497" y="445573"/>
                  </a:lnTo>
                  <a:lnTo>
                    <a:pt x="7174992" y="438150"/>
                  </a:lnTo>
                  <a:lnTo>
                    <a:pt x="7174992" y="19050"/>
                  </a:lnTo>
                  <a:lnTo>
                    <a:pt x="7173497" y="11626"/>
                  </a:lnTo>
                  <a:lnTo>
                    <a:pt x="7169419" y="5572"/>
                  </a:lnTo>
                  <a:lnTo>
                    <a:pt x="7163365" y="1494"/>
                  </a:lnTo>
                  <a:lnTo>
                    <a:pt x="715594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65276" y="3948683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0" y="19050"/>
                  </a:moveTo>
                  <a:lnTo>
                    <a:pt x="1497" y="11626"/>
                  </a:lnTo>
                  <a:lnTo>
                    <a:pt x="5581" y="5572"/>
                  </a:lnTo>
                  <a:lnTo>
                    <a:pt x="11637" y="1494"/>
                  </a:lnTo>
                  <a:lnTo>
                    <a:pt x="19050" y="0"/>
                  </a:lnTo>
                  <a:lnTo>
                    <a:pt x="7155942" y="0"/>
                  </a:lnTo>
                  <a:lnTo>
                    <a:pt x="7163365" y="1494"/>
                  </a:lnTo>
                  <a:lnTo>
                    <a:pt x="7169419" y="5572"/>
                  </a:lnTo>
                  <a:lnTo>
                    <a:pt x="7173497" y="11626"/>
                  </a:lnTo>
                  <a:lnTo>
                    <a:pt x="7174992" y="19050"/>
                  </a:lnTo>
                  <a:lnTo>
                    <a:pt x="7174992" y="438150"/>
                  </a:lnTo>
                  <a:lnTo>
                    <a:pt x="7173497" y="445573"/>
                  </a:lnTo>
                  <a:lnTo>
                    <a:pt x="7169419" y="451627"/>
                  </a:lnTo>
                  <a:lnTo>
                    <a:pt x="7163365" y="455705"/>
                  </a:lnTo>
                  <a:lnTo>
                    <a:pt x="7155942" y="457200"/>
                  </a:lnTo>
                  <a:lnTo>
                    <a:pt x="19050" y="457200"/>
                  </a:lnTo>
                  <a:lnTo>
                    <a:pt x="11637" y="455705"/>
                  </a:lnTo>
                  <a:lnTo>
                    <a:pt x="5581" y="451627"/>
                  </a:lnTo>
                  <a:lnTo>
                    <a:pt x="1497" y="445573"/>
                  </a:lnTo>
                  <a:lnTo>
                    <a:pt x="0" y="438150"/>
                  </a:lnTo>
                  <a:lnTo>
                    <a:pt x="0" y="1905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05256" y="4027932"/>
              <a:ext cx="336803" cy="3139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33628" y="3931920"/>
              <a:ext cx="559308" cy="58978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85444" y="4008120"/>
              <a:ext cx="324612" cy="30175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85444" y="4008120"/>
              <a:ext cx="325120" cy="302260"/>
            </a:xfrm>
            <a:custGeom>
              <a:avLst/>
              <a:gdLst/>
              <a:ahLst/>
              <a:cxnLst/>
              <a:rect l="l" t="t" r="r" b="b"/>
              <a:pathLst>
                <a:path w="325119" h="302260">
                  <a:moveTo>
                    <a:pt x="0" y="301751"/>
                  </a:moveTo>
                  <a:lnTo>
                    <a:pt x="324612" y="301751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101852" y="4535423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7155942" y="0"/>
                  </a:moveTo>
                  <a:lnTo>
                    <a:pt x="19050" y="0"/>
                  </a:lnTo>
                  <a:lnTo>
                    <a:pt x="11637" y="1494"/>
                  </a:lnTo>
                  <a:lnTo>
                    <a:pt x="5581" y="5572"/>
                  </a:lnTo>
                  <a:lnTo>
                    <a:pt x="1497" y="11626"/>
                  </a:lnTo>
                  <a:lnTo>
                    <a:pt x="0" y="19050"/>
                  </a:lnTo>
                  <a:lnTo>
                    <a:pt x="0" y="438150"/>
                  </a:lnTo>
                  <a:lnTo>
                    <a:pt x="1497" y="445573"/>
                  </a:lnTo>
                  <a:lnTo>
                    <a:pt x="5581" y="451627"/>
                  </a:lnTo>
                  <a:lnTo>
                    <a:pt x="11637" y="455705"/>
                  </a:lnTo>
                  <a:lnTo>
                    <a:pt x="19050" y="457200"/>
                  </a:lnTo>
                  <a:lnTo>
                    <a:pt x="7155942" y="457200"/>
                  </a:lnTo>
                  <a:lnTo>
                    <a:pt x="7163365" y="455705"/>
                  </a:lnTo>
                  <a:lnTo>
                    <a:pt x="7169419" y="451627"/>
                  </a:lnTo>
                  <a:lnTo>
                    <a:pt x="7173497" y="445573"/>
                  </a:lnTo>
                  <a:lnTo>
                    <a:pt x="7174992" y="438150"/>
                  </a:lnTo>
                  <a:lnTo>
                    <a:pt x="7174992" y="19050"/>
                  </a:lnTo>
                  <a:lnTo>
                    <a:pt x="7173497" y="11626"/>
                  </a:lnTo>
                  <a:lnTo>
                    <a:pt x="7169419" y="5572"/>
                  </a:lnTo>
                  <a:lnTo>
                    <a:pt x="7163365" y="1494"/>
                  </a:lnTo>
                  <a:lnTo>
                    <a:pt x="715594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101852" y="4535423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0" y="19050"/>
                  </a:moveTo>
                  <a:lnTo>
                    <a:pt x="1497" y="11626"/>
                  </a:lnTo>
                  <a:lnTo>
                    <a:pt x="5581" y="5572"/>
                  </a:lnTo>
                  <a:lnTo>
                    <a:pt x="11637" y="1494"/>
                  </a:lnTo>
                  <a:lnTo>
                    <a:pt x="19050" y="0"/>
                  </a:lnTo>
                  <a:lnTo>
                    <a:pt x="7155942" y="0"/>
                  </a:lnTo>
                  <a:lnTo>
                    <a:pt x="7163365" y="1494"/>
                  </a:lnTo>
                  <a:lnTo>
                    <a:pt x="7169419" y="5572"/>
                  </a:lnTo>
                  <a:lnTo>
                    <a:pt x="7173497" y="11626"/>
                  </a:lnTo>
                  <a:lnTo>
                    <a:pt x="7174992" y="19050"/>
                  </a:lnTo>
                  <a:lnTo>
                    <a:pt x="7174992" y="438150"/>
                  </a:lnTo>
                  <a:lnTo>
                    <a:pt x="7173497" y="445573"/>
                  </a:lnTo>
                  <a:lnTo>
                    <a:pt x="7169419" y="451627"/>
                  </a:lnTo>
                  <a:lnTo>
                    <a:pt x="7163365" y="455705"/>
                  </a:lnTo>
                  <a:lnTo>
                    <a:pt x="7155942" y="457200"/>
                  </a:lnTo>
                  <a:lnTo>
                    <a:pt x="19050" y="457200"/>
                  </a:lnTo>
                  <a:lnTo>
                    <a:pt x="11637" y="455705"/>
                  </a:lnTo>
                  <a:lnTo>
                    <a:pt x="5581" y="451627"/>
                  </a:lnTo>
                  <a:lnTo>
                    <a:pt x="1497" y="445573"/>
                  </a:lnTo>
                  <a:lnTo>
                    <a:pt x="0" y="438150"/>
                  </a:lnTo>
                  <a:lnTo>
                    <a:pt x="0" y="1905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05256" y="4636008"/>
              <a:ext cx="336803" cy="3139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33628" y="4539996"/>
              <a:ext cx="559308" cy="5897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85444" y="4616196"/>
              <a:ext cx="324612" cy="3017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85444" y="4616196"/>
              <a:ext cx="325120" cy="302260"/>
            </a:xfrm>
            <a:custGeom>
              <a:avLst/>
              <a:gdLst/>
              <a:ahLst/>
              <a:cxnLst/>
              <a:rect l="l" t="t" r="r" b="b"/>
              <a:pathLst>
                <a:path w="325119" h="302260">
                  <a:moveTo>
                    <a:pt x="0" y="301751"/>
                  </a:moveTo>
                  <a:lnTo>
                    <a:pt x="324612" y="301751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98804" y="5120640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7155942" y="0"/>
                  </a:moveTo>
                  <a:lnTo>
                    <a:pt x="19050" y="0"/>
                  </a:lnTo>
                  <a:lnTo>
                    <a:pt x="11637" y="1494"/>
                  </a:lnTo>
                  <a:lnTo>
                    <a:pt x="5581" y="5572"/>
                  </a:lnTo>
                  <a:lnTo>
                    <a:pt x="1497" y="11626"/>
                  </a:lnTo>
                  <a:lnTo>
                    <a:pt x="0" y="19050"/>
                  </a:lnTo>
                  <a:lnTo>
                    <a:pt x="0" y="438150"/>
                  </a:lnTo>
                  <a:lnTo>
                    <a:pt x="1497" y="445573"/>
                  </a:lnTo>
                  <a:lnTo>
                    <a:pt x="5581" y="451627"/>
                  </a:lnTo>
                  <a:lnTo>
                    <a:pt x="11637" y="455705"/>
                  </a:lnTo>
                  <a:lnTo>
                    <a:pt x="19050" y="457200"/>
                  </a:lnTo>
                  <a:lnTo>
                    <a:pt x="7155942" y="457200"/>
                  </a:lnTo>
                  <a:lnTo>
                    <a:pt x="7163365" y="455705"/>
                  </a:lnTo>
                  <a:lnTo>
                    <a:pt x="7169419" y="451627"/>
                  </a:lnTo>
                  <a:lnTo>
                    <a:pt x="7173497" y="445573"/>
                  </a:lnTo>
                  <a:lnTo>
                    <a:pt x="7174992" y="438150"/>
                  </a:lnTo>
                  <a:lnTo>
                    <a:pt x="7174992" y="19050"/>
                  </a:lnTo>
                  <a:lnTo>
                    <a:pt x="7173497" y="11626"/>
                  </a:lnTo>
                  <a:lnTo>
                    <a:pt x="7169419" y="5572"/>
                  </a:lnTo>
                  <a:lnTo>
                    <a:pt x="7163365" y="1494"/>
                  </a:lnTo>
                  <a:lnTo>
                    <a:pt x="715594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98804" y="5120640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0" y="19050"/>
                  </a:moveTo>
                  <a:lnTo>
                    <a:pt x="1497" y="11626"/>
                  </a:lnTo>
                  <a:lnTo>
                    <a:pt x="5581" y="5572"/>
                  </a:lnTo>
                  <a:lnTo>
                    <a:pt x="11637" y="1494"/>
                  </a:lnTo>
                  <a:lnTo>
                    <a:pt x="19050" y="0"/>
                  </a:lnTo>
                  <a:lnTo>
                    <a:pt x="7155942" y="0"/>
                  </a:lnTo>
                  <a:lnTo>
                    <a:pt x="7163365" y="1494"/>
                  </a:lnTo>
                  <a:lnTo>
                    <a:pt x="7169419" y="5572"/>
                  </a:lnTo>
                  <a:lnTo>
                    <a:pt x="7173497" y="11626"/>
                  </a:lnTo>
                  <a:lnTo>
                    <a:pt x="7174992" y="19050"/>
                  </a:lnTo>
                  <a:lnTo>
                    <a:pt x="7174992" y="438150"/>
                  </a:lnTo>
                  <a:lnTo>
                    <a:pt x="7173497" y="445573"/>
                  </a:lnTo>
                  <a:lnTo>
                    <a:pt x="7169419" y="451627"/>
                  </a:lnTo>
                  <a:lnTo>
                    <a:pt x="7163365" y="455705"/>
                  </a:lnTo>
                  <a:lnTo>
                    <a:pt x="7155942" y="457200"/>
                  </a:lnTo>
                  <a:lnTo>
                    <a:pt x="19050" y="457200"/>
                  </a:lnTo>
                  <a:lnTo>
                    <a:pt x="11637" y="455705"/>
                  </a:lnTo>
                  <a:lnTo>
                    <a:pt x="5581" y="451627"/>
                  </a:lnTo>
                  <a:lnTo>
                    <a:pt x="1497" y="445573"/>
                  </a:lnTo>
                  <a:lnTo>
                    <a:pt x="0" y="438150"/>
                  </a:lnTo>
                  <a:lnTo>
                    <a:pt x="0" y="1905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02208" y="5221223"/>
              <a:ext cx="336803" cy="3139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30580" y="5125211"/>
              <a:ext cx="559307" cy="58978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82396" y="5201411"/>
              <a:ext cx="324612" cy="30175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82396" y="5201411"/>
              <a:ext cx="325120" cy="302260"/>
            </a:xfrm>
            <a:custGeom>
              <a:avLst/>
              <a:gdLst/>
              <a:ahLst/>
              <a:cxnLst/>
              <a:rect l="l" t="t" r="r" b="b"/>
              <a:pathLst>
                <a:path w="325119" h="302260">
                  <a:moveTo>
                    <a:pt x="0" y="301751"/>
                  </a:moveTo>
                  <a:lnTo>
                    <a:pt x="324612" y="301751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98804" y="5731764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7155942" y="0"/>
                  </a:moveTo>
                  <a:lnTo>
                    <a:pt x="19050" y="0"/>
                  </a:lnTo>
                  <a:lnTo>
                    <a:pt x="11637" y="1497"/>
                  </a:lnTo>
                  <a:lnTo>
                    <a:pt x="5581" y="5581"/>
                  </a:lnTo>
                  <a:lnTo>
                    <a:pt x="1497" y="11637"/>
                  </a:lnTo>
                  <a:lnTo>
                    <a:pt x="0" y="19050"/>
                  </a:lnTo>
                  <a:lnTo>
                    <a:pt x="0" y="438150"/>
                  </a:lnTo>
                  <a:lnTo>
                    <a:pt x="1497" y="445562"/>
                  </a:lnTo>
                  <a:lnTo>
                    <a:pt x="5581" y="451618"/>
                  </a:lnTo>
                  <a:lnTo>
                    <a:pt x="11637" y="455702"/>
                  </a:lnTo>
                  <a:lnTo>
                    <a:pt x="19050" y="457200"/>
                  </a:lnTo>
                  <a:lnTo>
                    <a:pt x="7155942" y="457200"/>
                  </a:lnTo>
                  <a:lnTo>
                    <a:pt x="7163365" y="455702"/>
                  </a:lnTo>
                  <a:lnTo>
                    <a:pt x="7169419" y="451618"/>
                  </a:lnTo>
                  <a:lnTo>
                    <a:pt x="7173497" y="445562"/>
                  </a:lnTo>
                  <a:lnTo>
                    <a:pt x="7174992" y="438150"/>
                  </a:lnTo>
                  <a:lnTo>
                    <a:pt x="7174992" y="19050"/>
                  </a:lnTo>
                  <a:lnTo>
                    <a:pt x="7173497" y="11637"/>
                  </a:lnTo>
                  <a:lnTo>
                    <a:pt x="7169419" y="5581"/>
                  </a:lnTo>
                  <a:lnTo>
                    <a:pt x="7163365" y="1497"/>
                  </a:lnTo>
                  <a:lnTo>
                    <a:pt x="715594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98804" y="5731764"/>
              <a:ext cx="7175500" cy="457200"/>
            </a:xfrm>
            <a:custGeom>
              <a:avLst/>
              <a:gdLst/>
              <a:ahLst/>
              <a:cxnLst/>
              <a:rect l="l" t="t" r="r" b="b"/>
              <a:pathLst>
                <a:path w="7175500" h="457200">
                  <a:moveTo>
                    <a:pt x="0" y="19050"/>
                  </a:moveTo>
                  <a:lnTo>
                    <a:pt x="1497" y="11637"/>
                  </a:lnTo>
                  <a:lnTo>
                    <a:pt x="5581" y="5581"/>
                  </a:lnTo>
                  <a:lnTo>
                    <a:pt x="11637" y="1497"/>
                  </a:lnTo>
                  <a:lnTo>
                    <a:pt x="19050" y="0"/>
                  </a:lnTo>
                  <a:lnTo>
                    <a:pt x="7155942" y="0"/>
                  </a:lnTo>
                  <a:lnTo>
                    <a:pt x="7163365" y="1497"/>
                  </a:lnTo>
                  <a:lnTo>
                    <a:pt x="7169419" y="5581"/>
                  </a:lnTo>
                  <a:lnTo>
                    <a:pt x="7173497" y="11637"/>
                  </a:lnTo>
                  <a:lnTo>
                    <a:pt x="7174992" y="19050"/>
                  </a:lnTo>
                  <a:lnTo>
                    <a:pt x="7174992" y="438150"/>
                  </a:lnTo>
                  <a:lnTo>
                    <a:pt x="7173497" y="445562"/>
                  </a:lnTo>
                  <a:lnTo>
                    <a:pt x="7169419" y="451618"/>
                  </a:lnTo>
                  <a:lnTo>
                    <a:pt x="7163365" y="455702"/>
                  </a:lnTo>
                  <a:lnTo>
                    <a:pt x="7155942" y="457200"/>
                  </a:lnTo>
                  <a:lnTo>
                    <a:pt x="19050" y="457200"/>
                  </a:lnTo>
                  <a:lnTo>
                    <a:pt x="11637" y="455702"/>
                  </a:lnTo>
                  <a:lnTo>
                    <a:pt x="5581" y="451618"/>
                  </a:lnTo>
                  <a:lnTo>
                    <a:pt x="1497" y="445562"/>
                  </a:lnTo>
                  <a:lnTo>
                    <a:pt x="0" y="438150"/>
                  </a:lnTo>
                  <a:lnTo>
                    <a:pt x="0" y="1905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02208" y="5832347"/>
              <a:ext cx="336803" cy="31394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30580" y="5736335"/>
              <a:ext cx="559307" cy="5897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82396" y="5812535"/>
              <a:ext cx="324612" cy="30175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82396" y="5812535"/>
              <a:ext cx="325120" cy="302260"/>
            </a:xfrm>
            <a:custGeom>
              <a:avLst/>
              <a:gdLst/>
              <a:ahLst/>
              <a:cxnLst/>
              <a:rect l="l" t="t" r="r" b="b"/>
              <a:pathLst>
                <a:path w="325119" h="302260">
                  <a:moveTo>
                    <a:pt x="0" y="301751"/>
                  </a:moveTo>
                  <a:lnTo>
                    <a:pt x="324612" y="301751"/>
                  </a:lnTo>
                  <a:lnTo>
                    <a:pt x="324612" y="0"/>
                  </a:lnTo>
                  <a:lnTo>
                    <a:pt x="0" y="0"/>
                  </a:lnTo>
                  <a:lnTo>
                    <a:pt x="0" y="30175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948740" y="1092530"/>
            <a:ext cx="6383020" cy="5014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959" indent="-414655">
              <a:lnSpc>
                <a:spcPct val="100000"/>
              </a:lnSpc>
              <a:spcBef>
                <a:spcPts val="100"/>
              </a:spcBef>
              <a:buClr>
                <a:srgbClr val="990033"/>
              </a:buClr>
              <a:buSzPct val="122222"/>
              <a:buFont typeface="Wingdings"/>
              <a:buChar char=""/>
              <a:tabLst>
                <a:tab pos="441959" algn="l"/>
                <a:tab pos="442595" algn="l"/>
              </a:tabLst>
            </a:pPr>
            <a:r>
              <a:rPr sz="2700" b="1" spc="-7" baseline="3086" dirty="0">
                <a:latin typeface="Verdana"/>
                <a:cs typeface="Verdana"/>
              </a:rPr>
              <a:t>Configure static packet</a:t>
            </a:r>
            <a:r>
              <a:rPr sz="2700" b="1" spc="44" baseline="3086" dirty="0">
                <a:latin typeface="Verdana"/>
                <a:cs typeface="Verdana"/>
              </a:rPr>
              <a:t> </a:t>
            </a:r>
            <a:r>
              <a:rPr sz="2700" b="1" spc="-7" baseline="3086" dirty="0">
                <a:latin typeface="Verdana"/>
                <a:cs typeface="Verdana"/>
              </a:rPr>
              <a:t>filters</a:t>
            </a:r>
            <a:endParaRPr sz="2700" baseline="3086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990033"/>
              </a:buClr>
              <a:buFont typeface="Wingdings"/>
              <a:buChar char=""/>
            </a:pPr>
            <a:endParaRPr sz="2050">
              <a:latin typeface="Verdana"/>
              <a:cs typeface="Verdana"/>
            </a:endParaRPr>
          </a:p>
          <a:p>
            <a:pPr marL="441959" indent="-414655">
              <a:lnSpc>
                <a:spcPct val="100000"/>
              </a:lnSpc>
              <a:buClr>
                <a:srgbClr val="990033"/>
              </a:buClr>
              <a:buSzPct val="122222"/>
              <a:buFont typeface="Wingdings"/>
              <a:buChar char=""/>
              <a:tabLst>
                <a:tab pos="441959" algn="l"/>
                <a:tab pos="442595" algn="l"/>
              </a:tabLst>
            </a:pPr>
            <a:r>
              <a:rPr sz="2700" b="1" spc="-7" baseline="3086" dirty="0">
                <a:latin typeface="Verdana"/>
                <a:cs typeface="Verdana"/>
              </a:rPr>
              <a:t>Configure services </a:t>
            </a:r>
            <a:r>
              <a:rPr sz="2700" b="1" baseline="3086" dirty="0">
                <a:latin typeface="Verdana"/>
                <a:cs typeface="Verdana"/>
              </a:rPr>
              <a:t>and</a:t>
            </a:r>
            <a:r>
              <a:rPr sz="2700" b="1" spc="37" baseline="3086" dirty="0">
                <a:latin typeface="Verdana"/>
                <a:cs typeface="Verdana"/>
              </a:rPr>
              <a:t> </a:t>
            </a:r>
            <a:r>
              <a:rPr sz="2700" b="1" spc="-7" baseline="3086" dirty="0">
                <a:latin typeface="Verdana"/>
                <a:cs typeface="Verdana"/>
              </a:rPr>
              <a:t>ports</a:t>
            </a:r>
            <a:endParaRPr sz="2700" baseline="3086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90033"/>
              </a:buClr>
              <a:buFont typeface="Wingdings"/>
              <a:buChar char=""/>
            </a:pPr>
            <a:endParaRPr sz="2000">
              <a:latin typeface="Verdana"/>
              <a:cs typeface="Verdana"/>
            </a:endParaRPr>
          </a:p>
          <a:p>
            <a:pPr marL="441959" indent="-414655">
              <a:lnSpc>
                <a:spcPct val="100000"/>
              </a:lnSpc>
              <a:buClr>
                <a:srgbClr val="990033"/>
              </a:buClr>
              <a:buSzPct val="122222"/>
              <a:buFont typeface="Wingdings"/>
              <a:buChar char=""/>
              <a:tabLst>
                <a:tab pos="441959" algn="l"/>
                <a:tab pos="442595" algn="l"/>
              </a:tabLst>
            </a:pPr>
            <a:r>
              <a:rPr sz="2700" b="1" spc="-7" baseline="3086" dirty="0">
                <a:latin typeface="Verdana"/>
                <a:cs typeface="Verdana"/>
              </a:rPr>
              <a:t>Adjust </a:t>
            </a:r>
            <a:r>
              <a:rPr sz="2700" b="1" baseline="3086" dirty="0">
                <a:latin typeface="Verdana"/>
                <a:cs typeface="Verdana"/>
              </a:rPr>
              <a:t>logging levels </a:t>
            </a:r>
            <a:r>
              <a:rPr sz="2700" b="1" spc="-7" baseline="3086" dirty="0">
                <a:latin typeface="Verdana"/>
                <a:cs typeface="Verdana"/>
              </a:rPr>
              <a:t>for routing</a:t>
            </a:r>
            <a:r>
              <a:rPr sz="2700" b="1" spc="44" baseline="3086" dirty="0">
                <a:latin typeface="Verdana"/>
                <a:cs typeface="Verdana"/>
              </a:rPr>
              <a:t> </a:t>
            </a:r>
            <a:r>
              <a:rPr sz="2700" b="1" spc="-7" baseline="3086" dirty="0">
                <a:latin typeface="Verdana"/>
                <a:cs typeface="Verdana"/>
              </a:rPr>
              <a:t>protocols</a:t>
            </a:r>
            <a:endParaRPr sz="2700" baseline="3086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990033"/>
              </a:buClr>
              <a:buFont typeface="Wingdings"/>
              <a:buChar char=""/>
            </a:pPr>
            <a:endParaRPr sz="1950">
              <a:latin typeface="Verdana"/>
              <a:cs typeface="Verdana"/>
            </a:endParaRPr>
          </a:p>
          <a:p>
            <a:pPr marL="441959" indent="-414655">
              <a:lnSpc>
                <a:spcPct val="100000"/>
              </a:lnSpc>
              <a:spcBef>
                <a:spcPts val="5"/>
              </a:spcBef>
              <a:buClr>
                <a:srgbClr val="990033"/>
              </a:buClr>
              <a:buSzPct val="122222"/>
              <a:buFont typeface="Wingdings"/>
              <a:buChar char=""/>
              <a:tabLst>
                <a:tab pos="441959" algn="l"/>
                <a:tab pos="442595" algn="l"/>
              </a:tabLst>
            </a:pPr>
            <a:r>
              <a:rPr sz="2700" b="1" spc="-7" baseline="3086" dirty="0">
                <a:latin typeface="Verdana"/>
                <a:cs typeface="Verdana"/>
              </a:rPr>
              <a:t>Configure number </a:t>
            </a:r>
            <a:r>
              <a:rPr sz="2700" b="1" baseline="3086" dirty="0">
                <a:latin typeface="Verdana"/>
                <a:cs typeface="Verdana"/>
              </a:rPr>
              <a:t>of </a:t>
            </a:r>
            <a:r>
              <a:rPr sz="2700" b="1" spc="-7" baseline="3086" dirty="0">
                <a:latin typeface="Verdana"/>
                <a:cs typeface="Verdana"/>
              </a:rPr>
              <a:t>available </a:t>
            </a:r>
            <a:r>
              <a:rPr sz="2700" b="1" baseline="3086" dirty="0">
                <a:latin typeface="Verdana"/>
                <a:cs typeface="Verdana"/>
              </a:rPr>
              <a:t>VPN</a:t>
            </a:r>
            <a:r>
              <a:rPr sz="2700" b="1" spc="37" baseline="3086" dirty="0">
                <a:latin typeface="Verdana"/>
                <a:cs typeface="Verdana"/>
              </a:rPr>
              <a:t> </a:t>
            </a:r>
            <a:r>
              <a:rPr sz="2700" b="1" spc="-7" baseline="3086" dirty="0">
                <a:latin typeface="Verdana"/>
                <a:cs typeface="Verdana"/>
              </a:rPr>
              <a:t>ports</a:t>
            </a:r>
            <a:endParaRPr sz="2700" baseline="3086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990033"/>
              </a:buClr>
              <a:buFont typeface="Wingdings"/>
              <a:buChar char=""/>
            </a:pPr>
            <a:endParaRPr sz="1950">
              <a:latin typeface="Verdana"/>
              <a:cs typeface="Verdana"/>
            </a:endParaRPr>
          </a:p>
          <a:p>
            <a:pPr marL="441959" indent="-414655">
              <a:lnSpc>
                <a:spcPct val="100000"/>
              </a:lnSpc>
              <a:buClr>
                <a:srgbClr val="990033"/>
              </a:buClr>
              <a:buSzPct val="122222"/>
              <a:buFont typeface="Wingdings"/>
              <a:buChar char=""/>
              <a:tabLst>
                <a:tab pos="441959" algn="l"/>
                <a:tab pos="442595" algn="l"/>
              </a:tabLst>
            </a:pPr>
            <a:r>
              <a:rPr sz="2700" b="1" spc="-7" baseline="3086" dirty="0">
                <a:latin typeface="Verdana"/>
                <a:cs typeface="Verdana"/>
              </a:rPr>
              <a:t>Create </a:t>
            </a:r>
            <a:r>
              <a:rPr sz="2700" b="1" baseline="3086" dirty="0">
                <a:latin typeface="Verdana"/>
                <a:cs typeface="Verdana"/>
              </a:rPr>
              <a:t>a </a:t>
            </a:r>
            <a:r>
              <a:rPr sz="2700" b="1" spc="-7" baseline="3086" dirty="0">
                <a:latin typeface="Verdana"/>
                <a:cs typeface="Verdana"/>
              </a:rPr>
              <a:t>Connection </a:t>
            </a:r>
            <a:r>
              <a:rPr sz="2700" b="1" baseline="3086" dirty="0">
                <a:latin typeface="Verdana"/>
                <a:cs typeface="Verdana"/>
              </a:rPr>
              <a:t>Manager </a:t>
            </a:r>
            <a:r>
              <a:rPr sz="2700" b="1" spc="-7" baseline="3086" dirty="0">
                <a:latin typeface="Verdana"/>
                <a:cs typeface="Verdana"/>
              </a:rPr>
              <a:t>profile for</a:t>
            </a:r>
            <a:r>
              <a:rPr sz="2700" b="1" spc="15" baseline="3086" dirty="0">
                <a:latin typeface="Verdana"/>
                <a:cs typeface="Verdana"/>
              </a:rPr>
              <a:t> </a:t>
            </a:r>
            <a:r>
              <a:rPr sz="2700" b="1" spc="-7" baseline="3086" dirty="0">
                <a:latin typeface="Verdana"/>
                <a:cs typeface="Verdana"/>
              </a:rPr>
              <a:t>users</a:t>
            </a:r>
            <a:endParaRPr sz="2700" baseline="3086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90033"/>
              </a:buClr>
              <a:buFont typeface="Wingdings"/>
              <a:buChar char=""/>
            </a:pPr>
            <a:endParaRPr sz="2000">
              <a:latin typeface="Verdana"/>
              <a:cs typeface="Verdana"/>
            </a:endParaRPr>
          </a:p>
          <a:p>
            <a:pPr marL="441959" indent="-414655">
              <a:lnSpc>
                <a:spcPct val="100000"/>
              </a:lnSpc>
              <a:buClr>
                <a:srgbClr val="990033"/>
              </a:buClr>
              <a:buSzPct val="122222"/>
              <a:buFont typeface="Wingdings"/>
              <a:buChar char=""/>
              <a:tabLst>
                <a:tab pos="441959" algn="l"/>
                <a:tab pos="442595" algn="l"/>
              </a:tabLst>
            </a:pPr>
            <a:r>
              <a:rPr sz="2700" b="1" spc="-7" baseline="3086" dirty="0">
                <a:latin typeface="Verdana"/>
                <a:cs typeface="Verdana"/>
              </a:rPr>
              <a:t>Add Certificate</a:t>
            </a:r>
            <a:r>
              <a:rPr sz="2700" b="1" spc="37" baseline="3086" dirty="0">
                <a:latin typeface="Verdana"/>
                <a:cs typeface="Verdana"/>
              </a:rPr>
              <a:t> </a:t>
            </a:r>
            <a:r>
              <a:rPr sz="2700" b="1" baseline="3086" dirty="0">
                <a:latin typeface="Verdana"/>
                <a:cs typeface="Verdana"/>
              </a:rPr>
              <a:t>Services</a:t>
            </a:r>
            <a:endParaRPr sz="2700" baseline="3086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90033"/>
              </a:buClr>
              <a:buFont typeface="Wingdings"/>
              <a:buChar char=""/>
            </a:pPr>
            <a:endParaRPr sz="1950">
              <a:latin typeface="Verdana"/>
              <a:cs typeface="Verdana"/>
            </a:endParaRPr>
          </a:p>
          <a:p>
            <a:pPr marL="478155" indent="-450850">
              <a:lnSpc>
                <a:spcPct val="100000"/>
              </a:lnSpc>
              <a:buClr>
                <a:srgbClr val="990033"/>
              </a:buClr>
              <a:buSzPct val="122222"/>
              <a:buFont typeface="Wingdings"/>
              <a:buChar char=""/>
              <a:tabLst>
                <a:tab pos="478155" algn="l"/>
                <a:tab pos="478790" algn="l"/>
              </a:tabLst>
            </a:pPr>
            <a:r>
              <a:rPr sz="1800" b="1" dirty="0">
                <a:latin typeface="Verdana"/>
                <a:cs typeface="Verdana"/>
              </a:rPr>
              <a:t>Increase </a:t>
            </a:r>
            <a:r>
              <a:rPr sz="1800" b="1" spc="-5" dirty="0">
                <a:latin typeface="Verdana"/>
                <a:cs typeface="Verdana"/>
              </a:rPr>
              <a:t>remote access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security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90033"/>
              </a:buClr>
              <a:buFont typeface="Wingdings"/>
              <a:buChar char=""/>
            </a:pPr>
            <a:endParaRPr sz="2000">
              <a:latin typeface="Verdana"/>
              <a:cs typeface="Verdana"/>
            </a:endParaRPr>
          </a:p>
          <a:p>
            <a:pPr marL="474980" indent="-450215">
              <a:lnSpc>
                <a:spcPct val="100000"/>
              </a:lnSpc>
              <a:buClr>
                <a:srgbClr val="990033"/>
              </a:buClr>
              <a:buSzPct val="122222"/>
              <a:buFont typeface="Wingdings"/>
              <a:buChar char=""/>
              <a:tabLst>
                <a:tab pos="474980" algn="l"/>
                <a:tab pos="475615" algn="l"/>
              </a:tabLst>
            </a:pPr>
            <a:r>
              <a:rPr sz="1800" b="1" spc="-5" dirty="0">
                <a:latin typeface="Verdana"/>
                <a:cs typeface="Verdana"/>
              </a:rPr>
              <a:t>Increase </a:t>
            </a:r>
            <a:r>
              <a:rPr sz="1800" b="1" dirty="0">
                <a:latin typeface="Verdana"/>
                <a:cs typeface="Verdana"/>
              </a:rPr>
              <a:t>VPN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security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990033"/>
              </a:buClr>
              <a:buFont typeface="Wingdings"/>
              <a:buChar char=""/>
            </a:pPr>
            <a:endParaRPr sz="2150">
              <a:latin typeface="Verdana"/>
              <a:cs typeface="Verdana"/>
            </a:endParaRPr>
          </a:p>
          <a:p>
            <a:pPr marL="474980" indent="-450215">
              <a:lnSpc>
                <a:spcPct val="100000"/>
              </a:lnSpc>
              <a:buClr>
                <a:srgbClr val="990033"/>
              </a:buClr>
              <a:buSzPct val="122222"/>
              <a:buFont typeface="Wingdings"/>
              <a:buChar char=""/>
              <a:tabLst>
                <a:tab pos="474980" algn="l"/>
                <a:tab pos="475615" algn="l"/>
              </a:tabLst>
            </a:pPr>
            <a:r>
              <a:rPr sz="1800" b="1" spc="-5" dirty="0">
                <a:latin typeface="Verdana"/>
                <a:cs typeface="Verdana"/>
              </a:rPr>
              <a:t>Consider implementing </a:t>
            </a:r>
            <a:r>
              <a:rPr sz="1800" b="1" dirty="0">
                <a:latin typeface="Verdana"/>
                <a:cs typeface="Verdana"/>
              </a:rPr>
              <a:t>VPN </a:t>
            </a:r>
            <a:r>
              <a:rPr sz="1800" b="1" spc="-5" dirty="0">
                <a:latin typeface="Verdana"/>
                <a:cs typeface="Verdana"/>
              </a:rPr>
              <a:t>Reconnect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061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 smtClean="0"/>
              <a:t>3</a:t>
            </a:r>
            <a:r>
              <a:rPr spc="-5" dirty="0"/>
              <a:t>: </a:t>
            </a:r>
            <a:r>
              <a:rPr spc="-10" dirty="0"/>
              <a:t>Overview </a:t>
            </a:r>
            <a:r>
              <a:rPr dirty="0"/>
              <a:t>of </a:t>
            </a:r>
            <a:r>
              <a:rPr spc="-5" dirty="0"/>
              <a:t>Network</a:t>
            </a:r>
            <a:r>
              <a:rPr spc="105" dirty="0"/>
              <a:t> </a:t>
            </a:r>
            <a:r>
              <a:rPr spc="-5" dirty="0"/>
              <a:t>Policies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7094855" cy="12958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a </a:t>
            </a:r>
            <a:r>
              <a:rPr sz="2000" spc="-5" dirty="0">
                <a:latin typeface="Verdana"/>
                <a:cs typeface="Verdana"/>
              </a:rPr>
              <a:t>Network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Policy?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Process </a:t>
            </a:r>
            <a:r>
              <a:rPr sz="2000" dirty="0">
                <a:latin typeface="Verdana"/>
                <a:cs typeface="Verdana"/>
              </a:rPr>
              <a:t>for </a:t>
            </a:r>
            <a:r>
              <a:rPr sz="2000" spc="-5" dirty="0">
                <a:latin typeface="Verdana"/>
                <a:cs typeface="Verdana"/>
              </a:rPr>
              <a:t>Creating </a:t>
            </a:r>
            <a:r>
              <a:rPr sz="2000" dirty="0">
                <a:latin typeface="Verdana"/>
                <a:cs typeface="Verdana"/>
              </a:rPr>
              <a:t>and </a:t>
            </a:r>
            <a:r>
              <a:rPr sz="2000" spc="-5" dirty="0">
                <a:latin typeface="Verdana"/>
                <a:cs typeface="Verdana"/>
              </a:rPr>
              <a:t>Configuring </a:t>
            </a:r>
            <a:r>
              <a:rPr sz="2000" dirty="0">
                <a:latin typeface="Verdana"/>
                <a:cs typeface="Verdana"/>
              </a:rPr>
              <a:t>a </a:t>
            </a:r>
            <a:r>
              <a:rPr sz="2000" spc="-5" dirty="0">
                <a:latin typeface="Verdana"/>
                <a:cs typeface="Verdana"/>
              </a:rPr>
              <a:t>Network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Policy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 smtClean="0">
                <a:latin typeface="Verdana"/>
                <a:cs typeface="Verdana"/>
              </a:rPr>
              <a:t>How </a:t>
            </a:r>
            <a:r>
              <a:rPr sz="2000" spc="-5" dirty="0">
                <a:latin typeface="Verdana"/>
                <a:cs typeface="Verdana"/>
              </a:rPr>
              <a:t>are Network Policies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Processed?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043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dirty="0"/>
              <a:t>a Network</a:t>
            </a:r>
            <a:r>
              <a:rPr spc="-20" dirty="0"/>
              <a:t> </a:t>
            </a:r>
            <a:r>
              <a:rPr spc="-5" dirty="0"/>
              <a:t>Policy?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23809" y="1596961"/>
            <a:ext cx="6111875" cy="2442210"/>
            <a:chOff x="1523809" y="1596961"/>
            <a:chExt cx="6111875" cy="2442210"/>
          </a:xfrm>
        </p:grpSpPr>
        <p:sp>
          <p:nvSpPr>
            <p:cNvPr id="4" name="object 4"/>
            <p:cNvSpPr/>
            <p:nvPr/>
          </p:nvSpPr>
          <p:spPr>
            <a:xfrm>
              <a:off x="1528572" y="1601724"/>
              <a:ext cx="6102350" cy="2432685"/>
            </a:xfrm>
            <a:custGeom>
              <a:avLst/>
              <a:gdLst/>
              <a:ahLst/>
              <a:cxnLst/>
              <a:rect l="l" t="t" r="r" b="b"/>
              <a:pathLst>
                <a:path w="6102350" h="2432685">
                  <a:moveTo>
                    <a:pt x="5911087" y="0"/>
                  </a:moveTo>
                  <a:lnTo>
                    <a:pt x="191008" y="0"/>
                  </a:lnTo>
                  <a:lnTo>
                    <a:pt x="147197" y="5042"/>
                  </a:lnTo>
                  <a:lnTo>
                    <a:pt x="106987" y="19406"/>
                  </a:lnTo>
                  <a:lnTo>
                    <a:pt x="71522" y="41947"/>
                  </a:lnTo>
                  <a:lnTo>
                    <a:pt x="41947" y="71522"/>
                  </a:lnTo>
                  <a:lnTo>
                    <a:pt x="19406" y="106987"/>
                  </a:lnTo>
                  <a:lnTo>
                    <a:pt x="5042" y="147197"/>
                  </a:lnTo>
                  <a:lnTo>
                    <a:pt x="0" y="191008"/>
                  </a:lnTo>
                  <a:lnTo>
                    <a:pt x="0" y="2241296"/>
                  </a:lnTo>
                  <a:lnTo>
                    <a:pt x="5042" y="2285106"/>
                  </a:lnTo>
                  <a:lnTo>
                    <a:pt x="19406" y="2325316"/>
                  </a:lnTo>
                  <a:lnTo>
                    <a:pt x="41947" y="2360781"/>
                  </a:lnTo>
                  <a:lnTo>
                    <a:pt x="71522" y="2390356"/>
                  </a:lnTo>
                  <a:lnTo>
                    <a:pt x="106987" y="2412897"/>
                  </a:lnTo>
                  <a:lnTo>
                    <a:pt x="147197" y="2427261"/>
                  </a:lnTo>
                  <a:lnTo>
                    <a:pt x="191008" y="2432304"/>
                  </a:lnTo>
                  <a:lnTo>
                    <a:pt x="5911087" y="2432304"/>
                  </a:lnTo>
                  <a:lnTo>
                    <a:pt x="5954898" y="2427261"/>
                  </a:lnTo>
                  <a:lnTo>
                    <a:pt x="5995108" y="2412897"/>
                  </a:lnTo>
                  <a:lnTo>
                    <a:pt x="6030573" y="2390356"/>
                  </a:lnTo>
                  <a:lnTo>
                    <a:pt x="6060148" y="2360781"/>
                  </a:lnTo>
                  <a:lnTo>
                    <a:pt x="6082689" y="2325316"/>
                  </a:lnTo>
                  <a:lnTo>
                    <a:pt x="6097053" y="2285106"/>
                  </a:lnTo>
                  <a:lnTo>
                    <a:pt x="6102096" y="2241296"/>
                  </a:lnTo>
                  <a:lnTo>
                    <a:pt x="6102096" y="191008"/>
                  </a:lnTo>
                  <a:lnTo>
                    <a:pt x="6097053" y="147197"/>
                  </a:lnTo>
                  <a:lnTo>
                    <a:pt x="6082689" y="106987"/>
                  </a:lnTo>
                  <a:lnTo>
                    <a:pt x="6060148" y="71522"/>
                  </a:lnTo>
                  <a:lnTo>
                    <a:pt x="6030573" y="41947"/>
                  </a:lnTo>
                  <a:lnTo>
                    <a:pt x="5995108" y="19406"/>
                  </a:lnTo>
                  <a:lnTo>
                    <a:pt x="5954898" y="5042"/>
                  </a:lnTo>
                  <a:lnTo>
                    <a:pt x="5911087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28572" y="1601724"/>
              <a:ext cx="6102350" cy="2432685"/>
            </a:xfrm>
            <a:custGeom>
              <a:avLst/>
              <a:gdLst/>
              <a:ahLst/>
              <a:cxnLst/>
              <a:rect l="l" t="t" r="r" b="b"/>
              <a:pathLst>
                <a:path w="6102350" h="2432685">
                  <a:moveTo>
                    <a:pt x="0" y="191008"/>
                  </a:moveTo>
                  <a:lnTo>
                    <a:pt x="5042" y="147197"/>
                  </a:lnTo>
                  <a:lnTo>
                    <a:pt x="19406" y="106987"/>
                  </a:lnTo>
                  <a:lnTo>
                    <a:pt x="41947" y="71522"/>
                  </a:lnTo>
                  <a:lnTo>
                    <a:pt x="71522" y="41947"/>
                  </a:lnTo>
                  <a:lnTo>
                    <a:pt x="106987" y="19406"/>
                  </a:lnTo>
                  <a:lnTo>
                    <a:pt x="147197" y="5042"/>
                  </a:lnTo>
                  <a:lnTo>
                    <a:pt x="191008" y="0"/>
                  </a:lnTo>
                  <a:lnTo>
                    <a:pt x="5911087" y="0"/>
                  </a:lnTo>
                  <a:lnTo>
                    <a:pt x="5954898" y="5042"/>
                  </a:lnTo>
                  <a:lnTo>
                    <a:pt x="5995108" y="19406"/>
                  </a:lnTo>
                  <a:lnTo>
                    <a:pt x="6030573" y="41947"/>
                  </a:lnTo>
                  <a:lnTo>
                    <a:pt x="6060148" y="71522"/>
                  </a:lnTo>
                  <a:lnTo>
                    <a:pt x="6082689" y="106987"/>
                  </a:lnTo>
                  <a:lnTo>
                    <a:pt x="6097053" y="147197"/>
                  </a:lnTo>
                  <a:lnTo>
                    <a:pt x="6102096" y="191008"/>
                  </a:lnTo>
                  <a:lnTo>
                    <a:pt x="6102096" y="2241296"/>
                  </a:lnTo>
                  <a:lnTo>
                    <a:pt x="6097053" y="2285106"/>
                  </a:lnTo>
                  <a:lnTo>
                    <a:pt x="6082689" y="2325316"/>
                  </a:lnTo>
                  <a:lnTo>
                    <a:pt x="6060148" y="2360781"/>
                  </a:lnTo>
                  <a:lnTo>
                    <a:pt x="6030573" y="2390356"/>
                  </a:lnTo>
                  <a:lnTo>
                    <a:pt x="5995108" y="2412897"/>
                  </a:lnTo>
                  <a:lnTo>
                    <a:pt x="5954898" y="2427261"/>
                  </a:lnTo>
                  <a:lnTo>
                    <a:pt x="5911087" y="2432304"/>
                  </a:lnTo>
                  <a:lnTo>
                    <a:pt x="191008" y="2432304"/>
                  </a:lnTo>
                  <a:lnTo>
                    <a:pt x="147197" y="2427261"/>
                  </a:lnTo>
                  <a:lnTo>
                    <a:pt x="106987" y="2412897"/>
                  </a:lnTo>
                  <a:lnTo>
                    <a:pt x="71522" y="2390356"/>
                  </a:lnTo>
                  <a:lnTo>
                    <a:pt x="41947" y="2360781"/>
                  </a:lnTo>
                  <a:lnTo>
                    <a:pt x="19406" y="2325316"/>
                  </a:lnTo>
                  <a:lnTo>
                    <a:pt x="5042" y="2285106"/>
                  </a:lnTo>
                  <a:lnTo>
                    <a:pt x="0" y="2241296"/>
                  </a:lnTo>
                  <a:lnTo>
                    <a:pt x="0" y="19100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83080" y="2490216"/>
              <a:ext cx="5598160" cy="1150620"/>
            </a:xfrm>
            <a:custGeom>
              <a:avLst/>
              <a:gdLst/>
              <a:ahLst/>
              <a:cxnLst/>
              <a:rect l="l" t="t" r="r" b="b"/>
              <a:pathLst>
                <a:path w="5598159" h="1150620">
                  <a:moveTo>
                    <a:pt x="5549646" y="0"/>
                  </a:moveTo>
                  <a:lnTo>
                    <a:pt x="48006" y="0"/>
                  </a:lnTo>
                  <a:lnTo>
                    <a:pt x="29307" y="3768"/>
                  </a:lnTo>
                  <a:lnTo>
                    <a:pt x="14049" y="14049"/>
                  </a:lnTo>
                  <a:lnTo>
                    <a:pt x="3768" y="29307"/>
                  </a:lnTo>
                  <a:lnTo>
                    <a:pt x="0" y="48006"/>
                  </a:lnTo>
                  <a:lnTo>
                    <a:pt x="0" y="1102614"/>
                  </a:lnTo>
                  <a:lnTo>
                    <a:pt x="3768" y="1121312"/>
                  </a:lnTo>
                  <a:lnTo>
                    <a:pt x="14049" y="1136570"/>
                  </a:lnTo>
                  <a:lnTo>
                    <a:pt x="29307" y="1146851"/>
                  </a:lnTo>
                  <a:lnTo>
                    <a:pt x="48006" y="1150620"/>
                  </a:lnTo>
                  <a:lnTo>
                    <a:pt x="5549646" y="1150620"/>
                  </a:lnTo>
                  <a:lnTo>
                    <a:pt x="5568344" y="1146851"/>
                  </a:lnTo>
                  <a:lnTo>
                    <a:pt x="5583602" y="1136570"/>
                  </a:lnTo>
                  <a:lnTo>
                    <a:pt x="5593883" y="1121312"/>
                  </a:lnTo>
                  <a:lnTo>
                    <a:pt x="5597652" y="1102614"/>
                  </a:lnTo>
                  <a:lnTo>
                    <a:pt x="5597652" y="48006"/>
                  </a:lnTo>
                  <a:lnTo>
                    <a:pt x="5593883" y="29307"/>
                  </a:lnTo>
                  <a:lnTo>
                    <a:pt x="5583602" y="14049"/>
                  </a:lnTo>
                  <a:lnTo>
                    <a:pt x="5568344" y="3768"/>
                  </a:lnTo>
                  <a:lnTo>
                    <a:pt x="554964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83080" y="2490216"/>
              <a:ext cx="5598160" cy="1150620"/>
            </a:xfrm>
            <a:custGeom>
              <a:avLst/>
              <a:gdLst/>
              <a:ahLst/>
              <a:cxnLst/>
              <a:rect l="l" t="t" r="r" b="b"/>
              <a:pathLst>
                <a:path w="5598159" h="1150620">
                  <a:moveTo>
                    <a:pt x="0" y="48006"/>
                  </a:moveTo>
                  <a:lnTo>
                    <a:pt x="3768" y="29307"/>
                  </a:lnTo>
                  <a:lnTo>
                    <a:pt x="14049" y="14049"/>
                  </a:lnTo>
                  <a:lnTo>
                    <a:pt x="29307" y="3768"/>
                  </a:lnTo>
                  <a:lnTo>
                    <a:pt x="48006" y="0"/>
                  </a:lnTo>
                  <a:lnTo>
                    <a:pt x="5549646" y="0"/>
                  </a:lnTo>
                  <a:lnTo>
                    <a:pt x="5568344" y="3768"/>
                  </a:lnTo>
                  <a:lnTo>
                    <a:pt x="5583602" y="14049"/>
                  </a:lnTo>
                  <a:lnTo>
                    <a:pt x="5593883" y="29307"/>
                  </a:lnTo>
                  <a:lnTo>
                    <a:pt x="5597652" y="48006"/>
                  </a:lnTo>
                  <a:lnTo>
                    <a:pt x="5597652" y="1102614"/>
                  </a:lnTo>
                  <a:lnTo>
                    <a:pt x="5593883" y="1121312"/>
                  </a:lnTo>
                  <a:lnTo>
                    <a:pt x="5583602" y="1136570"/>
                  </a:lnTo>
                  <a:lnTo>
                    <a:pt x="5568344" y="1146851"/>
                  </a:lnTo>
                  <a:lnTo>
                    <a:pt x="5549646" y="1150620"/>
                  </a:lnTo>
                  <a:lnTo>
                    <a:pt x="48006" y="1150620"/>
                  </a:lnTo>
                  <a:lnTo>
                    <a:pt x="29307" y="1146851"/>
                  </a:lnTo>
                  <a:lnTo>
                    <a:pt x="14049" y="1136570"/>
                  </a:lnTo>
                  <a:lnTo>
                    <a:pt x="3768" y="1121312"/>
                  </a:lnTo>
                  <a:lnTo>
                    <a:pt x="0" y="1102614"/>
                  </a:lnTo>
                  <a:lnTo>
                    <a:pt x="0" y="4800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63700" y="1688083"/>
            <a:ext cx="4593590" cy="18694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Verdana"/>
                <a:cs typeface="Verdana"/>
              </a:rPr>
              <a:t>A </a:t>
            </a:r>
            <a:r>
              <a:rPr sz="2000" b="1" spc="-5" dirty="0">
                <a:latin typeface="Verdana"/>
                <a:cs typeface="Verdana"/>
              </a:rPr>
              <a:t>network </a:t>
            </a:r>
            <a:r>
              <a:rPr sz="2000" b="1" dirty="0">
                <a:latin typeface="Verdana"/>
                <a:cs typeface="Verdana"/>
              </a:rPr>
              <a:t>policy </a:t>
            </a:r>
            <a:r>
              <a:rPr sz="2000" b="1" spc="-5" dirty="0">
                <a:latin typeface="Verdana"/>
                <a:cs typeface="Verdana"/>
              </a:rPr>
              <a:t>consists </a:t>
            </a:r>
            <a:r>
              <a:rPr sz="2000" b="1" dirty="0">
                <a:latin typeface="Verdana"/>
                <a:cs typeface="Verdana"/>
              </a:rPr>
              <a:t>of the  following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elements:</a:t>
            </a:r>
            <a:endParaRPr sz="2000">
              <a:latin typeface="Verdana"/>
              <a:cs typeface="Verdana"/>
            </a:endParaRPr>
          </a:p>
          <a:p>
            <a:pPr marL="453390" indent="-229235">
              <a:lnSpc>
                <a:spcPct val="100000"/>
              </a:lnSpc>
              <a:spcBef>
                <a:spcPts val="1935"/>
              </a:spcBef>
              <a:buClr>
                <a:srgbClr val="006699"/>
              </a:buClr>
              <a:buFont typeface="Verdana"/>
              <a:buChar char="•"/>
              <a:tabLst>
                <a:tab pos="453390" algn="l"/>
              </a:tabLst>
            </a:pPr>
            <a:r>
              <a:rPr sz="1800" b="1" spc="-5" dirty="0">
                <a:latin typeface="Verdana"/>
                <a:cs typeface="Verdana"/>
              </a:rPr>
              <a:t>Conditions</a:t>
            </a:r>
            <a:endParaRPr sz="1800">
              <a:latin typeface="Verdana"/>
              <a:cs typeface="Verdana"/>
            </a:endParaRPr>
          </a:p>
          <a:p>
            <a:pPr marL="453390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453390" algn="l"/>
              </a:tabLst>
            </a:pPr>
            <a:r>
              <a:rPr sz="1800" b="1" spc="-5" dirty="0">
                <a:latin typeface="Verdana"/>
                <a:cs typeface="Verdana"/>
              </a:rPr>
              <a:t>Constraints</a:t>
            </a:r>
            <a:endParaRPr sz="1800">
              <a:latin typeface="Verdana"/>
              <a:cs typeface="Verdana"/>
            </a:endParaRPr>
          </a:p>
          <a:p>
            <a:pPr marL="453390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453390" algn="l"/>
              </a:tabLst>
            </a:pPr>
            <a:r>
              <a:rPr sz="1800" b="1" spc="-5" dirty="0">
                <a:latin typeface="Verdana"/>
                <a:cs typeface="Verdana"/>
              </a:rPr>
              <a:t>Settings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02502" y="1800529"/>
            <a:ext cx="950713" cy="12471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8323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Process for Creating </a:t>
            </a:r>
            <a:r>
              <a:rPr dirty="0"/>
              <a:t>and </a:t>
            </a:r>
            <a:r>
              <a:rPr spc="-5" dirty="0"/>
              <a:t>Configuring </a:t>
            </a:r>
            <a:r>
              <a:rPr dirty="0"/>
              <a:t>a Network</a:t>
            </a:r>
            <a:r>
              <a:rPr spc="120" dirty="0"/>
              <a:t> </a:t>
            </a:r>
            <a:r>
              <a:rPr spc="-5" dirty="0"/>
              <a:t>Policy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3357" y="1124521"/>
            <a:ext cx="8731885" cy="3799840"/>
            <a:chOff x="193357" y="1124521"/>
            <a:chExt cx="8731885" cy="3799840"/>
          </a:xfrm>
        </p:grpSpPr>
        <p:sp>
          <p:nvSpPr>
            <p:cNvPr id="4" name="object 4"/>
            <p:cNvSpPr/>
            <p:nvPr/>
          </p:nvSpPr>
          <p:spPr>
            <a:xfrm>
              <a:off x="198120" y="1129283"/>
              <a:ext cx="8722360" cy="3790315"/>
            </a:xfrm>
            <a:custGeom>
              <a:avLst/>
              <a:gdLst/>
              <a:ahLst/>
              <a:cxnLst/>
              <a:rect l="l" t="t" r="r" b="b"/>
              <a:pathLst>
                <a:path w="8722360" h="3790315">
                  <a:moveTo>
                    <a:pt x="8563864" y="0"/>
                  </a:moveTo>
                  <a:lnTo>
                    <a:pt x="157937" y="0"/>
                  </a:lnTo>
                  <a:lnTo>
                    <a:pt x="108017" y="8054"/>
                  </a:lnTo>
                  <a:lnTo>
                    <a:pt x="64662" y="30484"/>
                  </a:lnTo>
                  <a:lnTo>
                    <a:pt x="30473" y="64684"/>
                  </a:lnTo>
                  <a:lnTo>
                    <a:pt x="8052" y="108053"/>
                  </a:lnTo>
                  <a:lnTo>
                    <a:pt x="0" y="157987"/>
                  </a:lnTo>
                  <a:lnTo>
                    <a:pt x="0" y="3632200"/>
                  </a:lnTo>
                  <a:lnTo>
                    <a:pt x="8052" y="3682134"/>
                  </a:lnTo>
                  <a:lnTo>
                    <a:pt x="30473" y="3725503"/>
                  </a:lnTo>
                  <a:lnTo>
                    <a:pt x="64662" y="3759703"/>
                  </a:lnTo>
                  <a:lnTo>
                    <a:pt x="108017" y="3782133"/>
                  </a:lnTo>
                  <a:lnTo>
                    <a:pt x="157937" y="3790188"/>
                  </a:lnTo>
                  <a:lnTo>
                    <a:pt x="8563864" y="3790188"/>
                  </a:lnTo>
                  <a:lnTo>
                    <a:pt x="8613798" y="3782133"/>
                  </a:lnTo>
                  <a:lnTo>
                    <a:pt x="8657167" y="3759703"/>
                  </a:lnTo>
                  <a:lnTo>
                    <a:pt x="8691367" y="3725503"/>
                  </a:lnTo>
                  <a:lnTo>
                    <a:pt x="8713797" y="3682134"/>
                  </a:lnTo>
                  <a:lnTo>
                    <a:pt x="8721852" y="3632200"/>
                  </a:lnTo>
                  <a:lnTo>
                    <a:pt x="8721852" y="157987"/>
                  </a:lnTo>
                  <a:lnTo>
                    <a:pt x="8713797" y="108053"/>
                  </a:lnTo>
                  <a:lnTo>
                    <a:pt x="8691367" y="64684"/>
                  </a:lnTo>
                  <a:lnTo>
                    <a:pt x="8657167" y="30484"/>
                  </a:lnTo>
                  <a:lnTo>
                    <a:pt x="8613798" y="8054"/>
                  </a:lnTo>
                  <a:lnTo>
                    <a:pt x="8563864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" y="1129283"/>
              <a:ext cx="8722360" cy="3790315"/>
            </a:xfrm>
            <a:custGeom>
              <a:avLst/>
              <a:gdLst/>
              <a:ahLst/>
              <a:cxnLst/>
              <a:rect l="l" t="t" r="r" b="b"/>
              <a:pathLst>
                <a:path w="8722360" h="3790315">
                  <a:moveTo>
                    <a:pt x="0" y="157987"/>
                  </a:moveTo>
                  <a:lnTo>
                    <a:pt x="8052" y="108053"/>
                  </a:lnTo>
                  <a:lnTo>
                    <a:pt x="30473" y="64684"/>
                  </a:lnTo>
                  <a:lnTo>
                    <a:pt x="64662" y="30484"/>
                  </a:lnTo>
                  <a:lnTo>
                    <a:pt x="108017" y="8054"/>
                  </a:lnTo>
                  <a:lnTo>
                    <a:pt x="157937" y="0"/>
                  </a:lnTo>
                  <a:lnTo>
                    <a:pt x="8563864" y="0"/>
                  </a:lnTo>
                  <a:lnTo>
                    <a:pt x="8613798" y="8054"/>
                  </a:lnTo>
                  <a:lnTo>
                    <a:pt x="8657167" y="30484"/>
                  </a:lnTo>
                  <a:lnTo>
                    <a:pt x="8691367" y="64684"/>
                  </a:lnTo>
                  <a:lnTo>
                    <a:pt x="8713797" y="108053"/>
                  </a:lnTo>
                  <a:lnTo>
                    <a:pt x="8721852" y="157987"/>
                  </a:lnTo>
                  <a:lnTo>
                    <a:pt x="8721852" y="3632200"/>
                  </a:lnTo>
                  <a:lnTo>
                    <a:pt x="8713797" y="3682134"/>
                  </a:lnTo>
                  <a:lnTo>
                    <a:pt x="8691367" y="3725503"/>
                  </a:lnTo>
                  <a:lnTo>
                    <a:pt x="8657167" y="3759703"/>
                  </a:lnTo>
                  <a:lnTo>
                    <a:pt x="8613798" y="3782133"/>
                  </a:lnTo>
                  <a:lnTo>
                    <a:pt x="8563864" y="3790188"/>
                  </a:lnTo>
                  <a:lnTo>
                    <a:pt x="157937" y="3790188"/>
                  </a:lnTo>
                  <a:lnTo>
                    <a:pt x="108017" y="3782133"/>
                  </a:lnTo>
                  <a:lnTo>
                    <a:pt x="64662" y="3759703"/>
                  </a:lnTo>
                  <a:lnTo>
                    <a:pt x="30473" y="3725503"/>
                  </a:lnTo>
                  <a:lnTo>
                    <a:pt x="8052" y="3682134"/>
                  </a:lnTo>
                  <a:lnTo>
                    <a:pt x="0" y="3632200"/>
                  </a:lnTo>
                  <a:lnTo>
                    <a:pt x="0" y="15798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4256" y="1461515"/>
              <a:ext cx="8171815" cy="650875"/>
            </a:xfrm>
            <a:custGeom>
              <a:avLst/>
              <a:gdLst/>
              <a:ahLst/>
              <a:cxnLst/>
              <a:rect l="l" t="t" r="r" b="b"/>
              <a:pathLst>
                <a:path w="8171815" h="650875">
                  <a:moveTo>
                    <a:pt x="8144510" y="0"/>
                  </a:moveTo>
                  <a:lnTo>
                    <a:pt x="27114" y="0"/>
                  </a:lnTo>
                  <a:lnTo>
                    <a:pt x="16560" y="2137"/>
                  </a:lnTo>
                  <a:lnTo>
                    <a:pt x="7942" y="7953"/>
                  </a:lnTo>
                  <a:lnTo>
                    <a:pt x="2131" y="16555"/>
                  </a:lnTo>
                  <a:lnTo>
                    <a:pt x="0" y="27050"/>
                  </a:lnTo>
                  <a:lnTo>
                    <a:pt x="0" y="623697"/>
                  </a:lnTo>
                  <a:lnTo>
                    <a:pt x="2131" y="634192"/>
                  </a:lnTo>
                  <a:lnTo>
                    <a:pt x="7942" y="642794"/>
                  </a:lnTo>
                  <a:lnTo>
                    <a:pt x="16560" y="648610"/>
                  </a:lnTo>
                  <a:lnTo>
                    <a:pt x="27114" y="650748"/>
                  </a:lnTo>
                  <a:lnTo>
                    <a:pt x="8144510" y="650748"/>
                  </a:lnTo>
                  <a:lnTo>
                    <a:pt x="8155078" y="648610"/>
                  </a:lnTo>
                  <a:lnTo>
                    <a:pt x="8163718" y="642794"/>
                  </a:lnTo>
                  <a:lnTo>
                    <a:pt x="8169548" y="634192"/>
                  </a:lnTo>
                  <a:lnTo>
                    <a:pt x="8171688" y="623697"/>
                  </a:lnTo>
                  <a:lnTo>
                    <a:pt x="8171688" y="27050"/>
                  </a:lnTo>
                  <a:lnTo>
                    <a:pt x="8169548" y="16555"/>
                  </a:lnTo>
                  <a:lnTo>
                    <a:pt x="8163718" y="7953"/>
                  </a:lnTo>
                  <a:lnTo>
                    <a:pt x="8155078" y="2137"/>
                  </a:lnTo>
                  <a:lnTo>
                    <a:pt x="8144510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4256" y="1461515"/>
              <a:ext cx="8171815" cy="650875"/>
            </a:xfrm>
            <a:custGeom>
              <a:avLst/>
              <a:gdLst/>
              <a:ahLst/>
              <a:cxnLst/>
              <a:rect l="l" t="t" r="r" b="b"/>
              <a:pathLst>
                <a:path w="8171815" h="650875">
                  <a:moveTo>
                    <a:pt x="0" y="27050"/>
                  </a:moveTo>
                  <a:lnTo>
                    <a:pt x="2131" y="16555"/>
                  </a:lnTo>
                  <a:lnTo>
                    <a:pt x="7942" y="7953"/>
                  </a:lnTo>
                  <a:lnTo>
                    <a:pt x="16560" y="2137"/>
                  </a:lnTo>
                  <a:lnTo>
                    <a:pt x="27114" y="0"/>
                  </a:lnTo>
                  <a:lnTo>
                    <a:pt x="8144510" y="0"/>
                  </a:lnTo>
                  <a:lnTo>
                    <a:pt x="8155078" y="2137"/>
                  </a:lnTo>
                  <a:lnTo>
                    <a:pt x="8163718" y="7953"/>
                  </a:lnTo>
                  <a:lnTo>
                    <a:pt x="8169548" y="16555"/>
                  </a:lnTo>
                  <a:lnTo>
                    <a:pt x="8171688" y="27050"/>
                  </a:lnTo>
                  <a:lnTo>
                    <a:pt x="8171688" y="623697"/>
                  </a:lnTo>
                  <a:lnTo>
                    <a:pt x="8169548" y="634192"/>
                  </a:lnTo>
                  <a:lnTo>
                    <a:pt x="8163718" y="642794"/>
                  </a:lnTo>
                  <a:lnTo>
                    <a:pt x="8155078" y="648610"/>
                  </a:lnTo>
                  <a:lnTo>
                    <a:pt x="8144510" y="650748"/>
                  </a:lnTo>
                  <a:lnTo>
                    <a:pt x="27114" y="650748"/>
                  </a:lnTo>
                  <a:lnTo>
                    <a:pt x="16560" y="648610"/>
                  </a:lnTo>
                  <a:lnTo>
                    <a:pt x="7942" y="642794"/>
                  </a:lnTo>
                  <a:lnTo>
                    <a:pt x="2131" y="634192"/>
                  </a:lnTo>
                  <a:lnTo>
                    <a:pt x="0" y="623697"/>
                  </a:lnTo>
                  <a:lnTo>
                    <a:pt x="0" y="2705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3316" y="1634278"/>
            <a:ext cx="125095" cy="27813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solidFill>
                  <a:srgbClr val="006699"/>
                </a:solidFill>
                <a:latin typeface="Verdana"/>
                <a:cs typeface="Verdana"/>
              </a:rPr>
              <a:t>•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1622805"/>
            <a:ext cx="538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Verdana"/>
                <a:cs typeface="Verdana"/>
              </a:rPr>
              <a:t>Determine authorization by user </a:t>
            </a:r>
            <a:r>
              <a:rPr sz="1800" b="1" dirty="0">
                <a:latin typeface="Verdana"/>
                <a:cs typeface="Verdana"/>
              </a:rPr>
              <a:t>or</a:t>
            </a:r>
            <a:r>
              <a:rPr sz="1800" b="1" spc="7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group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3943" y="1533144"/>
            <a:ext cx="609600" cy="643255"/>
            <a:chOff x="313943" y="1533144"/>
            <a:chExt cx="609600" cy="643255"/>
          </a:xfrm>
        </p:grpSpPr>
        <p:sp>
          <p:nvSpPr>
            <p:cNvPr id="11" name="object 11"/>
            <p:cNvSpPr/>
            <p:nvPr/>
          </p:nvSpPr>
          <p:spPr>
            <a:xfrm>
              <a:off x="400811" y="1609344"/>
              <a:ext cx="451103" cy="4038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3943" y="1533144"/>
              <a:ext cx="609600" cy="6431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0999" y="1589532"/>
              <a:ext cx="438912" cy="39166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0999" y="1589532"/>
              <a:ext cx="439420" cy="391795"/>
            </a:xfrm>
            <a:custGeom>
              <a:avLst/>
              <a:gdLst/>
              <a:ahLst/>
              <a:cxnLst/>
              <a:rect l="l" t="t" r="r" b="b"/>
              <a:pathLst>
                <a:path w="439419" h="391794">
                  <a:moveTo>
                    <a:pt x="0" y="391667"/>
                  </a:moveTo>
                  <a:lnTo>
                    <a:pt x="438912" y="391667"/>
                  </a:lnTo>
                  <a:lnTo>
                    <a:pt x="438912" y="0"/>
                  </a:lnTo>
                  <a:lnTo>
                    <a:pt x="0" y="0"/>
                  </a:lnTo>
                  <a:lnTo>
                    <a:pt x="0" y="39166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1000" y="1589532"/>
            <a:ext cx="439420" cy="39179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"/>
              </a:spcBef>
            </a:pPr>
            <a:r>
              <a:rPr sz="2400" b="1" spc="-5" dirty="0">
                <a:solidFill>
                  <a:srgbClr val="990033"/>
                </a:solidFill>
                <a:latin typeface="Wingdings"/>
                <a:cs typeface="Wingdings"/>
              </a:rPr>
              <a:t></a:t>
            </a:r>
            <a:endParaRPr sz="2400">
              <a:latin typeface="Wingdings"/>
              <a:cs typeface="Wingding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3943" y="2220277"/>
            <a:ext cx="8387080" cy="720090"/>
            <a:chOff x="313943" y="2220277"/>
            <a:chExt cx="8387080" cy="720090"/>
          </a:xfrm>
        </p:grpSpPr>
        <p:sp>
          <p:nvSpPr>
            <p:cNvPr id="17" name="object 17"/>
            <p:cNvSpPr/>
            <p:nvPr/>
          </p:nvSpPr>
          <p:spPr>
            <a:xfrm>
              <a:off x="524255" y="2225039"/>
              <a:ext cx="8171815" cy="652780"/>
            </a:xfrm>
            <a:custGeom>
              <a:avLst/>
              <a:gdLst/>
              <a:ahLst/>
              <a:cxnLst/>
              <a:rect l="l" t="t" r="r" b="b"/>
              <a:pathLst>
                <a:path w="8171815" h="652780">
                  <a:moveTo>
                    <a:pt x="8144510" y="0"/>
                  </a:moveTo>
                  <a:lnTo>
                    <a:pt x="27178" y="0"/>
                  </a:lnTo>
                  <a:lnTo>
                    <a:pt x="16598" y="2139"/>
                  </a:lnTo>
                  <a:lnTo>
                    <a:pt x="7959" y="7969"/>
                  </a:lnTo>
                  <a:lnTo>
                    <a:pt x="2135" y="16609"/>
                  </a:lnTo>
                  <a:lnTo>
                    <a:pt x="0" y="27177"/>
                  </a:lnTo>
                  <a:lnTo>
                    <a:pt x="0" y="625094"/>
                  </a:lnTo>
                  <a:lnTo>
                    <a:pt x="2135" y="635662"/>
                  </a:lnTo>
                  <a:lnTo>
                    <a:pt x="7959" y="644302"/>
                  </a:lnTo>
                  <a:lnTo>
                    <a:pt x="16598" y="650132"/>
                  </a:lnTo>
                  <a:lnTo>
                    <a:pt x="27178" y="652272"/>
                  </a:lnTo>
                  <a:lnTo>
                    <a:pt x="8144510" y="652272"/>
                  </a:lnTo>
                  <a:lnTo>
                    <a:pt x="8155078" y="650132"/>
                  </a:lnTo>
                  <a:lnTo>
                    <a:pt x="8163718" y="644302"/>
                  </a:lnTo>
                  <a:lnTo>
                    <a:pt x="8169548" y="635662"/>
                  </a:lnTo>
                  <a:lnTo>
                    <a:pt x="8171688" y="625094"/>
                  </a:lnTo>
                  <a:lnTo>
                    <a:pt x="8171688" y="27177"/>
                  </a:lnTo>
                  <a:lnTo>
                    <a:pt x="8169548" y="16609"/>
                  </a:lnTo>
                  <a:lnTo>
                    <a:pt x="8163718" y="7969"/>
                  </a:lnTo>
                  <a:lnTo>
                    <a:pt x="8155078" y="2139"/>
                  </a:lnTo>
                  <a:lnTo>
                    <a:pt x="8144510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4255" y="2225039"/>
              <a:ext cx="8171815" cy="652780"/>
            </a:xfrm>
            <a:custGeom>
              <a:avLst/>
              <a:gdLst/>
              <a:ahLst/>
              <a:cxnLst/>
              <a:rect l="l" t="t" r="r" b="b"/>
              <a:pathLst>
                <a:path w="8171815" h="652780">
                  <a:moveTo>
                    <a:pt x="0" y="27177"/>
                  </a:moveTo>
                  <a:lnTo>
                    <a:pt x="2135" y="16609"/>
                  </a:lnTo>
                  <a:lnTo>
                    <a:pt x="7959" y="7969"/>
                  </a:lnTo>
                  <a:lnTo>
                    <a:pt x="16598" y="2139"/>
                  </a:lnTo>
                  <a:lnTo>
                    <a:pt x="27178" y="0"/>
                  </a:lnTo>
                  <a:lnTo>
                    <a:pt x="8144510" y="0"/>
                  </a:lnTo>
                  <a:lnTo>
                    <a:pt x="8155078" y="2139"/>
                  </a:lnTo>
                  <a:lnTo>
                    <a:pt x="8163718" y="7969"/>
                  </a:lnTo>
                  <a:lnTo>
                    <a:pt x="8169548" y="16609"/>
                  </a:lnTo>
                  <a:lnTo>
                    <a:pt x="8171688" y="27177"/>
                  </a:lnTo>
                  <a:lnTo>
                    <a:pt x="8171688" y="625094"/>
                  </a:lnTo>
                  <a:lnTo>
                    <a:pt x="8169548" y="635662"/>
                  </a:lnTo>
                  <a:lnTo>
                    <a:pt x="8163718" y="644302"/>
                  </a:lnTo>
                  <a:lnTo>
                    <a:pt x="8155078" y="650132"/>
                  </a:lnTo>
                  <a:lnTo>
                    <a:pt x="8144510" y="652272"/>
                  </a:lnTo>
                  <a:lnTo>
                    <a:pt x="27178" y="652272"/>
                  </a:lnTo>
                  <a:lnTo>
                    <a:pt x="16598" y="650132"/>
                  </a:lnTo>
                  <a:lnTo>
                    <a:pt x="7959" y="644302"/>
                  </a:lnTo>
                  <a:lnTo>
                    <a:pt x="2135" y="635662"/>
                  </a:lnTo>
                  <a:lnTo>
                    <a:pt x="0" y="625094"/>
                  </a:lnTo>
                  <a:lnTo>
                    <a:pt x="0" y="27177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0811" y="2372867"/>
              <a:ext cx="451103" cy="4038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3943" y="2296667"/>
              <a:ext cx="609600" cy="64312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0999" y="2353055"/>
              <a:ext cx="438912" cy="39166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0999" y="2353055"/>
              <a:ext cx="439420" cy="391795"/>
            </a:xfrm>
            <a:custGeom>
              <a:avLst/>
              <a:gdLst/>
              <a:ahLst/>
              <a:cxnLst/>
              <a:rect l="l" t="t" r="r" b="b"/>
              <a:pathLst>
                <a:path w="439419" h="391794">
                  <a:moveTo>
                    <a:pt x="0" y="391667"/>
                  </a:moveTo>
                  <a:lnTo>
                    <a:pt x="438912" y="391667"/>
                  </a:lnTo>
                  <a:lnTo>
                    <a:pt x="438912" y="0"/>
                  </a:lnTo>
                  <a:lnTo>
                    <a:pt x="0" y="0"/>
                  </a:lnTo>
                  <a:lnTo>
                    <a:pt x="0" y="39166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47040" y="2263266"/>
            <a:ext cx="7426325" cy="546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210"/>
              </a:lnSpc>
              <a:tabLst>
                <a:tab pos="481965" algn="l"/>
              </a:tabLst>
            </a:pPr>
            <a:r>
              <a:rPr sz="3600" b="1" spc="-532" baseline="-28935" dirty="0">
                <a:solidFill>
                  <a:srgbClr val="990033"/>
                </a:solidFill>
                <a:latin typeface="Wingdings"/>
                <a:cs typeface="Wingdings"/>
              </a:rPr>
              <a:t></a:t>
            </a:r>
            <a:r>
              <a:rPr sz="1800" spc="-355" dirty="0">
                <a:solidFill>
                  <a:srgbClr val="006699"/>
                </a:solidFill>
                <a:latin typeface="Verdana"/>
                <a:cs typeface="Verdana"/>
              </a:rPr>
              <a:t>•	</a:t>
            </a:r>
            <a:r>
              <a:rPr sz="1800" b="1" spc="-5" dirty="0">
                <a:latin typeface="Verdana"/>
                <a:cs typeface="Verdana"/>
              </a:rPr>
              <a:t>Determine </a:t>
            </a:r>
            <a:r>
              <a:rPr sz="1800" b="1" dirty="0">
                <a:latin typeface="Verdana"/>
                <a:cs typeface="Verdana"/>
              </a:rPr>
              <a:t>appropriate </a:t>
            </a:r>
            <a:r>
              <a:rPr sz="1800" b="1" spc="-5" dirty="0">
                <a:latin typeface="Verdana"/>
                <a:cs typeface="Verdana"/>
              </a:rPr>
              <a:t>settings for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user</a:t>
            </a:r>
            <a:r>
              <a:rPr sz="1800" b="1" spc="6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account’s</a:t>
            </a:r>
            <a:endParaRPr sz="1800">
              <a:latin typeface="Verdana"/>
              <a:cs typeface="Verdana"/>
            </a:endParaRPr>
          </a:p>
          <a:p>
            <a:pPr marL="487045">
              <a:lnSpc>
                <a:spcPts val="1989"/>
              </a:lnSpc>
            </a:pPr>
            <a:r>
              <a:rPr sz="1800" b="1" dirty="0">
                <a:latin typeface="Verdana"/>
                <a:cs typeface="Verdana"/>
              </a:rPr>
              <a:t>network </a:t>
            </a:r>
            <a:r>
              <a:rPr sz="1800" b="1" spc="-5" dirty="0">
                <a:latin typeface="Verdana"/>
                <a:cs typeface="Verdana"/>
              </a:rPr>
              <a:t>access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permissions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19493" y="2983801"/>
            <a:ext cx="8181340" cy="1576705"/>
            <a:chOff x="519493" y="2983801"/>
            <a:chExt cx="8181340" cy="1576705"/>
          </a:xfrm>
        </p:grpSpPr>
        <p:sp>
          <p:nvSpPr>
            <p:cNvPr id="25" name="object 25"/>
            <p:cNvSpPr/>
            <p:nvPr/>
          </p:nvSpPr>
          <p:spPr>
            <a:xfrm>
              <a:off x="524255" y="2988564"/>
              <a:ext cx="8171815" cy="1567180"/>
            </a:xfrm>
            <a:custGeom>
              <a:avLst/>
              <a:gdLst/>
              <a:ahLst/>
              <a:cxnLst/>
              <a:rect l="l" t="t" r="r" b="b"/>
              <a:pathLst>
                <a:path w="8171815" h="1567179">
                  <a:moveTo>
                    <a:pt x="8106410" y="0"/>
                  </a:moveTo>
                  <a:lnTo>
                    <a:pt x="65278" y="0"/>
                  </a:lnTo>
                  <a:lnTo>
                    <a:pt x="39867" y="5127"/>
                  </a:lnTo>
                  <a:lnTo>
                    <a:pt x="19118" y="19113"/>
                  </a:lnTo>
                  <a:lnTo>
                    <a:pt x="5129" y="39862"/>
                  </a:lnTo>
                  <a:lnTo>
                    <a:pt x="0" y="65277"/>
                  </a:lnTo>
                  <a:lnTo>
                    <a:pt x="0" y="1501394"/>
                  </a:lnTo>
                  <a:lnTo>
                    <a:pt x="5129" y="1526809"/>
                  </a:lnTo>
                  <a:lnTo>
                    <a:pt x="19118" y="1547558"/>
                  </a:lnTo>
                  <a:lnTo>
                    <a:pt x="39867" y="1561544"/>
                  </a:lnTo>
                  <a:lnTo>
                    <a:pt x="65278" y="1566672"/>
                  </a:lnTo>
                  <a:lnTo>
                    <a:pt x="8106410" y="1566672"/>
                  </a:lnTo>
                  <a:lnTo>
                    <a:pt x="8131825" y="1561544"/>
                  </a:lnTo>
                  <a:lnTo>
                    <a:pt x="8152574" y="1547558"/>
                  </a:lnTo>
                  <a:lnTo>
                    <a:pt x="8166560" y="1526809"/>
                  </a:lnTo>
                  <a:lnTo>
                    <a:pt x="8171688" y="1501394"/>
                  </a:lnTo>
                  <a:lnTo>
                    <a:pt x="8171688" y="65277"/>
                  </a:lnTo>
                  <a:lnTo>
                    <a:pt x="8166560" y="39862"/>
                  </a:lnTo>
                  <a:lnTo>
                    <a:pt x="8152574" y="19113"/>
                  </a:lnTo>
                  <a:lnTo>
                    <a:pt x="8131825" y="5127"/>
                  </a:lnTo>
                  <a:lnTo>
                    <a:pt x="8106410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4255" y="2988564"/>
              <a:ext cx="8171815" cy="1567180"/>
            </a:xfrm>
            <a:custGeom>
              <a:avLst/>
              <a:gdLst/>
              <a:ahLst/>
              <a:cxnLst/>
              <a:rect l="l" t="t" r="r" b="b"/>
              <a:pathLst>
                <a:path w="8171815" h="1567179">
                  <a:moveTo>
                    <a:pt x="0" y="65277"/>
                  </a:moveTo>
                  <a:lnTo>
                    <a:pt x="5129" y="39862"/>
                  </a:lnTo>
                  <a:lnTo>
                    <a:pt x="19118" y="19113"/>
                  </a:lnTo>
                  <a:lnTo>
                    <a:pt x="39867" y="5127"/>
                  </a:lnTo>
                  <a:lnTo>
                    <a:pt x="65278" y="0"/>
                  </a:lnTo>
                  <a:lnTo>
                    <a:pt x="8106410" y="0"/>
                  </a:lnTo>
                  <a:lnTo>
                    <a:pt x="8131825" y="5127"/>
                  </a:lnTo>
                  <a:lnTo>
                    <a:pt x="8152574" y="19113"/>
                  </a:lnTo>
                  <a:lnTo>
                    <a:pt x="8166560" y="39862"/>
                  </a:lnTo>
                  <a:lnTo>
                    <a:pt x="8171688" y="65277"/>
                  </a:lnTo>
                  <a:lnTo>
                    <a:pt x="8171688" y="1501394"/>
                  </a:lnTo>
                  <a:lnTo>
                    <a:pt x="8166560" y="1526809"/>
                  </a:lnTo>
                  <a:lnTo>
                    <a:pt x="8152574" y="1547558"/>
                  </a:lnTo>
                  <a:lnTo>
                    <a:pt x="8131825" y="1561544"/>
                  </a:lnTo>
                  <a:lnTo>
                    <a:pt x="8106410" y="1566672"/>
                  </a:lnTo>
                  <a:lnTo>
                    <a:pt x="65278" y="1566672"/>
                  </a:lnTo>
                  <a:lnTo>
                    <a:pt x="39867" y="1561544"/>
                  </a:lnTo>
                  <a:lnTo>
                    <a:pt x="19118" y="1547558"/>
                  </a:lnTo>
                  <a:lnTo>
                    <a:pt x="5129" y="1526809"/>
                  </a:lnTo>
                  <a:lnTo>
                    <a:pt x="0" y="1501394"/>
                  </a:lnTo>
                  <a:lnTo>
                    <a:pt x="0" y="6527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28217" y="2989960"/>
            <a:ext cx="5511800" cy="145288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b="1" spc="-5" dirty="0">
                <a:latin typeface="Verdana"/>
                <a:cs typeface="Verdana"/>
              </a:rPr>
              <a:t>Configure </a:t>
            </a:r>
            <a:r>
              <a:rPr sz="1800" b="1" dirty="0">
                <a:latin typeface="Verdana"/>
                <a:cs typeface="Verdana"/>
              </a:rPr>
              <a:t>the New Network </a:t>
            </a:r>
            <a:r>
              <a:rPr sz="1800" b="1" spc="-5" dirty="0">
                <a:latin typeface="Verdana"/>
                <a:cs typeface="Verdana"/>
              </a:rPr>
              <a:t>Policy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Wizard:</a:t>
            </a:r>
            <a:endParaRPr sz="1800">
              <a:latin typeface="Verdana"/>
              <a:cs typeface="Verdana"/>
            </a:endParaRPr>
          </a:p>
          <a:p>
            <a:pPr marL="391795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392430" algn="l"/>
              </a:tabLst>
            </a:pPr>
            <a:r>
              <a:rPr sz="1800" b="1" spc="-5" dirty="0">
                <a:latin typeface="Verdana"/>
                <a:cs typeface="Verdana"/>
              </a:rPr>
              <a:t>Configure </a:t>
            </a:r>
            <a:r>
              <a:rPr sz="1800" b="1" dirty="0">
                <a:latin typeface="Verdana"/>
                <a:cs typeface="Verdana"/>
              </a:rPr>
              <a:t>Network </a:t>
            </a:r>
            <a:r>
              <a:rPr sz="1800" b="1" spc="-5" dirty="0">
                <a:latin typeface="Verdana"/>
                <a:cs typeface="Verdana"/>
              </a:rPr>
              <a:t>Policy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conditions</a:t>
            </a:r>
            <a:endParaRPr sz="1800">
              <a:latin typeface="Verdana"/>
              <a:cs typeface="Verdana"/>
            </a:endParaRPr>
          </a:p>
          <a:p>
            <a:pPr marL="391795" indent="-229235">
              <a:lnSpc>
                <a:spcPct val="100000"/>
              </a:lnSpc>
              <a:spcBef>
                <a:spcPts val="645"/>
              </a:spcBef>
              <a:buClr>
                <a:srgbClr val="006699"/>
              </a:buClr>
              <a:buFont typeface="Verdana"/>
              <a:buChar char="•"/>
              <a:tabLst>
                <a:tab pos="392430" algn="l"/>
              </a:tabLst>
            </a:pPr>
            <a:r>
              <a:rPr sz="1800" b="1" spc="-5" dirty="0">
                <a:latin typeface="Verdana"/>
                <a:cs typeface="Verdana"/>
              </a:rPr>
              <a:t>Configure </a:t>
            </a:r>
            <a:r>
              <a:rPr sz="1800" b="1" dirty="0">
                <a:latin typeface="Verdana"/>
                <a:cs typeface="Verdana"/>
              </a:rPr>
              <a:t>Network </a:t>
            </a:r>
            <a:r>
              <a:rPr sz="1800" b="1" spc="-5" dirty="0">
                <a:latin typeface="Verdana"/>
                <a:cs typeface="Verdana"/>
              </a:rPr>
              <a:t>Policy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constraints</a:t>
            </a:r>
            <a:endParaRPr sz="1800">
              <a:latin typeface="Verdana"/>
              <a:cs typeface="Verdana"/>
            </a:endParaRPr>
          </a:p>
          <a:p>
            <a:pPr marL="391795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392430" algn="l"/>
              </a:tabLst>
            </a:pPr>
            <a:r>
              <a:rPr sz="1800" b="1" spc="-5" dirty="0">
                <a:latin typeface="Verdana"/>
                <a:cs typeface="Verdana"/>
              </a:rPr>
              <a:t>Configure </a:t>
            </a:r>
            <a:r>
              <a:rPr sz="1800" b="1" dirty="0">
                <a:latin typeface="Verdana"/>
                <a:cs typeface="Verdana"/>
              </a:rPr>
              <a:t>Network </a:t>
            </a:r>
            <a:r>
              <a:rPr sz="1800" b="1" spc="-5" dirty="0">
                <a:latin typeface="Verdana"/>
                <a:cs typeface="Verdana"/>
              </a:rPr>
              <a:t>Policy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settings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13943" y="3058667"/>
            <a:ext cx="609600" cy="643255"/>
            <a:chOff x="313943" y="3058667"/>
            <a:chExt cx="609600" cy="643255"/>
          </a:xfrm>
        </p:grpSpPr>
        <p:sp>
          <p:nvSpPr>
            <p:cNvPr id="29" name="object 29"/>
            <p:cNvSpPr/>
            <p:nvPr/>
          </p:nvSpPr>
          <p:spPr>
            <a:xfrm>
              <a:off x="400811" y="3134867"/>
              <a:ext cx="451103" cy="4038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3943" y="3058667"/>
              <a:ext cx="609600" cy="64312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0999" y="3115055"/>
              <a:ext cx="438912" cy="39166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0999" y="3115055"/>
              <a:ext cx="439420" cy="391795"/>
            </a:xfrm>
            <a:custGeom>
              <a:avLst/>
              <a:gdLst/>
              <a:ahLst/>
              <a:cxnLst/>
              <a:rect l="l" t="t" r="r" b="b"/>
              <a:pathLst>
                <a:path w="439419" h="391795">
                  <a:moveTo>
                    <a:pt x="0" y="391667"/>
                  </a:moveTo>
                  <a:lnTo>
                    <a:pt x="438912" y="391667"/>
                  </a:lnTo>
                  <a:lnTo>
                    <a:pt x="438912" y="0"/>
                  </a:lnTo>
                  <a:lnTo>
                    <a:pt x="0" y="0"/>
                  </a:lnTo>
                  <a:lnTo>
                    <a:pt x="0" y="39166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81000" y="3115055"/>
            <a:ext cx="439420" cy="391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2045"/>
              </a:lnSpc>
            </a:pPr>
            <a:r>
              <a:rPr sz="3600" b="1" spc="-465" baseline="-19675" dirty="0">
                <a:solidFill>
                  <a:srgbClr val="990033"/>
                </a:solidFill>
                <a:latin typeface="Wingdings"/>
                <a:cs typeface="Wingdings"/>
              </a:rPr>
              <a:t></a:t>
            </a:r>
            <a:r>
              <a:rPr sz="1800" spc="-310" dirty="0">
                <a:solidFill>
                  <a:srgbClr val="006699"/>
                </a:solidFill>
                <a:latin typeface="Verdana"/>
                <a:cs typeface="Verdana"/>
              </a:rPr>
              <a:t>•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706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are </a:t>
            </a:r>
            <a:r>
              <a:rPr dirty="0"/>
              <a:t>Network </a:t>
            </a:r>
            <a:r>
              <a:rPr spc="-5" dirty="0"/>
              <a:t>Policies</a:t>
            </a:r>
            <a:r>
              <a:rPr spc="5" dirty="0"/>
              <a:t> </a:t>
            </a:r>
            <a:r>
              <a:rPr spc="-5" dirty="0"/>
              <a:t>Processed?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6237" y="1034605"/>
            <a:ext cx="8425180" cy="5172710"/>
            <a:chOff x="376237" y="1034605"/>
            <a:chExt cx="8425180" cy="5172710"/>
          </a:xfrm>
        </p:grpSpPr>
        <p:sp>
          <p:nvSpPr>
            <p:cNvPr id="4" name="object 4"/>
            <p:cNvSpPr/>
            <p:nvPr/>
          </p:nvSpPr>
          <p:spPr>
            <a:xfrm>
              <a:off x="400811" y="1059179"/>
              <a:ext cx="8400288" cy="51480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1000" y="1039367"/>
              <a:ext cx="8388096" cy="51358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000" y="1039367"/>
              <a:ext cx="8388350" cy="5135880"/>
            </a:xfrm>
            <a:custGeom>
              <a:avLst/>
              <a:gdLst/>
              <a:ahLst/>
              <a:cxnLst/>
              <a:rect l="l" t="t" r="r" b="b"/>
              <a:pathLst>
                <a:path w="8388350" h="5135880">
                  <a:moveTo>
                    <a:pt x="0" y="213995"/>
                  </a:moveTo>
                  <a:lnTo>
                    <a:pt x="5652" y="164911"/>
                  </a:lnTo>
                  <a:lnTo>
                    <a:pt x="21753" y="119863"/>
                  </a:lnTo>
                  <a:lnTo>
                    <a:pt x="47017" y="80130"/>
                  </a:lnTo>
                  <a:lnTo>
                    <a:pt x="80159" y="46996"/>
                  </a:lnTo>
                  <a:lnTo>
                    <a:pt x="119895" y="21741"/>
                  </a:lnTo>
                  <a:lnTo>
                    <a:pt x="164939" y="5649"/>
                  </a:lnTo>
                  <a:lnTo>
                    <a:pt x="214007" y="0"/>
                  </a:lnTo>
                  <a:lnTo>
                    <a:pt x="8174101" y="0"/>
                  </a:lnTo>
                  <a:lnTo>
                    <a:pt x="8223184" y="5649"/>
                  </a:lnTo>
                  <a:lnTo>
                    <a:pt x="8268232" y="21741"/>
                  </a:lnTo>
                  <a:lnTo>
                    <a:pt x="8307965" y="46996"/>
                  </a:lnTo>
                  <a:lnTo>
                    <a:pt x="8341099" y="80130"/>
                  </a:lnTo>
                  <a:lnTo>
                    <a:pt x="8366354" y="119863"/>
                  </a:lnTo>
                  <a:lnTo>
                    <a:pt x="8382446" y="164911"/>
                  </a:lnTo>
                  <a:lnTo>
                    <a:pt x="8388096" y="213995"/>
                  </a:lnTo>
                  <a:lnTo>
                    <a:pt x="8388096" y="4921859"/>
                  </a:lnTo>
                  <a:lnTo>
                    <a:pt x="8382446" y="4970932"/>
                  </a:lnTo>
                  <a:lnTo>
                    <a:pt x="8366354" y="5015979"/>
                  </a:lnTo>
                  <a:lnTo>
                    <a:pt x="8341099" y="5055717"/>
                  </a:lnTo>
                  <a:lnTo>
                    <a:pt x="8307965" y="5088861"/>
                  </a:lnTo>
                  <a:lnTo>
                    <a:pt x="8268232" y="5114126"/>
                  </a:lnTo>
                  <a:lnTo>
                    <a:pt x="8223184" y="5130227"/>
                  </a:lnTo>
                  <a:lnTo>
                    <a:pt x="8174101" y="5135880"/>
                  </a:lnTo>
                  <a:lnTo>
                    <a:pt x="214007" y="5135880"/>
                  </a:lnTo>
                  <a:lnTo>
                    <a:pt x="164939" y="5130227"/>
                  </a:lnTo>
                  <a:lnTo>
                    <a:pt x="119895" y="5114126"/>
                  </a:lnTo>
                  <a:lnTo>
                    <a:pt x="80159" y="5088861"/>
                  </a:lnTo>
                  <a:lnTo>
                    <a:pt x="47017" y="5055717"/>
                  </a:lnTo>
                  <a:lnTo>
                    <a:pt x="21753" y="5015979"/>
                  </a:lnTo>
                  <a:lnTo>
                    <a:pt x="5652" y="4970932"/>
                  </a:lnTo>
                  <a:lnTo>
                    <a:pt x="0" y="4921859"/>
                  </a:lnTo>
                  <a:lnTo>
                    <a:pt x="0" y="213995"/>
                  </a:lnTo>
                  <a:close/>
                </a:path>
              </a:pathLst>
            </a:custGeom>
            <a:ln w="9144">
              <a:solidFill>
                <a:srgbClr val="5F5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74444" y="2194051"/>
            <a:ext cx="11531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Are 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there</a:t>
            </a:r>
            <a:r>
              <a:rPr sz="1400" spc="-5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 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policies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4444" y="2375407"/>
            <a:ext cx="7804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to</a:t>
            </a:r>
            <a:r>
              <a:rPr sz="1400" spc="-6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 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process?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0641" y="1127252"/>
            <a:ext cx="5689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Liberation Sans Narrow"/>
                <a:cs typeface="Liberation Sans Narrow"/>
              </a:rPr>
              <a:t>S</a:t>
            </a:r>
            <a:r>
              <a:rPr sz="1600" b="1" spc="-95" dirty="0">
                <a:latin typeface="Liberation Sans Narrow"/>
                <a:cs typeface="Liberation Sans Narrow"/>
              </a:rPr>
              <a:t>T</a:t>
            </a:r>
            <a:r>
              <a:rPr sz="1600" b="1" spc="-5" dirty="0">
                <a:latin typeface="Liberation Sans Narrow"/>
                <a:cs typeface="Liberation Sans Narrow"/>
              </a:rPr>
              <a:t>A</a:t>
            </a:r>
            <a:r>
              <a:rPr sz="1600" b="1" dirty="0">
                <a:latin typeface="Liberation Sans Narrow"/>
                <a:cs typeface="Liberation Sans Narrow"/>
              </a:rPr>
              <a:t>R</a:t>
            </a:r>
            <a:r>
              <a:rPr sz="1600" b="1" spc="-5" dirty="0">
                <a:latin typeface="Liberation Sans Narrow"/>
                <a:cs typeface="Liberation Sans Narrow"/>
              </a:rPr>
              <a:t>T</a:t>
            </a:r>
            <a:endParaRPr sz="1600">
              <a:latin typeface="Liberation Sans Narrow"/>
              <a:cs typeface="Liberation Sans Narro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42822" y="2007107"/>
            <a:ext cx="1905000" cy="114300"/>
          </a:xfrm>
          <a:custGeom>
            <a:avLst/>
            <a:gdLst/>
            <a:ahLst/>
            <a:cxnLst/>
            <a:rect l="l" t="t" r="r" b="b"/>
            <a:pathLst>
              <a:path w="1905000" h="114300">
                <a:moveTo>
                  <a:pt x="1790700" y="0"/>
                </a:moveTo>
                <a:lnTo>
                  <a:pt x="1790700" y="114300"/>
                </a:lnTo>
                <a:lnTo>
                  <a:pt x="1866900" y="76200"/>
                </a:lnTo>
                <a:lnTo>
                  <a:pt x="1809750" y="76200"/>
                </a:lnTo>
                <a:lnTo>
                  <a:pt x="1809750" y="38100"/>
                </a:lnTo>
                <a:lnTo>
                  <a:pt x="1866900" y="38100"/>
                </a:lnTo>
                <a:lnTo>
                  <a:pt x="1790700" y="0"/>
                </a:lnTo>
                <a:close/>
              </a:path>
              <a:path w="1905000" h="114300">
                <a:moveTo>
                  <a:pt x="17907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790700" y="76200"/>
                </a:lnTo>
                <a:lnTo>
                  <a:pt x="1790700" y="38100"/>
                </a:lnTo>
                <a:close/>
              </a:path>
              <a:path w="1905000" h="114300">
                <a:moveTo>
                  <a:pt x="1866900" y="38100"/>
                </a:moveTo>
                <a:lnTo>
                  <a:pt x="1809750" y="38100"/>
                </a:lnTo>
                <a:lnTo>
                  <a:pt x="1809750" y="76200"/>
                </a:lnTo>
                <a:lnTo>
                  <a:pt x="1866900" y="76200"/>
                </a:lnTo>
                <a:lnTo>
                  <a:pt x="1905000" y="57150"/>
                </a:lnTo>
                <a:lnTo>
                  <a:pt x="1866900" y="3810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95827" y="2324176"/>
            <a:ext cx="16141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match policy</a:t>
            </a:r>
            <a:r>
              <a:rPr sz="1400" spc="-6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 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conditions?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58341" y="1787779"/>
            <a:ext cx="2774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65" dirty="0">
                <a:latin typeface="Liberation Sans Narrow"/>
                <a:cs typeface="Liberation Sans Narrow"/>
              </a:rPr>
              <a:t>Y</a:t>
            </a:r>
            <a:r>
              <a:rPr sz="1400" b="1" spc="-5" dirty="0">
                <a:latin typeface="Liberation Sans Narrow"/>
                <a:cs typeface="Liberation Sans Narrow"/>
              </a:rPr>
              <a:t>e</a:t>
            </a:r>
            <a:r>
              <a:rPr sz="1400" b="1" dirty="0">
                <a:latin typeface="Liberation Sans Narrow"/>
                <a:cs typeface="Liberation Sans Narrow"/>
              </a:rPr>
              <a:t>s</a:t>
            </a:r>
            <a:endParaRPr sz="1400">
              <a:latin typeface="Liberation Sans Narrow"/>
              <a:cs typeface="Liberation Sans Narro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45629" y="2018538"/>
            <a:ext cx="494030" cy="2245995"/>
            <a:chOff x="845629" y="2018538"/>
            <a:chExt cx="494030" cy="2245995"/>
          </a:xfrm>
        </p:grpSpPr>
        <p:sp>
          <p:nvSpPr>
            <p:cNvPr id="14" name="object 14"/>
            <p:cNvSpPr/>
            <p:nvPr/>
          </p:nvSpPr>
          <p:spPr>
            <a:xfrm>
              <a:off x="1022603" y="2018538"/>
              <a:ext cx="114300" cy="1748155"/>
            </a:xfrm>
            <a:custGeom>
              <a:avLst/>
              <a:gdLst/>
              <a:ahLst/>
              <a:cxnLst/>
              <a:rect l="l" t="t" r="r" b="b"/>
              <a:pathLst>
                <a:path w="114300" h="1748154">
                  <a:moveTo>
                    <a:pt x="38100" y="1633728"/>
                  </a:moveTo>
                  <a:lnTo>
                    <a:pt x="0" y="1633728"/>
                  </a:lnTo>
                  <a:lnTo>
                    <a:pt x="57150" y="1748028"/>
                  </a:lnTo>
                  <a:lnTo>
                    <a:pt x="104775" y="1652778"/>
                  </a:lnTo>
                  <a:lnTo>
                    <a:pt x="38100" y="1652778"/>
                  </a:lnTo>
                  <a:lnTo>
                    <a:pt x="38100" y="1633728"/>
                  </a:lnTo>
                  <a:close/>
                </a:path>
                <a:path w="114300" h="1748154">
                  <a:moveTo>
                    <a:pt x="76200" y="0"/>
                  </a:moveTo>
                  <a:lnTo>
                    <a:pt x="38100" y="0"/>
                  </a:lnTo>
                  <a:lnTo>
                    <a:pt x="38100" y="1652778"/>
                  </a:lnTo>
                  <a:lnTo>
                    <a:pt x="76200" y="1652778"/>
                  </a:lnTo>
                  <a:lnTo>
                    <a:pt x="76200" y="0"/>
                  </a:lnTo>
                  <a:close/>
                </a:path>
                <a:path w="114300" h="1748154">
                  <a:moveTo>
                    <a:pt x="114300" y="1633728"/>
                  </a:moveTo>
                  <a:lnTo>
                    <a:pt x="76200" y="1633728"/>
                  </a:lnTo>
                  <a:lnTo>
                    <a:pt x="76200" y="1652778"/>
                  </a:lnTo>
                  <a:lnTo>
                    <a:pt x="104775" y="1652778"/>
                  </a:lnTo>
                  <a:lnTo>
                    <a:pt x="114300" y="163372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0203" y="3794760"/>
              <a:ext cx="469391" cy="46939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0391" y="377494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BAC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50391" y="377494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4572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53795" y="4139006"/>
            <a:ext cx="4629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Liberation Sans Narrow"/>
                <a:cs typeface="Liberation Sans Narrow"/>
              </a:rPr>
              <a:t>R</a:t>
            </a:r>
            <a:r>
              <a:rPr sz="1400" b="1" spc="-10" dirty="0">
                <a:latin typeface="Liberation Sans Narrow"/>
                <a:cs typeface="Liberation Sans Narrow"/>
              </a:rPr>
              <a:t>e</a:t>
            </a:r>
            <a:r>
              <a:rPr sz="1400" b="1" dirty="0">
                <a:latin typeface="Liberation Sans Narrow"/>
                <a:cs typeface="Liberation Sans Narrow"/>
              </a:rPr>
              <a:t>je</a:t>
            </a:r>
            <a:r>
              <a:rPr sz="1400" b="1" spc="-10" dirty="0">
                <a:latin typeface="Liberation Sans Narrow"/>
                <a:cs typeface="Liberation Sans Narrow"/>
              </a:rPr>
              <a:t>c</a:t>
            </a:r>
            <a:r>
              <a:rPr sz="1400" b="1" dirty="0">
                <a:latin typeface="Liberation Sans Narrow"/>
                <a:cs typeface="Liberation Sans Narrow"/>
              </a:rPr>
              <a:t>t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3795" y="4352925"/>
            <a:ext cx="8058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Liberation Sans Narrow"/>
                <a:cs typeface="Liberation Sans Narrow"/>
              </a:rPr>
              <a:t>c</a:t>
            </a:r>
            <a:r>
              <a:rPr sz="1400" b="1" dirty="0">
                <a:latin typeface="Liberation Sans Narrow"/>
                <a:cs typeface="Liberation Sans Narrow"/>
              </a:rPr>
              <a:t>onn</a:t>
            </a:r>
            <a:r>
              <a:rPr sz="1400" b="1" spc="-5" dirty="0">
                <a:latin typeface="Liberation Sans Narrow"/>
                <a:cs typeface="Liberation Sans Narrow"/>
              </a:rPr>
              <a:t>ec</a:t>
            </a:r>
            <a:r>
              <a:rPr sz="1400" b="1" dirty="0">
                <a:latin typeface="Liberation Sans Narrow"/>
                <a:cs typeface="Liberation Sans Narrow"/>
              </a:rPr>
              <a:t>tion  </a:t>
            </a:r>
            <a:r>
              <a:rPr sz="1400" b="1" spc="-5" dirty="0">
                <a:latin typeface="Liberation Sans Narrow"/>
                <a:cs typeface="Liberation Sans Narrow"/>
              </a:rPr>
              <a:t>attempt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2604" y="2037587"/>
            <a:ext cx="4400550" cy="3809365"/>
          </a:xfrm>
          <a:custGeom>
            <a:avLst/>
            <a:gdLst/>
            <a:ahLst/>
            <a:cxnLst/>
            <a:rect l="l" t="t" r="r" b="b"/>
            <a:pathLst>
              <a:path w="4400550" h="3809365">
                <a:moveTo>
                  <a:pt x="114300" y="2323338"/>
                </a:moveTo>
                <a:lnTo>
                  <a:pt x="104775" y="2304288"/>
                </a:lnTo>
                <a:lnTo>
                  <a:pt x="57150" y="2209038"/>
                </a:lnTo>
                <a:lnTo>
                  <a:pt x="0" y="2323338"/>
                </a:lnTo>
                <a:lnTo>
                  <a:pt x="38100" y="2323338"/>
                </a:lnTo>
                <a:lnTo>
                  <a:pt x="38100" y="3809238"/>
                </a:lnTo>
                <a:lnTo>
                  <a:pt x="76200" y="3809238"/>
                </a:lnTo>
                <a:lnTo>
                  <a:pt x="76200" y="2323338"/>
                </a:lnTo>
                <a:lnTo>
                  <a:pt x="114300" y="2323338"/>
                </a:lnTo>
                <a:close/>
              </a:path>
              <a:path w="4400550" h="3809365">
                <a:moveTo>
                  <a:pt x="4400550" y="57150"/>
                </a:moveTo>
                <a:lnTo>
                  <a:pt x="4362450" y="38100"/>
                </a:lnTo>
                <a:lnTo>
                  <a:pt x="4286250" y="0"/>
                </a:lnTo>
                <a:lnTo>
                  <a:pt x="4286250" y="38100"/>
                </a:lnTo>
                <a:lnTo>
                  <a:pt x="2724150" y="38100"/>
                </a:lnTo>
                <a:lnTo>
                  <a:pt x="2724150" y="76200"/>
                </a:lnTo>
                <a:lnTo>
                  <a:pt x="4286250" y="76200"/>
                </a:lnTo>
                <a:lnTo>
                  <a:pt x="4286250" y="114300"/>
                </a:lnTo>
                <a:lnTo>
                  <a:pt x="4362450" y="76200"/>
                </a:lnTo>
                <a:lnTo>
                  <a:pt x="4400550" y="5715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810127" y="2808477"/>
            <a:ext cx="2579370" cy="42100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60"/>
              </a:spcBef>
            </a:pPr>
            <a:r>
              <a:rPr sz="140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Is the 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remote access permission </a:t>
            </a:r>
            <a:r>
              <a:rPr sz="140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for the  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user account set </a:t>
            </a:r>
            <a:r>
              <a:rPr sz="140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to </a:t>
            </a:r>
            <a:r>
              <a:rPr sz="1400" b="1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Deny</a:t>
            </a:r>
            <a:r>
              <a:rPr sz="1400" b="1" spc="-1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 </a:t>
            </a:r>
            <a:r>
              <a:rPr sz="1400" b="1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Access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?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95827" y="4110609"/>
            <a:ext cx="1376680" cy="42100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9"/>
              </a:spcBef>
            </a:pPr>
            <a:r>
              <a:rPr sz="140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Is the 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remote access  permission for</a:t>
            </a:r>
            <a:r>
              <a:rPr sz="140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 the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95827" y="4473321"/>
            <a:ext cx="1261745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55"/>
              </a:lnSpc>
              <a:spcBef>
                <a:spcPts val="100"/>
              </a:spcBef>
            </a:pP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user account set</a:t>
            </a:r>
            <a:r>
              <a:rPr sz="1400" spc="-3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 </a:t>
            </a:r>
            <a:r>
              <a:rPr sz="140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to</a:t>
            </a:r>
            <a:endParaRPr sz="1400">
              <a:latin typeface="Liberation Sans Narrow"/>
              <a:cs typeface="Liberation Sans Narrow"/>
            </a:endParaRPr>
          </a:p>
          <a:p>
            <a:pPr marL="12700">
              <a:lnSpc>
                <a:spcPts val="1555"/>
              </a:lnSpc>
            </a:pPr>
            <a:r>
              <a:rPr sz="1400" b="1" dirty="0">
                <a:solidFill>
                  <a:srgbClr val="CC0000"/>
                </a:solidFill>
                <a:latin typeface="Liberation Sans Narrow"/>
                <a:cs typeface="Liberation Sans Narrow"/>
              </a:rPr>
              <a:t>Allow</a:t>
            </a:r>
            <a:r>
              <a:rPr sz="1400" b="1" spc="-6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 </a:t>
            </a:r>
            <a:r>
              <a:rPr sz="1400" b="1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Access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?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35020" y="2338832"/>
            <a:ext cx="2774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65" dirty="0">
                <a:latin typeface="Liberation Sans Narrow"/>
                <a:cs typeface="Liberation Sans Narrow"/>
              </a:rPr>
              <a:t>Y</a:t>
            </a:r>
            <a:r>
              <a:rPr sz="1400" b="1" spc="-5" dirty="0">
                <a:latin typeface="Liberation Sans Narrow"/>
                <a:cs typeface="Liberation Sans Narrow"/>
              </a:rPr>
              <a:t>e</a:t>
            </a:r>
            <a:r>
              <a:rPr sz="1400" b="1" dirty="0">
                <a:latin typeface="Liberation Sans Narrow"/>
                <a:cs typeface="Liberation Sans Narrow"/>
              </a:rPr>
              <a:t>s</a:t>
            </a:r>
            <a:endParaRPr sz="1400">
              <a:latin typeface="Liberation Sans Narrow"/>
              <a:cs typeface="Liberation Sans Narro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135820" y="1735645"/>
            <a:ext cx="685165" cy="3487420"/>
            <a:chOff x="3135820" y="1735645"/>
            <a:chExt cx="685165" cy="3487420"/>
          </a:xfrm>
        </p:grpSpPr>
        <p:sp>
          <p:nvSpPr>
            <p:cNvPr id="26" name="object 26"/>
            <p:cNvSpPr/>
            <p:nvPr/>
          </p:nvSpPr>
          <p:spPr>
            <a:xfrm>
              <a:off x="3413759" y="2279141"/>
              <a:ext cx="114300" cy="425450"/>
            </a:xfrm>
            <a:custGeom>
              <a:avLst/>
              <a:gdLst/>
              <a:ahLst/>
              <a:cxnLst/>
              <a:rect l="l" t="t" r="r" b="b"/>
              <a:pathLst>
                <a:path w="114300" h="425450">
                  <a:moveTo>
                    <a:pt x="38100" y="310896"/>
                  </a:moveTo>
                  <a:lnTo>
                    <a:pt x="0" y="310896"/>
                  </a:lnTo>
                  <a:lnTo>
                    <a:pt x="57150" y="425196"/>
                  </a:lnTo>
                  <a:lnTo>
                    <a:pt x="104775" y="329946"/>
                  </a:lnTo>
                  <a:lnTo>
                    <a:pt x="38100" y="329946"/>
                  </a:lnTo>
                  <a:lnTo>
                    <a:pt x="38100" y="310896"/>
                  </a:lnTo>
                  <a:close/>
                </a:path>
                <a:path w="114300" h="425450">
                  <a:moveTo>
                    <a:pt x="76200" y="0"/>
                  </a:moveTo>
                  <a:lnTo>
                    <a:pt x="38100" y="0"/>
                  </a:lnTo>
                  <a:lnTo>
                    <a:pt x="38100" y="329946"/>
                  </a:lnTo>
                  <a:lnTo>
                    <a:pt x="76200" y="329946"/>
                  </a:lnTo>
                  <a:lnTo>
                    <a:pt x="76200" y="0"/>
                  </a:lnTo>
                  <a:close/>
                </a:path>
                <a:path w="114300" h="425450">
                  <a:moveTo>
                    <a:pt x="114300" y="310896"/>
                  </a:moveTo>
                  <a:lnTo>
                    <a:pt x="76200" y="310896"/>
                  </a:lnTo>
                  <a:lnTo>
                    <a:pt x="76200" y="329946"/>
                  </a:lnTo>
                  <a:lnTo>
                    <a:pt x="104775" y="329946"/>
                  </a:lnTo>
                  <a:lnTo>
                    <a:pt x="114300" y="310896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57727" y="1757171"/>
              <a:ext cx="662939" cy="6629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40582" y="1740407"/>
              <a:ext cx="647065" cy="647065"/>
            </a:xfrm>
            <a:custGeom>
              <a:avLst/>
              <a:gdLst/>
              <a:ahLst/>
              <a:cxnLst/>
              <a:rect l="l" t="t" r="r" b="b"/>
              <a:pathLst>
                <a:path w="647064" h="647064">
                  <a:moveTo>
                    <a:pt x="323469" y="0"/>
                  </a:moveTo>
                  <a:lnTo>
                    <a:pt x="0" y="323214"/>
                  </a:lnTo>
                  <a:lnTo>
                    <a:pt x="323215" y="646683"/>
                  </a:lnTo>
                  <a:lnTo>
                    <a:pt x="646683" y="323468"/>
                  </a:lnTo>
                  <a:lnTo>
                    <a:pt x="323469" y="0"/>
                  </a:lnTo>
                  <a:close/>
                </a:path>
              </a:pathLst>
            </a:custGeom>
            <a:solidFill>
              <a:srgbClr val="ACE1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40582" y="1740407"/>
              <a:ext cx="647065" cy="647065"/>
            </a:xfrm>
            <a:custGeom>
              <a:avLst/>
              <a:gdLst/>
              <a:ahLst/>
              <a:cxnLst/>
              <a:rect l="l" t="t" r="r" b="b"/>
              <a:pathLst>
                <a:path w="647064" h="647064">
                  <a:moveTo>
                    <a:pt x="323469" y="0"/>
                  </a:moveTo>
                  <a:lnTo>
                    <a:pt x="646683" y="323468"/>
                  </a:lnTo>
                  <a:lnTo>
                    <a:pt x="323215" y="646683"/>
                  </a:lnTo>
                  <a:lnTo>
                    <a:pt x="0" y="323214"/>
                  </a:lnTo>
                  <a:lnTo>
                    <a:pt x="323469" y="0"/>
                  </a:lnTo>
                  <a:close/>
                </a:path>
              </a:pathLst>
            </a:custGeom>
            <a:ln w="952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13759" y="3138677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70909" y="4335017"/>
              <a:ext cx="5080" cy="868680"/>
            </a:xfrm>
            <a:custGeom>
              <a:avLst/>
              <a:gdLst/>
              <a:ahLst/>
              <a:cxnLst/>
              <a:rect l="l" t="t" r="r" b="b"/>
              <a:pathLst>
                <a:path w="5079" h="868679">
                  <a:moveTo>
                    <a:pt x="0" y="0"/>
                  </a:moveTo>
                  <a:lnTo>
                    <a:pt x="4572" y="868679"/>
                  </a:lnTo>
                </a:path>
              </a:pathLst>
            </a:custGeom>
            <a:ln w="380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857245" y="4399915"/>
            <a:ext cx="2774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5" dirty="0">
                <a:latin typeface="Liberation Sans Narrow"/>
                <a:cs typeface="Liberation Sans Narrow"/>
              </a:rPr>
              <a:t>Y</a:t>
            </a:r>
            <a:r>
              <a:rPr sz="1400" b="1" spc="-5" dirty="0">
                <a:latin typeface="Liberation Sans Narrow"/>
                <a:cs typeface="Liberation Sans Narrow"/>
              </a:rPr>
              <a:t>e</a:t>
            </a:r>
            <a:r>
              <a:rPr sz="1400" b="1" dirty="0">
                <a:latin typeface="Liberation Sans Narrow"/>
                <a:cs typeface="Liberation Sans Narrow"/>
              </a:rPr>
              <a:t>s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95827" y="1703552"/>
            <a:ext cx="1640205" cy="67945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990"/>
              </a:spcBef>
            </a:pPr>
            <a:r>
              <a:rPr sz="1400" b="1" spc="-5" dirty="0">
                <a:latin typeface="Liberation Sans Narrow"/>
                <a:cs typeface="Liberation Sans Narrow"/>
              </a:rPr>
              <a:t>No</a:t>
            </a:r>
            <a:endParaRPr sz="1400">
              <a:latin typeface="Liberation Sans Narrow"/>
              <a:cs typeface="Liberation Sans Narrow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Does connection</a:t>
            </a:r>
            <a:r>
              <a:rPr sz="1400" spc="-2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 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attempt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13830" y="1932177"/>
            <a:ext cx="12122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Liberation Sans Narrow"/>
                <a:cs typeface="Liberation Sans Narrow"/>
              </a:rPr>
              <a:t>Go to next</a:t>
            </a:r>
            <a:r>
              <a:rPr sz="1400" b="1" spc="-90" dirty="0">
                <a:latin typeface="Liberation Sans Narrow"/>
                <a:cs typeface="Liberation Sans Narrow"/>
              </a:rPr>
              <a:t> </a:t>
            </a:r>
            <a:r>
              <a:rPr sz="1400" b="1" dirty="0">
                <a:latin typeface="Liberation Sans Narrow"/>
                <a:cs typeface="Liberation Sans Narrow"/>
              </a:rPr>
              <a:t>policy</a:t>
            </a:r>
            <a:endParaRPr sz="1400">
              <a:latin typeface="Liberation Sans Narrow"/>
              <a:cs typeface="Liberation Sans Narrow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623559" y="1437703"/>
            <a:ext cx="114300" cy="3432810"/>
            <a:chOff x="5623559" y="1437703"/>
            <a:chExt cx="114300" cy="3432810"/>
          </a:xfrm>
        </p:grpSpPr>
        <p:sp>
          <p:nvSpPr>
            <p:cNvPr id="36" name="object 36"/>
            <p:cNvSpPr/>
            <p:nvPr/>
          </p:nvSpPr>
          <p:spPr>
            <a:xfrm>
              <a:off x="5656325" y="1461516"/>
              <a:ext cx="0" cy="373380"/>
            </a:xfrm>
            <a:custGeom>
              <a:avLst/>
              <a:gdLst/>
              <a:ahLst/>
              <a:cxnLst/>
              <a:rect l="l" t="t" r="r" b="b"/>
              <a:pathLst>
                <a:path h="373380">
                  <a:moveTo>
                    <a:pt x="0" y="0"/>
                  </a:moveTo>
                  <a:lnTo>
                    <a:pt x="0" y="373380"/>
                  </a:lnTo>
                </a:path>
              </a:pathLst>
            </a:custGeom>
            <a:ln w="472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623559" y="4184142"/>
              <a:ext cx="114300" cy="685800"/>
            </a:xfrm>
            <a:custGeom>
              <a:avLst/>
              <a:gdLst/>
              <a:ahLst/>
              <a:cxnLst/>
              <a:rect l="l" t="t" r="r" b="b"/>
              <a:pathLst>
                <a:path w="114300" h="685800">
                  <a:moveTo>
                    <a:pt x="38100" y="571499"/>
                  </a:moveTo>
                  <a:lnTo>
                    <a:pt x="0" y="571499"/>
                  </a:lnTo>
                  <a:lnTo>
                    <a:pt x="57150" y="685799"/>
                  </a:lnTo>
                  <a:lnTo>
                    <a:pt x="104775" y="590549"/>
                  </a:lnTo>
                  <a:lnTo>
                    <a:pt x="38100" y="590549"/>
                  </a:lnTo>
                  <a:lnTo>
                    <a:pt x="38100" y="571499"/>
                  </a:lnTo>
                  <a:close/>
                </a:path>
                <a:path w="114300" h="685800">
                  <a:moveTo>
                    <a:pt x="76200" y="0"/>
                  </a:moveTo>
                  <a:lnTo>
                    <a:pt x="38100" y="0"/>
                  </a:lnTo>
                  <a:lnTo>
                    <a:pt x="38100" y="590549"/>
                  </a:lnTo>
                  <a:lnTo>
                    <a:pt x="76200" y="590549"/>
                  </a:lnTo>
                  <a:lnTo>
                    <a:pt x="76200" y="0"/>
                  </a:lnTo>
                  <a:close/>
                </a:path>
                <a:path w="114300" h="685800">
                  <a:moveTo>
                    <a:pt x="114300" y="571499"/>
                  </a:moveTo>
                  <a:lnTo>
                    <a:pt x="76200" y="571499"/>
                  </a:lnTo>
                  <a:lnTo>
                    <a:pt x="76200" y="590549"/>
                  </a:lnTo>
                  <a:lnTo>
                    <a:pt x="104775" y="590549"/>
                  </a:lnTo>
                  <a:lnTo>
                    <a:pt x="114300" y="57149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092953" y="5404815"/>
            <a:ext cx="2197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Liberation Sans Narrow"/>
                <a:cs typeface="Liberation Sans Narrow"/>
              </a:rPr>
              <a:t>No</a:t>
            </a:r>
            <a:endParaRPr sz="1400">
              <a:latin typeface="Liberation Sans Narrow"/>
              <a:cs typeface="Liberation Sans Narro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211580" y="2704020"/>
            <a:ext cx="4508500" cy="3171190"/>
            <a:chOff x="1211580" y="2704020"/>
            <a:chExt cx="4508500" cy="3171190"/>
          </a:xfrm>
        </p:grpSpPr>
        <p:sp>
          <p:nvSpPr>
            <p:cNvPr id="40" name="object 40"/>
            <p:cNvSpPr/>
            <p:nvPr/>
          </p:nvSpPr>
          <p:spPr>
            <a:xfrm>
              <a:off x="5680709" y="5017769"/>
              <a:ext cx="20320" cy="838200"/>
            </a:xfrm>
            <a:custGeom>
              <a:avLst/>
              <a:gdLst/>
              <a:ahLst/>
              <a:cxnLst/>
              <a:rect l="l" t="t" r="r" b="b"/>
              <a:pathLst>
                <a:path w="20320" h="838200">
                  <a:moveTo>
                    <a:pt x="0" y="0"/>
                  </a:moveTo>
                  <a:lnTo>
                    <a:pt x="19812" y="838199"/>
                  </a:lnTo>
                </a:path>
              </a:pathLst>
            </a:custGeom>
            <a:ln w="38100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66337" y="5140451"/>
              <a:ext cx="1873250" cy="114300"/>
            </a:xfrm>
            <a:custGeom>
              <a:avLst/>
              <a:gdLst/>
              <a:ahLst/>
              <a:cxnLst/>
              <a:rect l="l" t="t" r="r" b="b"/>
              <a:pathLst>
                <a:path w="1873250" h="114300">
                  <a:moveTo>
                    <a:pt x="1758696" y="0"/>
                  </a:moveTo>
                  <a:lnTo>
                    <a:pt x="1758696" y="114300"/>
                  </a:lnTo>
                  <a:lnTo>
                    <a:pt x="1834896" y="76200"/>
                  </a:lnTo>
                  <a:lnTo>
                    <a:pt x="1777746" y="76200"/>
                  </a:lnTo>
                  <a:lnTo>
                    <a:pt x="1777746" y="38100"/>
                  </a:lnTo>
                  <a:lnTo>
                    <a:pt x="1834896" y="38100"/>
                  </a:lnTo>
                  <a:lnTo>
                    <a:pt x="1758696" y="0"/>
                  </a:lnTo>
                  <a:close/>
                </a:path>
                <a:path w="1873250" h="114300">
                  <a:moveTo>
                    <a:pt x="175869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758696" y="76200"/>
                  </a:lnTo>
                  <a:lnTo>
                    <a:pt x="1758696" y="38100"/>
                  </a:lnTo>
                  <a:close/>
                </a:path>
                <a:path w="1873250" h="114300">
                  <a:moveTo>
                    <a:pt x="1834896" y="38100"/>
                  </a:moveTo>
                  <a:lnTo>
                    <a:pt x="1777746" y="38100"/>
                  </a:lnTo>
                  <a:lnTo>
                    <a:pt x="1777746" y="76200"/>
                  </a:lnTo>
                  <a:lnTo>
                    <a:pt x="1834896" y="76200"/>
                  </a:lnTo>
                  <a:lnTo>
                    <a:pt x="1872996" y="57150"/>
                  </a:lnTo>
                  <a:lnTo>
                    <a:pt x="1834896" y="3810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230630" y="3038093"/>
              <a:ext cx="1953895" cy="0"/>
            </a:xfrm>
            <a:custGeom>
              <a:avLst/>
              <a:gdLst/>
              <a:ahLst/>
              <a:cxnLst/>
              <a:rect l="l" t="t" r="r" b="b"/>
              <a:pathLst>
                <a:path w="1953895">
                  <a:moveTo>
                    <a:pt x="1953768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156203" y="2726435"/>
              <a:ext cx="662940" cy="6629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39059" y="2708782"/>
              <a:ext cx="647065" cy="647065"/>
            </a:xfrm>
            <a:custGeom>
              <a:avLst/>
              <a:gdLst/>
              <a:ahLst/>
              <a:cxnLst/>
              <a:rect l="l" t="t" r="r" b="b"/>
              <a:pathLst>
                <a:path w="647064" h="647064">
                  <a:moveTo>
                    <a:pt x="323342" y="0"/>
                  </a:moveTo>
                  <a:lnTo>
                    <a:pt x="0" y="323214"/>
                  </a:lnTo>
                  <a:lnTo>
                    <a:pt x="323215" y="646683"/>
                  </a:lnTo>
                  <a:lnTo>
                    <a:pt x="646557" y="323468"/>
                  </a:lnTo>
                  <a:lnTo>
                    <a:pt x="323342" y="0"/>
                  </a:lnTo>
                  <a:close/>
                </a:path>
              </a:pathLst>
            </a:custGeom>
            <a:solidFill>
              <a:srgbClr val="ACE1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139059" y="2708782"/>
              <a:ext cx="647065" cy="647065"/>
            </a:xfrm>
            <a:custGeom>
              <a:avLst/>
              <a:gdLst/>
              <a:ahLst/>
              <a:cxnLst/>
              <a:rect l="l" t="t" r="r" b="b"/>
              <a:pathLst>
                <a:path w="647064" h="647064">
                  <a:moveTo>
                    <a:pt x="323342" y="0"/>
                  </a:moveTo>
                  <a:lnTo>
                    <a:pt x="646557" y="323468"/>
                  </a:lnTo>
                  <a:lnTo>
                    <a:pt x="323215" y="646683"/>
                  </a:lnTo>
                  <a:lnTo>
                    <a:pt x="0" y="323214"/>
                  </a:lnTo>
                  <a:lnTo>
                    <a:pt x="323342" y="0"/>
                  </a:lnTo>
                  <a:close/>
                </a:path>
              </a:pathLst>
            </a:custGeom>
            <a:ln w="952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349245" y="2762757"/>
            <a:ext cx="2774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65" dirty="0">
                <a:latin typeface="Liberation Sans Narrow"/>
                <a:cs typeface="Liberation Sans Narrow"/>
              </a:rPr>
              <a:t>Y</a:t>
            </a:r>
            <a:r>
              <a:rPr sz="1400" b="1" spc="-5" dirty="0">
                <a:latin typeface="Liberation Sans Narrow"/>
                <a:cs typeface="Liberation Sans Narrow"/>
              </a:rPr>
              <a:t>e</a:t>
            </a:r>
            <a:r>
              <a:rPr sz="1400" b="1" dirty="0">
                <a:latin typeface="Liberation Sans Narrow"/>
                <a:cs typeface="Liberation Sans Narrow"/>
              </a:rPr>
              <a:t>s</a:t>
            </a:r>
            <a:endParaRPr sz="1400">
              <a:latin typeface="Liberation Sans Narrow"/>
              <a:cs typeface="Liberation Sans Narrow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051357" y="3751897"/>
            <a:ext cx="494030" cy="1719580"/>
            <a:chOff x="7051357" y="3751897"/>
            <a:chExt cx="494030" cy="1719580"/>
          </a:xfrm>
        </p:grpSpPr>
        <p:sp>
          <p:nvSpPr>
            <p:cNvPr id="48" name="object 48"/>
            <p:cNvSpPr/>
            <p:nvPr/>
          </p:nvSpPr>
          <p:spPr>
            <a:xfrm>
              <a:off x="7075931" y="3776471"/>
              <a:ext cx="469392" cy="46939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056119" y="375665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BAC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56119" y="375665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4572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075931" y="5001767"/>
              <a:ext cx="469392" cy="4693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056119" y="498195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BAC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56119" y="498195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4572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832728" y="4205732"/>
            <a:ext cx="2170430" cy="60261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algn="just">
              <a:lnSpc>
                <a:spcPct val="85100"/>
              </a:lnSpc>
              <a:spcBef>
                <a:spcPts val="355"/>
              </a:spcBef>
            </a:pPr>
            <a:r>
              <a:rPr sz="140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Is the 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remote access permission  on </a:t>
            </a:r>
            <a:r>
              <a:rPr sz="140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the 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policy set </a:t>
            </a:r>
            <a:r>
              <a:rPr sz="140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to </a:t>
            </a:r>
            <a:r>
              <a:rPr sz="1400" b="1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Deny remote  access</a:t>
            </a:r>
            <a:r>
              <a:rPr sz="1400" b="1" spc="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 </a:t>
            </a:r>
            <a:r>
              <a:rPr sz="1400" b="1" dirty="0">
                <a:solidFill>
                  <a:srgbClr val="CC0000"/>
                </a:solidFill>
                <a:latin typeface="Liberation Sans Narrow"/>
                <a:cs typeface="Liberation Sans Narrow"/>
              </a:rPr>
              <a:t>permission</a:t>
            </a:r>
            <a:r>
              <a:rPr sz="140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?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20283" y="5417311"/>
            <a:ext cx="13544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Does </a:t>
            </a:r>
            <a:r>
              <a:rPr sz="140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the</a:t>
            </a:r>
            <a:r>
              <a:rPr sz="1400" spc="-5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 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connection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820283" y="5598667"/>
            <a:ext cx="1761489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55"/>
              </a:lnSpc>
              <a:spcBef>
                <a:spcPts val="100"/>
              </a:spcBef>
            </a:pP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attempt match the</a:t>
            </a:r>
            <a:r>
              <a:rPr sz="1400" spc="20" dirty="0">
                <a:solidFill>
                  <a:srgbClr val="CC0000"/>
                </a:solidFill>
                <a:latin typeface="Liberation Sans Narrow"/>
                <a:cs typeface="Liberation Sans Narrow"/>
              </a:rPr>
              <a:t> 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user</a:t>
            </a:r>
            <a:endParaRPr sz="1400">
              <a:latin typeface="Liberation Sans Narrow"/>
              <a:cs typeface="Liberation Sans Narrow"/>
            </a:endParaRPr>
          </a:p>
          <a:p>
            <a:pPr marL="12700">
              <a:lnSpc>
                <a:spcPts val="1555"/>
              </a:lnSpc>
            </a:pP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object and profile</a:t>
            </a:r>
            <a:r>
              <a:rPr sz="1400" spc="-3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 </a:t>
            </a:r>
            <a:r>
              <a:rPr sz="1400" spc="-5" dirty="0">
                <a:solidFill>
                  <a:srgbClr val="CC0000"/>
                </a:solidFill>
                <a:latin typeface="Liberation Sans Narrow"/>
                <a:cs typeface="Liberation Sans Narrow"/>
              </a:rPr>
              <a:t>settings?</a:t>
            </a:r>
            <a:endParaRPr sz="1400">
              <a:latin typeface="Liberation Sans Narrow"/>
              <a:cs typeface="Liberation Sans Narrow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042416" y="3933697"/>
            <a:ext cx="5996305" cy="1931035"/>
            <a:chOff x="1042416" y="3933697"/>
            <a:chExt cx="5996305" cy="1931035"/>
          </a:xfrm>
        </p:grpSpPr>
        <p:sp>
          <p:nvSpPr>
            <p:cNvPr id="58" name="object 58"/>
            <p:cNvSpPr/>
            <p:nvPr/>
          </p:nvSpPr>
          <p:spPr>
            <a:xfrm>
              <a:off x="1061466" y="5845301"/>
              <a:ext cx="4632960" cy="0"/>
            </a:xfrm>
            <a:custGeom>
              <a:avLst/>
              <a:gdLst/>
              <a:ahLst/>
              <a:cxnLst/>
              <a:rect l="l" t="t" r="r" b="b"/>
              <a:pathLst>
                <a:path w="4632960">
                  <a:moveTo>
                    <a:pt x="0" y="0"/>
                  </a:moveTo>
                  <a:lnTo>
                    <a:pt x="4632960" y="0"/>
                  </a:lnTo>
                </a:path>
              </a:pathLst>
            </a:custGeom>
            <a:ln w="38100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633466" y="3933697"/>
              <a:ext cx="1405255" cy="114300"/>
            </a:xfrm>
            <a:custGeom>
              <a:avLst/>
              <a:gdLst/>
              <a:ahLst/>
              <a:cxnLst/>
              <a:rect l="l" t="t" r="r" b="b"/>
              <a:pathLst>
                <a:path w="1405254" h="114300">
                  <a:moveTo>
                    <a:pt x="1367326" y="38100"/>
                  </a:moveTo>
                  <a:lnTo>
                    <a:pt x="1309878" y="38100"/>
                  </a:lnTo>
                  <a:lnTo>
                    <a:pt x="1309878" y="76200"/>
                  </a:lnTo>
                  <a:lnTo>
                    <a:pt x="1290870" y="76240"/>
                  </a:lnTo>
                  <a:lnTo>
                    <a:pt x="1290955" y="114300"/>
                  </a:lnTo>
                  <a:lnTo>
                    <a:pt x="1405128" y="56895"/>
                  </a:lnTo>
                  <a:lnTo>
                    <a:pt x="1367326" y="38100"/>
                  </a:lnTo>
                  <a:close/>
                </a:path>
                <a:path w="1405254" h="114300">
                  <a:moveTo>
                    <a:pt x="1290785" y="38140"/>
                  </a:moveTo>
                  <a:lnTo>
                    <a:pt x="0" y="40893"/>
                  </a:lnTo>
                  <a:lnTo>
                    <a:pt x="0" y="78993"/>
                  </a:lnTo>
                  <a:lnTo>
                    <a:pt x="1290870" y="76240"/>
                  </a:lnTo>
                  <a:lnTo>
                    <a:pt x="1290785" y="38140"/>
                  </a:lnTo>
                  <a:close/>
                </a:path>
                <a:path w="1405254" h="114300">
                  <a:moveTo>
                    <a:pt x="1309878" y="38100"/>
                  </a:moveTo>
                  <a:lnTo>
                    <a:pt x="1290785" y="38140"/>
                  </a:lnTo>
                  <a:lnTo>
                    <a:pt x="1290870" y="76240"/>
                  </a:lnTo>
                  <a:lnTo>
                    <a:pt x="1309878" y="76200"/>
                  </a:lnTo>
                  <a:lnTo>
                    <a:pt x="1309878" y="38100"/>
                  </a:lnTo>
                  <a:close/>
                </a:path>
                <a:path w="1405254" h="114300">
                  <a:moveTo>
                    <a:pt x="1290701" y="0"/>
                  </a:moveTo>
                  <a:lnTo>
                    <a:pt x="1290785" y="38140"/>
                  </a:lnTo>
                  <a:lnTo>
                    <a:pt x="1367326" y="38100"/>
                  </a:lnTo>
                  <a:lnTo>
                    <a:pt x="1290701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5045455" y="4361815"/>
            <a:ext cx="2197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Liberation Sans Narrow"/>
                <a:cs typeface="Liberation Sans Narrow"/>
              </a:rPr>
              <a:t>No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778753" y="3713734"/>
            <a:ext cx="2774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5" dirty="0">
                <a:latin typeface="Liberation Sans Narrow"/>
                <a:cs typeface="Liberation Sans Narrow"/>
              </a:rPr>
              <a:t>Y</a:t>
            </a:r>
            <a:r>
              <a:rPr sz="1400" b="1" spc="-5" dirty="0">
                <a:latin typeface="Liberation Sans Narrow"/>
                <a:cs typeface="Liberation Sans Narrow"/>
              </a:rPr>
              <a:t>e</a:t>
            </a:r>
            <a:r>
              <a:rPr sz="1400" b="1" dirty="0">
                <a:latin typeface="Liberation Sans Narrow"/>
                <a:cs typeface="Liberation Sans Narrow"/>
              </a:rPr>
              <a:t>s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560309" y="4855209"/>
            <a:ext cx="805815" cy="60261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9"/>
              </a:spcBef>
            </a:pPr>
            <a:r>
              <a:rPr sz="1400" b="1" spc="-5" dirty="0">
                <a:latin typeface="Liberation Sans Narrow"/>
                <a:cs typeface="Liberation Sans Narrow"/>
              </a:rPr>
              <a:t>Accept  c</a:t>
            </a:r>
            <a:r>
              <a:rPr sz="1400" b="1" dirty="0">
                <a:latin typeface="Liberation Sans Narrow"/>
                <a:cs typeface="Liberation Sans Narrow"/>
              </a:rPr>
              <a:t>onn</a:t>
            </a:r>
            <a:r>
              <a:rPr sz="1400" b="1" spc="-5" dirty="0">
                <a:latin typeface="Liberation Sans Narrow"/>
                <a:cs typeface="Liberation Sans Narrow"/>
              </a:rPr>
              <a:t>ec</a:t>
            </a:r>
            <a:r>
              <a:rPr sz="1400" b="1" dirty="0">
                <a:latin typeface="Liberation Sans Narrow"/>
                <a:cs typeface="Liberation Sans Narrow"/>
              </a:rPr>
              <a:t>tion  </a:t>
            </a:r>
            <a:r>
              <a:rPr sz="1400" b="1" spc="-5" dirty="0">
                <a:latin typeface="Liberation Sans Narrow"/>
                <a:cs typeface="Liberation Sans Narrow"/>
              </a:rPr>
              <a:t>attempt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560309" y="3618357"/>
            <a:ext cx="805815" cy="60261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9"/>
              </a:spcBef>
            </a:pPr>
            <a:r>
              <a:rPr sz="1400" b="1" spc="-5" dirty="0">
                <a:latin typeface="Liberation Sans Narrow"/>
                <a:cs typeface="Liberation Sans Narrow"/>
              </a:rPr>
              <a:t>Reject  c</a:t>
            </a:r>
            <a:r>
              <a:rPr sz="1400" b="1" dirty="0">
                <a:latin typeface="Liberation Sans Narrow"/>
                <a:cs typeface="Liberation Sans Narrow"/>
              </a:rPr>
              <a:t>onn</a:t>
            </a:r>
            <a:r>
              <a:rPr sz="1400" b="1" spc="-5" dirty="0">
                <a:latin typeface="Liberation Sans Narrow"/>
                <a:cs typeface="Liberation Sans Narrow"/>
              </a:rPr>
              <a:t>ec</a:t>
            </a:r>
            <a:r>
              <a:rPr sz="1400" b="1" dirty="0">
                <a:latin typeface="Liberation Sans Narrow"/>
                <a:cs typeface="Liberation Sans Narrow"/>
              </a:rPr>
              <a:t>tion  </a:t>
            </a:r>
            <a:r>
              <a:rPr sz="1400" b="1" spc="-5" dirty="0">
                <a:latin typeface="Liberation Sans Narrow"/>
                <a:cs typeface="Liberation Sans Narrow"/>
              </a:rPr>
              <a:t>attempt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844800" y="3301110"/>
            <a:ext cx="2197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Liberation Sans Narrow"/>
                <a:cs typeface="Liberation Sans Narrow"/>
              </a:rPr>
              <a:t>No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5450585" y="5149596"/>
            <a:ext cx="1602105" cy="114300"/>
          </a:xfrm>
          <a:custGeom>
            <a:avLst/>
            <a:gdLst/>
            <a:ahLst/>
            <a:cxnLst/>
            <a:rect l="l" t="t" r="r" b="b"/>
            <a:pathLst>
              <a:path w="1602104" h="114300">
                <a:moveTo>
                  <a:pt x="1487423" y="0"/>
                </a:moveTo>
                <a:lnTo>
                  <a:pt x="1487423" y="114299"/>
                </a:lnTo>
                <a:lnTo>
                  <a:pt x="1563623" y="76199"/>
                </a:lnTo>
                <a:lnTo>
                  <a:pt x="1506473" y="76199"/>
                </a:lnTo>
                <a:lnTo>
                  <a:pt x="1506473" y="38099"/>
                </a:lnTo>
                <a:lnTo>
                  <a:pt x="1563623" y="38099"/>
                </a:lnTo>
                <a:lnTo>
                  <a:pt x="1487423" y="0"/>
                </a:lnTo>
                <a:close/>
              </a:path>
              <a:path w="1602104" h="114300">
                <a:moveTo>
                  <a:pt x="1487423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1487423" y="76199"/>
                </a:lnTo>
                <a:lnTo>
                  <a:pt x="1487423" y="38099"/>
                </a:lnTo>
                <a:close/>
              </a:path>
              <a:path w="1602104" h="114300">
                <a:moveTo>
                  <a:pt x="1563623" y="38099"/>
                </a:moveTo>
                <a:lnTo>
                  <a:pt x="1506473" y="38099"/>
                </a:lnTo>
                <a:lnTo>
                  <a:pt x="1506473" y="76199"/>
                </a:lnTo>
                <a:lnTo>
                  <a:pt x="1563623" y="76199"/>
                </a:lnTo>
                <a:lnTo>
                  <a:pt x="1601723" y="57149"/>
                </a:lnTo>
                <a:lnTo>
                  <a:pt x="1563623" y="38099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778753" y="4930266"/>
            <a:ext cx="2774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5" dirty="0">
                <a:latin typeface="Liberation Sans Narrow"/>
                <a:cs typeface="Liberation Sans Narrow"/>
              </a:rPr>
              <a:t>Y</a:t>
            </a:r>
            <a:r>
              <a:rPr sz="1400" b="1" spc="-5" dirty="0">
                <a:latin typeface="Liberation Sans Narrow"/>
                <a:cs typeface="Liberation Sans Narrow"/>
              </a:rPr>
              <a:t>e</a:t>
            </a:r>
            <a:r>
              <a:rPr sz="1400" b="1" dirty="0">
                <a:latin typeface="Liberation Sans Narrow"/>
                <a:cs typeface="Liberation Sans Narrow"/>
              </a:rPr>
              <a:t>s</a:t>
            </a:r>
            <a:endParaRPr sz="1400">
              <a:latin typeface="Liberation Sans Narrow"/>
              <a:cs typeface="Liberation Sans Narrow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018362" y="1476755"/>
            <a:ext cx="5017135" cy="4078604"/>
            <a:chOff x="1018362" y="1476755"/>
            <a:chExt cx="5017135" cy="4078604"/>
          </a:xfrm>
        </p:grpSpPr>
        <p:sp>
          <p:nvSpPr>
            <p:cNvPr id="68" name="object 68"/>
            <p:cNvSpPr/>
            <p:nvPr/>
          </p:nvSpPr>
          <p:spPr>
            <a:xfrm>
              <a:off x="5372099" y="4892040"/>
              <a:ext cx="662939" cy="66294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355209" y="4874133"/>
              <a:ext cx="647065" cy="647065"/>
            </a:xfrm>
            <a:custGeom>
              <a:avLst/>
              <a:gdLst/>
              <a:ahLst/>
              <a:cxnLst/>
              <a:rect l="l" t="t" r="r" b="b"/>
              <a:pathLst>
                <a:path w="647064" h="647064">
                  <a:moveTo>
                    <a:pt x="323341" y="0"/>
                  </a:moveTo>
                  <a:lnTo>
                    <a:pt x="0" y="323215"/>
                  </a:lnTo>
                  <a:lnTo>
                    <a:pt x="323214" y="646684"/>
                  </a:lnTo>
                  <a:lnTo>
                    <a:pt x="646556" y="323469"/>
                  </a:lnTo>
                  <a:lnTo>
                    <a:pt x="323341" y="0"/>
                  </a:lnTo>
                  <a:close/>
                </a:path>
              </a:pathLst>
            </a:custGeom>
            <a:solidFill>
              <a:srgbClr val="ACE1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355209" y="4874133"/>
              <a:ext cx="647065" cy="647065"/>
            </a:xfrm>
            <a:custGeom>
              <a:avLst/>
              <a:gdLst/>
              <a:ahLst/>
              <a:cxnLst/>
              <a:rect l="l" t="t" r="r" b="b"/>
              <a:pathLst>
                <a:path w="647064" h="647064">
                  <a:moveTo>
                    <a:pt x="323341" y="0"/>
                  </a:moveTo>
                  <a:lnTo>
                    <a:pt x="646556" y="323469"/>
                  </a:lnTo>
                  <a:lnTo>
                    <a:pt x="323214" y="646684"/>
                  </a:lnTo>
                  <a:lnTo>
                    <a:pt x="0" y="323215"/>
                  </a:lnTo>
                  <a:lnTo>
                    <a:pt x="323341" y="0"/>
                  </a:lnTo>
                  <a:close/>
                </a:path>
              </a:pathLst>
            </a:custGeom>
            <a:ln w="952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446775" y="1854707"/>
              <a:ext cx="469391" cy="4693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426963" y="183489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BAC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426963" y="183489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4572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018362" y="1476755"/>
              <a:ext cx="114223" cy="24460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178051" y="3033522"/>
              <a:ext cx="114300" cy="731520"/>
            </a:xfrm>
            <a:custGeom>
              <a:avLst/>
              <a:gdLst/>
              <a:ahLst/>
              <a:cxnLst/>
              <a:rect l="l" t="t" r="r" b="b"/>
              <a:pathLst>
                <a:path w="114300" h="731520">
                  <a:moveTo>
                    <a:pt x="38100" y="617219"/>
                  </a:moveTo>
                  <a:lnTo>
                    <a:pt x="0" y="617219"/>
                  </a:lnTo>
                  <a:lnTo>
                    <a:pt x="57150" y="731519"/>
                  </a:lnTo>
                  <a:lnTo>
                    <a:pt x="104775" y="636269"/>
                  </a:lnTo>
                  <a:lnTo>
                    <a:pt x="38100" y="636269"/>
                  </a:lnTo>
                  <a:lnTo>
                    <a:pt x="38100" y="617219"/>
                  </a:lnTo>
                  <a:close/>
                </a:path>
                <a:path w="114300" h="731520">
                  <a:moveTo>
                    <a:pt x="76200" y="0"/>
                  </a:moveTo>
                  <a:lnTo>
                    <a:pt x="38100" y="0"/>
                  </a:lnTo>
                  <a:lnTo>
                    <a:pt x="38100" y="636269"/>
                  </a:lnTo>
                  <a:lnTo>
                    <a:pt x="76200" y="636269"/>
                  </a:lnTo>
                  <a:lnTo>
                    <a:pt x="76200" y="0"/>
                  </a:lnTo>
                  <a:close/>
                </a:path>
                <a:path w="114300" h="731520">
                  <a:moveTo>
                    <a:pt x="114300" y="617219"/>
                  </a:moveTo>
                  <a:lnTo>
                    <a:pt x="76200" y="617219"/>
                  </a:lnTo>
                  <a:lnTo>
                    <a:pt x="76200" y="636269"/>
                  </a:lnTo>
                  <a:lnTo>
                    <a:pt x="104775" y="636269"/>
                  </a:lnTo>
                  <a:lnTo>
                    <a:pt x="114300" y="61721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718515" y="2287905"/>
            <a:ext cx="2197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Liberation Sans Narrow"/>
                <a:cs typeface="Liberation Sans Narrow"/>
              </a:rPr>
              <a:t>No</a:t>
            </a:r>
            <a:endParaRPr sz="1400">
              <a:latin typeface="Liberation Sans Narrow"/>
              <a:cs typeface="Liberation Sans Narrow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178300" y="3726560"/>
            <a:ext cx="2197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Liberation Sans Narrow"/>
                <a:cs typeface="Liberation Sans Narrow"/>
              </a:rPr>
              <a:t>No</a:t>
            </a:r>
            <a:endParaRPr sz="1400">
              <a:latin typeface="Liberation Sans Narrow"/>
              <a:cs typeface="Liberation Sans Narrow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756208" y="1740471"/>
            <a:ext cx="685800" cy="685800"/>
            <a:chOff x="756208" y="1740471"/>
            <a:chExt cx="685800" cy="685800"/>
          </a:xfrm>
        </p:grpSpPr>
        <p:sp>
          <p:nvSpPr>
            <p:cNvPr id="79" name="object 79"/>
            <p:cNvSpPr/>
            <p:nvPr/>
          </p:nvSpPr>
          <p:spPr>
            <a:xfrm>
              <a:off x="778763" y="1761743"/>
              <a:ext cx="662940" cy="66446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60971" y="1745233"/>
              <a:ext cx="647065" cy="647065"/>
            </a:xfrm>
            <a:custGeom>
              <a:avLst/>
              <a:gdLst/>
              <a:ahLst/>
              <a:cxnLst/>
              <a:rect l="l" t="t" r="r" b="b"/>
              <a:pathLst>
                <a:path w="647065" h="647064">
                  <a:moveTo>
                    <a:pt x="323367" y="0"/>
                  </a:moveTo>
                  <a:lnTo>
                    <a:pt x="0" y="323214"/>
                  </a:lnTo>
                  <a:lnTo>
                    <a:pt x="323215" y="646556"/>
                  </a:lnTo>
                  <a:lnTo>
                    <a:pt x="646569" y="323341"/>
                  </a:lnTo>
                  <a:lnTo>
                    <a:pt x="323367" y="0"/>
                  </a:lnTo>
                  <a:close/>
                </a:path>
              </a:pathLst>
            </a:custGeom>
            <a:solidFill>
              <a:srgbClr val="ACE1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60971" y="1745233"/>
              <a:ext cx="647065" cy="647065"/>
            </a:xfrm>
            <a:custGeom>
              <a:avLst/>
              <a:gdLst/>
              <a:ahLst/>
              <a:cxnLst/>
              <a:rect l="l" t="t" r="r" b="b"/>
              <a:pathLst>
                <a:path w="647065" h="647064">
                  <a:moveTo>
                    <a:pt x="323367" y="0"/>
                  </a:moveTo>
                  <a:lnTo>
                    <a:pt x="646569" y="323341"/>
                  </a:lnTo>
                  <a:lnTo>
                    <a:pt x="323215" y="646556"/>
                  </a:lnTo>
                  <a:lnTo>
                    <a:pt x="0" y="323214"/>
                  </a:lnTo>
                  <a:lnTo>
                    <a:pt x="323367" y="0"/>
                  </a:lnTo>
                  <a:close/>
                </a:path>
              </a:pathLst>
            </a:custGeom>
            <a:ln w="952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/>
          <p:nvPr/>
        </p:nvSpPr>
        <p:spPr>
          <a:xfrm>
            <a:off x="1072133" y="1495805"/>
            <a:ext cx="4590415" cy="0"/>
          </a:xfrm>
          <a:custGeom>
            <a:avLst/>
            <a:gdLst/>
            <a:ahLst/>
            <a:cxnLst/>
            <a:rect l="l" t="t" r="r" b="b"/>
            <a:pathLst>
              <a:path w="4590415">
                <a:moveTo>
                  <a:pt x="0" y="0"/>
                </a:moveTo>
                <a:lnTo>
                  <a:pt x="4590288" y="0"/>
                </a:lnTo>
              </a:path>
            </a:pathLst>
          </a:custGeom>
          <a:ln w="38100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3" name="object 83"/>
          <p:cNvGrpSpPr/>
          <p:nvPr/>
        </p:nvGrpSpPr>
        <p:grpSpPr>
          <a:xfrm>
            <a:off x="3142170" y="3656520"/>
            <a:ext cx="2885440" cy="691515"/>
            <a:chOff x="3142170" y="3656520"/>
            <a:chExt cx="2885440" cy="691515"/>
          </a:xfrm>
        </p:grpSpPr>
        <p:sp>
          <p:nvSpPr>
            <p:cNvPr id="84" name="object 84"/>
            <p:cNvSpPr/>
            <p:nvPr/>
          </p:nvSpPr>
          <p:spPr>
            <a:xfrm>
              <a:off x="3693286" y="3940556"/>
              <a:ext cx="1658620" cy="114300"/>
            </a:xfrm>
            <a:custGeom>
              <a:avLst/>
              <a:gdLst/>
              <a:ahLst/>
              <a:cxnLst/>
              <a:rect l="l" t="t" r="r" b="b"/>
              <a:pathLst>
                <a:path w="1658620" h="114300">
                  <a:moveTo>
                    <a:pt x="1544192" y="0"/>
                  </a:moveTo>
                  <a:lnTo>
                    <a:pt x="1544023" y="38138"/>
                  </a:lnTo>
                  <a:lnTo>
                    <a:pt x="1563115" y="38227"/>
                  </a:lnTo>
                  <a:lnTo>
                    <a:pt x="1562862" y="76327"/>
                  </a:lnTo>
                  <a:lnTo>
                    <a:pt x="1543853" y="76327"/>
                  </a:lnTo>
                  <a:lnTo>
                    <a:pt x="1543685" y="114300"/>
                  </a:lnTo>
                  <a:lnTo>
                    <a:pt x="1620482" y="76327"/>
                  </a:lnTo>
                  <a:lnTo>
                    <a:pt x="1562862" y="76327"/>
                  </a:lnTo>
                  <a:lnTo>
                    <a:pt x="1620660" y="76238"/>
                  </a:lnTo>
                  <a:lnTo>
                    <a:pt x="1658239" y="57658"/>
                  </a:lnTo>
                  <a:lnTo>
                    <a:pt x="1544192" y="0"/>
                  </a:lnTo>
                  <a:close/>
                </a:path>
                <a:path w="1658620" h="114300">
                  <a:moveTo>
                    <a:pt x="1544023" y="38138"/>
                  </a:moveTo>
                  <a:lnTo>
                    <a:pt x="1543854" y="76238"/>
                  </a:lnTo>
                  <a:lnTo>
                    <a:pt x="1562862" y="76327"/>
                  </a:lnTo>
                  <a:lnTo>
                    <a:pt x="1563115" y="38227"/>
                  </a:lnTo>
                  <a:lnTo>
                    <a:pt x="1544023" y="38138"/>
                  </a:lnTo>
                  <a:close/>
                </a:path>
                <a:path w="1658620" h="114300">
                  <a:moveTo>
                    <a:pt x="253" y="30988"/>
                  </a:moveTo>
                  <a:lnTo>
                    <a:pt x="0" y="69088"/>
                  </a:lnTo>
                  <a:lnTo>
                    <a:pt x="1543854" y="76238"/>
                  </a:lnTo>
                  <a:lnTo>
                    <a:pt x="1544023" y="38138"/>
                  </a:lnTo>
                  <a:lnTo>
                    <a:pt x="253" y="3098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364479" y="3678936"/>
              <a:ext cx="662939" cy="6629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347207" y="3661283"/>
              <a:ext cx="647065" cy="647065"/>
            </a:xfrm>
            <a:custGeom>
              <a:avLst/>
              <a:gdLst/>
              <a:ahLst/>
              <a:cxnLst/>
              <a:rect l="l" t="t" r="r" b="b"/>
              <a:pathLst>
                <a:path w="647064" h="647064">
                  <a:moveTo>
                    <a:pt x="323468" y="0"/>
                  </a:moveTo>
                  <a:lnTo>
                    <a:pt x="0" y="323215"/>
                  </a:lnTo>
                  <a:lnTo>
                    <a:pt x="323214" y="646684"/>
                  </a:lnTo>
                  <a:lnTo>
                    <a:pt x="646683" y="323469"/>
                  </a:lnTo>
                  <a:lnTo>
                    <a:pt x="323468" y="0"/>
                  </a:lnTo>
                  <a:close/>
                </a:path>
              </a:pathLst>
            </a:custGeom>
            <a:solidFill>
              <a:srgbClr val="ACE1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347207" y="3661283"/>
              <a:ext cx="647065" cy="647065"/>
            </a:xfrm>
            <a:custGeom>
              <a:avLst/>
              <a:gdLst/>
              <a:ahLst/>
              <a:cxnLst/>
              <a:rect l="l" t="t" r="r" b="b"/>
              <a:pathLst>
                <a:path w="647064" h="647064">
                  <a:moveTo>
                    <a:pt x="323468" y="0"/>
                  </a:moveTo>
                  <a:lnTo>
                    <a:pt x="646683" y="323469"/>
                  </a:lnTo>
                  <a:lnTo>
                    <a:pt x="323214" y="646684"/>
                  </a:lnTo>
                  <a:lnTo>
                    <a:pt x="0" y="323215"/>
                  </a:lnTo>
                  <a:lnTo>
                    <a:pt x="323468" y="0"/>
                  </a:lnTo>
                </a:path>
              </a:pathLst>
            </a:custGeom>
            <a:ln w="9525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163823" y="3685032"/>
              <a:ext cx="662939" cy="66293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146932" y="3667633"/>
              <a:ext cx="647065" cy="647065"/>
            </a:xfrm>
            <a:custGeom>
              <a:avLst/>
              <a:gdLst/>
              <a:ahLst/>
              <a:cxnLst/>
              <a:rect l="l" t="t" r="r" b="b"/>
              <a:pathLst>
                <a:path w="647064" h="647064">
                  <a:moveTo>
                    <a:pt x="323469" y="0"/>
                  </a:moveTo>
                  <a:lnTo>
                    <a:pt x="0" y="323215"/>
                  </a:lnTo>
                  <a:lnTo>
                    <a:pt x="323215" y="646684"/>
                  </a:lnTo>
                  <a:lnTo>
                    <a:pt x="646683" y="323469"/>
                  </a:lnTo>
                  <a:lnTo>
                    <a:pt x="323469" y="0"/>
                  </a:lnTo>
                  <a:close/>
                </a:path>
              </a:pathLst>
            </a:custGeom>
            <a:solidFill>
              <a:srgbClr val="ACE1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146932" y="3667633"/>
              <a:ext cx="647065" cy="647065"/>
            </a:xfrm>
            <a:custGeom>
              <a:avLst/>
              <a:gdLst/>
              <a:ahLst/>
              <a:cxnLst/>
              <a:rect l="l" t="t" r="r" b="b"/>
              <a:pathLst>
                <a:path w="647064" h="647064">
                  <a:moveTo>
                    <a:pt x="323469" y="0"/>
                  </a:moveTo>
                  <a:lnTo>
                    <a:pt x="646683" y="323469"/>
                  </a:lnTo>
                  <a:lnTo>
                    <a:pt x="323215" y="646684"/>
                  </a:lnTo>
                  <a:lnTo>
                    <a:pt x="0" y="323215"/>
                  </a:lnTo>
                  <a:lnTo>
                    <a:pt x="323469" y="0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4953"/>
            <a:ext cx="8248294" cy="710451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450"/>
              </a:lnSpc>
              <a:spcBef>
                <a:spcPts val="540"/>
              </a:spcBef>
            </a:pPr>
            <a:r>
              <a:rPr dirty="0" smtClean="0"/>
              <a:t>4</a:t>
            </a:r>
            <a:r>
              <a:rPr dirty="0"/>
              <a:t>: </a:t>
            </a:r>
            <a:r>
              <a:rPr spc="-5" dirty="0"/>
              <a:t>Overview </a:t>
            </a:r>
            <a:r>
              <a:rPr dirty="0"/>
              <a:t>of </a:t>
            </a:r>
            <a:r>
              <a:rPr spc="-5" dirty="0"/>
              <a:t>the Connection </a:t>
            </a:r>
            <a:r>
              <a:rPr dirty="0"/>
              <a:t>Manager  </a:t>
            </a:r>
            <a:r>
              <a:rPr spc="-5" dirty="0"/>
              <a:t>Administration</a:t>
            </a:r>
            <a:r>
              <a:rPr spc="45" dirty="0"/>
              <a:t> </a:t>
            </a:r>
            <a:r>
              <a:rPr dirty="0"/>
              <a:t>Kit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6904990" cy="1783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</a:t>
            </a:r>
            <a:r>
              <a:rPr sz="2000" spc="-5" dirty="0">
                <a:latin typeface="Verdana"/>
                <a:cs typeface="Verdana"/>
              </a:rPr>
              <a:t>the Connection </a:t>
            </a:r>
            <a:r>
              <a:rPr sz="2000" dirty="0">
                <a:latin typeface="Verdana"/>
                <a:cs typeface="Verdana"/>
              </a:rPr>
              <a:t>Manager </a:t>
            </a:r>
            <a:r>
              <a:rPr sz="2000" spc="-5" dirty="0">
                <a:latin typeface="Verdana"/>
                <a:cs typeface="Verdana"/>
              </a:rPr>
              <a:t>Administration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Kit?</a:t>
            </a: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 smtClean="0">
                <a:latin typeface="Verdana"/>
                <a:cs typeface="Verdana"/>
              </a:rPr>
              <a:t>Process </a:t>
            </a:r>
            <a:r>
              <a:rPr sz="2000" dirty="0">
                <a:latin typeface="Verdana"/>
                <a:cs typeface="Verdana"/>
              </a:rPr>
              <a:t>for </a:t>
            </a:r>
            <a:r>
              <a:rPr sz="2000" spc="-5" dirty="0">
                <a:latin typeface="Verdana"/>
                <a:cs typeface="Verdana"/>
              </a:rPr>
              <a:t>Configuring </a:t>
            </a:r>
            <a:r>
              <a:rPr sz="2000" dirty="0">
                <a:latin typeface="Verdana"/>
                <a:cs typeface="Verdana"/>
              </a:rPr>
              <a:t>a </a:t>
            </a:r>
            <a:r>
              <a:rPr sz="2000" spc="-5" dirty="0">
                <a:latin typeface="Verdana"/>
                <a:cs typeface="Verdana"/>
              </a:rPr>
              <a:t>Connection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Profile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Demonstration: </a:t>
            </a:r>
            <a:r>
              <a:rPr sz="2000" dirty="0">
                <a:latin typeface="Verdana"/>
                <a:cs typeface="Verdana"/>
              </a:rPr>
              <a:t>How </a:t>
            </a:r>
            <a:r>
              <a:rPr sz="2000" spc="-5" dirty="0">
                <a:latin typeface="Verdana"/>
                <a:cs typeface="Verdana"/>
              </a:rPr>
              <a:t>to Create </a:t>
            </a:r>
            <a:r>
              <a:rPr sz="2000" dirty="0">
                <a:latin typeface="Verdana"/>
                <a:cs typeface="Verdana"/>
              </a:rPr>
              <a:t>a </a:t>
            </a:r>
            <a:r>
              <a:rPr sz="2000" spc="-5" dirty="0">
                <a:latin typeface="Verdana"/>
                <a:cs typeface="Verdana"/>
              </a:rPr>
              <a:t>Connection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Profile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Distributing the </a:t>
            </a:r>
            <a:r>
              <a:rPr sz="2000" spc="-5" dirty="0">
                <a:latin typeface="Verdana"/>
                <a:cs typeface="Verdana"/>
              </a:rPr>
              <a:t>Connection Profile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Users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8095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spc="-5" dirty="0"/>
              <a:t>the Connection </a:t>
            </a:r>
            <a:r>
              <a:rPr dirty="0"/>
              <a:t>Manager </a:t>
            </a:r>
            <a:r>
              <a:rPr spc="-5" dirty="0"/>
              <a:t>Administration</a:t>
            </a:r>
            <a:r>
              <a:rPr spc="114" dirty="0"/>
              <a:t> </a:t>
            </a:r>
            <a:r>
              <a:rPr dirty="0"/>
              <a:t>Kit?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0895" y="1278636"/>
            <a:ext cx="8547100" cy="4756785"/>
            <a:chOff x="310895" y="1278636"/>
            <a:chExt cx="8547100" cy="4756785"/>
          </a:xfrm>
        </p:grpSpPr>
        <p:sp>
          <p:nvSpPr>
            <p:cNvPr id="4" name="object 4"/>
            <p:cNvSpPr/>
            <p:nvPr/>
          </p:nvSpPr>
          <p:spPr>
            <a:xfrm>
              <a:off x="315467" y="1283208"/>
              <a:ext cx="8537575" cy="4747260"/>
            </a:xfrm>
            <a:custGeom>
              <a:avLst/>
              <a:gdLst/>
              <a:ahLst/>
              <a:cxnLst/>
              <a:rect l="l" t="t" r="r" b="b"/>
              <a:pathLst>
                <a:path w="8537575" h="4747260">
                  <a:moveTo>
                    <a:pt x="8339582" y="0"/>
                  </a:moveTo>
                  <a:lnTo>
                    <a:pt x="197815" y="0"/>
                  </a:lnTo>
                  <a:lnTo>
                    <a:pt x="152459" y="5222"/>
                  </a:lnTo>
                  <a:lnTo>
                    <a:pt x="110823" y="20099"/>
                  </a:lnTo>
                  <a:lnTo>
                    <a:pt x="74093" y="43447"/>
                  </a:lnTo>
                  <a:lnTo>
                    <a:pt x="43459" y="74082"/>
                  </a:lnTo>
                  <a:lnTo>
                    <a:pt x="20107" y="110819"/>
                  </a:lnTo>
                  <a:lnTo>
                    <a:pt x="5224" y="152475"/>
                  </a:lnTo>
                  <a:lnTo>
                    <a:pt x="0" y="197865"/>
                  </a:lnTo>
                  <a:lnTo>
                    <a:pt x="0" y="4549444"/>
                  </a:lnTo>
                  <a:lnTo>
                    <a:pt x="5224" y="4594800"/>
                  </a:lnTo>
                  <a:lnTo>
                    <a:pt x="20107" y="4636436"/>
                  </a:lnTo>
                  <a:lnTo>
                    <a:pt x="43459" y="4673166"/>
                  </a:lnTo>
                  <a:lnTo>
                    <a:pt x="74093" y="4703800"/>
                  </a:lnTo>
                  <a:lnTo>
                    <a:pt x="110823" y="4727152"/>
                  </a:lnTo>
                  <a:lnTo>
                    <a:pt x="152459" y="4742035"/>
                  </a:lnTo>
                  <a:lnTo>
                    <a:pt x="197815" y="4747259"/>
                  </a:lnTo>
                  <a:lnTo>
                    <a:pt x="8339582" y="4747259"/>
                  </a:lnTo>
                  <a:lnTo>
                    <a:pt x="8384972" y="4742035"/>
                  </a:lnTo>
                  <a:lnTo>
                    <a:pt x="8426628" y="4727152"/>
                  </a:lnTo>
                  <a:lnTo>
                    <a:pt x="8463365" y="4703800"/>
                  </a:lnTo>
                  <a:lnTo>
                    <a:pt x="8494000" y="4673166"/>
                  </a:lnTo>
                  <a:lnTo>
                    <a:pt x="8517348" y="4636436"/>
                  </a:lnTo>
                  <a:lnTo>
                    <a:pt x="8532225" y="4594800"/>
                  </a:lnTo>
                  <a:lnTo>
                    <a:pt x="8537448" y="4549444"/>
                  </a:lnTo>
                  <a:lnTo>
                    <a:pt x="8537448" y="197865"/>
                  </a:lnTo>
                  <a:lnTo>
                    <a:pt x="8532225" y="152475"/>
                  </a:lnTo>
                  <a:lnTo>
                    <a:pt x="8517348" y="110819"/>
                  </a:lnTo>
                  <a:lnTo>
                    <a:pt x="8494000" y="74082"/>
                  </a:lnTo>
                  <a:lnTo>
                    <a:pt x="8463365" y="43447"/>
                  </a:lnTo>
                  <a:lnTo>
                    <a:pt x="8426628" y="20099"/>
                  </a:lnTo>
                  <a:lnTo>
                    <a:pt x="8384972" y="5222"/>
                  </a:lnTo>
                  <a:lnTo>
                    <a:pt x="8339582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5467" y="1283208"/>
              <a:ext cx="8537575" cy="4747260"/>
            </a:xfrm>
            <a:custGeom>
              <a:avLst/>
              <a:gdLst/>
              <a:ahLst/>
              <a:cxnLst/>
              <a:rect l="l" t="t" r="r" b="b"/>
              <a:pathLst>
                <a:path w="8537575" h="4747260">
                  <a:moveTo>
                    <a:pt x="0" y="197865"/>
                  </a:moveTo>
                  <a:lnTo>
                    <a:pt x="5224" y="152475"/>
                  </a:lnTo>
                  <a:lnTo>
                    <a:pt x="20107" y="110819"/>
                  </a:lnTo>
                  <a:lnTo>
                    <a:pt x="43459" y="74082"/>
                  </a:lnTo>
                  <a:lnTo>
                    <a:pt x="74093" y="43447"/>
                  </a:lnTo>
                  <a:lnTo>
                    <a:pt x="110823" y="20099"/>
                  </a:lnTo>
                  <a:lnTo>
                    <a:pt x="152459" y="5222"/>
                  </a:lnTo>
                  <a:lnTo>
                    <a:pt x="197815" y="0"/>
                  </a:lnTo>
                  <a:lnTo>
                    <a:pt x="8339582" y="0"/>
                  </a:lnTo>
                  <a:lnTo>
                    <a:pt x="8384972" y="5222"/>
                  </a:lnTo>
                  <a:lnTo>
                    <a:pt x="8426628" y="20099"/>
                  </a:lnTo>
                  <a:lnTo>
                    <a:pt x="8463365" y="43447"/>
                  </a:lnTo>
                  <a:lnTo>
                    <a:pt x="8494000" y="74082"/>
                  </a:lnTo>
                  <a:lnTo>
                    <a:pt x="8517348" y="110819"/>
                  </a:lnTo>
                  <a:lnTo>
                    <a:pt x="8532225" y="152475"/>
                  </a:lnTo>
                  <a:lnTo>
                    <a:pt x="8537448" y="197865"/>
                  </a:lnTo>
                  <a:lnTo>
                    <a:pt x="8537448" y="4549444"/>
                  </a:lnTo>
                  <a:lnTo>
                    <a:pt x="8532225" y="4594800"/>
                  </a:lnTo>
                  <a:lnTo>
                    <a:pt x="8517348" y="4636436"/>
                  </a:lnTo>
                  <a:lnTo>
                    <a:pt x="8494000" y="4673166"/>
                  </a:lnTo>
                  <a:lnTo>
                    <a:pt x="8463365" y="4703800"/>
                  </a:lnTo>
                  <a:lnTo>
                    <a:pt x="8426628" y="4727152"/>
                  </a:lnTo>
                  <a:lnTo>
                    <a:pt x="8384972" y="4742035"/>
                  </a:lnTo>
                  <a:lnTo>
                    <a:pt x="8339582" y="4747259"/>
                  </a:lnTo>
                  <a:lnTo>
                    <a:pt x="197815" y="4747259"/>
                  </a:lnTo>
                  <a:lnTo>
                    <a:pt x="152459" y="4742035"/>
                  </a:lnTo>
                  <a:lnTo>
                    <a:pt x="110823" y="4727152"/>
                  </a:lnTo>
                  <a:lnTo>
                    <a:pt x="74093" y="4703800"/>
                  </a:lnTo>
                  <a:lnTo>
                    <a:pt x="43459" y="4673166"/>
                  </a:lnTo>
                  <a:lnTo>
                    <a:pt x="20107" y="4636436"/>
                  </a:lnTo>
                  <a:lnTo>
                    <a:pt x="5224" y="4594800"/>
                  </a:lnTo>
                  <a:lnTo>
                    <a:pt x="0" y="4549444"/>
                  </a:lnTo>
                  <a:lnTo>
                    <a:pt x="0" y="19786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5695" y="1851659"/>
              <a:ext cx="7938770" cy="3796665"/>
            </a:xfrm>
            <a:custGeom>
              <a:avLst/>
              <a:gdLst/>
              <a:ahLst/>
              <a:cxnLst/>
              <a:rect l="l" t="t" r="r" b="b"/>
              <a:pathLst>
                <a:path w="7938770" h="3796665">
                  <a:moveTo>
                    <a:pt x="7780274" y="0"/>
                  </a:moveTo>
                  <a:lnTo>
                    <a:pt x="158191" y="0"/>
                  </a:lnTo>
                  <a:lnTo>
                    <a:pt x="108191" y="8069"/>
                  </a:lnTo>
                  <a:lnTo>
                    <a:pt x="64766" y="30536"/>
                  </a:lnTo>
                  <a:lnTo>
                    <a:pt x="30522" y="64794"/>
                  </a:lnTo>
                  <a:lnTo>
                    <a:pt x="8065" y="108232"/>
                  </a:lnTo>
                  <a:lnTo>
                    <a:pt x="0" y="158241"/>
                  </a:lnTo>
                  <a:lnTo>
                    <a:pt x="0" y="3638041"/>
                  </a:lnTo>
                  <a:lnTo>
                    <a:pt x="8065" y="3688051"/>
                  </a:lnTo>
                  <a:lnTo>
                    <a:pt x="30522" y="3731489"/>
                  </a:lnTo>
                  <a:lnTo>
                    <a:pt x="64766" y="3765747"/>
                  </a:lnTo>
                  <a:lnTo>
                    <a:pt x="108191" y="3788214"/>
                  </a:lnTo>
                  <a:lnTo>
                    <a:pt x="158191" y="3796283"/>
                  </a:lnTo>
                  <a:lnTo>
                    <a:pt x="7780274" y="3796283"/>
                  </a:lnTo>
                  <a:lnTo>
                    <a:pt x="7830283" y="3788214"/>
                  </a:lnTo>
                  <a:lnTo>
                    <a:pt x="7873721" y="3765747"/>
                  </a:lnTo>
                  <a:lnTo>
                    <a:pt x="7907979" y="3731489"/>
                  </a:lnTo>
                  <a:lnTo>
                    <a:pt x="7930446" y="3688051"/>
                  </a:lnTo>
                  <a:lnTo>
                    <a:pt x="7938515" y="3638041"/>
                  </a:lnTo>
                  <a:lnTo>
                    <a:pt x="7938515" y="158241"/>
                  </a:lnTo>
                  <a:lnTo>
                    <a:pt x="7930446" y="108232"/>
                  </a:lnTo>
                  <a:lnTo>
                    <a:pt x="7907979" y="64794"/>
                  </a:lnTo>
                  <a:lnTo>
                    <a:pt x="7873721" y="30536"/>
                  </a:lnTo>
                  <a:lnTo>
                    <a:pt x="7830283" y="8069"/>
                  </a:lnTo>
                  <a:lnTo>
                    <a:pt x="778027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5695" y="1851659"/>
              <a:ext cx="7938770" cy="3796665"/>
            </a:xfrm>
            <a:custGeom>
              <a:avLst/>
              <a:gdLst/>
              <a:ahLst/>
              <a:cxnLst/>
              <a:rect l="l" t="t" r="r" b="b"/>
              <a:pathLst>
                <a:path w="7938770" h="3796665">
                  <a:moveTo>
                    <a:pt x="0" y="158241"/>
                  </a:moveTo>
                  <a:lnTo>
                    <a:pt x="8065" y="108232"/>
                  </a:lnTo>
                  <a:lnTo>
                    <a:pt x="30522" y="64794"/>
                  </a:lnTo>
                  <a:lnTo>
                    <a:pt x="64766" y="30536"/>
                  </a:lnTo>
                  <a:lnTo>
                    <a:pt x="108191" y="8069"/>
                  </a:lnTo>
                  <a:lnTo>
                    <a:pt x="158191" y="0"/>
                  </a:lnTo>
                  <a:lnTo>
                    <a:pt x="7780274" y="0"/>
                  </a:lnTo>
                  <a:lnTo>
                    <a:pt x="7830283" y="8069"/>
                  </a:lnTo>
                  <a:lnTo>
                    <a:pt x="7873721" y="30536"/>
                  </a:lnTo>
                  <a:lnTo>
                    <a:pt x="7907979" y="64794"/>
                  </a:lnTo>
                  <a:lnTo>
                    <a:pt x="7930446" y="108232"/>
                  </a:lnTo>
                  <a:lnTo>
                    <a:pt x="7938515" y="158241"/>
                  </a:lnTo>
                  <a:lnTo>
                    <a:pt x="7938515" y="3638041"/>
                  </a:lnTo>
                  <a:lnTo>
                    <a:pt x="7930446" y="3688051"/>
                  </a:lnTo>
                  <a:lnTo>
                    <a:pt x="7907979" y="3731489"/>
                  </a:lnTo>
                  <a:lnTo>
                    <a:pt x="7873721" y="3765747"/>
                  </a:lnTo>
                  <a:lnTo>
                    <a:pt x="7830283" y="3788214"/>
                  </a:lnTo>
                  <a:lnTo>
                    <a:pt x="7780274" y="3796283"/>
                  </a:lnTo>
                  <a:lnTo>
                    <a:pt x="158191" y="3796283"/>
                  </a:lnTo>
                  <a:lnTo>
                    <a:pt x="108191" y="3788214"/>
                  </a:lnTo>
                  <a:lnTo>
                    <a:pt x="64766" y="3765747"/>
                  </a:lnTo>
                  <a:lnTo>
                    <a:pt x="30522" y="3731489"/>
                  </a:lnTo>
                  <a:lnTo>
                    <a:pt x="8065" y="3688051"/>
                  </a:lnTo>
                  <a:lnTo>
                    <a:pt x="0" y="3638041"/>
                  </a:lnTo>
                  <a:lnTo>
                    <a:pt x="0" y="15824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52729" y="1371091"/>
            <a:ext cx="7814945" cy="4091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Verdana"/>
                <a:cs typeface="Verdana"/>
              </a:rPr>
              <a:t>The Connection Manager </a:t>
            </a:r>
            <a:r>
              <a:rPr sz="2000" b="1" spc="-5" dirty="0">
                <a:latin typeface="Verdana"/>
                <a:cs typeface="Verdana"/>
              </a:rPr>
              <a:t>Administration</a:t>
            </a:r>
            <a:r>
              <a:rPr sz="2000" b="1" spc="-12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Kit: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350">
              <a:latin typeface="Verdana"/>
              <a:cs typeface="Verdana"/>
            </a:endParaRPr>
          </a:p>
          <a:p>
            <a:pPr marL="529590" marR="812800" indent="-228600" algn="just">
              <a:lnSpc>
                <a:spcPts val="1939"/>
              </a:lnSpc>
              <a:buClr>
                <a:srgbClr val="006699"/>
              </a:buClr>
              <a:buFont typeface="Verdana"/>
              <a:buChar char="•"/>
              <a:tabLst>
                <a:tab pos="530225" algn="l"/>
              </a:tabLst>
            </a:pPr>
            <a:r>
              <a:rPr sz="1800" b="1" spc="-5" dirty="0">
                <a:latin typeface="Verdana"/>
                <a:cs typeface="Verdana"/>
              </a:rPr>
              <a:t>Allows </a:t>
            </a:r>
            <a:r>
              <a:rPr sz="1800" b="1" dirty="0">
                <a:latin typeface="Verdana"/>
                <a:cs typeface="Verdana"/>
              </a:rPr>
              <a:t>you to </a:t>
            </a:r>
            <a:r>
              <a:rPr sz="1800" b="1" spc="-5" dirty="0">
                <a:latin typeface="Verdana"/>
                <a:cs typeface="Verdana"/>
              </a:rPr>
              <a:t>customize </a:t>
            </a:r>
            <a:r>
              <a:rPr sz="1800" b="1" dirty="0">
                <a:latin typeface="Verdana"/>
                <a:cs typeface="Verdana"/>
              </a:rPr>
              <a:t>users’ remote </a:t>
            </a:r>
            <a:r>
              <a:rPr sz="1800" b="1" spc="-5" dirty="0">
                <a:latin typeface="Verdana"/>
                <a:cs typeface="Verdana"/>
              </a:rPr>
              <a:t>connection  </a:t>
            </a:r>
            <a:r>
              <a:rPr sz="1800" b="1" dirty="0">
                <a:latin typeface="Verdana"/>
                <a:cs typeface="Verdana"/>
              </a:rPr>
              <a:t>experience </a:t>
            </a:r>
            <a:r>
              <a:rPr sz="1800" b="1" spc="-5" dirty="0">
                <a:latin typeface="Verdana"/>
                <a:cs typeface="Verdana"/>
              </a:rPr>
              <a:t>by </a:t>
            </a:r>
            <a:r>
              <a:rPr sz="1800" b="1" dirty="0">
                <a:latin typeface="Verdana"/>
                <a:cs typeface="Verdana"/>
              </a:rPr>
              <a:t>creating predefined </a:t>
            </a:r>
            <a:r>
              <a:rPr sz="1800" b="1" spc="-5" dirty="0">
                <a:latin typeface="Verdana"/>
                <a:cs typeface="Verdana"/>
              </a:rPr>
              <a:t>connections </a:t>
            </a:r>
            <a:r>
              <a:rPr sz="1800" b="1" dirty="0">
                <a:latin typeface="Verdana"/>
                <a:cs typeface="Verdana"/>
              </a:rPr>
              <a:t>on  remote servers and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networks</a:t>
            </a:r>
            <a:endParaRPr sz="1800">
              <a:latin typeface="Verdana"/>
              <a:cs typeface="Verdana"/>
            </a:endParaRPr>
          </a:p>
          <a:p>
            <a:pPr marL="529590" marR="444500" indent="-228600" algn="just">
              <a:lnSpc>
                <a:spcPts val="1939"/>
              </a:lnSpc>
              <a:spcBef>
                <a:spcPts val="875"/>
              </a:spcBef>
              <a:buClr>
                <a:srgbClr val="006699"/>
              </a:buClr>
              <a:buFont typeface="Verdana"/>
              <a:buChar char="•"/>
              <a:tabLst>
                <a:tab pos="530225" algn="l"/>
              </a:tabLst>
            </a:pPr>
            <a:r>
              <a:rPr sz="1800" b="1" dirty="0">
                <a:latin typeface="Verdana"/>
                <a:cs typeface="Verdana"/>
              </a:rPr>
              <a:t>Creates an </a:t>
            </a:r>
            <a:r>
              <a:rPr sz="1800" b="1" spc="-5" dirty="0">
                <a:latin typeface="Verdana"/>
                <a:cs typeface="Verdana"/>
              </a:rPr>
              <a:t>executable file </a:t>
            </a:r>
            <a:r>
              <a:rPr sz="1800" b="1" dirty="0">
                <a:latin typeface="Verdana"/>
                <a:cs typeface="Verdana"/>
              </a:rPr>
              <a:t>that </a:t>
            </a:r>
            <a:r>
              <a:rPr sz="1800" b="1" spc="-5" dirty="0">
                <a:latin typeface="Verdana"/>
                <a:cs typeface="Verdana"/>
              </a:rPr>
              <a:t>can be </a:t>
            </a:r>
            <a:r>
              <a:rPr sz="1800" b="1" dirty="0">
                <a:latin typeface="Verdana"/>
                <a:cs typeface="Verdana"/>
              </a:rPr>
              <a:t>run on a </a:t>
            </a:r>
            <a:r>
              <a:rPr sz="1800" b="1" spc="-5" dirty="0">
                <a:latin typeface="Verdana"/>
                <a:cs typeface="Verdana"/>
              </a:rPr>
              <a:t>client  computer </a:t>
            </a: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establish </a:t>
            </a: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spc="-5" dirty="0">
                <a:latin typeface="Verdana"/>
                <a:cs typeface="Verdana"/>
              </a:rPr>
              <a:t>network connection </a:t>
            </a:r>
            <a:r>
              <a:rPr sz="1800" b="1" dirty="0">
                <a:latin typeface="Verdana"/>
                <a:cs typeface="Verdana"/>
              </a:rPr>
              <a:t>that you  </a:t>
            </a:r>
            <a:r>
              <a:rPr sz="1800" b="1" spc="-5" dirty="0">
                <a:latin typeface="Verdana"/>
                <a:cs typeface="Verdana"/>
              </a:rPr>
              <a:t>have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designed</a:t>
            </a:r>
            <a:endParaRPr sz="1800">
              <a:latin typeface="Verdana"/>
              <a:cs typeface="Verdana"/>
            </a:endParaRPr>
          </a:p>
          <a:p>
            <a:pPr marL="529590" marR="5080" indent="-228600" algn="just">
              <a:lnSpc>
                <a:spcPts val="1939"/>
              </a:lnSpc>
              <a:spcBef>
                <a:spcPts val="880"/>
              </a:spcBef>
              <a:buClr>
                <a:srgbClr val="006699"/>
              </a:buClr>
              <a:buFont typeface="Verdana"/>
              <a:buChar char="•"/>
              <a:tabLst>
                <a:tab pos="530225" algn="l"/>
              </a:tabLst>
            </a:pPr>
            <a:r>
              <a:rPr sz="1800" b="1" spc="-5" dirty="0">
                <a:latin typeface="Verdana"/>
                <a:cs typeface="Verdana"/>
              </a:rPr>
              <a:t>Reduces </a:t>
            </a:r>
            <a:r>
              <a:rPr sz="1800" b="1" dirty="0">
                <a:latin typeface="Verdana"/>
                <a:cs typeface="Verdana"/>
              </a:rPr>
              <a:t>Help Desk requests </a:t>
            </a:r>
            <a:r>
              <a:rPr sz="1800" b="1" spc="-5" dirty="0">
                <a:latin typeface="Verdana"/>
                <a:cs typeface="Verdana"/>
              </a:rPr>
              <a:t>related </a:t>
            </a:r>
            <a:r>
              <a:rPr sz="1800" b="1" dirty="0">
                <a:latin typeface="Verdana"/>
                <a:cs typeface="Verdana"/>
              </a:rPr>
              <a:t>to the </a:t>
            </a:r>
            <a:r>
              <a:rPr sz="1800" b="1" spc="-5" dirty="0">
                <a:latin typeface="Verdana"/>
                <a:cs typeface="Verdana"/>
              </a:rPr>
              <a:t>configuration  </a:t>
            </a:r>
            <a:r>
              <a:rPr sz="1800" b="1" dirty="0">
                <a:latin typeface="Verdana"/>
                <a:cs typeface="Verdana"/>
              </a:rPr>
              <a:t>of </a:t>
            </a:r>
            <a:r>
              <a:rPr sz="1800" b="1" spc="-5" dirty="0">
                <a:latin typeface="Verdana"/>
                <a:cs typeface="Verdana"/>
              </a:rPr>
              <a:t>RAS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connections</a:t>
            </a:r>
            <a:endParaRPr sz="1800">
              <a:latin typeface="Verdana"/>
              <a:cs typeface="Verdana"/>
            </a:endParaRPr>
          </a:p>
          <a:p>
            <a:pPr marL="529590" indent="-229235" algn="just">
              <a:lnSpc>
                <a:spcPts val="2050"/>
              </a:lnSpc>
              <a:spcBef>
                <a:spcPts val="620"/>
              </a:spcBef>
              <a:buClr>
                <a:srgbClr val="006699"/>
              </a:buClr>
              <a:buFont typeface="Verdana"/>
              <a:buChar char="•"/>
              <a:tabLst>
                <a:tab pos="530225" algn="l"/>
              </a:tabLst>
            </a:pPr>
            <a:r>
              <a:rPr sz="1800" b="1" spc="-5" dirty="0">
                <a:latin typeface="Verdana"/>
                <a:cs typeface="Verdana"/>
              </a:rPr>
              <a:t>Assists </a:t>
            </a:r>
            <a:r>
              <a:rPr sz="1800" b="1" dirty="0">
                <a:latin typeface="Verdana"/>
                <a:cs typeface="Verdana"/>
              </a:rPr>
              <a:t>in problem resolution </a:t>
            </a:r>
            <a:r>
              <a:rPr sz="1800" b="1" spc="-5" dirty="0">
                <a:latin typeface="Verdana"/>
                <a:cs typeface="Verdana"/>
              </a:rPr>
              <a:t>because </a:t>
            </a:r>
            <a:r>
              <a:rPr sz="1800" b="1" dirty="0">
                <a:latin typeface="Verdana"/>
                <a:cs typeface="Verdana"/>
              </a:rPr>
              <a:t>the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configuration</a:t>
            </a:r>
            <a:endParaRPr sz="1800">
              <a:latin typeface="Verdana"/>
              <a:cs typeface="Verdana"/>
            </a:endParaRPr>
          </a:p>
          <a:p>
            <a:pPr marL="529590" algn="just">
              <a:lnSpc>
                <a:spcPts val="2050"/>
              </a:lnSpc>
            </a:pPr>
            <a:r>
              <a:rPr sz="1800" b="1" dirty="0">
                <a:latin typeface="Verdana"/>
                <a:cs typeface="Verdana"/>
              </a:rPr>
              <a:t>is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known</a:t>
            </a:r>
            <a:endParaRPr sz="1800">
              <a:latin typeface="Verdana"/>
              <a:cs typeface="Verdana"/>
            </a:endParaRPr>
          </a:p>
          <a:p>
            <a:pPr marL="529590" marR="1091565" indent="-228600" algn="just">
              <a:lnSpc>
                <a:spcPts val="1939"/>
              </a:lnSpc>
              <a:spcBef>
                <a:spcPts val="900"/>
              </a:spcBef>
              <a:buClr>
                <a:srgbClr val="006699"/>
              </a:buClr>
              <a:buFont typeface="Verdana"/>
              <a:buChar char="•"/>
              <a:tabLst>
                <a:tab pos="530225" algn="l"/>
              </a:tabLst>
            </a:pPr>
            <a:r>
              <a:rPr sz="1800" b="1" spc="-5" dirty="0">
                <a:latin typeface="Verdana"/>
                <a:cs typeface="Verdana"/>
              </a:rPr>
              <a:t>Reduces </a:t>
            </a:r>
            <a:r>
              <a:rPr sz="1800" b="1" dirty="0">
                <a:latin typeface="Verdana"/>
                <a:cs typeface="Verdana"/>
              </a:rPr>
              <a:t>the likelihood of user errors when they  </a:t>
            </a:r>
            <a:r>
              <a:rPr sz="1800" b="1" spc="-5" dirty="0">
                <a:latin typeface="Verdana"/>
                <a:cs typeface="Verdana"/>
              </a:rPr>
              <a:t>configure </a:t>
            </a:r>
            <a:r>
              <a:rPr sz="1800" b="1" dirty="0">
                <a:latin typeface="Verdana"/>
                <a:cs typeface="Verdana"/>
              </a:rPr>
              <a:t>their own </a:t>
            </a:r>
            <a:r>
              <a:rPr sz="1800" b="1" spc="-5" dirty="0">
                <a:latin typeface="Verdana"/>
                <a:cs typeface="Verdana"/>
              </a:rPr>
              <a:t>connection</a:t>
            </a:r>
            <a:r>
              <a:rPr sz="1800" b="1" spc="8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objects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75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Process for Configuring </a:t>
            </a:r>
            <a:r>
              <a:rPr dirty="0"/>
              <a:t>a </a:t>
            </a:r>
            <a:r>
              <a:rPr spc="-5" dirty="0"/>
              <a:t>Connection</a:t>
            </a:r>
            <a:r>
              <a:rPr spc="130" dirty="0"/>
              <a:t> </a:t>
            </a:r>
            <a:r>
              <a:rPr spc="-10" dirty="0"/>
              <a:t>Profile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1563" y="2217420"/>
            <a:ext cx="8491855" cy="3458210"/>
            <a:chOff x="321563" y="2217420"/>
            <a:chExt cx="8491855" cy="3458210"/>
          </a:xfrm>
        </p:grpSpPr>
        <p:sp>
          <p:nvSpPr>
            <p:cNvPr id="4" name="object 4"/>
            <p:cNvSpPr/>
            <p:nvPr/>
          </p:nvSpPr>
          <p:spPr>
            <a:xfrm>
              <a:off x="326135" y="2221992"/>
              <a:ext cx="8482965" cy="3449320"/>
            </a:xfrm>
            <a:custGeom>
              <a:avLst/>
              <a:gdLst/>
              <a:ahLst/>
              <a:cxnLst/>
              <a:rect l="l" t="t" r="r" b="b"/>
              <a:pathLst>
                <a:path w="8482965" h="3449320">
                  <a:moveTo>
                    <a:pt x="8338820" y="0"/>
                  </a:moveTo>
                  <a:lnTo>
                    <a:pt x="143713" y="0"/>
                  </a:lnTo>
                  <a:lnTo>
                    <a:pt x="98287" y="7331"/>
                  </a:lnTo>
                  <a:lnTo>
                    <a:pt x="58836" y="27744"/>
                  </a:lnTo>
                  <a:lnTo>
                    <a:pt x="27727" y="58869"/>
                  </a:lnTo>
                  <a:lnTo>
                    <a:pt x="7326" y="98332"/>
                  </a:lnTo>
                  <a:lnTo>
                    <a:pt x="0" y="143763"/>
                  </a:lnTo>
                  <a:lnTo>
                    <a:pt x="0" y="3305048"/>
                  </a:lnTo>
                  <a:lnTo>
                    <a:pt x="7326" y="3350498"/>
                  </a:lnTo>
                  <a:lnTo>
                    <a:pt x="27727" y="3389964"/>
                  </a:lnTo>
                  <a:lnTo>
                    <a:pt x="58836" y="3421081"/>
                  </a:lnTo>
                  <a:lnTo>
                    <a:pt x="98287" y="3441485"/>
                  </a:lnTo>
                  <a:lnTo>
                    <a:pt x="143713" y="3448812"/>
                  </a:lnTo>
                  <a:lnTo>
                    <a:pt x="8338820" y="3448812"/>
                  </a:lnTo>
                  <a:lnTo>
                    <a:pt x="8384251" y="3441485"/>
                  </a:lnTo>
                  <a:lnTo>
                    <a:pt x="8423714" y="3421081"/>
                  </a:lnTo>
                  <a:lnTo>
                    <a:pt x="8454839" y="3389964"/>
                  </a:lnTo>
                  <a:lnTo>
                    <a:pt x="8475252" y="3350498"/>
                  </a:lnTo>
                  <a:lnTo>
                    <a:pt x="8482584" y="3305048"/>
                  </a:lnTo>
                  <a:lnTo>
                    <a:pt x="8482584" y="143763"/>
                  </a:lnTo>
                  <a:lnTo>
                    <a:pt x="8475252" y="98332"/>
                  </a:lnTo>
                  <a:lnTo>
                    <a:pt x="8454839" y="58869"/>
                  </a:lnTo>
                  <a:lnTo>
                    <a:pt x="8423714" y="27744"/>
                  </a:lnTo>
                  <a:lnTo>
                    <a:pt x="8384251" y="7331"/>
                  </a:lnTo>
                  <a:lnTo>
                    <a:pt x="8338820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6135" y="2221992"/>
              <a:ext cx="8482965" cy="3449320"/>
            </a:xfrm>
            <a:custGeom>
              <a:avLst/>
              <a:gdLst/>
              <a:ahLst/>
              <a:cxnLst/>
              <a:rect l="l" t="t" r="r" b="b"/>
              <a:pathLst>
                <a:path w="8482965" h="3449320">
                  <a:moveTo>
                    <a:pt x="0" y="143763"/>
                  </a:moveTo>
                  <a:lnTo>
                    <a:pt x="7326" y="98332"/>
                  </a:lnTo>
                  <a:lnTo>
                    <a:pt x="27727" y="58869"/>
                  </a:lnTo>
                  <a:lnTo>
                    <a:pt x="58836" y="27744"/>
                  </a:lnTo>
                  <a:lnTo>
                    <a:pt x="98287" y="7331"/>
                  </a:lnTo>
                  <a:lnTo>
                    <a:pt x="143713" y="0"/>
                  </a:lnTo>
                  <a:lnTo>
                    <a:pt x="8338820" y="0"/>
                  </a:lnTo>
                  <a:lnTo>
                    <a:pt x="8384251" y="7331"/>
                  </a:lnTo>
                  <a:lnTo>
                    <a:pt x="8423714" y="27744"/>
                  </a:lnTo>
                  <a:lnTo>
                    <a:pt x="8454839" y="58869"/>
                  </a:lnTo>
                  <a:lnTo>
                    <a:pt x="8475252" y="98332"/>
                  </a:lnTo>
                  <a:lnTo>
                    <a:pt x="8482584" y="143763"/>
                  </a:lnTo>
                  <a:lnTo>
                    <a:pt x="8482584" y="3305048"/>
                  </a:lnTo>
                  <a:lnTo>
                    <a:pt x="8475252" y="3350498"/>
                  </a:lnTo>
                  <a:lnTo>
                    <a:pt x="8454839" y="3389964"/>
                  </a:lnTo>
                  <a:lnTo>
                    <a:pt x="8423714" y="3421081"/>
                  </a:lnTo>
                  <a:lnTo>
                    <a:pt x="8384251" y="3441485"/>
                  </a:lnTo>
                  <a:lnTo>
                    <a:pt x="8338820" y="3448812"/>
                  </a:lnTo>
                  <a:lnTo>
                    <a:pt x="143713" y="3448812"/>
                  </a:lnTo>
                  <a:lnTo>
                    <a:pt x="98287" y="3441485"/>
                  </a:lnTo>
                  <a:lnTo>
                    <a:pt x="58836" y="3421081"/>
                  </a:lnTo>
                  <a:lnTo>
                    <a:pt x="27727" y="3389964"/>
                  </a:lnTo>
                  <a:lnTo>
                    <a:pt x="7326" y="3350498"/>
                  </a:lnTo>
                  <a:lnTo>
                    <a:pt x="0" y="3305048"/>
                  </a:lnTo>
                  <a:lnTo>
                    <a:pt x="0" y="14376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7407" y="2753868"/>
              <a:ext cx="7949565" cy="2638425"/>
            </a:xfrm>
            <a:custGeom>
              <a:avLst/>
              <a:gdLst/>
              <a:ahLst/>
              <a:cxnLst/>
              <a:rect l="l" t="t" r="r" b="b"/>
              <a:pathLst>
                <a:path w="7949565" h="2638425">
                  <a:moveTo>
                    <a:pt x="7839202" y="0"/>
                  </a:moveTo>
                  <a:lnTo>
                    <a:pt x="109931" y="0"/>
                  </a:lnTo>
                  <a:lnTo>
                    <a:pt x="67138" y="8647"/>
                  </a:lnTo>
                  <a:lnTo>
                    <a:pt x="32196" y="32226"/>
                  </a:lnTo>
                  <a:lnTo>
                    <a:pt x="8638" y="67186"/>
                  </a:lnTo>
                  <a:lnTo>
                    <a:pt x="0" y="109982"/>
                  </a:lnTo>
                  <a:lnTo>
                    <a:pt x="0" y="2528062"/>
                  </a:lnTo>
                  <a:lnTo>
                    <a:pt x="8638" y="2570857"/>
                  </a:lnTo>
                  <a:lnTo>
                    <a:pt x="32196" y="2605817"/>
                  </a:lnTo>
                  <a:lnTo>
                    <a:pt x="67138" y="2629396"/>
                  </a:lnTo>
                  <a:lnTo>
                    <a:pt x="109931" y="2638044"/>
                  </a:lnTo>
                  <a:lnTo>
                    <a:pt x="7839202" y="2638044"/>
                  </a:lnTo>
                  <a:lnTo>
                    <a:pt x="7881997" y="2629396"/>
                  </a:lnTo>
                  <a:lnTo>
                    <a:pt x="7916957" y="2605817"/>
                  </a:lnTo>
                  <a:lnTo>
                    <a:pt x="7940536" y="2570857"/>
                  </a:lnTo>
                  <a:lnTo>
                    <a:pt x="7949184" y="2528062"/>
                  </a:lnTo>
                  <a:lnTo>
                    <a:pt x="7949184" y="109982"/>
                  </a:lnTo>
                  <a:lnTo>
                    <a:pt x="7940536" y="67186"/>
                  </a:lnTo>
                  <a:lnTo>
                    <a:pt x="7916957" y="32226"/>
                  </a:lnTo>
                  <a:lnTo>
                    <a:pt x="7881997" y="8647"/>
                  </a:lnTo>
                  <a:lnTo>
                    <a:pt x="783920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7407" y="2753868"/>
              <a:ext cx="7949565" cy="2638425"/>
            </a:xfrm>
            <a:custGeom>
              <a:avLst/>
              <a:gdLst/>
              <a:ahLst/>
              <a:cxnLst/>
              <a:rect l="l" t="t" r="r" b="b"/>
              <a:pathLst>
                <a:path w="7949565" h="2638425">
                  <a:moveTo>
                    <a:pt x="0" y="109982"/>
                  </a:moveTo>
                  <a:lnTo>
                    <a:pt x="8638" y="67186"/>
                  </a:lnTo>
                  <a:lnTo>
                    <a:pt x="32196" y="32226"/>
                  </a:lnTo>
                  <a:lnTo>
                    <a:pt x="67138" y="8647"/>
                  </a:lnTo>
                  <a:lnTo>
                    <a:pt x="109931" y="0"/>
                  </a:lnTo>
                  <a:lnTo>
                    <a:pt x="7839202" y="0"/>
                  </a:lnTo>
                  <a:lnTo>
                    <a:pt x="7881997" y="8647"/>
                  </a:lnTo>
                  <a:lnTo>
                    <a:pt x="7916957" y="32226"/>
                  </a:lnTo>
                  <a:lnTo>
                    <a:pt x="7940536" y="67186"/>
                  </a:lnTo>
                  <a:lnTo>
                    <a:pt x="7949184" y="109982"/>
                  </a:lnTo>
                  <a:lnTo>
                    <a:pt x="7949184" y="2528062"/>
                  </a:lnTo>
                  <a:lnTo>
                    <a:pt x="7940536" y="2570857"/>
                  </a:lnTo>
                  <a:lnTo>
                    <a:pt x="7916957" y="2605817"/>
                  </a:lnTo>
                  <a:lnTo>
                    <a:pt x="7881997" y="2629396"/>
                  </a:lnTo>
                  <a:lnTo>
                    <a:pt x="7839202" y="2638044"/>
                  </a:lnTo>
                  <a:lnTo>
                    <a:pt x="109931" y="2638044"/>
                  </a:lnTo>
                  <a:lnTo>
                    <a:pt x="67138" y="2629396"/>
                  </a:lnTo>
                  <a:lnTo>
                    <a:pt x="32196" y="2605817"/>
                  </a:lnTo>
                  <a:lnTo>
                    <a:pt x="8638" y="2570857"/>
                  </a:lnTo>
                  <a:lnTo>
                    <a:pt x="0" y="2528062"/>
                  </a:lnTo>
                  <a:lnTo>
                    <a:pt x="0" y="10998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64236" y="1037844"/>
            <a:ext cx="8442960" cy="922019"/>
            <a:chOff x="364236" y="1037844"/>
            <a:chExt cx="8442960" cy="922019"/>
          </a:xfrm>
        </p:grpSpPr>
        <p:sp>
          <p:nvSpPr>
            <p:cNvPr id="9" name="object 9"/>
            <p:cNvSpPr/>
            <p:nvPr/>
          </p:nvSpPr>
          <p:spPr>
            <a:xfrm>
              <a:off x="388620" y="1062228"/>
              <a:ext cx="8418576" cy="8823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3380" y="1118616"/>
              <a:ext cx="8348472" cy="8412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8808" y="1042416"/>
              <a:ext cx="8406384" cy="8702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8808" y="1042416"/>
              <a:ext cx="8406765" cy="870585"/>
            </a:xfrm>
            <a:custGeom>
              <a:avLst/>
              <a:gdLst/>
              <a:ahLst/>
              <a:cxnLst/>
              <a:rect l="l" t="t" r="r" b="b"/>
              <a:pathLst>
                <a:path w="8406765" h="870585">
                  <a:moveTo>
                    <a:pt x="0" y="145034"/>
                  </a:moveTo>
                  <a:lnTo>
                    <a:pt x="7394" y="99177"/>
                  </a:lnTo>
                  <a:lnTo>
                    <a:pt x="27983" y="59362"/>
                  </a:lnTo>
                  <a:lnTo>
                    <a:pt x="59379" y="27972"/>
                  </a:lnTo>
                  <a:lnTo>
                    <a:pt x="99192" y="7390"/>
                  </a:lnTo>
                  <a:lnTo>
                    <a:pt x="145034" y="0"/>
                  </a:lnTo>
                  <a:lnTo>
                    <a:pt x="8261350" y="0"/>
                  </a:lnTo>
                  <a:lnTo>
                    <a:pt x="8307206" y="7390"/>
                  </a:lnTo>
                  <a:lnTo>
                    <a:pt x="8347021" y="27972"/>
                  </a:lnTo>
                  <a:lnTo>
                    <a:pt x="8378411" y="59362"/>
                  </a:lnTo>
                  <a:lnTo>
                    <a:pt x="8398993" y="99177"/>
                  </a:lnTo>
                  <a:lnTo>
                    <a:pt x="8406384" y="145034"/>
                  </a:lnTo>
                  <a:lnTo>
                    <a:pt x="8406384" y="725170"/>
                  </a:lnTo>
                  <a:lnTo>
                    <a:pt x="8398993" y="771026"/>
                  </a:lnTo>
                  <a:lnTo>
                    <a:pt x="8378411" y="810841"/>
                  </a:lnTo>
                  <a:lnTo>
                    <a:pt x="8347021" y="842231"/>
                  </a:lnTo>
                  <a:lnTo>
                    <a:pt x="8307206" y="862813"/>
                  </a:lnTo>
                  <a:lnTo>
                    <a:pt x="8261350" y="870204"/>
                  </a:lnTo>
                  <a:lnTo>
                    <a:pt x="145034" y="870204"/>
                  </a:lnTo>
                  <a:lnTo>
                    <a:pt x="99192" y="862813"/>
                  </a:lnTo>
                  <a:lnTo>
                    <a:pt x="59379" y="842231"/>
                  </a:lnTo>
                  <a:lnTo>
                    <a:pt x="27983" y="810841"/>
                  </a:lnTo>
                  <a:lnTo>
                    <a:pt x="7394" y="771026"/>
                  </a:lnTo>
                  <a:lnTo>
                    <a:pt x="0" y="725170"/>
                  </a:lnTo>
                  <a:lnTo>
                    <a:pt x="0" y="145034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46328" y="1157732"/>
            <a:ext cx="8102600" cy="3942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588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Verdana"/>
                <a:cs typeface="Verdana"/>
              </a:rPr>
              <a:t>The CMAK Connection Profile </a:t>
            </a:r>
            <a:r>
              <a:rPr sz="2000" b="1" spc="-5" dirty="0">
                <a:latin typeface="Verdana"/>
                <a:cs typeface="Verdana"/>
              </a:rPr>
              <a:t>Wizard </a:t>
            </a:r>
            <a:r>
              <a:rPr sz="2000" b="1" dirty="0">
                <a:latin typeface="Verdana"/>
                <a:cs typeface="Verdana"/>
              </a:rPr>
              <a:t>assists in the  </a:t>
            </a:r>
            <a:r>
              <a:rPr sz="2000" b="1" spc="-5" dirty="0">
                <a:latin typeface="Verdana"/>
                <a:cs typeface="Verdana"/>
              </a:rPr>
              <a:t>process </a:t>
            </a:r>
            <a:r>
              <a:rPr sz="2000" b="1" dirty="0">
                <a:latin typeface="Verdana"/>
                <a:cs typeface="Verdana"/>
              </a:rPr>
              <a:t>of </a:t>
            </a:r>
            <a:r>
              <a:rPr sz="2000" b="1" spc="-5" dirty="0">
                <a:latin typeface="Verdana"/>
                <a:cs typeface="Verdana"/>
              </a:rPr>
              <a:t>creating custom connection </a:t>
            </a:r>
            <a:r>
              <a:rPr sz="2000" b="1" dirty="0">
                <a:latin typeface="Verdana"/>
                <a:cs typeface="Verdana"/>
              </a:rPr>
              <a:t>profiles for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users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Use the CMAK </a:t>
            </a:r>
            <a:r>
              <a:rPr sz="1800" b="1" spc="-5" dirty="0">
                <a:latin typeface="Verdana"/>
                <a:cs typeface="Verdana"/>
              </a:rPr>
              <a:t>Connection Profile Wizard </a:t>
            </a:r>
            <a:r>
              <a:rPr sz="1800" b="1" dirty="0">
                <a:latin typeface="Verdana"/>
                <a:cs typeface="Verdana"/>
              </a:rPr>
              <a:t>to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configure: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Verdana"/>
              <a:cs typeface="Verdana"/>
            </a:endParaRPr>
          </a:p>
          <a:p>
            <a:pPr marL="502284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02920" algn="l"/>
              </a:tabLst>
            </a:pPr>
            <a:r>
              <a:rPr sz="1800" b="1" dirty="0">
                <a:latin typeface="Verdana"/>
                <a:cs typeface="Verdana"/>
              </a:rPr>
              <a:t>The target operating</a:t>
            </a:r>
            <a:r>
              <a:rPr sz="1800" b="1" spc="4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system</a:t>
            </a:r>
            <a:endParaRPr sz="1800">
              <a:latin typeface="Verdana"/>
              <a:cs typeface="Verdana"/>
            </a:endParaRPr>
          </a:p>
          <a:p>
            <a:pPr marL="502284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502920" algn="l"/>
              </a:tabLst>
            </a:pPr>
            <a:r>
              <a:rPr sz="1800" b="1" dirty="0">
                <a:latin typeface="Verdana"/>
                <a:cs typeface="Verdana"/>
              </a:rPr>
              <a:t>Support </a:t>
            </a:r>
            <a:r>
              <a:rPr sz="1800" b="1" spc="-5" dirty="0">
                <a:latin typeface="Verdana"/>
                <a:cs typeface="Verdana"/>
              </a:rPr>
              <a:t>for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VPN</a:t>
            </a:r>
            <a:endParaRPr sz="1800">
              <a:latin typeface="Verdana"/>
              <a:cs typeface="Verdana"/>
            </a:endParaRPr>
          </a:p>
          <a:p>
            <a:pPr marL="502284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502920" algn="l"/>
              </a:tabLst>
            </a:pPr>
            <a:r>
              <a:rPr sz="1800" b="1" dirty="0">
                <a:latin typeface="Verdana"/>
                <a:cs typeface="Verdana"/>
              </a:rPr>
              <a:t>Support </a:t>
            </a:r>
            <a:r>
              <a:rPr sz="1800" b="1" spc="-5" dirty="0">
                <a:latin typeface="Verdana"/>
                <a:cs typeface="Verdana"/>
              </a:rPr>
              <a:t>for Dial-up, including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custom phone</a:t>
            </a:r>
            <a:r>
              <a:rPr sz="1800" b="1" spc="5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book</a:t>
            </a:r>
            <a:endParaRPr sz="1800">
              <a:latin typeface="Verdana"/>
              <a:cs typeface="Verdana"/>
            </a:endParaRPr>
          </a:p>
          <a:p>
            <a:pPr marL="502284" indent="-229235">
              <a:lnSpc>
                <a:spcPct val="100000"/>
              </a:lnSpc>
              <a:spcBef>
                <a:spcPts val="645"/>
              </a:spcBef>
              <a:buClr>
                <a:srgbClr val="006699"/>
              </a:buClr>
              <a:buFont typeface="Verdana"/>
              <a:buChar char="•"/>
              <a:tabLst>
                <a:tab pos="502920" algn="l"/>
              </a:tabLst>
            </a:pPr>
            <a:r>
              <a:rPr sz="1800" b="1" dirty="0">
                <a:latin typeface="Verdana"/>
                <a:cs typeface="Verdana"/>
              </a:rPr>
              <a:t>Proxy</a:t>
            </a:r>
            <a:endParaRPr sz="1800">
              <a:latin typeface="Verdana"/>
              <a:cs typeface="Verdana"/>
            </a:endParaRPr>
          </a:p>
          <a:p>
            <a:pPr marL="502284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502920" algn="l"/>
              </a:tabLst>
            </a:pPr>
            <a:r>
              <a:rPr sz="1800" b="1" dirty="0">
                <a:latin typeface="Verdana"/>
                <a:cs typeface="Verdana"/>
              </a:rPr>
              <a:t>Custom Help</a:t>
            </a:r>
            <a:r>
              <a:rPr sz="1800" b="1" spc="-5" dirty="0">
                <a:latin typeface="Verdana"/>
                <a:cs typeface="Verdana"/>
              </a:rPr>
              <a:t> file</a:t>
            </a:r>
            <a:endParaRPr sz="1800">
              <a:latin typeface="Verdana"/>
              <a:cs typeface="Verdana"/>
            </a:endParaRPr>
          </a:p>
          <a:p>
            <a:pPr marL="502284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502920" algn="l"/>
              </a:tabLst>
            </a:pPr>
            <a:r>
              <a:rPr sz="1800" b="1" spc="-5" dirty="0">
                <a:latin typeface="Verdana"/>
                <a:cs typeface="Verdana"/>
              </a:rPr>
              <a:t>Custom support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information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6713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Distributing the Connection </a:t>
            </a:r>
            <a:r>
              <a:rPr spc="-10" dirty="0"/>
              <a:t>Profile </a:t>
            </a:r>
            <a:r>
              <a:rPr spc="-5" dirty="0"/>
              <a:t>to</a:t>
            </a:r>
            <a:r>
              <a:rPr spc="195" dirty="0"/>
              <a:t> </a:t>
            </a:r>
            <a:r>
              <a:rPr spc="-5" dirty="0"/>
              <a:t>Users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9119" y="1650492"/>
            <a:ext cx="7998459" cy="2769235"/>
            <a:chOff x="579119" y="1650492"/>
            <a:chExt cx="7998459" cy="2769235"/>
          </a:xfrm>
        </p:grpSpPr>
        <p:sp>
          <p:nvSpPr>
            <p:cNvPr id="4" name="object 4"/>
            <p:cNvSpPr/>
            <p:nvPr/>
          </p:nvSpPr>
          <p:spPr>
            <a:xfrm>
              <a:off x="583691" y="1655064"/>
              <a:ext cx="7988934" cy="2760345"/>
            </a:xfrm>
            <a:custGeom>
              <a:avLst/>
              <a:gdLst/>
              <a:ahLst/>
              <a:cxnLst/>
              <a:rect l="l" t="t" r="r" b="b"/>
              <a:pathLst>
                <a:path w="7988934" h="2760345">
                  <a:moveTo>
                    <a:pt x="7873746" y="0"/>
                  </a:moveTo>
                  <a:lnTo>
                    <a:pt x="115011" y="0"/>
                  </a:lnTo>
                  <a:lnTo>
                    <a:pt x="70240" y="9030"/>
                  </a:lnTo>
                  <a:lnTo>
                    <a:pt x="33683" y="33670"/>
                  </a:lnTo>
                  <a:lnTo>
                    <a:pt x="9037" y="70240"/>
                  </a:lnTo>
                  <a:lnTo>
                    <a:pt x="0" y="115062"/>
                  </a:lnTo>
                  <a:lnTo>
                    <a:pt x="0" y="2644902"/>
                  </a:lnTo>
                  <a:lnTo>
                    <a:pt x="9037" y="2689723"/>
                  </a:lnTo>
                  <a:lnTo>
                    <a:pt x="33683" y="2726293"/>
                  </a:lnTo>
                  <a:lnTo>
                    <a:pt x="70240" y="2750933"/>
                  </a:lnTo>
                  <a:lnTo>
                    <a:pt x="115011" y="2759964"/>
                  </a:lnTo>
                  <a:lnTo>
                    <a:pt x="7873746" y="2759964"/>
                  </a:lnTo>
                  <a:lnTo>
                    <a:pt x="7918567" y="2750933"/>
                  </a:lnTo>
                  <a:lnTo>
                    <a:pt x="7955137" y="2726293"/>
                  </a:lnTo>
                  <a:lnTo>
                    <a:pt x="7979777" y="2689723"/>
                  </a:lnTo>
                  <a:lnTo>
                    <a:pt x="7988808" y="2644902"/>
                  </a:lnTo>
                  <a:lnTo>
                    <a:pt x="7988808" y="115062"/>
                  </a:lnTo>
                  <a:lnTo>
                    <a:pt x="7979777" y="70240"/>
                  </a:lnTo>
                  <a:lnTo>
                    <a:pt x="7955137" y="33670"/>
                  </a:lnTo>
                  <a:lnTo>
                    <a:pt x="7918567" y="9030"/>
                  </a:lnTo>
                  <a:lnTo>
                    <a:pt x="7873746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3691" y="1655064"/>
              <a:ext cx="7988934" cy="2760345"/>
            </a:xfrm>
            <a:custGeom>
              <a:avLst/>
              <a:gdLst/>
              <a:ahLst/>
              <a:cxnLst/>
              <a:rect l="l" t="t" r="r" b="b"/>
              <a:pathLst>
                <a:path w="7988934" h="2760345">
                  <a:moveTo>
                    <a:pt x="0" y="115062"/>
                  </a:moveTo>
                  <a:lnTo>
                    <a:pt x="9037" y="70240"/>
                  </a:lnTo>
                  <a:lnTo>
                    <a:pt x="33683" y="33670"/>
                  </a:lnTo>
                  <a:lnTo>
                    <a:pt x="70240" y="9030"/>
                  </a:lnTo>
                  <a:lnTo>
                    <a:pt x="115011" y="0"/>
                  </a:lnTo>
                  <a:lnTo>
                    <a:pt x="7873746" y="0"/>
                  </a:lnTo>
                  <a:lnTo>
                    <a:pt x="7918567" y="9030"/>
                  </a:lnTo>
                  <a:lnTo>
                    <a:pt x="7955137" y="33670"/>
                  </a:lnTo>
                  <a:lnTo>
                    <a:pt x="7979777" y="70240"/>
                  </a:lnTo>
                  <a:lnTo>
                    <a:pt x="7988808" y="115062"/>
                  </a:lnTo>
                  <a:lnTo>
                    <a:pt x="7988808" y="2644902"/>
                  </a:lnTo>
                  <a:lnTo>
                    <a:pt x="7979777" y="2689723"/>
                  </a:lnTo>
                  <a:lnTo>
                    <a:pt x="7955137" y="2726293"/>
                  </a:lnTo>
                  <a:lnTo>
                    <a:pt x="7918567" y="2750933"/>
                  </a:lnTo>
                  <a:lnTo>
                    <a:pt x="7873746" y="2759964"/>
                  </a:lnTo>
                  <a:lnTo>
                    <a:pt x="115011" y="2759964"/>
                  </a:lnTo>
                  <a:lnTo>
                    <a:pt x="70240" y="2750933"/>
                  </a:lnTo>
                  <a:lnTo>
                    <a:pt x="33683" y="2726293"/>
                  </a:lnTo>
                  <a:lnTo>
                    <a:pt x="9037" y="2689723"/>
                  </a:lnTo>
                  <a:lnTo>
                    <a:pt x="0" y="2644902"/>
                  </a:lnTo>
                  <a:lnTo>
                    <a:pt x="0" y="11506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9723" y="2511552"/>
              <a:ext cx="7487920" cy="1655445"/>
            </a:xfrm>
            <a:custGeom>
              <a:avLst/>
              <a:gdLst/>
              <a:ahLst/>
              <a:cxnLst/>
              <a:rect l="l" t="t" r="r" b="b"/>
              <a:pathLst>
                <a:path w="7487920" h="1655445">
                  <a:moveTo>
                    <a:pt x="7418451" y="0"/>
                  </a:moveTo>
                  <a:lnTo>
                    <a:pt x="68973" y="0"/>
                  </a:lnTo>
                  <a:lnTo>
                    <a:pt x="42123" y="5417"/>
                  </a:lnTo>
                  <a:lnTo>
                    <a:pt x="20199" y="20193"/>
                  </a:lnTo>
                  <a:lnTo>
                    <a:pt x="5419" y="42112"/>
                  </a:lnTo>
                  <a:lnTo>
                    <a:pt x="0" y="68961"/>
                  </a:lnTo>
                  <a:lnTo>
                    <a:pt x="0" y="1586103"/>
                  </a:lnTo>
                  <a:lnTo>
                    <a:pt x="5419" y="1612951"/>
                  </a:lnTo>
                  <a:lnTo>
                    <a:pt x="20199" y="1634871"/>
                  </a:lnTo>
                  <a:lnTo>
                    <a:pt x="42123" y="1649646"/>
                  </a:lnTo>
                  <a:lnTo>
                    <a:pt x="68973" y="1655064"/>
                  </a:lnTo>
                  <a:lnTo>
                    <a:pt x="7418451" y="1655064"/>
                  </a:lnTo>
                  <a:lnTo>
                    <a:pt x="7445299" y="1649646"/>
                  </a:lnTo>
                  <a:lnTo>
                    <a:pt x="7467218" y="1634871"/>
                  </a:lnTo>
                  <a:lnTo>
                    <a:pt x="7481994" y="1612951"/>
                  </a:lnTo>
                  <a:lnTo>
                    <a:pt x="7487411" y="1586103"/>
                  </a:lnTo>
                  <a:lnTo>
                    <a:pt x="7487411" y="68961"/>
                  </a:lnTo>
                  <a:lnTo>
                    <a:pt x="7481994" y="42112"/>
                  </a:lnTo>
                  <a:lnTo>
                    <a:pt x="7467219" y="20192"/>
                  </a:lnTo>
                  <a:lnTo>
                    <a:pt x="7445299" y="5417"/>
                  </a:lnTo>
                  <a:lnTo>
                    <a:pt x="7418451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9723" y="2511552"/>
              <a:ext cx="7487920" cy="1655445"/>
            </a:xfrm>
            <a:custGeom>
              <a:avLst/>
              <a:gdLst/>
              <a:ahLst/>
              <a:cxnLst/>
              <a:rect l="l" t="t" r="r" b="b"/>
              <a:pathLst>
                <a:path w="7487920" h="1655445">
                  <a:moveTo>
                    <a:pt x="0" y="68961"/>
                  </a:moveTo>
                  <a:lnTo>
                    <a:pt x="5419" y="42112"/>
                  </a:lnTo>
                  <a:lnTo>
                    <a:pt x="20199" y="20193"/>
                  </a:lnTo>
                  <a:lnTo>
                    <a:pt x="42123" y="5417"/>
                  </a:lnTo>
                  <a:lnTo>
                    <a:pt x="68973" y="0"/>
                  </a:lnTo>
                  <a:lnTo>
                    <a:pt x="7418451" y="0"/>
                  </a:lnTo>
                  <a:lnTo>
                    <a:pt x="7445299" y="5417"/>
                  </a:lnTo>
                  <a:lnTo>
                    <a:pt x="7467219" y="20192"/>
                  </a:lnTo>
                  <a:lnTo>
                    <a:pt x="7481994" y="42112"/>
                  </a:lnTo>
                  <a:lnTo>
                    <a:pt x="7487411" y="68961"/>
                  </a:lnTo>
                  <a:lnTo>
                    <a:pt x="7487411" y="1586103"/>
                  </a:lnTo>
                  <a:lnTo>
                    <a:pt x="7481994" y="1612951"/>
                  </a:lnTo>
                  <a:lnTo>
                    <a:pt x="7467218" y="1634871"/>
                  </a:lnTo>
                  <a:lnTo>
                    <a:pt x="7445299" y="1649646"/>
                  </a:lnTo>
                  <a:lnTo>
                    <a:pt x="7418451" y="1655064"/>
                  </a:lnTo>
                  <a:lnTo>
                    <a:pt x="68973" y="1655064"/>
                  </a:lnTo>
                  <a:lnTo>
                    <a:pt x="42123" y="1649646"/>
                  </a:lnTo>
                  <a:lnTo>
                    <a:pt x="20199" y="1634871"/>
                  </a:lnTo>
                  <a:lnTo>
                    <a:pt x="5419" y="1612951"/>
                  </a:lnTo>
                  <a:lnTo>
                    <a:pt x="0" y="1586103"/>
                  </a:lnTo>
                  <a:lnTo>
                    <a:pt x="0" y="6896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6874" y="1721358"/>
            <a:ext cx="7237095" cy="2357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connection profile can be distributed </a:t>
            </a: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users </a:t>
            </a:r>
            <a:r>
              <a:rPr sz="1800" b="1" dirty="0">
                <a:latin typeface="Verdana"/>
                <a:cs typeface="Verdana"/>
              </a:rPr>
              <a:t>in</a:t>
            </a:r>
            <a:r>
              <a:rPr sz="1800" b="1" spc="60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the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following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ways: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50">
              <a:latin typeface="Verdana"/>
              <a:cs typeface="Verdana"/>
            </a:endParaRPr>
          </a:p>
          <a:p>
            <a:pPr marL="483234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83870" algn="l"/>
              </a:tabLst>
            </a:pPr>
            <a:r>
              <a:rPr sz="1800" b="1" spc="-5" dirty="0">
                <a:latin typeface="Verdana"/>
                <a:cs typeface="Verdana"/>
              </a:rPr>
              <a:t>As part </a:t>
            </a:r>
            <a:r>
              <a:rPr sz="1800" b="1" dirty="0">
                <a:latin typeface="Verdana"/>
                <a:cs typeface="Verdana"/>
              </a:rPr>
              <a:t>of an image </a:t>
            </a:r>
            <a:r>
              <a:rPr sz="1800" b="1" spc="-5" dirty="0">
                <a:latin typeface="Verdana"/>
                <a:cs typeface="Verdana"/>
              </a:rPr>
              <a:t>for new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computers</a:t>
            </a:r>
            <a:endParaRPr sz="1800">
              <a:latin typeface="Verdana"/>
              <a:cs typeface="Verdana"/>
            </a:endParaRPr>
          </a:p>
          <a:p>
            <a:pPr marL="483234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483870" algn="l"/>
              </a:tabLst>
            </a:pPr>
            <a:r>
              <a:rPr sz="1800" b="1" dirty="0">
                <a:latin typeface="Verdana"/>
                <a:cs typeface="Verdana"/>
              </a:rPr>
              <a:t>On </a:t>
            </a:r>
            <a:r>
              <a:rPr sz="1800" b="1" spc="-5" dirty="0">
                <a:latin typeface="Verdana"/>
                <a:cs typeface="Verdana"/>
              </a:rPr>
              <a:t>removable media for the user </a:t>
            </a: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install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manually</a:t>
            </a:r>
            <a:endParaRPr sz="1800">
              <a:latin typeface="Verdana"/>
              <a:cs typeface="Verdana"/>
            </a:endParaRPr>
          </a:p>
          <a:p>
            <a:pPr marL="483234" indent="-229235">
              <a:lnSpc>
                <a:spcPts val="205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483870" algn="l"/>
              </a:tabLst>
            </a:pPr>
            <a:r>
              <a:rPr sz="1800" b="1" spc="-5" dirty="0">
                <a:latin typeface="Verdana"/>
                <a:cs typeface="Verdana"/>
              </a:rPr>
              <a:t>With software distribution tools, such</a:t>
            </a:r>
            <a:r>
              <a:rPr sz="1800" b="1" spc="5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as</a:t>
            </a:r>
            <a:endParaRPr sz="1800">
              <a:latin typeface="Verdana"/>
              <a:cs typeface="Verdana"/>
            </a:endParaRPr>
          </a:p>
          <a:p>
            <a:pPr marL="483234">
              <a:lnSpc>
                <a:spcPts val="1945"/>
              </a:lnSpc>
            </a:pPr>
            <a:r>
              <a:rPr sz="1800" b="1" spc="-5" dirty="0">
                <a:latin typeface="Verdana"/>
                <a:cs typeface="Verdana"/>
              </a:rPr>
              <a:t>Systems Management Server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or</a:t>
            </a:r>
            <a:endParaRPr sz="1800">
              <a:latin typeface="Verdana"/>
              <a:cs typeface="Verdana"/>
            </a:endParaRPr>
          </a:p>
          <a:p>
            <a:pPr marL="483234">
              <a:lnSpc>
                <a:spcPts val="2055"/>
              </a:lnSpc>
            </a:pPr>
            <a:r>
              <a:rPr sz="1800" b="1" dirty="0">
                <a:latin typeface="Verdana"/>
                <a:cs typeface="Verdana"/>
              </a:rPr>
              <a:t>System </a:t>
            </a:r>
            <a:r>
              <a:rPr sz="1800" b="1" spc="-5" dirty="0">
                <a:latin typeface="Verdana"/>
                <a:cs typeface="Verdana"/>
              </a:rPr>
              <a:t>Center Configuration </a:t>
            </a:r>
            <a:r>
              <a:rPr sz="1800" b="1" dirty="0">
                <a:latin typeface="Verdana"/>
                <a:cs typeface="Verdana"/>
              </a:rPr>
              <a:t>Manager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2007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67350"/>
            <a:ext cx="8010348" cy="38985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450"/>
              </a:lnSpc>
              <a:spcBef>
                <a:spcPts val="540"/>
              </a:spcBef>
            </a:pPr>
            <a:r>
              <a:rPr dirty="0" smtClean="0"/>
              <a:t>5</a:t>
            </a:r>
            <a:r>
              <a:rPr dirty="0"/>
              <a:t>: </a:t>
            </a:r>
            <a:r>
              <a:rPr spc="-5" dirty="0"/>
              <a:t>Troubleshooting Routing </a:t>
            </a:r>
            <a:r>
              <a:rPr dirty="0"/>
              <a:t>and </a:t>
            </a:r>
            <a:r>
              <a:rPr lang="en-US" dirty="0" smtClean="0"/>
              <a:t>R</a:t>
            </a:r>
            <a:r>
              <a:rPr spc="-5" dirty="0" smtClean="0"/>
              <a:t>emote</a:t>
            </a:r>
            <a:r>
              <a:rPr spc="20" dirty="0" smtClean="0"/>
              <a:t> </a:t>
            </a:r>
            <a:r>
              <a:rPr dirty="0"/>
              <a:t>Access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5185410" cy="2282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Authentication </a:t>
            </a:r>
            <a:r>
              <a:rPr sz="2000" dirty="0">
                <a:latin typeface="Verdana"/>
                <a:cs typeface="Verdana"/>
              </a:rPr>
              <a:t>and </a:t>
            </a:r>
            <a:r>
              <a:rPr sz="2000" spc="-5" dirty="0">
                <a:latin typeface="Verdana"/>
                <a:cs typeface="Verdana"/>
              </a:rPr>
              <a:t>Accounting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Logging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Remote </a:t>
            </a:r>
            <a:r>
              <a:rPr sz="2000" dirty="0">
                <a:latin typeface="Verdana"/>
                <a:cs typeface="Verdana"/>
              </a:rPr>
              <a:t>Access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Logging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Remote </a:t>
            </a:r>
            <a:r>
              <a:rPr sz="2000" dirty="0">
                <a:latin typeface="Verdana"/>
                <a:cs typeface="Verdana"/>
              </a:rPr>
              <a:t>Access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Tracing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Resolving General </a:t>
            </a:r>
            <a:r>
              <a:rPr sz="2000" dirty="0">
                <a:latin typeface="Verdana"/>
                <a:cs typeface="Verdana"/>
              </a:rPr>
              <a:t>VPN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Problems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Troubleshooting Other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Issues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025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Authentication </a:t>
            </a:r>
            <a:r>
              <a:rPr dirty="0"/>
              <a:t>and </a:t>
            </a:r>
            <a:r>
              <a:rPr spc="-5" dirty="0"/>
              <a:t>Accounting</a:t>
            </a:r>
            <a:r>
              <a:rPr spc="85" dirty="0"/>
              <a:t> </a:t>
            </a:r>
            <a:r>
              <a:rPr spc="-5" dirty="0"/>
              <a:t>Logging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2900" y="1429511"/>
            <a:ext cx="8493760" cy="2863850"/>
            <a:chOff x="342900" y="1429511"/>
            <a:chExt cx="8493760" cy="2863850"/>
          </a:xfrm>
        </p:grpSpPr>
        <p:sp>
          <p:nvSpPr>
            <p:cNvPr id="4" name="object 4"/>
            <p:cNvSpPr/>
            <p:nvPr/>
          </p:nvSpPr>
          <p:spPr>
            <a:xfrm>
              <a:off x="347472" y="1434083"/>
              <a:ext cx="8484235" cy="2854960"/>
            </a:xfrm>
            <a:custGeom>
              <a:avLst/>
              <a:gdLst/>
              <a:ahLst/>
              <a:cxnLst/>
              <a:rect l="l" t="t" r="r" b="b"/>
              <a:pathLst>
                <a:path w="8484235" h="2854960">
                  <a:moveTo>
                    <a:pt x="8365108" y="0"/>
                  </a:moveTo>
                  <a:lnTo>
                    <a:pt x="118948" y="0"/>
                  </a:lnTo>
                  <a:lnTo>
                    <a:pt x="72646" y="9342"/>
                  </a:lnTo>
                  <a:lnTo>
                    <a:pt x="34837" y="34829"/>
                  </a:lnTo>
                  <a:lnTo>
                    <a:pt x="9347" y="72651"/>
                  </a:lnTo>
                  <a:lnTo>
                    <a:pt x="0" y="118999"/>
                  </a:lnTo>
                  <a:lnTo>
                    <a:pt x="0" y="2735453"/>
                  </a:lnTo>
                  <a:lnTo>
                    <a:pt x="9347" y="2781800"/>
                  </a:lnTo>
                  <a:lnTo>
                    <a:pt x="34837" y="2819622"/>
                  </a:lnTo>
                  <a:lnTo>
                    <a:pt x="72646" y="2845109"/>
                  </a:lnTo>
                  <a:lnTo>
                    <a:pt x="118948" y="2854452"/>
                  </a:lnTo>
                  <a:lnTo>
                    <a:pt x="8365108" y="2854452"/>
                  </a:lnTo>
                  <a:lnTo>
                    <a:pt x="8411456" y="2845109"/>
                  </a:lnTo>
                  <a:lnTo>
                    <a:pt x="8449278" y="2819622"/>
                  </a:lnTo>
                  <a:lnTo>
                    <a:pt x="8474765" y="2781800"/>
                  </a:lnTo>
                  <a:lnTo>
                    <a:pt x="8484108" y="2735453"/>
                  </a:lnTo>
                  <a:lnTo>
                    <a:pt x="8484108" y="118999"/>
                  </a:lnTo>
                  <a:lnTo>
                    <a:pt x="8474765" y="72651"/>
                  </a:lnTo>
                  <a:lnTo>
                    <a:pt x="8449278" y="34829"/>
                  </a:lnTo>
                  <a:lnTo>
                    <a:pt x="8411456" y="9342"/>
                  </a:lnTo>
                  <a:lnTo>
                    <a:pt x="8365108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7472" y="1434083"/>
              <a:ext cx="8484235" cy="2854960"/>
            </a:xfrm>
            <a:custGeom>
              <a:avLst/>
              <a:gdLst/>
              <a:ahLst/>
              <a:cxnLst/>
              <a:rect l="l" t="t" r="r" b="b"/>
              <a:pathLst>
                <a:path w="8484235" h="2854960">
                  <a:moveTo>
                    <a:pt x="0" y="118999"/>
                  </a:moveTo>
                  <a:lnTo>
                    <a:pt x="9347" y="72651"/>
                  </a:lnTo>
                  <a:lnTo>
                    <a:pt x="34837" y="34829"/>
                  </a:lnTo>
                  <a:lnTo>
                    <a:pt x="72646" y="9342"/>
                  </a:lnTo>
                  <a:lnTo>
                    <a:pt x="118948" y="0"/>
                  </a:lnTo>
                  <a:lnTo>
                    <a:pt x="8365108" y="0"/>
                  </a:lnTo>
                  <a:lnTo>
                    <a:pt x="8411456" y="9342"/>
                  </a:lnTo>
                  <a:lnTo>
                    <a:pt x="8449278" y="34829"/>
                  </a:lnTo>
                  <a:lnTo>
                    <a:pt x="8474765" y="72651"/>
                  </a:lnTo>
                  <a:lnTo>
                    <a:pt x="8484108" y="118999"/>
                  </a:lnTo>
                  <a:lnTo>
                    <a:pt x="8484108" y="2735453"/>
                  </a:lnTo>
                  <a:lnTo>
                    <a:pt x="8474765" y="2781800"/>
                  </a:lnTo>
                  <a:lnTo>
                    <a:pt x="8449278" y="2819622"/>
                  </a:lnTo>
                  <a:lnTo>
                    <a:pt x="8411456" y="2845109"/>
                  </a:lnTo>
                  <a:lnTo>
                    <a:pt x="8365108" y="2854452"/>
                  </a:lnTo>
                  <a:lnTo>
                    <a:pt x="118948" y="2854452"/>
                  </a:lnTo>
                  <a:lnTo>
                    <a:pt x="72646" y="2845109"/>
                  </a:lnTo>
                  <a:lnTo>
                    <a:pt x="34837" y="2819622"/>
                  </a:lnTo>
                  <a:lnTo>
                    <a:pt x="9347" y="2781800"/>
                  </a:lnTo>
                  <a:lnTo>
                    <a:pt x="0" y="2735453"/>
                  </a:lnTo>
                  <a:lnTo>
                    <a:pt x="0" y="11899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8743" y="1965959"/>
              <a:ext cx="7950834" cy="2028825"/>
            </a:xfrm>
            <a:custGeom>
              <a:avLst/>
              <a:gdLst/>
              <a:ahLst/>
              <a:cxnLst/>
              <a:rect l="l" t="t" r="r" b="b"/>
              <a:pathLst>
                <a:path w="7950834" h="2028825">
                  <a:moveTo>
                    <a:pt x="7866126" y="0"/>
                  </a:moveTo>
                  <a:lnTo>
                    <a:pt x="84518" y="0"/>
                  </a:lnTo>
                  <a:lnTo>
                    <a:pt x="51622" y="6643"/>
                  </a:lnTo>
                  <a:lnTo>
                    <a:pt x="24757" y="24764"/>
                  </a:lnTo>
                  <a:lnTo>
                    <a:pt x="6642" y="51649"/>
                  </a:lnTo>
                  <a:lnTo>
                    <a:pt x="0" y="84581"/>
                  </a:lnTo>
                  <a:lnTo>
                    <a:pt x="0" y="1943862"/>
                  </a:lnTo>
                  <a:lnTo>
                    <a:pt x="6642" y="1976794"/>
                  </a:lnTo>
                  <a:lnTo>
                    <a:pt x="24757" y="2003679"/>
                  </a:lnTo>
                  <a:lnTo>
                    <a:pt x="51622" y="2021800"/>
                  </a:lnTo>
                  <a:lnTo>
                    <a:pt x="84518" y="2028444"/>
                  </a:lnTo>
                  <a:lnTo>
                    <a:pt x="7866126" y="2028444"/>
                  </a:lnTo>
                  <a:lnTo>
                    <a:pt x="7899058" y="2021800"/>
                  </a:lnTo>
                  <a:lnTo>
                    <a:pt x="7925942" y="2003678"/>
                  </a:lnTo>
                  <a:lnTo>
                    <a:pt x="7944064" y="1976794"/>
                  </a:lnTo>
                  <a:lnTo>
                    <a:pt x="7950708" y="1943862"/>
                  </a:lnTo>
                  <a:lnTo>
                    <a:pt x="7950708" y="84581"/>
                  </a:lnTo>
                  <a:lnTo>
                    <a:pt x="7944064" y="51649"/>
                  </a:lnTo>
                  <a:lnTo>
                    <a:pt x="7925942" y="24764"/>
                  </a:lnTo>
                  <a:lnTo>
                    <a:pt x="7899058" y="6643"/>
                  </a:lnTo>
                  <a:lnTo>
                    <a:pt x="786612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8743" y="1965959"/>
              <a:ext cx="7950834" cy="2028825"/>
            </a:xfrm>
            <a:custGeom>
              <a:avLst/>
              <a:gdLst/>
              <a:ahLst/>
              <a:cxnLst/>
              <a:rect l="l" t="t" r="r" b="b"/>
              <a:pathLst>
                <a:path w="7950834" h="2028825">
                  <a:moveTo>
                    <a:pt x="0" y="84581"/>
                  </a:moveTo>
                  <a:lnTo>
                    <a:pt x="6642" y="51649"/>
                  </a:lnTo>
                  <a:lnTo>
                    <a:pt x="24757" y="24764"/>
                  </a:lnTo>
                  <a:lnTo>
                    <a:pt x="51622" y="6643"/>
                  </a:lnTo>
                  <a:lnTo>
                    <a:pt x="84518" y="0"/>
                  </a:lnTo>
                  <a:lnTo>
                    <a:pt x="7866126" y="0"/>
                  </a:lnTo>
                  <a:lnTo>
                    <a:pt x="7899058" y="6643"/>
                  </a:lnTo>
                  <a:lnTo>
                    <a:pt x="7925942" y="24764"/>
                  </a:lnTo>
                  <a:lnTo>
                    <a:pt x="7944064" y="51649"/>
                  </a:lnTo>
                  <a:lnTo>
                    <a:pt x="7950708" y="84581"/>
                  </a:lnTo>
                  <a:lnTo>
                    <a:pt x="7950708" y="1943862"/>
                  </a:lnTo>
                  <a:lnTo>
                    <a:pt x="7944064" y="1976794"/>
                  </a:lnTo>
                  <a:lnTo>
                    <a:pt x="7925942" y="2003678"/>
                  </a:lnTo>
                  <a:lnTo>
                    <a:pt x="7899058" y="2021800"/>
                  </a:lnTo>
                  <a:lnTo>
                    <a:pt x="7866126" y="2028444"/>
                  </a:lnTo>
                  <a:lnTo>
                    <a:pt x="84518" y="2028444"/>
                  </a:lnTo>
                  <a:lnTo>
                    <a:pt x="51622" y="2021800"/>
                  </a:lnTo>
                  <a:lnTo>
                    <a:pt x="24757" y="2003679"/>
                  </a:lnTo>
                  <a:lnTo>
                    <a:pt x="6642" y="1976794"/>
                  </a:lnTo>
                  <a:lnTo>
                    <a:pt x="0" y="1943862"/>
                  </a:lnTo>
                  <a:lnTo>
                    <a:pt x="0" y="8458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61263" y="1500378"/>
            <a:ext cx="7651115" cy="2341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There are </a:t>
            </a:r>
            <a:r>
              <a:rPr sz="1800" b="1" spc="-5" dirty="0">
                <a:latin typeface="Verdana"/>
                <a:cs typeface="Verdana"/>
              </a:rPr>
              <a:t>three </a:t>
            </a:r>
            <a:r>
              <a:rPr sz="1800" b="1" dirty="0">
                <a:latin typeface="Verdana"/>
                <a:cs typeface="Verdana"/>
              </a:rPr>
              <a:t>types of logging </a:t>
            </a:r>
            <a:r>
              <a:rPr sz="1800" b="1" spc="-5" dirty="0">
                <a:latin typeface="Verdana"/>
                <a:cs typeface="Verdana"/>
              </a:rPr>
              <a:t>for </a:t>
            </a:r>
            <a:r>
              <a:rPr sz="1800" b="1" dirty="0">
                <a:latin typeface="Verdana"/>
                <a:cs typeface="Verdana"/>
              </a:rPr>
              <a:t>Network </a:t>
            </a:r>
            <a:r>
              <a:rPr sz="1800" b="1" spc="-5" dirty="0">
                <a:latin typeface="Verdana"/>
                <a:cs typeface="Verdana"/>
              </a:rPr>
              <a:t>Policy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Server: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Verdana"/>
              <a:cs typeface="Verdana"/>
            </a:endParaRPr>
          </a:p>
          <a:p>
            <a:pPr marL="502284" marR="1119505" indent="-228600">
              <a:lnSpc>
                <a:spcPts val="1939"/>
              </a:lnSpc>
              <a:buClr>
                <a:srgbClr val="006699"/>
              </a:buClr>
              <a:buFont typeface="Verdana"/>
              <a:buChar char="•"/>
              <a:tabLst>
                <a:tab pos="502920" algn="l"/>
              </a:tabLst>
            </a:pPr>
            <a:r>
              <a:rPr sz="1800" b="1" spc="-5" dirty="0">
                <a:latin typeface="Verdana"/>
                <a:cs typeface="Verdana"/>
              </a:rPr>
              <a:t>Event </a:t>
            </a:r>
            <a:r>
              <a:rPr sz="1800" b="1" dirty="0">
                <a:latin typeface="Verdana"/>
                <a:cs typeface="Verdana"/>
              </a:rPr>
              <a:t>logging </a:t>
            </a:r>
            <a:r>
              <a:rPr sz="1800" b="1" spc="-5" dirty="0">
                <a:latin typeface="Verdana"/>
                <a:cs typeface="Verdana"/>
              </a:rPr>
              <a:t>for auditing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troubleshooting  connection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attempts</a:t>
            </a:r>
            <a:endParaRPr sz="1800">
              <a:latin typeface="Verdana"/>
              <a:cs typeface="Verdana"/>
            </a:endParaRPr>
          </a:p>
          <a:p>
            <a:pPr marL="502284" marR="353060" indent="-228600">
              <a:lnSpc>
                <a:spcPts val="1939"/>
              </a:lnSpc>
              <a:spcBef>
                <a:spcPts val="875"/>
              </a:spcBef>
              <a:buClr>
                <a:srgbClr val="006699"/>
              </a:buClr>
              <a:buFont typeface="Verdana"/>
              <a:buChar char="•"/>
              <a:tabLst>
                <a:tab pos="502920" algn="l"/>
              </a:tabLst>
            </a:pPr>
            <a:r>
              <a:rPr sz="1800" b="1" spc="-5" dirty="0">
                <a:latin typeface="Verdana"/>
                <a:cs typeface="Verdana"/>
              </a:rPr>
              <a:t>Logging authentication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accounting requests </a:t>
            </a:r>
            <a:r>
              <a:rPr sz="1800" b="1" dirty="0">
                <a:latin typeface="Verdana"/>
                <a:cs typeface="Verdana"/>
              </a:rPr>
              <a:t>to a  </a:t>
            </a:r>
            <a:r>
              <a:rPr sz="1800" b="1" spc="-5" dirty="0">
                <a:latin typeface="Verdana"/>
                <a:cs typeface="Verdana"/>
              </a:rPr>
              <a:t>local file</a:t>
            </a:r>
            <a:endParaRPr sz="1800">
              <a:latin typeface="Verdana"/>
              <a:cs typeface="Verdana"/>
            </a:endParaRPr>
          </a:p>
          <a:p>
            <a:pPr marL="502284" marR="353060" indent="-228600">
              <a:lnSpc>
                <a:spcPts val="1939"/>
              </a:lnSpc>
              <a:spcBef>
                <a:spcPts val="875"/>
              </a:spcBef>
              <a:buClr>
                <a:srgbClr val="006699"/>
              </a:buClr>
              <a:buFont typeface="Verdana"/>
              <a:buChar char="•"/>
              <a:tabLst>
                <a:tab pos="502920" algn="l"/>
              </a:tabLst>
            </a:pPr>
            <a:r>
              <a:rPr sz="1800" b="1" spc="-5" dirty="0">
                <a:latin typeface="Verdana"/>
                <a:cs typeface="Verdana"/>
              </a:rPr>
              <a:t>Logging authentication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accounting requests </a:t>
            </a:r>
            <a:r>
              <a:rPr sz="1800" b="1" dirty="0">
                <a:latin typeface="Verdana"/>
                <a:cs typeface="Verdana"/>
              </a:rPr>
              <a:t>to a  SQL </a:t>
            </a:r>
            <a:r>
              <a:rPr sz="1800" b="1" spc="-5" dirty="0">
                <a:latin typeface="Verdana"/>
                <a:cs typeface="Verdana"/>
              </a:rPr>
              <a:t>server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database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518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Configuring Remote Access</a:t>
            </a:r>
            <a:r>
              <a:rPr spc="5" dirty="0"/>
              <a:t> </a:t>
            </a:r>
            <a:r>
              <a:rPr dirty="0"/>
              <a:t>Logging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2900" y="1429511"/>
            <a:ext cx="8493760" cy="2863850"/>
            <a:chOff x="342900" y="1429511"/>
            <a:chExt cx="8493760" cy="2863850"/>
          </a:xfrm>
        </p:grpSpPr>
        <p:sp>
          <p:nvSpPr>
            <p:cNvPr id="4" name="object 4"/>
            <p:cNvSpPr/>
            <p:nvPr/>
          </p:nvSpPr>
          <p:spPr>
            <a:xfrm>
              <a:off x="347472" y="1434083"/>
              <a:ext cx="8484235" cy="2854960"/>
            </a:xfrm>
            <a:custGeom>
              <a:avLst/>
              <a:gdLst/>
              <a:ahLst/>
              <a:cxnLst/>
              <a:rect l="l" t="t" r="r" b="b"/>
              <a:pathLst>
                <a:path w="8484235" h="2854960">
                  <a:moveTo>
                    <a:pt x="8365108" y="0"/>
                  </a:moveTo>
                  <a:lnTo>
                    <a:pt x="118948" y="0"/>
                  </a:lnTo>
                  <a:lnTo>
                    <a:pt x="72646" y="9342"/>
                  </a:lnTo>
                  <a:lnTo>
                    <a:pt x="34837" y="34829"/>
                  </a:lnTo>
                  <a:lnTo>
                    <a:pt x="9347" y="72651"/>
                  </a:lnTo>
                  <a:lnTo>
                    <a:pt x="0" y="118999"/>
                  </a:lnTo>
                  <a:lnTo>
                    <a:pt x="0" y="2735453"/>
                  </a:lnTo>
                  <a:lnTo>
                    <a:pt x="9347" y="2781800"/>
                  </a:lnTo>
                  <a:lnTo>
                    <a:pt x="34837" y="2819622"/>
                  </a:lnTo>
                  <a:lnTo>
                    <a:pt x="72646" y="2845109"/>
                  </a:lnTo>
                  <a:lnTo>
                    <a:pt x="118948" y="2854452"/>
                  </a:lnTo>
                  <a:lnTo>
                    <a:pt x="8365108" y="2854452"/>
                  </a:lnTo>
                  <a:lnTo>
                    <a:pt x="8411456" y="2845109"/>
                  </a:lnTo>
                  <a:lnTo>
                    <a:pt x="8449278" y="2819622"/>
                  </a:lnTo>
                  <a:lnTo>
                    <a:pt x="8474765" y="2781800"/>
                  </a:lnTo>
                  <a:lnTo>
                    <a:pt x="8484108" y="2735453"/>
                  </a:lnTo>
                  <a:lnTo>
                    <a:pt x="8484108" y="118999"/>
                  </a:lnTo>
                  <a:lnTo>
                    <a:pt x="8474765" y="72651"/>
                  </a:lnTo>
                  <a:lnTo>
                    <a:pt x="8449278" y="34829"/>
                  </a:lnTo>
                  <a:lnTo>
                    <a:pt x="8411456" y="9342"/>
                  </a:lnTo>
                  <a:lnTo>
                    <a:pt x="8365108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7472" y="1434083"/>
              <a:ext cx="8484235" cy="2854960"/>
            </a:xfrm>
            <a:custGeom>
              <a:avLst/>
              <a:gdLst/>
              <a:ahLst/>
              <a:cxnLst/>
              <a:rect l="l" t="t" r="r" b="b"/>
              <a:pathLst>
                <a:path w="8484235" h="2854960">
                  <a:moveTo>
                    <a:pt x="0" y="118999"/>
                  </a:moveTo>
                  <a:lnTo>
                    <a:pt x="9347" y="72651"/>
                  </a:lnTo>
                  <a:lnTo>
                    <a:pt x="34837" y="34829"/>
                  </a:lnTo>
                  <a:lnTo>
                    <a:pt x="72646" y="9342"/>
                  </a:lnTo>
                  <a:lnTo>
                    <a:pt x="118948" y="0"/>
                  </a:lnTo>
                  <a:lnTo>
                    <a:pt x="8365108" y="0"/>
                  </a:lnTo>
                  <a:lnTo>
                    <a:pt x="8411456" y="9342"/>
                  </a:lnTo>
                  <a:lnTo>
                    <a:pt x="8449278" y="34829"/>
                  </a:lnTo>
                  <a:lnTo>
                    <a:pt x="8474765" y="72651"/>
                  </a:lnTo>
                  <a:lnTo>
                    <a:pt x="8484108" y="118999"/>
                  </a:lnTo>
                  <a:lnTo>
                    <a:pt x="8484108" y="2735453"/>
                  </a:lnTo>
                  <a:lnTo>
                    <a:pt x="8474765" y="2781800"/>
                  </a:lnTo>
                  <a:lnTo>
                    <a:pt x="8449278" y="2819622"/>
                  </a:lnTo>
                  <a:lnTo>
                    <a:pt x="8411456" y="2845109"/>
                  </a:lnTo>
                  <a:lnTo>
                    <a:pt x="8365108" y="2854452"/>
                  </a:lnTo>
                  <a:lnTo>
                    <a:pt x="118948" y="2854452"/>
                  </a:lnTo>
                  <a:lnTo>
                    <a:pt x="72646" y="2845109"/>
                  </a:lnTo>
                  <a:lnTo>
                    <a:pt x="34837" y="2819622"/>
                  </a:lnTo>
                  <a:lnTo>
                    <a:pt x="9347" y="2781800"/>
                  </a:lnTo>
                  <a:lnTo>
                    <a:pt x="0" y="2735453"/>
                  </a:lnTo>
                  <a:lnTo>
                    <a:pt x="0" y="11899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8743" y="1965959"/>
              <a:ext cx="7950834" cy="2028825"/>
            </a:xfrm>
            <a:custGeom>
              <a:avLst/>
              <a:gdLst/>
              <a:ahLst/>
              <a:cxnLst/>
              <a:rect l="l" t="t" r="r" b="b"/>
              <a:pathLst>
                <a:path w="7950834" h="2028825">
                  <a:moveTo>
                    <a:pt x="7866126" y="0"/>
                  </a:moveTo>
                  <a:lnTo>
                    <a:pt x="84518" y="0"/>
                  </a:lnTo>
                  <a:lnTo>
                    <a:pt x="51622" y="6643"/>
                  </a:lnTo>
                  <a:lnTo>
                    <a:pt x="24757" y="24764"/>
                  </a:lnTo>
                  <a:lnTo>
                    <a:pt x="6642" y="51649"/>
                  </a:lnTo>
                  <a:lnTo>
                    <a:pt x="0" y="84581"/>
                  </a:lnTo>
                  <a:lnTo>
                    <a:pt x="0" y="1943862"/>
                  </a:lnTo>
                  <a:lnTo>
                    <a:pt x="6642" y="1976794"/>
                  </a:lnTo>
                  <a:lnTo>
                    <a:pt x="24757" y="2003679"/>
                  </a:lnTo>
                  <a:lnTo>
                    <a:pt x="51622" y="2021800"/>
                  </a:lnTo>
                  <a:lnTo>
                    <a:pt x="84518" y="2028444"/>
                  </a:lnTo>
                  <a:lnTo>
                    <a:pt x="7866126" y="2028444"/>
                  </a:lnTo>
                  <a:lnTo>
                    <a:pt x="7899058" y="2021800"/>
                  </a:lnTo>
                  <a:lnTo>
                    <a:pt x="7925942" y="2003678"/>
                  </a:lnTo>
                  <a:lnTo>
                    <a:pt x="7944064" y="1976794"/>
                  </a:lnTo>
                  <a:lnTo>
                    <a:pt x="7950708" y="1943862"/>
                  </a:lnTo>
                  <a:lnTo>
                    <a:pt x="7950708" y="84581"/>
                  </a:lnTo>
                  <a:lnTo>
                    <a:pt x="7944064" y="51649"/>
                  </a:lnTo>
                  <a:lnTo>
                    <a:pt x="7925942" y="24764"/>
                  </a:lnTo>
                  <a:lnTo>
                    <a:pt x="7899058" y="6643"/>
                  </a:lnTo>
                  <a:lnTo>
                    <a:pt x="786612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8743" y="1965959"/>
              <a:ext cx="7950834" cy="2028825"/>
            </a:xfrm>
            <a:custGeom>
              <a:avLst/>
              <a:gdLst/>
              <a:ahLst/>
              <a:cxnLst/>
              <a:rect l="l" t="t" r="r" b="b"/>
              <a:pathLst>
                <a:path w="7950834" h="2028825">
                  <a:moveTo>
                    <a:pt x="0" y="84581"/>
                  </a:moveTo>
                  <a:lnTo>
                    <a:pt x="6642" y="51649"/>
                  </a:lnTo>
                  <a:lnTo>
                    <a:pt x="24757" y="24764"/>
                  </a:lnTo>
                  <a:lnTo>
                    <a:pt x="51622" y="6643"/>
                  </a:lnTo>
                  <a:lnTo>
                    <a:pt x="84518" y="0"/>
                  </a:lnTo>
                  <a:lnTo>
                    <a:pt x="7866126" y="0"/>
                  </a:lnTo>
                  <a:lnTo>
                    <a:pt x="7899058" y="6643"/>
                  </a:lnTo>
                  <a:lnTo>
                    <a:pt x="7925942" y="24764"/>
                  </a:lnTo>
                  <a:lnTo>
                    <a:pt x="7944064" y="51649"/>
                  </a:lnTo>
                  <a:lnTo>
                    <a:pt x="7950708" y="84581"/>
                  </a:lnTo>
                  <a:lnTo>
                    <a:pt x="7950708" y="1943862"/>
                  </a:lnTo>
                  <a:lnTo>
                    <a:pt x="7944064" y="1976794"/>
                  </a:lnTo>
                  <a:lnTo>
                    <a:pt x="7925942" y="2003678"/>
                  </a:lnTo>
                  <a:lnTo>
                    <a:pt x="7899058" y="2021800"/>
                  </a:lnTo>
                  <a:lnTo>
                    <a:pt x="7866126" y="2028444"/>
                  </a:lnTo>
                  <a:lnTo>
                    <a:pt x="84518" y="2028444"/>
                  </a:lnTo>
                  <a:lnTo>
                    <a:pt x="51622" y="2021800"/>
                  </a:lnTo>
                  <a:lnTo>
                    <a:pt x="24757" y="2003679"/>
                  </a:lnTo>
                  <a:lnTo>
                    <a:pt x="6642" y="1976794"/>
                  </a:lnTo>
                  <a:lnTo>
                    <a:pt x="0" y="1943862"/>
                  </a:lnTo>
                  <a:lnTo>
                    <a:pt x="0" y="8458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61263" y="1500378"/>
            <a:ext cx="7417434" cy="2328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You </a:t>
            </a:r>
            <a:r>
              <a:rPr sz="1800" b="1" spc="-5" dirty="0">
                <a:latin typeface="Verdana"/>
                <a:cs typeface="Verdana"/>
              </a:rPr>
              <a:t>can configure remote access logging</a:t>
            </a:r>
            <a:r>
              <a:rPr sz="1800" b="1" spc="4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to: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Verdana"/>
              <a:cs typeface="Verdana"/>
            </a:endParaRPr>
          </a:p>
          <a:p>
            <a:pPr marL="502284" indent="-229235"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502920" algn="l"/>
              </a:tabLst>
            </a:pPr>
            <a:r>
              <a:rPr sz="1800" b="1" spc="-5" dirty="0">
                <a:latin typeface="Verdana"/>
                <a:cs typeface="Verdana"/>
              </a:rPr>
              <a:t>Log errors</a:t>
            </a:r>
            <a:r>
              <a:rPr sz="1800" b="1" dirty="0">
                <a:latin typeface="Verdana"/>
                <a:cs typeface="Verdana"/>
              </a:rPr>
              <a:t> only</a:t>
            </a:r>
            <a:endParaRPr sz="1800">
              <a:latin typeface="Verdana"/>
              <a:cs typeface="Verdana"/>
            </a:endParaRPr>
          </a:p>
          <a:p>
            <a:pPr marL="502284" indent="-229235">
              <a:lnSpc>
                <a:spcPct val="100000"/>
              </a:lnSpc>
              <a:spcBef>
                <a:spcPts val="645"/>
              </a:spcBef>
              <a:buClr>
                <a:srgbClr val="006699"/>
              </a:buClr>
              <a:buFont typeface="Verdana"/>
              <a:buChar char="•"/>
              <a:tabLst>
                <a:tab pos="502920" algn="l"/>
              </a:tabLst>
            </a:pPr>
            <a:r>
              <a:rPr sz="1800" b="1" spc="-5" dirty="0">
                <a:latin typeface="Verdana"/>
                <a:cs typeface="Verdana"/>
              </a:rPr>
              <a:t>Log errors and</a:t>
            </a:r>
            <a:r>
              <a:rPr sz="1800" b="1" dirty="0">
                <a:latin typeface="Verdana"/>
                <a:cs typeface="Verdana"/>
              </a:rPr>
              <a:t> warnings</a:t>
            </a:r>
            <a:endParaRPr sz="1800">
              <a:latin typeface="Verdana"/>
              <a:cs typeface="Verdana"/>
            </a:endParaRPr>
          </a:p>
          <a:p>
            <a:pPr marL="502284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502920" algn="l"/>
              </a:tabLst>
            </a:pPr>
            <a:r>
              <a:rPr sz="1800" b="1" spc="-5" dirty="0">
                <a:latin typeface="Verdana"/>
                <a:cs typeface="Verdana"/>
              </a:rPr>
              <a:t>Log all events</a:t>
            </a:r>
            <a:endParaRPr sz="1800">
              <a:latin typeface="Verdana"/>
              <a:cs typeface="Verdana"/>
            </a:endParaRPr>
          </a:p>
          <a:p>
            <a:pPr marL="502284" indent="-229235">
              <a:lnSpc>
                <a:spcPct val="100000"/>
              </a:lnSpc>
              <a:spcBef>
                <a:spcPts val="645"/>
              </a:spcBef>
              <a:buClr>
                <a:srgbClr val="006699"/>
              </a:buClr>
              <a:buFont typeface="Verdana"/>
              <a:buChar char="•"/>
              <a:tabLst>
                <a:tab pos="502920" algn="l"/>
              </a:tabLst>
            </a:pPr>
            <a:r>
              <a:rPr sz="1800" b="1" dirty="0">
                <a:latin typeface="Verdana"/>
                <a:cs typeface="Verdana"/>
              </a:rPr>
              <a:t>Not </a:t>
            </a:r>
            <a:r>
              <a:rPr sz="1800" b="1" spc="-5" dirty="0">
                <a:latin typeface="Verdana"/>
                <a:cs typeface="Verdana"/>
              </a:rPr>
              <a:t>log any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events</a:t>
            </a:r>
            <a:endParaRPr sz="1800">
              <a:latin typeface="Verdana"/>
              <a:cs typeface="Verdana"/>
            </a:endParaRPr>
          </a:p>
          <a:p>
            <a:pPr marL="502284" indent="-229235">
              <a:lnSpc>
                <a:spcPct val="100000"/>
              </a:lnSpc>
              <a:spcBef>
                <a:spcPts val="655"/>
              </a:spcBef>
              <a:buClr>
                <a:srgbClr val="006699"/>
              </a:buClr>
              <a:buFont typeface="Verdana"/>
              <a:buChar char="•"/>
              <a:tabLst>
                <a:tab pos="502920" algn="l"/>
              </a:tabLst>
            </a:pPr>
            <a:r>
              <a:rPr sz="1800" b="1" spc="-5" dirty="0">
                <a:latin typeface="Verdana"/>
                <a:cs typeface="Verdana"/>
              </a:rPr>
              <a:t>Log additional routing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remote access</a:t>
            </a:r>
            <a:r>
              <a:rPr sz="1800" b="1" spc="3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information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44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Configuring Remote Access</a:t>
            </a:r>
            <a:r>
              <a:rPr spc="40" dirty="0"/>
              <a:t> </a:t>
            </a:r>
            <a:r>
              <a:rPr spc="-5" dirty="0"/>
              <a:t>Tracing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2900" y="1429511"/>
            <a:ext cx="8493760" cy="2863850"/>
            <a:chOff x="342900" y="1429511"/>
            <a:chExt cx="8493760" cy="2863850"/>
          </a:xfrm>
        </p:grpSpPr>
        <p:sp>
          <p:nvSpPr>
            <p:cNvPr id="4" name="object 4"/>
            <p:cNvSpPr/>
            <p:nvPr/>
          </p:nvSpPr>
          <p:spPr>
            <a:xfrm>
              <a:off x="347472" y="1434083"/>
              <a:ext cx="8484235" cy="2854960"/>
            </a:xfrm>
            <a:custGeom>
              <a:avLst/>
              <a:gdLst/>
              <a:ahLst/>
              <a:cxnLst/>
              <a:rect l="l" t="t" r="r" b="b"/>
              <a:pathLst>
                <a:path w="8484235" h="2854960">
                  <a:moveTo>
                    <a:pt x="8365108" y="0"/>
                  </a:moveTo>
                  <a:lnTo>
                    <a:pt x="118948" y="0"/>
                  </a:lnTo>
                  <a:lnTo>
                    <a:pt x="72646" y="9342"/>
                  </a:lnTo>
                  <a:lnTo>
                    <a:pt x="34837" y="34829"/>
                  </a:lnTo>
                  <a:lnTo>
                    <a:pt x="9347" y="72651"/>
                  </a:lnTo>
                  <a:lnTo>
                    <a:pt x="0" y="118999"/>
                  </a:lnTo>
                  <a:lnTo>
                    <a:pt x="0" y="2735453"/>
                  </a:lnTo>
                  <a:lnTo>
                    <a:pt x="9347" y="2781800"/>
                  </a:lnTo>
                  <a:lnTo>
                    <a:pt x="34837" y="2819622"/>
                  </a:lnTo>
                  <a:lnTo>
                    <a:pt x="72646" y="2845109"/>
                  </a:lnTo>
                  <a:lnTo>
                    <a:pt x="118948" y="2854452"/>
                  </a:lnTo>
                  <a:lnTo>
                    <a:pt x="8365108" y="2854452"/>
                  </a:lnTo>
                  <a:lnTo>
                    <a:pt x="8411456" y="2845109"/>
                  </a:lnTo>
                  <a:lnTo>
                    <a:pt x="8449278" y="2819622"/>
                  </a:lnTo>
                  <a:lnTo>
                    <a:pt x="8474765" y="2781800"/>
                  </a:lnTo>
                  <a:lnTo>
                    <a:pt x="8484108" y="2735453"/>
                  </a:lnTo>
                  <a:lnTo>
                    <a:pt x="8484108" y="118999"/>
                  </a:lnTo>
                  <a:lnTo>
                    <a:pt x="8474765" y="72651"/>
                  </a:lnTo>
                  <a:lnTo>
                    <a:pt x="8449278" y="34829"/>
                  </a:lnTo>
                  <a:lnTo>
                    <a:pt x="8411456" y="9342"/>
                  </a:lnTo>
                  <a:lnTo>
                    <a:pt x="8365108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7472" y="1434083"/>
              <a:ext cx="8484235" cy="2854960"/>
            </a:xfrm>
            <a:custGeom>
              <a:avLst/>
              <a:gdLst/>
              <a:ahLst/>
              <a:cxnLst/>
              <a:rect l="l" t="t" r="r" b="b"/>
              <a:pathLst>
                <a:path w="8484235" h="2854960">
                  <a:moveTo>
                    <a:pt x="0" y="118999"/>
                  </a:moveTo>
                  <a:lnTo>
                    <a:pt x="9347" y="72651"/>
                  </a:lnTo>
                  <a:lnTo>
                    <a:pt x="34837" y="34829"/>
                  </a:lnTo>
                  <a:lnTo>
                    <a:pt x="72646" y="9342"/>
                  </a:lnTo>
                  <a:lnTo>
                    <a:pt x="118948" y="0"/>
                  </a:lnTo>
                  <a:lnTo>
                    <a:pt x="8365108" y="0"/>
                  </a:lnTo>
                  <a:lnTo>
                    <a:pt x="8411456" y="9342"/>
                  </a:lnTo>
                  <a:lnTo>
                    <a:pt x="8449278" y="34829"/>
                  </a:lnTo>
                  <a:lnTo>
                    <a:pt x="8474765" y="72651"/>
                  </a:lnTo>
                  <a:lnTo>
                    <a:pt x="8484108" y="118999"/>
                  </a:lnTo>
                  <a:lnTo>
                    <a:pt x="8484108" y="2735453"/>
                  </a:lnTo>
                  <a:lnTo>
                    <a:pt x="8474765" y="2781800"/>
                  </a:lnTo>
                  <a:lnTo>
                    <a:pt x="8449278" y="2819622"/>
                  </a:lnTo>
                  <a:lnTo>
                    <a:pt x="8411456" y="2845109"/>
                  </a:lnTo>
                  <a:lnTo>
                    <a:pt x="8365108" y="2854452"/>
                  </a:lnTo>
                  <a:lnTo>
                    <a:pt x="118948" y="2854452"/>
                  </a:lnTo>
                  <a:lnTo>
                    <a:pt x="72646" y="2845109"/>
                  </a:lnTo>
                  <a:lnTo>
                    <a:pt x="34837" y="2819622"/>
                  </a:lnTo>
                  <a:lnTo>
                    <a:pt x="9347" y="2781800"/>
                  </a:lnTo>
                  <a:lnTo>
                    <a:pt x="0" y="2735453"/>
                  </a:lnTo>
                  <a:lnTo>
                    <a:pt x="0" y="11899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4923" y="1965959"/>
              <a:ext cx="8118475" cy="2028825"/>
            </a:xfrm>
            <a:custGeom>
              <a:avLst/>
              <a:gdLst/>
              <a:ahLst/>
              <a:cxnLst/>
              <a:rect l="l" t="t" r="r" b="b"/>
              <a:pathLst>
                <a:path w="8118475" h="2028825">
                  <a:moveTo>
                    <a:pt x="8033766" y="0"/>
                  </a:moveTo>
                  <a:lnTo>
                    <a:pt x="84518" y="0"/>
                  </a:lnTo>
                  <a:lnTo>
                    <a:pt x="51622" y="6643"/>
                  </a:lnTo>
                  <a:lnTo>
                    <a:pt x="24757" y="24764"/>
                  </a:lnTo>
                  <a:lnTo>
                    <a:pt x="6642" y="51649"/>
                  </a:lnTo>
                  <a:lnTo>
                    <a:pt x="0" y="84581"/>
                  </a:lnTo>
                  <a:lnTo>
                    <a:pt x="0" y="1943862"/>
                  </a:lnTo>
                  <a:lnTo>
                    <a:pt x="6642" y="1976794"/>
                  </a:lnTo>
                  <a:lnTo>
                    <a:pt x="24757" y="2003679"/>
                  </a:lnTo>
                  <a:lnTo>
                    <a:pt x="51622" y="2021800"/>
                  </a:lnTo>
                  <a:lnTo>
                    <a:pt x="84518" y="2028444"/>
                  </a:lnTo>
                  <a:lnTo>
                    <a:pt x="8033766" y="2028444"/>
                  </a:lnTo>
                  <a:lnTo>
                    <a:pt x="8066698" y="2021800"/>
                  </a:lnTo>
                  <a:lnTo>
                    <a:pt x="8093583" y="2003678"/>
                  </a:lnTo>
                  <a:lnTo>
                    <a:pt x="8111704" y="1976794"/>
                  </a:lnTo>
                  <a:lnTo>
                    <a:pt x="8118348" y="1943862"/>
                  </a:lnTo>
                  <a:lnTo>
                    <a:pt x="8118348" y="84581"/>
                  </a:lnTo>
                  <a:lnTo>
                    <a:pt x="8111704" y="51649"/>
                  </a:lnTo>
                  <a:lnTo>
                    <a:pt x="8093583" y="24764"/>
                  </a:lnTo>
                  <a:lnTo>
                    <a:pt x="8066698" y="6643"/>
                  </a:lnTo>
                  <a:lnTo>
                    <a:pt x="803376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4923" y="1965959"/>
              <a:ext cx="8118475" cy="2028825"/>
            </a:xfrm>
            <a:custGeom>
              <a:avLst/>
              <a:gdLst/>
              <a:ahLst/>
              <a:cxnLst/>
              <a:rect l="l" t="t" r="r" b="b"/>
              <a:pathLst>
                <a:path w="8118475" h="2028825">
                  <a:moveTo>
                    <a:pt x="0" y="84581"/>
                  </a:moveTo>
                  <a:lnTo>
                    <a:pt x="6642" y="51649"/>
                  </a:lnTo>
                  <a:lnTo>
                    <a:pt x="24757" y="24764"/>
                  </a:lnTo>
                  <a:lnTo>
                    <a:pt x="51622" y="6643"/>
                  </a:lnTo>
                  <a:lnTo>
                    <a:pt x="84518" y="0"/>
                  </a:lnTo>
                  <a:lnTo>
                    <a:pt x="8033766" y="0"/>
                  </a:lnTo>
                  <a:lnTo>
                    <a:pt x="8066698" y="6643"/>
                  </a:lnTo>
                  <a:lnTo>
                    <a:pt x="8093583" y="24764"/>
                  </a:lnTo>
                  <a:lnTo>
                    <a:pt x="8111704" y="51649"/>
                  </a:lnTo>
                  <a:lnTo>
                    <a:pt x="8118348" y="84581"/>
                  </a:lnTo>
                  <a:lnTo>
                    <a:pt x="8118348" y="1943862"/>
                  </a:lnTo>
                  <a:lnTo>
                    <a:pt x="8111704" y="1976794"/>
                  </a:lnTo>
                  <a:lnTo>
                    <a:pt x="8093583" y="2003678"/>
                  </a:lnTo>
                  <a:lnTo>
                    <a:pt x="8066698" y="2021800"/>
                  </a:lnTo>
                  <a:lnTo>
                    <a:pt x="8033766" y="2028444"/>
                  </a:lnTo>
                  <a:lnTo>
                    <a:pt x="84518" y="2028444"/>
                  </a:lnTo>
                  <a:lnTo>
                    <a:pt x="51622" y="2021800"/>
                  </a:lnTo>
                  <a:lnTo>
                    <a:pt x="24757" y="2003679"/>
                  </a:lnTo>
                  <a:lnTo>
                    <a:pt x="6642" y="1976794"/>
                  </a:lnTo>
                  <a:lnTo>
                    <a:pt x="0" y="1943862"/>
                  </a:lnTo>
                  <a:lnTo>
                    <a:pt x="0" y="8458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61263" y="1500378"/>
            <a:ext cx="8016240" cy="227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You </a:t>
            </a:r>
            <a:r>
              <a:rPr sz="1800" b="1" spc="-5" dirty="0">
                <a:latin typeface="Verdana"/>
                <a:cs typeface="Verdana"/>
              </a:rPr>
              <a:t>can configure remote access tracing by</a:t>
            </a:r>
            <a:r>
              <a:rPr sz="1800" b="1" spc="4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using: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>
              <a:latin typeface="Verdana"/>
              <a:cs typeface="Verdana"/>
            </a:endParaRPr>
          </a:p>
          <a:p>
            <a:pPr marL="41846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19100" algn="l"/>
              </a:tabLst>
            </a:pPr>
            <a:r>
              <a:rPr sz="1800" b="1" dirty="0">
                <a:latin typeface="Verdana"/>
                <a:cs typeface="Verdana"/>
              </a:rPr>
              <a:t>The Netsh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command:</a:t>
            </a:r>
            <a:endParaRPr sz="1800">
              <a:latin typeface="Verdana"/>
              <a:cs typeface="Verdana"/>
            </a:endParaRPr>
          </a:p>
          <a:p>
            <a:pPr marL="878840" marR="1172845" lvl="1" indent="-231775">
              <a:lnSpc>
                <a:spcPts val="1939"/>
              </a:lnSpc>
              <a:spcBef>
                <a:spcPts val="894"/>
              </a:spcBef>
              <a:buClr>
                <a:srgbClr val="006699"/>
              </a:buClr>
              <a:buFont typeface="Verdana"/>
              <a:buChar char="•"/>
              <a:tabLst>
                <a:tab pos="879475" algn="l"/>
              </a:tabLst>
            </a:pPr>
            <a:r>
              <a:rPr sz="1800" b="1" dirty="0">
                <a:latin typeface="Verdana"/>
                <a:cs typeface="Verdana"/>
              </a:rPr>
              <a:t>Netsh </a:t>
            </a:r>
            <a:r>
              <a:rPr sz="1800" b="1" spc="-5" dirty="0">
                <a:latin typeface="Verdana"/>
                <a:cs typeface="Verdana"/>
              </a:rPr>
              <a:t>ras diagnostics set rastracing </a:t>
            </a:r>
            <a:r>
              <a:rPr sz="1800" b="1" dirty="0">
                <a:latin typeface="Verdana"/>
                <a:cs typeface="Verdana"/>
              </a:rPr>
              <a:t>* </a:t>
            </a:r>
            <a:r>
              <a:rPr sz="1800" b="1" spc="-5" dirty="0">
                <a:latin typeface="Verdana"/>
                <a:cs typeface="Verdana"/>
              </a:rPr>
              <a:t>enabled  </a:t>
            </a:r>
            <a:r>
              <a:rPr sz="1800" b="1" dirty="0">
                <a:latin typeface="Verdana"/>
                <a:cs typeface="Verdana"/>
              </a:rPr>
              <a:t>(enables </a:t>
            </a:r>
            <a:r>
              <a:rPr sz="1800" b="1" spc="-5" dirty="0">
                <a:latin typeface="Verdana"/>
                <a:cs typeface="Verdana"/>
              </a:rPr>
              <a:t>tracing </a:t>
            </a:r>
            <a:r>
              <a:rPr sz="1800" b="1" dirty="0">
                <a:latin typeface="Verdana"/>
                <a:cs typeface="Verdana"/>
              </a:rPr>
              <a:t>on </a:t>
            </a:r>
            <a:r>
              <a:rPr sz="1800" b="1" spc="-5" dirty="0">
                <a:latin typeface="Verdana"/>
                <a:cs typeface="Verdana"/>
              </a:rPr>
              <a:t>all components </a:t>
            </a:r>
            <a:r>
              <a:rPr sz="1800" b="1" dirty="0">
                <a:latin typeface="Verdana"/>
                <a:cs typeface="Verdana"/>
              </a:rPr>
              <a:t>in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RAS)</a:t>
            </a:r>
            <a:endParaRPr sz="1800">
              <a:latin typeface="Verdana"/>
              <a:cs typeface="Verdana"/>
            </a:endParaRPr>
          </a:p>
          <a:p>
            <a:pPr marL="418465" indent="-229235">
              <a:lnSpc>
                <a:spcPct val="100000"/>
              </a:lnSpc>
              <a:spcBef>
                <a:spcPts val="625"/>
              </a:spcBef>
              <a:buClr>
                <a:srgbClr val="006699"/>
              </a:buClr>
              <a:buFont typeface="Verdana"/>
              <a:buChar char="•"/>
              <a:tabLst>
                <a:tab pos="419100" algn="l"/>
              </a:tabLst>
            </a:pPr>
            <a:r>
              <a:rPr sz="1800" b="1" dirty="0">
                <a:latin typeface="Verdana"/>
                <a:cs typeface="Verdana"/>
              </a:rPr>
              <a:t>The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Registry:</a:t>
            </a:r>
            <a:endParaRPr sz="1800">
              <a:latin typeface="Verdana"/>
              <a:cs typeface="Verdana"/>
            </a:endParaRPr>
          </a:p>
          <a:p>
            <a:pPr marL="878840" lvl="1" indent="-232410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879475" algn="l"/>
              </a:tabLst>
            </a:pPr>
            <a:r>
              <a:rPr sz="1800" b="1" spc="-5" dirty="0">
                <a:latin typeface="Verdana"/>
                <a:cs typeface="Verdana"/>
              </a:rPr>
              <a:t>HKEY_LOCAL_MACHINE\SOFTWARE\Microsoft\Tracing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5279" y="4684776"/>
            <a:ext cx="8521065" cy="853440"/>
            <a:chOff x="335279" y="4684776"/>
            <a:chExt cx="8521065" cy="853440"/>
          </a:xfrm>
        </p:grpSpPr>
        <p:sp>
          <p:nvSpPr>
            <p:cNvPr id="10" name="object 10"/>
            <p:cNvSpPr/>
            <p:nvPr/>
          </p:nvSpPr>
          <p:spPr>
            <a:xfrm>
              <a:off x="359663" y="4709160"/>
              <a:ext cx="8496300" cy="829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8139" y="4779264"/>
              <a:ext cx="7181088" cy="75742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9851" y="4689348"/>
              <a:ext cx="8484108" cy="8168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9851" y="4689348"/>
              <a:ext cx="8484235" cy="817244"/>
            </a:xfrm>
            <a:custGeom>
              <a:avLst/>
              <a:gdLst/>
              <a:ahLst/>
              <a:cxnLst/>
              <a:rect l="l" t="t" r="r" b="b"/>
              <a:pathLst>
                <a:path w="8484235" h="817245">
                  <a:moveTo>
                    <a:pt x="0" y="136144"/>
                  </a:moveTo>
                  <a:lnTo>
                    <a:pt x="6940" y="93114"/>
                  </a:lnTo>
                  <a:lnTo>
                    <a:pt x="26266" y="55741"/>
                  </a:lnTo>
                  <a:lnTo>
                    <a:pt x="55736" y="26269"/>
                  </a:lnTo>
                  <a:lnTo>
                    <a:pt x="93109" y="6941"/>
                  </a:lnTo>
                  <a:lnTo>
                    <a:pt x="136143" y="0"/>
                  </a:lnTo>
                  <a:lnTo>
                    <a:pt x="8347964" y="0"/>
                  </a:lnTo>
                  <a:lnTo>
                    <a:pt x="8390993" y="6941"/>
                  </a:lnTo>
                  <a:lnTo>
                    <a:pt x="8428366" y="26269"/>
                  </a:lnTo>
                  <a:lnTo>
                    <a:pt x="8457838" y="55741"/>
                  </a:lnTo>
                  <a:lnTo>
                    <a:pt x="8477166" y="93114"/>
                  </a:lnTo>
                  <a:lnTo>
                    <a:pt x="8484108" y="136144"/>
                  </a:lnTo>
                  <a:lnTo>
                    <a:pt x="8484108" y="680719"/>
                  </a:lnTo>
                  <a:lnTo>
                    <a:pt x="8477166" y="723749"/>
                  </a:lnTo>
                  <a:lnTo>
                    <a:pt x="8457838" y="761122"/>
                  </a:lnTo>
                  <a:lnTo>
                    <a:pt x="8428366" y="790594"/>
                  </a:lnTo>
                  <a:lnTo>
                    <a:pt x="8390993" y="809922"/>
                  </a:lnTo>
                  <a:lnTo>
                    <a:pt x="8347964" y="816863"/>
                  </a:lnTo>
                  <a:lnTo>
                    <a:pt x="136143" y="816863"/>
                  </a:lnTo>
                  <a:lnTo>
                    <a:pt x="93109" y="809922"/>
                  </a:lnTo>
                  <a:lnTo>
                    <a:pt x="55736" y="790594"/>
                  </a:lnTo>
                  <a:lnTo>
                    <a:pt x="26266" y="761122"/>
                  </a:lnTo>
                  <a:lnTo>
                    <a:pt x="6940" y="723749"/>
                  </a:lnTo>
                  <a:lnTo>
                    <a:pt x="0" y="680719"/>
                  </a:lnTo>
                  <a:lnTo>
                    <a:pt x="0" y="136144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58520" y="4810759"/>
            <a:ext cx="6847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Verdana"/>
                <a:cs typeface="Verdana"/>
              </a:rPr>
              <a:t>Tracing consumes resources, so </a:t>
            </a:r>
            <a:r>
              <a:rPr sz="1800" b="1" dirty="0">
                <a:latin typeface="Verdana"/>
                <a:cs typeface="Verdana"/>
              </a:rPr>
              <a:t>you </a:t>
            </a:r>
            <a:r>
              <a:rPr sz="1800" b="1" spc="-5" dirty="0">
                <a:latin typeface="Verdana"/>
                <a:cs typeface="Verdana"/>
              </a:rPr>
              <a:t>should use it for  troubleshooting </a:t>
            </a:r>
            <a:r>
              <a:rPr sz="1800" b="1" dirty="0">
                <a:latin typeface="Verdana"/>
                <a:cs typeface="Verdana"/>
              </a:rPr>
              <a:t>only and then </a:t>
            </a:r>
            <a:r>
              <a:rPr sz="1800" b="1" spc="-5" dirty="0">
                <a:latin typeface="Verdana"/>
                <a:cs typeface="Verdana"/>
              </a:rPr>
              <a:t>disable</a:t>
            </a:r>
            <a:r>
              <a:rPr sz="1800" b="1" spc="3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it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033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Resolving </a:t>
            </a:r>
            <a:r>
              <a:rPr spc="-5" dirty="0"/>
              <a:t>General </a:t>
            </a:r>
            <a:r>
              <a:rPr dirty="0"/>
              <a:t>VPN</a:t>
            </a:r>
            <a:r>
              <a:rPr spc="-20" dirty="0"/>
              <a:t> </a:t>
            </a:r>
            <a:r>
              <a:rPr spc="-5" dirty="0"/>
              <a:t>Problems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549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Troubleshooting Other</a:t>
            </a:r>
            <a:r>
              <a:rPr spc="45" dirty="0"/>
              <a:t> </a:t>
            </a:r>
            <a:r>
              <a:rPr spc="-5" dirty="0"/>
              <a:t>Issues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2900" y="1429511"/>
            <a:ext cx="8493760" cy="3030220"/>
            <a:chOff x="342900" y="1429511"/>
            <a:chExt cx="8493760" cy="3030220"/>
          </a:xfrm>
        </p:grpSpPr>
        <p:sp>
          <p:nvSpPr>
            <p:cNvPr id="4" name="object 4"/>
            <p:cNvSpPr/>
            <p:nvPr/>
          </p:nvSpPr>
          <p:spPr>
            <a:xfrm>
              <a:off x="347472" y="1434083"/>
              <a:ext cx="8484235" cy="3020695"/>
            </a:xfrm>
            <a:custGeom>
              <a:avLst/>
              <a:gdLst/>
              <a:ahLst/>
              <a:cxnLst/>
              <a:rect l="l" t="t" r="r" b="b"/>
              <a:pathLst>
                <a:path w="8484235" h="3020695">
                  <a:moveTo>
                    <a:pt x="8358251" y="0"/>
                  </a:moveTo>
                  <a:lnTo>
                    <a:pt x="125869" y="0"/>
                  </a:lnTo>
                  <a:lnTo>
                    <a:pt x="76873" y="9896"/>
                  </a:lnTo>
                  <a:lnTo>
                    <a:pt x="36864" y="36877"/>
                  </a:lnTo>
                  <a:lnTo>
                    <a:pt x="9890" y="76884"/>
                  </a:lnTo>
                  <a:lnTo>
                    <a:pt x="0" y="125856"/>
                  </a:lnTo>
                  <a:lnTo>
                    <a:pt x="0" y="2894710"/>
                  </a:lnTo>
                  <a:lnTo>
                    <a:pt x="9890" y="2943683"/>
                  </a:lnTo>
                  <a:lnTo>
                    <a:pt x="36864" y="2983690"/>
                  </a:lnTo>
                  <a:lnTo>
                    <a:pt x="76873" y="3010671"/>
                  </a:lnTo>
                  <a:lnTo>
                    <a:pt x="125869" y="3020567"/>
                  </a:lnTo>
                  <a:lnTo>
                    <a:pt x="8358251" y="3020567"/>
                  </a:lnTo>
                  <a:lnTo>
                    <a:pt x="8407223" y="3010671"/>
                  </a:lnTo>
                  <a:lnTo>
                    <a:pt x="8447230" y="2983690"/>
                  </a:lnTo>
                  <a:lnTo>
                    <a:pt x="8474211" y="2943683"/>
                  </a:lnTo>
                  <a:lnTo>
                    <a:pt x="8484108" y="2894710"/>
                  </a:lnTo>
                  <a:lnTo>
                    <a:pt x="8484108" y="125856"/>
                  </a:lnTo>
                  <a:lnTo>
                    <a:pt x="8474211" y="76884"/>
                  </a:lnTo>
                  <a:lnTo>
                    <a:pt x="8447230" y="36877"/>
                  </a:lnTo>
                  <a:lnTo>
                    <a:pt x="8407223" y="9896"/>
                  </a:lnTo>
                  <a:lnTo>
                    <a:pt x="8358251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7472" y="1434083"/>
              <a:ext cx="8484235" cy="3020695"/>
            </a:xfrm>
            <a:custGeom>
              <a:avLst/>
              <a:gdLst/>
              <a:ahLst/>
              <a:cxnLst/>
              <a:rect l="l" t="t" r="r" b="b"/>
              <a:pathLst>
                <a:path w="8484235" h="3020695">
                  <a:moveTo>
                    <a:pt x="0" y="125856"/>
                  </a:moveTo>
                  <a:lnTo>
                    <a:pt x="9890" y="76884"/>
                  </a:lnTo>
                  <a:lnTo>
                    <a:pt x="36864" y="36877"/>
                  </a:lnTo>
                  <a:lnTo>
                    <a:pt x="76873" y="9896"/>
                  </a:lnTo>
                  <a:lnTo>
                    <a:pt x="125869" y="0"/>
                  </a:lnTo>
                  <a:lnTo>
                    <a:pt x="8358251" y="0"/>
                  </a:lnTo>
                  <a:lnTo>
                    <a:pt x="8407223" y="9896"/>
                  </a:lnTo>
                  <a:lnTo>
                    <a:pt x="8447230" y="36877"/>
                  </a:lnTo>
                  <a:lnTo>
                    <a:pt x="8474211" y="76884"/>
                  </a:lnTo>
                  <a:lnTo>
                    <a:pt x="8484108" y="125856"/>
                  </a:lnTo>
                  <a:lnTo>
                    <a:pt x="8484108" y="2894710"/>
                  </a:lnTo>
                  <a:lnTo>
                    <a:pt x="8474211" y="2943683"/>
                  </a:lnTo>
                  <a:lnTo>
                    <a:pt x="8447230" y="2983690"/>
                  </a:lnTo>
                  <a:lnTo>
                    <a:pt x="8407223" y="3010671"/>
                  </a:lnTo>
                  <a:lnTo>
                    <a:pt x="8358251" y="3020567"/>
                  </a:lnTo>
                  <a:lnTo>
                    <a:pt x="125869" y="3020567"/>
                  </a:lnTo>
                  <a:lnTo>
                    <a:pt x="76873" y="3010671"/>
                  </a:lnTo>
                  <a:lnTo>
                    <a:pt x="36864" y="2983690"/>
                  </a:lnTo>
                  <a:lnTo>
                    <a:pt x="9890" y="2943683"/>
                  </a:lnTo>
                  <a:lnTo>
                    <a:pt x="0" y="2894710"/>
                  </a:lnTo>
                  <a:lnTo>
                    <a:pt x="0" y="12585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4923" y="1965959"/>
              <a:ext cx="8118475" cy="2242185"/>
            </a:xfrm>
            <a:custGeom>
              <a:avLst/>
              <a:gdLst/>
              <a:ahLst/>
              <a:cxnLst/>
              <a:rect l="l" t="t" r="r" b="b"/>
              <a:pathLst>
                <a:path w="8118475" h="2242185">
                  <a:moveTo>
                    <a:pt x="8024876" y="0"/>
                  </a:moveTo>
                  <a:lnTo>
                    <a:pt x="93421" y="0"/>
                  </a:lnTo>
                  <a:lnTo>
                    <a:pt x="57055" y="7336"/>
                  </a:lnTo>
                  <a:lnTo>
                    <a:pt x="27360" y="27352"/>
                  </a:lnTo>
                  <a:lnTo>
                    <a:pt x="7340" y="57060"/>
                  </a:lnTo>
                  <a:lnTo>
                    <a:pt x="0" y="93472"/>
                  </a:lnTo>
                  <a:lnTo>
                    <a:pt x="0" y="2148332"/>
                  </a:lnTo>
                  <a:lnTo>
                    <a:pt x="7340" y="2184743"/>
                  </a:lnTo>
                  <a:lnTo>
                    <a:pt x="27360" y="2214451"/>
                  </a:lnTo>
                  <a:lnTo>
                    <a:pt x="57055" y="2234467"/>
                  </a:lnTo>
                  <a:lnTo>
                    <a:pt x="93421" y="2241804"/>
                  </a:lnTo>
                  <a:lnTo>
                    <a:pt x="8024876" y="2241804"/>
                  </a:lnTo>
                  <a:lnTo>
                    <a:pt x="8061287" y="2234467"/>
                  </a:lnTo>
                  <a:lnTo>
                    <a:pt x="8090995" y="2214451"/>
                  </a:lnTo>
                  <a:lnTo>
                    <a:pt x="8111011" y="2184743"/>
                  </a:lnTo>
                  <a:lnTo>
                    <a:pt x="8118348" y="2148332"/>
                  </a:lnTo>
                  <a:lnTo>
                    <a:pt x="8118348" y="93472"/>
                  </a:lnTo>
                  <a:lnTo>
                    <a:pt x="8111011" y="57060"/>
                  </a:lnTo>
                  <a:lnTo>
                    <a:pt x="8090995" y="27352"/>
                  </a:lnTo>
                  <a:lnTo>
                    <a:pt x="8061287" y="7336"/>
                  </a:lnTo>
                  <a:lnTo>
                    <a:pt x="802487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4923" y="1965959"/>
              <a:ext cx="8118475" cy="2242185"/>
            </a:xfrm>
            <a:custGeom>
              <a:avLst/>
              <a:gdLst/>
              <a:ahLst/>
              <a:cxnLst/>
              <a:rect l="l" t="t" r="r" b="b"/>
              <a:pathLst>
                <a:path w="8118475" h="2242185">
                  <a:moveTo>
                    <a:pt x="0" y="93472"/>
                  </a:moveTo>
                  <a:lnTo>
                    <a:pt x="7340" y="57060"/>
                  </a:lnTo>
                  <a:lnTo>
                    <a:pt x="27360" y="27352"/>
                  </a:lnTo>
                  <a:lnTo>
                    <a:pt x="57055" y="7336"/>
                  </a:lnTo>
                  <a:lnTo>
                    <a:pt x="93421" y="0"/>
                  </a:lnTo>
                  <a:lnTo>
                    <a:pt x="8024876" y="0"/>
                  </a:lnTo>
                  <a:lnTo>
                    <a:pt x="8061287" y="7336"/>
                  </a:lnTo>
                  <a:lnTo>
                    <a:pt x="8090995" y="27352"/>
                  </a:lnTo>
                  <a:lnTo>
                    <a:pt x="8111011" y="57060"/>
                  </a:lnTo>
                  <a:lnTo>
                    <a:pt x="8118348" y="93472"/>
                  </a:lnTo>
                  <a:lnTo>
                    <a:pt x="8118348" y="2148332"/>
                  </a:lnTo>
                  <a:lnTo>
                    <a:pt x="8111011" y="2184743"/>
                  </a:lnTo>
                  <a:lnTo>
                    <a:pt x="8090995" y="2214451"/>
                  </a:lnTo>
                  <a:lnTo>
                    <a:pt x="8061287" y="2234467"/>
                  </a:lnTo>
                  <a:lnTo>
                    <a:pt x="8024876" y="2241804"/>
                  </a:lnTo>
                  <a:lnTo>
                    <a:pt x="93421" y="2241804"/>
                  </a:lnTo>
                  <a:lnTo>
                    <a:pt x="57055" y="2234467"/>
                  </a:lnTo>
                  <a:lnTo>
                    <a:pt x="27360" y="2214451"/>
                  </a:lnTo>
                  <a:lnTo>
                    <a:pt x="7340" y="2184743"/>
                  </a:lnTo>
                  <a:lnTo>
                    <a:pt x="0" y="2148332"/>
                  </a:lnTo>
                  <a:lnTo>
                    <a:pt x="0" y="93472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63397" y="1501851"/>
            <a:ext cx="6781800" cy="2433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Common </a:t>
            </a:r>
            <a:r>
              <a:rPr sz="1800" b="1" spc="-5" dirty="0">
                <a:latin typeface="Verdana"/>
                <a:cs typeface="Verdana"/>
              </a:rPr>
              <a:t>problems regarding remote access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include: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00">
              <a:latin typeface="Verdana"/>
              <a:cs typeface="Verdana"/>
            </a:endParaRPr>
          </a:p>
          <a:p>
            <a:pPr marL="419100" indent="-22987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19734" algn="l"/>
              </a:tabLst>
            </a:pPr>
            <a:r>
              <a:rPr sz="1800" b="1" spc="-5" dirty="0">
                <a:latin typeface="Verdana"/>
                <a:cs typeface="Verdana"/>
              </a:rPr>
              <a:t>Error </a:t>
            </a:r>
            <a:r>
              <a:rPr sz="1800" b="1" dirty="0">
                <a:latin typeface="Verdana"/>
                <a:cs typeface="Verdana"/>
              </a:rPr>
              <a:t>800: VPN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unreachable</a:t>
            </a:r>
            <a:endParaRPr sz="1800">
              <a:latin typeface="Verdana"/>
              <a:cs typeface="Verdana"/>
            </a:endParaRPr>
          </a:p>
          <a:p>
            <a:pPr marL="419100" indent="-229870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419734" algn="l"/>
              </a:tabLst>
            </a:pPr>
            <a:r>
              <a:rPr sz="1800" b="1" spc="-5" dirty="0">
                <a:latin typeface="Verdana"/>
                <a:cs typeface="Verdana"/>
              </a:rPr>
              <a:t>Error </a:t>
            </a:r>
            <a:r>
              <a:rPr sz="1800" b="1" dirty="0">
                <a:latin typeface="Verdana"/>
                <a:cs typeface="Verdana"/>
              </a:rPr>
              <a:t>721: </a:t>
            </a:r>
            <a:r>
              <a:rPr sz="1800" b="1" spc="-5" dirty="0">
                <a:latin typeface="Verdana"/>
                <a:cs typeface="Verdana"/>
              </a:rPr>
              <a:t>Remote computer not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responding</a:t>
            </a:r>
            <a:endParaRPr sz="1800">
              <a:latin typeface="Verdana"/>
              <a:cs typeface="Verdana"/>
            </a:endParaRPr>
          </a:p>
          <a:p>
            <a:pPr marL="419100" indent="-229870">
              <a:lnSpc>
                <a:spcPct val="100000"/>
              </a:lnSpc>
              <a:spcBef>
                <a:spcPts val="645"/>
              </a:spcBef>
              <a:buClr>
                <a:srgbClr val="006699"/>
              </a:buClr>
              <a:buFont typeface="Verdana"/>
              <a:buChar char="•"/>
              <a:tabLst>
                <a:tab pos="419734" algn="l"/>
              </a:tabLst>
            </a:pPr>
            <a:r>
              <a:rPr sz="1800" b="1" spc="-5" dirty="0">
                <a:latin typeface="Verdana"/>
                <a:cs typeface="Verdana"/>
              </a:rPr>
              <a:t>Error 741/742: Encryption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mismatch</a:t>
            </a:r>
            <a:endParaRPr sz="1800">
              <a:latin typeface="Verdana"/>
              <a:cs typeface="Verdana"/>
            </a:endParaRPr>
          </a:p>
          <a:p>
            <a:pPr marL="419100" indent="-229870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419734" algn="l"/>
              </a:tabLst>
            </a:pPr>
            <a:r>
              <a:rPr sz="1800" b="1" spc="-5" dirty="0">
                <a:latin typeface="Verdana"/>
                <a:cs typeface="Verdana"/>
              </a:rPr>
              <a:t>L2TP/IPsec</a:t>
            </a:r>
            <a:r>
              <a:rPr sz="1800" b="1" dirty="0">
                <a:latin typeface="Verdana"/>
                <a:cs typeface="Verdana"/>
              </a:rPr>
              <a:t> issues</a:t>
            </a:r>
            <a:endParaRPr sz="1800">
              <a:latin typeface="Verdana"/>
              <a:cs typeface="Verdana"/>
            </a:endParaRPr>
          </a:p>
          <a:p>
            <a:pPr marL="419100" indent="-229870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419734" algn="l"/>
              </a:tabLst>
            </a:pPr>
            <a:r>
              <a:rPr sz="1800" b="1" spc="-5" dirty="0">
                <a:latin typeface="Verdana"/>
                <a:cs typeface="Verdana"/>
              </a:rPr>
              <a:t>EAP-TLS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issues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42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mtClean="0"/>
              <a:t>6</a:t>
            </a:r>
            <a:r>
              <a:rPr dirty="0"/>
              <a:t>: </a:t>
            </a:r>
            <a:r>
              <a:rPr spc="-5" dirty="0"/>
              <a:t>Configuring</a:t>
            </a:r>
            <a:r>
              <a:rPr spc="30" dirty="0"/>
              <a:t> </a:t>
            </a:r>
            <a:r>
              <a:rPr spc="-5" dirty="0"/>
              <a:t>DirectAccess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5865495" cy="3257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Discussion: </a:t>
            </a:r>
            <a:r>
              <a:rPr sz="2000" spc="-5" dirty="0">
                <a:latin typeface="Verdana"/>
                <a:cs typeface="Verdana"/>
              </a:rPr>
              <a:t>Complexities </a:t>
            </a:r>
            <a:r>
              <a:rPr sz="2000" dirty="0">
                <a:latin typeface="Verdana"/>
                <a:cs typeface="Verdana"/>
              </a:rPr>
              <a:t>of Managing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VPNs</a:t>
            </a: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DirectAccess?</a:t>
            </a: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Components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DirectAccess</a:t>
            </a: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</a:t>
            </a:r>
            <a:r>
              <a:rPr sz="2000" spc="-5" dirty="0">
                <a:latin typeface="Verdana"/>
                <a:cs typeface="Verdana"/>
              </a:rPr>
              <a:t>the Name Resolution Policy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Table?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How DirectAccess Works for Internal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Clients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How DirectAccess Works for </a:t>
            </a:r>
            <a:r>
              <a:rPr sz="2000" spc="-5" dirty="0">
                <a:latin typeface="Verdana"/>
                <a:cs typeface="Verdana"/>
              </a:rPr>
              <a:t>External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Clients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DirectAccess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717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Discussion: Complexities </a:t>
            </a:r>
            <a:r>
              <a:rPr dirty="0"/>
              <a:t>of Managing</a:t>
            </a:r>
            <a:r>
              <a:rPr spc="100" dirty="0"/>
              <a:t> </a:t>
            </a:r>
            <a:r>
              <a:rPr spc="-5" dirty="0"/>
              <a:t>VPNs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42744" y="1095755"/>
            <a:ext cx="6522720" cy="4970145"/>
            <a:chOff x="2142744" y="1095755"/>
            <a:chExt cx="6522720" cy="4970145"/>
          </a:xfrm>
        </p:grpSpPr>
        <p:sp>
          <p:nvSpPr>
            <p:cNvPr id="4" name="object 4"/>
            <p:cNvSpPr/>
            <p:nvPr/>
          </p:nvSpPr>
          <p:spPr>
            <a:xfrm>
              <a:off x="2142744" y="3304032"/>
              <a:ext cx="3820667" cy="27614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42744" y="1095755"/>
              <a:ext cx="6522720" cy="27843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03421" y="1632331"/>
            <a:ext cx="3869054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What are the challenges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you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face </a:t>
            </a:r>
            <a:r>
              <a:rPr sz="2000" b="1" spc="5" dirty="0">
                <a:latin typeface="Arial"/>
                <a:cs typeface="Arial"/>
              </a:rPr>
              <a:t>when </a:t>
            </a:r>
            <a:r>
              <a:rPr sz="2000" b="1" dirty="0">
                <a:latin typeface="Arial"/>
                <a:cs typeface="Arial"/>
              </a:rPr>
              <a:t>implementing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VPNs?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429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</a:t>
            </a:r>
            <a:r>
              <a:rPr spc="-65" dirty="0"/>
              <a:t> </a:t>
            </a:r>
            <a:r>
              <a:rPr dirty="0"/>
              <a:t>DirectAccess?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343" y="1578863"/>
            <a:ext cx="8943340" cy="2952115"/>
            <a:chOff x="85343" y="1578863"/>
            <a:chExt cx="8943340" cy="2952115"/>
          </a:xfrm>
        </p:grpSpPr>
        <p:sp>
          <p:nvSpPr>
            <p:cNvPr id="4" name="object 4"/>
            <p:cNvSpPr/>
            <p:nvPr/>
          </p:nvSpPr>
          <p:spPr>
            <a:xfrm>
              <a:off x="89915" y="1583435"/>
              <a:ext cx="8933815" cy="2943225"/>
            </a:xfrm>
            <a:custGeom>
              <a:avLst/>
              <a:gdLst/>
              <a:ahLst/>
              <a:cxnLst/>
              <a:rect l="l" t="t" r="r" b="b"/>
              <a:pathLst>
                <a:path w="8933815" h="2943225">
                  <a:moveTo>
                    <a:pt x="8811006" y="0"/>
                  </a:moveTo>
                  <a:lnTo>
                    <a:pt x="122631" y="0"/>
                  </a:lnTo>
                  <a:lnTo>
                    <a:pt x="74896" y="9632"/>
                  </a:lnTo>
                  <a:lnTo>
                    <a:pt x="35917" y="35909"/>
                  </a:lnTo>
                  <a:lnTo>
                    <a:pt x="9636" y="74902"/>
                  </a:lnTo>
                  <a:lnTo>
                    <a:pt x="0" y="122681"/>
                  </a:lnTo>
                  <a:lnTo>
                    <a:pt x="0" y="2820162"/>
                  </a:lnTo>
                  <a:lnTo>
                    <a:pt x="9636" y="2867941"/>
                  </a:lnTo>
                  <a:lnTo>
                    <a:pt x="35917" y="2906934"/>
                  </a:lnTo>
                  <a:lnTo>
                    <a:pt x="74896" y="2933211"/>
                  </a:lnTo>
                  <a:lnTo>
                    <a:pt x="122631" y="2942844"/>
                  </a:lnTo>
                  <a:lnTo>
                    <a:pt x="8811006" y="2942844"/>
                  </a:lnTo>
                  <a:lnTo>
                    <a:pt x="8858785" y="2933211"/>
                  </a:lnTo>
                  <a:lnTo>
                    <a:pt x="8897778" y="2906934"/>
                  </a:lnTo>
                  <a:lnTo>
                    <a:pt x="8924055" y="2867941"/>
                  </a:lnTo>
                  <a:lnTo>
                    <a:pt x="8933688" y="2820162"/>
                  </a:lnTo>
                  <a:lnTo>
                    <a:pt x="8933688" y="122681"/>
                  </a:lnTo>
                  <a:lnTo>
                    <a:pt x="8924055" y="74902"/>
                  </a:lnTo>
                  <a:lnTo>
                    <a:pt x="8897778" y="35909"/>
                  </a:lnTo>
                  <a:lnTo>
                    <a:pt x="8858785" y="9632"/>
                  </a:lnTo>
                  <a:lnTo>
                    <a:pt x="8811006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9915" y="1583435"/>
              <a:ext cx="8933815" cy="2943225"/>
            </a:xfrm>
            <a:custGeom>
              <a:avLst/>
              <a:gdLst/>
              <a:ahLst/>
              <a:cxnLst/>
              <a:rect l="l" t="t" r="r" b="b"/>
              <a:pathLst>
                <a:path w="8933815" h="2943225">
                  <a:moveTo>
                    <a:pt x="0" y="122681"/>
                  </a:moveTo>
                  <a:lnTo>
                    <a:pt x="9636" y="74902"/>
                  </a:lnTo>
                  <a:lnTo>
                    <a:pt x="35917" y="35909"/>
                  </a:lnTo>
                  <a:lnTo>
                    <a:pt x="74896" y="9632"/>
                  </a:lnTo>
                  <a:lnTo>
                    <a:pt x="122631" y="0"/>
                  </a:lnTo>
                  <a:lnTo>
                    <a:pt x="8811006" y="0"/>
                  </a:lnTo>
                  <a:lnTo>
                    <a:pt x="8858785" y="9632"/>
                  </a:lnTo>
                  <a:lnTo>
                    <a:pt x="8897778" y="35909"/>
                  </a:lnTo>
                  <a:lnTo>
                    <a:pt x="8924055" y="74902"/>
                  </a:lnTo>
                  <a:lnTo>
                    <a:pt x="8933688" y="122681"/>
                  </a:lnTo>
                  <a:lnTo>
                    <a:pt x="8933688" y="2820162"/>
                  </a:lnTo>
                  <a:lnTo>
                    <a:pt x="8924055" y="2867941"/>
                  </a:lnTo>
                  <a:lnTo>
                    <a:pt x="8897778" y="2906934"/>
                  </a:lnTo>
                  <a:lnTo>
                    <a:pt x="8858785" y="2933211"/>
                  </a:lnTo>
                  <a:lnTo>
                    <a:pt x="8811006" y="2942844"/>
                  </a:lnTo>
                  <a:lnTo>
                    <a:pt x="122631" y="2942844"/>
                  </a:lnTo>
                  <a:lnTo>
                    <a:pt x="74896" y="2933211"/>
                  </a:lnTo>
                  <a:lnTo>
                    <a:pt x="35917" y="2906934"/>
                  </a:lnTo>
                  <a:lnTo>
                    <a:pt x="9636" y="2867941"/>
                  </a:lnTo>
                  <a:lnTo>
                    <a:pt x="0" y="2820162"/>
                  </a:lnTo>
                  <a:lnTo>
                    <a:pt x="0" y="12268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4988" y="1987295"/>
              <a:ext cx="8484235" cy="2388235"/>
            </a:xfrm>
            <a:custGeom>
              <a:avLst/>
              <a:gdLst/>
              <a:ahLst/>
              <a:cxnLst/>
              <a:rect l="l" t="t" r="r" b="b"/>
              <a:pathLst>
                <a:path w="8484235" h="2388235">
                  <a:moveTo>
                    <a:pt x="8384539" y="0"/>
                  </a:moveTo>
                  <a:lnTo>
                    <a:pt x="99504" y="0"/>
                  </a:lnTo>
                  <a:lnTo>
                    <a:pt x="60773" y="7824"/>
                  </a:lnTo>
                  <a:lnTo>
                    <a:pt x="29144" y="29162"/>
                  </a:lnTo>
                  <a:lnTo>
                    <a:pt x="7819" y="60811"/>
                  </a:lnTo>
                  <a:lnTo>
                    <a:pt x="0" y="99567"/>
                  </a:lnTo>
                  <a:lnTo>
                    <a:pt x="0" y="2288540"/>
                  </a:lnTo>
                  <a:lnTo>
                    <a:pt x="7819" y="2327296"/>
                  </a:lnTo>
                  <a:lnTo>
                    <a:pt x="29144" y="2358945"/>
                  </a:lnTo>
                  <a:lnTo>
                    <a:pt x="60773" y="2380283"/>
                  </a:lnTo>
                  <a:lnTo>
                    <a:pt x="99504" y="2388108"/>
                  </a:lnTo>
                  <a:lnTo>
                    <a:pt x="8384539" y="2388108"/>
                  </a:lnTo>
                  <a:lnTo>
                    <a:pt x="8423296" y="2380283"/>
                  </a:lnTo>
                  <a:lnTo>
                    <a:pt x="8454945" y="2358945"/>
                  </a:lnTo>
                  <a:lnTo>
                    <a:pt x="8476283" y="2327296"/>
                  </a:lnTo>
                  <a:lnTo>
                    <a:pt x="8484108" y="2288540"/>
                  </a:lnTo>
                  <a:lnTo>
                    <a:pt x="8484108" y="99567"/>
                  </a:lnTo>
                  <a:lnTo>
                    <a:pt x="8476283" y="60811"/>
                  </a:lnTo>
                  <a:lnTo>
                    <a:pt x="8454945" y="29162"/>
                  </a:lnTo>
                  <a:lnTo>
                    <a:pt x="8423296" y="7824"/>
                  </a:lnTo>
                  <a:lnTo>
                    <a:pt x="838453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4988" y="1987295"/>
              <a:ext cx="8484235" cy="2388235"/>
            </a:xfrm>
            <a:custGeom>
              <a:avLst/>
              <a:gdLst/>
              <a:ahLst/>
              <a:cxnLst/>
              <a:rect l="l" t="t" r="r" b="b"/>
              <a:pathLst>
                <a:path w="8484235" h="2388235">
                  <a:moveTo>
                    <a:pt x="0" y="99567"/>
                  </a:moveTo>
                  <a:lnTo>
                    <a:pt x="7819" y="60811"/>
                  </a:lnTo>
                  <a:lnTo>
                    <a:pt x="29144" y="29162"/>
                  </a:lnTo>
                  <a:lnTo>
                    <a:pt x="60773" y="7824"/>
                  </a:lnTo>
                  <a:lnTo>
                    <a:pt x="99504" y="0"/>
                  </a:lnTo>
                  <a:lnTo>
                    <a:pt x="8384539" y="0"/>
                  </a:lnTo>
                  <a:lnTo>
                    <a:pt x="8423296" y="7824"/>
                  </a:lnTo>
                  <a:lnTo>
                    <a:pt x="8454945" y="29162"/>
                  </a:lnTo>
                  <a:lnTo>
                    <a:pt x="8476283" y="60811"/>
                  </a:lnTo>
                  <a:lnTo>
                    <a:pt x="8484108" y="99567"/>
                  </a:lnTo>
                  <a:lnTo>
                    <a:pt x="8484108" y="2288540"/>
                  </a:lnTo>
                  <a:lnTo>
                    <a:pt x="8476283" y="2327296"/>
                  </a:lnTo>
                  <a:lnTo>
                    <a:pt x="8454945" y="2358945"/>
                  </a:lnTo>
                  <a:lnTo>
                    <a:pt x="8423296" y="2380283"/>
                  </a:lnTo>
                  <a:lnTo>
                    <a:pt x="8384539" y="2388108"/>
                  </a:lnTo>
                  <a:lnTo>
                    <a:pt x="99504" y="2388108"/>
                  </a:lnTo>
                  <a:lnTo>
                    <a:pt x="60773" y="2380283"/>
                  </a:lnTo>
                  <a:lnTo>
                    <a:pt x="29144" y="2358945"/>
                  </a:lnTo>
                  <a:lnTo>
                    <a:pt x="7819" y="2327296"/>
                  </a:lnTo>
                  <a:lnTo>
                    <a:pt x="0" y="2288540"/>
                  </a:lnTo>
                  <a:lnTo>
                    <a:pt x="0" y="9956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4622" y="1651508"/>
            <a:ext cx="8597900" cy="2557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Verdana"/>
                <a:cs typeface="Verdana"/>
              </a:rPr>
              <a:t>Features </a:t>
            </a:r>
            <a:r>
              <a:rPr sz="1800" b="1" dirty="0">
                <a:latin typeface="Verdana"/>
                <a:cs typeface="Verdana"/>
              </a:rPr>
              <a:t>of </a:t>
            </a:r>
            <a:r>
              <a:rPr sz="1800" b="1" spc="-5" dirty="0">
                <a:latin typeface="Verdana"/>
                <a:cs typeface="Verdana"/>
              </a:rPr>
              <a:t>DirectAccess:</a:t>
            </a:r>
            <a:endParaRPr sz="1800">
              <a:latin typeface="Verdana"/>
              <a:cs typeface="Verdana"/>
            </a:endParaRPr>
          </a:p>
          <a:p>
            <a:pPr marL="429259" indent="-229235">
              <a:lnSpc>
                <a:spcPct val="100000"/>
              </a:lnSpc>
              <a:spcBef>
                <a:spcPts val="1570"/>
              </a:spcBef>
              <a:buClr>
                <a:srgbClr val="006699"/>
              </a:buClr>
              <a:buChar char="•"/>
              <a:tabLst>
                <a:tab pos="429895" algn="l"/>
              </a:tabLst>
            </a:pPr>
            <a:r>
              <a:rPr sz="1800" dirty="0">
                <a:latin typeface="Verdana"/>
                <a:cs typeface="Verdana"/>
              </a:rPr>
              <a:t>Connects automatically </a:t>
            </a:r>
            <a:r>
              <a:rPr sz="1800" spc="-5" dirty="0">
                <a:latin typeface="Verdana"/>
                <a:cs typeface="Verdana"/>
              </a:rPr>
              <a:t>to corporate </a:t>
            </a:r>
            <a:r>
              <a:rPr sz="1800" dirty="0">
                <a:latin typeface="Verdana"/>
                <a:cs typeface="Verdana"/>
              </a:rPr>
              <a:t>network </a:t>
            </a:r>
            <a:r>
              <a:rPr sz="1800" spc="-10" dirty="0">
                <a:latin typeface="Verdana"/>
                <a:cs typeface="Verdana"/>
              </a:rPr>
              <a:t>over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public</a:t>
            </a:r>
            <a:r>
              <a:rPr sz="1800" spc="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network</a:t>
            </a:r>
            <a:endParaRPr sz="1800">
              <a:latin typeface="Verdana"/>
              <a:cs typeface="Verdana"/>
            </a:endParaRPr>
          </a:p>
          <a:p>
            <a:pPr marL="429259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Char char="•"/>
              <a:tabLst>
                <a:tab pos="429895" algn="l"/>
              </a:tabLst>
            </a:pPr>
            <a:r>
              <a:rPr sz="1800" dirty="0">
                <a:latin typeface="Verdana"/>
                <a:cs typeface="Verdana"/>
              </a:rPr>
              <a:t>Uses </a:t>
            </a:r>
            <a:r>
              <a:rPr sz="1800" spc="-5" dirty="0">
                <a:latin typeface="Verdana"/>
                <a:cs typeface="Verdana"/>
              </a:rPr>
              <a:t>various protocols, </a:t>
            </a:r>
            <a:r>
              <a:rPr sz="1800" dirty="0">
                <a:latin typeface="Verdana"/>
                <a:cs typeface="Verdana"/>
              </a:rPr>
              <a:t>including </a:t>
            </a:r>
            <a:r>
              <a:rPr sz="1800" spc="-15" dirty="0">
                <a:latin typeface="Verdana"/>
                <a:cs typeface="Verdana"/>
              </a:rPr>
              <a:t>HTTPS, </a:t>
            </a:r>
            <a:r>
              <a:rPr sz="1800" spc="-5" dirty="0">
                <a:latin typeface="Verdana"/>
                <a:cs typeface="Verdana"/>
              </a:rPr>
              <a:t>to </a:t>
            </a:r>
            <a:r>
              <a:rPr sz="1800" dirty="0">
                <a:latin typeface="Verdana"/>
                <a:cs typeface="Verdana"/>
              </a:rPr>
              <a:t>establish IPv6</a:t>
            </a:r>
            <a:r>
              <a:rPr sz="1800" spc="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connectivity</a:t>
            </a:r>
            <a:endParaRPr sz="1800">
              <a:latin typeface="Verdana"/>
              <a:cs typeface="Verdana"/>
            </a:endParaRPr>
          </a:p>
          <a:p>
            <a:pPr marL="429259" indent="-229235">
              <a:lnSpc>
                <a:spcPct val="100000"/>
              </a:lnSpc>
              <a:spcBef>
                <a:spcPts val="645"/>
              </a:spcBef>
              <a:buClr>
                <a:srgbClr val="006699"/>
              </a:buClr>
              <a:buChar char="•"/>
              <a:tabLst>
                <a:tab pos="429895" algn="l"/>
              </a:tabLst>
            </a:pPr>
            <a:r>
              <a:rPr sz="1800" dirty="0">
                <a:latin typeface="Verdana"/>
                <a:cs typeface="Verdana"/>
              </a:rPr>
              <a:t>Supports selected </a:t>
            </a:r>
            <a:r>
              <a:rPr sz="1800" spc="-5" dirty="0">
                <a:latin typeface="Verdana"/>
                <a:cs typeface="Verdana"/>
              </a:rPr>
              <a:t>server </a:t>
            </a:r>
            <a:r>
              <a:rPr sz="1800" dirty="0">
                <a:latin typeface="Verdana"/>
                <a:cs typeface="Verdana"/>
              </a:rPr>
              <a:t>access and IPSec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authentication</a:t>
            </a:r>
            <a:endParaRPr sz="1800">
              <a:latin typeface="Verdana"/>
              <a:cs typeface="Verdana"/>
            </a:endParaRPr>
          </a:p>
          <a:p>
            <a:pPr marL="429259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Char char="•"/>
              <a:tabLst>
                <a:tab pos="429895" algn="l"/>
              </a:tabLst>
            </a:pPr>
            <a:r>
              <a:rPr sz="1800" dirty="0">
                <a:latin typeface="Verdana"/>
                <a:cs typeface="Verdana"/>
              </a:rPr>
              <a:t>Supports </a:t>
            </a:r>
            <a:r>
              <a:rPr sz="1800" spc="-5" dirty="0">
                <a:latin typeface="Verdana"/>
                <a:cs typeface="Verdana"/>
              </a:rPr>
              <a:t>end-to-end </a:t>
            </a:r>
            <a:r>
              <a:rPr sz="1800" dirty="0">
                <a:latin typeface="Verdana"/>
                <a:cs typeface="Verdana"/>
              </a:rPr>
              <a:t>authentication and </a:t>
            </a:r>
            <a:r>
              <a:rPr sz="1800" spc="-5" dirty="0">
                <a:latin typeface="Verdana"/>
                <a:cs typeface="Verdana"/>
              </a:rPr>
              <a:t>encryption</a:t>
            </a:r>
            <a:endParaRPr sz="1800">
              <a:latin typeface="Verdana"/>
              <a:cs typeface="Verdana"/>
            </a:endParaRPr>
          </a:p>
          <a:p>
            <a:pPr marL="429259" indent="-22923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Char char="•"/>
              <a:tabLst>
                <a:tab pos="429895" algn="l"/>
              </a:tabLst>
            </a:pPr>
            <a:r>
              <a:rPr sz="1800" dirty="0">
                <a:latin typeface="Verdana"/>
                <a:cs typeface="Verdana"/>
              </a:rPr>
              <a:t>Supports management of remote client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computers</a:t>
            </a:r>
            <a:endParaRPr sz="1800">
              <a:latin typeface="Verdana"/>
              <a:cs typeface="Verdana"/>
            </a:endParaRPr>
          </a:p>
          <a:p>
            <a:pPr marL="429259" indent="-229235">
              <a:lnSpc>
                <a:spcPct val="100000"/>
              </a:lnSpc>
              <a:spcBef>
                <a:spcPts val="645"/>
              </a:spcBef>
              <a:buClr>
                <a:srgbClr val="006699"/>
              </a:buClr>
              <a:buChar char="•"/>
              <a:tabLst>
                <a:tab pos="429895" algn="l"/>
              </a:tabLst>
            </a:pPr>
            <a:r>
              <a:rPr sz="1800" spc="5" dirty="0">
                <a:latin typeface="Verdana"/>
                <a:cs typeface="Verdana"/>
              </a:rPr>
              <a:t>Allows </a:t>
            </a:r>
            <a:r>
              <a:rPr sz="1800" dirty="0">
                <a:latin typeface="Verdana"/>
                <a:cs typeface="Verdana"/>
              </a:rPr>
              <a:t>remote users </a:t>
            </a:r>
            <a:r>
              <a:rPr sz="1800" spc="-5" dirty="0">
                <a:latin typeface="Verdana"/>
                <a:cs typeface="Verdana"/>
              </a:rPr>
              <a:t>to </a:t>
            </a:r>
            <a:r>
              <a:rPr sz="1800" dirty="0">
                <a:latin typeface="Verdana"/>
                <a:cs typeface="Verdana"/>
              </a:rPr>
              <a:t>connect directly </a:t>
            </a:r>
            <a:r>
              <a:rPr sz="1800" spc="-5" dirty="0">
                <a:latin typeface="Verdana"/>
                <a:cs typeface="Verdana"/>
              </a:rPr>
              <a:t>to intranet</a:t>
            </a:r>
            <a:r>
              <a:rPr sz="1800" spc="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385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Components </a:t>
            </a:r>
            <a:r>
              <a:rPr dirty="0"/>
              <a:t>of</a:t>
            </a:r>
            <a:r>
              <a:rPr spc="15" dirty="0"/>
              <a:t> </a:t>
            </a:r>
            <a:r>
              <a:rPr spc="-5" dirty="0"/>
              <a:t>DirectAccess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9808" y="893063"/>
            <a:ext cx="8152130" cy="5203190"/>
            <a:chOff x="749808" y="893063"/>
            <a:chExt cx="8152130" cy="5203190"/>
          </a:xfrm>
        </p:grpSpPr>
        <p:sp>
          <p:nvSpPr>
            <p:cNvPr id="4" name="object 4"/>
            <p:cNvSpPr/>
            <p:nvPr/>
          </p:nvSpPr>
          <p:spPr>
            <a:xfrm>
              <a:off x="990600" y="2127503"/>
              <a:ext cx="1304544" cy="13045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9220" y="1219200"/>
              <a:ext cx="1143000" cy="11780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2668" y="923543"/>
              <a:ext cx="2407920" cy="3322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9808" y="893063"/>
              <a:ext cx="2282952" cy="42976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2856" y="903731"/>
              <a:ext cx="2395855" cy="320040"/>
            </a:xfrm>
            <a:custGeom>
              <a:avLst/>
              <a:gdLst/>
              <a:ahLst/>
              <a:cxnLst/>
              <a:rect l="l" t="t" r="r" b="b"/>
              <a:pathLst>
                <a:path w="2395855" h="320040">
                  <a:moveTo>
                    <a:pt x="2389759" y="0"/>
                  </a:moveTo>
                  <a:lnTo>
                    <a:pt x="5968" y="0"/>
                  </a:lnTo>
                  <a:lnTo>
                    <a:pt x="0" y="5968"/>
                  </a:lnTo>
                  <a:lnTo>
                    <a:pt x="0" y="314070"/>
                  </a:lnTo>
                  <a:lnTo>
                    <a:pt x="5968" y="320039"/>
                  </a:lnTo>
                  <a:lnTo>
                    <a:pt x="2389759" y="320039"/>
                  </a:lnTo>
                  <a:lnTo>
                    <a:pt x="2395728" y="314070"/>
                  </a:lnTo>
                  <a:lnTo>
                    <a:pt x="2395728" y="59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34156" y="1063752"/>
              <a:ext cx="5367528" cy="503224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34940" y="2997708"/>
              <a:ext cx="1054608" cy="10972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95443" y="2820924"/>
              <a:ext cx="1146048" cy="117652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96200" y="1510283"/>
              <a:ext cx="1202436" cy="120091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52855" y="903732"/>
            <a:ext cx="2395855" cy="320040"/>
          </a:xfrm>
          <a:prstGeom prst="rect">
            <a:avLst/>
          </a:prstGeom>
          <a:ln w="17906">
            <a:solidFill>
              <a:srgbClr val="4D4D4D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85"/>
              </a:spcBef>
            </a:pPr>
            <a:r>
              <a:rPr sz="1600" b="1" spc="-5" dirty="0">
                <a:latin typeface="Verdana"/>
                <a:cs typeface="Verdana"/>
              </a:rPr>
              <a:t>Internet</a:t>
            </a:r>
            <a:r>
              <a:rPr sz="1600" b="1" spc="-10" dirty="0">
                <a:latin typeface="Verdana"/>
                <a:cs typeface="Verdana"/>
              </a:rPr>
              <a:t> websites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48165" y="1880616"/>
            <a:ext cx="2061210" cy="1690370"/>
            <a:chOff x="2848165" y="1880616"/>
            <a:chExt cx="2061210" cy="1690370"/>
          </a:xfrm>
        </p:grpSpPr>
        <p:sp>
          <p:nvSpPr>
            <p:cNvPr id="15" name="object 15"/>
            <p:cNvSpPr/>
            <p:nvPr/>
          </p:nvSpPr>
          <p:spPr>
            <a:xfrm>
              <a:off x="3200400" y="2321052"/>
              <a:ext cx="1069848" cy="124968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72739" y="1908048"/>
              <a:ext cx="2036064" cy="55778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52927" y="1880616"/>
              <a:ext cx="1844039" cy="6492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52927" y="1888236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2001139" y="0"/>
                  </a:moveTo>
                  <a:lnTo>
                    <a:pt x="22733" y="0"/>
                  </a:lnTo>
                  <a:lnTo>
                    <a:pt x="13876" y="1783"/>
                  </a:lnTo>
                  <a:lnTo>
                    <a:pt x="6651" y="6651"/>
                  </a:lnTo>
                  <a:lnTo>
                    <a:pt x="1783" y="13876"/>
                  </a:lnTo>
                  <a:lnTo>
                    <a:pt x="0" y="22733"/>
                  </a:lnTo>
                  <a:lnTo>
                    <a:pt x="0" y="522859"/>
                  </a:lnTo>
                  <a:lnTo>
                    <a:pt x="1783" y="531715"/>
                  </a:lnTo>
                  <a:lnTo>
                    <a:pt x="6651" y="538940"/>
                  </a:lnTo>
                  <a:lnTo>
                    <a:pt x="13876" y="543808"/>
                  </a:lnTo>
                  <a:lnTo>
                    <a:pt x="22733" y="545591"/>
                  </a:lnTo>
                  <a:lnTo>
                    <a:pt x="2001139" y="545591"/>
                  </a:lnTo>
                  <a:lnTo>
                    <a:pt x="2009995" y="543808"/>
                  </a:lnTo>
                  <a:lnTo>
                    <a:pt x="2017220" y="538940"/>
                  </a:lnTo>
                  <a:lnTo>
                    <a:pt x="2022088" y="531715"/>
                  </a:lnTo>
                  <a:lnTo>
                    <a:pt x="2023872" y="522859"/>
                  </a:lnTo>
                  <a:lnTo>
                    <a:pt x="2023872" y="22733"/>
                  </a:lnTo>
                  <a:lnTo>
                    <a:pt x="2022088" y="13876"/>
                  </a:lnTo>
                  <a:lnTo>
                    <a:pt x="2017220" y="6651"/>
                  </a:lnTo>
                  <a:lnTo>
                    <a:pt x="2009995" y="1783"/>
                  </a:lnTo>
                  <a:lnTo>
                    <a:pt x="20011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52927" y="1888236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0" y="22733"/>
                  </a:moveTo>
                  <a:lnTo>
                    <a:pt x="1783" y="13876"/>
                  </a:lnTo>
                  <a:lnTo>
                    <a:pt x="6651" y="6651"/>
                  </a:lnTo>
                  <a:lnTo>
                    <a:pt x="13876" y="1783"/>
                  </a:lnTo>
                  <a:lnTo>
                    <a:pt x="22733" y="0"/>
                  </a:lnTo>
                  <a:lnTo>
                    <a:pt x="2001139" y="0"/>
                  </a:lnTo>
                  <a:lnTo>
                    <a:pt x="2009995" y="1783"/>
                  </a:lnTo>
                  <a:lnTo>
                    <a:pt x="2017220" y="6651"/>
                  </a:lnTo>
                  <a:lnTo>
                    <a:pt x="2022088" y="13876"/>
                  </a:lnTo>
                  <a:lnTo>
                    <a:pt x="2023872" y="22733"/>
                  </a:lnTo>
                  <a:lnTo>
                    <a:pt x="2023872" y="522859"/>
                  </a:lnTo>
                  <a:lnTo>
                    <a:pt x="2022088" y="531715"/>
                  </a:lnTo>
                  <a:lnTo>
                    <a:pt x="2017220" y="538940"/>
                  </a:lnTo>
                  <a:lnTo>
                    <a:pt x="2009995" y="543808"/>
                  </a:lnTo>
                  <a:lnTo>
                    <a:pt x="2001139" y="545591"/>
                  </a:lnTo>
                  <a:lnTo>
                    <a:pt x="22733" y="545591"/>
                  </a:lnTo>
                  <a:lnTo>
                    <a:pt x="13876" y="543808"/>
                  </a:lnTo>
                  <a:lnTo>
                    <a:pt x="6651" y="538940"/>
                  </a:lnTo>
                  <a:lnTo>
                    <a:pt x="1783" y="531715"/>
                  </a:lnTo>
                  <a:lnTo>
                    <a:pt x="0" y="522859"/>
                  </a:lnTo>
                  <a:lnTo>
                    <a:pt x="0" y="22733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939033" y="1903602"/>
            <a:ext cx="147764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10" dirty="0">
                <a:latin typeface="Verdana"/>
                <a:cs typeface="Verdana"/>
              </a:rPr>
              <a:t>D</a:t>
            </a:r>
            <a:r>
              <a:rPr sz="1600" b="1" spc="-20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rectAc</a:t>
            </a:r>
            <a:r>
              <a:rPr sz="1600" b="1" spc="-15" dirty="0">
                <a:latin typeface="Verdana"/>
                <a:cs typeface="Verdana"/>
              </a:rPr>
              <a:t>c</a:t>
            </a:r>
            <a:r>
              <a:rPr sz="1600" b="1" spc="-10" dirty="0">
                <a:latin typeface="Verdana"/>
                <a:cs typeface="Verdana"/>
              </a:rPr>
              <a:t>ess  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022401" y="796861"/>
            <a:ext cx="2061210" cy="968375"/>
            <a:chOff x="7022401" y="796861"/>
            <a:chExt cx="2061210" cy="968375"/>
          </a:xfrm>
        </p:grpSpPr>
        <p:sp>
          <p:nvSpPr>
            <p:cNvPr id="22" name="object 22"/>
            <p:cNvSpPr/>
            <p:nvPr/>
          </p:nvSpPr>
          <p:spPr>
            <a:xfrm>
              <a:off x="7046976" y="821435"/>
              <a:ext cx="2036064" cy="88392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31736" y="798575"/>
              <a:ext cx="1943100" cy="96621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27164" y="801623"/>
              <a:ext cx="2024380" cy="871855"/>
            </a:xfrm>
            <a:custGeom>
              <a:avLst/>
              <a:gdLst/>
              <a:ahLst/>
              <a:cxnLst/>
              <a:rect l="l" t="t" r="r" b="b"/>
              <a:pathLst>
                <a:path w="2024379" h="871855">
                  <a:moveTo>
                    <a:pt x="1987550" y="0"/>
                  </a:moveTo>
                  <a:lnTo>
                    <a:pt x="36321" y="0"/>
                  </a:lnTo>
                  <a:lnTo>
                    <a:pt x="22181" y="2853"/>
                  </a:lnTo>
                  <a:lnTo>
                    <a:pt x="10636" y="10636"/>
                  </a:lnTo>
                  <a:lnTo>
                    <a:pt x="2853" y="22181"/>
                  </a:lnTo>
                  <a:lnTo>
                    <a:pt x="0" y="36322"/>
                  </a:lnTo>
                  <a:lnTo>
                    <a:pt x="0" y="835405"/>
                  </a:lnTo>
                  <a:lnTo>
                    <a:pt x="2853" y="849546"/>
                  </a:lnTo>
                  <a:lnTo>
                    <a:pt x="10636" y="861091"/>
                  </a:lnTo>
                  <a:lnTo>
                    <a:pt x="22181" y="868874"/>
                  </a:lnTo>
                  <a:lnTo>
                    <a:pt x="36321" y="871727"/>
                  </a:lnTo>
                  <a:lnTo>
                    <a:pt x="1987550" y="871727"/>
                  </a:lnTo>
                  <a:lnTo>
                    <a:pt x="2001690" y="868874"/>
                  </a:lnTo>
                  <a:lnTo>
                    <a:pt x="2013235" y="861091"/>
                  </a:lnTo>
                  <a:lnTo>
                    <a:pt x="2021018" y="849546"/>
                  </a:lnTo>
                  <a:lnTo>
                    <a:pt x="2023871" y="835405"/>
                  </a:lnTo>
                  <a:lnTo>
                    <a:pt x="2023871" y="36322"/>
                  </a:lnTo>
                  <a:lnTo>
                    <a:pt x="2021018" y="22181"/>
                  </a:lnTo>
                  <a:lnTo>
                    <a:pt x="2013235" y="10636"/>
                  </a:lnTo>
                  <a:lnTo>
                    <a:pt x="2001690" y="2853"/>
                  </a:lnTo>
                  <a:lnTo>
                    <a:pt x="1987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27164" y="801623"/>
              <a:ext cx="2024380" cy="871855"/>
            </a:xfrm>
            <a:custGeom>
              <a:avLst/>
              <a:gdLst/>
              <a:ahLst/>
              <a:cxnLst/>
              <a:rect l="l" t="t" r="r" b="b"/>
              <a:pathLst>
                <a:path w="2024379" h="871855">
                  <a:moveTo>
                    <a:pt x="0" y="36322"/>
                  </a:moveTo>
                  <a:lnTo>
                    <a:pt x="2853" y="22181"/>
                  </a:lnTo>
                  <a:lnTo>
                    <a:pt x="10636" y="10636"/>
                  </a:lnTo>
                  <a:lnTo>
                    <a:pt x="22181" y="2853"/>
                  </a:lnTo>
                  <a:lnTo>
                    <a:pt x="36321" y="0"/>
                  </a:lnTo>
                  <a:lnTo>
                    <a:pt x="1987550" y="0"/>
                  </a:lnTo>
                  <a:lnTo>
                    <a:pt x="2001690" y="2853"/>
                  </a:lnTo>
                  <a:lnTo>
                    <a:pt x="2013235" y="10636"/>
                  </a:lnTo>
                  <a:lnTo>
                    <a:pt x="2021018" y="22181"/>
                  </a:lnTo>
                  <a:lnTo>
                    <a:pt x="2023871" y="36322"/>
                  </a:lnTo>
                  <a:lnTo>
                    <a:pt x="2023871" y="835405"/>
                  </a:lnTo>
                  <a:lnTo>
                    <a:pt x="2021018" y="849546"/>
                  </a:lnTo>
                  <a:lnTo>
                    <a:pt x="2013235" y="861091"/>
                  </a:lnTo>
                  <a:lnTo>
                    <a:pt x="2001690" y="868874"/>
                  </a:lnTo>
                  <a:lnTo>
                    <a:pt x="1987550" y="871727"/>
                  </a:lnTo>
                  <a:lnTo>
                    <a:pt x="36321" y="871727"/>
                  </a:lnTo>
                  <a:lnTo>
                    <a:pt x="22181" y="868874"/>
                  </a:lnTo>
                  <a:lnTo>
                    <a:pt x="10636" y="861091"/>
                  </a:lnTo>
                  <a:lnTo>
                    <a:pt x="2853" y="849546"/>
                  </a:lnTo>
                  <a:lnTo>
                    <a:pt x="0" y="835405"/>
                  </a:lnTo>
                  <a:lnTo>
                    <a:pt x="0" y="36322"/>
                  </a:lnTo>
                  <a:close/>
                </a:path>
              </a:pathLst>
            </a:custGeom>
            <a:ln w="914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117842" y="820877"/>
            <a:ext cx="1647825" cy="805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AD DS</a:t>
            </a:r>
            <a:r>
              <a:rPr sz="1600" b="1" spc="-7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domain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ts val="1825"/>
              </a:lnSpc>
            </a:pPr>
            <a:r>
              <a:rPr sz="1600" b="1" spc="-10" dirty="0">
                <a:latin typeface="Verdana"/>
                <a:cs typeface="Verdana"/>
              </a:rPr>
              <a:t>controller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10" dirty="0">
                <a:latin typeface="Verdana"/>
                <a:cs typeface="Verdana"/>
              </a:rPr>
              <a:t>DNS</a:t>
            </a:r>
            <a:r>
              <a:rPr sz="1600" b="1" spc="-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218241" y="4058221"/>
            <a:ext cx="2061210" cy="869315"/>
            <a:chOff x="4218241" y="4058221"/>
            <a:chExt cx="2061210" cy="869315"/>
          </a:xfrm>
        </p:grpSpPr>
        <p:sp>
          <p:nvSpPr>
            <p:cNvPr id="28" name="object 28"/>
            <p:cNvSpPr/>
            <p:nvPr/>
          </p:nvSpPr>
          <p:spPr>
            <a:xfrm>
              <a:off x="4242815" y="4082796"/>
              <a:ext cx="2036064" cy="78333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26051" y="4058412"/>
              <a:ext cx="1359408" cy="86868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23003" y="4062984"/>
              <a:ext cx="2024380" cy="771525"/>
            </a:xfrm>
            <a:custGeom>
              <a:avLst/>
              <a:gdLst/>
              <a:ahLst/>
              <a:cxnLst/>
              <a:rect l="l" t="t" r="r" b="b"/>
              <a:pathLst>
                <a:path w="2024379" h="771525">
                  <a:moveTo>
                    <a:pt x="1991741" y="0"/>
                  </a:moveTo>
                  <a:lnTo>
                    <a:pt x="32131" y="0"/>
                  </a:lnTo>
                  <a:lnTo>
                    <a:pt x="19609" y="2520"/>
                  </a:lnTo>
                  <a:lnTo>
                    <a:pt x="9398" y="9398"/>
                  </a:lnTo>
                  <a:lnTo>
                    <a:pt x="2520" y="19609"/>
                  </a:lnTo>
                  <a:lnTo>
                    <a:pt x="0" y="32131"/>
                  </a:lnTo>
                  <a:lnTo>
                    <a:pt x="0" y="739013"/>
                  </a:lnTo>
                  <a:lnTo>
                    <a:pt x="2520" y="751534"/>
                  </a:lnTo>
                  <a:lnTo>
                    <a:pt x="9398" y="761746"/>
                  </a:lnTo>
                  <a:lnTo>
                    <a:pt x="19609" y="768623"/>
                  </a:lnTo>
                  <a:lnTo>
                    <a:pt x="32131" y="771144"/>
                  </a:lnTo>
                  <a:lnTo>
                    <a:pt x="1991741" y="771144"/>
                  </a:lnTo>
                  <a:lnTo>
                    <a:pt x="2004262" y="768623"/>
                  </a:lnTo>
                  <a:lnTo>
                    <a:pt x="2014474" y="761746"/>
                  </a:lnTo>
                  <a:lnTo>
                    <a:pt x="2021351" y="751534"/>
                  </a:lnTo>
                  <a:lnTo>
                    <a:pt x="2023872" y="739013"/>
                  </a:lnTo>
                  <a:lnTo>
                    <a:pt x="2023872" y="32131"/>
                  </a:lnTo>
                  <a:lnTo>
                    <a:pt x="2021351" y="19609"/>
                  </a:lnTo>
                  <a:lnTo>
                    <a:pt x="2014474" y="9398"/>
                  </a:lnTo>
                  <a:lnTo>
                    <a:pt x="2004262" y="2520"/>
                  </a:lnTo>
                  <a:lnTo>
                    <a:pt x="19917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23003" y="4062984"/>
              <a:ext cx="2024380" cy="771525"/>
            </a:xfrm>
            <a:custGeom>
              <a:avLst/>
              <a:gdLst/>
              <a:ahLst/>
              <a:cxnLst/>
              <a:rect l="l" t="t" r="r" b="b"/>
              <a:pathLst>
                <a:path w="2024379" h="771525">
                  <a:moveTo>
                    <a:pt x="0" y="32131"/>
                  </a:moveTo>
                  <a:lnTo>
                    <a:pt x="2520" y="19609"/>
                  </a:lnTo>
                  <a:lnTo>
                    <a:pt x="9398" y="9398"/>
                  </a:lnTo>
                  <a:lnTo>
                    <a:pt x="19609" y="2520"/>
                  </a:lnTo>
                  <a:lnTo>
                    <a:pt x="32131" y="0"/>
                  </a:lnTo>
                  <a:lnTo>
                    <a:pt x="1991741" y="0"/>
                  </a:lnTo>
                  <a:lnTo>
                    <a:pt x="2004262" y="2520"/>
                  </a:lnTo>
                  <a:lnTo>
                    <a:pt x="2014474" y="9398"/>
                  </a:lnTo>
                  <a:lnTo>
                    <a:pt x="2021351" y="19609"/>
                  </a:lnTo>
                  <a:lnTo>
                    <a:pt x="2023872" y="32131"/>
                  </a:lnTo>
                  <a:lnTo>
                    <a:pt x="2023872" y="739013"/>
                  </a:lnTo>
                  <a:lnTo>
                    <a:pt x="2021351" y="751534"/>
                  </a:lnTo>
                  <a:lnTo>
                    <a:pt x="2014474" y="761746"/>
                  </a:lnTo>
                  <a:lnTo>
                    <a:pt x="2004262" y="768623"/>
                  </a:lnTo>
                  <a:lnTo>
                    <a:pt x="1991741" y="771144"/>
                  </a:lnTo>
                  <a:lnTo>
                    <a:pt x="32131" y="771144"/>
                  </a:lnTo>
                  <a:lnTo>
                    <a:pt x="19609" y="768623"/>
                  </a:lnTo>
                  <a:lnTo>
                    <a:pt x="9398" y="761746"/>
                  </a:lnTo>
                  <a:lnTo>
                    <a:pt x="2520" y="751534"/>
                  </a:lnTo>
                  <a:lnTo>
                    <a:pt x="0" y="739013"/>
                  </a:lnTo>
                  <a:lnTo>
                    <a:pt x="0" y="32131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12411" y="4081653"/>
            <a:ext cx="1137920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5" dirty="0">
                <a:latin typeface="Verdana"/>
                <a:cs typeface="Verdana"/>
              </a:rPr>
              <a:t>Internal  </a:t>
            </a:r>
            <a:r>
              <a:rPr sz="1600" b="1" spc="-10" dirty="0">
                <a:latin typeface="Verdana"/>
                <a:cs typeface="Verdana"/>
              </a:rPr>
              <a:t>network  resourc</a:t>
            </a:r>
            <a:r>
              <a:rPr sz="1600" b="1" spc="-15" dirty="0">
                <a:latin typeface="Verdana"/>
                <a:cs typeface="Verdana"/>
              </a:rPr>
              <a:t>e</a:t>
            </a:r>
            <a:r>
              <a:rPr sz="1600" b="1" spc="-5" dirty="0">
                <a:latin typeface="Verdana"/>
                <a:cs typeface="Verdana"/>
              </a:rPr>
              <a:t>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873049" y="3206495"/>
            <a:ext cx="2061210" cy="1839595"/>
            <a:chOff x="6873049" y="3206495"/>
            <a:chExt cx="2061210" cy="1839595"/>
          </a:xfrm>
        </p:grpSpPr>
        <p:sp>
          <p:nvSpPr>
            <p:cNvPr id="34" name="object 34"/>
            <p:cNvSpPr/>
            <p:nvPr/>
          </p:nvSpPr>
          <p:spPr>
            <a:xfrm>
              <a:off x="7467599" y="3206495"/>
              <a:ext cx="1143000" cy="11780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897623" y="4424171"/>
              <a:ext cx="2036064" cy="55930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77811" y="4396739"/>
              <a:ext cx="1949196" cy="64922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77811" y="4404359"/>
              <a:ext cx="2024380" cy="547370"/>
            </a:xfrm>
            <a:custGeom>
              <a:avLst/>
              <a:gdLst/>
              <a:ahLst/>
              <a:cxnLst/>
              <a:rect l="l" t="t" r="r" b="b"/>
              <a:pathLst>
                <a:path w="2024379" h="547370">
                  <a:moveTo>
                    <a:pt x="2001012" y="0"/>
                  </a:moveTo>
                  <a:lnTo>
                    <a:pt x="22733" y="0"/>
                  </a:lnTo>
                  <a:lnTo>
                    <a:pt x="13876" y="1785"/>
                  </a:lnTo>
                  <a:lnTo>
                    <a:pt x="6651" y="6667"/>
                  </a:lnTo>
                  <a:lnTo>
                    <a:pt x="1783" y="13930"/>
                  </a:lnTo>
                  <a:lnTo>
                    <a:pt x="0" y="22859"/>
                  </a:lnTo>
                  <a:lnTo>
                    <a:pt x="0" y="524256"/>
                  </a:lnTo>
                  <a:lnTo>
                    <a:pt x="1783" y="533185"/>
                  </a:lnTo>
                  <a:lnTo>
                    <a:pt x="6651" y="540448"/>
                  </a:lnTo>
                  <a:lnTo>
                    <a:pt x="13876" y="545330"/>
                  </a:lnTo>
                  <a:lnTo>
                    <a:pt x="22733" y="547115"/>
                  </a:lnTo>
                  <a:lnTo>
                    <a:pt x="2001012" y="547115"/>
                  </a:lnTo>
                  <a:lnTo>
                    <a:pt x="2009941" y="545330"/>
                  </a:lnTo>
                  <a:lnTo>
                    <a:pt x="2017204" y="540448"/>
                  </a:lnTo>
                  <a:lnTo>
                    <a:pt x="2022086" y="533185"/>
                  </a:lnTo>
                  <a:lnTo>
                    <a:pt x="2023872" y="524256"/>
                  </a:lnTo>
                  <a:lnTo>
                    <a:pt x="2023872" y="22859"/>
                  </a:lnTo>
                  <a:lnTo>
                    <a:pt x="2022086" y="13930"/>
                  </a:lnTo>
                  <a:lnTo>
                    <a:pt x="2017204" y="6667"/>
                  </a:lnTo>
                  <a:lnTo>
                    <a:pt x="2009941" y="1785"/>
                  </a:lnTo>
                  <a:lnTo>
                    <a:pt x="2001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77811" y="4404359"/>
              <a:ext cx="2024380" cy="547370"/>
            </a:xfrm>
            <a:custGeom>
              <a:avLst/>
              <a:gdLst/>
              <a:ahLst/>
              <a:cxnLst/>
              <a:rect l="l" t="t" r="r" b="b"/>
              <a:pathLst>
                <a:path w="2024379" h="547370">
                  <a:moveTo>
                    <a:pt x="0" y="22859"/>
                  </a:moveTo>
                  <a:lnTo>
                    <a:pt x="1783" y="13930"/>
                  </a:lnTo>
                  <a:lnTo>
                    <a:pt x="6651" y="6667"/>
                  </a:lnTo>
                  <a:lnTo>
                    <a:pt x="13876" y="1785"/>
                  </a:lnTo>
                  <a:lnTo>
                    <a:pt x="22733" y="0"/>
                  </a:lnTo>
                  <a:lnTo>
                    <a:pt x="2001012" y="0"/>
                  </a:lnTo>
                  <a:lnTo>
                    <a:pt x="2009941" y="1785"/>
                  </a:lnTo>
                  <a:lnTo>
                    <a:pt x="2017204" y="6667"/>
                  </a:lnTo>
                  <a:lnTo>
                    <a:pt x="2022086" y="13930"/>
                  </a:lnTo>
                  <a:lnTo>
                    <a:pt x="2023872" y="22859"/>
                  </a:lnTo>
                  <a:lnTo>
                    <a:pt x="2023872" y="524256"/>
                  </a:lnTo>
                  <a:lnTo>
                    <a:pt x="2022086" y="533185"/>
                  </a:lnTo>
                  <a:lnTo>
                    <a:pt x="2017204" y="540448"/>
                  </a:lnTo>
                  <a:lnTo>
                    <a:pt x="2009941" y="545330"/>
                  </a:lnTo>
                  <a:lnTo>
                    <a:pt x="2001012" y="547115"/>
                  </a:lnTo>
                  <a:lnTo>
                    <a:pt x="22733" y="547115"/>
                  </a:lnTo>
                  <a:lnTo>
                    <a:pt x="13876" y="545330"/>
                  </a:lnTo>
                  <a:lnTo>
                    <a:pt x="6651" y="540448"/>
                  </a:lnTo>
                  <a:lnTo>
                    <a:pt x="1783" y="533185"/>
                  </a:lnTo>
                  <a:lnTo>
                    <a:pt x="0" y="524256"/>
                  </a:lnTo>
                  <a:lnTo>
                    <a:pt x="0" y="22859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964426" y="4420870"/>
            <a:ext cx="172847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5" dirty="0">
                <a:latin typeface="Verdana"/>
                <a:cs typeface="Verdana"/>
              </a:rPr>
              <a:t>Network  </a:t>
            </a:r>
            <a:r>
              <a:rPr sz="1600" b="1" spc="-10" dirty="0">
                <a:latin typeface="Verdana"/>
                <a:cs typeface="Verdana"/>
              </a:rPr>
              <a:t>location</a:t>
            </a:r>
            <a:r>
              <a:rPr sz="1600" b="1" spc="-1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687889" y="4978908"/>
            <a:ext cx="3435350" cy="1270000"/>
            <a:chOff x="3687889" y="4978908"/>
            <a:chExt cx="3435350" cy="1270000"/>
          </a:xfrm>
        </p:grpSpPr>
        <p:sp>
          <p:nvSpPr>
            <p:cNvPr id="41" name="object 41"/>
            <p:cNvSpPr/>
            <p:nvPr/>
          </p:nvSpPr>
          <p:spPr>
            <a:xfrm>
              <a:off x="5716524" y="4978908"/>
              <a:ext cx="1406652" cy="1269491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712464" y="5361432"/>
              <a:ext cx="2036064" cy="55778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692652" y="5332476"/>
              <a:ext cx="1591055" cy="64922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92652" y="5341620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2001139" y="0"/>
                  </a:moveTo>
                  <a:lnTo>
                    <a:pt x="22733" y="0"/>
                  </a:lnTo>
                  <a:lnTo>
                    <a:pt x="13876" y="1783"/>
                  </a:lnTo>
                  <a:lnTo>
                    <a:pt x="6651" y="6651"/>
                  </a:lnTo>
                  <a:lnTo>
                    <a:pt x="1783" y="13876"/>
                  </a:lnTo>
                  <a:lnTo>
                    <a:pt x="0" y="22732"/>
                  </a:lnTo>
                  <a:lnTo>
                    <a:pt x="0" y="522858"/>
                  </a:lnTo>
                  <a:lnTo>
                    <a:pt x="1783" y="531704"/>
                  </a:lnTo>
                  <a:lnTo>
                    <a:pt x="6651" y="538930"/>
                  </a:lnTo>
                  <a:lnTo>
                    <a:pt x="13876" y="543804"/>
                  </a:lnTo>
                  <a:lnTo>
                    <a:pt x="22733" y="545591"/>
                  </a:lnTo>
                  <a:lnTo>
                    <a:pt x="2001139" y="545591"/>
                  </a:lnTo>
                  <a:lnTo>
                    <a:pt x="2009995" y="543804"/>
                  </a:lnTo>
                  <a:lnTo>
                    <a:pt x="2017220" y="538930"/>
                  </a:lnTo>
                  <a:lnTo>
                    <a:pt x="2022088" y="531704"/>
                  </a:lnTo>
                  <a:lnTo>
                    <a:pt x="2023872" y="522858"/>
                  </a:lnTo>
                  <a:lnTo>
                    <a:pt x="2023872" y="22732"/>
                  </a:lnTo>
                  <a:lnTo>
                    <a:pt x="2022088" y="13876"/>
                  </a:lnTo>
                  <a:lnTo>
                    <a:pt x="2017220" y="6651"/>
                  </a:lnTo>
                  <a:lnTo>
                    <a:pt x="2009995" y="1783"/>
                  </a:lnTo>
                  <a:lnTo>
                    <a:pt x="20011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92652" y="5341620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0" y="22732"/>
                  </a:moveTo>
                  <a:lnTo>
                    <a:pt x="1783" y="13876"/>
                  </a:lnTo>
                  <a:lnTo>
                    <a:pt x="6651" y="6651"/>
                  </a:lnTo>
                  <a:lnTo>
                    <a:pt x="13876" y="1783"/>
                  </a:lnTo>
                  <a:lnTo>
                    <a:pt x="22733" y="0"/>
                  </a:lnTo>
                  <a:lnTo>
                    <a:pt x="2001139" y="0"/>
                  </a:lnTo>
                  <a:lnTo>
                    <a:pt x="2009995" y="1783"/>
                  </a:lnTo>
                  <a:lnTo>
                    <a:pt x="2017220" y="6651"/>
                  </a:lnTo>
                  <a:lnTo>
                    <a:pt x="2022088" y="13876"/>
                  </a:lnTo>
                  <a:lnTo>
                    <a:pt x="2023872" y="22732"/>
                  </a:lnTo>
                  <a:lnTo>
                    <a:pt x="2023872" y="522858"/>
                  </a:lnTo>
                  <a:lnTo>
                    <a:pt x="2022088" y="531704"/>
                  </a:lnTo>
                  <a:lnTo>
                    <a:pt x="2017220" y="538930"/>
                  </a:lnTo>
                  <a:lnTo>
                    <a:pt x="2009995" y="543804"/>
                  </a:lnTo>
                  <a:lnTo>
                    <a:pt x="2001139" y="545591"/>
                  </a:lnTo>
                  <a:lnTo>
                    <a:pt x="22733" y="545591"/>
                  </a:lnTo>
                  <a:lnTo>
                    <a:pt x="13876" y="543804"/>
                  </a:lnTo>
                  <a:lnTo>
                    <a:pt x="6651" y="538930"/>
                  </a:lnTo>
                  <a:lnTo>
                    <a:pt x="1783" y="531704"/>
                  </a:lnTo>
                  <a:lnTo>
                    <a:pt x="0" y="522858"/>
                  </a:lnTo>
                  <a:lnTo>
                    <a:pt x="0" y="22732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779265" y="5356986"/>
            <a:ext cx="1369060" cy="48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PKI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ts val="1825"/>
              </a:lnSpc>
            </a:pPr>
            <a:r>
              <a:rPr sz="1600" b="1" spc="-10" dirty="0">
                <a:latin typeface="Verdana"/>
                <a:cs typeface="Verdana"/>
              </a:rPr>
              <a:t>deployment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142085" y="1687449"/>
            <a:ext cx="4686935" cy="3340100"/>
            <a:chOff x="1142085" y="1687449"/>
            <a:chExt cx="4686935" cy="3340100"/>
          </a:xfrm>
        </p:grpSpPr>
        <p:sp>
          <p:nvSpPr>
            <p:cNvPr id="48" name="object 48"/>
            <p:cNvSpPr/>
            <p:nvPr/>
          </p:nvSpPr>
          <p:spPr>
            <a:xfrm>
              <a:off x="1142085" y="1687449"/>
              <a:ext cx="4686706" cy="333997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161032" y="2918460"/>
              <a:ext cx="890016" cy="559308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141219" y="2891027"/>
              <a:ext cx="922019" cy="649224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141219" y="2898647"/>
              <a:ext cx="878205" cy="547370"/>
            </a:xfrm>
            <a:custGeom>
              <a:avLst/>
              <a:gdLst/>
              <a:ahLst/>
              <a:cxnLst/>
              <a:rect l="l" t="t" r="r" b="b"/>
              <a:pathLst>
                <a:path w="878205" h="547370">
                  <a:moveTo>
                    <a:pt x="854963" y="0"/>
                  </a:moveTo>
                  <a:lnTo>
                    <a:pt x="22860" y="0"/>
                  </a:lnTo>
                  <a:lnTo>
                    <a:pt x="13930" y="1785"/>
                  </a:lnTo>
                  <a:lnTo>
                    <a:pt x="6667" y="6667"/>
                  </a:lnTo>
                  <a:lnTo>
                    <a:pt x="1785" y="13930"/>
                  </a:lnTo>
                  <a:lnTo>
                    <a:pt x="0" y="22860"/>
                  </a:lnTo>
                  <a:lnTo>
                    <a:pt x="0" y="524255"/>
                  </a:lnTo>
                  <a:lnTo>
                    <a:pt x="1785" y="533185"/>
                  </a:lnTo>
                  <a:lnTo>
                    <a:pt x="6667" y="540448"/>
                  </a:lnTo>
                  <a:lnTo>
                    <a:pt x="13930" y="545330"/>
                  </a:lnTo>
                  <a:lnTo>
                    <a:pt x="22860" y="547115"/>
                  </a:lnTo>
                  <a:lnTo>
                    <a:pt x="854963" y="547115"/>
                  </a:lnTo>
                  <a:lnTo>
                    <a:pt x="863893" y="545330"/>
                  </a:lnTo>
                  <a:lnTo>
                    <a:pt x="871156" y="540448"/>
                  </a:lnTo>
                  <a:lnTo>
                    <a:pt x="876038" y="533185"/>
                  </a:lnTo>
                  <a:lnTo>
                    <a:pt x="877824" y="524255"/>
                  </a:lnTo>
                  <a:lnTo>
                    <a:pt x="877824" y="22860"/>
                  </a:lnTo>
                  <a:lnTo>
                    <a:pt x="876038" y="13930"/>
                  </a:lnTo>
                  <a:lnTo>
                    <a:pt x="871156" y="6667"/>
                  </a:lnTo>
                  <a:lnTo>
                    <a:pt x="863893" y="1785"/>
                  </a:lnTo>
                  <a:lnTo>
                    <a:pt x="8549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141219" y="2898647"/>
              <a:ext cx="878205" cy="547370"/>
            </a:xfrm>
            <a:custGeom>
              <a:avLst/>
              <a:gdLst/>
              <a:ahLst/>
              <a:cxnLst/>
              <a:rect l="l" t="t" r="r" b="b"/>
              <a:pathLst>
                <a:path w="878205" h="547370">
                  <a:moveTo>
                    <a:pt x="0" y="22860"/>
                  </a:moveTo>
                  <a:lnTo>
                    <a:pt x="1785" y="13930"/>
                  </a:lnTo>
                  <a:lnTo>
                    <a:pt x="6667" y="6667"/>
                  </a:lnTo>
                  <a:lnTo>
                    <a:pt x="13930" y="1785"/>
                  </a:lnTo>
                  <a:lnTo>
                    <a:pt x="22860" y="0"/>
                  </a:lnTo>
                  <a:lnTo>
                    <a:pt x="854963" y="0"/>
                  </a:lnTo>
                  <a:lnTo>
                    <a:pt x="863893" y="1785"/>
                  </a:lnTo>
                  <a:lnTo>
                    <a:pt x="871156" y="6667"/>
                  </a:lnTo>
                  <a:lnTo>
                    <a:pt x="876038" y="13930"/>
                  </a:lnTo>
                  <a:lnTo>
                    <a:pt x="877824" y="22860"/>
                  </a:lnTo>
                  <a:lnTo>
                    <a:pt x="877824" y="524255"/>
                  </a:lnTo>
                  <a:lnTo>
                    <a:pt x="876038" y="533185"/>
                  </a:lnTo>
                  <a:lnTo>
                    <a:pt x="871156" y="540448"/>
                  </a:lnTo>
                  <a:lnTo>
                    <a:pt x="863893" y="545330"/>
                  </a:lnTo>
                  <a:lnTo>
                    <a:pt x="854963" y="547115"/>
                  </a:lnTo>
                  <a:lnTo>
                    <a:pt x="22860" y="547115"/>
                  </a:lnTo>
                  <a:lnTo>
                    <a:pt x="13930" y="545330"/>
                  </a:lnTo>
                  <a:lnTo>
                    <a:pt x="6667" y="540448"/>
                  </a:lnTo>
                  <a:lnTo>
                    <a:pt x="1785" y="533185"/>
                  </a:lnTo>
                  <a:lnTo>
                    <a:pt x="0" y="524255"/>
                  </a:lnTo>
                  <a:lnTo>
                    <a:pt x="0" y="22860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227326" y="2914904"/>
            <a:ext cx="70040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5" dirty="0">
                <a:latin typeface="Verdana"/>
                <a:cs typeface="Verdana"/>
              </a:rPr>
              <a:t>IP</a:t>
            </a:r>
            <a:r>
              <a:rPr sz="1600" b="1" spc="-15" dirty="0">
                <a:latin typeface="Verdana"/>
                <a:cs typeface="Verdana"/>
              </a:rPr>
              <a:t>v</a:t>
            </a:r>
            <a:r>
              <a:rPr sz="1600" b="1" dirty="0">
                <a:latin typeface="Verdana"/>
                <a:cs typeface="Verdana"/>
              </a:rPr>
              <a:t>6</a:t>
            </a:r>
            <a:r>
              <a:rPr sz="1600" b="1" spc="-5" dirty="0">
                <a:latin typeface="Verdana"/>
                <a:cs typeface="Verdana"/>
              </a:rPr>
              <a:t>\  IPsec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14300" y="2697479"/>
            <a:ext cx="2059305" cy="1492250"/>
            <a:chOff x="114300" y="2697479"/>
            <a:chExt cx="2059305" cy="1492250"/>
          </a:xfrm>
        </p:grpSpPr>
        <p:sp>
          <p:nvSpPr>
            <p:cNvPr id="55" name="object 55"/>
            <p:cNvSpPr/>
            <p:nvPr/>
          </p:nvSpPr>
          <p:spPr>
            <a:xfrm>
              <a:off x="169164" y="2697479"/>
              <a:ext cx="1210056" cy="109728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37159" y="3791711"/>
              <a:ext cx="2036064" cy="332231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14300" y="3759707"/>
              <a:ext cx="2019300" cy="429768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17347" y="3771900"/>
            <a:ext cx="2024380" cy="320040"/>
          </a:xfrm>
          <a:prstGeom prst="rect">
            <a:avLst/>
          </a:prstGeom>
          <a:solidFill>
            <a:srgbClr val="FFFFFF"/>
          </a:solidFill>
          <a:ln w="17906">
            <a:solidFill>
              <a:srgbClr val="4D4D4D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90"/>
              </a:spcBef>
            </a:pPr>
            <a:r>
              <a:rPr sz="1600" b="1" spc="-10" dirty="0">
                <a:latin typeface="Verdana"/>
                <a:cs typeface="Verdana"/>
              </a:rPr>
              <a:t>External</a:t>
            </a:r>
            <a:r>
              <a:rPr sz="1600" b="1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95071" y="2231135"/>
            <a:ext cx="1226820" cy="830580"/>
            <a:chOff x="195071" y="2231135"/>
            <a:chExt cx="1226820" cy="830580"/>
          </a:xfrm>
        </p:grpSpPr>
        <p:sp>
          <p:nvSpPr>
            <p:cNvPr id="60" name="object 60"/>
            <p:cNvSpPr/>
            <p:nvPr/>
          </p:nvSpPr>
          <p:spPr>
            <a:xfrm>
              <a:off x="347471" y="2566415"/>
              <a:ext cx="504444" cy="495300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95071" y="2560319"/>
              <a:ext cx="504444" cy="495300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25551" y="2258567"/>
              <a:ext cx="1196340" cy="559308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05739" y="2231135"/>
              <a:ext cx="1074420" cy="649224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05739" y="2238755"/>
              <a:ext cx="1184275" cy="547370"/>
            </a:xfrm>
            <a:custGeom>
              <a:avLst/>
              <a:gdLst/>
              <a:ahLst/>
              <a:cxnLst/>
              <a:rect l="l" t="t" r="r" b="b"/>
              <a:pathLst>
                <a:path w="1184275" h="547369">
                  <a:moveTo>
                    <a:pt x="1161288" y="0"/>
                  </a:moveTo>
                  <a:lnTo>
                    <a:pt x="22796" y="0"/>
                  </a:lnTo>
                  <a:lnTo>
                    <a:pt x="13924" y="1785"/>
                  </a:lnTo>
                  <a:lnTo>
                    <a:pt x="6678" y="6667"/>
                  </a:lnTo>
                  <a:lnTo>
                    <a:pt x="1792" y="13930"/>
                  </a:lnTo>
                  <a:lnTo>
                    <a:pt x="0" y="22860"/>
                  </a:lnTo>
                  <a:lnTo>
                    <a:pt x="0" y="524256"/>
                  </a:lnTo>
                  <a:lnTo>
                    <a:pt x="1792" y="533185"/>
                  </a:lnTo>
                  <a:lnTo>
                    <a:pt x="6678" y="540448"/>
                  </a:lnTo>
                  <a:lnTo>
                    <a:pt x="13924" y="545330"/>
                  </a:lnTo>
                  <a:lnTo>
                    <a:pt x="22796" y="547116"/>
                  </a:lnTo>
                  <a:lnTo>
                    <a:pt x="1161288" y="547116"/>
                  </a:lnTo>
                  <a:lnTo>
                    <a:pt x="1170217" y="545330"/>
                  </a:lnTo>
                  <a:lnTo>
                    <a:pt x="1177480" y="540448"/>
                  </a:lnTo>
                  <a:lnTo>
                    <a:pt x="1182362" y="533185"/>
                  </a:lnTo>
                  <a:lnTo>
                    <a:pt x="1184148" y="524256"/>
                  </a:lnTo>
                  <a:lnTo>
                    <a:pt x="1184148" y="22860"/>
                  </a:lnTo>
                  <a:lnTo>
                    <a:pt x="1182362" y="13930"/>
                  </a:lnTo>
                  <a:lnTo>
                    <a:pt x="1177480" y="6667"/>
                  </a:lnTo>
                  <a:lnTo>
                    <a:pt x="1170217" y="1785"/>
                  </a:lnTo>
                  <a:lnTo>
                    <a:pt x="1161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05739" y="2238755"/>
              <a:ext cx="1184275" cy="547370"/>
            </a:xfrm>
            <a:custGeom>
              <a:avLst/>
              <a:gdLst/>
              <a:ahLst/>
              <a:cxnLst/>
              <a:rect l="l" t="t" r="r" b="b"/>
              <a:pathLst>
                <a:path w="1184275" h="547369">
                  <a:moveTo>
                    <a:pt x="0" y="22860"/>
                  </a:moveTo>
                  <a:lnTo>
                    <a:pt x="1792" y="13930"/>
                  </a:lnTo>
                  <a:lnTo>
                    <a:pt x="6678" y="6667"/>
                  </a:lnTo>
                  <a:lnTo>
                    <a:pt x="13924" y="1785"/>
                  </a:lnTo>
                  <a:lnTo>
                    <a:pt x="22796" y="0"/>
                  </a:lnTo>
                  <a:lnTo>
                    <a:pt x="1161288" y="0"/>
                  </a:lnTo>
                  <a:lnTo>
                    <a:pt x="1170217" y="1785"/>
                  </a:lnTo>
                  <a:lnTo>
                    <a:pt x="1177480" y="6667"/>
                  </a:lnTo>
                  <a:lnTo>
                    <a:pt x="1182362" y="13930"/>
                  </a:lnTo>
                  <a:lnTo>
                    <a:pt x="1184148" y="22860"/>
                  </a:lnTo>
                  <a:lnTo>
                    <a:pt x="1184148" y="524256"/>
                  </a:lnTo>
                  <a:lnTo>
                    <a:pt x="1182362" y="533185"/>
                  </a:lnTo>
                  <a:lnTo>
                    <a:pt x="1177480" y="540448"/>
                  </a:lnTo>
                  <a:lnTo>
                    <a:pt x="1170217" y="545330"/>
                  </a:lnTo>
                  <a:lnTo>
                    <a:pt x="1161288" y="547116"/>
                  </a:lnTo>
                  <a:lnTo>
                    <a:pt x="22796" y="547116"/>
                  </a:lnTo>
                  <a:lnTo>
                    <a:pt x="13924" y="545330"/>
                  </a:lnTo>
                  <a:lnTo>
                    <a:pt x="6678" y="540448"/>
                  </a:lnTo>
                  <a:lnTo>
                    <a:pt x="1792" y="533185"/>
                  </a:lnTo>
                  <a:lnTo>
                    <a:pt x="0" y="524256"/>
                  </a:lnTo>
                  <a:lnTo>
                    <a:pt x="0" y="22860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291185" y="2254757"/>
            <a:ext cx="831215" cy="48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NRPT/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ts val="1825"/>
              </a:lnSpc>
            </a:pPr>
            <a:r>
              <a:rPr sz="1600" b="1" spc="-10" dirty="0">
                <a:latin typeface="Verdana"/>
                <a:cs typeface="Verdana"/>
              </a:rPr>
              <a:t>Consec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4814315" y="893063"/>
            <a:ext cx="2059305" cy="1469390"/>
            <a:chOff x="4814315" y="893063"/>
            <a:chExt cx="2059305" cy="1469390"/>
          </a:xfrm>
        </p:grpSpPr>
        <p:sp>
          <p:nvSpPr>
            <p:cNvPr id="68" name="object 68"/>
            <p:cNvSpPr/>
            <p:nvPr/>
          </p:nvSpPr>
          <p:spPr>
            <a:xfrm>
              <a:off x="5251703" y="1264920"/>
              <a:ext cx="1210055" cy="1097279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837175" y="923543"/>
              <a:ext cx="2036064" cy="33223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814315" y="893063"/>
              <a:ext cx="1999488" cy="429767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817363" y="903731"/>
              <a:ext cx="2024380" cy="320040"/>
            </a:xfrm>
            <a:custGeom>
              <a:avLst/>
              <a:gdLst/>
              <a:ahLst/>
              <a:cxnLst/>
              <a:rect l="l" t="t" r="r" b="b"/>
              <a:pathLst>
                <a:path w="2024379" h="320040">
                  <a:moveTo>
                    <a:pt x="2017903" y="0"/>
                  </a:moveTo>
                  <a:lnTo>
                    <a:pt x="5969" y="0"/>
                  </a:lnTo>
                  <a:lnTo>
                    <a:pt x="0" y="5968"/>
                  </a:lnTo>
                  <a:lnTo>
                    <a:pt x="0" y="314070"/>
                  </a:lnTo>
                  <a:lnTo>
                    <a:pt x="5969" y="320039"/>
                  </a:lnTo>
                  <a:lnTo>
                    <a:pt x="2017903" y="320039"/>
                  </a:lnTo>
                  <a:lnTo>
                    <a:pt x="2023871" y="314070"/>
                  </a:lnTo>
                  <a:lnTo>
                    <a:pt x="2023871" y="59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817364" y="903732"/>
            <a:ext cx="2024380" cy="320040"/>
          </a:xfrm>
          <a:prstGeom prst="rect">
            <a:avLst/>
          </a:prstGeom>
          <a:ln w="17906">
            <a:solidFill>
              <a:srgbClr val="4D4D4D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85"/>
              </a:spcBef>
            </a:pPr>
            <a:r>
              <a:rPr sz="1600" b="1" spc="-5" dirty="0">
                <a:latin typeface="Verdana"/>
                <a:cs typeface="Verdana"/>
              </a:rPr>
              <a:t>Internal</a:t>
            </a:r>
            <a:r>
              <a:rPr sz="1600" b="1" spc="-1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8036052" y="6265164"/>
            <a:ext cx="928369" cy="440690"/>
            <a:chOff x="8036052" y="6265164"/>
            <a:chExt cx="928369" cy="440690"/>
          </a:xfrm>
        </p:grpSpPr>
        <p:sp>
          <p:nvSpPr>
            <p:cNvPr id="74" name="object 74"/>
            <p:cNvSpPr/>
            <p:nvPr/>
          </p:nvSpPr>
          <p:spPr>
            <a:xfrm>
              <a:off x="8046720" y="6275832"/>
              <a:ext cx="917448" cy="429768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036052" y="6265164"/>
              <a:ext cx="914400" cy="426720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214360" y="6397752"/>
              <a:ext cx="188975" cy="179831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232648" y="6391656"/>
              <a:ext cx="176783" cy="167640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228076" y="6387084"/>
              <a:ext cx="185927" cy="176783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523732" y="6356604"/>
              <a:ext cx="304800" cy="243839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598408" y="6425184"/>
              <a:ext cx="132588" cy="134111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616696" y="6419088"/>
              <a:ext cx="120396" cy="121920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616696" y="6419088"/>
              <a:ext cx="120650" cy="121920"/>
            </a:xfrm>
            <a:custGeom>
              <a:avLst/>
              <a:gdLst/>
              <a:ahLst/>
              <a:cxnLst/>
              <a:rect l="l" t="t" r="r" b="b"/>
              <a:pathLst>
                <a:path w="120650" h="121920">
                  <a:moveTo>
                    <a:pt x="0" y="121920"/>
                  </a:moveTo>
                  <a:lnTo>
                    <a:pt x="120396" y="121920"/>
                  </a:lnTo>
                  <a:lnTo>
                    <a:pt x="120396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614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spc="-5" dirty="0"/>
              <a:t>the </a:t>
            </a:r>
            <a:r>
              <a:rPr dirty="0"/>
              <a:t>Name </a:t>
            </a:r>
            <a:r>
              <a:rPr spc="-10" dirty="0"/>
              <a:t>Resolution </a:t>
            </a:r>
            <a:r>
              <a:rPr spc="-5" dirty="0"/>
              <a:t>Policy</a:t>
            </a:r>
            <a:r>
              <a:rPr spc="135" dirty="0"/>
              <a:t> </a:t>
            </a:r>
            <a:r>
              <a:rPr spc="-5" dirty="0"/>
              <a:t>Table?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8157" y="2723197"/>
            <a:ext cx="8352155" cy="2439035"/>
            <a:chOff x="498157" y="2723197"/>
            <a:chExt cx="8352155" cy="2439035"/>
          </a:xfrm>
        </p:grpSpPr>
        <p:sp>
          <p:nvSpPr>
            <p:cNvPr id="4" name="object 4"/>
            <p:cNvSpPr/>
            <p:nvPr/>
          </p:nvSpPr>
          <p:spPr>
            <a:xfrm>
              <a:off x="502919" y="2727960"/>
              <a:ext cx="8342630" cy="2429510"/>
            </a:xfrm>
            <a:custGeom>
              <a:avLst/>
              <a:gdLst/>
              <a:ahLst/>
              <a:cxnLst/>
              <a:rect l="l" t="t" r="r" b="b"/>
              <a:pathLst>
                <a:path w="8342630" h="2429510">
                  <a:moveTo>
                    <a:pt x="8241157" y="0"/>
                  </a:moveTo>
                  <a:lnTo>
                    <a:pt x="101218" y="0"/>
                  </a:lnTo>
                  <a:lnTo>
                    <a:pt x="61818" y="7957"/>
                  </a:lnTo>
                  <a:lnTo>
                    <a:pt x="29644" y="29654"/>
                  </a:lnTo>
                  <a:lnTo>
                    <a:pt x="7953" y="61829"/>
                  </a:lnTo>
                  <a:lnTo>
                    <a:pt x="0" y="101218"/>
                  </a:lnTo>
                  <a:lnTo>
                    <a:pt x="0" y="2328037"/>
                  </a:lnTo>
                  <a:lnTo>
                    <a:pt x="7953" y="2367426"/>
                  </a:lnTo>
                  <a:lnTo>
                    <a:pt x="29644" y="2399601"/>
                  </a:lnTo>
                  <a:lnTo>
                    <a:pt x="61818" y="2421298"/>
                  </a:lnTo>
                  <a:lnTo>
                    <a:pt x="101218" y="2429256"/>
                  </a:lnTo>
                  <a:lnTo>
                    <a:pt x="8241157" y="2429256"/>
                  </a:lnTo>
                  <a:lnTo>
                    <a:pt x="8280546" y="2421298"/>
                  </a:lnTo>
                  <a:lnTo>
                    <a:pt x="8312721" y="2399601"/>
                  </a:lnTo>
                  <a:lnTo>
                    <a:pt x="8334418" y="2367426"/>
                  </a:lnTo>
                  <a:lnTo>
                    <a:pt x="8342376" y="2328037"/>
                  </a:lnTo>
                  <a:lnTo>
                    <a:pt x="8342376" y="101218"/>
                  </a:lnTo>
                  <a:lnTo>
                    <a:pt x="8334418" y="61829"/>
                  </a:lnTo>
                  <a:lnTo>
                    <a:pt x="8312721" y="29654"/>
                  </a:lnTo>
                  <a:lnTo>
                    <a:pt x="8280546" y="7957"/>
                  </a:lnTo>
                  <a:lnTo>
                    <a:pt x="8241157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2919" y="2727960"/>
              <a:ext cx="8342630" cy="2429510"/>
            </a:xfrm>
            <a:custGeom>
              <a:avLst/>
              <a:gdLst/>
              <a:ahLst/>
              <a:cxnLst/>
              <a:rect l="l" t="t" r="r" b="b"/>
              <a:pathLst>
                <a:path w="8342630" h="2429510">
                  <a:moveTo>
                    <a:pt x="0" y="101218"/>
                  </a:moveTo>
                  <a:lnTo>
                    <a:pt x="7953" y="61829"/>
                  </a:lnTo>
                  <a:lnTo>
                    <a:pt x="29644" y="29654"/>
                  </a:lnTo>
                  <a:lnTo>
                    <a:pt x="61818" y="7957"/>
                  </a:lnTo>
                  <a:lnTo>
                    <a:pt x="101218" y="0"/>
                  </a:lnTo>
                  <a:lnTo>
                    <a:pt x="8241157" y="0"/>
                  </a:lnTo>
                  <a:lnTo>
                    <a:pt x="8280546" y="7957"/>
                  </a:lnTo>
                  <a:lnTo>
                    <a:pt x="8312721" y="29654"/>
                  </a:lnTo>
                  <a:lnTo>
                    <a:pt x="8334418" y="61829"/>
                  </a:lnTo>
                  <a:lnTo>
                    <a:pt x="8342376" y="101218"/>
                  </a:lnTo>
                  <a:lnTo>
                    <a:pt x="8342376" y="2328037"/>
                  </a:lnTo>
                  <a:lnTo>
                    <a:pt x="8334418" y="2367426"/>
                  </a:lnTo>
                  <a:lnTo>
                    <a:pt x="8312721" y="2399601"/>
                  </a:lnTo>
                  <a:lnTo>
                    <a:pt x="8280546" y="2421298"/>
                  </a:lnTo>
                  <a:lnTo>
                    <a:pt x="8241157" y="2429256"/>
                  </a:lnTo>
                  <a:lnTo>
                    <a:pt x="101218" y="2429256"/>
                  </a:lnTo>
                  <a:lnTo>
                    <a:pt x="61818" y="2421298"/>
                  </a:lnTo>
                  <a:lnTo>
                    <a:pt x="29644" y="2399601"/>
                  </a:lnTo>
                  <a:lnTo>
                    <a:pt x="7953" y="2367426"/>
                  </a:lnTo>
                  <a:lnTo>
                    <a:pt x="0" y="2328037"/>
                  </a:lnTo>
                  <a:lnTo>
                    <a:pt x="0" y="10121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1811" y="3297936"/>
              <a:ext cx="7909559" cy="693420"/>
            </a:xfrm>
            <a:custGeom>
              <a:avLst/>
              <a:gdLst/>
              <a:ahLst/>
              <a:cxnLst/>
              <a:rect l="l" t="t" r="r" b="b"/>
              <a:pathLst>
                <a:path w="7909559" h="693420">
                  <a:moveTo>
                    <a:pt x="7880731" y="0"/>
                  </a:moveTo>
                  <a:lnTo>
                    <a:pt x="28892" y="0"/>
                  </a:lnTo>
                  <a:lnTo>
                    <a:pt x="17643" y="2272"/>
                  </a:lnTo>
                  <a:lnTo>
                    <a:pt x="8459" y="8461"/>
                  </a:lnTo>
                  <a:lnTo>
                    <a:pt x="2269" y="17627"/>
                  </a:lnTo>
                  <a:lnTo>
                    <a:pt x="0" y="28828"/>
                  </a:lnTo>
                  <a:lnTo>
                    <a:pt x="0" y="664590"/>
                  </a:lnTo>
                  <a:lnTo>
                    <a:pt x="2269" y="675792"/>
                  </a:lnTo>
                  <a:lnTo>
                    <a:pt x="8459" y="684958"/>
                  </a:lnTo>
                  <a:lnTo>
                    <a:pt x="17643" y="691147"/>
                  </a:lnTo>
                  <a:lnTo>
                    <a:pt x="28892" y="693419"/>
                  </a:lnTo>
                  <a:lnTo>
                    <a:pt x="7880731" y="693419"/>
                  </a:lnTo>
                  <a:lnTo>
                    <a:pt x="7891932" y="691147"/>
                  </a:lnTo>
                  <a:lnTo>
                    <a:pt x="7901098" y="684958"/>
                  </a:lnTo>
                  <a:lnTo>
                    <a:pt x="7907287" y="675792"/>
                  </a:lnTo>
                  <a:lnTo>
                    <a:pt x="7909559" y="664590"/>
                  </a:lnTo>
                  <a:lnTo>
                    <a:pt x="7909559" y="28828"/>
                  </a:lnTo>
                  <a:lnTo>
                    <a:pt x="7907287" y="17627"/>
                  </a:lnTo>
                  <a:lnTo>
                    <a:pt x="7901098" y="8461"/>
                  </a:lnTo>
                  <a:lnTo>
                    <a:pt x="7891932" y="2272"/>
                  </a:lnTo>
                  <a:lnTo>
                    <a:pt x="7880731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1811" y="3297936"/>
              <a:ext cx="7909559" cy="693420"/>
            </a:xfrm>
            <a:custGeom>
              <a:avLst/>
              <a:gdLst/>
              <a:ahLst/>
              <a:cxnLst/>
              <a:rect l="l" t="t" r="r" b="b"/>
              <a:pathLst>
                <a:path w="7909559" h="693420">
                  <a:moveTo>
                    <a:pt x="0" y="28828"/>
                  </a:moveTo>
                  <a:lnTo>
                    <a:pt x="2269" y="17627"/>
                  </a:lnTo>
                  <a:lnTo>
                    <a:pt x="8459" y="8461"/>
                  </a:lnTo>
                  <a:lnTo>
                    <a:pt x="17643" y="2272"/>
                  </a:lnTo>
                  <a:lnTo>
                    <a:pt x="28892" y="0"/>
                  </a:lnTo>
                  <a:lnTo>
                    <a:pt x="7880731" y="0"/>
                  </a:lnTo>
                  <a:lnTo>
                    <a:pt x="7891932" y="2272"/>
                  </a:lnTo>
                  <a:lnTo>
                    <a:pt x="7901098" y="8461"/>
                  </a:lnTo>
                  <a:lnTo>
                    <a:pt x="7907287" y="17627"/>
                  </a:lnTo>
                  <a:lnTo>
                    <a:pt x="7909559" y="28828"/>
                  </a:lnTo>
                  <a:lnTo>
                    <a:pt x="7909559" y="664590"/>
                  </a:lnTo>
                  <a:lnTo>
                    <a:pt x="7907287" y="675792"/>
                  </a:lnTo>
                  <a:lnTo>
                    <a:pt x="7901098" y="684958"/>
                  </a:lnTo>
                  <a:lnTo>
                    <a:pt x="7891932" y="691147"/>
                  </a:lnTo>
                  <a:lnTo>
                    <a:pt x="7880731" y="693419"/>
                  </a:lnTo>
                  <a:lnTo>
                    <a:pt x="28892" y="693419"/>
                  </a:lnTo>
                  <a:lnTo>
                    <a:pt x="17643" y="691147"/>
                  </a:lnTo>
                  <a:lnTo>
                    <a:pt x="8459" y="684958"/>
                  </a:lnTo>
                  <a:lnTo>
                    <a:pt x="2269" y="675792"/>
                  </a:lnTo>
                  <a:lnTo>
                    <a:pt x="0" y="664590"/>
                  </a:lnTo>
                  <a:lnTo>
                    <a:pt x="0" y="2882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3815" y="4152900"/>
              <a:ext cx="7911465" cy="696595"/>
            </a:xfrm>
            <a:custGeom>
              <a:avLst/>
              <a:gdLst/>
              <a:ahLst/>
              <a:cxnLst/>
              <a:rect l="l" t="t" r="r" b="b"/>
              <a:pathLst>
                <a:path w="7911465" h="696595">
                  <a:moveTo>
                    <a:pt x="7882128" y="0"/>
                  </a:moveTo>
                  <a:lnTo>
                    <a:pt x="29019" y="0"/>
                  </a:lnTo>
                  <a:lnTo>
                    <a:pt x="17723" y="2274"/>
                  </a:lnTo>
                  <a:lnTo>
                    <a:pt x="8499" y="8477"/>
                  </a:lnTo>
                  <a:lnTo>
                    <a:pt x="2280" y="17680"/>
                  </a:lnTo>
                  <a:lnTo>
                    <a:pt x="0" y="28956"/>
                  </a:lnTo>
                  <a:lnTo>
                    <a:pt x="0" y="667512"/>
                  </a:lnTo>
                  <a:lnTo>
                    <a:pt x="2280" y="678787"/>
                  </a:lnTo>
                  <a:lnTo>
                    <a:pt x="8499" y="687990"/>
                  </a:lnTo>
                  <a:lnTo>
                    <a:pt x="17723" y="694193"/>
                  </a:lnTo>
                  <a:lnTo>
                    <a:pt x="29019" y="696468"/>
                  </a:lnTo>
                  <a:lnTo>
                    <a:pt x="7882128" y="696468"/>
                  </a:lnTo>
                  <a:lnTo>
                    <a:pt x="7893403" y="694193"/>
                  </a:lnTo>
                  <a:lnTo>
                    <a:pt x="7902606" y="687990"/>
                  </a:lnTo>
                  <a:lnTo>
                    <a:pt x="7908809" y="678787"/>
                  </a:lnTo>
                  <a:lnTo>
                    <a:pt x="7911083" y="667512"/>
                  </a:lnTo>
                  <a:lnTo>
                    <a:pt x="7911083" y="28956"/>
                  </a:lnTo>
                  <a:lnTo>
                    <a:pt x="7908809" y="17680"/>
                  </a:lnTo>
                  <a:lnTo>
                    <a:pt x="7902606" y="8477"/>
                  </a:lnTo>
                  <a:lnTo>
                    <a:pt x="7893403" y="2274"/>
                  </a:lnTo>
                  <a:lnTo>
                    <a:pt x="788212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3815" y="4152900"/>
              <a:ext cx="7911465" cy="696595"/>
            </a:xfrm>
            <a:custGeom>
              <a:avLst/>
              <a:gdLst/>
              <a:ahLst/>
              <a:cxnLst/>
              <a:rect l="l" t="t" r="r" b="b"/>
              <a:pathLst>
                <a:path w="7911465" h="696595">
                  <a:moveTo>
                    <a:pt x="0" y="28956"/>
                  </a:moveTo>
                  <a:lnTo>
                    <a:pt x="2280" y="17680"/>
                  </a:lnTo>
                  <a:lnTo>
                    <a:pt x="8499" y="8477"/>
                  </a:lnTo>
                  <a:lnTo>
                    <a:pt x="17723" y="2274"/>
                  </a:lnTo>
                  <a:lnTo>
                    <a:pt x="29019" y="0"/>
                  </a:lnTo>
                  <a:lnTo>
                    <a:pt x="7882128" y="0"/>
                  </a:lnTo>
                  <a:lnTo>
                    <a:pt x="7893403" y="2274"/>
                  </a:lnTo>
                  <a:lnTo>
                    <a:pt x="7902606" y="8477"/>
                  </a:lnTo>
                  <a:lnTo>
                    <a:pt x="7908809" y="17680"/>
                  </a:lnTo>
                  <a:lnTo>
                    <a:pt x="7911083" y="28956"/>
                  </a:lnTo>
                  <a:lnTo>
                    <a:pt x="7911083" y="667512"/>
                  </a:lnTo>
                  <a:lnTo>
                    <a:pt x="7908809" y="678787"/>
                  </a:lnTo>
                  <a:lnTo>
                    <a:pt x="7902606" y="687990"/>
                  </a:lnTo>
                  <a:lnTo>
                    <a:pt x="7893403" y="694193"/>
                  </a:lnTo>
                  <a:lnTo>
                    <a:pt x="7882128" y="696468"/>
                  </a:lnTo>
                  <a:lnTo>
                    <a:pt x="29019" y="696468"/>
                  </a:lnTo>
                  <a:lnTo>
                    <a:pt x="17723" y="694193"/>
                  </a:lnTo>
                  <a:lnTo>
                    <a:pt x="8499" y="687990"/>
                  </a:lnTo>
                  <a:lnTo>
                    <a:pt x="2280" y="678787"/>
                  </a:lnTo>
                  <a:lnTo>
                    <a:pt x="0" y="667512"/>
                  </a:lnTo>
                  <a:lnTo>
                    <a:pt x="0" y="28956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07491" y="1437132"/>
            <a:ext cx="8353425" cy="1026160"/>
            <a:chOff x="507491" y="1437132"/>
            <a:chExt cx="8353425" cy="1026160"/>
          </a:xfrm>
        </p:grpSpPr>
        <p:sp>
          <p:nvSpPr>
            <p:cNvPr id="11" name="object 11"/>
            <p:cNvSpPr/>
            <p:nvPr/>
          </p:nvSpPr>
          <p:spPr>
            <a:xfrm>
              <a:off x="531875" y="1461516"/>
              <a:ext cx="8328659" cy="98602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9995" y="1485900"/>
              <a:ext cx="8008620" cy="9768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2063" y="1441704"/>
              <a:ext cx="8316467" cy="9738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2063" y="1441704"/>
              <a:ext cx="8316595" cy="974090"/>
            </a:xfrm>
            <a:custGeom>
              <a:avLst/>
              <a:gdLst/>
              <a:ahLst/>
              <a:cxnLst/>
              <a:rect l="l" t="t" r="r" b="b"/>
              <a:pathLst>
                <a:path w="8316595" h="974089">
                  <a:moveTo>
                    <a:pt x="0" y="40640"/>
                  </a:moveTo>
                  <a:lnTo>
                    <a:pt x="3189" y="24806"/>
                  </a:lnTo>
                  <a:lnTo>
                    <a:pt x="11887" y="11890"/>
                  </a:lnTo>
                  <a:lnTo>
                    <a:pt x="24785" y="3188"/>
                  </a:lnTo>
                  <a:lnTo>
                    <a:pt x="40576" y="0"/>
                  </a:lnTo>
                  <a:lnTo>
                    <a:pt x="8275828" y="0"/>
                  </a:lnTo>
                  <a:lnTo>
                    <a:pt x="8291661" y="3188"/>
                  </a:lnTo>
                  <a:lnTo>
                    <a:pt x="8304577" y="11890"/>
                  </a:lnTo>
                  <a:lnTo>
                    <a:pt x="8313279" y="24806"/>
                  </a:lnTo>
                  <a:lnTo>
                    <a:pt x="8316467" y="40640"/>
                  </a:lnTo>
                  <a:lnTo>
                    <a:pt x="8316467" y="933196"/>
                  </a:lnTo>
                  <a:lnTo>
                    <a:pt x="8313279" y="949029"/>
                  </a:lnTo>
                  <a:lnTo>
                    <a:pt x="8304577" y="961945"/>
                  </a:lnTo>
                  <a:lnTo>
                    <a:pt x="8291661" y="970647"/>
                  </a:lnTo>
                  <a:lnTo>
                    <a:pt x="8275828" y="973836"/>
                  </a:lnTo>
                  <a:lnTo>
                    <a:pt x="40576" y="973836"/>
                  </a:lnTo>
                  <a:lnTo>
                    <a:pt x="24785" y="970647"/>
                  </a:lnTo>
                  <a:lnTo>
                    <a:pt x="11887" y="961945"/>
                  </a:lnTo>
                  <a:lnTo>
                    <a:pt x="3189" y="949029"/>
                  </a:lnTo>
                  <a:lnTo>
                    <a:pt x="0" y="933196"/>
                  </a:lnTo>
                  <a:lnTo>
                    <a:pt x="0" y="40640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2579" y="1516456"/>
            <a:ext cx="8295640" cy="321564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21310" marR="314960" indent="-1270" algn="ctr">
              <a:lnSpc>
                <a:spcPct val="90100"/>
              </a:lnSpc>
              <a:spcBef>
                <a:spcPts val="315"/>
              </a:spcBef>
            </a:pPr>
            <a:r>
              <a:rPr sz="1800" b="1" spc="-5" dirty="0">
                <a:latin typeface="Verdana"/>
                <a:cs typeface="Verdana"/>
              </a:rPr>
              <a:t>NRPT </a:t>
            </a:r>
            <a:r>
              <a:rPr sz="1800" b="1" dirty="0">
                <a:latin typeface="Verdana"/>
                <a:cs typeface="Verdana"/>
              </a:rPr>
              <a:t>is a </a:t>
            </a:r>
            <a:r>
              <a:rPr sz="1800" b="1" spc="-5" dirty="0">
                <a:latin typeface="Verdana"/>
                <a:cs typeface="Verdana"/>
              </a:rPr>
              <a:t>table that defines DNS servers for different  namespaces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corresponding security settings. </a:t>
            </a:r>
            <a:r>
              <a:rPr sz="1800" b="1" dirty="0">
                <a:latin typeface="Verdana"/>
                <a:cs typeface="Verdana"/>
              </a:rPr>
              <a:t>It is </a:t>
            </a:r>
            <a:r>
              <a:rPr sz="1800" b="1" spc="-5" dirty="0">
                <a:latin typeface="Verdana"/>
                <a:cs typeface="Verdana"/>
              </a:rPr>
              <a:t>used  before </a:t>
            </a:r>
            <a:r>
              <a:rPr sz="1800" b="1" dirty="0">
                <a:latin typeface="Verdana"/>
                <a:cs typeface="Verdana"/>
              </a:rPr>
              <a:t>the adapter’s DNS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settings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250">
              <a:latin typeface="Verdana"/>
              <a:cs typeface="Verdana"/>
            </a:endParaRPr>
          </a:p>
          <a:p>
            <a:pPr marL="211454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Using</a:t>
            </a:r>
            <a:r>
              <a:rPr sz="1800" b="1" spc="-5" dirty="0">
                <a:latin typeface="Verdana"/>
                <a:cs typeface="Verdana"/>
              </a:rPr>
              <a:t> NRPT: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>
              <a:latin typeface="Verdana"/>
              <a:cs typeface="Verdana"/>
            </a:endParaRPr>
          </a:p>
          <a:p>
            <a:pPr marL="587375" marR="283210" indent="-228600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588010" algn="l"/>
              </a:tabLst>
            </a:pPr>
            <a:r>
              <a:rPr sz="1600" b="1" spc="-10" dirty="0">
                <a:latin typeface="Verdana"/>
                <a:cs typeface="Verdana"/>
              </a:rPr>
              <a:t>DNS servers can be defined for each DNS namespace rather </a:t>
            </a:r>
            <a:r>
              <a:rPr sz="1600" b="1" spc="-5" dirty="0">
                <a:latin typeface="Verdana"/>
                <a:cs typeface="Verdana"/>
              </a:rPr>
              <a:t>than  </a:t>
            </a:r>
            <a:r>
              <a:rPr sz="1600" b="1" spc="-10" dirty="0">
                <a:latin typeface="Verdana"/>
                <a:cs typeface="Verdana"/>
              </a:rPr>
              <a:t>for each</a:t>
            </a:r>
            <a:r>
              <a:rPr sz="1600" b="1" spc="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interface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2700">
              <a:latin typeface="Verdana"/>
              <a:cs typeface="Verdana"/>
            </a:endParaRPr>
          </a:p>
          <a:p>
            <a:pPr marL="619760" marR="1444625" indent="-229235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620395" algn="l"/>
              </a:tabLst>
            </a:pPr>
            <a:r>
              <a:rPr sz="1600" b="1" spc="-10" dirty="0">
                <a:latin typeface="Verdana"/>
                <a:cs typeface="Verdana"/>
              </a:rPr>
              <a:t>DNS queries for specific namespaces can be </a:t>
            </a:r>
            <a:r>
              <a:rPr sz="1600" b="1" spc="-5" dirty="0">
                <a:latin typeface="Verdana"/>
                <a:cs typeface="Verdana"/>
              </a:rPr>
              <a:t>optionally  </a:t>
            </a:r>
            <a:r>
              <a:rPr sz="1600" b="1" spc="-10" dirty="0">
                <a:latin typeface="Verdana"/>
                <a:cs typeface="Verdana"/>
              </a:rPr>
              <a:t>secured by using</a:t>
            </a:r>
            <a:r>
              <a:rPr sz="1600" b="1" spc="7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IPSec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098792" y="4552188"/>
            <a:ext cx="1489075" cy="1661160"/>
            <a:chOff x="7098792" y="4552188"/>
            <a:chExt cx="1489075" cy="1661160"/>
          </a:xfrm>
        </p:grpSpPr>
        <p:sp>
          <p:nvSpPr>
            <p:cNvPr id="17" name="object 17"/>
            <p:cNvSpPr/>
            <p:nvPr/>
          </p:nvSpPr>
          <p:spPr>
            <a:xfrm>
              <a:off x="7417308" y="4576572"/>
              <a:ext cx="1170431" cy="1556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02068" y="4561332"/>
              <a:ext cx="1149096" cy="15346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97496" y="4556760"/>
              <a:ext cx="1158240" cy="1544320"/>
            </a:xfrm>
            <a:custGeom>
              <a:avLst/>
              <a:gdLst/>
              <a:ahLst/>
              <a:cxnLst/>
              <a:rect l="l" t="t" r="r" b="b"/>
              <a:pathLst>
                <a:path w="1158240" h="1544320">
                  <a:moveTo>
                    <a:pt x="0" y="1543811"/>
                  </a:moveTo>
                  <a:lnTo>
                    <a:pt x="1158240" y="1543811"/>
                  </a:lnTo>
                  <a:lnTo>
                    <a:pt x="1158240" y="0"/>
                  </a:lnTo>
                  <a:lnTo>
                    <a:pt x="0" y="0"/>
                  </a:lnTo>
                  <a:lnTo>
                    <a:pt x="0" y="1543811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23176" y="4936236"/>
              <a:ext cx="766572" cy="127711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07936" y="4920996"/>
              <a:ext cx="745235" cy="125577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03364" y="4916424"/>
              <a:ext cx="754380" cy="1264920"/>
            </a:xfrm>
            <a:custGeom>
              <a:avLst/>
              <a:gdLst/>
              <a:ahLst/>
              <a:cxnLst/>
              <a:rect l="l" t="t" r="r" b="b"/>
              <a:pathLst>
                <a:path w="754379" h="1264920">
                  <a:moveTo>
                    <a:pt x="0" y="1264920"/>
                  </a:moveTo>
                  <a:lnTo>
                    <a:pt x="754379" y="1264920"/>
                  </a:lnTo>
                  <a:lnTo>
                    <a:pt x="754379" y="0"/>
                  </a:lnTo>
                  <a:lnTo>
                    <a:pt x="0" y="0"/>
                  </a:lnTo>
                  <a:lnTo>
                    <a:pt x="0" y="1264920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68896" y="5175504"/>
              <a:ext cx="830579" cy="27431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53656" y="5160264"/>
              <a:ext cx="809244" cy="25298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49084" y="5155692"/>
              <a:ext cx="818515" cy="262255"/>
            </a:xfrm>
            <a:custGeom>
              <a:avLst/>
              <a:gdLst/>
              <a:ahLst/>
              <a:cxnLst/>
              <a:rect l="l" t="t" r="r" b="b"/>
              <a:pathLst>
                <a:path w="818515" h="262254">
                  <a:moveTo>
                    <a:pt x="0" y="262128"/>
                  </a:moveTo>
                  <a:lnTo>
                    <a:pt x="818387" y="262128"/>
                  </a:lnTo>
                  <a:lnTo>
                    <a:pt x="818387" y="0"/>
                  </a:lnTo>
                  <a:lnTo>
                    <a:pt x="0" y="0"/>
                  </a:lnTo>
                  <a:lnTo>
                    <a:pt x="0" y="262128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791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DirectAccess Works for Internal</a:t>
            </a:r>
            <a:r>
              <a:rPr spc="114" dirty="0"/>
              <a:t> </a:t>
            </a:r>
            <a:r>
              <a:rPr spc="-5" dirty="0"/>
              <a:t>Clients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258" y="832486"/>
            <a:ext cx="7904480" cy="44977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ts val="1455"/>
              </a:lnSpc>
              <a:spcBef>
                <a:spcPts val="745"/>
              </a:spcBef>
              <a:tabLst>
                <a:tab pos="4064635" algn="l"/>
                <a:tab pos="6282055" algn="l"/>
              </a:tabLst>
            </a:pPr>
            <a:r>
              <a:rPr sz="1600" b="1" spc="-5" dirty="0">
                <a:latin typeface="Verdana"/>
                <a:cs typeface="Verdana"/>
              </a:rPr>
              <a:t>Internet</a:t>
            </a:r>
            <a:r>
              <a:rPr sz="1600" b="1" spc="1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Web</a:t>
            </a:r>
            <a:r>
              <a:rPr sz="1600" b="1" spc="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sites	</a:t>
            </a:r>
            <a:r>
              <a:rPr sz="1600" b="1" spc="-5" dirty="0">
                <a:latin typeface="Verdana"/>
                <a:cs typeface="Verdana"/>
              </a:rPr>
              <a:t>Internal</a:t>
            </a:r>
            <a:r>
              <a:rPr sz="1600" b="1" spc="1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	</a:t>
            </a:r>
            <a:r>
              <a:rPr sz="2400" b="1" spc="-7" baseline="26041" dirty="0">
                <a:latin typeface="Verdana"/>
                <a:cs typeface="Verdana"/>
              </a:rPr>
              <a:t>AD DS</a:t>
            </a:r>
            <a:r>
              <a:rPr sz="2400" b="1" spc="-120" baseline="26041" dirty="0">
                <a:latin typeface="Verdana"/>
                <a:cs typeface="Verdana"/>
              </a:rPr>
              <a:t> </a:t>
            </a:r>
            <a:r>
              <a:rPr sz="2400" b="1" spc="-15" baseline="26041" dirty="0">
                <a:latin typeface="Verdana"/>
                <a:cs typeface="Verdana"/>
              </a:rPr>
              <a:t>domain</a:t>
            </a:r>
            <a:endParaRPr sz="2400" baseline="26041">
              <a:latin typeface="Verdana"/>
              <a:cs typeface="Verdana"/>
            </a:endParaRPr>
          </a:p>
          <a:p>
            <a:pPr marL="6282055">
              <a:lnSpc>
                <a:spcPts val="1455"/>
              </a:lnSpc>
            </a:pPr>
            <a:r>
              <a:rPr sz="1600" b="1" spc="-10" dirty="0">
                <a:latin typeface="Verdana"/>
                <a:cs typeface="Verdana"/>
              </a:rPr>
              <a:t>controller</a:t>
            </a:r>
            <a:endParaRPr sz="1600">
              <a:latin typeface="Verdana"/>
              <a:cs typeface="Verdana"/>
            </a:endParaRPr>
          </a:p>
          <a:p>
            <a:pPr marL="5205095">
              <a:lnSpc>
                <a:spcPct val="100000"/>
              </a:lnSpc>
              <a:spcBef>
                <a:spcPts val="580"/>
              </a:spcBef>
              <a:tabLst>
                <a:tab pos="6282055" algn="l"/>
              </a:tabLst>
            </a:pPr>
            <a:r>
              <a:rPr sz="1600" b="1" spc="-10" dirty="0">
                <a:latin typeface="Verdana"/>
                <a:cs typeface="Verdana"/>
              </a:rPr>
              <a:t>Consec	DNS</a:t>
            </a:r>
            <a:r>
              <a:rPr sz="1600" b="1" spc="-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00">
              <a:latin typeface="Verdana"/>
              <a:cs typeface="Verdana"/>
            </a:endParaRPr>
          </a:p>
          <a:p>
            <a:pPr marL="2103120" marR="2924810">
              <a:lnSpc>
                <a:spcPts val="1730"/>
              </a:lnSpc>
              <a:spcBef>
                <a:spcPts val="5"/>
              </a:spcBef>
              <a:tabLst>
                <a:tab pos="4353560" algn="l"/>
              </a:tabLst>
            </a:pPr>
            <a:r>
              <a:rPr sz="1600" b="1" spc="-10" dirty="0">
                <a:latin typeface="Verdana"/>
                <a:cs typeface="Verdana"/>
              </a:rPr>
              <a:t>D</a:t>
            </a:r>
            <a:r>
              <a:rPr sz="1600" b="1" spc="-20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rectAc</a:t>
            </a:r>
            <a:r>
              <a:rPr sz="1600" b="1" spc="-15" dirty="0">
                <a:latin typeface="Verdana"/>
                <a:cs typeface="Verdana"/>
              </a:rPr>
              <a:t>c</a:t>
            </a:r>
            <a:r>
              <a:rPr sz="1600" b="1" spc="-10" dirty="0">
                <a:latin typeface="Verdana"/>
                <a:cs typeface="Verdana"/>
              </a:rPr>
              <a:t>es</a:t>
            </a:r>
            <a:r>
              <a:rPr sz="1600" b="1" spc="-5" dirty="0">
                <a:latin typeface="Verdana"/>
                <a:cs typeface="Verdana"/>
              </a:rPr>
              <a:t>s</a:t>
            </a:r>
            <a:r>
              <a:rPr sz="1600" b="1" dirty="0">
                <a:latin typeface="Verdana"/>
                <a:cs typeface="Verdana"/>
              </a:rPr>
              <a:t>	</a:t>
            </a:r>
            <a:r>
              <a:rPr sz="2400" b="1" spc="-7" baseline="-10416" dirty="0">
                <a:latin typeface="Verdana"/>
                <a:cs typeface="Verdana"/>
              </a:rPr>
              <a:t>NRPT 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50">
              <a:latin typeface="Verdana"/>
              <a:cs typeface="Verdana"/>
            </a:endParaRPr>
          </a:p>
          <a:p>
            <a:pPr marL="6128385" marR="64769">
              <a:lnSpc>
                <a:spcPts val="1730"/>
              </a:lnSpc>
              <a:spcBef>
                <a:spcPts val="5"/>
              </a:spcBef>
            </a:pPr>
            <a:r>
              <a:rPr sz="1600" b="1" spc="-5" dirty="0">
                <a:latin typeface="Verdana"/>
                <a:cs typeface="Verdana"/>
              </a:rPr>
              <a:t>Network  </a:t>
            </a:r>
            <a:r>
              <a:rPr sz="1600" b="1" spc="-10" dirty="0">
                <a:latin typeface="Verdana"/>
                <a:cs typeface="Verdana"/>
              </a:rPr>
              <a:t>location</a:t>
            </a:r>
            <a:r>
              <a:rPr sz="1600" b="1" spc="-1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  <a:p>
            <a:pPr marL="839469" algn="ctr">
              <a:lnSpc>
                <a:spcPct val="100000"/>
              </a:lnSpc>
              <a:spcBef>
                <a:spcPts val="1445"/>
              </a:spcBef>
            </a:pPr>
            <a:r>
              <a:rPr sz="1600" b="1" spc="-5" dirty="0">
                <a:latin typeface="Verdana"/>
                <a:cs typeface="Verdana"/>
              </a:rPr>
              <a:t>CRL </a:t>
            </a:r>
            <a:r>
              <a:rPr sz="1600" b="1" spc="-10" dirty="0">
                <a:latin typeface="Verdana"/>
                <a:cs typeface="Verdana"/>
              </a:rPr>
              <a:t>dist</a:t>
            </a:r>
            <a:r>
              <a:rPr sz="1600" b="1" spc="3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point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8093" y="796861"/>
            <a:ext cx="8335009" cy="5299710"/>
            <a:chOff x="748093" y="796861"/>
            <a:chExt cx="8335009" cy="5299710"/>
          </a:xfrm>
        </p:grpSpPr>
        <p:sp>
          <p:nvSpPr>
            <p:cNvPr id="5" name="object 5"/>
            <p:cNvSpPr/>
            <p:nvPr/>
          </p:nvSpPr>
          <p:spPr>
            <a:xfrm>
              <a:off x="990599" y="2127504"/>
              <a:ext cx="1304544" cy="13045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9219" y="1219200"/>
              <a:ext cx="1143000" cy="11780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34155" y="1063752"/>
              <a:ext cx="5367528" cy="50322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70120" y="3837431"/>
              <a:ext cx="1146048" cy="117652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00400" y="2321051"/>
              <a:ext cx="1069848" cy="12496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96199" y="1510283"/>
              <a:ext cx="1202436" cy="120091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43144" y="1510283"/>
              <a:ext cx="1210055" cy="109728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67599" y="3206495"/>
              <a:ext cx="1143000" cy="11780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2667" y="923543"/>
              <a:ext cx="2407920" cy="33223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9807" y="893063"/>
              <a:ext cx="2385060" cy="42976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2855" y="903731"/>
              <a:ext cx="2395855" cy="320040"/>
            </a:xfrm>
            <a:custGeom>
              <a:avLst/>
              <a:gdLst/>
              <a:ahLst/>
              <a:cxnLst/>
              <a:rect l="l" t="t" r="r" b="b"/>
              <a:pathLst>
                <a:path w="2395855" h="320040">
                  <a:moveTo>
                    <a:pt x="0" y="13334"/>
                  </a:moveTo>
                  <a:lnTo>
                    <a:pt x="0" y="5968"/>
                  </a:lnTo>
                  <a:lnTo>
                    <a:pt x="5968" y="0"/>
                  </a:lnTo>
                  <a:lnTo>
                    <a:pt x="13334" y="0"/>
                  </a:lnTo>
                  <a:lnTo>
                    <a:pt x="2382393" y="0"/>
                  </a:lnTo>
                  <a:lnTo>
                    <a:pt x="2389759" y="0"/>
                  </a:lnTo>
                  <a:lnTo>
                    <a:pt x="2395728" y="5968"/>
                  </a:lnTo>
                  <a:lnTo>
                    <a:pt x="2395728" y="13334"/>
                  </a:lnTo>
                  <a:lnTo>
                    <a:pt x="2395728" y="306704"/>
                  </a:lnTo>
                  <a:lnTo>
                    <a:pt x="2395728" y="314070"/>
                  </a:lnTo>
                  <a:lnTo>
                    <a:pt x="2389759" y="320039"/>
                  </a:lnTo>
                  <a:lnTo>
                    <a:pt x="2382393" y="320039"/>
                  </a:lnTo>
                  <a:lnTo>
                    <a:pt x="13334" y="320039"/>
                  </a:lnTo>
                  <a:lnTo>
                    <a:pt x="5968" y="320039"/>
                  </a:lnTo>
                  <a:lnTo>
                    <a:pt x="0" y="314070"/>
                  </a:lnTo>
                  <a:lnTo>
                    <a:pt x="0" y="306704"/>
                  </a:lnTo>
                  <a:lnTo>
                    <a:pt x="0" y="13334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72739" y="1908048"/>
              <a:ext cx="2036064" cy="55778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52927" y="1880615"/>
              <a:ext cx="1844039" cy="6492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52927" y="1888235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2001139" y="0"/>
                  </a:moveTo>
                  <a:lnTo>
                    <a:pt x="22733" y="0"/>
                  </a:lnTo>
                  <a:lnTo>
                    <a:pt x="13876" y="1783"/>
                  </a:lnTo>
                  <a:lnTo>
                    <a:pt x="6651" y="6651"/>
                  </a:lnTo>
                  <a:lnTo>
                    <a:pt x="1783" y="13876"/>
                  </a:lnTo>
                  <a:lnTo>
                    <a:pt x="0" y="22733"/>
                  </a:lnTo>
                  <a:lnTo>
                    <a:pt x="0" y="522859"/>
                  </a:lnTo>
                  <a:lnTo>
                    <a:pt x="1783" y="531715"/>
                  </a:lnTo>
                  <a:lnTo>
                    <a:pt x="6651" y="538940"/>
                  </a:lnTo>
                  <a:lnTo>
                    <a:pt x="13876" y="543808"/>
                  </a:lnTo>
                  <a:lnTo>
                    <a:pt x="22733" y="545591"/>
                  </a:lnTo>
                  <a:lnTo>
                    <a:pt x="2001139" y="545591"/>
                  </a:lnTo>
                  <a:lnTo>
                    <a:pt x="2009995" y="543808"/>
                  </a:lnTo>
                  <a:lnTo>
                    <a:pt x="2017220" y="538940"/>
                  </a:lnTo>
                  <a:lnTo>
                    <a:pt x="2022088" y="531715"/>
                  </a:lnTo>
                  <a:lnTo>
                    <a:pt x="2023872" y="522859"/>
                  </a:lnTo>
                  <a:lnTo>
                    <a:pt x="2023872" y="22733"/>
                  </a:lnTo>
                  <a:lnTo>
                    <a:pt x="2022088" y="13876"/>
                  </a:lnTo>
                  <a:lnTo>
                    <a:pt x="2017220" y="6651"/>
                  </a:lnTo>
                  <a:lnTo>
                    <a:pt x="2009995" y="1783"/>
                  </a:lnTo>
                  <a:lnTo>
                    <a:pt x="20011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52927" y="1888235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0" y="22733"/>
                  </a:moveTo>
                  <a:lnTo>
                    <a:pt x="1783" y="13876"/>
                  </a:lnTo>
                  <a:lnTo>
                    <a:pt x="6651" y="6651"/>
                  </a:lnTo>
                  <a:lnTo>
                    <a:pt x="13876" y="1783"/>
                  </a:lnTo>
                  <a:lnTo>
                    <a:pt x="22733" y="0"/>
                  </a:lnTo>
                  <a:lnTo>
                    <a:pt x="2001139" y="0"/>
                  </a:lnTo>
                  <a:lnTo>
                    <a:pt x="2009995" y="1783"/>
                  </a:lnTo>
                  <a:lnTo>
                    <a:pt x="2017220" y="6651"/>
                  </a:lnTo>
                  <a:lnTo>
                    <a:pt x="2022088" y="13876"/>
                  </a:lnTo>
                  <a:lnTo>
                    <a:pt x="2023872" y="22733"/>
                  </a:lnTo>
                  <a:lnTo>
                    <a:pt x="2023872" y="522859"/>
                  </a:lnTo>
                  <a:lnTo>
                    <a:pt x="2022088" y="531715"/>
                  </a:lnTo>
                  <a:lnTo>
                    <a:pt x="2017220" y="538940"/>
                  </a:lnTo>
                  <a:lnTo>
                    <a:pt x="2009995" y="543808"/>
                  </a:lnTo>
                  <a:lnTo>
                    <a:pt x="2001139" y="545591"/>
                  </a:lnTo>
                  <a:lnTo>
                    <a:pt x="22733" y="545591"/>
                  </a:lnTo>
                  <a:lnTo>
                    <a:pt x="13876" y="543808"/>
                  </a:lnTo>
                  <a:lnTo>
                    <a:pt x="6651" y="538940"/>
                  </a:lnTo>
                  <a:lnTo>
                    <a:pt x="1783" y="531715"/>
                  </a:lnTo>
                  <a:lnTo>
                    <a:pt x="0" y="522859"/>
                  </a:lnTo>
                  <a:lnTo>
                    <a:pt x="0" y="22733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37176" y="923543"/>
              <a:ext cx="2036064" cy="33223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14315" y="893063"/>
              <a:ext cx="1879091" cy="42976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17364" y="903731"/>
              <a:ext cx="2024380" cy="320040"/>
            </a:xfrm>
            <a:custGeom>
              <a:avLst/>
              <a:gdLst/>
              <a:ahLst/>
              <a:cxnLst/>
              <a:rect l="l" t="t" r="r" b="b"/>
              <a:pathLst>
                <a:path w="2024379" h="320040">
                  <a:moveTo>
                    <a:pt x="0" y="13334"/>
                  </a:moveTo>
                  <a:lnTo>
                    <a:pt x="0" y="5968"/>
                  </a:lnTo>
                  <a:lnTo>
                    <a:pt x="5969" y="0"/>
                  </a:lnTo>
                  <a:lnTo>
                    <a:pt x="13335" y="0"/>
                  </a:lnTo>
                  <a:lnTo>
                    <a:pt x="2010537" y="0"/>
                  </a:lnTo>
                  <a:lnTo>
                    <a:pt x="2017903" y="0"/>
                  </a:lnTo>
                  <a:lnTo>
                    <a:pt x="2023871" y="5968"/>
                  </a:lnTo>
                  <a:lnTo>
                    <a:pt x="2023871" y="13334"/>
                  </a:lnTo>
                  <a:lnTo>
                    <a:pt x="2023871" y="306704"/>
                  </a:lnTo>
                  <a:lnTo>
                    <a:pt x="2023871" y="314070"/>
                  </a:lnTo>
                  <a:lnTo>
                    <a:pt x="2017903" y="320039"/>
                  </a:lnTo>
                  <a:lnTo>
                    <a:pt x="2010537" y="320039"/>
                  </a:lnTo>
                  <a:lnTo>
                    <a:pt x="13335" y="320039"/>
                  </a:lnTo>
                  <a:lnTo>
                    <a:pt x="5969" y="320039"/>
                  </a:lnTo>
                  <a:lnTo>
                    <a:pt x="0" y="314070"/>
                  </a:lnTo>
                  <a:lnTo>
                    <a:pt x="0" y="306704"/>
                  </a:lnTo>
                  <a:lnTo>
                    <a:pt x="0" y="13334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46976" y="821435"/>
              <a:ext cx="2036064" cy="88392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31735" y="798575"/>
              <a:ext cx="1943100" cy="96621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27164" y="801623"/>
              <a:ext cx="2024380" cy="871855"/>
            </a:xfrm>
            <a:custGeom>
              <a:avLst/>
              <a:gdLst/>
              <a:ahLst/>
              <a:cxnLst/>
              <a:rect l="l" t="t" r="r" b="b"/>
              <a:pathLst>
                <a:path w="2024379" h="871855">
                  <a:moveTo>
                    <a:pt x="1987550" y="0"/>
                  </a:moveTo>
                  <a:lnTo>
                    <a:pt x="36321" y="0"/>
                  </a:lnTo>
                  <a:lnTo>
                    <a:pt x="22181" y="2853"/>
                  </a:lnTo>
                  <a:lnTo>
                    <a:pt x="10636" y="10636"/>
                  </a:lnTo>
                  <a:lnTo>
                    <a:pt x="2853" y="22181"/>
                  </a:lnTo>
                  <a:lnTo>
                    <a:pt x="0" y="36322"/>
                  </a:lnTo>
                  <a:lnTo>
                    <a:pt x="0" y="835405"/>
                  </a:lnTo>
                  <a:lnTo>
                    <a:pt x="2853" y="849546"/>
                  </a:lnTo>
                  <a:lnTo>
                    <a:pt x="10636" y="861091"/>
                  </a:lnTo>
                  <a:lnTo>
                    <a:pt x="22181" y="868874"/>
                  </a:lnTo>
                  <a:lnTo>
                    <a:pt x="36321" y="871727"/>
                  </a:lnTo>
                  <a:lnTo>
                    <a:pt x="1987550" y="871727"/>
                  </a:lnTo>
                  <a:lnTo>
                    <a:pt x="2001690" y="868874"/>
                  </a:lnTo>
                  <a:lnTo>
                    <a:pt x="2013235" y="861091"/>
                  </a:lnTo>
                  <a:lnTo>
                    <a:pt x="2021018" y="849546"/>
                  </a:lnTo>
                  <a:lnTo>
                    <a:pt x="2023871" y="835405"/>
                  </a:lnTo>
                  <a:lnTo>
                    <a:pt x="2023871" y="36322"/>
                  </a:lnTo>
                  <a:lnTo>
                    <a:pt x="2021018" y="22181"/>
                  </a:lnTo>
                  <a:lnTo>
                    <a:pt x="2013235" y="10636"/>
                  </a:lnTo>
                  <a:lnTo>
                    <a:pt x="2001690" y="2853"/>
                  </a:lnTo>
                  <a:lnTo>
                    <a:pt x="1987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27164" y="801623"/>
              <a:ext cx="2024380" cy="871855"/>
            </a:xfrm>
            <a:custGeom>
              <a:avLst/>
              <a:gdLst/>
              <a:ahLst/>
              <a:cxnLst/>
              <a:rect l="l" t="t" r="r" b="b"/>
              <a:pathLst>
                <a:path w="2024379" h="871855">
                  <a:moveTo>
                    <a:pt x="0" y="36322"/>
                  </a:moveTo>
                  <a:lnTo>
                    <a:pt x="2853" y="22181"/>
                  </a:lnTo>
                  <a:lnTo>
                    <a:pt x="10636" y="10636"/>
                  </a:lnTo>
                  <a:lnTo>
                    <a:pt x="22181" y="2853"/>
                  </a:lnTo>
                  <a:lnTo>
                    <a:pt x="36321" y="0"/>
                  </a:lnTo>
                  <a:lnTo>
                    <a:pt x="1987550" y="0"/>
                  </a:lnTo>
                  <a:lnTo>
                    <a:pt x="2001690" y="2853"/>
                  </a:lnTo>
                  <a:lnTo>
                    <a:pt x="2013235" y="10636"/>
                  </a:lnTo>
                  <a:lnTo>
                    <a:pt x="2021018" y="22181"/>
                  </a:lnTo>
                  <a:lnTo>
                    <a:pt x="2023871" y="36322"/>
                  </a:lnTo>
                  <a:lnTo>
                    <a:pt x="2023871" y="835405"/>
                  </a:lnTo>
                  <a:lnTo>
                    <a:pt x="2021018" y="849546"/>
                  </a:lnTo>
                  <a:lnTo>
                    <a:pt x="2013235" y="861091"/>
                  </a:lnTo>
                  <a:lnTo>
                    <a:pt x="2001690" y="868874"/>
                  </a:lnTo>
                  <a:lnTo>
                    <a:pt x="1987550" y="871727"/>
                  </a:lnTo>
                  <a:lnTo>
                    <a:pt x="36321" y="871727"/>
                  </a:lnTo>
                  <a:lnTo>
                    <a:pt x="22181" y="868874"/>
                  </a:lnTo>
                  <a:lnTo>
                    <a:pt x="10636" y="861091"/>
                  </a:lnTo>
                  <a:lnTo>
                    <a:pt x="2853" y="849546"/>
                  </a:lnTo>
                  <a:lnTo>
                    <a:pt x="0" y="835405"/>
                  </a:lnTo>
                  <a:lnTo>
                    <a:pt x="0" y="36322"/>
                  </a:lnTo>
                  <a:close/>
                </a:path>
              </a:pathLst>
            </a:custGeom>
            <a:ln w="914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51020" y="5077968"/>
              <a:ext cx="2036064" cy="33223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28159" y="5047488"/>
              <a:ext cx="1834895" cy="42976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31208" y="5058156"/>
              <a:ext cx="2024380" cy="320040"/>
            </a:xfrm>
            <a:custGeom>
              <a:avLst/>
              <a:gdLst/>
              <a:ahLst/>
              <a:cxnLst/>
              <a:rect l="l" t="t" r="r" b="b"/>
              <a:pathLst>
                <a:path w="2024379" h="320039">
                  <a:moveTo>
                    <a:pt x="2017902" y="0"/>
                  </a:moveTo>
                  <a:lnTo>
                    <a:pt x="5968" y="0"/>
                  </a:lnTo>
                  <a:lnTo>
                    <a:pt x="0" y="5969"/>
                  </a:lnTo>
                  <a:lnTo>
                    <a:pt x="0" y="314071"/>
                  </a:lnTo>
                  <a:lnTo>
                    <a:pt x="5968" y="320040"/>
                  </a:lnTo>
                  <a:lnTo>
                    <a:pt x="2017902" y="320040"/>
                  </a:lnTo>
                  <a:lnTo>
                    <a:pt x="2023871" y="314071"/>
                  </a:lnTo>
                  <a:lnTo>
                    <a:pt x="2023871" y="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31208" y="5058156"/>
              <a:ext cx="2024380" cy="320040"/>
            </a:xfrm>
            <a:custGeom>
              <a:avLst/>
              <a:gdLst/>
              <a:ahLst/>
              <a:cxnLst/>
              <a:rect l="l" t="t" r="r" b="b"/>
              <a:pathLst>
                <a:path w="2024379" h="320039">
                  <a:moveTo>
                    <a:pt x="0" y="13335"/>
                  </a:moveTo>
                  <a:lnTo>
                    <a:pt x="0" y="5969"/>
                  </a:lnTo>
                  <a:lnTo>
                    <a:pt x="5968" y="0"/>
                  </a:lnTo>
                  <a:lnTo>
                    <a:pt x="13334" y="0"/>
                  </a:lnTo>
                  <a:lnTo>
                    <a:pt x="2010537" y="0"/>
                  </a:lnTo>
                  <a:lnTo>
                    <a:pt x="2017902" y="0"/>
                  </a:lnTo>
                  <a:lnTo>
                    <a:pt x="2023871" y="5969"/>
                  </a:lnTo>
                  <a:lnTo>
                    <a:pt x="2023871" y="13335"/>
                  </a:lnTo>
                  <a:lnTo>
                    <a:pt x="2023871" y="306705"/>
                  </a:lnTo>
                  <a:lnTo>
                    <a:pt x="2023871" y="314071"/>
                  </a:lnTo>
                  <a:lnTo>
                    <a:pt x="2017902" y="320040"/>
                  </a:lnTo>
                  <a:lnTo>
                    <a:pt x="2010537" y="320040"/>
                  </a:lnTo>
                  <a:lnTo>
                    <a:pt x="13334" y="320040"/>
                  </a:lnTo>
                  <a:lnTo>
                    <a:pt x="5968" y="320040"/>
                  </a:lnTo>
                  <a:lnTo>
                    <a:pt x="0" y="314071"/>
                  </a:lnTo>
                  <a:lnTo>
                    <a:pt x="0" y="306705"/>
                  </a:lnTo>
                  <a:lnTo>
                    <a:pt x="0" y="13335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97623" y="4424171"/>
              <a:ext cx="2036064" cy="55930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77811" y="4396739"/>
              <a:ext cx="1949196" cy="64922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877811" y="4404359"/>
              <a:ext cx="2024380" cy="547370"/>
            </a:xfrm>
            <a:custGeom>
              <a:avLst/>
              <a:gdLst/>
              <a:ahLst/>
              <a:cxnLst/>
              <a:rect l="l" t="t" r="r" b="b"/>
              <a:pathLst>
                <a:path w="2024379" h="547370">
                  <a:moveTo>
                    <a:pt x="2001012" y="0"/>
                  </a:moveTo>
                  <a:lnTo>
                    <a:pt x="22733" y="0"/>
                  </a:lnTo>
                  <a:lnTo>
                    <a:pt x="13876" y="1785"/>
                  </a:lnTo>
                  <a:lnTo>
                    <a:pt x="6651" y="6667"/>
                  </a:lnTo>
                  <a:lnTo>
                    <a:pt x="1783" y="13930"/>
                  </a:lnTo>
                  <a:lnTo>
                    <a:pt x="0" y="22859"/>
                  </a:lnTo>
                  <a:lnTo>
                    <a:pt x="0" y="524256"/>
                  </a:lnTo>
                  <a:lnTo>
                    <a:pt x="1783" y="533185"/>
                  </a:lnTo>
                  <a:lnTo>
                    <a:pt x="6651" y="540448"/>
                  </a:lnTo>
                  <a:lnTo>
                    <a:pt x="13876" y="545330"/>
                  </a:lnTo>
                  <a:lnTo>
                    <a:pt x="22733" y="547115"/>
                  </a:lnTo>
                  <a:lnTo>
                    <a:pt x="2001012" y="547115"/>
                  </a:lnTo>
                  <a:lnTo>
                    <a:pt x="2009941" y="545330"/>
                  </a:lnTo>
                  <a:lnTo>
                    <a:pt x="2017204" y="540448"/>
                  </a:lnTo>
                  <a:lnTo>
                    <a:pt x="2022086" y="533185"/>
                  </a:lnTo>
                  <a:lnTo>
                    <a:pt x="2023872" y="524256"/>
                  </a:lnTo>
                  <a:lnTo>
                    <a:pt x="2023872" y="22859"/>
                  </a:lnTo>
                  <a:lnTo>
                    <a:pt x="2022086" y="13930"/>
                  </a:lnTo>
                  <a:lnTo>
                    <a:pt x="2017204" y="6667"/>
                  </a:lnTo>
                  <a:lnTo>
                    <a:pt x="2009941" y="1785"/>
                  </a:lnTo>
                  <a:lnTo>
                    <a:pt x="2001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77811" y="4404359"/>
              <a:ext cx="2024380" cy="547370"/>
            </a:xfrm>
            <a:custGeom>
              <a:avLst/>
              <a:gdLst/>
              <a:ahLst/>
              <a:cxnLst/>
              <a:rect l="l" t="t" r="r" b="b"/>
              <a:pathLst>
                <a:path w="2024379" h="547370">
                  <a:moveTo>
                    <a:pt x="0" y="22859"/>
                  </a:moveTo>
                  <a:lnTo>
                    <a:pt x="1783" y="13930"/>
                  </a:lnTo>
                  <a:lnTo>
                    <a:pt x="6651" y="6667"/>
                  </a:lnTo>
                  <a:lnTo>
                    <a:pt x="13876" y="1785"/>
                  </a:lnTo>
                  <a:lnTo>
                    <a:pt x="22733" y="0"/>
                  </a:lnTo>
                  <a:lnTo>
                    <a:pt x="2001012" y="0"/>
                  </a:lnTo>
                  <a:lnTo>
                    <a:pt x="2009941" y="1785"/>
                  </a:lnTo>
                  <a:lnTo>
                    <a:pt x="2017204" y="6667"/>
                  </a:lnTo>
                  <a:lnTo>
                    <a:pt x="2022086" y="13930"/>
                  </a:lnTo>
                  <a:lnTo>
                    <a:pt x="2023872" y="22859"/>
                  </a:lnTo>
                  <a:lnTo>
                    <a:pt x="2023872" y="524256"/>
                  </a:lnTo>
                  <a:lnTo>
                    <a:pt x="2022086" y="533185"/>
                  </a:lnTo>
                  <a:lnTo>
                    <a:pt x="2017204" y="540448"/>
                  </a:lnTo>
                  <a:lnTo>
                    <a:pt x="2009941" y="545330"/>
                  </a:lnTo>
                  <a:lnTo>
                    <a:pt x="2001012" y="547115"/>
                  </a:lnTo>
                  <a:lnTo>
                    <a:pt x="22733" y="547115"/>
                  </a:lnTo>
                  <a:lnTo>
                    <a:pt x="13876" y="545330"/>
                  </a:lnTo>
                  <a:lnTo>
                    <a:pt x="6651" y="540448"/>
                  </a:lnTo>
                  <a:lnTo>
                    <a:pt x="1783" y="533185"/>
                  </a:lnTo>
                  <a:lnTo>
                    <a:pt x="0" y="524256"/>
                  </a:lnTo>
                  <a:lnTo>
                    <a:pt x="0" y="22859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948171" y="1554479"/>
              <a:ext cx="441960" cy="495300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77127" y="1365504"/>
              <a:ext cx="1050035" cy="33223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54267" y="1335023"/>
              <a:ext cx="1050036" cy="429767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57315" y="1345691"/>
              <a:ext cx="1038225" cy="320040"/>
            </a:xfrm>
            <a:custGeom>
              <a:avLst/>
              <a:gdLst/>
              <a:ahLst/>
              <a:cxnLst/>
              <a:rect l="l" t="t" r="r" b="b"/>
              <a:pathLst>
                <a:path w="1038225" h="320039">
                  <a:moveTo>
                    <a:pt x="1031875" y="0"/>
                  </a:moveTo>
                  <a:lnTo>
                    <a:pt x="5969" y="0"/>
                  </a:lnTo>
                  <a:lnTo>
                    <a:pt x="0" y="5969"/>
                  </a:lnTo>
                  <a:lnTo>
                    <a:pt x="0" y="314071"/>
                  </a:lnTo>
                  <a:lnTo>
                    <a:pt x="5969" y="320040"/>
                  </a:lnTo>
                  <a:lnTo>
                    <a:pt x="1031875" y="320040"/>
                  </a:lnTo>
                  <a:lnTo>
                    <a:pt x="1037843" y="314071"/>
                  </a:lnTo>
                  <a:lnTo>
                    <a:pt x="1037843" y="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57315" y="1345691"/>
              <a:ext cx="1038225" cy="320040"/>
            </a:xfrm>
            <a:custGeom>
              <a:avLst/>
              <a:gdLst/>
              <a:ahLst/>
              <a:cxnLst/>
              <a:rect l="l" t="t" r="r" b="b"/>
              <a:pathLst>
                <a:path w="1038225" h="320039">
                  <a:moveTo>
                    <a:pt x="0" y="13335"/>
                  </a:moveTo>
                  <a:lnTo>
                    <a:pt x="0" y="5969"/>
                  </a:lnTo>
                  <a:lnTo>
                    <a:pt x="5969" y="0"/>
                  </a:lnTo>
                  <a:lnTo>
                    <a:pt x="13335" y="0"/>
                  </a:lnTo>
                  <a:lnTo>
                    <a:pt x="1024509" y="0"/>
                  </a:lnTo>
                  <a:lnTo>
                    <a:pt x="1031875" y="0"/>
                  </a:lnTo>
                  <a:lnTo>
                    <a:pt x="1037843" y="5969"/>
                  </a:lnTo>
                  <a:lnTo>
                    <a:pt x="1037843" y="13335"/>
                  </a:lnTo>
                  <a:lnTo>
                    <a:pt x="1037843" y="306705"/>
                  </a:lnTo>
                  <a:lnTo>
                    <a:pt x="1037843" y="314071"/>
                  </a:lnTo>
                  <a:lnTo>
                    <a:pt x="1031875" y="320040"/>
                  </a:lnTo>
                  <a:lnTo>
                    <a:pt x="1024509" y="320040"/>
                  </a:lnTo>
                  <a:lnTo>
                    <a:pt x="13335" y="320040"/>
                  </a:lnTo>
                  <a:lnTo>
                    <a:pt x="5969" y="320040"/>
                  </a:lnTo>
                  <a:lnTo>
                    <a:pt x="0" y="314071"/>
                  </a:lnTo>
                  <a:lnTo>
                    <a:pt x="0" y="306705"/>
                  </a:lnTo>
                  <a:lnTo>
                    <a:pt x="0" y="13335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144767" y="2470403"/>
              <a:ext cx="1481328" cy="113995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02502" y="2608325"/>
              <a:ext cx="1166495" cy="824865"/>
            </a:xfrm>
            <a:custGeom>
              <a:avLst/>
              <a:gdLst/>
              <a:ahLst/>
              <a:cxnLst/>
              <a:rect l="l" t="t" r="r" b="b"/>
              <a:pathLst>
                <a:path w="1166495" h="824864">
                  <a:moveTo>
                    <a:pt x="1049274" y="788162"/>
                  </a:moveTo>
                  <a:lnTo>
                    <a:pt x="1043051" y="793496"/>
                  </a:lnTo>
                  <a:lnTo>
                    <a:pt x="1041780" y="807720"/>
                  </a:lnTo>
                  <a:lnTo>
                    <a:pt x="1046988" y="814070"/>
                  </a:lnTo>
                  <a:lnTo>
                    <a:pt x="1165987" y="824484"/>
                  </a:lnTo>
                  <a:lnTo>
                    <a:pt x="1164015" y="820165"/>
                  </a:lnTo>
                  <a:lnTo>
                    <a:pt x="1137412" y="820165"/>
                  </a:lnTo>
                  <a:lnTo>
                    <a:pt x="1098241" y="792467"/>
                  </a:lnTo>
                  <a:lnTo>
                    <a:pt x="1049274" y="788162"/>
                  </a:lnTo>
                  <a:close/>
                </a:path>
                <a:path w="1166495" h="824864">
                  <a:moveTo>
                    <a:pt x="1098241" y="792467"/>
                  </a:moveTo>
                  <a:lnTo>
                    <a:pt x="1137412" y="820165"/>
                  </a:lnTo>
                  <a:lnTo>
                    <a:pt x="1141113" y="814959"/>
                  </a:lnTo>
                  <a:lnTo>
                    <a:pt x="1133094" y="814959"/>
                  </a:lnTo>
                  <a:lnTo>
                    <a:pt x="1123901" y="794723"/>
                  </a:lnTo>
                  <a:lnTo>
                    <a:pt x="1098241" y="792467"/>
                  </a:lnTo>
                  <a:close/>
                </a:path>
                <a:path w="1166495" h="824864">
                  <a:moveTo>
                    <a:pt x="1108837" y="712977"/>
                  </a:moveTo>
                  <a:lnTo>
                    <a:pt x="1102232" y="715899"/>
                  </a:lnTo>
                  <a:lnTo>
                    <a:pt x="1095755" y="718947"/>
                  </a:lnTo>
                  <a:lnTo>
                    <a:pt x="1092834" y="726566"/>
                  </a:lnTo>
                  <a:lnTo>
                    <a:pt x="1095882" y="733044"/>
                  </a:lnTo>
                  <a:lnTo>
                    <a:pt x="1113331" y="771455"/>
                  </a:lnTo>
                  <a:lnTo>
                    <a:pt x="1152398" y="799084"/>
                  </a:lnTo>
                  <a:lnTo>
                    <a:pt x="1137412" y="820165"/>
                  </a:lnTo>
                  <a:lnTo>
                    <a:pt x="1164015" y="820165"/>
                  </a:lnTo>
                  <a:lnTo>
                    <a:pt x="1119377" y="722376"/>
                  </a:lnTo>
                  <a:lnTo>
                    <a:pt x="1116456" y="715772"/>
                  </a:lnTo>
                  <a:lnTo>
                    <a:pt x="1108837" y="712977"/>
                  </a:lnTo>
                  <a:close/>
                </a:path>
                <a:path w="1166495" h="824864">
                  <a:moveTo>
                    <a:pt x="1123901" y="794723"/>
                  </a:moveTo>
                  <a:lnTo>
                    <a:pt x="1133094" y="814959"/>
                  </a:lnTo>
                  <a:lnTo>
                    <a:pt x="1146048" y="796671"/>
                  </a:lnTo>
                  <a:lnTo>
                    <a:pt x="1123901" y="794723"/>
                  </a:lnTo>
                  <a:close/>
                </a:path>
                <a:path w="1166495" h="824864">
                  <a:moveTo>
                    <a:pt x="1113331" y="771455"/>
                  </a:moveTo>
                  <a:lnTo>
                    <a:pt x="1123901" y="794723"/>
                  </a:lnTo>
                  <a:lnTo>
                    <a:pt x="1146048" y="796671"/>
                  </a:lnTo>
                  <a:lnTo>
                    <a:pt x="1133094" y="814959"/>
                  </a:lnTo>
                  <a:lnTo>
                    <a:pt x="1141113" y="814959"/>
                  </a:lnTo>
                  <a:lnTo>
                    <a:pt x="1152398" y="799084"/>
                  </a:lnTo>
                  <a:lnTo>
                    <a:pt x="1113331" y="771455"/>
                  </a:lnTo>
                  <a:close/>
                </a:path>
                <a:path w="1166495" h="824864">
                  <a:moveTo>
                    <a:pt x="41958" y="29633"/>
                  </a:moveTo>
                  <a:lnTo>
                    <a:pt x="52610" y="53082"/>
                  </a:lnTo>
                  <a:lnTo>
                    <a:pt x="1098241" y="792467"/>
                  </a:lnTo>
                  <a:lnTo>
                    <a:pt x="1123901" y="794723"/>
                  </a:lnTo>
                  <a:lnTo>
                    <a:pt x="1113331" y="771455"/>
                  </a:lnTo>
                  <a:lnTo>
                    <a:pt x="67611" y="31888"/>
                  </a:lnTo>
                  <a:lnTo>
                    <a:pt x="41958" y="29633"/>
                  </a:lnTo>
                  <a:close/>
                </a:path>
                <a:path w="1166495" h="824864">
                  <a:moveTo>
                    <a:pt x="0" y="0"/>
                  </a:moveTo>
                  <a:lnTo>
                    <a:pt x="46482" y="102108"/>
                  </a:lnTo>
                  <a:lnTo>
                    <a:pt x="49402" y="108585"/>
                  </a:lnTo>
                  <a:lnTo>
                    <a:pt x="57023" y="111506"/>
                  </a:lnTo>
                  <a:lnTo>
                    <a:pt x="63626" y="108458"/>
                  </a:lnTo>
                  <a:lnTo>
                    <a:pt x="70103" y="105537"/>
                  </a:lnTo>
                  <a:lnTo>
                    <a:pt x="73025" y="97789"/>
                  </a:lnTo>
                  <a:lnTo>
                    <a:pt x="69976" y="91312"/>
                  </a:lnTo>
                  <a:lnTo>
                    <a:pt x="52610" y="53082"/>
                  </a:lnTo>
                  <a:lnTo>
                    <a:pt x="13462" y="25400"/>
                  </a:lnTo>
                  <a:lnTo>
                    <a:pt x="28448" y="4190"/>
                  </a:lnTo>
                  <a:lnTo>
                    <a:pt x="47838" y="4190"/>
                  </a:lnTo>
                  <a:lnTo>
                    <a:pt x="0" y="0"/>
                  </a:lnTo>
                  <a:close/>
                </a:path>
                <a:path w="1166495" h="824864">
                  <a:moveTo>
                    <a:pt x="28448" y="4190"/>
                  </a:moveTo>
                  <a:lnTo>
                    <a:pt x="13462" y="25400"/>
                  </a:lnTo>
                  <a:lnTo>
                    <a:pt x="52610" y="53082"/>
                  </a:lnTo>
                  <a:lnTo>
                    <a:pt x="41958" y="29633"/>
                  </a:lnTo>
                  <a:lnTo>
                    <a:pt x="19812" y="27686"/>
                  </a:lnTo>
                  <a:lnTo>
                    <a:pt x="32765" y="9398"/>
                  </a:lnTo>
                  <a:lnTo>
                    <a:pt x="35810" y="9398"/>
                  </a:lnTo>
                  <a:lnTo>
                    <a:pt x="28448" y="4190"/>
                  </a:lnTo>
                  <a:close/>
                </a:path>
                <a:path w="1166495" h="824864">
                  <a:moveTo>
                    <a:pt x="47838" y="4190"/>
                  </a:moveTo>
                  <a:lnTo>
                    <a:pt x="28448" y="4190"/>
                  </a:lnTo>
                  <a:lnTo>
                    <a:pt x="67611" y="31888"/>
                  </a:lnTo>
                  <a:lnTo>
                    <a:pt x="116586" y="36195"/>
                  </a:lnTo>
                  <a:lnTo>
                    <a:pt x="122809" y="30861"/>
                  </a:lnTo>
                  <a:lnTo>
                    <a:pt x="124078" y="16637"/>
                  </a:lnTo>
                  <a:lnTo>
                    <a:pt x="118872" y="10413"/>
                  </a:lnTo>
                  <a:lnTo>
                    <a:pt x="47838" y="4190"/>
                  </a:lnTo>
                  <a:close/>
                </a:path>
                <a:path w="1166495" h="824864">
                  <a:moveTo>
                    <a:pt x="35810" y="9398"/>
                  </a:moveTo>
                  <a:lnTo>
                    <a:pt x="32765" y="9398"/>
                  </a:lnTo>
                  <a:lnTo>
                    <a:pt x="41958" y="29633"/>
                  </a:lnTo>
                  <a:lnTo>
                    <a:pt x="67611" y="31888"/>
                  </a:lnTo>
                  <a:lnTo>
                    <a:pt x="35810" y="9398"/>
                  </a:lnTo>
                  <a:close/>
                </a:path>
                <a:path w="1166495" h="824864">
                  <a:moveTo>
                    <a:pt x="32765" y="9398"/>
                  </a:moveTo>
                  <a:lnTo>
                    <a:pt x="19812" y="27686"/>
                  </a:lnTo>
                  <a:lnTo>
                    <a:pt x="41958" y="29633"/>
                  </a:lnTo>
                  <a:lnTo>
                    <a:pt x="32765" y="9398"/>
                  </a:lnTo>
                  <a:close/>
                </a:path>
              </a:pathLst>
            </a:custGeom>
            <a:solidFill>
              <a:srgbClr val="8DAC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08420" y="2028443"/>
              <a:ext cx="1446276" cy="32766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566153" y="2107310"/>
              <a:ext cx="1130935" cy="130175"/>
            </a:xfrm>
            <a:custGeom>
              <a:avLst/>
              <a:gdLst/>
              <a:ahLst/>
              <a:cxnLst/>
              <a:rect l="l" t="t" r="r" b="b"/>
              <a:pathLst>
                <a:path w="1130934" h="130175">
                  <a:moveTo>
                    <a:pt x="1057049" y="82942"/>
                  </a:moveTo>
                  <a:lnTo>
                    <a:pt x="1014349" y="107314"/>
                  </a:lnTo>
                  <a:lnTo>
                    <a:pt x="1012190" y="115188"/>
                  </a:lnTo>
                  <a:lnTo>
                    <a:pt x="1015746" y="121412"/>
                  </a:lnTo>
                  <a:lnTo>
                    <a:pt x="1019175" y="127635"/>
                  </a:lnTo>
                  <a:lnTo>
                    <a:pt x="1027176" y="129793"/>
                  </a:lnTo>
                  <a:lnTo>
                    <a:pt x="1108521" y="83438"/>
                  </a:lnTo>
                  <a:lnTo>
                    <a:pt x="1105027" y="83438"/>
                  </a:lnTo>
                  <a:lnTo>
                    <a:pt x="1057049" y="82942"/>
                  </a:lnTo>
                  <a:close/>
                </a:path>
                <a:path w="1130934" h="130175">
                  <a:moveTo>
                    <a:pt x="103631" y="0"/>
                  </a:moveTo>
                  <a:lnTo>
                    <a:pt x="0" y="59054"/>
                  </a:lnTo>
                  <a:lnTo>
                    <a:pt x="102362" y="120268"/>
                  </a:lnTo>
                  <a:lnTo>
                    <a:pt x="110363" y="118237"/>
                  </a:lnTo>
                  <a:lnTo>
                    <a:pt x="114046" y="112140"/>
                  </a:lnTo>
                  <a:lnTo>
                    <a:pt x="117728" y="105917"/>
                  </a:lnTo>
                  <a:lnTo>
                    <a:pt x="115697" y="98043"/>
                  </a:lnTo>
                  <a:lnTo>
                    <a:pt x="73358" y="72758"/>
                  </a:lnTo>
                  <a:lnTo>
                    <a:pt x="25526" y="72262"/>
                  </a:lnTo>
                  <a:lnTo>
                    <a:pt x="25780" y="46354"/>
                  </a:lnTo>
                  <a:lnTo>
                    <a:pt x="74565" y="46354"/>
                  </a:lnTo>
                  <a:lnTo>
                    <a:pt x="116459" y="22478"/>
                  </a:lnTo>
                  <a:lnTo>
                    <a:pt x="118618" y="14604"/>
                  </a:lnTo>
                  <a:lnTo>
                    <a:pt x="111505" y="2159"/>
                  </a:lnTo>
                  <a:lnTo>
                    <a:pt x="103631" y="0"/>
                  </a:lnTo>
                  <a:close/>
                </a:path>
                <a:path w="1130934" h="130175">
                  <a:moveTo>
                    <a:pt x="1079407" y="70180"/>
                  </a:moveTo>
                  <a:lnTo>
                    <a:pt x="1057049" y="82942"/>
                  </a:lnTo>
                  <a:lnTo>
                    <a:pt x="1105027" y="83438"/>
                  </a:lnTo>
                  <a:lnTo>
                    <a:pt x="1105045" y="81534"/>
                  </a:lnTo>
                  <a:lnTo>
                    <a:pt x="1098423" y="81534"/>
                  </a:lnTo>
                  <a:lnTo>
                    <a:pt x="1079407" y="70180"/>
                  </a:lnTo>
                  <a:close/>
                </a:path>
                <a:path w="1130934" h="130175">
                  <a:moveTo>
                    <a:pt x="1028319" y="9525"/>
                  </a:moveTo>
                  <a:lnTo>
                    <a:pt x="1020445" y="11556"/>
                  </a:lnTo>
                  <a:lnTo>
                    <a:pt x="1016762" y="17652"/>
                  </a:lnTo>
                  <a:lnTo>
                    <a:pt x="1013078" y="23875"/>
                  </a:lnTo>
                  <a:lnTo>
                    <a:pt x="1015111" y="31750"/>
                  </a:lnTo>
                  <a:lnTo>
                    <a:pt x="1057389" y="57035"/>
                  </a:lnTo>
                  <a:lnTo>
                    <a:pt x="1105280" y="57530"/>
                  </a:lnTo>
                  <a:lnTo>
                    <a:pt x="1105027" y="83438"/>
                  </a:lnTo>
                  <a:lnTo>
                    <a:pt x="1108521" y="83438"/>
                  </a:lnTo>
                  <a:lnTo>
                    <a:pt x="1130807" y="70738"/>
                  </a:lnTo>
                  <a:lnTo>
                    <a:pt x="1028319" y="9525"/>
                  </a:lnTo>
                  <a:close/>
                </a:path>
                <a:path w="1130934" h="130175">
                  <a:moveTo>
                    <a:pt x="73695" y="46851"/>
                  </a:moveTo>
                  <a:lnTo>
                    <a:pt x="51303" y="59612"/>
                  </a:lnTo>
                  <a:lnTo>
                    <a:pt x="73358" y="72758"/>
                  </a:lnTo>
                  <a:lnTo>
                    <a:pt x="1057049" y="82942"/>
                  </a:lnTo>
                  <a:lnTo>
                    <a:pt x="1079407" y="70180"/>
                  </a:lnTo>
                  <a:lnTo>
                    <a:pt x="1057389" y="57035"/>
                  </a:lnTo>
                  <a:lnTo>
                    <a:pt x="73695" y="46851"/>
                  </a:lnTo>
                  <a:close/>
                </a:path>
                <a:path w="1130934" h="130175">
                  <a:moveTo>
                    <a:pt x="1098677" y="59181"/>
                  </a:moveTo>
                  <a:lnTo>
                    <a:pt x="1079407" y="70180"/>
                  </a:lnTo>
                  <a:lnTo>
                    <a:pt x="1098423" y="81534"/>
                  </a:lnTo>
                  <a:lnTo>
                    <a:pt x="1098677" y="59181"/>
                  </a:lnTo>
                  <a:close/>
                </a:path>
                <a:path w="1130934" h="130175">
                  <a:moveTo>
                    <a:pt x="1105264" y="59181"/>
                  </a:moveTo>
                  <a:lnTo>
                    <a:pt x="1098677" y="59181"/>
                  </a:lnTo>
                  <a:lnTo>
                    <a:pt x="1098423" y="81534"/>
                  </a:lnTo>
                  <a:lnTo>
                    <a:pt x="1105045" y="81534"/>
                  </a:lnTo>
                  <a:lnTo>
                    <a:pt x="1105264" y="59181"/>
                  </a:lnTo>
                  <a:close/>
                </a:path>
                <a:path w="1130934" h="130175">
                  <a:moveTo>
                    <a:pt x="25780" y="46354"/>
                  </a:moveTo>
                  <a:lnTo>
                    <a:pt x="25526" y="72262"/>
                  </a:lnTo>
                  <a:lnTo>
                    <a:pt x="73358" y="72758"/>
                  </a:lnTo>
                  <a:lnTo>
                    <a:pt x="69757" y="70612"/>
                  </a:lnTo>
                  <a:lnTo>
                    <a:pt x="32003" y="70612"/>
                  </a:lnTo>
                  <a:lnTo>
                    <a:pt x="32257" y="48260"/>
                  </a:lnTo>
                  <a:lnTo>
                    <a:pt x="71223" y="48260"/>
                  </a:lnTo>
                  <a:lnTo>
                    <a:pt x="73695" y="46851"/>
                  </a:lnTo>
                  <a:lnTo>
                    <a:pt x="25780" y="46354"/>
                  </a:lnTo>
                  <a:close/>
                </a:path>
                <a:path w="1130934" h="130175">
                  <a:moveTo>
                    <a:pt x="32257" y="48260"/>
                  </a:moveTo>
                  <a:lnTo>
                    <a:pt x="32003" y="70612"/>
                  </a:lnTo>
                  <a:lnTo>
                    <a:pt x="51303" y="59612"/>
                  </a:lnTo>
                  <a:lnTo>
                    <a:pt x="32257" y="48260"/>
                  </a:lnTo>
                  <a:close/>
                </a:path>
                <a:path w="1130934" h="130175">
                  <a:moveTo>
                    <a:pt x="51303" y="59612"/>
                  </a:moveTo>
                  <a:lnTo>
                    <a:pt x="32003" y="70612"/>
                  </a:lnTo>
                  <a:lnTo>
                    <a:pt x="69757" y="70612"/>
                  </a:lnTo>
                  <a:lnTo>
                    <a:pt x="51303" y="59612"/>
                  </a:lnTo>
                  <a:close/>
                </a:path>
                <a:path w="1130934" h="130175">
                  <a:moveTo>
                    <a:pt x="1057389" y="57035"/>
                  </a:moveTo>
                  <a:lnTo>
                    <a:pt x="1079407" y="70180"/>
                  </a:lnTo>
                  <a:lnTo>
                    <a:pt x="1098677" y="59181"/>
                  </a:lnTo>
                  <a:lnTo>
                    <a:pt x="1105264" y="59181"/>
                  </a:lnTo>
                  <a:lnTo>
                    <a:pt x="1105280" y="57530"/>
                  </a:lnTo>
                  <a:lnTo>
                    <a:pt x="1057389" y="57035"/>
                  </a:lnTo>
                  <a:close/>
                </a:path>
                <a:path w="1130934" h="130175">
                  <a:moveTo>
                    <a:pt x="71223" y="48260"/>
                  </a:moveTo>
                  <a:lnTo>
                    <a:pt x="32257" y="48260"/>
                  </a:lnTo>
                  <a:lnTo>
                    <a:pt x="51303" y="59612"/>
                  </a:lnTo>
                  <a:lnTo>
                    <a:pt x="71223" y="48260"/>
                  </a:lnTo>
                  <a:close/>
                </a:path>
                <a:path w="1130934" h="130175">
                  <a:moveTo>
                    <a:pt x="74565" y="46354"/>
                  </a:moveTo>
                  <a:lnTo>
                    <a:pt x="25780" y="46354"/>
                  </a:lnTo>
                  <a:lnTo>
                    <a:pt x="73695" y="46851"/>
                  </a:lnTo>
                  <a:lnTo>
                    <a:pt x="74565" y="46354"/>
                  </a:lnTo>
                  <a:close/>
                </a:path>
              </a:pathLst>
            </a:custGeom>
            <a:solidFill>
              <a:srgbClr val="8DAC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55335" y="2436875"/>
              <a:ext cx="493775" cy="1580388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467858" y="2574797"/>
              <a:ext cx="268605" cy="1264920"/>
            </a:xfrm>
            <a:custGeom>
              <a:avLst/>
              <a:gdLst/>
              <a:ahLst/>
              <a:cxnLst/>
              <a:rect l="l" t="t" r="r" b="b"/>
              <a:pathLst>
                <a:path w="268604" h="1264920">
                  <a:moveTo>
                    <a:pt x="16509" y="1141095"/>
                  </a:moveTo>
                  <a:lnTo>
                    <a:pt x="9778" y="1143762"/>
                  </a:lnTo>
                  <a:lnTo>
                    <a:pt x="3175" y="1146556"/>
                  </a:lnTo>
                  <a:lnTo>
                    <a:pt x="0" y="1154049"/>
                  </a:lnTo>
                  <a:lnTo>
                    <a:pt x="2793" y="1160652"/>
                  </a:lnTo>
                  <a:lnTo>
                    <a:pt x="45212" y="1264539"/>
                  </a:lnTo>
                  <a:lnTo>
                    <a:pt x="63857" y="1240916"/>
                  </a:lnTo>
                  <a:lnTo>
                    <a:pt x="61594" y="1240916"/>
                  </a:lnTo>
                  <a:lnTo>
                    <a:pt x="35940" y="1237233"/>
                  </a:lnTo>
                  <a:lnTo>
                    <a:pt x="42628" y="1189791"/>
                  </a:lnTo>
                  <a:lnTo>
                    <a:pt x="26669" y="1150874"/>
                  </a:lnTo>
                  <a:lnTo>
                    <a:pt x="24002" y="1144270"/>
                  </a:lnTo>
                  <a:lnTo>
                    <a:pt x="16509" y="1141095"/>
                  </a:lnTo>
                  <a:close/>
                </a:path>
                <a:path w="268604" h="1264920">
                  <a:moveTo>
                    <a:pt x="42628" y="1189791"/>
                  </a:moveTo>
                  <a:lnTo>
                    <a:pt x="35940" y="1237233"/>
                  </a:lnTo>
                  <a:lnTo>
                    <a:pt x="61594" y="1240916"/>
                  </a:lnTo>
                  <a:lnTo>
                    <a:pt x="62543" y="1234185"/>
                  </a:lnTo>
                  <a:lnTo>
                    <a:pt x="60832" y="1234185"/>
                  </a:lnTo>
                  <a:lnTo>
                    <a:pt x="38607" y="1231010"/>
                  </a:lnTo>
                  <a:lnTo>
                    <a:pt x="52379" y="1213569"/>
                  </a:lnTo>
                  <a:lnTo>
                    <a:pt x="42628" y="1189791"/>
                  </a:lnTo>
                  <a:close/>
                </a:path>
                <a:path w="268604" h="1264920">
                  <a:moveTo>
                    <a:pt x="106933" y="1153795"/>
                  </a:moveTo>
                  <a:lnTo>
                    <a:pt x="98805" y="1154810"/>
                  </a:lnTo>
                  <a:lnTo>
                    <a:pt x="68289" y="1193418"/>
                  </a:lnTo>
                  <a:lnTo>
                    <a:pt x="61594" y="1240916"/>
                  </a:lnTo>
                  <a:lnTo>
                    <a:pt x="63857" y="1240916"/>
                  </a:lnTo>
                  <a:lnTo>
                    <a:pt x="114680" y="1176527"/>
                  </a:lnTo>
                  <a:lnTo>
                    <a:pt x="119125" y="1170813"/>
                  </a:lnTo>
                  <a:lnTo>
                    <a:pt x="118109" y="1162684"/>
                  </a:lnTo>
                  <a:lnTo>
                    <a:pt x="106933" y="1153795"/>
                  </a:lnTo>
                  <a:close/>
                </a:path>
                <a:path w="268604" h="1264920">
                  <a:moveTo>
                    <a:pt x="52379" y="1213569"/>
                  </a:moveTo>
                  <a:lnTo>
                    <a:pt x="38607" y="1231010"/>
                  </a:lnTo>
                  <a:lnTo>
                    <a:pt x="60832" y="1234185"/>
                  </a:lnTo>
                  <a:lnTo>
                    <a:pt x="52379" y="1213569"/>
                  </a:lnTo>
                  <a:close/>
                </a:path>
                <a:path w="268604" h="1264920">
                  <a:moveTo>
                    <a:pt x="68289" y="1193418"/>
                  </a:moveTo>
                  <a:lnTo>
                    <a:pt x="52379" y="1213569"/>
                  </a:lnTo>
                  <a:lnTo>
                    <a:pt x="60832" y="1234185"/>
                  </a:lnTo>
                  <a:lnTo>
                    <a:pt x="62543" y="1234185"/>
                  </a:lnTo>
                  <a:lnTo>
                    <a:pt x="68289" y="1193418"/>
                  </a:lnTo>
                  <a:close/>
                </a:path>
                <a:path w="268604" h="1264920">
                  <a:moveTo>
                    <a:pt x="216179" y="50901"/>
                  </a:moveTo>
                  <a:lnTo>
                    <a:pt x="200336" y="70966"/>
                  </a:lnTo>
                  <a:lnTo>
                    <a:pt x="42628" y="1189791"/>
                  </a:lnTo>
                  <a:lnTo>
                    <a:pt x="52379" y="1213569"/>
                  </a:lnTo>
                  <a:lnTo>
                    <a:pt x="68289" y="1193418"/>
                  </a:lnTo>
                  <a:lnTo>
                    <a:pt x="225953" y="74789"/>
                  </a:lnTo>
                  <a:lnTo>
                    <a:pt x="216179" y="50901"/>
                  </a:lnTo>
                  <a:close/>
                </a:path>
                <a:path w="268604" h="1264920">
                  <a:moveTo>
                    <a:pt x="233049" y="23622"/>
                  </a:moveTo>
                  <a:lnTo>
                    <a:pt x="207009" y="23622"/>
                  </a:lnTo>
                  <a:lnTo>
                    <a:pt x="232663" y="27177"/>
                  </a:lnTo>
                  <a:lnTo>
                    <a:pt x="225953" y="74789"/>
                  </a:lnTo>
                  <a:lnTo>
                    <a:pt x="241807" y="113537"/>
                  </a:lnTo>
                  <a:lnTo>
                    <a:pt x="244601" y="120268"/>
                  </a:lnTo>
                  <a:lnTo>
                    <a:pt x="252094" y="123443"/>
                  </a:lnTo>
                  <a:lnTo>
                    <a:pt x="258699" y="120650"/>
                  </a:lnTo>
                  <a:lnTo>
                    <a:pt x="265429" y="117982"/>
                  </a:lnTo>
                  <a:lnTo>
                    <a:pt x="268604" y="110362"/>
                  </a:lnTo>
                  <a:lnTo>
                    <a:pt x="265811" y="103759"/>
                  </a:lnTo>
                  <a:lnTo>
                    <a:pt x="233049" y="23622"/>
                  </a:lnTo>
                  <a:close/>
                </a:path>
                <a:path w="268604" h="1264920">
                  <a:moveTo>
                    <a:pt x="223392" y="0"/>
                  </a:moveTo>
                  <a:lnTo>
                    <a:pt x="149478" y="93599"/>
                  </a:lnTo>
                  <a:lnTo>
                    <a:pt x="150367" y="101726"/>
                  </a:lnTo>
                  <a:lnTo>
                    <a:pt x="156082" y="106172"/>
                  </a:lnTo>
                  <a:lnTo>
                    <a:pt x="161670" y="110616"/>
                  </a:lnTo>
                  <a:lnTo>
                    <a:pt x="169799" y="109727"/>
                  </a:lnTo>
                  <a:lnTo>
                    <a:pt x="174243" y="104012"/>
                  </a:lnTo>
                  <a:lnTo>
                    <a:pt x="200336" y="70966"/>
                  </a:lnTo>
                  <a:lnTo>
                    <a:pt x="207009" y="23622"/>
                  </a:lnTo>
                  <a:lnTo>
                    <a:pt x="233049" y="23622"/>
                  </a:lnTo>
                  <a:lnTo>
                    <a:pt x="223392" y="0"/>
                  </a:lnTo>
                  <a:close/>
                </a:path>
                <a:path w="268604" h="1264920">
                  <a:moveTo>
                    <a:pt x="232216" y="30352"/>
                  </a:moveTo>
                  <a:lnTo>
                    <a:pt x="207771" y="30352"/>
                  </a:lnTo>
                  <a:lnTo>
                    <a:pt x="229996" y="33400"/>
                  </a:lnTo>
                  <a:lnTo>
                    <a:pt x="216179" y="50901"/>
                  </a:lnTo>
                  <a:lnTo>
                    <a:pt x="225953" y="74789"/>
                  </a:lnTo>
                  <a:lnTo>
                    <a:pt x="232216" y="30352"/>
                  </a:lnTo>
                  <a:close/>
                </a:path>
                <a:path w="268604" h="1264920">
                  <a:moveTo>
                    <a:pt x="207009" y="23622"/>
                  </a:moveTo>
                  <a:lnTo>
                    <a:pt x="200336" y="70966"/>
                  </a:lnTo>
                  <a:lnTo>
                    <a:pt x="216179" y="50901"/>
                  </a:lnTo>
                  <a:lnTo>
                    <a:pt x="207771" y="30352"/>
                  </a:lnTo>
                  <a:lnTo>
                    <a:pt x="232216" y="30352"/>
                  </a:lnTo>
                  <a:lnTo>
                    <a:pt x="232663" y="27177"/>
                  </a:lnTo>
                  <a:lnTo>
                    <a:pt x="207009" y="23622"/>
                  </a:lnTo>
                  <a:close/>
                </a:path>
                <a:path w="268604" h="1264920">
                  <a:moveTo>
                    <a:pt x="207771" y="30352"/>
                  </a:moveTo>
                  <a:lnTo>
                    <a:pt x="216179" y="50901"/>
                  </a:lnTo>
                  <a:lnTo>
                    <a:pt x="229996" y="33400"/>
                  </a:lnTo>
                  <a:lnTo>
                    <a:pt x="207771" y="30352"/>
                  </a:lnTo>
                  <a:close/>
                </a:path>
              </a:pathLst>
            </a:custGeom>
            <a:solidFill>
              <a:srgbClr val="8DAC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408420" y="1783079"/>
              <a:ext cx="1446276" cy="32766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566153" y="1861946"/>
              <a:ext cx="1130935" cy="130175"/>
            </a:xfrm>
            <a:custGeom>
              <a:avLst/>
              <a:gdLst/>
              <a:ahLst/>
              <a:cxnLst/>
              <a:rect l="l" t="t" r="r" b="b"/>
              <a:pathLst>
                <a:path w="1130934" h="130175">
                  <a:moveTo>
                    <a:pt x="1057049" y="82942"/>
                  </a:moveTo>
                  <a:lnTo>
                    <a:pt x="1014349" y="107314"/>
                  </a:lnTo>
                  <a:lnTo>
                    <a:pt x="1012190" y="115188"/>
                  </a:lnTo>
                  <a:lnTo>
                    <a:pt x="1015746" y="121412"/>
                  </a:lnTo>
                  <a:lnTo>
                    <a:pt x="1019175" y="127635"/>
                  </a:lnTo>
                  <a:lnTo>
                    <a:pt x="1027176" y="129793"/>
                  </a:lnTo>
                  <a:lnTo>
                    <a:pt x="1108521" y="83438"/>
                  </a:lnTo>
                  <a:lnTo>
                    <a:pt x="1105027" y="83438"/>
                  </a:lnTo>
                  <a:lnTo>
                    <a:pt x="1057049" y="82942"/>
                  </a:lnTo>
                  <a:close/>
                </a:path>
                <a:path w="1130934" h="130175">
                  <a:moveTo>
                    <a:pt x="103631" y="0"/>
                  </a:moveTo>
                  <a:lnTo>
                    <a:pt x="0" y="59054"/>
                  </a:lnTo>
                  <a:lnTo>
                    <a:pt x="102362" y="120268"/>
                  </a:lnTo>
                  <a:lnTo>
                    <a:pt x="110363" y="118237"/>
                  </a:lnTo>
                  <a:lnTo>
                    <a:pt x="114046" y="112140"/>
                  </a:lnTo>
                  <a:lnTo>
                    <a:pt x="117728" y="105917"/>
                  </a:lnTo>
                  <a:lnTo>
                    <a:pt x="115697" y="98043"/>
                  </a:lnTo>
                  <a:lnTo>
                    <a:pt x="73358" y="72758"/>
                  </a:lnTo>
                  <a:lnTo>
                    <a:pt x="25526" y="72262"/>
                  </a:lnTo>
                  <a:lnTo>
                    <a:pt x="25780" y="46354"/>
                  </a:lnTo>
                  <a:lnTo>
                    <a:pt x="74565" y="46354"/>
                  </a:lnTo>
                  <a:lnTo>
                    <a:pt x="116459" y="22478"/>
                  </a:lnTo>
                  <a:lnTo>
                    <a:pt x="118618" y="14604"/>
                  </a:lnTo>
                  <a:lnTo>
                    <a:pt x="111505" y="2158"/>
                  </a:lnTo>
                  <a:lnTo>
                    <a:pt x="103631" y="0"/>
                  </a:lnTo>
                  <a:close/>
                </a:path>
                <a:path w="1130934" h="130175">
                  <a:moveTo>
                    <a:pt x="1079407" y="70180"/>
                  </a:moveTo>
                  <a:lnTo>
                    <a:pt x="1057049" y="82942"/>
                  </a:lnTo>
                  <a:lnTo>
                    <a:pt x="1105027" y="83438"/>
                  </a:lnTo>
                  <a:lnTo>
                    <a:pt x="1105045" y="81533"/>
                  </a:lnTo>
                  <a:lnTo>
                    <a:pt x="1098423" y="81533"/>
                  </a:lnTo>
                  <a:lnTo>
                    <a:pt x="1079407" y="70180"/>
                  </a:lnTo>
                  <a:close/>
                </a:path>
                <a:path w="1130934" h="130175">
                  <a:moveTo>
                    <a:pt x="1028319" y="9525"/>
                  </a:moveTo>
                  <a:lnTo>
                    <a:pt x="1020445" y="11556"/>
                  </a:lnTo>
                  <a:lnTo>
                    <a:pt x="1016762" y="17652"/>
                  </a:lnTo>
                  <a:lnTo>
                    <a:pt x="1013078" y="23875"/>
                  </a:lnTo>
                  <a:lnTo>
                    <a:pt x="1015111" y="31750"/>
                  </a:lnTo>
                  <a:lnTo>
                    <a:pt x="1057389" y="57035"/>
                  </a:lnTo>
                  <a:lnTo>
                    <a:pt x="1105280" y="57530"/>
                  </a:lnTo>
                  <a:lnTo>
                    <a:pt x="1105027" y="83438"/>
                  </a:lnTo>
                  <a:lnTo>
                    <a:pt x="1108521" y="83438"/>
                  </a:lnTo>
                  <a:lnTo>
                    <a:pt x="1130807" y="70738"/>
                  </a:lnTo>
                  <a:lnTo>
                    <a:pt x="1028319" y="9525"/>
                  </a:lnTo>
                  <a:close/>
                </a:path>
                <a:path w="1130934" h="130175">
                  <a:moveTo>
                    <a:pt x="73695" y="46851"/>
                  </a:moveTo>
                  <a:lnTo>
                    <a:pt x="51303" y="59612"/>
                  </a:lnTo>
                  <a:lnTo>
                    <a:pt x="73358" y="72758"/>
                  </a:lnTo>
                  <a:lnTo>
                    <a:pt x="1057049" y="82942"/>
                  </a:lnTo>
                  <a:lnTo>
                    <a:pt x="1079407" y="70180"/>
                  </a:lnTo>
                  <a:lnTo>
                    <a:pt x="1057389" y="57035"/>
                  </a:lnTo>
                  <a:lnTo>
                    <a:pt x="73695" y="46851"/>
                  </a:lnTo>
                  <a:close/>
                </a:path>
                <a:path w="1130934" h="130175">
                  <a:moveTo>
                    <a:pt x="1098677" y="59181"/>
                  </a:moveTo>
                  <a:lnTo>
                    <a:pt x="1079407" y="70180"/>
                  </a:lnTo>
                  <a:lnTo>
                    <a:pt x="1098423" y="81533"/>
                  </a:lnTo>
                  <a:lnTo>
                    <a:pt x="1098677" y="59181"/>
                  </a:lnTo>
                  <a:close/>
                </a:path>
                <a:path w="1130934" h="130175">
                  <a:moveTo>
                    <a:pt x="1105264" y="59181"/>
                  </a:moveTo>
                  <a:lnTo>
                    <a:pt x="1098677" y="59181"/>
                  </a:lnTo>
                  <a:lnTo>
                    <a:pt x="1098423" y="81533"/>
                  </a:lnTo>
                  <a:lnTo>
                    <a:pt x="1105045" y="81533"/>
                  </a:lnTo>
                  <a:lnTo>
                    <a:pt x="1105264" y="59181"/>
                  </a:lnTo>
                  <a:close/>
                </a:path>
                <a:path w="1130934" h="130175">
                  <a:moveTo>
                    <a:pt x="25780" y="46354"/>
                  </a:moveTo>
                  <a:lnTo>
                    <a:pt x="25526" y="72262"/>
                  </a:lnTo>
                  <a:lnTo>
                    <a:pt x="73358" y="72758"/>
                  </a:lnTo>
                  <a:lnTo>
                    <a:pt x="69757" y="70612"/>
                  </a:lnTo>
                  <a:lnTo>
                    <a:pt x="32003" y="70612"/>
                  </a:lnTo>
                  <a:lnTo>
                    <a:pt x="32257" y="48260"/>
                  </a:lnTo>
                  <a:lnTo>
                    <a:pt x="71223" y="48260"/>
                  </a:lnTo>
                  <a:lnTo>
                    <a:pt x="73695" y="46851"/>
                  </a:lnTo>
                  <a:lnTo>
                    <a:pt x="25780" y="46354"/>
                  </a:lnTo>
                  <a:close/>
                </a:path>
                <a:path w="1130934" h="130175">
                  <a:moveTo>
                    <a:pt x="32257" y="48260"/>
                  </a:moveTo>
                  <a:lnTo>
                    <a:pt x="32003" y="70612"/>
                  </a:lnTo>
                  <a:lnTo>
                    <a:pt x="51303" y="59612"/>
                  </a:lnTo>
                  <a:lnTo>
                    <a:pt x="32257" y="48260"/>
                  </a:lnTo>
                  <a:close/>
                </a:path>
                <a:path w="1130934" h="130175">
                  <a:moveTo>
                    <a:pt x="51303" y="59612"/>
                  </a:moveTo>
                  <a:lnTo>
                    <a:pt x="32003" y="70612"/>
                  </a:lnTo>
                  <a:lnTo>
                    <a:pt x="69757" y="70612"/>
                  </a:lnTo>
                  <a:lnTo>
                    <a:pt x="51303" y="59612"/>
                  </a:lnTo>
                  <a:close/>
                </a:path>
                <a:path w="1130934" h="130175">
                  <a:moveTo>
                    <a:pt x="1057389" y="57035"/>
                  </a:moveTo>
                  <a:lnTo>
                    <a:pt x="1079407" y="70180"/>
                  </a:lnTo>
                  <a:lnTo>
                    <a:pt x="1098677" y="59181"/>
                  </a:lnTo>
                  <a:lnTo>
                    <a:pt x="1105264" y="59181"/>
                  </a:lnTo>
                  <a:lnTo>
                    <a:pt x="1105280" y="57530"/>
                  </a:lnTo>
                  <a:lnTo>
                    <a:pt x="1057389" y="57035"/>
                  </a:lnTo>
                  <a:close/>
                </a:path>
                <a:path w="1130934" h="130175">
                  <a:moveTo>
                    <a:pt x="71223" y="48260"/>
                  </a:moveTo>
                  <a:lnTo>
                    <a:pt x="32257" y="48260"/>
                  </a:lnTo>
                  <a:lnTo>
                    <a:pt x="51303" y="59612"/>
                  </a:lnTo>
                  <a:lnTo>
                    <a:pt x="71223" y="48260"/>
                  </a:lnTo>
                  <a:close/>
                </a:path>
                <a:path w="1130934" h="130175">
                  <a:moveTo>
                    <a:pt x="74565" y="46354"/>
                  </a:moveTo>
                  <a:lnTo>
                    <a:pt x="25780" y="46354"/>
                  </a:lnTo>
                  <a:lnTo>
                    <a:pt x="73695" y="46851"/>
                  </a:lnTo>
                  <a:lnTo>
                    <a:pt x="74565" y="463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094732" y="2136648"/>
              <a:ext cx="505967" cy="495300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25211" y="1947671"/>
              <a:ext cx="836676" cy="33223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103876" y="1917191"/>
              <a:ext cx="864108" cy="429767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105400" y="1927859"/>
              <a:ext cx="824865" cy="320040"/>
            </a:xfrm>
            <a:custGeom>
              <a:avLst/>
              <a:gdLst/>
              <a:ahLst/>
              <a:cxnLst/>
              <a:rect l="l" t="t" r="r" b="b"/>
              <a:pathLst>
                <a:path w="824864" h="320039">
                  <a:moveTo>
                    <a:pt x="0" y="13335"/>
                  </a:moveTo>
                  <a:lnTo>
                    <a:pt x="0" y="5968"/>
                  </a:lnTo>
                  <a:lnTo>
                    <a:pt x="5969" y="0"/>
                  </a:lnTo>
                  <a:lnTo>
                    <a:pt x="13335" y="0"/>
                  </a:lnTo>
                  <a:lnTo>
                    <a:pt x="811149" y="0"/>
                  </a:lnTo>
                  <a:lnTo>
                    <a:pt x="818514" y="0"/>
                  </a:lnTo>
                  <a:lnTo>
                    <a:pt x="824484" y="5968"/>
                  </a:lnTo>
                  <a:lnTo>
                    <a:pt x="824484" y="13335"/>
                  </a:lnTo>
                  <a:lnTo>
                    <a:pt x="824484" y="306704"/>
                  </a:lnTo>
                  <a:lnTo>
                    <a:pt x="824484" y="314070"/>
                  </a:lnTo>
                  <a:lnTo>
                    <a:pt x="818514" y="320039"/>
                  </a:lnTo>
                  <a:lnTo>
                    <a:pt x="811149" y="320039"/>
                  </a:lnTo>
                  <a:lnTo>
                    <a:pt x="13335" y="320039"/>
                  </a:lnTo>
                  <a:lnTo>
                    <a:pt x="5969" y="320039"/>
                  </a:lnTo>
                  <a:lnTo>
                    <a:pt x="0" y="314070"/>
                  </a:lnTo>
                  <a:lnTo>
                    <a:pt x="0" y="306704"/>
                  </a:lnTo>
                  <a:lnTo>
                    <a:pt x="0" y="13335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0" y="801623"/>
            <a:ext cx="9144000" cy="5619115"/>
            <a:chOff x="0" y="801623"/>
            <a:chExt cx="9144000" cy="5619115"/>
          </a:xfrm>
        </p:grpSpPr>
        <p:sp>
          <p:nvSpPr>
            <p:cNvPr id="53" name="object 53"/>
            <p:cNvSpPr/>
            <p:nvPr/>
          </p:nvSpPr>
          <p:spPr>
            <a:xfrm>
              <a:off x="0" y="801623"/>
              <a:ext cx="9144000" cy="5619115"/>
            </a:xfrm>
            <a:custGeom>
              <a:avLst/>
              <a:gdLst/>
              <a:ahLst/>
              <a:cxnLst/>
              <a:rect l="l" t="t" r="r" b="b"/>
              <a:pathLst>
                <a:path w="9144000" h="5619115">
                  <a:moveTo>
                    <a:pt x="9144000" y="0"/>
                  </a:moveTo>
                  <a:lnTo>
                    <a:pt x="0" y="0"/>
                  </a:lnTo>
                  <a:lnTo>
                    <a:pt x="0" y="5618988"/>
                  </a:lnTo>
                  <a:lnTo>
                    <a:pt x="9144000" y="561898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90600" y="2127504"/>
              <a:ext cx="1304544" cy="13045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534155" y="1063752"/>
              <a:ext cx="5367528" cy="50322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696200" y="1510283"/>
              <a:ext cx="1202436" cy="120091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379219" y="1219200"/>
              <a:ext cx="1143000" cy="11780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72668" y="923543"/>
              <a:ext cx="2407920" cy="33223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49808" y="893063"/>
              <a:ext cx="2282952" cy="429767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52855" y="903731"/>
              <a:ext cx="2395855" cy="320040"/>
            </a:xfrm>
            <a:custGeom>
              <a:avLst/>
              <a:gdLst/>
              <a:ahLst/>
              <a:cxnLst/>
              <a:rect l="l" t="t" r="r" b="b"/>
              <a:pathLst>
                <a:path w="2395855" h="320040">
                  <a:moveTo>
                    <a:pt x="2389759" y="0"/>
                  </a:moveTo>
                  <a:lnTo>
                    <a:pt x="5968" y="0"/>
                  </a:lnTo>
                  <a:lnTo>
                    <a:pt x="0" y="5968"/>
                  </a:lnTo>
                  <a:lnTo>
                    <a:pt x="0" y="314070"/>
                  </a:lnTo>
                  <a:lnTo>
                    <a:pt x="5968" y="320039"/>
                  </a:lnTo>
                  <a:lnTo>
                    <a:pt x="2389759" y="320039"/>
                  </a:lnTo>
                  <a:lnTo>
                    <a:pt x="2395728" y="314070"/>
                  </a:lnTo>
                  <a:lnTo>
                    <a:pt x="2395728" y="59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752855" y="903732"/>
            <a:ext cx="2395855" cy="320040"/>
          </a:xfrm>
          <a:prstGeom prst="rect">
            <a:avLst/>
          </a:prstGeom>
          <a:ln w="17906">
            <a:solidFill>
              <a:srgbClr val="4D4D4D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85"/>
              </a:spcBef>
            </a:pPr>
            <a:r>
              <a:rPr sz="1600" b="1" spc="-5" dirty="0">
                <a:latin typeface="Verdana"/>
                <a:cs typeface="Verdana"/>
              </a:rPr>
              <a:t>Internet</a:t>
            </a:r>
            <a:r>
              <a:rPr sz="1600" b="1" spc="-10" dirty="0">
                <a:latin typeface="Verdana"/>
                <a:cs typeface="Verdana"/>
              </a:rPr>
              <a:t> websites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2848165" y="1880616"/>
            <a:ext cx="2061210" cy="1690370"/>
            <a:chOff x="2848165" y="1880616"/>
            <a:chExt cx="2061210" cy="1690370"/>
          </a:xfrm>
        </p:grpSpPr>
        <p:sp>
          <p:nvSpPr>
            <p:cNvPr id="63" name="object 63"/>
            <p:cNvSpPr/>
            <p:nvPr/>
          </p:nvSpPr>
          <p:spPr>
            <a:xfrm>
              <a:off x="3200400" y="2321052"/>
              <a:ext cx="1069848" cy="12496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872739" y="1908048"/>
              <a:ext cx="2036064" cy="55778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852927" y="1880616"/>
              <a:ext cx="1844039" cy="6492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852927" y="1888236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2001139" y="0"/>
                  </a:moveTo>
                  <a:lnTo>
                    <a:pt x="22733" y="0"/>
                  </a:lnTo>
                  <a:lnTo>
                    <a:pt x="13876" y="1783"/>
                  </a:lnTo>
                  <a:lnTo>
                    <a:pt x="6651" y="6651"/>
                  </a:lnTo>
                  <a:lnTo>
                    <a:pt x="1783" y="13876"/>
                  </a:lnTo>
                  <a:lnTo>
                    <a:pt x="0" y="22733"/>
                  </a:lnTo>
                  <a:lnTo>
                    <a:pt x="0" y="522859"/>
                  </a:lnTo>
                  <a:lnTo>
                    <a:pt x="1783" y="531715"/>
                  </a:lnTo>
                  <a:lnTo>
                    <a:pt x="6651" y="538940"/>
                  </a:lnTo>
                  <a:lnTo>
                    <a:pt x="13876" y="543808"/>
                  </a:lnTo>
                  <a:lnTo>
                    <a:pt x="22733" y="545591"/>
                  </a:lnTo>
                  <a:lnTo>
                    <a:pt x="2001139" y="545591"/>
                  </a:lnTo>
                  <a:lnTo>
                    <a:pt x="2009995" y="543808"/>
                  </a:lnTo>
                  <a:lnTo>
                    <a:pt x="2017220" y="538940"/>
                  </a:lnTo>
                  <a:lnTo>
                    <a:pt x="2022088" y="531715"/>
                  </a:lnTo>
                  <a:lnTo>
                    <a:pt x="2023872" y="522859"/>
                  </a:lnTo>
                  <a:lnTo>
                    <a:pt x="2023872" y="22733"/>
                  </a:lnTo>
                  <a:lnTo>
                    <a:pt x="2022088" y="13876"/>
                  </a:lnTo>
                  <a:lnTo>
                    <a:pt x="2017220" y="6651"/>
                  </a:lnTo>
                  <a:lnTo>
                    <a:pt x="2009995" y="1783"/>
                  </a:lnTo>
                  <a:lnTo>
                    <a:pt x="20011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852927" y="1888236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0" y="22733"/>
                  </a:moveTo>
                  <a:lnTo>
                    <a:pt x="1783" y="13876"/>
                  </a:lnTo>
                  <a:lnTo>
                    <a:pt x="6651" y="6651"/>
                  </a:lnTo>
                  <a:lnTo>
                    <a:pt x="13876" y="1783"/>
                  </a:lnTo>
                  <a:lnTo>
                    <a:pt x="22733" y="0"/>
                  </a:lnTo>
                  <a:lnTo>
                    <a:pt x="2001139" y="0"/>
                  </a:lnTo>
                  <a:lnTo>
                    <a:pt x="2009995" y="1783"/>
                  </a:lnTo>
                  <a:lnTo>
                    <a:pt x="2017220" y="6651"/>
                  </a:lnTo>
                  <a:lnTo>
                    <a:pt x="2022088" y="13876"/>
                  </a:lnTo>
                  <a:lnTo>
                    <a:pt x="2023872" y="22733"/>
                  </a:lnTo>
                  <a:lnTo>
                    <a:pt x="2023872" y="522859"/>
                  </a:lnTo>
                  <a:lnTo>
                    <a:pt x="2022088" y="531715"/>
                  </a:lnTo>
                  <a:lnTo>
                    <a:pt x="2017220" y="538940"/>
                  </a:lnTo>
                  <a:lnTo>
                    <a:pt x="2009995" y="543808"/>
                  </a:lnTo>
                  <a:lnTo>
                    <a:pt x="2001139" y="545591"/>
                  </a:lnTo>
                  <a:lnTo>
                    <a:pt x="22733" y="545591"/>
                  </a:lnTo>
                  <a:lnTo>
                    <a:pt x="13876" y="543808"/>
                  </a:lnTo>
                  <a:lnTo>
                    <a:pt x="6651" y="538940"/>
                  </a:lnTo>
                  <a:lnTo>
                    <a:pt x="1783" y="531715"/>
                  </a:lnTo>
                  <a:lnTo>
                    <a:pt x="0" y="522859"/>
                  </a:lnTo>
                  <a:lnTo>
                    <a:pt x="0" y="22733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2864438" y="1903602"/>
            <a:ext cx="200088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86995" marR="453390">
              <a:lnSpc>
                <a:spcPts val="1730"/>
              </a:lnSpc>
              <a:spcBef>
                <a:spcPts val="310"/>
              </a:spcBef>
            </a:pPr>
            <a:r>
              <a:rPr sz="1600" b="1" spc="-10" dirty="0">
                <a:latin typeface="Verdana"/>
                <a:cs typeface="Verdana"/>
              </a:rPr>
              <a:t>D</a:t>
            </a:r>
            <a:r>
              <a:rPr sz="1600" b="1" spc="-20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rectAc</a:t>
            </a:r>
            <a:r>
              <a:rPr sz="1600" b="1" spc="-15" dirty="0">
                <a:latin typeface="Verdana"/>
                <a:cs typeface="Verdana"/>
              </a:rPr>
              <a:t>c</a:t>
            </a:r>
            <a:r>
              <a:rPr sz="1600" b="1" spc="-10" dirty="0">
                <a:latin typeface="Verdana"/>
                <a:cs typeface="Verdana"/>
              </a:rPr>
              <a:t>ess  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7022401" y="796861"/>
            <a:ext cx="2061210" cy="968375"/>
            <a:chOff x="7022401" y="796861"/>
            <a:chExt cx="2061210" cy="968375"/>
          </a:xfrm>
        </p:grpSpPr>
        <p:sp>
          <p:nvSpPr>
            <p:cNvPr id="70" name="object 70"/>
            <p:cNvSpPr/>
            <p:nvPr/>
          </p:nvSpPr>
          <p:spPr>
            <a:xfrm>
              <a:off x="7046976" y="821435"/>
              <a:ext cx="2036064" cy="88392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031736" y="798575"/>
              <a:ext cx="1943100" cy="96621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027164" y="801623"/>
              <a:ext cx="2024380" cy="871855"/>
            </a:xfrm>
            <a:custGeom>
              <a:avLst/>
              <a:gdLst/>
              <a:ahLst/>
              <a:cxnLst/>
              <a:rect l="l" t="t" r="r" b="b"/>
              <a:pathLst>
                <a:path w="2024379" h="871855">
                  <a:moveTo>
                    <a:pt x="1987550" y="0"/>
                  </a:moveTo>
                  <a:lnTo>
                    <a:pt x="36321" y="0"/>
                  </a:lnTo>
                  <a:lnTo>
                    <a:pt x="22181" y="2853"/>
                  </a:lnTo>
                  <a:lnTo>
                    <a:pt x="10636" y="10636"/>
                  </a:lnTo>
                  <a:lnTo>
                    <a:pt x="2853" y="22181"/>
                  </a:lnTo>
                  <a:lnTo>
                    <a:pt x="0" y="36322"/>
                  </a:lnTo>
                  <a:lnTo>
                    <a:pt x="0" y="835405"/>
                  </a:lnTo>
                  <a:lnTo>
                    <a:pt x="2853" y="849546"/>
                  </a:lnTo>
                  <a:lnTo>
                    <a:pt x="10636" y="861091"/>
                  </a:lnTo>
                  <a:lnTo>
                    <a:pt x="22181" y="868874"/>
                  </a:lnTo>
                  <a:lnTo>
                    <a:pt x="36321" y="871727"/>
                  </a:lnTo>
                  <a:lnTo>
                    <a:pt x="1987550" y="871727"/>
                  </a:lnTo>
                  <a:lnTo>
                    <a:pt x="2001690" y="868874"/>
                  </a:lnTo>
                  <a:lnTo>
                    <a:pt x="2013235" y="861091"/>
                  </a:lnTo>
                  <a:lnTo>
                    <a:pt x="2021018" y="849546"/>
                  </a:lnTo>
                  <a:lnTo>
                    <a:pt x="2023871" y="835405"/>
                  </a:lnTo>
                  <a:lnTo>
                    <a:pt x="2023871" y="36322"/>
                  </a:lnTo>
                  <a:lnTo>
                    <a:pt x="2021018" y="22181"/>
                  </a:lnTo>
                  <a:lnTo>
                    <a:pt x="2013235" y="10636"/>
                  </a:lnTo>
                  <a:lnTo>
                    <a:pt x="2001690" y="2853"/>
                  </a:lnTo>
                  <a:lnTo>
                    <a:pt x="1987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027164" y="801623"/>
              <a:ext cx="2024380" cy="871855"/>
            </a:xfrm>
            <a:custGeom>
              <a:avLst/>
              <a:gdLst/>
              <a:ahLst/>
              <a:cxnLst/>
              <a:rect l="l" t="t" r="r" b="b"/>
              <a:pathLst>
                <a:path w="2024379" h="871855">
                  <a:moveTo>
                    <a:pt x="0" y="36322"/>
                  </a:moveTo>
                  <a:lnTo>
                    <a:pt x="2853" y="22181"/>
                  </a:lnTo>
                  <a:lnTo>
                    <a:pt x="10636" y="10636"/>
                  </a:lnTo>
                  <a:lnTo>
                    <a:pt x="22181" y="2853"/>
                  </a:lnTo>
                  <a:lnTo>
                    <a:pt x="36321" y="0"/>
                  </a:lnTo>
                  <a:lnTo>
                    <a:pt x="1987550" y="0"/>
                  </a:lnTo>
                  <a:lnTo>
                    <a:pt x="2001690" y="2853"/>
                  </a:lnTo>
                  <a:lnTo>
                    <a:pt x="2013235" y="10636"/>
                  </a:lnTo>
                  <a:lnTo>
                    <a:pt x="2021018" y="22181"/>
                  </a:lnTo>
                  <a:lnTo>
                    <a:pt x="2023871" y="36322"/>
                  </a:lnTo>
                  <a:lnTo>
                    <a:pt x="2023871" y="835405"/>
                  </a:lnTo>
                  <a:lnTo>
                    <a:pt x="2021018" y="849546"/>
                  </a:lnTo>
                  <a:lnTo>
                    <a:pt x="2013235" y="861091"/>
                  </a:lnTo>
                  <a:lnTo>
                    <a:pt x="2001690" y="868874"/>
                  </a:lnTo>
                  <a:lnTo>
                    <a:pt x="1987550" y="871727"/>
                  </a:lnTo>
                  <a:lnTo>
                    <a:pt x="36321" y="871727"/>
                  </a:lnTo>
                  <a:lnTo>
                    <a:pt x="22181" y="868874"/>
                  </a:lnTo>
                  <a:lnTo>
                    <a:pt x="10636" y="861091"/>
                  </a:lnTo>
                  <a:lnTo>
                    <a:pt x="2853" y="849546"/>
                  </a:lnTo>
                  <a:lnTo>
                    <a:pt x="0" y="835405"/>
                  </a:lnTo>
                  <a:lnTo>
                    <a:pt x="0" y="36322"/>
                  </a:lnTo>
                  <a:close/>
                </a:path>
              </a:pathLst>
            </a:custGeom>
            <a:ln w="914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7117842" y="820877"/>
            <a:ext cx="1647825" cy="805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AD DS</a:t>
            </a:r>
            <a:r>
              <a:rPr sz="1600" b="1" spc="-7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domain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ts val="1825"/>
              </a:lnSpc>
            </a:pPr>
            <a:r>
              <a:rPr sz="1600" b="1" spc="-10" dirty="0">
                <a:latin typeface="Verdana"/>
                <a:cs typeface="Verdana"/>
              </a:rPr>
              <a:t>controller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b="1" spc="-10" dirty="0">
                <a:latin typeface="Verdana"/>
                <a:cs typeface="Verdana"/>
              </a:rPr>
              <a:t>DNS</a:t>
            </a:r>
            <a:r>
              <a:rPr sz="1600" b="1" spc="-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4814315" y="893063"/>
            <a:ext cx="2059305" cy="1469390"/>
            <a:chOff x="4814315" y="893063"/>
            <a:chExt cx="2059305" cy="1469390"/>
          </a:xfrm>
        </p:grpSpPr>
        <p:sp>
          <p:nvSpPr>
            <p:cNvPr id="76" name="object 76"/>
            <p:cNvSpPr/>
            <p:nvPr/>
          </p:nvSpPr>
          <p:spPr>
            <a:xfrm>
              <a:off x="5251703" y="1264920"/>
              <a:ext cx="1210055" cy="109727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837175" y="923543"/>
              <a:ext cx="2036064" cy="33223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814315" y="893063"/>
              <a:ext cx="1999488" cy="429767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817363" y="903731"/>
              <a:ext cx="2024380" cy="320040"/>
            </a:xfrm>
            <a:custGeom>
              <a:avLst/>
              <a:gdLst/>
              <a:ahLst/>
              <a:cxnLst/>
              <a:rect l="l" t="t" r="r" b="b"/>
              <a:pathLst>
                <a:path w="2024379" h="320040">
                  <a:moveTo>
                    <a:pt x="2017903" y="0"/>
                  </a:moveTo>
                  <a:lnTo>
                    <a:pt x="5969" y="0"/>
                  </a:lnTo>
                  <a:lnTo>
                    <a:pt x="0" y="5968"/>
                  </a:lnTo>
                  <a:lnTo>
                    <a:pt x="0" y="314070"/>
                  </a:lnTo>
                  <a:lnTo>
                    <a:pt x="5969" y="320039"/>
                  </a:lnTo>
                  <a:lnTo>
                    <a:pt x="2017903" y="320039"/>
                  </a:lnTo>
                  <a:lnTo>
                    <a:pt x="2023871" y="314070"/>
                  </a:lnTo>
                  <a:lnTo>
                    <a:pt x="2023871" y="59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817364" y="903732"/>
            <a:ext cx="2024380" cy="320040"/>
          </a:xfrm>
          <a:prstGeom prst="rect">
            <a:avLst/>
          </a:prstGeom>
          <a:ln w="17906">
            <a:solidFill>
              <a:srgbClr val="4D4D4D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85"/>
              </a:spcBef>
            </a:pPr>
            <a:r>
              <a:rPr sz="1600" b="1" spc="-5" dirty="0">
                <a:latin typeface="Verdana"/>
                <a:cs typeface="Verdana"/>
              </a:rPr>
              <a:t>Internal</a:t>
            </a:r>
            <a:r>
              <a:rPr sz="1600" b="1" spc="-1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5201221" y="3432047"/>
            <a:ext cx="2071370" cy="2105025"/>
            <a:chOff x="5201221" y="3432047"/>
            <a:chExt cx="2071370" cy="2105025"/>
          </a:xfrm>
        </p:grpSpPr>
        <p:sp>
          <p:nvSpPr>
            <p:cNvPr id="82" name="object 82"/>
            <p:cNvSpPr/>
            <p:nvPr/>
          </p:nvSpPr>
          <p:spPr>
            <a:xfrm>
              <a:off x="6217920" y="3608831"/>
              <a:ext cx="1054607" cy="1097280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678424" y="3432047"/>
              <a:ext cx="1146048" cy="117652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225796" y="4692395"/>
              <a:ext cx="2036063" cy="784859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209032" y="4668011"/>
              <a:ext cx="1359408" cy="868679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205984" y="4672583"/>
              <a:ext cx="2024380" cy="772795"/>
            </a:xfrm>
            <a:custGeom>
              <a:avLst/>
              <a:gdLst/>
              <a:ahLst/>
              <a:cxnLst/>
              <a:rect l="l" t="t" r="r" b="b"/>
              <a:pathLst>
                <a:path w="2024379" h="772795">
                  <a:moveTo>
                    <a:pt x="1991614" y="0"/>
                  </a:moveTo>
                  <a:lnTo>
                    <a:pt x="32257" y="0"/>
                  </a:lnTo>
                  <a:lnTo>
                    <a:pt x="19716" y="2540"/>
                  </a:lnTo>
                  <a:lnTo>
                    <a:pt x="9461" y="9461"/>
                  </a:lnTo>
                  <a:lnTo>
                    <a:pt x="2539" y="19716"/>
                  </a:lnTo>
                  <a:lnTo>
                    <a:pt x="0" y="32258"/>
                  </a:lnTo>
                  <a:lnTo>
                    <a:pt x="0" y="740410"/>
                  </a:lnTo>
                  <a:lnTo>
                    <a:pt x="2539" y="752951"/>
                  </a:lnTo>
                  <a:lnTo>
                    <a:pt x="9461" y="763206"/>
                  </a:lnTo>
                  <a:lnTo>
                    <a:pt x="19716" y="770128"/>
                  </a:lnTo>
                  <a:lnTo>
                    <a:pt x="32257" y="772668"/>
                  </a:lnTo>
                  <a:lnTo>
                    <a:pt x="1991614" y="772668"/>
                  </a:lnTo>
                  <a:lnTo>
                    <a:pt x="2004155" y="770128"/>
                  </a:lnTo>
                  <a:lnTo>
                    <a:pt x="2014410" y="763206"/>
                  </a:lnTo>
                  <a:lnTo>
                    <a:pt x="2021331" y="752951"/>
                  </a:lnTo>
                  <a:lnTo>
                    <a:pt x="2023871" y="740410"/>
                  </a:lnTo>
                  <a:lnTo>
                    <a:pt x="2023871" y="32258"/>
                  </a:lnTo>
                  <a:lnTo>
                    <a:pt x="2021331" y="19716"/>
                  </a:lnTo>
                  <a:lnTo>
                    <a:pt x="2014410" y="9461"/>
                  </a:lnTo>
                  <a:lnTo>
                    <a:pt x="2004155" y="2540"/>
                  </a:lnTo>
                  <a:lnTo>
                    <a:pt x="1991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205984" y="4672583"/>
              <a:ext cx="2024380" cy="772795"/>
            </a:xfrm>
            <a:custGeom>
              <a:avLst/>
              <a:gdLst/>
              <a:ahLst/>
              <a:cxnLst/>
              <a:rect l="l" t="t" r="r" b="b"/>
              <a:pathLst>
                <a:path w="2024379" h="772795">
                  <a:moveTo>
                    <a:pt x="0" y="32258"/>
                  </a:moveTo>
                  <a:lnTo>
                    <a:pt x="2539" y="19716"/>
                  </a:lnTo>
                  <a:lnTo>
                    <a:pt x="9461" y="9461"/>
                  </a:lnTo>
                  <a:lnTo>
                    <a:pt x="19716" y="2540"/>
                  </a:lnTo>
                  <a:lnTo>
                    <a:pt x="32257" y="0"/>
                  </a:lnTo>
                  <a:lnTo>
                    <a:pt x="1991614" y="0"/>
                  </a:lnTo>
                  <a:lnTo>
                    <a:pt x="2004155" y="2540"/>
                  </a:lnTo>
                  <a:lnTo>
                    <a:pt x="2014410" y="9461"/>
                  </a:lnTo>
                  <a:lnTo>
                    <a:pt x="2021331" y="19716"/>
                  </a:lnTo>
                  <a:lnTo>
                    <a:pt x="2023871" y="32258"/>
                  </a:lnTo>
                  <a:lnTo>
                    <a:pt x="2023871" y="740410"/>
                  </a:lnTo>
                  <a:lnTo>
                    <a:pt x="2021331" y="752951"/>
                  </a:lnTo>
                  <a:lnTo>
                    <a:pt x="2014410" y="763206"/>
                  </a:lnTo>
                  <a:lnTo>
                    <a:pt x="2004155" y="770128"/>
                  </a:lnTo>
                  <a:lnTo>
                    <a:pt x="1991614" y="772668"/>
                  </a:lnTo>
                  <a:lnTo>
                    <a:pt x="32257" y="772668"/>
                  </a:lnTo>
                  <a:lnTo>
                    <a:pt x="19716" y="770128"/>
                  </a:lnTo>
                  <a:lnTo>
                    <a:pt x="9461" y="763206"/>
                  </a:lnTo>
                  <a:lnTo>
                    <a:pt x="2539" y="752951"/>
                  </a:lnTo>
                  <a:lnTo>
                    <a:pt x="0" y="740410"/>
                  </a:lnTo>
                  <a:lnTo>
                    <a:pt x="0" y="32258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5294757" y="4692141"/>
            <a:ext cx="1137920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5" dirty="0">
                <a:latin typeface="Verdana"/>
                <a:cs typeface="Verdana"/>
              </a:rPr>
              <a:t>Internal  </a:t>
            </a:r>
            <a:r>
              <a:rPr sz="1600" b="1" spc="-10" dirty="0">
                <a:latin typeface="Verdana"/>
                <a:cs typeface="Verdana"/>
              </a:rPr>
              <a:t>network  r</a:t>
            </a:r>
            <a:r>
              <a:rPr sz="1600" b="1" spc="-15" dirty="0">
                <a:latin typeface="Verdana"/>
                <a:cs typeface="Verdana"/>
              </a:rPr>
              <a:t>e</a:t>
            </a:r>
            <a:r>
              <a:rPr sz="1600" b="1" spc="-10" dirty="0">
                <a:latin typeface="Verdana"/>
                <a:cs typeface="Verdana"/>
              </a:rPr>
              <a:t>s</a:t>
            </a:r>
            <a:r>
              <a:rPr sz="1600" b="1" spc="-15" dirty="0">
                <a:latin typeface="Verdana"/>
                <a:cs typeface="Verdana"/>
              </a:rPr>
              <a:t>o</a:t>
            </a:r>
            <a:r>
              <a:rPr sz="1600" b="1" spc="-10" dirty="0">
                <a:latin typeface="Verdana"/>
                <a:cs typeface="Verdana"/>
              </a:rPr>
              <a:t>urc</a:t>
            </a:r>
            <a:r>
              <a:rPr sz="1600" b="1" spc="-20" dirty="0">
                <a:latin typeface="Verdana"/>
                <a:cs typeface="Verdana"/>
              </a:rPr>
              <a:t>e</a:t>
            </a:r>
            <a:r>
              <a:rPr sz="1600" b="1" spc="-5" dirty="0">
                <a:latin typeface="Verdana"/>
                <a:cs typeface="Verdana"/>
              </a:rPr>
              <a:t>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8036052" y="6265164"/>
            <a:ext cx="928369" cy="440690"/>
            <a:chOff x="8036052" y="6265164"/>
            <a:chExt cx="928369" cy="440690"/>
          </a:xfrm>
        </p:grpSpPr>
        <p:sp>
          <p:nvSpPr>
            <p:cNvPr id="90" name="object 90"/>
            <p:cNvSpPr/>
            <p:nvPr/>
          </p:nvSpPr>
          <p:spPr>
            <a:xfrm>
              <a:off x="8046720" y="6275832"/>
              <a:ext cx="917448" cy="429768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036052" y="6265164"/>
              <a:ext cx="914400" cy="426720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214360" y="6397752"/>
              <a:ext cx="188975" cy="179831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8232648" y="6391656"/>
              <a:ext cx="176783" cy="167640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228076" y="6387084"/>
              <a:ext cx="185927" cy="176783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523732" y="6356604"/>
              <a:ext cx="304800" cy="243839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598408" y="6425184"/>
              <a:ext cx="132588" cy="134111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616696" y="6419088"/>
              <a:ext cx="120396" cy="121920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616696" y="6419088"/>
              <a:ext cx="120650" cy="121920"/>
            </a:xfrm>
            <a:custGeom>
              <a:avLst/>
              <a:gdLst/>
              <a:ahLst/>
              <a:cxnLst/>
              <a:rect l="l" t="t" r="r" b="b"/>
              <a:pathLst>
                <a:path w="120650" h="121920">
                  <a:moveTo>
                    <a:pt x="0" y="121920"/>
                  </a:moveTo>
                  <a:lnTo>
                    <a:pt x="120396" y="121920"/>
                  </a:lnTo>
                  <a:lnTo>
                    <a:pt x="120396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841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DirectAccess Works for </a:t>
            </a:r>
            <a:r>
              <a:rPr spc="-10" dirty="0"/>
              <a:t>External</a:t>
            </a:r>
            <a:r>
              <a:rPr spc="114" dirty="0"/>
              <a:t> </a:t>
            </a:r>
            <a:r>
              <a:rPr spc="-5" dirty="0"/>
              <a:t>Clients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9787" y="796861"/>
            <a:ext cx="8493760" cy="5299710"/>
            <a:chOff x="589787" y="796861"/>
            <a:chExt cx="8493760" cy="5299710"/>
          </a:xfrm>
        </p:grpSpPr>
        <p:sp>
          <p:nvSpPr>
            <p:cNvPr id="4" name="object 4"/>
            <p:cNvSpPr/>
            <p:nvPr/>
          </p:nvSpPr>
          <p:spPr>
            <a:xfrm>
              <a:off x="990599" y="2127504"/>
              <a:ext cx="1304544" cy="13045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34155" y="1063752"/>
              <a:ext cx="5367528" cy="50322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00399" y="2321051"/>
              <a:ext cx="1069848" cy="12496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96199" y="1510283"/>
              <a:ext cx="1202436" cy="12009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72739" y="1908048"/>
              <a:ext cx="2036064" cy="55778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52927" y="1880615"/>
              <a:ext cx="1844039" cy="6492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52927" y="1888235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2001139" y="0"/>
                  </a:moveTo>
                  <a:lnTo>
                    <a:pt x="22733" y="0"/>
                  </a:lnTo>
                  <a:lnTo>
                    <a:pt x="13876" y="1783"/>
                  </a:lnTo>
                  <a:lnTo>
                    <a:pt x="6651" y="6651"/>
                  </a:lnTo>
                  <a:lnTo>
                    <a:pt x="1783" y="13876"/>
                  </a:lnTo>
                  <a:lnTo>
                    <a:pt x="0" y="22733"/>
                  </a:lnTo>
                  <a:lnTo>
                    <a:pt x="0" y="522859"/>
                  </a:lnTo>
                  <a:lnTo>
                    <a:pt x="1783" y="531715"/>
                  </a:lnTo>
                  <a:lnTo>
                    <a:pt x="6651" y="538940"/>
                  </a:lnTo>
                  <a:lnTo>
                    <a:pt x="13876" y="543808"/>
                  </a:lnTo>
                  <a:lnTo>
                    <a:pt x="22733" y="545591"/>
                  </a:lnTo>
                  <a:lnTo>
                    <a:pt x="2001139" y="545591"/>
                  </a:lnTo>
                  <a:lnTo>
                    <a:pt x="2009995" y="543808"/>
                  </a:lnTo>
                  <a:lnTo>
                    <a:pt x="2017220" y="538940"/>
                  </a:lnTo>
                  <a:lnTo>
                    <a:pt x="2022088" y="531715"/>
                  </a:lnTo>
                  <a:lnTo>
                    <a:pt x="2023872" y="522859"/>
                  </a:lnTo>
                  <a:lnTo>
                    <a:pt x="2023872" y="22733"/>
                  </a:lnTo>
                  <a:lnTo>
                    <a:pt x="2022088" y="13876"/>
                  </a:lnTo>
                  <a:lnTo>
                    <a:pt x="2017220" y="6651"/>
                  </a:lnTo>
                  <a:lnTo>
                    <a:pt x="2009995" y="1783"/>
                  </a:lnTo>
                  <a:lnTo>
                    <a:pt x="20011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52927" y="1888235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0" y="22733"/>
                  </a:moveTo>
                  <a:lnTo>
                    <a:pt x="1783" y="13876"/>
                  </a:lnTo>
                  <a:lnTo>
                    <a:pt x="6651" y="6651"/>
                  </a:lnTo>
                  <a:lnTo>
                    <a:pt x="13876" y="1783"/>
                  </a:lnTo>
                  <a:lnTo>
                    <a:pt x="22733" y="0"/>
                  </a:lnTo>
                  <a:lnTo>
                    <a:pt x="2001139" y="0"/>
                  </a:lnTo>
                  <a:lnTo>
                    <a:pt x="2009995" y="1783"/>
                  </a:lnTo>
                  <a:lnTo>
                    <a:pt x="2017220" y="6651"/>
                  </a:lnTo>
                  <a:lnTo>
                    <a:pt x="2022088" y="13876"/>
                  </a:lnTo>
                  <a:lnTo>
                    <a:pt x="2023872" y="22733"/>
                  </a:lnTo>
                  <a:lnTo>
                    <a:pt x="2023872" y="522859"/>
                  </a:lnTo>
                  <a:lnTo>
                    <a:pt x="2022088" y="531715"/>
                  </a:lnTo>
                  <a:lnTo>
                    <a:pt x="2017220" y="538940"/>
                  </a:lnTo>
                  <a:lnTo>
                    <a:pt x="2009995" y="543808"/>
                  </a:lnTo>
                  <a:lnTo>
                    <a:pt x="2001139" y="545591"/>
                  </a:lnTo>
                  <a:lnTo>
                    <a:pt x="22733" y="545591"/>
                  </a:lnTo>
                  <a:lnTo>
                    <a:pt x="13876" y="543808"/>
                  </a:lnTo>
                  <a:lnTo>
                    <a:pt x="6651" y="538940"/>
                  </a:lnTo>
                  <a:lnTo>
                    <a:pt x="1783" y="531715"/>
                  </a:lnTo>
                  <a:lnTo>
                    <a:pt x="0" y="522859"/>
                  </a:lnTo>
                  <a:lnTo>
                    <a:pt x="0" y="22733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46976" y="821435"/>
              <a:ext cx="2036064" cy="88392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31735" y="798575"/>
              <a:ext cx="1943100" cy="96621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27164" y="801623"/>
              <a:ext cx="2024380" cy="871855"/>
            </a:xfrm>
            <a:custGeom>
              <a:avLst/>
              <a:gdLst/>
              <a:ahLst/>
              <a:cxnLst/>
              <a:rect l="l" t="t" r="r" b="b"/>
              <a:pathLst>
                <a:path w="2024379" h="871855">
                  <a:moveTo>
                    <a:pt x="1987550" y="0"/>
                  </a:moveTo>
                  <a:lnTo>
                    <a:pt x="36321" y="0"/>
                  </a:lnTo>
                  <a:lnTo>
                    <a:pt x="22181" y="2853"/>
                  </a:lnTo>
                  <a:lnTo>
                    <a:pt x="10636" y="10636"/>
                  </a:lnTo>
                  <a:lnTo>
                    <a:pt x="2853" y="22181"/>
                  </a:lnTo>
                  <a:lnTo>
                    <a:pt x="0" y="36322"/>
                  </a:lnTo>
                  <a:lnTo>
                    <a:pt x="0" y="835405"/>
                  </a:lnTo>
                  <a:lnTo>
                    <a:pt x="2853" y="849546"/>
                  </a:lnTo>
                  <a:lnTo>
                    <a:pt x="10636" y="861091"/>
                  </a:lnTo>
                  <a:lnTo>
                    <a:pt x="22181" y="868874"/>
                  </a:lnTo>
                  <a:lnTo>
                    <a:pt x="36321" y="871727"/>
                  </a:lnTo>
                  <a:lnTo>
                    <a:pt x="1987550" y="871727"/>
                  </a:lnTo>
                  <a:lnTo>
                    <a:pt x="2001690" y="868874"/>
                  </a:lnTo>
                  <a:lnTo>
                    <a:pt x="2013235" y="861091"/>
                  </a:lnTo>
                  <a:lnTo>
                    <a:pt x="2021018" y="849546"/>
                  </a:lnTo>
                  <a:lnTo>
                    <a:pt x="2023871" y="835405"/>
                  </a:lnTo>
                  <a:lnTo>
                    <a:pt x="2023871" y="36322"/>
                  </a:lnTo>
                  <a:lnTo>
                    <a:pt x="2021018" y="22181"/>
                  </a:lnTo>
                  <a:lnTo>
                    <a:pt x="2013235" y="10636"/>
                  </a:lnTo>
                  <a:lnTo>
                    <a:pt x="2001690" y="2853"/>
                  </a:lnTo>
                  <a:lnTo>
                    <a:pt x="1987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27164" y="801623"/>
              <a:ext cx="2024380" cy="871855"/>
            </a:xfrm>
            <a:custGeom>
              <a:avLst/>
              <a:gdLst/>
              <a:ahLst/>
              <a:cxnLst/>
              <a:rect l="l" t="t" r="r" b="b"/>
              <a:pathLst>
                <a:path w="2024379" h="871855">
                  <a:moveTo>
                    <a:pt x="0" y="36322"/>
                  </a:moveTo>
                  <a:lnTo>
                    <a:pt x="2853" y="22181"/>
                  </a:lnTo>
                  <a:lnTo>
                    <a:pt x="10636" y="10636"/>
                  </a:lnTo>
                  <a:lnTo>
                    <a:pt x="22181" y="2853"/>
                  </a:lnTo>
                  <a:lnTo>
                    <a:pt x="36321" y="0"/>
                  </a:lnTo>
                  <a:lnTo>
                    <a:pt x="1987550" y="0"/>
                  </a:lnTo>
                  <a:lnTo>
                    <a:pt x="2001690" y="2853"/>
                  </a:lnTo>
                  <a:lnTo>
                    <a:pt x="2013235" y="10636"/>
                  </a:lnTo>
                  <a:lnTo>
                    <a:pt x="2021018" y="22181"/>
                  </a:lnTo>
                  <a:lnTo>
                    <a:pt x="2023871" y="36322"/>
                  </a:lnTo>
                  <a:lnTo>
                    <a:pt x="2023871" y="835405"/>
                  </a:lnTo>
                  <a:lnTo>
                    <a:pt x="2021018" y="849546"/>
                  </a:lnTo>
                  <a:lnTo>
                    <a:pt x="2013235" y="861091"/>
                  </a:lnTo>
                  <a:lnTo>
                    <a:pt x="2001690" y="868874"/>
                  </a:lnTo>
                  <a:lnTo>
                    <a:pt x="1987550" y="871727"/>
                  </a:lnTo>
                  <a:lnTo>
                    <a:pt x="36321" y="871727"/>
                  </a:lnTo>
                  <a:lnTo>
                    <a:pt x="22181" y="868874"/>
                  </a:lnTo>
                  <a:lnTo>
                    <a:pt x="10636" y="861091"/>
                  </a:lnTo>
                  <a:lnTo>
                    <a:pt x="2853" y="849546"/>
                  </a:lnTo>
                  <a:lnTo>
                    <a:pt x="0" y="835405"/>
                  </a:lnTo>
                  <a:lnTo>
                    <a:pt x="0" y="36322"/>
                  </a:lnTo>
                  <a:close/>
                </a:path>
              </a:pathLst>
            </a:custGeom>
            <a:ln w="914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8199" y="3742944"/>
              <a:ext cx="1210056" cy="109728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43227" y="3787140"/>
              <a:ext cx="443484" cy="4953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72184" y="3598163"/>
              <a:ext cx="1050036" cy="33223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50848" y="3567684"/>
              <a:ext cx="1050036" cy="42976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52371" y="3578351"/>
              <a:ext cx="1038225" cy="320040"/>
            </a:xfrm>
            <a:custGeom>
              <a:avLst/>
              <a:gdLst/>
              <a:ahLst/>
              <a:cxnLst/>
              <a:rect l="l" t="t" r="r" b="b"/>
              <a:pathLst>
                <a:path w="1038225" h="320039">
                  <a:moveTo>
                    <a:pt x="1031875" y="0"/>
                  </a:moveTo>
                  <a:lnTo>
                    <a:pt x="5968" y="0"/>
                  </a:lnTo>
                  <a:lnTo>
                    <a:pt x="0" y="5969"/>
                  </a:lnTo>
                  <a:lnTo>
                    <a:pt x="0" y="314071"/>
                  </a:lnTo>
                  <a:lnTo>
                    <a:pt x="5968" y="320040"/>
                  </a:lnTo>
                  <a:lnTo>
                    <a:pt x="1031875" y="320040"/>
                  </a:lnTo>
                  <a:lnTo>
                    <a:pt x="1037844" y="314071"/>
                  </a:lnTo>
                  <a:lnTo>
                    <a:pt x="1037844" y="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52371" y="3578351"/>
              <a:ext cx="1038225" cy="320040"/>
            </a:xfrm>
            <a:custGeom>
              <a:avLst/>
              <a:gdLst/>
              <a:ahLst/>
              <a:cxnLst/>
              <a:rect l="l" t="t" r="r" b="b"/>
              <a:pathLst>
                <a:path w="1038225" h="320039">
                  <a:moveTo>
                    <a:pt x="0" y="13335"/>
                  </a:moveTo>
                  <a:lnTo>
                    <a:pt x="0" y="5969"/>
                  </a:lnTo>
                  <a:lnTo>
                    <a:pt x="5968" y="0"/>
                  </a:lnTo>
                  <a:lnTo>
                    <a:pt x="13334" y="0"/>
                  </a:lnTo>
                  <a:lnTo>
                    <a:pt x="1024509" y="0"/>
                  </a:lnTo>
                  <a:lnTo>
                    <a:pt x="1031875" y="0"/>
                  </a:lnTo>
                  <a:lnTo>
                    <a:pt x="1037844" y="5969"/>
                  </a:lnTo>
                  <a:lnTo>
                    <a:pt x="1037844" y="13335"/>
                  </a:lnTo>
                  <a:lnTo>
                    <a:pt x="1037844" y="306705"/>
                  </a:lnTo>
                  <a:lnTo>
                    <a:pt x="1037844" y="314071"/>
                  </a:lnTo>
                  <a:lnTo>
                    <a:pt x="1031875" y="320040"/>
                  </a:lnTo>
                  <a:lnTo>
                    <a:pt x="1024509" y="320040"/>
                  </a:lnTo>
                  <a:lnTo>
                    <a:pt x="13334" y="320040"/>
                  </a:lnTo>
                  <a:lnTo>
                    <a:pt x="5968" y="320040"/>
                  </a:lnTo>
                  <a:lnTo>
                    <a:pt x="0" y="314071"/>
                  </a:lnTo>
                  <a:lnTo>
                    <a:pt x="0" y="306705"/>
                  </a:lnTo>
                  <a:lnTo>
                    <a:pt x="0" y="13335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9787" y="4369308"/>
              <a:ext cx="505968" cy="4953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1791" y="4180332"/>
              <a:ext cx="835151" cy="332231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8931" y="4149852"/>
              <a:ext cx="864108" cy="42976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1979" y="4160520"/>
              <a:ext cx="822960" cy="320040"/>
            </a:xfrm>
            <a:custGeom>
              <a:avLst/>
              <a:gdLst/>
              <a:ahLst/>
              <a:cxnLst/>
              <a:rect l="l" t="t" r="r" b="b"/>
              <a:pathLst>
                <a:path w="822960" h="320039">
                  <a:moveTo>
                    <a:pt x="0" y="13334"/>
                  </a:moveTo>
                  <a:lnTo>
                    <a:pt x="0" y="5968"/>
                  </a:lnTo>
                  <a:lnTo>
                    <a:pt x="5968" y="0"/>
                  </a:lnTo>
                  <a:lnTo>
                    <a:pt x="13335" y="0"/>
                  </a:lnTo>
                  <a:lnTo>
                    <a:pt x="809625" y="0"/>
                  </a:lnTo>
                  <a:lnTo>
                    <a:pt x="816991" y="0"/>
                  </a:lnTo>
                  <a:lnTo>
                    <a:pt x="822960" y="5968"/>
                  </a:lnTo>
                  <a:lnTo>
                    <a:pt x="822960" y="13334"/>
                  </a:lnTo>
                  <a:lnTo>
                    <a:pt x="822960" y="306704"/>
                  </a:lnTo>
                  <a:lnTo>
                    <a:pt x="822960" y="314070"/>
                  </a:lnTo>
                  <a:lnTo>
                    <a:pt x="816991" y="320039"/>
                  </a:lnTo>
                  <a:lnTo>
                    <a:pt x="809625" y="320039"/>
                  </a:lnTo>
                  <a:lnTo>
                    <a:pt x="13335" y="320039"/>
                  </a:lnTo>
                  <a:lnTo>
                    <a:pt x="5968" y="320039"/>
                  </a:lnTo>
                  <a:lnTo>
                    <a:pt x="0" y="314070"/>
                  </a:lnTo>
                  <a:lnTo>
                    <a:pt x="0" y="306704"/>
                  </a:lnTo>
                  <a:lnTo>
                    <a:pt x="0" y="13334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96772" y="4184704"/>
            <a:ext cx="617220" cy="24637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Verdana"/>
                <a:cs typeface="Verdana"/>
              </a:rPr>
              <a:t>NRPT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49808" y="4876800"/>
            <a:ext cx="2059305" cy="429895"/>
            <a:chOff x="749808" y="4876800"/>
            <a:chExt cx="2059305" cy="429895"/>
          </a:xfrm>
        </p:grpSpPr>
        <p:sp>
          <p:nvSpPr>
            <p:cNvPr id="28" name="object 28"/>
            <p:cNvSpPr/>
            <p:nvPr/>
          </p:nvSpPr>
          <p:spPr>
            <a:xfrm>
              <a:off x="772668" y="4907280"/>
              <a:ext cx="2036064" cy="33223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9808" y="4876800"/>
              <a:ext cx="2019300" cy="42976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48258" y="4912033"/>
            <a:ext cx="1771014" cy="24637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Verdana"/>
                <a:cs typeface="Verdana"/>
              </a:rPr>
              <a:t>External</a:t>
            </a:r>
            <a:r>
              <a:rPr sz="1600" b="1" spc="-3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64857" y="1066800"/>
            <a:ext cx="2059305" cy="2822575"/>
            <a:chOff x="764857" y="1066800"/>
            <a:chExt cx="2059305" cy="2822575"/>
          </a:xfrm>
        </p:grpSpPr>
        <p:sp>
          <p:nvSpPr>
            <p:cNvPr id="32" name="object 32"/>
            <p:cNvSpPr/>
            <p:nvPr/>
          </p:nvSpPr>
          <p:spPr>
            <a:xfrm>
              <a:off x="1179575" y="2183891"/>
              <a:ext cx="315468" cy="1705355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77238" y="2321813"/>
              <a:ext cx="120650" cy="1390650"/>
            </a:xfrm>
            <a:custGeom>
              <a:avLst/>
              <a:gdLst/>
              <a:ahLst/>
              <a:cxnLst/>
              <a:rect l="l" t="t" r="r" b="b"/>
              <a:pathLst>
                <a:path w="120650" h="1390650">
                  <a:moveTo>
                    <a:pt x="14351" y="1271905"/>
                  </a:moveTo>
                  <a:lnTo>
                    <a:pt x="2032" y="1279144"/>
                  </a:lnTo>
                  <a:lnTo>
                    <a:pt x="0" y="1287018"/>
                  </a:lnTo>
                  <a:lnTo>
                    <a:pt x="3556" y="1293241"/>
                  </a:lnTo>
                  <a:lnTo>
                    <a:pt x="60071" y="1390142"/>
                  </a:lnTo>
                  <a:lnTo>
                    <a:pt x="75107" y="1364361"/>
                  </a:lnTo>
                  <a:lnTo>
                    <a:pt x="47117" y="1364361"/>
                  </a:lnTo>
                  <a:lnTo>
                    <a:pt x="47117" y="1316518"/>
                  </a:lnTo>
                  <a:lnTo>
                    <a:pt x="25908" y="1280160"/>
                  </a:lnTo>
                  <a:lnTo>
                    <a:pt x="22352" y="1273937"/>
                  </a:lnTo>
                  <a:lnTo>
                    <a:pt x="14351" y="1271905"/>
                  </a:lnTo>
                  <a:close/>
                </a:path>
                <a:path w="120650" h="1390650">
                  <a:moveTo>
                    <a:pt x="47117" y="1316518"/>
                  </a:moveTo>
                  <a:lnTo>
                    <a:pt x="47117" y="1364361"/>
                  </a:lnTo>
                  <a:lnTo>
                    <a:pt x="73025" y="1364361"/>
                  </a:lnTo>
                  <a:lnTo>
                    <a:pt x="73025" y="1357884"/>
                  </a:lnTo>
                  <a:lnTo>
                    <a:pt x="48895" y="1357884"/>
                  </a:lnTo>
                  <a:lnTo>
                    <a:pt x="60071" y="1338725"/>
                  </a:lnTo>
                  <a:lnTo>
                    <a:pt x="47117" y="1316518"/>
                  </a:lnTo>
                  <a:close/>
                </a:path>
                <a:path w="120650" h="1390650">
                  <a:moveTo>
                    <a:pt x="105791" y="1271905"/>
                  </a:moveTo>
                  <a:lnTo>
                    <a:pt x="97790" y="1273937"/>
                  </a:lnTo>
                  <a:lnTo>
                    <a:pt x="94234" y="1280160"/>
                  </a:lnTo>
                  <a:lnTo>
                    <a:pt x="73025" y="1316518"/>
                  </a:lnTo>
                  <a:lnTo>
                    <a:pt x="73025" y="1364361"/>
                  </a:lnTo>
                  <a:lnTo>
                    <a:pt x="75107" y="1364361"/>
                  </a:lnTo>
                  <a:lnTo>
                    <a:pt x="116586" y="1293241"/>
                  </a:lnTo>
                  <a:lnTo>
                    <a:pt x="120142" y="1287018"/>
                  </a:lnTo>
                  <a:lnTo>
                    <a:pt x="118110" y="1279144"/>
                  </a:lnTo>
                  <a:lnTo>
                    <a:pt x="105791" y="1271905"/>
                  </a:lnTo>
                  <a:close/>
                </a:path>
                <a:path w="120650" h="1390650">
                  <a:moveTo>
                    <a:pt x="60071" y="1338725"/>
                  </a:moveTo>
                  <a:lnTo>
                    <a:pt x="48895" y="1357884"/>
                  </a:lnTo>
                  <a:lnTo>
                    <a:pt x="71247" y="1357884"/>
                  </a:lnTo>
                  <a:lnTo>
                    <a:pt x="60071" y="1338725"/>
                  </a:lnTo>
                  <a:close/>
                </a:path>
                <a:path w="120650" h="1390650">
                  <a:moveTo>
                    <a:pt x="73025" y="1316518"/>
                  </a:moveTo>
                  <a:lnTo>
                    <a:pt x="60071" y="1338725"/>
                  </a:lnTo>
                  <a:lnTo>
                    <a:pt x="71247" y="1357884"/>
                  </a:lnTo>
                  <a:lnTo>
                    <a:pt x="73025" y="1357884"/>
                  </a:lnTo>
                  <a:lnTo>
                    <a:pt x="73025" y="1316518"/>
                  </a:lnTo>
                  <a:close/>
                </a:path>
                <a:path w="120650" h="1390650">
                  <a:moveTo>
                    <a:pt x="60071" y="51289"/>
                  </a:moveTo>
                  <a:lnTo>
                    <a:pt x="47117" y="73496"/>
                  </a:lnTo>
                  <a:lnTo>
                    <a:pt x="47117" y="1316518"/>
                  </a:lnTo>
                  <a:lnTo>
                    <a:pt x="60071" y="1338725"/>
                  </a:lnTo>
                  <a:lnTo>
                    <a:pt x="73025" y="1316518"/>
                  </a:lnTo>
                  <a:lnTo>
                    <a:pt x="73025" y="73496"/>
                  </a:lnTo>
                  <a:lnTo>
                    <a:pt x="60071" y="51289"/>
                  </a:lnTo>
                  <a:close/>
                </a:path>
                <a:path w="120650" h="1390650">
                  <a:moveTo>
                    <a:pt x="60071" y="0"/>
                  </a:moveTo>
                  <a:lnTo>
                    <a:pt x="0" y="102997"/>
                  </a:lnTo>
                  <a:lnTo>
                    <a:pt x="2032" y="110998"/>
                  </a:lnTo>
                  <a:lnTo>
                    <a:pt x="8255" y="114553"/>
                  </a:lnTo>
                  <a:lnTo>
                    <a:pt x="14351" y="118110"/>
                  </a:lnTo>
                  <a:lnTo>
                    <a:pt x="22352" y="116077"/>
                  </a:lnTo>
                  <a:lnTo>
                    <a:pt x="25908" y="109855"/>
                  </a:lnTo>
                  <a:lnTo>
                    <a:pt x="47117" y="73496"/>
                  </a:lnTo>
                  <a:lnTo>
                    <a:pt x="47117" y="25653"/>
                  </a:lnTo>
                  <a:lnTo>
                    <a:pt x="75033" y="25653"/>
                  </a:lnTo>
                  <a:lnTo>
                    <a:pt x="60071" y="0"/>
                  </a:lnTo>
                  <a:close/>
                </a:path>
                <a:path w="120650" h="1390650">
                  <a:moveTo>
                    <a:pt x="75033" y="25653"/>
                  </a:moveTo>
                  <a:lnTo>
                    <a:pt x="73025" y="25653"/>
                  </a:lnTo>
                  <a:lnTo>
                    <a:pt x="73025" y="73496"/>
                  </a:lnTo>
                  <a:lnTo>
                    <a:pt x="94234" y="109855"/>
                  </a:lnTo>
                  <a:lnTo>
                    <a:pt x="97790" y="116077"/>
                  </a:lnTo>
                  <a:lnTo>
                    <a:pt x="105791" y="118110"/>
                  </a:lnTo>
                  <a:lnTo>
                    <a:pt x="111887" y="114553"/>
                  </a:lnTo>
                  <a:lnTo>
                    <a:pt x="118110" y="110998"/>
                  </a:lnTo>
                  <a:lnTo>
                    <a:pt x="120142" y="102997"/>
                  </a:lnTo>
                  <a:lnTo>
                    <a:pt x="75033" y="25653"/>
                  </a:lnTo>
                  <a:close/>
                </a:path>
                <a:path w="120650" h="1390650">
                  <a:moveTo>
                    <a:pt x="73025" y="25653"/>
                  </a:moveTo>
                  <a:lnTo>
                    <a:pt x="47117" y="25653"/>
                  </a:lnTo>
                  <a:lnTo>
                    <a:pt x="47117" y="73496"/>
                  </a:lnTo>
                  <a:lnTo>
                    <a:pt x="60071" y="51289"/>
                  </a:lnTo>
                  <a:lnTo>
                    <a:pt x="48895" y="32131"/>
                  </a:lnTo>
                  <a:lnTo>
                    <a:pt x="73025" y="32131"/>
                  </a:lnTo>
                  <a:lnTo>
                    <a:pt x="73025" y="25653"/>
                  </a:lnTo>
                  <a:close/>
                </a:path>
                <a:path w="120650" h="1390650">
                  <a:moveTo>
                    <a:pt x="73025" y="32131"/>
                  </a:moveTo>
                  <a:lnTo>
                    <a:pt x="71247" y="32131"/>
                  </a:lnTo>
                  <a:lnTo>
                    <a:pt x="60071" y="51289"/>
                  </a:lnTo>
                  <a:lnTo>
                    <a:pt x="73025" y="73496"/>
                  </a:lnTo>
                  <a:lnTo>
                    <a:pt x="73025" y="32131"/>
                  </a:lnTo>
                  <a:close/>
                </a:path>
                <a:path w="120650" h="1390650">
                  <a:moveTo>
                    <a:pt x="71247" y="32131"/>
                  </a:moveTo>
                  <a:lnTo>
                    <a:pt x="48895" y="32131"/>
                  </a:lnTo>
                  <a:lnTo>
                    <a:pt x="60071" y="51289"/>
                  </a:lnTo>
                  <a:lnTo>
                    <a:pt x="71247" y="321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84731" y="1237487"/>
              <a:ext cx="1202436" cy="120243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89431" y="1097280"/>
              <a:ext cx="2034539" cy="33223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66571" y="1066800"/>
              <a:ext cx="1522476" cy="429767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9619" y="1077467"/>
              <a:ext cx="2022475" cy="320040"/>
            </a:xfrm>
            <a:custGeom>
              <a:avLst/>
              <a:gdLst/>
              <a:ahLst/>
              <a:cxnLst/>
              <a:rect l="l" t="t" r="r" b="b"/>
              <a:pathLst>
                <a:path w="2022475" h="320040">
                  <a:moveTo>
                    <a:pt x="0" y="13335"/>
                  </a:moveTo>
                  <a:lnTo>
                    <a:pt x="0" y="5969"/>
                  </a:lnTo>
                  <a:lnTo>
                    <a:pt x="5968" y="0"/>
                  </a:lnTo>
                  <a:lnTo>
                    <a:pt x="13334" y="0"/>
                  </a:lnTo>
                  <a:lnTo>
                    <a:pt x="2009013" y="0"/>
                  </a:lnTo>
                  <a:lnTo>
                    <a:pt x="2016379" y="0"/>
                  </a:lnTo>
                  <a:lnTo>
                    <a:pt x="2022348" y="5969"/>
                  </a:lnTo>
                  <a:lnTo>
                    <a:pt x="2022348" y="13335"/>
                  </a:lnTo>
                  <a:lnTo>
                    <a:pt x="2022348" y="306705"/>
                  </a:lnTo>
                  <a:lnTo>
                    <a:pt x="2022348" y="314071"/>
                  </a:lnTo>
                  <a:lnTo>
                    <a:pt x="2016379" y="320040"/>
                  </a:lnTo>
                  <a:lnTo>
                    <a:pt x="2009013" y="320040"/>
                  </a:lnTo>
                  <a:lnTo>
                    <a:pt x="13334" y="320040"/>
                  </a:lnTo>
                  <a:lnTo>
                    <a:pt x="5968" y="320040"/>
                  </a:lnTo>
                  <a:lnTo>
                    <a:pt x="0" y="314071"/>
                  </a:lnTo>
                  <a:lnTo>
                    <a:pt x="0" y="306705"/>
                  </a:lnTo>
                  <a:lnTo>
                    <a:pt x="0" y="13335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64412" y="1101017"/>
            <a:ext cx="1275715" cy="24637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Verdana"/>
                <a:cs typeface="Verdana"/>
              </a:rPr>
              <a:t>DNS</a:t>
            </a:r>
            <a:r>
              <a:rPr sz="1600" b="1" spc="-7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7723" y="796861"/>
            <a:ext cx="9005570" cy="5299710"/>
            <a:chOff x="77723" y="796861"/>
            <a:chExt cx="9005570" cy="5299710"/>
          </a:xfrm>
        </p:grpSpPr>
        <p:sp>
          <p:nvSpPr>
            <p:cNvPr id="40" name="object 40"/>
            <p:cNvSpPr/>
            <p:nvPr/>
          </p:nvSpPr>
          <p:spPr>
            <a:xfrm>
              <a:off x="6217920" y="3608831"/>
              <a:ext cx="1054607" cy="1097280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78423" y="3432047"/>
              <a:ext cx="1146048" cy="1176527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25795" y="4692395"/>
              <a:ext cx="2036063" cy="784859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09032" y="4668012"/>
              <a:ext cx="1359408" cy="868679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205983" y="4672583"/>
              <a:ext cx="2024380" cy="772795"/>
            </a:xfrm>
            <a:custGeom>
              <a:avLst/>
              <a:gdLst/>
              <a:ahLst/>
              <a:cxnLst/>
              <a:rect l="l" t="t" r="r" b="b"/>
              <a:pathLst>
                <a:path w="2024379" h="772795">
                  <a:moveTo>
                    <a:pt x="1991614" y="0"/>
                  </a:moveTo>
                  <a:lnTo>
                    <a:pt x="32257" y="0"/>
                  </a:lnTo>
                  <a:lnTo>
                    <a:pt x="19716" y="2540"/>
                  </a:lnTo>
                  <a:lnTo>
                    <a:pt x="9461" y="9461"/>
                  </a:lnTo>
                  <a:lnTo>
                    <a:pt x="2539" y="19716"/>
                  </a:lnTo>
                  <a:lnTo>
                    <a:pt x="0" y="32258"/>
                  </a:lnTo>
                  <a:lnTo>
                    <a:pt x="0" y="740410"/>
                  </a:lnTo>
                  <a:lnTo>
                    <a:pt x="2539" y="752951"/>
                  </a:lnTo>
                  <a:lnTo>
                    <a:pt x="9461" y="763206"/>
                  </a:lnTo>
                  <a:lnTo>
                    <a:pt x="19716" y="770128"/>
                  </a:lnTo>
                  <a:lnTo>
                    <a:pt x="32257" y="772668"/>
                  </a:lnTo>
                  <a:lnTo>
                    <a:pt x="1991614" y="772668"/>
                  </a:lnTo>
                  <a:lnTo>
                    <a:pt x="2004155" y="770128"/>
                  </a:lnTo>
                  <a:lnTo>
                    <a:pt x="2014410" y="763206"/>
                  </a:lnTo>
                  <a:lnTo>
                    <a:pt x="2021331" y="752951"/>
                  </a:lnTo>
                  <a:lnTo>
                    <a:pt x="2023871" y="740410"/>
                  </a:lnTo>
                  <a:lnTo>
                    <a:pt x="2023871" y="32258"/>
                  </a:lnTo>
                  <a:lnTo>
                    <a:pt x="2021331" y="19716"/>
                  </a:lnTo>
                  <a:lnTo>
                    <a:pt x="2014410" y="9461"/>
                  </a:lnTo>
                  <a:lnTo>
                    <a:pt x="2004155" y="2540"/>
                  </a:lnTo>
                  <a:lnTo>
                    <a:pt x="1991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205983" y="4672583"/>
              <a:ext cx="2024380" cy="772795"/>
            </a:xfrm>
            <a:custGeom>
              <a:avLst/>
              <a:gdLst/>
              <a:ahLst/>
              <a:cxnLst/>
              <a:rect l="l" t="t" r="r" b="b"/>
              <a:pathLst>
                <a:path w="2024379" h="772795">
                  <a:moveTo>
                    <a:pt x="0" y="32258"/>
                  </a:moveTo>
                  <a:lnTo>
                    <a:pt x="2539" y="19716"/>
                  </a:lnTo>
                  <a:lnTo>
                    <a:pt x="9461" y="9461"/>
                  </a:lnTo>
                  <a:lnTo>
                    <a:pt x="19716" y="2540"/>
                  </a:lnTo>
                  <a:lnTo>
                    <a:pt x="32257" y="0"/>
                  </a:lnTo>
                  <a:lnTo>
                    <a:pt x="1991614" y="0"/>
                  </a:lnTo>
                  <a:lnTo>
                    <a:pt x="2004155" y="2540"/>
                  </a:lnTo>
                  <a:lnTo>
                    <a:pt x="2014410" y="9461"/>
                  </a:lnTo>
                  <a:lnTo>
                    <a:pt x="2021331" y="19716"/>
                  </a:lnTo>
                  <a:lnTo>
                    <a:pt x="2023871" y="32258"/>
                  </a:lnTo>
                  <a:lnTo>
                    <a:pt x="2023871" y="740410"/>
                  </a:lnTo>
                  <a:lnTo>
                    <a:pt x="2021331" y="752951"/>
                  </a:lnTo>
                  <a:lnTo>
                    <a:pt x="2014410" y="763206"/>
                  </a:lnTo>
                  <a:lnTo>
                    <a:pt x="2004155" y="770128"/>
                  </a:lnTo>
                  <a:lnTo>
                    <a:pt x="1991614" y="772668"/>
                  </a:lnTo>
                  <a:lnTo>
                    <a:pt x="32257" y="772668"/>
                  </a:lnTo>
                  <a:lnTo>
                    <a:pt x="19716" y="770128"/>
                  </a:lnTo>
                  <a:lnTo>
                    <a:pt x="9461" y="763206"/>
                  </a:lnTo>
                  <a:lnTo>
                    <a:pt x="2539" y="752951"/>
                  </a:lnTo>
                  <a:lnTo>
                    <a:pt x="0" y="740410"/>
                  </a:lnTo>
                  <a:lnTo>
                    <a:pt x="0" y="32258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90599" y="2127504"/>
              <a:ext cx="1304544" cy="13045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34156" y="1063752"/>
              <a:ext cx="5367528" cy="50322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00400" y="2321051"/>
              <a:ext cx="1069848" cy="12496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696200" y="1510283"/>
              <a:ext cx="1202436" cy="12009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872740" y="1908048"/>
              <a:ext cx="2036064" cy="55778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52928" y="1880615"/>
              <a:ext cx="1844039" cy="6492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52928" y="1888235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2001139" y="0"/>
                  </a:moveTo>
                  <a:lnTo>
                    <a:pt x="22733" y="0"/>
                  </a:lnTo>
                  <a:lnTo>
                    <a:pt x="13876" y="1783"/>
                  </a:lnTo>
                  <a:lnTo>
                    <a:pt x="6651" y="6651"/>
                  </a:lnTo>
                  <a:lnTo>
                    <a:pt x="1783" y="13876"/>
                  </a:lnTo>
                  <a:lnTo>
                    <a:pt x="0" y="22733"/>
                  </a:lnTo>
                  <a:lnTo>
                    <a:pt x="0" y="522859"/>
                  </a:lnTo>
                  <a:lnTo>
                    <a:pt x="1783" y="531715"/>
                  </a:lnTo>
                  <a:lnTo>
                    <a:pt x="6651" y="538940"/>
                  </a:lnTo>
                  <a:lnTo>
                    <a:pt x="13876" y="543808"/>
                  </a:lnTo>
                  <a:lnTo>
                    <a:pt x="22733" y="545591"/>
                  </a:lnTo>
                  <a:lnTo>
                    <a:pt x="2001139" y="545591"/>
                  </a:lnTo>
                  <a:lnTo>
                    <a:pt x="2009995" y="543808"/>
                  </a:lnTo>
                  <a:lnTo>
                    <a:pt x="2017220" y="538940"/>
                  </a:lnTo>
                  <a:lnTo>
                    <a:pt x="2022088" y="531715"/>
                  </a:lnTo>
                  <a:lnTo>
                    <a:pt x="2023872" y="522859"/>
                  </a:lnTo>
                  <a:lnTo>
                    <a:pt x="2023872" y="22733"/>
                  </a:lnTo>
                  <a:lnTo>
                    <a:pt x="2022088" y="13876"/>
                  </a:lnTo>
                  <a:lnTo>
                    <a:pt x="2017220" y="6651"/>
                  </a:lnTo>
                  <a:lnTo>
                    <a:pt x="2009995" y="1783"/>
                  </a:lnTo>
                  <a:lnTo>
                    <a:pt x="20011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852928" y="1888235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0" y="22733"/>
                  </a:moveTo>
                  <a:lnTo>
                    <a:pt x="1783" y="13876"/>
                  </a:lnTo>
                  <a:lnTo>
                    <a:pt x="6651" y="6651"/>
                  </a:lnTo>
                  <a:lnTo>
                    <a:pt x="13876" y="1783"/>
                  </a:lnTo>
                  <a:lnTo>
                    <a:pt x="22733" y="0"/>
                  </a:lnTo>
                  <a:lnTo>
                    <a:pt x="2001139" y="0"/>
                  </a:lnTo>
                  <a:lnTo>
                    <a:pt x="2009995" y="1783"/>
                  </a:lnTo>
                  <a:lnTo>
                    <a:pt x="2017220" y="6651"/>
                  </a:lnTo>
                  <a:lnTo>
                    <a:pt x="2022088" y="13876"/>
                  </a:lnTo>
                  <a:lnTo>
                    <a:pt x="2023872" y="22733"/>
                  </a:lnTo>
                  <a:lnTo>
                    <a:pt x="2023872" y="522859"/>
                  </a:lnTo>
                  <a:lnTo>
                    <a:pt x="2022088" y="531715"/>
                  </a:lnTo>
                  <a:lnTo>
                    <a:pt x="2017220" y="538940"/>
                  </a:lnTo>
                  <a:lnTo>
                    <a:pt x="2009995" y="543808"/>
                  </a:lnTo>
                  <a:lnTo>
                    <a:pt x="2001139" y="545591"/>
                  </a:lnTo>
                  <a:lnTo>
                    <a:pt x="22733" y="545591"/>
                  </a:lnTo>
                  <a:lnTo>
                    <a:pt x="13876" y="543808"/>
                  </a:lnTo>
                  <a:lnTo>
                    <a:pt x="6651" y="538940"/>
                  </a:lnTo>
                  <a:lnTo>
                    <a:pt x="1783" y="531715"/>
                  </a:lnTo>
                  <a:lnTo>
                    <a:pt x="0" y="522859"/>
                  </a:lnTo>
                  <a:lnTo>
                    <a:pt x="0" y="22733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48283" y="4882895"/>
              <a:ext cx="2060448" cy="356616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046976" y="821435"/>
              <a:ext cx="2036064" cy="88392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31735" y="798575"/>
              <a:ext cx="1943100" cy="96621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027164" y="801623"/>
              <a:ext cx="2024380" cy="871855"/>
            </a:xfrm>
            <a:custGeom>
              <a:avLst/>
              <a:gdLst/>
              <a:ahLst/>
              <a:cxnLst/>
              <a:rect l="l" t="t" r="r" b="b"/>
              <a:pathLst>
                <a:path w="2024379" h="871855">
                  <a:moveTo>
                    <a:pt x="1987550" y="0"/>
                  </a:moveTo>
                  <a:lnTo>
                    <a:pt x="36321" y="0"/>
                  </a:lnTo>
                  <a:lnTo>
                    <a:pt x="22181" y="2853"/>
                  </a:lnTo>
                  <a:lnTo>
                    <a:pt x="10636" y="10636"/>
                  </a:lnTo>
                  <a:lnTo>
                    <a:pt x="2853" y="22181"/>
                  </a:lnTo>
                  <a:lnTo>
                    <a:pt x="0" y="36322"/>
                  </a:lnTo>
                  <a:lnTo>
                    <a:pt x="0" y="835405"/>
                  </a:lnTo>
                  <a:lnTo>
                    <a:pt x="2853" y="849546"/>
                  </a:lnTo>
                  <a:lnTo>
                    <a:pt x="10636" y="861091"/>
                  </a:lnTo>
                  <a:lnTo>
                    <a:pt x="22181" y="868874"/>
                  </a:lnTo>
                  <a:lnTo>
                    <a:pt x="36321" y="871727"/>
                  </a:lnTo>
                  <a:lnTo>
                    <a:pt x="1987550" y="871727"/>
                  </a:lnTo>
                  <a:lnTo>
                    <a:pt x="2001690" y="868874"/>
                  </a:lnTo>
                  <a:lnTo>
                    <a:pt x="2013235" y="861091"/>
                  </a:lnTo>
                  <a:lnTo>
                    <a:pt x="2021018" y="849546"/>
                  </a:lnTo>
                  <a:lnTo>
                    <a:pt x="2023871" y="835405"/>
                  </a:lnTo>
                  <a:lnTo>
                    <a:pt x="2023871" y="36322"/>
                  </a:lnTo>
                  <a:lnTo>
                    <a:pt x="2021018" y="22181"/>
                  </a:lnTo>
                  <a:lnTo>
                    <a:pt x="2013235" y="10636"/>
                  </a:lnTo>
                  <a:lnTo>
                    <a:pt x="2001690" y="2853"/>
                  </a:lnTo>
                  <a:lnTo>
                    <a:pt x="1987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027164" y="801623"/>
              <a:ext cx="2024380" cy="871855"/>
            </a:xfrm>
            <a:custGeom>
              <a:avLst/>
              <a:gdLst/>
              <a:ahLst/>
              <a:cxnLst/>
              <a:rect l="l" t="t" r="r" b="b"/>
              <a:pathLst>
                <a:path w="2024379" h="871855">
                  <a:moveTo>
                    <a:pt x="0" y="36322"/>
                  </a:moveTo>
                  <a:lnTo>
                    <a:pt x="2853" y="22181"/>
                  </a:lnTo>
                  <a:lnTo>
                    <a:pt x="10636" y="10636"/>
                  </a:lnTo>
                  <a:lnTo>
                    <a:pt x="22181" y="2853"/>
                  </a:lnTo>
                  <a:lnTo>
                    <a:pt x="36321" y="0"/>
                  </a:lnTo>
                  <a:lnTo>
                    <a:pt x="1987550" y="0"/>
                  </a:lnTo>
                  <a:lnTo>
                    <a:pt x="2001690" y="2853"/>
                  </a:lnTo>
                  <a:lnTo>
                    <a:pt x="2013235" y="10636"/>
                  </a:lnTo>
                  <a:lnTo>
                    <a:pt x="2021018" y="22181"/>
                  </a:lnTo>
                  <a:lnTo>
                    <a:pt x="2023871" y="36322"/>
                  </a:lnTo>
                  <a:lnTo>
                    <a:pt x="2023871" y="835405"/>
                  </a:lnTo>
                  <a:lnTo>
                    <a:pt x="2021018" y="849546"/>
                  </a:lnTo>
                  <a:lnTo>
                    <a:pt x="2013235" y="861091"/>
                  </a:lnTo>
                  <a:lnTo>
                    <a:pt x="2001690" y="868874"/>
                  </a:lnTo>
                  <a:lnTo>
                    <a:pt x="1987550" y="871727"/>
                  </a:lnTo>
                  <a:lnTo>
                    <a:pt x="36321" y="871727"/>
                  </a:lnTo>
                  <a:lnTo>
                    <a:pt x="22181" y="868874"/>
                  </a:lnTo>
                  <a:lnTo>
                    <a:pt x="10636" y="861091"/>
                  </a:lnTo>
                  <a:lnTo>
                    <a:pt x="2853" y="849546"/>
                  </a:lnTo>
                  <a:lnTo>
                    <a:pt x="0" y="835405"/>
                  </a:lnTo>
                  <a:lnTo>
                    <a:pt x="0" y="36322"/>
                  </a:lnTo>
                  <a:close/>
                </a:path>
              </a:pathLst>
            </a:custGeom>
            <a:ln w="914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38200" y="3742944"/>
              <a:ext cx="1210056" cy="109728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7723" y="3960875"/>
              <a:ext cx="443484" cy="4953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6679" y="3773423"/>
              <a:ext cx="1050036" cy="33223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5343" y="3741419"/>
              <a:ext cx="1050036" cy="429768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6867" y="3753612"/>
              <a:ext cx="1038225" cy="320040"/>
            </a:xfrm>
            <a:custGeom>
              <a:avLst/>
              <a:gdLst/>
              <a:ahLst/>
              <a:cxnLst/>
              <a:rect l="l" t="t" r="r" b="b"/>
              <a:pathLst>
                <a:path w="1038225" h="320039">
                  <a:moveTo>
                    <a:pt x="0" y="13335"/>
                  </a:moveTo>
                  <a:lnTo>
                    <a:pt x="0" y="5968"/>
                  </a:lnTo>
                  <a:lnTo>
                    <a:pt x="5970" y="0"/>
                  </a:lnTo>
                  <a:lnTo>
                    <a:pt x="13336" y="0"/>
                  </a:lnTo>
                  <a:lnTo>
                    <a:pt x="1024509" y="0"/>
                  </a:lnTo>
                  <a:lnTo>
                    <a:pt x="1031875" y="0"/>
                  </a:lnTo>
                  <a:lnTo>
                    <a:pt x="1037844" y="5968"/>
                  </a:lnTo>
                  <a:lnTo>
                    <a:pt x="1037844" y="13335"/>
                  </a:lnTo>
                  <a:lnTo>
                    <a:pt x="1037844" y="306705"/>
                  </a:lnTo>
                  <a:lnTo>
                    <a:pt x="1037844" y="314070"/>
                  </a:lnTo>
                  <a:lnTo>
                    <a:pt x="1031875" y="320039"/>
                  </a:lnTo>
                  <a:lnTo>
                    <a:pt x="1024509" y="320039"/>
                  </a:lnTo>
                  <a:lnTo>
                    <a:pt x="13336" y="320039"/>
                  </a:lnTo>
                  <a:lnTo>
                    <a:pt x="5970" y="320039"/>
                  </a:lnTo>
                  <a:lnTo>
                    <a:pt x="0" y="314070"/>
                  </a:lnTo>
                  <a:lnTo>
                    <a:pt x="0" y="306705"/>
                  </a:lnTo>
                  <a:lnTo>
                    <a:pt x="0" y="13335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82879" y="3777161"/>
            <a:ext cx="803910" cy="24637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Verdana"/>
                <a:cs typeface="Verdana"/>
              </a:rPr>
              <a:t>C</a:t>
            </a:r>
            <a:r>
              <a:rPr sz="1600" b="1" spc="-15" dirty="0">
                <a:latin typeface="Verdana"/>
                <a:cs typeface="Verdana"/>
              </a:rPr>
              <a:t>o</a:t>
            </a:r>
            <a:r>
              <a:rPr sz="1600" b="1" spc="-10" dirty="0">
                <a:latin typeface="Verdana"/>
                <a:cs typeface="Verdana"/>
              </a:rPr>
              <a:t>n</a:t>
            </a:r>
            <a:r>
              <a:rPr sz="1600" b="1" spc="-5" dirty="0">
                <a:latin typeface="Verdana"/>
                <a:cs typeface="Verdana"/>
              </a:rPr>
              <a:t>s</a:t>
            </a:r>
            <a:r>
              <a:rPr sz="1600" b="1" spc="-10" dirty="0">
                <a:latin typeface="Verdana"/>
                <a:cs typeface="Verdana"/>
              </a:rPr>
              <a:t>ec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589787" y="4149852"/>
            <a:ext cx="873760" cy="715010"/>
            <a:chOff x="589787" y="4149852"/>
            <a:chExt cx="873760" cy="715010"/>
          </a:xfrm>
        </p:grpSpPr>
        <p:sp>
          <p:nvSpPr>
            <p:cNvPr id="66" name="object 66"/>
            <p:cNvSpPr/>
            <p:nvPr/>
          </p:nvSpPr>
          <p:spPr>
            <a:xfrm>
              <a:off x="589787" y="4369308"/>
              <a:ext cx="505968" cy="4953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21791" y="4180332"/>
              <a:ext cx="835151" cy="332231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8931" y="4149852"/>
              <a:ext cx="864108" cy="42976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01979" y="4160520"/>
              <a:ext cx="822960" cy="320040"/>
            </a:xfrm>
            <a:custGeom>
              <a:avLst/>
              <a:gdLst/>
              <a:ahLst/>
              <a:cxnLst/>
              <a:rect l="l" t="t" r="r" b="b"/>
              <a:pathLst>
                <a:path w="822960" h="320039">
                  <a:moveTo>
                    <a:pt x="0" y="13334"/>
                  </a:moveTo>
                  <a:lnTo>
                    <a:pt x="0" y="5968"/>
                  </a:lnTo>
                  <a:lnTo>
                    <a:pt x="5968" y="0"/>
                  </a:lnTo>
                  <a:lnTo>
                    <a:pt x="13335" y="0"/>
                  </a:lnTo>
                  <a:lnTo>
                    <a:pt x="809625" y="0"/>
                  </a:lnTo>
                  <a:lnTo>
                    <a:pt x="816991" y="0"/>
                  </a:lnTo>
                  <a:lnTo>
                    <a:pt x="822960" y="5968"/>
                  </a:lnTo>
                  <a:lnTo>
                    <a:pt x="822960" y="13334"/>
                  </a:lnTo>
                  <a:lnTo>
                    <a:pt x="822960" y="306704"/>
                  </a:lnTo>
                  <a:lnTo>
                    <a:pt x="822960" y="314070"/>
                  </a:lnTo>
                  <a:lnTo>
                    <a:pt x="816991" y="320039"/>
                  </a:lnTo>
                  <a:lnTo>
                    <a:pt x="809625" y="320039"/>
                  </a:lnTo>
                  <a:lnTo>
                    <a:pt x="13335" y="320039"/>
                  </a:lnTo>
                  <a:lnTo>
                    <a:pt x="5968" y="320039"/>
                  </a:lnTo>
                  <a:lnTo>
                    <a:pt x="0" y="314070"/>
                  </a:lnTo>
                  <a:lnTo>
                    <a:pt x="0" y="306704"/>
                  </a:lnTo>
                  <a:lnTo>
                    <a:pt x="0" y="13334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696772" y="4184704"/>
            <a:ext cx="617220" cy="24637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Verdana"/>
                <a:cs typeface="Verdana"/>
              </a:rPr>
              <a:t>NRPT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749808" y="4876800"/>
            <a:ext cx="2019300" cy="42976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848258" y="4912033"/>
            <a:ext cx="1771014" cy="24637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Verdana"/>
                <a:cs typeface="Verdana"/>
              </a:rPr>
              <a:t>External</a:t>
            </a:r>
            <a:r>
              <a:rPr sz="1600" b="1" spc="-3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764857" y="1066800"/>
            <a:ext cx="2059305" cy="1373505"/>
            <a:chOff x="764857" y="1066800"/>
            <a:chExt cx="2059305" cy="1373505"/>
          </a:xfrm>
        </p:grpSpPr>
        <p:sp>
          <p:nvSpPr>
            <p:cNvPr id="74" name="object 74"/>
            <p:cNvSpPr/>
            <p:nvPr/>
          </p:nvSpPr>
          <p:spPr>
            <a:xfrm>
              <a:off x="1284731" y="1237487"/>
              <a:ext cx="1202436" cy="120243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89431" y="1097280"/>
              <a:ext cx="2034539" cy="33223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66571" y="1066800"/>
              <a:ext cx="1522476" cy="429767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69619" y="1077467"/>
              <a:ext cx="2022475" cy="320040"/>
            </a:xfrm>
            <a:custGeom>
              <a:avLst/>
              <a:gdLst/>
              <a:ahLst/>
              <a:cxnLst/>
              <a:rect l="l" t="t" r="r" b="b"/>
              <a:pathLst>
                <a:path w="2022475" h="320040">
                  <a:moveTo>
                    <a:pt x="0" y="13335"/>
                  </a:moveTo>
                  <a:lnTo>
                    <a:pt x="0" y="5969"/>
                  </a:lnTo>
                  <a:lnTo>
                    <a:pt x="5968" y="0"/>
                  </a:lnTo>
                  <a:lnTo>
                    <a:pt x="13334" y="0"/>
                  </a:lnTo>
                  <a:lnTo>
                    <a:pt x="2009013" y="0"/>
                  </a:lnTo>
                  <a:lnTo>
                    <a:pt x="2016379" y="0"/>
                  </a:lnTo>
                  <a:lnTo>
                    <a:pt x="2022348" y="5969"/>
                  </a:lnTo>
                  <a:lnTo>
                    <a:pt x="2022348" y="13335"/>
                  </a:lnTo>
                  <a:lnTo>
                    <a:pt x="2022348" y="306705"/>
                  </a:lnTo>
                  <a:lnTo>
                    <a:pt x="2022348" y="314071"/>
                  </a:lnTo>
                  <a:lnTo>
                    <a:pt x="2016379" y="320040"/>
                  </a:lnTo>
                  <a:lnTo>
                    <a:pt x="2009013" y="320040"/>
                  </a:lnTo>
                  <a:lnTo>
                    <a:pt x="13334" y="320040"/>
                  </a:lnTo>
                  <a:lnTo>
                    <a:pt x="5968" y="320040"/>
                  </a:lnTo>
                  <a:lnTo>
                    <a:pt x="0" y="314071"/>
                  </a:lnTo>
                  <a:lnTo>
                    <a:pt x="0" y="306705"/>
                  </a:lnTo>
                  <a:lnTo>
                    <a:pt x="0" y="13335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864412" y="1101017"/>
            <a:ext cx="1275715" cy="24637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Verdana"/>
                <a:cs typeface="Verdana"/>
              </a:rPr>
              <a:t>DNS</a:t>
            </a:r>
            <a:r>
              <a:rPr sz="1600" b="1" spc="-7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82879" y="832486"/>
            <a:ext cx="8569960" cy="45567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6947534">
              <a:lnSpc>
                <a:spcPts val="1825"/>
              </a:lnSpc>
              <a:spcBef>
                <a:spcPts val="5"/>
              </a:spcBef>
            </a:pPr>
            <a:r>
              <a:rPr sz="1600" b="1" spc="-450" dirty="0">
                <a:latin typeface="Verdana"/>
                <a:cs typeface="Verdana"/>
              </a:rPr>
              <a:t>ADADAD </a:t>
            </a:r>
            <a:r>
              <a:rPr sz="1600" b="1" spc="-385" dirty="0">
                <a:latin typeface="Verdana"/>
                <a:cs typeface="Verdana"/>
              </a:rPr>
              <a:t>DSDSDS  </a:t>
            </a:r>
            <a:r>
              <a:rPr sz="1600" b="1" spc="-819" dirty="0">
                <a:latin typeface="Verdana"/>
                <a:cs typeface="Verdana"/>
              </a:rPr>
              <a:t>dododomainmainmain</a:t>
            </a:r>
            <a:endParaRPr sz="1600">
              <a:latin typeface="Verdana"/>
              <a:cs typeface="Verdana"/>
            </a:endParaRPr>
          </a:p>
          <a:p>
            <a:pPr marL="681355">
              <a:lnSpc>
                <a:spcPts val="1825"/>
              </a:lnSpc>
              <a:tabLst>
                <a:tab pos="6947534" algn="l"/>
              </a:tabLst>
            </a:pPr>
            <a:r>
              <a:rPr sz="2400" b="1" spc="-15" baseline="-13888" dirty="0">
                <a:latin typeface="Verdana"/>
                <a:cs typeface="Verdana"/>
              </a:rPr>
              <a:t>DNS</a:t>
            </a:r>
            <a:r>
              <a:rPr sz="2400" b="1" spc="-104" baseline="-13888" dirty="0">
                <a:latin typeface="Verdana"/>
                <a:cs typeface="Verdana"/>
              </a:rPr>
              <a:t> </a:t>
            </a:r>
            <a:r>
              <a:rPr sz="2400" b="1" spc="-15" baseline="-13888" dirty="0">
                <a:latin typeface="Verdana"/>
                <a:cs typeface="Verdana"/>
              </a:rPr>
              <a:t>server </a:t>
            </a:r>
            <a:r>
              <a:rPr sz="2400" b="1" baseline="-13888" dirty="0">
                <a:latin typeface="Verdana"/>
                <a:cs typeface="Verdana"/>
              </a:rPr>
              <a:t>	</a:t>
            </a:r>
            <a:r>
              <a:rPr sz="2400" b="1" spc="-615" baseline="-13888" dirty="0">
                <a:latin typeface="Verdana"/>
                <a:cs typeface="Verdana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2400" b="1" spc="-585" baseline="-13888" dirty="0">
                <a:latin typeface="Verdana"/>
                <a:cs typeface="Verdana"/>
              </a:rPr>
              <a:t> </a:t>
            </a:r>
            <a:r>
              <a:rPr sz="1600" b="1" spc="-409" dirty="0">
                <a:latin typeface="Verdana"/>
                <a:cs typeface="Verdana"/>
              </a:rPr>
              <a:t>cococontntntrororollllllererer</a:t>
            </a:r>
            <a:endParaRPr sz="1600">
              <a:latin typeface="Verdana"/>
              <a:cs typeface="Verdana"/>
            </a:endParaRPr>
          </a:p>
          <a:p>
            <a:pPr marL="6947534">
              <a:lnSpc>
                <a:spcPct val="100000"/>
              </a:lnSpc>
              <a:spcBef>
                <a:spcPts val="575"/>
              </a:spcBef>
            </a:pPr>
            <a:r>
              <a:rPr sz="1600" b="1" spc="-260" dirty="0">
                <a:latin typeface="Verdana"/>
                <a:cs typeface="Verdana"/>
              </a:rPr>
              <a:t>DNSDNSDNS  </a:t>
            </a:r>
            <a:r>
              <a:rPr sz="1600" b="1" spc="-660" dirty="0">
                <a:latin typeface="Verdana"/>
                <a:cs typeface="Verdana"/>
              </a:rPr>
              <a:t>servservservererer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Verdana"/>
              <a:cs typeface="Verdana"/>
            </a:endParaRPr>
          </a:p>
          <a:p>
            <a:pPr marL="2768600" marR="4340860">
              <a:lnSpc>
                <a:spcPts val="1730"/>
              </a:lnSpc>
            </a:pPr>
            <a:r>
              <a:rPr sz="1600" b="1" spc="-10" dirty="0">
                <a:latin typeface="Verdana"/>
                <a:cs typeface="Verdana"/>
              </a:rPr>
              <a:t>D</a:t>
            </a:r>
            <a:r>
              <a:rPr sz="1600" b="1" spc="-1880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D</a:t>
            </a:r>
            <a:r>
              <a:rPr sz="1600" b="1" spc="-1880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D</a:t>
            </a:r>
            <a:r>
              <a:rPr sz="1600" b="1" spc="-20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r</a:t>
            </a:r>
            <a:r>
              <a:rPr sz="1600" b="1" spc="-1860" dirty="0">
                <a:latin typeface="Verdana"/>
                <a:cs typeface="Verdana"/>
              </a:rPr>
              <a:t>e</a:t>
            </a:r>
            <a:r>
              <a:rPr sz="1600" b="1" spc="-10" dirty="0">
                <a:latin typeface="Verdana"/>
                <a:cs typeface="Verdana"/>
              </a:rPr>
              <a:t>r</a:t>
            </a:r>
            <a:r>
              <a:rPr sz="1600" b="1" spc="-1860" dirty="0">
                <a:latin typeface="Verdana"/>
                <a:cs typeface="Verdana"/>
              </a:rPr>
              <a:t>e</a:t>
            </a:r>
            <a:r>
              <a:rPr sz="1600" b="1" spc="-10" dirty="0">
                <a:latin typeface="Verdana"/>
                <a:cs typeface="Verdana"/>
              </a:rPr>
              <a:t>rectAc</a:t>
            </a:r>
            <a:r>
              <a:rPr sz="1600" b="1" spc="-4790" dirty="0">
                <a:latin typeface="Verdana"/>
                <a:cs typeface="Verdana"/>
              </a:rPr>
              <a:t>c</a:t>
            </a:r>
            <a:r>
              <a:rPr sz="1600" b="1" spc="-10" dirty="0">
                <a:latin typeface="Verdana"/>
                <a:cs typeface="Verdana"/>
              </a:rPr>
              <a:t>ctAc</a:t>
            </a:r>
            <a:r>
              <a:rPr sz="1600" b="1" spc="-4790" dirty="0">
                <a:latin typeface="Verdana"/>
                <a:cs typeface="Verdana"/>
              </a:rPr>
              <a:t>c</a:t>
            </a:r>
            <a:r>
              <a:rPr sz="1600" b="1" spc="-10" dirty="0">
                <a:latin typeface="Verdana"/>
                <a:cs typeface="Verdana"/>
              </a:rPr>
              <a:t>ctAc</a:t>
            </a:r>
            <a:r>
              <a:rPr sz="1600" b="1" spc="-15" dirty="0">
                <a:latin typeface="Verdana"/>
                <a:cs typeface="Verdana"/>
              </a:rPr>
              <a:t>c</a:t>
            </a:r>
            <a:r>
              <a:rPr sz="1600" b="1" spc="-10" dirty="0">
                <a:latin typeface="Verdana"/>
                <a:cs typeface="Verdana"/>
              </a:rPr>
              <a:t>es</a:t>
            </a:r>
            <a:r>
              <a:rPr sz="1600" b="1" spc="-2960" dirty="0">
                <a:latin typeface="Verdana"/>
                <a:cs typeface="Verdana"/>
              </a:rPr>
              <a:t>s</a:t>
            </a:r>
            <a:r>
              <a:rPr sz="1600" b="1" spc="-10" dirty="0">
                <a:latin typeface="Verdana"/>
                <a:cs typeface="Verdana"/>
              </a:rPr>
              <a:t>es</a:t>
            </a:r>
            <a:r>
              <a:rPr sz="1600" b="1" spc="-2960" dirty="0">
                <a:latin typeface="Verdana"/>
                <a:cs typeface="Verdana"/>
              </a:rPr>
              <a:t>s</a:t>
            </a:r>
            <a:r>
              <a:rPr sz="1600" b="1" spc="-10" dirty="0">
                <a:latin typeface="Verdana"/>
                <a:cs typeface="Verdana"/>
              </a:rPr>
              <a:t>ess </a:t>
            </a:r>
            <a:r>
              <a:rPr sz="1600" b="1" spc="-1140" dirty="0">
                <a:latin typeface="Verdana"/>
                <a:cs typeface="Verdana"/>
              </a:rPr>
              <a:t>SS</a:t>
            </a:r>
            <a:r>
              <a:rPr sz="1600" b="1" spc="-15" dirty="0">
                <a:latin typeface="Verdana"/>
                <a:cs typeface="Verdana"/>
              </a:rPr>
              <a:t>S</a:t>
            </a:r>
            <a:r>
              <a:rPr sz="1600" b="1" spc="-10" dirty="0">
                <a:latin typeface="Verdana"/>
                <a:cs typeface="Verdana"/>
              </a:rPr>
              <a:t>e</a:t>
            </a:r>
            <a:r>
              <a:rPr sz="1600" b="1" spc="-1860" dirty="0">
                <a:latin typeface="Verdana"/>
                <a:cs typeface="Verdana"/>
              </a:rPr>
              <a:t>r</a:t>
            </a:r>
            <a:r>
              <a:rPr sz="1600" b="1" spc="-10" dirty="0">
                <a:latin typeface="Verdana"/>
                <a:cs typeface="Verdana"/>
              </a:rPr>
              <a:t>e</a:t>
            </a:r>
            <a:r>
              <a:rPr sz="1600" b="1" spc="-1860" dirty="0">
                <a:latin typeface="Verdana"/>
                <a:cs typeface="Verdana"/>
              </a:rPr>
              <a:t>r</a:t>
            </a:r>
            <a:r>
              <a:rPr sz="1600" b="1" spc="-10" dirty="0">
                <a:latin typeface="Verdana"/>
                <a:cs typeface="Verdana"/>
              </a:rPr>
              <a:t>er</a:t>
            </a:r>
            <a:r>
              <a:rPr sz="1600" b="1" spc="-1045" dirty="0">
                <a:latin typeface="Verdana"/>
                <a:cs typeface="Verdana"/>
              </a:rPr>
              <a:t>vv</a:t>
            </a:r>
            <a:r>
              <a:rPr sz="1600" b="1" spc="-10" dirty="0">
                <a:latin typeface="Verdana"/>
                <a:cs typeface="Verdana"/>
              </a:rPr>
              <a:t>ve</a:t>
            </a:r>
            <a:r>
              <a:rPr sz="1600" b="1" spc="-1860" dirty="0">
                <a:latin typeface="Verdana"/>
                <a:cs typeface="Verdana"/>
              </a:rPr>
              <a:t>r</a:t>
            </a:r>
            <a:r>
              <a:rPr sz="1600" b="1" spc="-10" dirty="0">
                <a:latin typeface="Verdana"/>
                <a:cs typeface="Verdana"/>
              </a:rPr>
              <a:t>e</a:t>
            </a:r>
            <a:r>
              <a:rPr sz="1600" b="1" spc="-1860" dirty="0">
                <a:latin typeface="Verdana"/>
                <a:cs typeface="Verdana"/>
              </a:rPr>
              <a:t>r</a:t>
            </a:r>
            <a:r>
              <a:rPr sz="1600" b="1" spc="-10" dirty="0">
                <a:latin typeface="Verdana"/>
                <a:cs typeface="Verdana"/>
              </a:rPr>
              <a:t>er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Verdana"/>
              <a:cs typeface="Verdana"/>
            </a:endParaRPr>
          </a:p>
          <a:p>
            <a:pPr marL="1365250">
              <a:lnSpc>
                <a:spcPts val="1645"/>
              </a:lnSpc>
              <a:spcBef>
                <a:spcPts val="5"/>
              </a:spcBef>
            </a:pPr>
            <a:r>
              <a:rPr sz="1600" b="1" spc="-10" dirty="0">
                <a:latin typeface="Verdana"/>
                <a:cs typeface="Verdana"/>
              </a:rPr>
              <a:t>Consec</a:t>
            </a:r>
            <a:endParaRPr sz="1600">
              <a:latin typeface="Verdana"/>
              <a:cs typeface="Verdana"/>
            </a:endParaRPr>
          </a:p>
          <a:p>
            <a:pPr>
              <a:lnSpc>
                <a:spcPts val="1645"/>
              </a:lnSpc>
            </a:pPr>
            <a:r>
              <a:rPr sz="1600" b="1" spc="-10" dirty="0">
                <a:latin typeface="Verdana"/>
                <a:cs typeface="Verdana"/>
              </a:rPr>
              <a:t>Consec</a:t>
            </a:r>
            <a:endParaRPr sz="1600">
              <a:latin typeface="Verdana"/>
              <a:cs typeface="Verdana"/>
            </a:endParaRPr>
          </a:p>
          <a:p>
            <a:pPr marL="513715">
              <a:lnSpc>
                <a:spcPct val="100000"/>
              </a:lnSpc>
              <a:spcBef>
                <a:spcPts val="1285"/>
              </a:spcBef>
            </a:pPr>
            <a:r>
              <a:rPr sz="1600" b="1" spc="-5" dirty="0">
                <a:latin typeface="Verdana"/>
                <a:cs typeface="Verdana"/>
              </a:rPr>
              <a:t>NRPT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Verdana"/>
              <a:cs typeface="Verdana"/>
            </a:endParaRPr>
          </a:p>
          <a:p>
            <a:pPr marR="2503805" algn="r">
              <a:lnSpc>
                <a:spcPts val="1825"/>
              </a:lnSpc>
            </a:pPr>
            <a:r>
              <a:rPr sz="1600" b="1" spc="-5" dirty="0">
                <a:latin typeface="Verdana"/>
                <a:cs typeface="Verdana"/>
              </a:rPr>
              <a:t>I</a:t>
            </a:r>
            <a:r>
              <a:rPr sz="1600" b="1" spc="-2014" dirty="0">
                <a:latin typeface="Verdana"/>
                <a:cs typeface="Verdana"/>
              </a:rPr>
              <a:t>n</a:t>
            </a:r>
            <a:r>
              <a:rPr sz="1600" b="1" spc="-5" dirty="0">
                <a:latin typeface="Verdana"/>
                <a:cs typeface="Verdana"/>
              </a:rPr>
              <a:t>I</a:t>
            </a:r>
            <a:r>
              <a:rPr sz="1600" b="1" spc="-2014" dirty="0">
                <a:latin typeface="Verdana"/>
                <a:cs typeface="Verdana"/>
              </a:rPr>
              <a:t>n</a:t>
            </a:r>
            <a:r>
              <a:rPr sz="1600" b="1" spc="-5" dirty="0">
                <a:latin typeface="Verdana"/>
                <a:cs typeface="Verdana"/>
              </a:rPr>
              <a:t>I</a:t>
            </a:r>
            <a:r>
              <a:rPr sz="1600" b="1" dirty="0">
                <a:latin typeface="Verdana"/>
                <a:cs typeface="Verdana"/>
              </a:rPr>
              <a:t>n</a:t>
            </a:r>
            <a:r>
              <a:rPr sz="1600" b="1" spc="-5" dirty="0">
                <a:latin typeface="Verdana"/>
                <a:cs typeface="Verdana"/>
              </a:rPr>
              <a:t>tern</a:t>
            </a:r>
            <a:r>
              <a:rPr sz="1600" b="1" spc="-4795" dirty="0">
                <a:latin typeface="Verdana"/>
                <a:cs typeface="Verdana"/>
              </a:rPr>
              <a:t>a</a:t>
            </a:r>
            <a:r>
              <a:rPr sz="1600" b="1" spc="-5" dirty="0">
                <a:latin typeface="Verdana"/>
                <a:cs typeface="Verdana"/>
              </a:rPr>
              <a:t>tern</a:t>
            </a:r>
            <a:r>
              <a:rPr sz="1600" b="1" spc="-4795" dirty="0">
                <a:latin typeface="Verdana"/>
                <a:cs typeface="Verdana"/>
              </a:rPr>
              <a:t>a</a:t>
            </a:r>
            <a:r>
              <a:rPr sz="1600" b="1" spc="-5" dirty="0">
                <a:latin typeface="Verdana"/>
                <a:cs typeface="Verdana"/>
              </a:rPr>
              <a:t>terna</a:t>
            </a:r>
            <a:r>
              <a:rPr sz="1600" b="1" spc="-555" dirty="0">
                <a:latin typeface="Verdana"/>
                <a:cs typeface="Verdana"/>
              </a:rPr>
              <a:t>ll</a:t>
            </a:r>
            <a:r>
              <a:rPr sz="1600" b="1" spc="-5" dirty="0">
                <a:latin typeface="Verdana"/>
                <a:cs typeface="Verdana"/>
              </a:rPr>
              <a:t>l</a:t>
            </a:r>
            <a:endParaRPr sz="1600">
              <a:latin typeface="Verdana"/>
              <a:cs typeface="Verdana"/>
            </a:endParaRPr>
          </a:p>
          <a:p>
            <a:pPr marR="2491740" algn="r">
              <a:lnSpc>
                <a:spcPts val="1730"/>
              </a:lnSpc>
              <a:tabLst>
                <a:tab pos="4458970" algn="l"/>
              </a:tabLst>
            </a:pPr>
            <a:r>
              <a:rPr sz="2400" b="1" spc="-15" baseline="3472" dirty="0">
                <a:latin typeface="Verdana"/>
                <a:cs typeface="Verdana"/>
              </a:rPr>
              <a:t>External</a:t>
            </a:r>
            <a:r>
              <a:rPr sz="2400" b="1" spc="-44" baseline="3472" dirty="0">
                <a:latin typeface="Verdana"/>
                <a:cs typeface="Verdana"/>
              </a:rPr>
              <a:t> </a:t>
            </a:r>
            <a:r>
              <a:rPr sz="2400" b="1" spc="-15" baseline="3472" dirty="0">
                <a:latin typeface="Verdana"/>
                <a:cs typeface="Verdana"/>
              </a:rPr>
              <a:t>clients </a:t>
            </a:r>
            <a:r>
              <a:rPr sz="2400" b="1" baseline="3472" dirty="0">
                <a:latin typeface="Verdana"/>
                <a:cs typeface="Verdana"/>
              </a:rPr>
              <a:t>	</a:t>
            </a:r>
            <a:r>
              <a:rPr sz="2400" b="1" spc="-660" baseline="3472" dirty="0">
                <a:latin typeface="Verdana"/>
                <a:cs typeface="Verdana"/>
              </a:rPr>
              <a:t>    </a:t>
            </a:r>
            <a:r>
              <a:rPr sz="2400" b="1" spc="-644" baseline="3472" dirty="0">
                <a:latin typeface="Verdana"/>
                <a:cs typeface="Verdana"/>
              </a:rPr>
              <a:t> </a:t>
            </a:r>
            <a:r>
              <a:rPr sz="1600" b="1" spc="-440" dirty="0">
                <a:latin typeface="Verdana"/>
                <a:cs typeface="Verdana"/>
              </a:rPr>
              <a:t>networknetworknetwork</a:t>
            </a:r>
            <a:endParaRPr sz="1600">
              <a:latin typeface="Verdana"/>
              <a:cs typeface="Verdana"/>
            </a:endParaRPr>
          </a:p>
          <a:p>
            <a:pPr marL="5124450">
              <a:lnSpc>
                <a:spcPts val="1825"/>
              </a:lnSpc>
            </a:pPr>
            <a:r>
              <a:rPr sz="1600" b="1" spc="-315" dirty="0">
                <a:latin typeface="Verdana"/>
                <a:cs typeface="Verdana"/>
              </a:rPr>
              <a:t>rereresososourceurceurcesss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77723" y="796861"/>
            <a:ext cx="9005570" cy="5299710"/>
            <a:chOff x="77723" y="796861"/>
            <a:chExt cx="9005570" cy="5299710"/>
          </a:xfrm>
        </p:grpSpPr>
        <p:sp>
          <p:nvSpPr>
            <p:cNvPr id="81" name="object 81"/>
            <p:cNvSpPr/>
            <p:nvPr/>
          </p:nvSpPr>
          <p:spPr>
            <a:xfrm>
              <a:off x="6217920" y="3608831"/>
              <a:ext cx="1054607" cy="1097280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678423" y="3432047"/>
              <a:ext cx="1146048" cy="1176527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039112" y="2939795"/>
              <a:ext cx="1301496" cy="1046987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090166" y="2975609"/>
              <a:ext cx="1195070" cy="939165"/>
            </a:xfrm>
            <a:custGeom>
              <a:avLst/>
              <a:gdLst/>
              <a:ahLst/>
              <a:cxnLst/>
              <a:rect l="l" t="t" r="r" b="b"/>
              <a:pathLst>
                <a:path w="1195070" h="939164">
                  <a:moveTo>
                    <a:pt x="0" y="938783"/>
                  </a:moveTo>
                  <a:lnTo>
                    <a:pt x="1194816" y="0"/>
                  </a:lnTo>
                </a:path>
              </a:pathLst>
            </a:custGeom>
            <a:ln w="25908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225795" y="4692395"/>
              <a:ext cx="2036063" cy="784859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209032" y="4668012"/>
              <a:ext cx="1359408" cy="868679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205983" y="4672583"/>
              <a:ext cx="2024380" cy="772795"/>
            </a:xfrm>
            <a:custGeom>
              <a:avLst/>
              <a:gdLst/>
              <a:ahLst/>
              <a:cxnLst/>
              <a:rect l="l" t="t" r="r" b="b"/>
              <a:pathLst>
                <a:path w="2024379" h="772795">
                  <a:moveTo>
                    <a:pt x="1991614" y="0"/>
                  </a:moveTo>
                  <a:lnTo>
                    <a:pt x="32257" y="0"/>
                  </a:lnTo>
                  <a:lnTo>
                    <a:pt x="19716" y="2540"/>
                  </a:lnTo>
                  <a:lnTo>
                    <a:pt x="9461" y="9461"/>
                  </a:lnTo>
                  <a:lnTo>
                    <a:pt x="2539" y="19716"/>
                  </a:lnTo>
                  <a:lnTo>
                    <a:pt x="0" y="32258"/>
                  </a:lnTo>
                  <a:lnTo>
                    <a:pt x="0" y="740410"/>
                  </a:lnTo>
                  <a:lnTo>
                    <a:pt x="2539" y="752951"/>
                  </a:lnTo>
                  <a:lnTo>
                    <a:pt x="9461" y="763206"/>
                  </a:lnTo>
                  <a:lnTo>
                    <a:pt x="19716" y="770128"/>
                  </a:lnTo>
                  <a:lnTo>
                    <a:pt x="32257" y="772668"/>
                  </a:lnTo>
                  <a:lnTo>
                    <a:pt x="1991614" y="772668"/>
                  </a:lnTo>
                  <a:lnTo>
                    <a:pt x="2004155" y="770128"/>
                  </a:lnTo>
                  <a:lnTo>
                    <a:pt x="2014410" y="763206"/>
                  </a:lnTo>
                  <a:lnTo>
                    <a:pt x="2021331" y="752951"/>
                  </a:lnTo>
                  <a:lnTo>
                    <a:pt x="2023871" y="740410"/>
                  </a:lnTo>
                  <a:lnTo>
                    <a:pt x="2023871" y="32258"/>
                  </a:lnTo>
                  <a:lnTo>
                    <a:pt x="2021331" y="19716"/>
                  </a:lnTo>
                  <a:lnTo>
                    <a:pt x="2014410" y="9461"/>
                  </a:lnTo>
                  <a:lnTo>
                    <a:pt x="2004155" y="2540"/>
                  </a:lnTo>
                  <a:lnTo>
                    <a:pt x="1991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205983" y="4672583"/>
              <a:ext cx="2024380" cy="772795"/>
            </a:xfrm>
            <a:custGeom>
              <a:avLst/>
              <a:gdLst/>
              <a:ahLst/>
              <a:cxnLst/>
              <a:rect l="l" t="t" r="r" b="b"/>
              <a:pathLst>
                <a:path w="2024379" h="772795">
                  <a:moveTo>
                    <a:pt x="0" y="32258"/>
                  </a:moveTo>
                  <a:lnTo>
                    <a:pt x="2539" y="19716"/>
                  </a:lnTo>
                  <a:lnTo>
                    <a:pt x="9461" y="9461"/>
                  </a:lnTo>
                  <a:lnTo>
                    <a:pt x="19716" y="2540"/>
                  </a:lnTo>
                  <a:lnTo>
                    <a:pt x="32257" y="0"/>
                  </a:lnTo>
                  <a:lnTo>
                    <a:pt x="1991614" y="0"/>
                  </a:lnTo>
                  <a:lnTo>
                    <a:pt x="2004155" y="2540"/>
                  </a:lnTo>
                  <a:lnTo>
                    <a:pt x="2014410" y="9461"/>
                  </a:lnTo>
                  <a:lnTo>
                    <a:pt x="2021331" y="19716"/>
                  </a:lnTo>
                  <a:lnTo>
                    <a:pt x="2023871" y="32258"/>
                  </a:lnTo>
                  <a:lnTo>
                    <a:pt x="2023871" y="740410"/>
                  </a:lnTo>
                  <a:lnTo>
                    <a:pt x="2021331" y="752951"/>
                  </a:lnTo>
                  <a:lnTo>
                    <a:pt x="2014410" y="763206"/>
                  </a:lnTo>
                  <a:lnTo>
                    <a:pt x="2004155" y="770128"/>
                  </a:lnTo>
                  <a:lnTo>
                    <a:pt x="1991614" y="772668"/>
                  </a:lnTo>
                  <a:lnTo>
                    <a:pt x="32257" y="772668"/>
                  </a:lnTo>
                  <a:lnTo>
                    <a:pt x="19716" y="770128"/>
                  </a:lnTo>
                  <a:lnTo>
                    <a:pt x="9461" y="763206"/>
                  </a:lnTo>
                  <a:lnTo>
                    <a:pt x="2539" y="752951"/>
                  </a:lnTo>
                  <a:lnTo>
                    <a:pt x="0" y="740410"/>
                  </a:lnTo>
                  <a:lnTo>
                    <a:pt x="0" y="32258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097278" y="3036697"/>
              <a:ext cx="1112266" cy="929385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70603" y="2075687"/>
              <a:ext cx="3681984" cy="780288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115562" y="2111501"/>
              <a:ext cx="3581400" cy="668655"/>
            </a:xfrm>
            <a:custGeom>
              <a:avLst/>
              <a:gdLst/>
              <a:ahLst/>
              <a:cxnLst/>
              <a:rect l="l" t="t" r="r" b="b"/>
              <a:pathLst>
                <a:path w="3581400" h="668655">
                  <a:moveTo>
                    <a:pt x="0" y="668527"/>
                  </a:moveTo>
                  <a:lnTo>
                    <a:pt x="3581399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90599" y="2127504"/>
              <a:ext cx="1304544" cy="13045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534156" y="1063752"/>
              <a:ext cx="5367528" cy="50322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200400" y="2321051"/>
              <a:ext cx="1069848" cy="12496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696200" y="1510283"/>
              <a:ext cx="1202436" cy="12009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48283" y="4882895"/>
              <a:ext cx="2060448" cy="356616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872740" y="1908048"/>
              <a:ext cx="2036064" cy="55778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852928" y="1880615"/>
              <a:ext cx="1844039" cy="6492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852928" y="1888235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2001139" y="0"/>
                  </a:moveTo>
                  <a:lnTo>
                    <a:pt x="22733" y="0"/>
                  </a:lnTo>
                  <a:lnTo>
                    <a:pt x="13876" y="1783"/>
                  </a:lnTo>
                  <a:lnTo>
                    <a:pt x="6651" y="6651"/>
                  </a:lnTo>
                  <a:lnTo>
                    <a:pt x="1783" y="13876"/>
                  </a:lnTo>
                  <a:lnTo>
                    <a:pt x="0" y="22733"/>
                  </a:lnTo>
                  <a:lnTo>
                    <a:pt x="0" y="522859"/>
                  </a:lnTo>
                  <a:lnTo>
                    <a:pt x="1783" y="531715"/>
                  </a:lnTo>
                  <a:lnTo>
                    <a:pt x="6651" y="538940"/>
                  </a:lnTo>
                  <a:lnTo>
                    <a:pt x="13876" y="543808"/>
                  </a:lnTo>
                  <a:lnTo>
                    <a:pt x="22733" y="545591"/>
                  </a:lnTo>
                  <a:lnTo>
                    <a:pt x="2001139" y="545591"/>
                  </a:lnTo>
                  <a:lnTo>
                    <a:pt x="2009995" y="543808"/>
                  </a:lnTo>
                  <a:lnTo>
                    <a:pt x="2017220" y="538940"/>
                  </a:lnTo>
                  <a:lnTo>
                    <a:pt x="2022088" y="531715"/>
                  </a:lnTo>
                  <a:lnTo>
                    <a:pt x="2023872" y="522859"/>
                  </a:lnTo>
                  <a:lnTo>
                    <a:pt x="2023872" y="22733"/>
                  </a:lnTo>
                  <a:lnTo>
                    <a:pt x="2022088" y="13876"/>
                  </a:lnTo>
                  <a:lnTo>
                    <a:pt x="2017220" y="6651"/>
                  </a:lnTo>
                  <a:lnTo>
                    <a:pt x="2009995" y="1783"/>
                  </a:lnTo>
                  <a:lnTo>
                    <a:pt x="20011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852928" y="1888235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0" y="22733"/>
                  </a:moveTo>
                  <a:lnTo>
                    <a:pt x="1783" y="13876"/>
                  </a:lnTo>
                  <a:lnTo>
                    <a:pt x="6651" y="6651"/>
                  </a:lnTo>
                  <a:lnTo>
                    <a:pt x="13876" y="1783"/>
                  </a:lnTo>
                  <a:lnTo>
                    <a:pt x="22733" y="0"/>
                  </a:lnTo>
                  <a:lnTo>
                    <a:pt x="2001139" y="0"/>
                  </a:lnTo>
                  <a:lnTo>
                    <a:pt x="2009995" y="1783"/>
                  </a:lnTo>
                  <a:lnTo>
                    <a:pt x="2017220" y="6651"/>
                  </a:lnTo>
                  <a:lnTo>
                    <a:pt x="2022088" y="13876"/>
                  </a:lnTo>
                  <a:lnTo>
                    <a:pt x="2023872" y="22733"/>
                  </a:lnTo>
                  <a:lnTo>
                    <a:pt x="2023872" y="522859"/>
                  </a:lnTo>
                  <a:lnTo>
                    <a:pt x="2022088" y="531715"/>
                  </a:lnTo>
                  <a:lnTo>
                    <a:pt x="2017220" y="538940"/>
                  </a:lnTo>
                  <a:lnTo>
                    <a:pt x="2009995" y="543808"/>
                  </a:lnTo>
                  <a:lnTo>
                    <a:pt x="2001139" y="545591"/>
                  </a:lnTo>
                  <a:lnTo>
                    <a:pt x="22733" y="545591"/>
                  </a:lnTo>
                  <a:lnTo>
                    <a:pt x="13876" y="543808"/>
                  </a:lnTo>
                  <a:lnTo>
                    <a:pt x="6651" y="538940"/>
                  </a:lnTo>
                  <a:lnTo>
                    <a:pt x="1783" y="531715"/>
                  </a:lnTo>
                  <a:lnTo>
                    <a:pt x="0" y="522859"/>
                  </a:lnTo>
                  <a:lnTo>
                    <a:pt x="0" y="22733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046976" y="821435"/>
              <a:ext cx="2036064" cy="88392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031735" y="798575"/>
              <a:ext cx="1943100" cy="96621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027164" y="801623"/>
              <a:ext cx="2024380" cy="871855"/>
            </a:xfrm>
            <a:custGeom>
              <a:avLst/>
              <a:gdLst/>
              <a:ahLst/>
              <a:cxnLst/>
              <a:rect l="l" t="t" r="r" b="b"/>
              <a:pathLst>
                <a:path w="2024379" h="871855">
                  <a:moveTo>
                    <a:pt x="1987550" y="0"/>
                  </a:moveTo>
                  <a:lnTo>
                    <a:pt x="36321" y="0"/>
                  </a:lnTo>
                  <a:lnTo>
                    <a:pt x="22181" y="2853"/>
                  </a:lnTo>
                  <a:lnTo>
                    <a:pt x="10636" y="10636"/>
                  </a:lnTo>
                  <a:lnTo>
                    <a:pt x="2853" y="22181"/>
                  </a:lnTo>
                  <a:lnTo>
                    <a:pt x="0" y="36322"/>
                  </a:lnTo>
                  <a:lnTo>
                    <a:pt x="0" y="835405"/>
                  </a:lnTo>
                  <a:lnTo>
                    <a:pt x="2853" y="849546"/>
                  </a:lnTo>
                  <a:lnTo>
                    <a:pt x="10636" y="861091"/>
                  </a:lnTo>
                  <a:lnTo>
                    <a:pt x="22181" y="868874"/>
                  </a:lnTo>
                  <a:lnTo>
                    <a:pt x="36321" y="871727"/>
                  </a:lnTo>
                  <a:lnTo>
                    <a:pt x="1987550" y="871727"/>
                  </a:lnTo>
                  <a:lnTo>
                    <a:pt x="2001690" y="868874"/>
                  </a:lnTo>
                  <a:lnTo>
                    <a:pt x="2013235" y="861091"/>
                  </a:lnTo>
                  <a:lnTo>
                    <a:pt x="2021018" y="849546"/>
                  </a:lnTo>
                  <a:lnTo>
                    <a:pt x="2023871" y="835405"/>
                  </a:lnTo>
                  <a:lnTo>
                    <a:pt x="2023871" y="36322"/>
                  </a:lnTo>
                  <a:lnTo>
                    <a:pt x="2021018" y="22181"/>
                  </a:lnTo>
                  <a:lnTo>
                    <a:pt x="2013235" y="10636"/>
                  </a:lnTo>
                  <a:lnTo>
                    <a:pt x="2001690" y="2853"/>
                  </a:lnTo>
                  <a:lnTo>
                    <a:pt x="1987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027164" y="801623"/>
              <a:ext cx="2024380" cy="871855"/>
            </a:xfrm>
            <a:custGeom>
              <a:avLst/>
              <a:gdLst/>
              <a:ahLst/>
              <a:cxnLst/>
              <a:rect l="l" t="t" r="r" b="b"/>
              <a:pathLst>
                <a:path w="2024379" h="871855">
                  <a:moveTo>
                    <a:pt x="0" y="36322"/>
                  </a:moveTo>
                  <a:lnTo>
                    <a:pt x="2853" y="22181"/>
                  </a:lnTo>
                  <a:lnTo>
                    <a:pt x="10636" y="10636"/>
                  </a:lnTo>
                  <a:lnTo>
                    <a:pt x="22181" y="2853"/>
                  </a:lnTo>
                  <a:lnTo>
                    <a:pt x="36321" y="0"/>
                  </a:lnTo>
                  <a:lnTo>
                    <a:pt x="1987550" y="0"/>
                  </a:lnTo>
                  <a:lnTo>
                    <a:pt x="2001690" y="2853"/>
                  </a:lnTo>
                  <a:lnTo>
                    <a:pt x="2013235" y="10636"/>
                  </a:lnTo>
                  <a:lnTo>
                    <a:pt x="2021018" y="22181"/>
                  </a:lnTo>
                  <a:lnTo>
                    <a:pt x="2023871" y="36322"/>
                  </a:lnTo>
                  <a:lnTo>
                    <a:pt x="2023871" y="835405"/>
                  </a:lnTo>
                  <a:lnTo>
                    <a:pt x="2021018" y="849546"/>
                  </a:lnTo>
                  <a:lnTo>
                    <a:pt x="2013235" y="861091"/>
                  </a:lnTo>
                  <a:lnTo>
                    <a:pt x="2001690" y="868874"/>
                  </a:lnTo>
                  <a:lnTo>
                    <a:pt x="1987550" y="871727"/>
                  </a:lnTo>
                  <a:lnTo>
                    <a:pt x="36321" y="871727"/>
                  </a:lnTo>
                  <a:lnTo>
                    <a:pt x="22181" y="868874"/>
                  </a:lnTo>
                  <a:lnTo>
                    <a:pt x="10636" y="861091"/>
                  </a:lnTo>
                  <a:lnTo>
                    <a:pt x="2853" y="849546"/>
                  </a:lnTo>
                  <a:lnTo>
                    <a:pt x="0" y="835405"/>
                  </a:lnTo>
                  <a:lnTo>
                    <a:pt x="0" y="36322"/>
                  </a:lnTo>
                  <a:close/>
                </a:path>
              </a:pathLst>
            </a:custGeom>
            <a:ln w="914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38200" y="3742944"/>
              <a:ext cx="1210056" cy="109728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7723" y="3960875"/>
              <a:ext cx="443484" cy="4953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06679" y="3773423"/>
              <a:ext cx="1050036" cy="33223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5343" y="3741419"/>
              <a:ext cx="1050036" cy="429768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86867" y="3753612"/>
              <a:ext cx="1038225" cy="320040"/>
            </a:xfrm>
            <a:custGeom>
              <a:avLst/>
              <a:gdLst/>
              <a:ahLst/>
              <a:cxnLst/>
              <a:rect l="l" t="t" r="r" b="b"/>
              <a:pathLst>
                <a:path w="1038225" h="320039">
                  <a:moveTo>
                    <a:pt x="0" y="13335"/>
                  </a:moveTo>
                  <a:lnTo>
                    <a:pt x="0" y="5968"/>
                  </a:lnTo>
                  <a:lnTo>
                    <a:pt x="5970" y="0"/>
                  </a:lnTo>
                  <a:lnTo>
                    <a:pt x="13336" y="0"/>
                  </a:lnTo>
                  <a:lnTo>
                    <a:pt x="1024509" y="0"/>
                  </a:lnTo>
                  <a:lnTo>
                    <a:pt x="1031875" y="0"/>
                  </a:lnTo>
                  <a:lnTo>
                    <a:pt x="1037844" y="5968"/>
                  </a:lnTo>
                  <a:lnTo>
                    <a:pt x="1037844" y="13335"/>
                  </a:lnTo>
                  <a:lnTo>
                    <a:pt x="1037844" y="306705"/>
                  </a:lnTo>
                  <a:lnTo>
                    <a:pt x="1037844" y="314070"/>
                  </a:lnTo>
                  <a:lnTo>
                    <a:pt x="1031875" y="320039"/>
                  </a:lnTo>
                  <a:lnTo>
                    <a:pt x="1024509" y="320039"/>
                  </a:lnTo>
                  <a:lnTo>
                    <a:pt x="13336" y="320039"/>
                  </a:lnTo>
                  <a:lnTo>
                    <a:pt x="5970" y="320039"/>
                  </a:lnTo>
                  <a:lnTo>
                    <a:pt x="0" y="314070"/>
                  </a:lnTo>
                  <a:lnTo>
                    <a:pt x="0" y="306705"/>
                  </a:lnTo>
                  <a:lnTo>
                    <a:pt x="0" y="13335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89787" y="4369308"/>
              <a:ext cx="505968" cy="4953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21792" y="4180332"/>
              <a:ext cx="835151" cy="332231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98932" y="4149852"/>
              <a:ext cx="864108" cy="42976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01979" y="4160520"/>
              <a:ext cx="822960" cy="320040"/>
            </a:xfrm>
            <a:custGeom>
              <a:avLst/>
              <a:gdLst/>
              <a:ahLst/>
              <a:cxnLst/>
              <a:rect l="l" t="t" r="r" b="b"/>
              <a:pathLst>
                <a:path w="822960" h="320039">
                  <a:moveTo>
                    <a:pt x="0" y="13334"/>
                  </a:moveTo>
                  <a:lnTo>
                    <a:pt x="0" y="5968"/>
                  </a:lnTo>
                  <a:lnTo>
                    <a:pt x="5968" y="0"/>
                  </a:lnTo>
                  <a:lnTo>
                    <a:pt x="13335" y="0"/>
                  </a:lnTo>
                  <a:lnTo>
                    <a:pt x="809625" y="0"/>
                  </a:lnTo>
                  <a:lnTo>
                    <a:pt x="816991" y="0"/>
                  </a:lnTo>
                  <a:lnTo>
                    <a:pt x="822960" y="5968"/>
                  </a:lnTo>
                  <a:lnTo>
                    <a:pt x="822960" y="13334"/>
                  </a:lnTo>
                  <a:lnTo>
                    <a:pt x="822960" y="306704"/>
                  </a:lnTo>
                  <a:lnTo>
                    <a:pt x="822960" y="314070"/>
                  </a:lnTo>
                  <a:lnTo>
                    <a:pt x="816991" y="320039"/>
                  </a:lnTo>
                  <a:lnTo>
                    <a:pt x="809625" y="320039"/>
                  </a:lnTo>
                  <a:lnTo>
                    <a:pt x="13335" y="320039"/>
                  </a:lnTo>
                  <a:lnTo>
                    <a:pt x="5968" y="320039"/>
                  </a:lnTo>
                  <a:lnTo>
                    <a:pt x="0" y="314070"/>
                  </a:lnTo>
                  <a:lnTo>
                    <a:pt x="0" y="306704"/>
                  </a:lnTo>
                  <a:lnTo>
                    <a:pt x="0" y="13334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49807" y="4876800"/>
              <a:ext cx="2019300" cy="42976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52855" y="4887468"/>
              <a:ext cx="2024380" cy="320040"/>
            </a:xfrm>
            <a:custGeom>
              <a:avLst/>
              <a:gdLst/>
              <a:ahLst/>
              <a:cxnLst/>
              <a:rect l="l" t="t" r="r" b="b"/>
              <a:pathLst>
                <a:path w="2024380" h="320039">
                  <a:moveTo>
                    <a:pt x="0" y="13334"/>
                  </a:moveTo>
                  <a:lnTo>
                    <a:pt x="0" y="5968"/>
                  </a:lnTo>
                  <a:lnTo>
                    <a:pt x="5968" y="0"/>
                  </a:lnTo>
                  <a:lnTo>
                    <a:pt x="13334" y="0"/>
                  </a:lnTo>
                  <a:lnTo>
                    <a:pt x="2010537" y="0"/>
                  </a:lnTo>
                  <a:lnTo>
                    <a:pt x="2017902" y="0"/>
                  </a:lnTo>
                  <a:lnTo>
                    <a:pt x="2023871" y="5968"/>
                  </a:lnTo>
                  <a:lnTo>
                    <a:pt x="2023871" y="13334"/>
                  </a:lnTo>
                  <a:lnTo>
                    <a:pt x="2023871" y="306704"/>
                  </a:lnTo>
                  <a:lnTo>
                    <a:pt x="2023871" y="314070"/>
                  </a:lnTo>
                  <a:lnTo>
                    <a:pt x="2017902" y="320039"/>
                  </a:lnTo>
                  <a:lnTo>
                    <a:pt x="2010537" y="320039"/>
                  </a:lnTo>
                  <a:lnTo>
                    <a:pt x="13334" y="320039"/>
                  </a:lnTo>
                  <a:lnTo>
                    <a:pt x="5968" y="320039"/>
                  </a:lnTo>
                  <a:lnTo>
                    <a:pt x="0" y="314070"/>
                  </a:lnTo>
                  <a:lnTo>
                    <a:pt x="0" y="306704"/>
                  </a:lnTo>
                  <a:lnTo>
                    <a:pt x="0" y="13334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284732" y="1237487"/>
              <a:ext cx="1202436" cy="120243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89432" y="1097279"/>
              <a:ext cx="2034539" cy="33223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66572" y="1066799"/>
              <a:ext cx="1522476" cy="429767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69619" y="1077467"/>
              <a:ext cx="2022475" cy="320040"/>
            </a:xfrm>
            <a:custGeom>
              <a:avLst/>
              <a:gdLst/>
              <a:ahLst/>
              <a:cxnLst/>
              <a:rect l="l" t="t" r="r" b="b"/>
              <a:pathLst>
                <a:path w="2022475" h="320040">
                  <a:moveTo>
                    <a:pt x="2016379" y="0"/>
                  </a:moveTo>
                  <a:lnTo>
                    <a:pt x="5968" y="0"/>
                  </a:lnTo>
                  <a:lnTo>
                    <a:pt x="0" y="5969"/>
                  </a:lnTo>
                  <a:lnTo>
                    <a:pt x="0" y="314071"/>
                  </a:lnTo>
                  <a:lnTo>
                    <a:pt x="5968" y="320040"/>
                  </a:lnTo>
                  <a:lnTo>
                    <a:pt x="2016379" y="320040"/>
                  </a:lnTo>
                  <a:lnTo>
                    <a:pt x="2022348" y="314071"/>
                  </a:lnTo>
                  <a:lnTo>
                    <a:pt x="2022348" y="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69619" y="1077467"/>
              <a:ext cx="2022475" cy="320040"/>
            </a:xfrm>
            <a:custGeom>
              <a:avLst/>
              <a:gdLst/>
              <a:ahLst/>
              <a:cxnLst/>
              <a:rect l="l" t="t" r="r" b="b"/>
              <a:pathLst>
                <a:path w="2022475" h="320040">
                  <a:moveTo>
                    <a:pt x="0" y="13335"/>
                  </a:moveTo>
                  <a:lnTo>
                    <a:pt x="0" y="5969"/>
                  </a:lnTo>
                  <a:lnTo>
                    <a:pt x="5968" y="0"/>
                  </a:lnTo>
                  <a:lnTo>
                    <a:pt x="13334" y="0"/>
                  </a:lnTo>
                  <a:lnTo>
                    <a:pt x="2009013" y="0"/>
                  </a:lnTo>
                  <a:lnTo>
                    <a:pt x="2016379" y="0"/>
                  </a:lnTo>
                  <a:lnTo>
                    <a:pt x="2022348" y="5969"/>
                  </a:lnTo>
                  <a:lnTo>
                    <a:pt x="2022348" y="13335"/>
                  </a:lnTo>
                  <a:lnTo>
                    <a:pt x="2022348" y="306705"/>
                  </a:lnTo>
                  <a:lnTo>
                    <a:pt x="2022348" y="314071"/>
                  </a:lnTo>
                  <a:lnTo>
                    <a:pt x="2016379" y="320040"/>
                  </a:lnTo>
                  <a:lnTo>
                    <a:pt x="2009013" y="320040"/>
                  </a:lnTo>
                  <a:lnTo>
                    <a:pt x="13334" y="320040"/>
                  </a:lnTo>
                  <a:lnTo>
                    <a:pt x="5968" y="320040"/>
                  </a:lnTo>
                  <a:lnTo>
                    <a:pt x="0" y="314071"/>
                  </a:lnTo>
                  <a:lnTo>
                    <a:pt x="0" y="306705"/>
                  </a:lnTo>
                  <a:lnTo>
                    <a:pt x="0" y="13335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217920" y="3608831"/>
              <a:ext cx="1054607" cy="1097280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5678423" y="3432047"/>
              <a:ext cx="1146048" cy="1176527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225795" y="4692395"/>
              <a:ext cx="2036063" cy="784859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209032" y="4668012"/>
              <a:ext cx="1359408" cy="868679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205983" y="4672583"/>
              <a:ext cx="2024380" cy="772795"/>
            </a:xfrm>
            <a:custGeom>
              <a:avLst/>
              <a:gdLst/>
              <a:ahLst/>
              <a:cxnLst/>
              <a:rect l="l" t="t" r="r" b="b"/>
              <a:pathLst>
                <a:path w="2024379" h="772795">
                  <a:moveTo>
                    <a:pt x="1991614" y="0"/>
                  </a:moveTo>
                  <a:lnTo>
                    <a:pt x="32257" y="0"/>
                  </a:lnTo>
                  <a:lnTo>
                    <a:pt x="19716" y="2540"/>
                  </a:lnTo>
                  <a:lnTo>
                    <a:pt x="9461" y="9461"/>
                  </a:lnTo>
                  <a:lnTo>
                    <a:pt x="2539" y="19716"/>
                  </a:lnTo>
                  <a:lnTo>
                    <a:pt x="0" y="32258"/>
                  </a:lnTo>
                  <a:lnTo>
                    <a:pt x="0" y="740410"/>
                  </a:lnTo>
                  <a:lnTo>
                    <a:pt x="2539" y="752951"/>
                  </a:lnTo>
                  <a:lnTo>
                    <a:pt x="9461" y="763206"/>
                  </a:lnTo>
                  <a:lnTo>
                    <a:pt x="19716" y="770128"/>
                  </a:lnTo>
                  <a:lnTo>
                    <a:pt x="32257" y="772668"/>
                  </a:lnTo>
                  <a:lnTo>
                    <a:pt x="1991614" y="772668"/>
                  </a:lnTo>
                  <a:lnTo>
                    <a:pt x="2004155" y="770128"/>
                  </a:lnTo>
                  <a:lnTo>
                    <a:pt x="2014410" y="763206"/>
                  </a:lnTo>
                  <a:lnTo>
                    <a:pt x="2021331" y="752951"/>
                  </a:lnTo>
                  <a:lnTo>
                    <a:pt x="2023871" y="740410"/>
                  </a:lnTo>
                  <a:lnTo>
                    <a:pt x="2023871" y="32258"/>
                  </a:lnTo>
                  <a:lnTo>
                    <a:pt x="2021331" y="19716"/>
                  </a:lnTo>
                  <a:lnTo>
                    <a:pt x="2014410" y="9461"/>
                  </a:lnTo>
                  <a:lnTo>
                    <a:pt x="2004155" y="2540"/>
                  </a:lnTo>
                  <a:lnTo>
                    <a:pt x="1991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205983" y="4672583"/>
              <a:ext cx="2024380" cy="772795"/>
            </a:xfrm>
            <a:custGeom>
              <a:avLst/>
              <a:gdLst/>
              <a:ahLst/>
              <a:cxnLst/>
              <a:rect l="l" t="t" r="r" b="b"/>
              <a:pathLst>
                <a:path w="2024379" h="772795">
                  <a:moveTo>
                    <a:pt x="0" y="32258"/>
                  </a:moveTo>
                  <a:lnTo>
                    <a:pt x="2539" y="19716"/>
                  </a:lnTo>
                  <a:lnTo>
                    <a:pt x="9461" y="9461"/>
                  </a:lnTo>
                  <a:lnTo>
                    <a:pt x="19716" y="2540"/>
                  </a:lnTo>
                  <a:lnTo>
                    <a:pt x="32257" y="0"/>
                  </a:lnTo>
                  <a:lnTo>
                    <a:pt x="1991614" y="0"/>
                  </a:lnTo>
                  <a:lnTo>
                    <a:pt x="2004155" y="2540"/>
                  </a:lnTo>
                  <a:lnTo>
                    <a:pt x="2014410" y="9461"/>
                  </a:lnTo>
                  <a:lnTo>
                    <a:pt x="2021331" y="19716"/>
                  </a:lnTo>
                  <a:lnTo>
                    <a:pt x="2023871" y="32258"/>
                  </a:lnTo>
                  <a:lnTo>
                    <a:pt x="2023871" y="740410"/>
                  </a:lnTo>
                  <a:lnTo>
                    <a:pt x="2021331" y="752951"/>
                  </a:lnTo>
                  <a:lnTo>
                    <a:pt x="2014410" y="763206"/>
                  </a:lnTo>
                  <a:lnTo>
                    <a:pt x="2004155" y="770128"/>
                  </a:lnTo>
                  <a:lnTo>
                    <a:pt x="1991614" y="772668"/>
                  </a:lnTo>
                  <a:lnTo>
                    <a:pt x="32257" y="772668"/>
                  </a:lnTo>
                  <a:lnTo>
                    <a:pt x="19716" y="770128"/>
                  </a:lnTo>
                  <a:lnTo>
                    <a:pt x="9461" y="763206"/>
                  </a:lnTo>
                  <a:lnTo>
                    <a:pt x="2539" y="752951"/>
                  </a:lnTo>
                  <a:lnTo>
                    <a:pt x="0" y="740410"/>
                  </a:lnTo>
                  <a:lnTo>
                    <a:pt x="0" y="32258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7" name="object 127"/>
          <p:cNvGrpSpPr/>
          <p:nvPr/>
        </p:nvGrpSpPr>
        <p:grpSpPr>
          <a:xfrm>
            <a:off x="0" y="752855"/>
            <a:ext cx="9144000" cy="5495925"/>
            <a:chOff x="0" y="752855"/>
            <a:chExt cx="9144000" cy="5495925"/>
          </a:xfrm>
        </p:grpSpPr>
        <p:sp>
          <p:nvSpPr>
            <p:cNvPr id="128" name="object 128"/>
            <p:cNvSpPr/>
            <p:nvPr/>
          </p:nvSpPr>
          <p:spPr>
            <a:xfrm>
              <a:off x="2090673" y="3012820"/>
              <a:ext cx="1112393" cy="929258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956816" y="3241548"/>
              <a:ext cx="1604771" cy="1286256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2007870" y="3277361"/>
              <a:ext cx="1498600" cy="1178560"/>
            </a:xfrm>
            <a:custGeom>
              <a:avLst/>
              <a:gdLst/>
              <a:ahLst/>
              <a:cxnLst/>
              <a:rect l="l" t="t" r="r" b="b"/>
              <a:pathLst>
                <a:path w="1498600" h="1178560">
                  <a:moveTo>
                    <a:pt x="0" y="1178052"/>
                  </a:moveTo>
                  <a:lnTo>
                    <a:pt x="1498092" y="0"/>
                  </a:lnTo>
                </a:path>
              </a:pathLst>
            </a:custGeom>
            <a:ln w="25908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153285" y="3410966"/>
              <a:ext cx="1203325" cy="984885"/>
            </a:xfrm>
            <a:custGeom>
              <a:avLst/>
              <a:gdLst/>
              <a:ahLst/>
              <a:cxnLst/>
              <a:rect l="l" t="t" r="r" b="b"/>
              <a:pathLst>
                <a:path w="1203325" h="984885">
                  <a:moveTo>
                    <a:pt x="1074801" y="0"/>
                  </a:moveTo>
                  <a:lnTo>
                    <a:pt x="0" y="815721"/>
                  </a:lnTo>
                  <a:lnTo>
                    <a:pt x="128396" y="984885"/>
                  </a:lnTo>
                  <a:lnTo>
                    <a:pt x="1203198" y="169163"/>
                  </a:lnTo>
                  <a:lnTo>
                    <a:pt x="107480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153285" y="3410966"/>
              <a:ext cx="1203325" cy="984885"/>
            </a:xfrm>
            <a:custGeom>
              <a:avLst/>
              <a:gdLst/>
              <a:ahLst/>
              <a:cxnLst/>
              <a:rect l="l" t="t" r="r" b="b"/>
              <a:pathLst>
                <a:path w="1203325" h="984885">
                  <a:moveTo>
                    <a:pt x="0" y="815721"/>
                  </a:moveTo>
                  <a:lnTo>
                    <a:pt x="1074801" y="0"/>
                  </a:lnTo>
                  <a:lnTo>
                    <a:pt x="1203198" y="169163"/>
                  </a:lnTo>
                  <a:lnTo>
                    <a:pt x="128396" y="984885"/>
                  </a:lnTo>
                  <a:lnTo>
                    <a:pt x="0" y="815721"/>
                  </a:lnTo>
                  <a:close/>
                </a:path>
              </a:pathLst>
            </a:custGeom>
            <a:ln w="254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341879" y="3587114"/>
              <a:ext cx="837565" cy="661670"/>
            </a:xfrm>
            <a:custGeom>
              <a:avLst/>
              <a:gdLst/>
              <a:ahLst/>
              <a:cxnLst/>
              <a:rect l="l" t="t" r="r" b="b"/>
              <a:pathLst>
                <a:path w="837564" h="661670">
                  <a:moveTo>
                    <a:pt x="82829" y="551180"/>
                  </a:moveTo>
                  <a:lnTo>
                    <a:pt x="35051" y="551180"/>
                  </a:lnTo>
                  <a:lnTo>
                    <a:pt x="92582" y="627380"/>
                  </a:lnTo>
                  <a:lnTo>
                    <a:pt x="73278" y="641350"/>
                  </a:lnTo>
                  <a:lnTo>
                    <a:pt x="89153" y="661670"/>
                  </a:lnTo>
                  <a:lnTo>
                    <a:pt x="157861" y="609600"/>
                  </a:lnTo>
                  <a:lnTo>
                    <a:pt x="152900" y="603250"/>
                  </a:lnTo>
                  <a:lnTo>
                    <a:pt x="122808" y="603250"/>
                  </a:lnTo>
                  <a:lnTo>
                    <a:pt x="82829" y="551180"/>
                  </a:lnTo>
                  <a:close/>
                </a:path>
                <a:path w="837564" h="661670">
                  <a:moveTo>
                    <a:pt x="141986" y="589280"/>
                  </a:moveTo>
                  <a:lnTo>
                    <a:pt x="122808" y="603250"/>
                  </a:lnTo>
                  <a:lnTo>
                    <a:pt x="152900" y="603250"/>
                  </a:lnTo>
                  <a:lnTo>
                    <a:pt x="141986" y="589280"/>
                  </a:lnTo>
                  <a:close/>
                </a:path>
                <a:path w="837564" h="661670">
                  <a:moveTo>
                    <a:pt x="142747" y="482600"/>
                  </a:moveTo>
                  <a:lnTo>
                    <a:pt x="114172" y="504190"/>
                  </a:lnTo>
                  <a:lnTo>
                    <a:pt x="181482" y="591820"/>
                  </a:lnTo>
                  <a:lnTo>
                    <a:pt x="209931" y="570230"/>
                  </a:lnTo>
                  <a:lnTo>
                    <a:pt x="162306" y="508000"/>
                  </a:lnTo>
                  <a:lnTo>
                    <a:pt x="163956" y="504190"/>
                  </a:lnTo>
                  <a:lnTo>
                    <a:pt x="165862" y="500380"/>
                  </a:lnTo>
                  <a:lnTo>
                    <a:pt x="167894" y="496570"/>
                  </a:lnTo>
                  <a:lnTo>
                    <a:pt x="169799" y="494030"/>
                  </a:lnTo>
                  <a:lnTo>
                    <a:pt x="172212" y="491490"/>
                  </a:lnTo>
                  <a:lnTo>
                    <a:pt x="150113" y="491490"/>
                  </a:lnTo>
                  <a:lnTo>
                    <a:pt x="142747" y="482600"/>
                  </a:lnTo>
                  <a:close/>
                </a:path>
                <a:path w="837564" h="661670">
                  <a:moveTo>
                    <a:pt x="68706" y="492760"/>
                  </a:moveTo>
                  <a:lnTo>
                    <a:pt x="0" y="544830"/>
                  </a:lnTo>
                  <a:lnTo>
                    <a:pt x="15747" y="565150"/>
                  </a:lnTo>
                  <a:lnTo>
                    <a:pt x="35051" y="551180"/>
                  </a:lnTo>
                  <a:lnTo>
                    <a:pt x="82829" y="551180"/>
                  </a:lnTo>
                  <a:lnTo>
                    <a:pt x="65277" y="528320"/>
                  </a:lnTo>
                  <a:lnTo>
                    <a:pt x="84581" y="513080"/>
                  </a:lnTo>
                  <a:lnTo>
                    <a:pt x="68706" y="492760"/>
                  </a:lnTo>
                  <a:close/>
                </a:path>
                <a:path w="837564" h="661670">
                  <a:moveTo>
                    <a:pt x="239225" y="483870"/>
                  </a:moveTo>
                  <a:lnTo>
                    <a:pt x="189483" y="483870"/>
                  </a:lnTo>
                  <a:lnTo>
                    <a:pt x="192024" y="485140"/>
                  </a:lnTo>
                  <a:lnTo>
                    <a:pt x="194182" y="486410"/>
                  </a:lnTo>
                  <a:lnTo>
                    <a:pt x="196850" y="488950"/>
                  </a:lnTo>
                  <a:lnTo>
                    <a:pt x="202945" y="495300"/>
                  </a:lnTo>
                  <a:lnTo>
                    <a:pt x="205867" y="499110"/>
                  </a:lnTo>
                  <a:lnTo>
                    <a:pt x="208533" y="502920"/>
                  </a:lnTo>
                  <a:lnTo>
                    <a:pt x="241934" y="546100"/>
                  </a:lnTo>
                  <a:lnTo>
                    <a:pt x="270382" y="524510"/>
                  </a:lnTo>
                  <a:lnTo>
                    <a:pt x="239225" y="483870"/>
                  </a:lnTo>
                  <a:close/>
                </a:path>
                <a:path w="837564" h="661670">
                  <a:moveTo>
                    <a:pt x="290847" y="434340"/>
                  </a:moveTo>
                  <a:lnTo>
                    <a:pt x="245871" y="434340"/>
                  </a:lnTo>
                  <a:lnTo>
                    <a:pt x="277240" y="474980"/>
                  </a:lnTo>
                  <a:lnTo>
                    <a:pt x="283462" y="482600"/>
                  </a:lnTo>
                  <a:lnTo>
                    <a:pt x="289766" y="487680"/>
                  </a:lnTo>
                  <a:lnTo>
                    <a:pt x="296189" y="491490"/>
                  </a:lnTo>
                  <a:lnTo>
                    <a:pt x="302768" y="492760"/>
                  </a:lnTo>
                  <a:lnTo>
                    <a:pt x="309554" y="491490"/>
                  </a:lnTo>
                  <a:lnTo>
                    <a:pt x="316769" y="488950"/>
                  </a:lnTo>
                  <a:lnTo>
                    <a:pt x="324413" y="485140"/>
                  </a:lnTo>
                  <a:lnTo>
                    <a:pt x="332486" y="480060"/>
                  </a:lnTo>
                  <a:lnTo>
                    <a:pt x="337438" y="476250"/>
                  </a:lnTo>
                  <a:lnTo>
                    <a:pt x="341375" y="473710"/>
                  </a:lnTo>
                  <a:lnTo>
                    <a:pt x="344424" y="469900"/>
                  </a:lnTo>
                  <a:lnTo>
                    <a:pt x="347599" y="467360"/>
                  </a:lnTo>
                  <a:lnTo>
                    <a:pt x="350265" y="463550"/>
                  </a:lnTo>
                  <a:lnTo>
                    <a:pt x="352806" y="461010"/>
                  </a:lnTo>
                  <a:lnTo>
                    <a:pt x="350841" y="458470"/>
                  </a:lnTo>
                  <a:lnTo>
                    <a:pt x="312546" y="458470"/>
                  </a:lnTo>
                  <a:lnTo>
                    <a:pt x="308228" y="455930"/>
                  </a:lnTo>
                  <a:lnTo>
                    <a:pt x="306196" y="454660"/>
                  </a:lnTo>
                  <a:lnTo>
                    <a:pt x="304419" y="452120"/>
                  </a:lnTo>
                  <a:lnTo>
                    <a:pt x="302513" y="449580"/>
                  </a:lnTo>
                  <a:lnTo>
                    <a:pt x="290847" y="434340"/>
                  </a:lnTo>
                  <a:close/>
                </a:path>
                <a:path w="837564" h="661670">
                  <a:moveTo>
                    <a:pt x="199517" y="448310"/>
                  </a:moveTo>
                  <a:lnTo>
                    <a:pt x="192353" y="448310"/>
                  </a:lnTo>
                  <a:lnTo>
                    <a:pt x="185166" y="449580"/>
                  </a:lnTo>
                  <a:lnTo>
                    <a:pt x="177978" y="452120"/>
                  </a:lnTo>
                  <a:lnTo>
                    <a:pt x="170814" y="457200"/>
                  </a:lnTo>
                  <a:lnTo>
                    <a:pt x="165226" y="461010"/>
                  </a:lnTo>
                  <a:lnTo>
                    <a:pt x="150113" y="491490"/>
                  </a:lnTo>
                  <a:lnTo>
                    <a:pt x="172212" y="491490"/>
                  </a:lnTo>
                  <a:lnTo>
                    <a:pt x="174751" y="490220"/>
                  </a:lnTo>
                  <a:lnTo>
                    <a:pt x="178307" y="487680"/>
                  </a:lnTo>
                  <a:lnTo>
                    <a:pt x="181482" y="485140"/>
                  </a:lnTo>
                  <a:lnTo>
                    <a:pt x="184276" y="485140"/>
                  </a:lnTo>
                  <a:lnTo>
                    <a:pt x="186944" y="483870"/>
                  </a:lnTo>
                  <a:lnTo>
                    <a:pt x="239225" y="483870"/>
                  </a:lnTo>
                  <a:lnTo>
                    <a:pt x="226568" y="467360"/>
                  </a:lnTo>
                  <a:lnTo>
                    <a:pt x="220162" y="459740"/>
                  </a:lnTo>
                  <a:lnTo>
                    <a:pt x="213518" y="454660"/>
                  </a:lnTo>
                  <a:lnTo>
                    <a:pt x="206636" y="449580"/>
                  </a:lnTo>
                  <a:lnTo>
                    <a:pt x="199517" y="448310"/>
                  </a:lnTo>
                  <a:close/>
                </a:path>
                <a:path w="837564" h="661670">
                  <a:moveTo>
                    <a:pt x="338074" y="441960"/>
                  </a:moveTo>
                  <a:lnTo>
                    <a:pt x="335661" y="443230"/>
                  </a:lnTo>
                  <a:lnTo>
                    <a:pt x="335152" y="444500"/>
                  </a:lnTo>
                  <a:lnTo>
                    <a:pt x="333882" y="445770"/>
                  </a:lnTo>
                  <a:lnTo>
                    <a:pt x="330072" y="450850"/>
                  </a:lnTo>
                  <a:lnTo>
                    <a:pt x="328421" y="453390"/>
                  </a:lnTo>
                  <a:lnTo>
                    <a:pt x="323342" y="457200"/>
                  </a:lnTo>
                  <a:lnTo>
                    <a:pt x="320294" y="458470"/>
                  </a:lnTo>
                  <a:lnTo>
                    <a:pt x="350841" y="458470"/>
                  </a:lnTo>
                  <a:lnTo>
                    <a:pt x="338074" y="441960"/>
                  </a:lnTo>
                  <a:close/>
                </a:path>
                <a:path w="837564" h="661670">
                  <a:moveTo>
                    <a:pt x="332105" y="337820"/>
                  </a:moveTo>
                  <a:lnTo>
                    <a:pt x="303656" y="359410"/>
                  </a:lnTo>
                  <a:lnTo>
                    <a:pt x="370839" y="448310"/>
                  </a:lnTo>
                  <a:lnTo>
                    <a:pt x="399288" y="426720"/>
                  </a:lnTo>
                  <a:lnTo>
                    <a:pt x="354330" y="367030"/>
                  </a:lnTo>
                  <a:lnTo>
                    <a:pt x="356869" y="363220"/>
                  </a:lnTo>
                  <a:lnTo>
                    <a:pt x="359537" y="360680"/>
                  </a:lnTo>
                  <a:lnTo>
                    <a:pt x="362203" y="356870"/>
                  </a:lnTo>
                  <a:lnTo>
                    <a:pt x="364870" y="354330"/>
                  </a:lnTo>
                  <a:lnTo>
                    <a:pt x="368300" y="351790"/>
                  </a:lnTo>
                  <a:lnTo>
                    <a:pt x="341883" y="351790"/>
                  </a:lnTo>
                  <a:lnTo>
                    <a:pt x="332105" y="337820"/>
                  </a:lnTo>
                  <a:close/>
                </a:path>
                <a:path w="837564" h="661670">
                  <a:moveTo>
                    <a:pt x="240411" y="368300"/>
                  </a:moveTo>
                  <a:lnTo>
                    <a:pt x="211962" y="389890"/>
                  </a:lnTo>
                  <a:lnTo>
                    <a:pt x="231267" y="415290"/>
                  </a:lnTo>
                  <a:lnTo>
                    <a:pt x="219582" y="424180"/>
                  </a:lnTo>
                  <a:lnTo>
                    <a:pt x="234187" y="443230"/>
                  </a:lnTo>
                  <a:lnTo>
                    <a:pt x="245871" y="434340"/>
                  </a:lnTo>
                  <a:lnTo>
                    <a:pt x="290847" y="434340"/>
                  </a:lnTo>
                  <a:lnTo>
                    <a:pt x="274319" y="412750"/>
                  </a:lnTo>
                  <a:lnTo>
                    <a:pt x="299085" y="393700"/>
                  </a:lnTo>
                  <a:lnTo>
                    <a:pt x="259714" y="393700"/>
                  </a:lnTo>
                  <a:lnTo>
                    <a:pt x="240411" y="368300"/>
                  </a:lnTo>
                  <a:close/>
                </a:path>
                <a:path w="837564" h="661670">
                  <a:moveTo>
                    <a:pt x="286131" y="373380"/>
                  </a:moveTo>
                  <a:lnTo>
                    <a:pt x="259714" y="393700"/>
                  </a:lnTo>
                  <a:lnTo>
                    <a:pt x="299085" y="393700"/>
                  </a:lnTo>
                  <a:lnTo>
                    <a:pt x="300736" y="392430"/>
                  </a:lnTo>
                  <a:lnTo>
                    <a:pt x="286131" y="373380"/>
                  </a:lnTo>
                  <a:close/>
                </a:path>
                <a:path w="837564" h="661670">
                  <a:moveTo>
                    <a:pt x="499563" y="281940"/>
                  </a:moveTo>
                  <a:lnTo>
                    <a:pt x="451865" y="281940"/>
                  </a:lnTo>
                  <a:lnTo>
                    <a:pt x="456438" y="283210"/>
                  </a:lnTo>
                  <a:lnTo>
                    <a:pt x="460501" y="288290"/>
                  </a:lnTo>
                  <a:lnTo>
                    <a:pt x="431038" y="316230"/>
                  </a:lnTo>
                  <a:lnTo>
                    <a:pt x="422275" y="328930"/>
                  </a:lnTo>
                  <a:lnTo>
                    <a:pt x="418719" y="335280"/>
                  </a:lnTo>
                  <a:lnTo>
                    <a:pt x="417068" y="341630"/>
                  </a:lnTo>
                  <a:lnTo>
                    <a:pt x="417575" y="354330"/>
                  </a:lnTo>
                  <a:lnTo>
                    <a:pt x="420115" y="360680"/>
                  </a:lnTo>
                  <a:lnTo>
                    <a:pt x="448690" y="381000"/>
                  </a:lnTo>
                  <a:lnTo>
                    <a:pt x="455810" y="381000"/>
                  </a:lnTo>
                  <a:lnTo>
                    <a:pt x="462692" y="379730"/>
                  </a:lnTo>
                  <a:lnTo>
                    <a:pt x="469336" y="377190"/>
                  </a:lnTo>
                  <a:lnTo>
                    <a:pt x="475742" y="372110"/>
                  </a:lnTo>
                  <a:lnTo>
                    <a:pt x="479297" y="369570"/>
                  </a:lnTo>
                  <a:lnTo>
                    <a:pt x="482345" y="367030"/>
                  </a:lnTo>
                  <a:lnTo>
                    <a:pt x="484886" y="364490"/>
                  </a:lnTo>
                  <a:lnTo>
                    <a:pt x="487425" y="360680"/>
                  </a:lnTo>
                  <a:lnTo>
                    <a:pt x="489584" y="358140"/>
                  </a:lnTo>
                  <a:lnTo>
                    <a:pt x="492759" y="351790"/>
                  </a:lnTo>
                  <a:lnTo>
                    <a:pt x="493902" y="349250"/>
                  </a:lnTo>
                  <a:lnTo>
                    <a:pt x="462914" y="349250"/>
                  </a:lnTo>
                  <a:lnTo>
                    <a:pt x="458850" y="347980"/>
                  </a:lnTo>
                  <a:lnTo>
                    <a:pt x="457200" y="347980"/>
                  </a:lnTo>
                  <a:lnTo>
                    <a:pt x="454787" y="346710"/>
                  </a:lnTo>
                  <a:lnTo>
                    <a:pt x="453517" y="345440"/>
                  </a:lnTo>
                  <a:lnTo>
                    <a:pt x="452119" y="342900"/>
                  </a:lnTo>
                  <a:lnTo>
                    <a:pt x="449961" y="340360"/>
                  </a:lnTo>
                  <a:lnTo>
                    <a:pt x="449071" y="337820"/>
                  </a:lnTo>
                  <a:lnTo>
                    <a:pt x="449325" y="334010"/>
                  </a:lnTo>
                  <a:lnTo>
                    <a:pt x="449452" y="331470"/>
                  </a:lnTo>
                  <a:lnTo>
                    <a:pt x="450722" y="328930"/>
                  </a:lnTo>
                  <a:lnTo>
                    <a:pt x="452881" y="325120"/>
                  </a:lnTo>
                  <a:lnTo>
                    <a:pt x="454532" y="323850"/>
                  </a:lnTo>
                  <a:lnTo>
                    <a:pt x="457453" y="320040"/>
                  </a:lnTo>
                  <a:lnTo>
                    <a:pt x="465581" y="312420"/>
                  </a:lnTo>
                  <a:lnTo>
                    <a:pt x="469392" y="308610"/>
                  </a:lnTo>
                  <a:lnTo>
                    <a:pt x="472947" y="304800"/>
                  </a:lnTo>
                  <a:lnTo>
                    <a:pt x="517073" y="304800"/>
                  </a:lnTo>
                  <a:lnTo>
                    <a:pt x="499563" y="281940"/>
                  </a:lnTo>
                  <a:close/>
                </a:path>
                <a:path w="837564" h="661670">
                  <a:moveTo>
                    <a:pt x="367792" y="311150"/>
                  </a:moveTo>
                  <a:lnTo>
                    <a:pt x="366775" y="311150"/>
                  </a:lnTo>
                  <a:lnTo>
                    <a:pt x="365632" y="312420"/>
                  </a:lnTo>
                  <a:lnTo>
                    <a:pt x="364363" y="313690"/>
                  </a:lnTo>
                  <a:lnTo>
                    <a:pt x="362965" y="313690"/>
                  </a:lnTo>
                  <a:lnTo>
                    <a:pt x="356996" y="318770"/>
                  </a:lnTo>
                  <a:lnTo>
                    <a:pt x="341883" y="351790"/>
                  </a:lnTo>
                  <a:lnTo>
                    <a:pt x="368300" y="351790"/>
                  </a:lnTo>
                  <a:lnTo>
                    <a:pt x="372363" y="347980"/>
                  </a:lnTo>
                  <a:lnTo>
                    <a:pt x="376427" y="345440"/>
                  </a:lnTo>
                  <a:lnTo>
                    <a:pt x="379221" y="344170"/>
                  </a:lnTo>
                  <a:lnTo>
                    <a:pt x="382143" y="341630"/>
                  </a:lnTo>
                  <a:lnTo>
                    <a:pt x="384301" y="340360"/>
                  </a:lnTo>
                  <a:lnTo>
                    <a:pt x="385825" y="340360"/>
                  </a:lnTo>
                  <a:lnTo>
                    <a:pt x="388365" y="337820"/>
                  </a:lnTo>
                  <a:lnTo>
                    <a:pt x="367792" y="311150"/>
                  </a:lnTo>
                  <a:close/>
                </a:path>
                <a:path w="837564" h="661670">
                  <a:moveTo>
                    <a:pt x="517073" y="304800"/>
                  </a:moveTo>
                  <a:lnTo>
                    <a:pt x="472947" y="304800"/>
                  </a:lnTo>
                  <a:lnTo>
                    <a:pt x="486918" y="323850"/>
                  </a:lnTo>
                  <a:lnTo>
                    <a:pt x="486156" y="327660"/>
                  </a:lnTo>
                  <a:lnTo>
                    <a:pt x="484758" y="330200"/>
                  </a:lnTo>
                  <a:lnTo>
                    <a:pt x="480694" y="337820"/>
                  </a:lnTo>
                  <a:lnTo>
                    <a:pt x="478281" y="340360"/>
                  </a:lnTo>
                  <a:lnTo>
                    <a:pt x="475361" y="342900"/>
                  </a:lnTo>
                  <a:lnTo>
                    <a:pt x="471805" y="345440"/>
                  </a:lnTo>
                  <a:lnTo>
                    <a:pt x="469011" y="346710"/>
                  </a:lnTo>
                  <a:lnTo>
                    <a:pt x="464946" y="347980"/>
                  </a:lnTo>
                  <a:lnTo>
                    <a:pt x="462914" y="349250"/>
                  </a:lnTo>
                  <a:lnTo>
                    <a:pt x="493902" y="349250"/>
                  </a:lnTo>
                  <a:lnTo>
                    <a:pt x="496824" y="340360"/>
                  </a:lnTo>
                  <a:lnTo>
                    <a:pt x="497458" y="337820"/>
                  </a:lnTo>
                  <a:lnTo>
                    <a:pt x="516127" y="337820"/>
                  </a:lnTo>
                  <a:lnTo>
                    <a:pt x="532638" y="325120"/>
                  </a:lnTo>
                  <a:lnTo>
                    <a:pt x="517073" y="304800"/>
                  </a:lnTo>
                  <a:close/>
                </a:path>
                <a:path w="837564" h="661670">
                  <a:moveTo>
                    <a:pt x="516127" y="337820"/>
                  </a:moveTo>
                  <a:lnTo>
                    <a:pt x="497458" y="337820"/>
                  </a:lnTo>
                  <a:lnTo>
                    <a:pt x="504570" y="346710"/>
                  </a:lnTo>
                  <a:lnTo>
                    <a:pt x="516127" y="337820"/>
                  </a:lnTo>
                  <a:close/>
                </a:path>
                <a:path w="837564" h="661670">
                  <a:moveTo>
                    <a:pt x="458469" y="250190"/>
                  </a:moveTo>
                  <a:lnTo>
                    <a:pt x="417830" y="269240"/>
                  </a:lnTo>
                  <a:lnTo>
                    <a:pt x="403328" y="281940"/>
                  </a:lnTo>
                  <a:lnTo>
                    <a:pt x="398780" y="285750"/>
                  </a:lnTo>
                  <a:lnTo>
                    <a:pt x="392811" y="292100"/>
                  </a:lnTo>
                  <a:lnTo>
                    <a:pt x="388619" y="297180"/>
                  </a:lnTo>
                  <a:lnTo>
                    <a:pt x="386333" y="299720"/>
                  </a:lnTo>
                  <a:lnTo>
                    <a:pt x="402463" y="321310"/>
                  </a:lnTo>
                  <a:lnTo>
                    <a:pt x="405130" y="320040"/>
                  </a:lnTo>
                  <a:lnTo>
                    <a:pt x="406781" y="316230"/>
                  </a:lnTo>
                  <a:lnTo>
                    <a:pt x="409575" y="312420"/>
                  </a:lnTo>
                  <a:lnTo>
                    <a:pt x="413638" y="307340"/>
                  </a:lnTo>
                  <a:lnTo>
                    <a:pt x="417702" y="300990"/>
                  </a:lnTo>
                  <a:lnTo>
                    <a:pt x="422020" y="297180"/>
                  </a:lnTo>
                  <a:lnTo>
                    <a:pt x="434467" y="287020"/>
                  </a:lnTo>
                  <a:lnTo>
                    <a:pt x="441070" y="283210"/>
                  </a:lnTo>
                  <a:lnTo>
                    <a:pt x="446531" y="281940"/>
                  </a:lnTo>
                  <a:lnTo>
                    <a:pt x="499563" y="281940"/>
                  </a:lnTo>
                  <a:lnTo>
                    <a:pt x="486918" y="265430"/>
                  </a:lnTo>
                  <a:lnTo>
                    <a:pt x="480633" y="257810"/>
                  </a:lnTo>
                  <a:lnTo>
                    <a:pt x="473789" y="254000"/>
                  </a:lnTo>
                  <a:lnTo>
                    <a:pt x="466397" y="251460"/>
                  </a:lnTo>
                  <a:lnTo>
                    <a:pt x="458469" y="250190"/>
                  </a:lnTo>
                  <a:close/>
                </a:path>
                <a:path w="837564" h="661670">
                  <a:moveTo>
                    <a:pt x="520192" y="195580"/>
                  </a:moveTo>
                  <a:lnTo>
                    <a:pt x="491744" y="217170"/>
                  </a:lnTo>
                  <a:lnTo>
                    <a:pt x="558926" y="306070"/>
                  </a:lnTo>
                  <a:lnTo>
                    <a:pt x="587375" y="284480"/>
                  </a:lnTo>
                  <a:lnTo>
                    <a:pt x="539750" y="220980"/>
                  </a:lnTo>
                  <a:lnTo>
                    <a:pt x="541527" y="217170"/>
                  </a:lnTo>
                  <a:lnTo>
                    <a:pt x="543432" y="213360"/>
                  </a:lnTo>
                  <a:lnTo>
                    <a:pt x="545338" y="210820"/>
                  </a:lnTo>
                  <a:lnTo>
                    <a:pt x="547369" y="208280"/>
                  </a:lnTo>
                  <a:lnTo>
                    <a:pt x="549656" y="205740"/>
                  </a:lnTo>
                  <a:lnTo>
                    <a:pt x="527684" y="205740"/>
                  </a:lnTo>
                  <a:lnTo>
                    <a:pt x="520192" y="195580"/>
                  </a:lnTo>
                  <a:close/>
                </a:path>
                <a:path w="837564" h="661670">
                  <a:moveTo>
                    <a:pt x="617770" y="198120"/>
                  </a:moveTo>
                  <a:lnTo>
                    <a:pt x="567055" y="198120"/>
                  </a:lnTo>
                  <a:lnTo>
                    <a:pt x="569594" y="199390"/>
                  </a:lnTo>
                  <a:lnTo>
                    <a:pt x="571753" y="200660"/>
                  </a:lnTo>
                  <a:lnTo>
                    <a:pt x="574420" y="201930"/>
                  </a:lnTo>
                  <a:lnTo>
                    <a:pt x="577469" y="205740"/>
                  </a:lnTo>
                  <a:lnTo>
                    <a:pt x="580517" y="208280"/>
                  </a:lnTo>
                  <a:lnTo>
                    <a:pt x="583438" y="212090"/>
                  </a:lnTo>
                  <a:lnTo>
                    <a:pt x="586105" y="215900"/>
                  </a:lnTo>
                  <a:lnTo>
                    <a:pt x="619378" y="259080"/>
                  </a:lnTo>
                  <a:lnTo>
                    <a:pt x="647953" y="237490"/>
                  </a:lnTo>
                  <a:lnTo>
                    <a:pt x="617770" y="198120"/>
                  </a:lnTo>
                  <a:close/>
                </a:path>
                <a:path w="837564" h="661670">
                  <a:moveTo>
                    <a:pt x="577088" y="161290"/>
                  </a:moveTo>
                  <a:lnTo>
                    <a:pt x="569924" y="161290"/>
                  </a:lnTo>
                  <a:lnTo>
                    <a:pt x="562737" y="162560"/>
                  </a:lnTo>
                  <a:lnTo>
                    <a:pt x="555549" y="165100"/>
                  </a:lnTo>
                  <a:lnTo>
                    <a:pt x="548386" y="170180"/>
                  </a:lnTo>
                  <a:lnTo>
                    <a:pt x="542670" y="173990"/>
                  </a:lnTo>
                  <a:lnTo>
                    <a:pt x="538352" y="179070"/>
                  </a:lnTo>
                  <a:lnTo>
                    <a:pt x="535305" y="185420"/>
                  </a:lnTo>
                  <a:lnTo>
                    <a:pt x="532257" y="190500"/>
                  </a:lnTo>
                  <a:lnTo>
                    <a:pt x="529717" y="196850"/>
                  </a:lnTo>
                  <a:lnTo>
                    <a:pt x="527684" y="205740"/>
                  </a:lnTo>
                  <a:lnTo>
                    <a:pt x="549656" y="205740"/>
                  </a:lnTo>
                  <a:lnTo>
                    <a:pt x="552322" y="203200"/>
                  </a:lnTo>
                  <a:lnTo>
                    <a:pt x="555878" y="200660"/>
                  </a:lnTo>
                  <a:lnTo>
                    <a:pt x="559053" y="199390"/>
                  </a:lnTo>
                  <a:lnTo>
                    <a:pt x="561720" y="198120"/>
                  </a:lnTo>
                  <a:lnTo>
                    <a:pt x="617770" y="198120"/>
                  </a:lnTo>
                  <a:lnTo>
                    <a:pt x="604138" y="180340"/>
                  </a:lnTo>
                  <a:lnTo>
                    <a:pt x="597733" y="172720"/>
                  </a:lnTo>
                  <a:lnTo>
                    <a:pt x="591089" y="167640"/>
                  </a:lnTo>
                  <a:lnTo>
                    <a:pt x="584207" y="163830"/>
                  </a:lnTo>
                  <a:lnTo>
                    <a:pt x="577088" y="161290"/>
                  </a:lnTo>
                  <a:close/>
                </a:path>
                <a:path w="837564" h="661670">
                  <a:moveTo>
                    <a:pt x="689609" y="80010"/>
                  </a:moveTo>
                  <a:lnTo>
                    <a:pt x="679846" y="80010"/>
                  </a:lnTo>
                  <a:lnTo>
                    <a:pt x="669798" y="82550"/>
                  </a:lnTo>
                  <a:lnTo>
                    <a:pt x="630348" y="113030"/>
                  </a:lnTo>
                  <a:lnTo>
                    <a:pt x="621117" y="146050"/>
                  </a:lnTo>
                  <a:lnTo>
                    <a:pt x="623093" y="157480"/>
                  </a:lnTo>
                  <a:lnTo>
                    <a:pt x="653065" y="195580"/>
                  </a:lnTo>
                  <a:lnTo>
                    <a:pt x="674751" y="203200"/>
                  </a:lnTo>
                  <a:lnTo>
                    <a:pt x="686585" y="201930"/>
                  </a:lnTo>
                  <a:lnTo>
                    <a:pt x="698849" y="198120"/>
                  </a:lnTo>
                  <a:lnTo>
                    <a:pt x="711541" y="191770"/>
                  </a:lnTo>
                  <a:lnTo>
                    <a:pt x="724662" y="184150"/>
                  </a:lnTo>
                  <a:lnTo>
                    <a:pt x="731519" y="177800"/>
                  </a:lnTo>
                  <a:lnTo>
                    <a:pt x="737362" y="172720"/>
                  </a:lnTo>
                  <a:lnTo>
                    <a:pt x="738568" y="171450"/>
                  </a:lnTo>
                  <a:lnTo>
                    <a:pt x="679322" y="171450"/>
                  </a:lnTo>
                  <a:lnTo>
                    <a:pt x="672592" y="168910"/>
                  </a:lnTo>
                  <a:lnTo>
                    <a:pt x="666876" y="162560"/>
                  </a:lnTo>
                  <a:lnTo>
                    <a:pt x="688551" y="146050"/>
                  </a:lnTo>
                  <a:lnTo>
                    <a:pt x="654176" y="146050"/>
                  </a:lnTo>
                  <a:lnTo>
                    <a:pt x="649858" y="138430"/>
                  </a:lnTo>
                  <a:lnTo>
                    <a:pt x="648462" y="133350"/>
                  </a:lnTo>
                  <a:lnTo>
                    <a:pt x="649732" y="127000"/>
                  </a:lnTo>
                  <a:lnTo>
                    <a:pt x="651128" y="121920"/>
                  </a:lnTo>
                  <a:lnTo>
                    <a:pt x="654557" y="116840"/>
                  </a:lnTo>
                  <a:lnTo>
                    <a:pt x="660019" y="113030"/>
                  </a:lnTo>
                  <a:lnTo>
                    <a:pt x="665861" y="107950"/>
                  </a:lnTo>
                  <a:lnTo>
                    <a:pt x="671321" y="106680"/>
                  </a:lnTo>
                  <a:lnTo>
                    <a:pt x="727138" y="106680"/>
                  </a:lnTo>
                  <a:lnTo>
                    <a:pt x="724281" y="102870"/>
                  </a:lnTo>
                  <a:lnTo>
                    <a:pt x="716327" y="93980"/>
                  </a:lnTo>
                  <a:lnTo>
                    <a:pt x="707898" y="86360"/>
                  </a:lnTo>
                  <a:lnTo>
                    <a:pt x="698992" y="82550"/>
                  </a:lnTo>
                  <a:lnTo>
                    <a:pt x="689609" y="80010"/>
                  </a:lnTo>
                  <a:close/>
                </a:path>
                <a:path w="837564" h="661670">
                  <a:moveTo>
                    <a:pt x="738758" y="125730"/>
                  </a:moveTo>
                  <a:lnTo>
                    <a:pt x="735583" y="128270"/>
                  </a:lnTo>
                  <a:lnTo>
                    <a:pt x="734187" y="133350"/>
                  </a:lnTo>
                  <a:lnTo>
                    <a:pt x="731519" y="138430"/>
                  </a:lnTo>
                  <a:lnTo>
                    <a:pt x="699055" y="168910"/>
                  </a:lnTo>
                  <a:lnTo>
                    <a:pt x="692826" y="171450"/>
                  </a:lnTo>
                  <a:lnTo>
                    <a:pt x="738568" y="171450"/>
                  </a:lnTo>
                  <a:lnTo>
                    <a:pt x="747013" y="162560"/>
                  </a:lnTo>
                  <a:lnTo>
                    <a:pt x="751586" y="156210"/>
                  </a:lnTo>
                  <a:lnTo>
                    <a:pt x="756031" y="148590"/>
                  </a:lnTo>
                  <a:lnTo>
                    <a:pt x="738758" y="125730"/>
                  </a:lnTo>
                  <a:close/>
                </a:path>
                <a:path w="837564" h="661670">
                  <a:moveTo>
                    <a:pt x="727138" y="106680"/>
                  </a:moveTo>
                  <a:lnTo>
                    <a:pt x="671321" y="106680"/>
                  </a:lnTo>
                  <a:lnTo>
                    <a:pt x="681482" y="107950"/>
                  </a:lnTo>
                  <a:lnTo>
                    <a:pt x="686307" y="111760"/>
                  </a:lnTo>
                  <a:lnTo>
                    <a:pt x="691007" y="118110"/>
                  </a:lnTo>
                  <a:lnTo>
                    <a:pt x="654176" y="146050"/>
                  </a:lnTo>
                  <a:lnTo>
                    <a:pt x="688551" y="146050"/>
                  </a:lnTo>
                  <a:lnTo>
                    <a:pt x="731901" y="113030"/>
                  </a:lnTo>
                  <a:lnTo>
                    <a:pt x="727138" y="106680"/>
                  </a:lnTo>
                  <a:close/>
                </a:path>
                <a:path w="837564" h="661670">
                  <a:moveTo>
                    <a:pt x="774847" y="66040"/>
                  </a:moveTo>
                  <a:lnTo>
                    <a:pt x="730250" y="66040"/>
                  </a:lnTo>
                  <a:lnTo>
                    <a:pt x="761619" y="107950"/>
                  </a:lnTo>
                  <a:lnTo>
                    <a:pt x="767840" y="115570"/>
                  </a:lnTo>
                  <a:lnTo>
                    <a:pt x="774144" y="120650"/>
                  </a:lnTo>
                  <a:lnTo>
                    <a:pt x="780567" y="123190"/>
                  </a:lnTo>
                  <a:lnTo>
                    <a:pt x="787145" y="124460"/>
                  </a:lnTo>
                  <a:lnTo>
                    <a:pt x="793932" y="124460"/>
                  </a:lnTo>
                  <a:lnTo>
                    <a:pt x="825753" y="105410"/>
                  </a:lnTo>
                  <a:lnTo>
                    <a:pt x="828801" y="102870"/>
                  </a:lnTo>
                  <a:lnTo>
                    <a:pt x="831976" y="99060"/>
                  </a:lnTo>
                  <a:lnTo>
                    <a:pt x="834644" y="96520"/>
                  </a:lnTo>
                  <a:lnTo>
                    <a:pt x="837183" y="92710"/>
                  </a:lnTo>
                  <a:lnTo>
                    <a:pt x="836201" y="91440"/>
                  </a:lnTo>
                  <a:lnTo>
                    <a:pt x="796925" y="91440"/>
                  </a:lnTo>
                  <a:lnTo>
                    <a:pt x="792607" y="88900"/>
                  </a:lnTo>
                  <a:lnTo>
                    <a:pt x="790575" y="86360"/>
                  </a:lnTo>
                  <a:lnTo>
                    <a:pt x="788796" y="83820"/>
                  </a:lnTo>
                  <a:lnTo>
                    <a:pt x="786892" y="82550"/>
                  </a:lnTo>
                  <a:lnTo>
                    <a:pt x="784859" y="78740"/>
                  </a:lnTo>
                  <a:lnTo>
                    <a:pt x="782446" y="76200"/>
                  </a:lnTo>
                  <a:lnTo>
                    <a:pt x="774847" y="66040"/>
                  </a:lnTo>
                  <a:close/>
                </a:path>
                <a:path w="837564" h="661670">
                  <a:moveTo>
                    <a:pt x="822451" y="73660"/>
                  </a:moveTo>
                  <a:lnTo>
                    <a:pt x="820038" y="76200"/>
                  </a:lnTo>
                  <a:lnTo>
                    <a:pt x="819531" y="77470"/>
                  </a:lnTo>
                  <a:lnTo>
                    <a:pt x="818261" y="78740"/>
                  </a:lnTo>
                  <a:lnTo>
                    <a:pt x="814451" y="83820"/>
                  </a:lnTo>
                  <a:lnTo>
                    <a:pt x="812800" y="85090"/>
                  </a:lnTo>
                  <a:lnTo>
                    <a:pt x="811276" y="86360"/>
                  </a:lnTo>
                  <a:lnTo>
                    <a:pt x="807719" y="88900"/>
                  </a:lnTo>
                  <a:lnTo>
                    <a:pt x="804671" y="90170"/>
                  </a:lnTo>
                  <a:lnTo>
                    <a:pt x="802005" y="91440"/>
                  </a:lnTo>
                  <a:lnTo>
                    <a:pt x="836201" y="91440"/>
                  </a:lnTo>
                  <a:lnTo>
                    <a:pt x="822451" y="73660"/>
                  </a:lnTo>
                  <a:close/>
                </a:path>
                <a:path w="837564" h="661670">
                  <a:moveTo>
                    <a:pt x="724788" y="0"/>
                  </a:moveTo>
                  <a:lnTo>
                    <a:pt x="696340" y="21590"/>
                  </a:lnTo>
                  <a:lnTo>
                    <a:pt x="715644" y="46990"/>
                  </a:lnTo>
                  <a:lnTo>
                    <a:pt x="703961" y="55880"/>
                  </a:lnTo>
                  <a:lnTo>
                    <a:pt x="718565" y="74930"/>
                  </a:lnTo>
                  <a:lnTo>
                    <a:pt x="730250" y="66040"/>
                  </a:lnTo>
                  <a:lnTo>
                    <a:pt x="774847" y="66040"/>
                  </a:lnTo>
                  <a:lnTo>
                    <a:pt x="758697" y="44450"/>
                  </a:lnTo>
                  <a:lnTo>
                    <a:pt x="783463" y="25400"/>
                  </a:lnTo>
                  <a:lnTo>
                    <a:pt x="744093" y="25400"/>
                  </a:lnTo>
                  <a:lnTo>
                    <a:pt x="724788" y="0"/>
                  </a:lnTo>
                  <a:close/>
                </a:path>
                <a:path w="837564" h="661670">
                  <a:moveTo>
                    <a:pt x="770508" y="5080"/>
                  </a:moveTo>
                  <a:lnTo>
                    <a:pt x="744093" y="25400"/>
                  </a:lnTo>
                  <a:lnTo>
                    <a:pt x="783463" y="25400"/>
                  </a:lnTo>
                  <a:lnTo>
                    <a:pt x="785113" y="24130"/>
                  </a:lnTo>
                  <a:lnTo>
                    <a:pt x="770508" y="50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142297" y="4212463"/>
              <a:ext cx="154435" cy="194563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3215429" y="3398011"/>
              <a:ext cx="154346" cy="194563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3989832" y="3075432"/>
              <a:ext cx="1744980" cy="1019556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4039361" y="3109722"/>
              <a:ext cx="1639570" cy="910590"/>
            </a:xfrm>
            <a:custGeom>
              <a:avLst/>
              <a:gdLst/>
              <a:ahLst/>
              <a:cxnLst/>
              <a:rect l="l" t="t" r="r" b="b"/>
              <a:pathLst>
                <a:path w="1639570" h="910589">
                  <a:moveTo>
                    <a:pt x="0" y="0"/>
                  </a:moveTo>
                  <a:lnTo>
                    <a:pt x="1639315" y="910335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0" y="752855"/>
              <a:ext cx="9144000" cy="5495925"/>
            </a:xfrm>
            <a:custGeom>
              <a:avLst/>
              <a:gdLst/>
              <a:ahLst/>
              <a:cxnLst/>
              <a:rect l="l" t="t" r="r" b="b"/>
              <a:pathLst>
                <a:path w="9144000" h="5495925">
                  <a:moveTo>
                    <a:pt x="9144000" y="0"/>
                  </a:moveTo>
                  <a:lnTo>
                    <a:pt x="0" y="0"/>
                  </a:lnTo>
                  <a:lnTo>
                    <a:pt x="0" y="5495544"/>
                  </a:lnTo>
                  <a:lnTo>
                    <a:pt x="9144000" y="54955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990600" y="2127503"/>
              <a:ext cx="1786127" cy="178612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876800" y="1063752"/>
              <a:ext cx="4024884" cy="50322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4539996" y="2622804"/>
              <a:ext cx="1069848" cy="12496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696200" y="1510283"/>
              <a:ext cx="1202436" cy="12009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212335" y="2209800"/>
              <a:ext cx="2036064" cy="55778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4192523" y="2182367"/>
              <a:ext cx="1844039" cy="649224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4192523" y="2189988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2001139" y="0"/>
                  </a:moveTo>
                  <a:lnTo>
                    <a:pt x="22733" y="0"/>
                  </a:lnTo>
                  <a:lnTo>
                    <a:pt x="13876" y="1783"/>
                  </a:lnTo>
                  <a:lnTo>
                    <a:pt x="6651" y="6651"/>
                  </a:lnTo>
                  <a:lnTo>
                    <a:pt x="1783" y="13876"/>
                  </a:lnTo>
                  <a:lnTo>
                    <a:pt x="0" y="22733"/>
                  </a:lnTo>
                  <a:lnTo>
                    <a:pt x="0" y="522859"/>
                  </a:lnTo>
                  <a:lnTo>
                    <a:pt x="1783" y="531715"/>
                  </a:lnTo>
                  <a:lnTo>
                    <a:pt x="6651" y="538940"/>
                  </a:lnTo>
                  <a:lnTo>
                    <a:pt x="13876" y="543808"/>
                  </a:lnTo>
                  <a:lnTo>
                    <a:pt x="22733" y="545591"/>
                  </a:lnTo>
                  <a:lnTo>
                    <a:pt x="2001139" y="545591"/>
                  </a:lnTo>
                  <a:lnTo>
                    <a:pt x="2009995" y="543808"/>
                  </a:lnTo>
                  <a:lnTo>
                    <a:pt x="2017220" y="538940"/>
                  </a:lnTo>
                  <a:lnTo>
                    <a:pt x="2022088" y="531715"/>
                  </a:lnTo>
                  <a:lnTo>
                    <a:pt x="2023872" y="522859"/>
                  </a:lnTo>
                  <a:lnTo>
                    <a:pt x="2023872" y="22733"/>
                  </a:lnTo>
                  <a:lnTo>
                    <a:pt x="2022088" y="13876"/>
                  </a:lnTo>
                  <a:lnTo>
                    <a:pt x="2017220" y="6651"/>
                  </a:lnTo>
                  <a:lnTo>
                    <a:pt x="2009995" y="1783"/>
                  </a:lnTo>
                  <a:lnTo>
                    <a:pt x="20011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4192523" y="2189988"/>
              <a:ext cx="2024380" cy="546100"/>
            </a:xfrm>
            <a:custGeom>
              <a:avLst/>
              <a:gdLst/>
              <a:ahLst/>
              <a:cxnLst/>
              <a:rect l="l" t="t" r="r" b="b"/>
              <a:pathLst>
                <a:path w="2024379" h="546100">
                  <a:moveTo>
                    <a:pt x="0" y="22733"/>
                  </a:moveTo>
                  <a:lnTo>
                    <a:pt x="1783" y="13876"/>
                  </a:lnTo>
                  <a:lnTo>
                    <a:pt x="6651" y="6651"/>
                  </a:lnTo>
                  <a:lnTo>
                    <a:pt x="13876" y="1783"/>
                  </a:lnTo>
                  <a:lnTo>
                    <a:pt x="22733" y="0"/>
                  </a:lnTo>
                  <a:lnTo>
                    <a:pt x="2001139" y="0"/>
                  </a:lnTo>
                  <a:lnTo>
                    <a:pt x="2009995" y="1783"/>
                  </a:lnTo>
                  <a:lnTo>
                    <a:pt x="2017220" y="6651"/>
                  </a:lnTo>
                  <a:lnTo>
                    <a:pt x="2022088" y="13876"/>
                  </a:lnTo>
                  <a:lnTo>
                    <a:pt x="2023872" y="22733"/>
                  </a:lnTo>
                  <a:lnTo>
                    <a:pt x="2023872" y="522859"/>
                  </a:lnTo>
                  <a:lnTo>
                    <a:pt x="2022088" y="531715"/>
                  </a:lnTo>
                  <a:lnTo>
                    <a:pt x="2017220" y="538940"/>
                  </a:lnTo>
                  <a:lnTo>
                    <a:pt x="2009995" y="543808"/>
                  </a:lnTo>
                  <a:lnTo>
                    <a:pt x="2001139" y="545591"/>
                  </a:lnTo>
                  <a:lnTo>
                    <a:pt x="22733" y="545591"/>
                  </a:lnTo>
                  <a:lnTo>
                    <a:pt x="13876" y="543808"/>
                  </a:lnTo>
                  <a:lnTo>
                    <a:pt x="6651" y="538940"/>
                  </a:lnTo>
                  <a:lnTo>
                    <a:pt x="1783" y="531715"/>
                  </a:lnTo>
                  <a:lnTo>
                    <a:pt x="0" y="522859"/>
                  </a:lnTo>
                  <a:lnTo>
                    <a:pt x="0" y="22733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7" name="object 147"/>
          <p:cNvSpPr txBox="1"/>
          <p:nvPr/>
        </p:nvSpPr>
        <p:spPr>
          <a:xfrm>
            <a:off x="4204034" y="2205354"/>
            <a:ext cx="200088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86995" marR="453390">
              <a:lnSpc>
                <a:spcPts val="1730"/>
              </a:lnSpc>
              <a:spcBef>
                <a:spcPts val="310"/>
              </a:spcBef>
            </a:pPr>
            <a:r>
              <a:rPr sz="1600" b="1" spc="-10" dirty="0">
                <a:latin typeface="Verdana"/>
                <a:cs typeface="Verdana"/>
              </a:rPr>
              <a:t>D</a:t>
            </a:r>
            <a:r>
              <a:rPr sz="1600" b="1" spc="-20" dirty="0">
                <a:latin typeface="Verdana"/>
                <a:cs typeface="Verdana"/>
              </a:rPr>
              <a:t>i</a:t>
            </a:r>
            <a:r>
              <a:rPr sz="1600" b="1" spc="-10" dirty="0">
                <a:latin typeface="Verdana"/>
                <a:cs typeface="Verdana"/>
              </a:rPr>
              <a:t>rectAc</a:t>
            </a:r>
            <a:r>
              <a:rPr sz="1600" b="1" spc="-15" dirty="0">
                <a:latin typeface="Verdana"/>
                <a:cs typeface="Verdana"/>
              </a:rPr>
              <a:t>c</a:t>
            </a:r>
            <a:r>
              <a:rPr sz="1600" b="1" spc="-10" dirty="0">
                <a:latin typeface="Verdana"/>
                <a:cs typeface="Verdana"/>
              </a:rPr>
              <a:t>ess  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7022401" y="796861"/>
            <a:ext cx="2061210" cy="968375"/>
            <a:chOff x="7022401" y="796861"/>
            <a:chExt cx="2061210" cy="968375"/>
          </a:xfrm>
        </p:grpSpPr>
        <p:sp>
          <p:nvSpPr>
            <p:cNvPr id="149" name="object 149"/>
            <p:cNvSpPr/>
            <p:nvPr/>
          </p:nvSpPr>
          <p:spPr>
            <a:xfrm>
              <a:off x="7046976" y="821435"/>
              <a:ext cx="2036064" cy="88392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031736" y="798575"/>
              <a:ext cx="1943100" cy="96621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027164" y="801623"/>
              <a:ext cx="2024380" cy="871855"/>
            </a:xfrm>
            <a:custGeom>
              <a:avLst/>
              <a:gdLst/>
              <a:ahLst/>
              <a:cxnLst/>
              <a:rect l="l" t="t" r="r" b="b"/>
              <a:pathLst>
                <a:path w="2024379" h="871855">
                  <a:moveTo>
                    <a:pt x="1987550" y="0"/>
                  </a:moveTo>
                  <a:lnTo>
                    <a:pt x="36321" y="0"/>
                  </a:lnTo>
                  <a:lnTo>
                    <a:pt x="22181" y="2853"/>
                  </a:lnTo>
                  <a:lnTo>
                    <a:pt x="10636" y="10636"/>
                  </a:lnTo>
                  <a:lnTo>
                    <a:pt x="2853" y="22181"/>
                  </a:lnTo>
                  <a:lnTo>
                    <a:pt x="0" y="36322"/>
                  </a:lnTo>
                  <a:lnTo>
                    <a:pt x="0" y="835405"/>
                  </a:lnTo>
                  <a:lnTo>
                    <a:pt x="2853" y="849546"/>
                  </a:lnTo>
                  <a:lnTo>
                    <a:pt x="10636" y="861091"/>
                  </a:lnTo>
                  <a:lnTo>
                    <a:pt x="22181" y="868874"/>
                  </a:lnTo>
                  <a:lnTo>
                    <a:pt x="36321" y="871727"/>
                  </a:lnTo>
                  <a:lnTo>
                    <a:pt x="1987550" y="871727"/>
                  </a:lnTo>
                  <a:lnTo>
                    <a:pt x="2001690" y="868874"/>
                  </a:lnTo>
                  <a:lnTo>
                    <a:pt x="2013235" y="861091"/>
                  </a:lnTo>
                  <a:lnTo>
                    <a:pt x="2021018" y="849546"/>
                  </a:lnTo>
                  <a:lnTo>
                    <a:pt x="2023871" y="835405"/>
                  </a:lnTo>
                  <a:lnTo>
                    <a:pt x="2023871" y="36322"/>
                  </a:lnTo>
                  <a:lnTo>
                    <a:pt x="2021018" y="22181"/>
                  </a:lnTo>
                  <a:lnTo>
                    <a:pt x="2013235" y="10636"/>
                  </a:lnTo>
                  <a:lnTo>
                    <a:pt x="2001690" y="2853"/>
                  </a:lnTo>
                  <a:lnTo>
                    <a:pt x="1987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027164" y="801623"/>
              <a:ext cx="2024380" cy="871855"/>
            </a:xfrm>
            <a:custGeom>
              <a:avLst/>
              <a:gdLst/>
              <a:ahLst/>
              <a:cxnLst/>
              <a:rect l="l" t="t" r="r" b="b"/>
              <a:pathLst>
                <a:path w="2024379" h="871855">
                  <a:moveTo>
                    <a:pt x="0" y="36322"/>
                  </a:moveTo>
                  <a:lnTo>
                    <a:pt x="2853" y="22181"/>
                  </a:lnTo>
                  <a:lnTo>
                    <a:pt x="10636" y="10636"/>
                  </a:lnTo>
                  <a:lnTo>
                    <a:pt x="22181" y="2853"/>
                  </a:lnTo>
                  <a:lnTo>
                    <a:pt x="36321" y="0"/>
                  </a:lnTo>
                  <a:lnTo>
                    <a:pt x="1987550" y="0"/>
                  </a:lnTo>
                  <a:lnTo>
                    <a:pt x="2001690" y="2853"/>
                  </a:lnTo>
                  <a:lnTo>
                    <a:pt x="2013235" y="10636"/>
                  </a:lnTo>
                  <a:lnTo>
                    <a:pt x="2021018" y="22181"/>
                  </a:lnTo>
                  <a:lnTo>
                    <a:pt x="2023871" y="36322"/>
                  </a:lnTo>
                  <a:lnTo>
                    <a:pt x="2023871" y="835405"/>
                  </a:lnTo>
                  <a:lnTo>
                    <a:pt x="2021018" y="849546"/>
                  </a:lnTo>
                  <a:lnTo>
                    <a:pt x="2013235" y="861091"/>
                  </a:lnTo>
                  <a:lnTo>
                    <a:pt x="2001690" y="868874"/>
                  </a:lnTo>
                  <a:lnTo>
                    <a:pt x="1987550" y="871727"/>
                  </a:lnTo>
                  <a:lnTo>
                    <a:pt x="36321" y="871727"/>
                  </a:lnTo>
                  <a:lnTo>
                    <a:pt x="22181" y="868874"/>
                  </a:lnTo>
                  <a:lnTo>
                    <a:pt x="10636" y="861091"/>
                  </a:lnTo>
                  <a:lnTo>
                    <a:pt x="2853" y="849546"/>
                  </a:lnTo>
                  <a:lnTo>
                    <a:pt x="0" y="835405"/>
                  </a:lnTo>
                  <a:lnTo>
                    <a:pt x="0" y="36322"/>
                  </a:lnTo>
                  <a:close/>
                </a:path>
              </a:pathLst>
            </a:custGeom>
            <a:ln w="914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3" name="object 153"/>
          <p:cNvSpPr txBox="1"/>
          <p:nvPr/>
        </p:nvSpPr>
        <p:spPr>
          <a:xfrm>
            <a:off x="7037054" y="820877"/>
            <a:ext cx="2004695" cy="805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">
              <a:lnSpc>
                <a:spcPts val="1825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AD DS</a:t>
            </a:r>
            <a:r>
              <a:rPr sz="1600" b="1" spc="-3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domain</a:t>
            </a:r>
            <a:endParaRPr sz="1600">
              <a:latin typeface="Verdana"/>
              <a:cs typeface="Verdana"/>
            </a:endParaRPr>
          </a:p>
          <a:p>
            <a:pPr marL="93345">
              <a:lnSpc>
                <a:spcPts val="1825"/>
              </a:lnSpc>
            </a:pPr>
            <a:r>
              <a:rPr sz="1600" b="1" spc="-10" dirty="0">
                <a:latin typeface="Verdana"/>
                <a:cs typeface="Verdana"/>
              </a:rPr>
              <a:t>controller</a:t>
            </a:r>
            <a:endParaRPr sz="1600">
              <a:latin typeface="Verdana"/>
              <a:cs typeface="Verdana"/>
            </a:endParaRPr>
          </a:p>
          <a:p>
            <a:pPr marL="93345">
              <a:lnSpc>
                <a:spcPct val="100000"/>
              </a:lnSpc>
              <a:spcBef>
                <a:spcPts val="580"/>
              </a:spcBef>
            </a:pPr>
            <a:r>
              <a:rPr sz="1600" b="1" spc="-10" dirty="0">
                <a:latin typeface="Verdana"/>
                <a:cs typeface="Verdana"/>
              </a:rPr>
              <a:t>DNS</a:t>
            </a:r>
            <a:r>
              <a:rPr sz="1600" b="1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77723" y="3741420"/>
            <a:ext cx="1971039" cy="1099185"/>
            <a:chOff x="77723" y="3741420"/>
            <a:chExt cx="1971039" cy="1099185"/>
          </a:xfrm>
        </p:grpSpPr>
        <p:sp>
          <p:nvSpPr>
            <p:cNvPr id="155" name="object 155"/>
            <p:cNvSpPr/>
            <p:nvPr/>
          </p:nvSpPr>
          <p:spPr>
            <a:xfrm>
              <a:off x="838200" y="3742944"/>
              <a:ext cx="1210056" cy="109728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7723" y="3960876"/>
              <a:ext cx="443484" cy="4953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06679" y="3773424"/>
              <a:ext cx="1050036" cy="33223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85343" y="3741420"/>
              <a:ext cx="1050036" cy="429768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86867" y="3753612"/>
              <a:ext cx="1038225" cy="320040"/>
            </a:xfrm>
            <a:custGeom>
              <a:avLst/>
              <a:gdLst/>
              <a:ahLst/>
              <a:cxnLst/>
              <a:rect l="l" t="t" r="r" b="b"/>
              <a:pathLst>
                <a:path w="1038225" h="320039">
                  <a:moveTo>
                    <a:pt x="1031875" y="0"/>
                  </a:moveTo>
                  <a:lnTo>
                    <a:pt x="5970" y="0"/>
                  </a:lnTo>
                  <a:lnTo>
                    <a:pt x="0" y="5968"/>
                  </a:lnTo>
                  <a:lnTo>
                    <a:pt x="0" y="314070"/>
                  </a:lnTo>
                  <a:lnTo>
                    <a:pt x="5970" y="320039"/>
                  </a:lnTo>
                  <a:lnTo>
                    <a:pt x="1031875" y="320039"/>
                  </a:lnTo>
                  <a:lnTo>
                    <a:pt x="1037844" y="314070"/>
                  </a:lnTo>
                  <a:lnTo>
                    <a:pt x="1037844" y="59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 txBox="1"/>
          <p:nvPr/>
        </p:nvSpPr>
        <p:spPr>
          <a:xfrm>
            <a:off x="86868" y="3753611"/>
            <a:ext cx="1038225" cy="320040"/>
          </a:xfrm>
          <a:prstGeom prst="rect">
            <a:avLst/>
          </a:prstGeom>
          <a:ln w="17906">
            <a:solidFill>
              <a:srgbClr val="4D4D4D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90"/>
              </a:spcBef>
            </a:pPr>
            <a:r>
              <a:rPr sz="1600" b="1" spc="-10" dirty="0">
                <a:latin typeface="Verdana"/>
                <a:cs typeface="Verdana"/>
              </a:rPr>
              <a:t>Consec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61" name="object 161"/>
          <p:cNvGrpSpPr/>
          <p:nvPr/>
        </p:nvGrpSpPr>
        <p:grpSpPr>
          <a:xfrm>
            <a:off x="589787" y="4149852"/>
            <a:ext cx="873760" cy="715010"/>
            <a:chOff x="589787" y="4149852"/>
            <a:chExt cx="873760" cy="715010"/>
          </a:xfrm>
        </p:grpSpPr>
        <p:sp>
          <p:nvSpPr>
            <p:cNvPr id="162" name="object 162"/>
            <p:cNvSpPr/>
            <p:nvPr/>
          </p:nvSpPr>
          <p:spPr>
            <a:xfrm>
              <a:off x="589787" y="4369308"/>
              <a:ext cx="505968" cy="4953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621791" y="4180332"/>
              <a:ext cx="835151" cy="332231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598931" y="4149852"/>
              <a:ext cx="864108" cy="42976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601979" y="4160520"/>
              <a:ext cx="822960" cy="320040"/>
            </a:xfrm>
            <a:custGeom>
              <a:avLst/>
              <a:gdLst/>
              <a:ahLst/>
              <a:cxnLst/>
              <a:rect l="l" t="t" r="r" b="b"/>
              <a:pathLst>
                <a:path w="822960" h="320039">
                  <a:moveTo>
                    <a:pt x="816991" y="0"/>
                  </a:moveTo>
                  <a:lnTo>
                    <a:pt x="5968" y="0"/>
                  </a:lnTo>
                  <a:lnTo>
                    <a:pt x="0" y="5968"/>
                  </a:lnTo>
                  <a:lnTo>
                    <a:pt x="0" y="314070"/>
                  </a:lnTo>
                  <a:lnTo>
                    <a:pt x="5968" y="320039"/>
                  </a:lnTo>
                  <a:lnTo>
                    <a:pt x="816991" y="320039"/>
                  </a:lnTo>
                  <a:lnTo>
                    <a:pt x="822960" y="314070"/>
                  </a:lnTo>
                  <a:lnTo>
                    <a:pt x="822960" y="59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" name="object 166"/>
          <p:cNvSpPr txBox="1"/>
          <p:nvPr/>
        </p:nvSpPr>
        <p:spPr>
          <a:xfrm>
            <a:off x="601980" y="4160520"/>
            <a:ext cx="822960" cy="320040"/>
          </a:xfrm>
          <a:prstGeom prst="rect">
            <a:avLst/>
          </a:prstGeom>
          <a:ln w="17906">
            <a:solidFill>
              <a:srgbClr val="4D4D4D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95"/>
              </a:spcBef>
            </a:pPr>
            <a:r>
              <a:rPr sz="1600" b="1" spc="-5" dirty="0">
                <a:latin typeface="Verdana"/>
                <a:cs typeface="Verdana"/>
              </a:rPr>
              <a:t>NRPT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749808" y="4876800"/>
            <a:ext cx="2059305" cy="429895"/>
            <a:chOff x="749808" y="4876800"/>
            <a:chExt cx="2059305" cy="429895"/>
          </a:xfrm>
        </p:grpSpPr>
        <p:sp>
          <p:nvSpPr>
            <p:cNvPr id="168" name="object 168"/>
            <p:cNvSpPr/>
            <p:nvPr/>
          </p:nvSpPr>
          <p:spPr>
            <a:xfrm>
              <a:off x="772668" y="4907280"/>
              <a:ext cx="2036064" cy="33223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49808" y="4876800"/>
              <a:ext cx="2019300" cy="42976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52856" y="4887467"/>
              <a:ext cx="2024380" cy="320040"/>
            </a:xfrm>
            <a:custGeom>
              <a:avLst/>
              <a:gdLst/>
              <a:ahLst/>
              <a:cxnLst/>
              <a:rect l="l" t="t" r="r" b="b"/>
              <a:pathLst>
                <a:path w="2024380" h="320039">
                  <a:moveTo>
                    <a:pt x="2017902" y="0"/>
                  </a:moveTo>
                  <a:lnTo>
                    <a:pt x="5968" y="0"/>
                  </a:lnTo>
                  <a:lnTo>
                    <a:pt x="0" y="5968"/>
                  </a:lnTo>
                  <a:lnTo>
                    <a:pt x="0" y="314070"/>
                  </a:lnTo>
                  <a:lnTo>
                    <a:pt x="5968" y="320039"/>
                  </a:lnTo>
                  <a:lnTo>
                    <a:pt x="2017902" y="320039"/>
                  </a:lnTo>
                  <a:lnTo>
                    <a:pt x="2023871" y="314070"/>
                  </a:lnTo>
                  <a:lnTo>
                    <a:pt x="2023871" y="59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1" name="object 171"/>
          <p:cNvSpPr txBox="1"/>
          <p:nvPr/>
        </p:nvSpPr>
        <p:spPr>
          <a:xfrm>
            <a:off x="752855" y="4887467"/>
            <a:ext cx="2024380" cy="320040"/>
          </a:xfrm>
          <a:prstGeom prst="rect">
            <a:avLst/>
          </a:prstGeom>
          <a:ln w="17906">
            <a:solidFill>
              <a:srgbClr val="4D4D4D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95"/>
              </a:spcBef>
            </a:pPr>
            <a:r>
              <a:rPr sz="1600" b="1" spc="-10" dirty="0">
                <a:latin typeface="Verdana"/>
                <a:cs typeface="Verdana"/>
              </a:rPr>
              <a:t>External</a:t>
            </a:r>
            <a:r>
              <a:rPr sz="1600" b="1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1883664" y="1677923"/>
            <a:ext cx="2059305" cy="1373505"/>
            <a:chOff x="1883664" y="1677923"/>
            <a:chExt cx="2059305" cy="1373505"/>
          </a:xfrm>
        </p:grpSpPr>
        <p:sp>
          <p:nvSpPr>
            <p:cNvPr id="173" name="object 173"/>
            <p:cNvSpPr/>
            <p:nvPr/>
          </p:nvSpPr>
          <p:spPr>
            <a:xfrm>
              <a:off x="2403348" y="1848611"/>
              <a:ext cx="1200912" cy="120243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906524" y="1708403"/>
              <a:ext cx="2036064" cy="332232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883664" y="1677923"/>
              <a:ext cx="1522476" cy="429767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1886712" y="1688591"/>
              <a:ext cx="2024380" cy="320040"/>
            </a:xfrm>
            <a:custGeom>
              <a:avLst/>
              <a:gdLst/>
              <a:ahLst/>
              <a:cxnLst/>
              <a:rect l="l" t="t" r="r" b="b"/>
              <a:pathLst>
                <a:path w="2024379" h="320039">
                  <a:moveTo>
                    <a:pt x="2017902" y="0"/>
                  </a:moveTo>
                  <a:lnTo>
                    <a:pt x="5968" y="0"/>
                  </a:lnTo>
                  <a:lnTo>
                    <a:pt x="0" y="5969"/>
                  </a:lnTo>
                  <a:lnTo>
                    <a:pt x="0" y="314071"/>
                  </a:lnTo>
                  <a:lnTo>
                    <a:pt x="5968" y="320040"/>
                  </a:lnTo>
                  <a:lnTo>
                    <a:pt x="2017902" y="320040"/>
                  </a:lnTo>
                  <a:lnTo>
                    <a:pt x="2023872" y="314071"/>
                  </a:lnTo>
                  <a:lnTo>
                    <a:pt x="2023872" y="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7" name="object 177"/>
          <p:cNvSpPr txBox="1"/>
          <p:nvPr/>
        </p:nvSpPr>
        <p:spPr>
          <a:xfrm>
            <a:off x="1886711" y="1688592"/>
            <a:ext cx="2024380" cy="320040"/>
          </a:xfrm>
          <a:prstGeom prst="rect">
            <a:avLst/>
          </a:prstGeom>
          <a:ln w="17907">
            <a:solidFill>
              <a:srgbClr val="4D4D4D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90"/>
              </a:spcBef>
            </a:pPr>
            <a:r>
              <a:rPr sz="1600" b="1" spc="-10" dirty="0">
                <a:latin typeface="Verdana"/>
                <a:cs typeface="Verdana"/>
              </a:rPr>
              <a:t>DNS</a:t>
            </a:r>
            <a:r>
              <a:rPr sz="1600" b="1" spc="-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78" name="object 178"/>
          <p:cNvGrpSpPr/>
          <p:nvPr/>
        </p:nvGrpSpPr>
        <p:grpSpPr>
          <a:xfrm>
            <a:off x="6202489" y="3727703"/>
            <a:ext cx="2071370" cy="2106295"/>
            <a:chOff x="6202489" y="3727703"/>
            <a:chExt cx="2071370" cy="2106295"/>
          </a:xfrm>
        </p:grpSpPr>
        <p:sp>
          <p:nvSpPr>
            <p:cNvPr id="179" name="object 179"/>
            <p:cNvSpPr/>
            <p:nvPr/>
          </p:nvSpPr>
          <p:spPr>
            <a:xfrm>
              <a:off x="7219188" y="3904487"/>
              <a:ext cx="1054607" cy="1097280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6679692" y="3727703"/>
              <a:ext cx="1146048" cy="117652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6227064" y="4989575"/>
              <a:ext cx="2036064" cy="783336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6210300" y="4965191"/>
              <a:ext cx="1359407" cy="868680"/>
            </a:xfrm>
            <a:prstGeom prst="rect">
              <a:avLst/>
            </a:prstGeom>
            <a:blipFill>
              <a:blip r:embed="rId3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6207252" y="4969763"/>
              <a:ext cx="2024380" cy="771525"/>
            </a:xfrm>
            <a:custGeom>
              <a:avLst/>
              <a:gdLst/>
              <a:ahLst/>
              <a:cxnLst/>
              <a:rect l="l" t="t" r="r" b="b"/>
              <a:pathLst>
                <a:path w="2024379" h="771525">
                  <a:moveTo>
                    <a:pt x="1991741" y="0"/>
                  </a:moveTo>
                  <a:lnTo>
                    <a:pt x="32131" y="0"/>
                  </a:lnTo>
                  <a:lnTo>
                    <a:pt x="19609" y="2520"/>
                  </a:lnTo>
                  <a:lnTo>
                    <a:pt x="9398" y="9398"/>
                  </a:lnTo>
                  <a:lnTo>
                    <a:pt x="2520" y="19609"/>
                  </a:lnTo>
                  <a:lnTo>
                    <a:pt x="0" y="32131"/>
                  </a:lnTo>
                  <a:lnTo>
                    <a:pt x="0" y="739013"/>
                  </a:lnTo>
                  <a:lnTo>
                    <a:pt x="2520" y="751518"/>
                  </a:lnTo>
                  <a:lnTo>
                    <a:pt x="9398" y="761731"/>
                  </a:lnTo>
                  <a:lnTo>
                    <a:pt x="19609" y="768618"/>
                  </a:lnTo>
                  <a:lnTo>
                    <a:pt x="32131" y="771144"/>
                  </a:lnTo>
                  <a:lnTo>
                    <a:pt x="1991741" y="771144"/>
                  </a:lnTo>
                  <a:lnTo>
                    <a:pt x="2004262" y="768618"/>
                  </a:lnTo>
                  <a:lnTo>
                    <a:pt x="2014474" y="761731"/>
                  </a:lnTo>
                  <a:lnTo>
                    <a:pt x="2021351" y="751518"/>
                  </a:lnTo>
                  <a:lnTo>
                    <a:pt x="2023872" y="739013"/>
                  </a:lnTo>
                  <a:lnTo>
                    <a:pt x="2023872" y="32131"/>
                  </a:lnTo>
                  <a:lnTo>
                    <a:pt x="2021351" y="19609"/>
                  </a:lnTo>
                  <a:lnTo>
                    <a:pt x="2014474" y="9398"/>
                  </a:lnTo>
                  <a:lnTo>
                    <a:pt x="2004262" y="2520"/>
                  </a:lnTo>
                  <a:lnTo>
                    <a:pt x="19917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6207252" y="4969763"/>
              <a:ext cx="2024380" cy="771525"/>
            </a:xfrm>
            <a:custGeom>
              <a:avLst/>
              <a:gdLst/>
              <a:ahLst/>
              <a:cxnLst/>
              <a:rect l="l" t="t" r="r" b="b"/>
              <a:pathLst>
                <a:path w="2024379" h="771525">
                  <a:moveTo>
                    <a:pt x="0" y="32131"/>
                  </a:moveTo>
                  <a:lnTo>
                    <a:pt x="2520" y="19609"/>
                  </a:lnTo>
                  <a:lnTo>
                    <a:pt x="9398" y="9398"/>
                  </a:lnTo>
                  <a:lnTo>
                    <a:pt x="19609" y="2520"/>
                  </a:lnTo>
                  <a:lnTo>
                    <a:pt x="32131" y="0"/>
                  </a:lnTo>
                  <a:lnTo>
                    <a:pt x="1991741" y="0"/>
                  </a:lnTo>
                  <a:lnTo>
                    <a:pt x="2004262" y="2520"/>
                  </a:lnTo>
                  <a:lnTo>
                    <a:pt x="2014474" y="9398"/>
                  </a:lnTo>
                  <a:lnTo>
                    <a:pt x="2021351" y="19609"/>
                  </a:lnTo>
                  <a:lnTo>
                    <a:pt x="2023872" y="32131"/>
                  </a:lnTo>
                  <a:lnTo>
                    <a:pt x="2023872" y="739013"/>
                  </a:lnTo>
                  <a:lnTo>
                    <a:pt x="2021351" y="751518"/>
                  </a:lnTo>
                  <a:lnTo>
                    <a:pt x="2014474" y="761731"/>
                  </a:lnTo>
                  <a:lnTo>
                    <a:pt x="2004262" y="768618"/>
                  </a:lnTo>
                  <a:lnTo>
                    <a:pt x="1991741" y="771144"/>
                  </a:lnTo>
                  <a:lnTo>
                    <a:pt x="32131" y="771144"/>
                  </a:lnTo>
                  <a:lnTo>
                    <a:pt x="19609" y="768618"/>
                  </a:lnTo>
                  <a:lnTo>
                    <a:pt x="9398" y="761731"/>
                  </a:lnTo>
                  <a:lnTo>
                    <a:pt x="2520" y="751518"/>
                  </a:lnTo>
                  <a:lnTo>
                    <a:pt x="0" y="739013"/>
                  </a:lnTo>
                  <a:lnTo>
                    <a:pt x="0" y="32131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5" name="object 185"/>
          <p:cNvSpPr txBox="1"/>
          <p:nvPr/>
        </p:nvSpPr>
        <p:spPr>
          <a:xfrm>
            <a:off x="6296405" y="4988814"/>
            <a:ext cx="1137920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b="1" spc="-5" dirty="0">
                <a:latin typeface="Verdana"/>
                <a:cs typeface="Verdana"/>
              </a:rPr>
              <a:t>Internal  </a:t>
            </a:r>
            <a:r>
              <a:rPr sz="1600" b="1" spc="-10" dirty="0">
                <a:latin typeface="Verdana"/>
                <a:cs typeface="Verdana"/>
              </a:rPr>
              <a:t>network  resourc</a:t>
            </a:r>
            <a:r>
              <a:rPr sz="1600" b="1" spc="-15" dirty="0">
                <a:latin typeface="Verdana"/>
                <a:cs typeface="Verdana"/>
              </a:rPr>
              <a:t>e</a:t>
            </a:r>
            <a:r>
              <a:rPr sz="1600" b="1" spc="-5" dirty="0">
                <a:latin typeface="Verdana"/>
                <a:cs typeface="Verdana"/>
              </a:rPr>
              <a:t>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94488" y="1246632"/>
            <a:ext cx="2430780" cy="1504315"/>
            <a:chOff x="94488" y="1246632"/>
            <a:chExt cx="2430780" cy="1504315"/>
          </a:xfrm>
        </p:grpSpPr>
        <p:sp>
          <p:nvSpPr>
            <p:cNvPr id="187" name="object 187"/>
            <p:cNvSpPr/>
            <p:nvPr/>
          </p:nvSpPr>
          <p:spPr>
            <a:xfrm>
              <a:off x="524256" y="1572768"/>
              <a:ext cx="1143000" cy="1178052"/>
            </a:xfrm>
            <a:prstGeom prst="rect">
              <a:avLst/>
            </a:prstGeom>
            <a:blipFill>
              <a:blip r:embed="rId4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17348" y="1277112"/>
              <a:ext cx="2407920" cy="332232"/>
            </a:xfrm>
            <a:prstGeom prst="rect">
              <a:avLst/>
            </a:prstGeom>
            <a:blipFill>
              <a:blip r:embed="rId4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94488" y="1246632"/>
              <a:ext cx="2282952" cy="429768"/>
            </a:xfrm>
            <a:prstGeom prst="rect">
              <a:avLst/>
            </a:prstGeom>
            <a:blipFill>
              <a:blip r:embed="rId4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97536" y="1257300"/>
              <a:ext cx="2395855" cy="320040"/>
            </a:xfrm>
            <a:custGeom>
              <a:avLst/>
              <a:gdLst/>
              <a:ahLst/>
              <a:cxnLst/>
              <a:rect l="l" t="t" r="r" b="b"/>
              <a:pathLst>
                <a:path w="2395855" h="320040">
                  <a:moveTo>
                    <a:pt x="2389759" y="0"/>
                  </a:moveTo>
                  <a:lnTo>
                    <a:pt x="5970" y="0"/>
                  </a:lnTo>
                  <a:lnTo>
                    <a:pt x="0" y="5969"/>
                  </a:lnTo>
                  <a:lnTo>
                    <a:pt x="0" y="314071"/>
                  </a:lnTo>
                  <a:lnTo>
                    <a:pt x="5970" y="320039"/>
                  </a:lnTo>
                  <a:lnTo>
                    <a:pt x="2389759" y="320039"/>
                  </a:lnTo>
                  <a:lnTo>
                    <a:pt x="2395728" y="314071"/>
                  </a:lnTo>
                  <a:lnTo>
                    <a:pt x="2395728" y="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1" name="object 191"/>
          <p:cNvSpPr txBox="1"/>
          <p:nvPr/>
        </p:nvSpPr>
        <p:spPr>
          <a:xfrm>
            <a:off x="97535" y="1257300"/>
            <a:ext cx="2395855" cy="320040"/>
          </a:xfrm>
          <a:prstGeom prst="rect">
            <a:avLst/>
          </a:prstGeom>
          <a:ln w="17906">
            <a:solidFill>
              <a:srgbClr val="4D4D4D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85"/>
              </a:spcBef>
            </a:pPr>
            <a:r>
              <a:rPr sz="1600" b="1" spc="-5" dirty="0">
                <a:latin typeface="Verdana"/>
                <a:cs typeface="Verdana"/>
              </a:rPr>
              <a:t>Internet </a:t>
            </a:r>
            <a:r>
              <a:rPr sz="1600" b="1" spc="-10" dirty="0">
                <a:latin typeface="Verdana"/>
                <a:cs typeface="Verdana"/>
              </a:rPr>
              <a:t>websites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1138427" y="2485644"/>
            <a:ext cx="594360" cy="1414780"/>
            <a:chOff x="1138427" y="2485644"/>
            <a:chExt cx="594360" cy="1414780"/>
          </a:xfrm>
        </p:grpSpPr>
        <p:sp>
          <p:nvSpPr>
            <p:cNvPr id="193" name="object 193"/>
            <p:cNvSpPr/>
            <p:nvPr/>
          </p:nvSpPr>
          <p:spPr>
            <a:xfrm>
              <a:off x="1138427" y="2485644"/>
              <a:ext cx="594360" cy="1414271"/>
            </a:xfrm>
            <a:prstGeom prst="rect">
              <a:avLst/>
            </a:prstGeom>
            <a:blipFill>
              <a:blip r:embed="rId4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263167" y="2623566"/>
              <a:ext cx="344170" cy="1098550"/>
            </a:xfrm>
            <a:custGeom>
              <a:avLst/>
              <a:gdLst/>
              <a:ahLst/>
              <a:cxnLst/>
              <a:rect l="l" t="t" r="r" b="b"/>
              <a:pathLst>
                <a:path w="344169" h="1098550">
                  <a:moveTo>
                    <a:pt x="237845" y="994664"/>
                  </a:moveTo>
                  <a:lnTo>
                    <a:pt x="232765" y="999744"/>
                  </a:lnTo>
                  <a:lnTo>
                    <a:pt x="227558" y="1004697"/>
                  </a:lnTo>
                  <a:lnTo>
                    <a:pt x="227558" y="1012952"/>
                  </a:lnTo>
                  <a:lnTo>
                    <a:pt x="311124" y="1098042"/>
                  </a:lnTo>
                  <a:lnTo>
                    <a:pt x="317373" y="1076325"/>
                  </a:lnTo>
                  <a:lnTo>
                    <a:pt x="292328" y="1076325"/>
                  </a:lnTo>
                  <a:lnTo>
                    <a:pt x="280595" y="1030008"/>
                  </a:lnTo>
                  <a:lnTo>
                    <a:pt x="250926" y="999744"/>
                  </a:lnTo>
                  <a:lnTo>
                    <a:pt x="245973" y="994791"/>
                  </a:lnTo>
                  <a:lnTo>
                    <a:pt x="237845" y="994664"/>
                  </a:lnTo>
                  <a:close/>
                </a:path>
                <a:path w="344169" h="1098550">
                  <a:moveTo>
                    <a:pt x="280595" y="1030008"/>
                  </a:moveTo>
                  <a:lnTo>
                    <a:pt x="292328" y="1076325"/>
                  </a:lnTo>
                  <a:lnTo>
                    <a:pt x="317347" y="1069975"/>
                  </a:lnTo>
                  <a:lnTo>
                    <a:pt x="317251" y="1069594"/>
                  </a:lnTo>
                  <a:lnTo>
                    <a:pt x="292328" y="1069594"/>
                  </a:lnTo>
                  <a:lnTo>
                    <a:pt x="298472" y="1048246"/>
                  </a:lnTo>
                  <a:lnTo>
                    <a:pt x="280595" y="1030008"/>
                  </a:lnTo>
                  <a:close/>
                </a:path>
                <a:path w="344169" h="1098550">
                  <a:moveTo>
                    <a:pt x="326364" y="972312"/>
                  </a:moveTo>
                  <a:lnTo>
                    <a:pt x="319252" y="976249"/>
                  </a:lnTo>
                  <a:lnTo>
                    <a:pt x="317147" y="983361"/>
                  </a:lnTo>
                  <a:lnTo>
                    <a:pt x="305583" y="1023538"/>
                  </a:lnTo>
                  <a:lnTo>
                    <a:pt x="317347" y="1069975"/>
                  </a:lnTo>
                  <a:lnTo>
                    <a:pt x="292328" y="1076325"/>
                  </a:lnTo>
                  <a:lnTo>
                    <a:pt x="317373" y="1076325"/>
                  </a:lnTo>
                  <a:lnTo>
                    <a:pt x="342112" y="990346"/>
                  </a:lnTo>
                  <a:lnTo>
                    <a:pt x="344144" y="983361"/>
                  </a:lnTo>
                  <a:lnTo>
                    <a:pt x="340207" y="976249"/>
                  </a:lnTo>
                  <a:lnTo>
                    <a:pt x="333222" y="974217"/>
                  </a:lnTo>
                  <a:lnTo>
                    <a:pt x="326364" y="972312"/>
                  </a:lnTo>
                  <a:close/>
                </a:path>
                <a:path w="344169" h="1098550">
                  <a:moveTo>
                    <a:pt x="298472" y="1048246"/>
                  </a:moveTo>
                  <a:lnTo>
                    <a:pt x="292328" y="1069594"/>
                  </a:lnTo>
                  <a:lnTo>
                    <a:pt x="314045" y="1064133"/>
                  </a:lnTo>
                  <a:lnTo>
                    <a:pt x="298472" y="1048246"/>
                  </a:lnTo>
                  <a:close/>
                </a:path>
                <a:path w="344169" h="1098550">
                  <a:moveTo>
                    <a:pt x="305583" y="1023538"/>
                  </a:moveTo>
                  <a:lnTo>
                    <a:pt x="298472" y="1048246"/>
                  </a:lnTo>
                  <a:lnTo>
                    <a:pt x="314045" y="1064133"/>
                  </a:lnTo>
                  <a:lnTo>
                    <a:pt x="292328" y="1069594"/>
                  </a:lnTo>
                  <a:lnTo>
                    <a:pt x="317251" y="1069594"/>
                  </a:lnTo>
                  <a:lnTo>
                    <a:pt x="305583" y="1023538"/>
                  </a:lnTo>
                  <a:close/>
                </a:path>
                <a:path w="344169" h="1098550">
                  <a:moveTo>
                    <a:pt x="45646" y="49795"/>
                  </a:moveTo>
                  <a:lnTo>
                    <a:pt x="38535" y="74503"/>
                  </a:lnTo>
                  <a:lnTo>
                    <a:pt x="280595" y="1030008"/>
                  </a:lnTo>
                  <a:lnTo>
                    <a:pt x="298472" y="1048246"/>
                  </a:lnTo>
                  <a:lnTo>
                    <a:pt x="305583" y="1023538"/>
                  </a:lnTo>
                  <a:lnTo>
                    <a:pt x="63524" y="68033"/>
                  </a:lnTo>
                  <a:lnTo>
                    <a:pt x="45646" y="49795"/>
                  </a:lnTo>
                  <a:close/>
                </a:path>
                <a:path w="344169" h="1098550">
                  <a:moveTo>
                    <a:pt x="32994" y="0"/>
                  </a:moveTo>
                  <a:lnTo>
                    <a:pt x="0" y="114681"/>
                  </a:lnTo>
                  <a:lnTo>
                    <a:pt x="3975" y="121793"/>
                  </a:lnTo>
                  <a:lnTo>
                    <a:pt x="10896" y="123825"/>
                  </a:lnTo>
                  <a:lnTo>
                    <a:pt x="17754" y="125730"/>
                  </a:lnTo>
                  <a:lnTo>
                    <a:pt x="24866" y="121793"/>
                  </a:lnTo>
                  <a:lnTo>
                    <a:pt x="26971" y="114681"/>
                  </a:lnTo>
                  <a:lnTo>
                    <a:pt x="38535" y="74503"/>
                  </a:lnTo>
                  <a:lnTo>
                    <a:pt x="26771" y="28067"/>
                  </a:lnTo>
                  <a:lnTo>
                    <a:pt x="51790" y="21717"/>
                  </a:lnTo>
                  <a:lnTo>
                    <a:pt x="54332" y="21717"/>
                  </a:lnTo>
                  <a:lnTo>
                    <a:pt x="32994" y="0"/>
                  </a:lnTo>
                  <a:close/>
                </a:path>
                <a:path w="344169" h="1098550">
                  <a:moveTo>
                    <a:pt x="54332" y="21717"/>
                  </a:moveTo>
                  <a:lnTo>
                    <a:pt x="51790" y="21717"/>
                  </a:lnTo>
                  <a:lnTo>
                    <a:pt x="63524" y="68033"/>
                  </a:lnTo>
                  <a:lnTo>
                    <a:pt x="93192" y="98298"/>
                  </a:lnTo>
                  <a:lnTo>
                    <a:pt x="98145" y="103250"/>
                  </a:lnTo>
                  <a:lnTo>
                    <a:pt x="106273" y="103378"/>
                  </a:lnTo>
                  <a:lnTo>
                    <a:pt x="111353" y="98298"/>
                  </a:lnTo>
                  <a:lnTo>
                    <a:pt x="116560" y="93345"/>
                  </a:lnTo>
                  <a:lnTo>
                    <a:pt x="116560" y="85089"/>
                  </a:lnTo>
                  <a:lnTo>
                    <a:pt x="54332" y="21717"/>
                  </a:lnTo>
                  <a:close/>
                </a:path>
                <a:path w="344169" h="1098550">
                  <a:moveTo>
                    <a:pt x="51790" y="21717"/>
                  </a:moveTo>
                  <a:lnTo>
                    <a:pt x="26771" y="28067"/>
                  </a:lnTo>
                  <a:lnTo>
                    <a:pt x="38535" y="74503"/>
                  </a:lnTo>
                  <a:lnTo>
                    <a:pt x="45646" y="49795"/>
                  </a:lnTo>
                  <a:lnTo>
                    <a:pt x="30073" y="33909"/>
                  </a:lnTo>
                  <a:lnTo>
                    <a:pt x="51790" y="28448"/>
                  </a:lnTo>
                  <a:lnTo>
                    <a:pt x="53495" y="28448"/>
                  </a:lnTo>
                  <a:lnTo>
                    <a:pt x="51790" y="21717"/>
                  </a:lnTo>
                  <a:close/>
                </a:path>
                <a:path w="344169" h="1098550">
                  <a:moveTo>
                    <a:pt x="53495" y="28448"/>
                  </a:moveTo>
                  <a:lnTo>
                    <a:pt x="51790" y="28448"/>
                  </a:lnTo>
                  <a:lnTo>
                    <a:pt x="45646" y="49795"/>
                  </a:lnTo>
                  <a:lnTo>
                    <a:pt x="63524" y="68033"/>
                  </a:lnTo>
                  <a:lnTo>
                    <a:pt x="53495" y="28448"/>
                  </a:lnTo>
                  <a:close/>
                </a:path>
                <a:path w="344169" h="1098550">
                  <a:moveTo>
                    <a:pt x="51790" y="28448"/>
                  </a:moveTo>
                  <a:lnTo>
                    <a:pt x="30073" y="33909"/>
                  </a:lnTo>
                  <a:lnTo>
                    <a:pt x="45646" y="49795"/>
                  </a:lnTo>
                  <a:lnTo>
                    <a:pt x="51790" y="284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5" name="object 195"/>
          <p:cNvGrpSpPr/>
          <p:nvPr/>
        </p:nvGrpSpPr>
        <p:grpSpPr>
          <a:xfrm>
            <a:off x="1853183" y="2883407"/>
            <a:ext cx="2710180" cy="1682114"/>
            <a:chOff x="1853183" y="2883407"/>
            <a:chExt cx="2710180" cy="1682114"/>
          </a:xfrm>
        </p:grpSpPr>
        <p:sp>
          <p:nvSpPr>
            <p:cNvPr id="196" name="object 196"/>
            <p:cNvSpPr/>
            <p:nvPr/>
          </p:nvSpPr>
          <p:spPr>
            <a:xfrm>
              <a:off x="1853183" y="2883407"/>
              <a:ext cx="896112" cy="1086612"/>
            </a:xfrm>
            <a:prstGeom prst="rect">
              <a:avLst/>
            </a:prstGeom>
            <a:blipFill>
              <a:blip r:embed="rId4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2010917" y="3021329"/>
              <a:ext cx="581025" cy="770890"/>
            </a:xfrm>
            <a:custGeom>
              <a:avLst/>
              <a:gdLst/>
              <a:ahLst/>
              <a:cxnLst/>
              <a:rect l="l" t="t" r="r" b="b"/>
              <a:pathLst>
                <a:path w="581025" h="770889">
                  <a:moveTo>
                    <a:pt x="20446" y="647065"/>
                  </a:moveTo>
                  <a:lnTo>
                    <a:pt x="13969" y="652145"/>
                  </a:lnTo>
                  <a:lnTo>
                    <a:pt x="13081" y="659257"/>
                  </a:lnTo>
                  <a:lnTo>
                    <a:pt x="0" y="770636"/>
                  </a:lnTo>
                  <a:lnTo>
                    <a:pt x="30227" y="757936"/>
                  </a:lnTo>
                  <a:lnTo>
                    <a:pt x="25781" y="757936"/>
                  </a:lnTo>
                  <a:lnTo>
                    <a:pt x="5080" y="742315"/>
                  </a:lnTo>
                  <a:lnTo>
                    <a:pt x="33937" y="704018"/>
                  </a:lnTo>
                  <a:lnTo>
                    <a:pt x="38862" y="662305"/>
                  </a:lnTo>
                  <a:lnTo>
                    <a:pt x="39750" y="655193"/>
                  </a:lnTo>
                  <a:lnTo>
                    <a:pt x="34670" y="648716"/>
                  </a:lnTo>
                  <a:lnTo>
                    <a:pt x="27558" y="647827"/>
                  </a:lnTo>
                  <a:lnTo>
                    <a:pt x="20446" y="647065"/>
                  </a:lnTo>
                  <a:close/>
                </a:path>
                <a:path w="581025" h="770889">
                  <a:moveTo>
                    <a:pt x="33937" y="704018"/>
                  </a:moveTo>
                  <a:lnTo>
                    <a:pt x="5080" y="742315"/>
                  </a:lnTo>
                  <a:lnTo>
                    <a:pt x="25781" y="757936"/>
                  </a:lnTo>
                  <a:lnTo>
                    <a:pt x="30564" y="751586"/>
                  </a:lnTo>
                  <a:lnTo>
                    <a:pt x="28320" y="751586"/>
                  </a:lnTo>
                  <a:lnTo>
                    <a:pt x="10413" y="738124"/>
                  </a:lnTo>
                  <a:lnTo>
                    <a:pt x="30926" y="729516"/>
                  </a:lnTo>
                  <a:lnTo>
                    <a:pt x="33937" y="704018"/>
                  </a:lnTo>
                  <a:close/>
                </a:path>
                <a:path w="581025" h="770889">
                  <a:moveTo>
                    <a:pt x="99949" y="700659"/>
                  </a:moveTo>
                  <a:lnTo>
                    <a:pt x="93344" y="703326"/>
                  </a:lnTo>
                  <a:lnTo>
                    <a:pt x="54708" y="719538"/>
                  </a:lnTo>
                  <a:lnTo>
                    <a:pt x="25781" y="757936"/>
                  </a:lnTo>
                  <a:lnTo>
                    <a:pt x="30227" y="757936"/>
                  </a:lnTo>
                  <a:lnTo>
                    <a:pt x="103377" y="727202"/>
                  </a:lnTo>
                  <a:lnTo>
                    <a:pt x="109981" y="724535"/>
                  </a:lnTo>
                  <a:lnTo>
                    <a:pt x="113156" y="716915"/>
                  </a:lnTo>
                  <a:lnTo>
                    <a:pt x="107568" y="703707"/>
                  </a:lnTo>
                  <a:lnTo>
                    <a:pt x="99949" y="700659"/>
                  </a:lnTo>
                  <a:close/>
                </a:path>
                <a:path w="581025" h="770889">
                  <a:moveTo>
                    <a:pt x="30926" y="729516"/>
                  </a:moveTo>
                  <a:lnTo>
                    <a:pt x="10413" y="738124"/>
                  </a:lnTo>
                  <a:lnTo>
                    <a:pt x="28320" y="751586"/>
                  </a:lnTo>
                  <a:lnTo>
                    <a:pt x="30926" y="729516"/>
                  </a:lnTo>
                  <a:close/>
                </a:path>
                <a:path w="581025" h="770889">
                  <a:moveTo>
                    <a:pt x="54708" y="719538"/>
                  </a:moveTo>
                  <a:lnTo>
                    <a:pt x="30926" y="729516"/>
                  </a:lnTo>
                  <a:lnTo>
                    <a:pt x="28320" y="751586"/>
                  </a:lnTo>
                  <a:lnTo>
                    <a:pt x="30564" y="751586"/>
                  </a:lnTo>
                  <a:lnTo>
                    <a:pt x="54708" y="719538"/>
                  </a:lnTo>
                  <a:close/>
                </a:path>
                <a:path w="581025" h="770889">
                  <a:moveTo>
                    <a:pt x="549727" y="40934"/>
                  </a:moveTo>
                  <a:lnTo>
                    <a:pt x="526124" y="50838"/>
                  </a:lnTo>
                  <a:lnTo>
                    <a:pt x="33937" y="704018"/>
                  </a:lnTo>
                  <a:lnTo>
                    <a:pt x="30926" y="729516"/>
                  </a:lnTo>
                  <a:lnTo>
                    <a:pt x="54708" y="719538"/>
                  </a:lnTo>
                  <a:lnTo>
                    <a:pt x="546721" y="66438"/>
                  </a:lnTo>
                  <a:lnTo>
                    <a:pt x="549727" y="40934"/>
                  </a:lnTo>
                  <a:close/>
                </a:path>
                <a:path w="581025" h="770889">
                  <a:moveTo>
                    <a:pt x="579137" y="12700"/>
                  </a:moveTo>
                  <a:lnTo>
                    <a:pt x="554863" y="12700"/>
                  </a:lnTo>
                  <a:lnTo>
                    <a:pt x="575437" y="28321"/>
                  </a:lnTo>
                  <a:lnTo>
                    <a:pt x="546721" y="66438"/>
                  </a:lnTo>
                  <a:lnTo>
                    <a:pt x="541782" y="108331"/>
                  </a:lnTo>
                  <a:lnTo>
                    <a:pt x="540893" y="115443"/>
                  </a:lnTo>
                  <a:lnTo>
                    <a:pt x="545973" y="121920"/>
                  </a:lnTo>
                  <a:lnTo>
                    <a:pt x="553084" y="122682"/>
                  </a:lnTo>
                  <a:lnTo>
                    <a:pt x="560196" y="123571"/>
                  </a:lnTo>
                  <a:lnTo>
                    <a:pt x="566674" y="118491"/>
                  </a:lnTo>
                  <a:lnTo>
                    <a:pt x="567436" y="111379"/>
                  </a:lnTo>
                  <a:lnTo>
                    <a:pt x="579137" y="12700"/>
                  </a:lnTo>
                  <a:close/>
                </a:path>
                <a:path w="581025" h="770889">
                  <a:moveTo>
                    <a:pt x="580644" y="0"/>
                  </a:moveTo>
                  <a:lnTo>
                    <a:pt x="470534" y="46100"/>
                  </a:lnTo>
                  <a:lnTo>
                    <a:pt x="467487" y="53721"/>
                  </a:lnTo>
                  <a:lnTo>
                    <a:pt x="470154" y="60325"/>
                  </a:lnTo>
                  <a:lnTo>
                    <a:pt x="472948" y="66929"/>
                  </a:lnTo>
                  <a:lnTo>
                    <a:pt x="480568" y="69977"/>
                  </a:lnTo>
                  <a:lnTo>
                    <a:pt x="526124" y="50838"/>
                  </a:lnTo>
                  <a:lnTo>
                    <a:pt x="554863" y="12700"/>
                  </a:lnTo>
                  <a:lnTo>
                    <a:pt x="579137" y="12700"/>
                  </a:lnTo>
                  <a:lnTo>
                    <a:pt x="580644" y="0"/>
                  </a:lnTo>
                  <a:close/>
                </a:path>
                <a:path w="581025" h="770889">
                  <a:moveTo>
                    <a:pt x="563059" y="18923"/>
                  </a:moveTo>
                  <a:lnTo>
                    <a:pt x="552323" y="18923"/>
                  </a:lnTo>
                  <a:lnTo>
                    <a:pt x="570102" y="32385"/>
                  </a:lnTo>
                  <a:lnTo>
                    <a:pt x="549727" y="40934"/>
                  </a:lnTo>
                  <a:lnTo>
                    <a:pt x="546721" y="66438"/>
                  </a:lnTo>
                  <a:lnTo>
                    <a:pt x="575437" y="28321"/>
                  </a:lnTo>
                  <a:lnTo>
                    <a:pt x="563059" y="18923"/>
                  </a:lnTo>
                  <a:close/>
                </a:path>
                <a:path w="581025" h="770889">
                  <a:moveTo>
                    <a:pt x="554863" y="12700"/>
                  </a:moveTo>
                  <a:lnTo>
                    <a:pt x="526124" y="50838"/>
                  </a:lnTo>
                  <a:lnTo>
                    <a:pt x="549727" y="40934"/>
                  </a:lnTo>
                  <a:lnTo>
                    <a:pt x="552323" y="18923"/>
                  </a:lnTo>
                  <a:lnTo>
                    <a:pt x="563059" y="18923"/>
                  </a:lnTo>
                  <a:lnTo>
                    <a:pt x="554863" y="12700"/>
                  </a:lnTo>
                  <a:close/>
                </a:path>
                <a:path w="581025" h="770889">
                  <a:moveTo>
                    <a:pt x="552323" y="18923"/>
                  </a:moveTo>
                  <a:lnTo>
                    <a:pt x="549727" y="40934"/>
                  </a:lnTo>
                  <a:lnTo>
                    <a:pt x="570102" y="32385"/>
                  </a:lnTo>
                  <a:lnTo>
                    <a:pt x="552323" y="189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2108961" y="3083559"/>
              <a:ext cx="2406650" cy="1081405"/>
            </a:xfrm>
            <a:custGeom>
              <a:avLst/>
              <a:gdLst/>
              <a:ahLst/>
              <a:cxnLst/>
              <a:rect l="l" t="t" r="r" b="b"/>
              <a:pathLst>
                <a:path w="2406650" h="1081404">
                  <a:moveTo>
                    <a:pt x="2325116" y="0"/>
                  </a:moveTo>
                  <a:lnTo>
                    <a:pt x="0" y="861567"/>
                  </a:lnTo>
                  <a:lnTo>
                    <a:pt x="81406" y="1081151"/>
                  </a:lnTo>
                  <a:lnTo>
                    <a:pt x="2406523" y="219710"/>
                  </a:lnTo>
                  <a:lnTo>
                    <a:pt x="232511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2108961" y="3083559"/>
              <a:ext cx="2406650" cy="1081405"/>
            </a:xfrm>
            <a:custGeom>
              <a:avLst/>
              <a:gdLst/>
              <a:ahLst/>
              <a:cxnLst/>
              <a:rect l="l" t="t" r="r" b="b"/>
              <a:pathLst>
                <a:path w="2406650" h="1081404">
                  <a:moveTo>
                    <a:pt x="0" y="861567"/>
                  </a:moveTo>
                  <a:lnTo>
                    <a:pt x="2325116" y="0"/>
                  </a:lnTo>
                  <a:lnTo>
                    <a:pt x="2406523" y="219710"/>
                  </a:lnTo>
                  <a:lnTo>
                    <a:pt x="81406" y="1081151"/>
                  </a:lnTo>
                  <a:lnTo>
                    <a:pt x="0" y="861567"/>
                  </a:lnTo>
                  <a:close/>
                </a:path>
              </a:pathLst>
            </a:custGeom>
            <a:ln w="254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2536697" y="3324923"/>
              <a:ext cx="1554606" cy="652081"/>
            </a:xfrm>
            <a:prstGeom prst="rect">
              <a:avLst/>
            </a:prstGeom>
            <a:blipFill>
              <a:blip r:embed="rId4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2194305" y="3555618"/>
              <a:ext cx="2356485" cy="996950"/>
            </a:xfrm>
            <a:custGeom>
              <a:avLst/>
              <a:gdLst/>
              <a:ahLst/>
              <a:cxnLst/>
              <a:rect l="l" t="t" r="r" b="b"/>
              <a:pathLst>
                <a:path w="2356485" h="996950">
                  <a:moveTo>
                    <a:pt x="2286381" y="0"/>
                  </a:moveTo>
                  <a:lnTo>
                    <a:pt x="0" y="796416"/>
                  </a:lnTo>
                  <a:lnTo>
                    <a:pt x="69850" y="996949"/>
                  </a:lnTo>
                  <a:lnTo>
                    <a:pt x="2356231" y="200532"/>
                  </a:lnTo>
                  <a:lnTo>
                    <a:pt x="228638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2194305" y="3555618"/>
              <a:ext cx="2356485" cy="996950"/>
            </a:xfrm>
            <a:custGeom>
              <a:avLst/>
              <a:gdLst/>
              <a:ahLst/>
              <a:cxnLst/>
              <a:rect l="l" t="t" r="r" b="b"/>
              <a:pathLst>
                <a:path w="2356485" h="996950">
                  <a:moveTo>
                    <a:pt x="0" y="796416"/>
                  </a:moveTo>
                  <a:lnTo>
                    <a:pt x="2286381" y="0"/>
                  </a:lnTo>
                  <a:lnTo>
                    <a:pt x="2356231" y="200532"/>
                  </a:lnTo>
                  <a:lnTo>
                    <a:pt x="69850" y="996949"/>
                  </a:lnTo>
                  <a:lnTo>
                    <a:pt x="0" y="796416"/>
                  </a:lnTo>
                  <a:close/>
                </a:path>
              </a:pathLst>
            </a:custGeom>
            <a:ln w="254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2909823" y="3849115"/>
              <a:ext cx="935990" cy="433705"/>
            </a:xfrm>
            <a:custGeom>
              <a:avLst/>
              <a:gdLst/>
              <a:ahLst/>
              <a:cxnLst/>
              <a:rect l="l" t="t" r="r" b="b"/>
              <a:pathLst>
                <a:path w="935989" h="433704">
                  <a:moveTo>
                    <a:pt x="71640" y="310768"/>
                  </a:moveTo>
                  <a:lnTo>
                    <a:pt x="31495" y="310768"/>
                  </a:lnTo>
                  <a:lnTo>
                    <a:pt x="62737" y="400557"/>
                  </a:lnTo>
                  <a:lnTo>
                    <a:pt x="39877" y="408558"/>
                  </a:lnTo>
                  <a:lnTo>
                    <a:pt x="48513" y="433196"/>
                  </a:lnTo>
                  <a:lnTo>
                    <a:pt x="130048" y="404875"/>
                  </a:lnTo>
                  <a:lnTo>
                    <a:pt x="124202" y="388111"/>
                  </a:lnTo>
                  <a:lnTo>
                    <a:pt x="98551" y="388111"/>
                  </a:lnTo>
                  <a:lnTo>
                    <a:pt x="71640" y="310768"/>
                  </a:lnTo>
                  <a:close/>
                </a:path>
                <a:path w="935989" h="433704">
                  <a:moveTo>
                    <a:pt x="155194" y="278383"/>
                  </a:moveTo>
                  <a:lnTo>
                    <a:pt x="121412" y="290067"/>
                  </a:lnTo>
                  <a:lnTo>
                    <a:pt x="157987" y="395096"/>
                  </a:lnTo>
                  <a:lnTo>
                    <a:pt x="191643" y="383285"/>
                  </a:lnTo>
                  <a:lnTo>
                    <a:pt x="165734" y="308863"/>
                  </a:lnTo>
                  <a:lnTo>
                    <a:pt x="168656" y="305434"/>
                  </a:lnTo>
                  <a:lnTo>
                    <a:pt x="171576" y="302640"/>
                  </a:lnTo>
                  <a:lnTo>
                    <a:pt x="174370" y="300608"/>
                  </a:lnTo>
                  <a:lnTo>
                    <a:pt x="177164" y="298449"/>
                  </a:lnTo>
                  <a:lnTo>
                    <a:pt x="180086" y="296925"/>
                  </a:lnTo>
                  <a:lnTo>
                    <a:pt x="183133" y="295909"/>
                  </a:lnTo>
                  <a:lnTo>
                    <a:pt x="187451" y="294385"/>
                  </a:lnTo>
                  <a:lnTo>
                    <a:pt x="191007" y="293750"/>
                  </a:lnTo>
                  <a:lnTo>
                    <a:pt x="240929" y="293750"/>
                  </a:lnTo>
                  <a:lnTo>
                    <a:pt x="239594" y="289940"/>
                  </a:lnTo>
                  <a:lnTo>
                    <a:pt x="159131" y="289940"/>
                  </a:lnTo>
                  <a:lnTo>
                    <a:pt x="155194" y="278383"/>
                  </a:lnTo>
                  <a:close/>
                </a:path>
                <a:path w="935989" h="433704">
                  <a:moveTo>
                    <a:pt x="121412" y="380110"/>
                  </a:moveTo>
                  <a:lnTo>
                    <a:pt x="98551" y="388111"/>
                  </a:lnTo>
                  <a:lnTo>
                    <a:pt x="124202" y="388111"/>
                  </a:lnTo>
                  <a:lnTo>
                    <a:pt x="121412" y="380110"/>
                  </a:lnTo>
                  <a:close/>
                </a:path>
                <a:path w="935989" h="433704">
                  <a:moveTo>
                    <a:pt x="240929" y="293750"/>
                  </a:moveTo>
                  <a:lnTo>
                    <a:pt x="191007" y="293750"/>
                  </a:lnTo>
                  <a:lnTo>
                    <a:pt x="193801" y="294004"/>
                  </a:lnTo>
                  <a:lnTo>
                    <a:pt x="196469" y="294131"/>
                  </a:lnTo>
                  <a:lnTo>
                    <a:pt x="198881" y="295274"/>
                  </a:lnTo>
                  <a:lnTo>
                    <a:pt x="211455" y="318007"/>
                  </a:lnTo>
                  <a:lnTo>
                    <a:pt x="229615" y="370077"/>
                  </a:lnTo>
                  <a:lnTo>
                    <a:pt x="263398" y="358393"/>
                  </a:lnTo>
                  <a:lnTo>
                    <a:pt x="240929" y="293750"/>
                  </a:lnTo>
                  <a:close/>
                </a:path>
                <a:path w="935989" h="433704">
                  <a:moveTo>
                    <a:pt x="305858" y="264667"/>
                  </a:moveTo>
                  <a:lnTo>
                    <a:pt x="267969" y="264667"/>
                  </a:lnTo>
                  <a:lnTo>
                    <a:pt x="285168" y="313816"/>
                  </a:lnTo>
                  <a:lnTo>
                    <a:pt x="318357" y="339280"/>
                  </a:lnTo>
                  <a:lnTo>
                    <a:pt x="326810" y="337994"/>
                  </a:lnTo>
                  <a:lnTo>
                    <a:pt x="336169" y="335279"/>
                  </a:lnTo>
                  <a:lnTo>
                    <a:pt x="342011" y="333247"/>
                  </a:lnTo>
                  <a:lnTo>
                    <a:pt x="346837" y="331342"/>
                  </a:lnTo>
                  <a:lnTo>
                    <a:pt x="350805" y="329295"/>
                  </a:lnTo>
                  <a:lnTo>
                    <a:pt x="354584" y="327405"/>
                  </a:lnTo>
                  <a:lnTo>
                    <a:pt x="358139" y="325373"/>
                  </a:lnTo>
                  <a:lnTo>
                    <a:pt x="361441" y="323214"/>
                  </a:lnTo>
                  <a:lnTo>
                    <a:pt x="357089" y="310641"/>
                  </a:lnTo>
                  <a:lnTo>
                    <a:pt x="331343" y="310641"/>
                  </a:lnTo>
                  <a:lnTo>
                    <a:pt x="326008" y="309625"/>
                  </a:lnTo>
                  <a:lnTo>
                    <a:pt x="323850" y="308482"/>
                  </a:lnTo>
                  <a:lnTo>
                    <a:pt x="322325" y="306577"/>
                  </a:lnTo>
                  <a:lnTo>
                    <a:pt x="320548" y="304799"/>
                  </a:lnTo>
                  <a:lnTo>
                    <a:pt x="319277" y="302386"/>
                  </a:lnTo>
                  <a:lnTo>
                    <a:pt x="318262" y="299719"/>
                  </a:lnTo>
                  <a:lnTo>
                    <a:pt x="317074" y="296925"/>
                  </a:lnTo>
                  <a:lnTo>
                    <a:pt x="305858" y="264667"/>
                  </a:lnTo>
                  <a:close/>
                </a:path>
                <a:path w="935989" h="433704">
                  <a:moveTo>
                    <a:pt x="81533" y="265683"/>
                  </a:moveTo>
                  <a:lnTo>
                    <a:pt x="0" y="294004"/>
                  </a:lnTo>
                  <a:lnTo>
                    <a:pt x="8636" y="318769"/>
                  </a:lnTo>
                  <a:lnTo>
                    <a:pt x="31495" y="310768"/>
                  </a:lnTo>
                  <a:lnTo>
                    <a:pt x="71640" y="310768"/>
                  </a:lnTo>
                  <a:lnTo>
                    <a:pt x="67309" y="298322"/>
                  </a:lnTo>
                  <a:lnTo>
                    <a:pt x="90169" y="290321"/>
                  </a:lnTo>
                  <a:lnTo>
                    <a:pt x="81533" y="265683"/>
                  </a:lnTo>
                  <a:close/>
                </a:path>
                <a:path w="935989" h="433704">
                  <a:moveTo>
                    <a:pt x="379602" y="200151"/>
                  </a:moveTo>
                  <a:lnTo>
                    <a:pt x="345948" y="211962"/>
                  </a:lnTo>
                  <a:lnTo>
                    <a:pt x="382524" y="316864"/>
                  </a:lnTo>
                  <a:lnTo>
                    <a:pt x="416178" y="305180"/>
                  </a:lnTo>
                  <a:lnTo>
                    <a:pt x="391795" y="234822"/>
                  </a:lnTo>
                  <a:lnTo>
                    <a:pt x="395477" y="231901"/>
                  </a:lnTo>
                  <a:lnTo>
                    <a:pt x="416940" y="221487"/>
                  </a:lnTo>
                  <a:lnTo>
                    <a:pt x="419608" y="220598"/>
                  </a:lnTo>
                  <a:lnTo>
                    <a:pt x="422910" y="219836"/>
                  </a:lnTo>
                  <a:lnTo>
                    <a:pt x="426085" y="218947"/>
                  </a:lnTo>
                  <a:lnTo>
                    <a:pt x="428625" y="218566"/>
                  </a:lnTo>
                  <a:lnTo>
                    <a:pt x="430149" y="218566"/>
                  </a:lnTo>
                  <a:lnTo>
                    <a:pt x="433197" y="217423"/>
                  </a:lnTo>
                  <a:lnTo>
                    <a:pt x="432531" y="215518"/>
                  </a:lnTo>
                  <a:lnTo>
                    <a:pt x="385063" y="215518"/>
                  </a:lnTo>
                  <a:lnTo>
                    <a:pt x="379602" y="200151"/>
                  </a:lnTo>
                  <a:close/>
                </a:path>
                <a:path w="935989" h="433704">
                  <a:moveTo>
                    <a:pt x="353440" y="300100"/>
                  </a:moveTo>
                  <a:lnTo>
                    <a:pt x="350647" y="301116"/>
                  </a:lnTo>
                  <a:lnTo>
                    <a:pt x="349758" y="302132"/>
                  </a:lnTo>
                  <a:lnTo>
                    <a:pt x="347979" y="303529"/>
                  </a:lnTo>
                  <a:lnTo>
                    <a:pt x="345439" y="305180"/>
                  </a:lnTo>
                  <a:lnTo>
                    <a:pt x="342900" y="306958"/>
                  </a:lnTo>
                  <a:lnTo>
                    <a:pt x="340740" y="308101"/>
                  </a:lnTo>
                  <a:lnTo>
                    <a:pt x="334771" y="310260"/>
                  </a:lnTo>
                  <a:lnTo>
                    <a:pt x="331343" y="310641"/>
                  </a:lnTo>
                  <a:lnTo>
                    <a:pt x="357089" y="310641"/>
                  </a:lnTo>
                  <a:lnTo>
                    <a:pt x="353440" y="300100"/>
                  </a:lnTo>
                  <a:close/>
                </a:path>
                <a:path w="935989" h="433704">
                  <a:moveTo>
                    <a:pt x="205724" y="260254"/>
                  </a:moveTo>
                  <a:lnTo>
                    <a:pt x="168020" y="277621"/>
                  </a:lnTo>
                  <a:lnTo>
                    <a:pt x="159131" y="289940"/>
                  </a:lnTo>
                  <a:lnTo>
                    <a:pt x="239594" y="289940"/>
                  </a:lnTo>
                  <a:lnTo>
                    <a:pt x="212973" y="261231"/>
                  </a:lnTo>
                  <a:lnTo>
                    <a:pt x="205724" y="260254"/>
                  </a:lnTo>
                  <a:close/>
                </a:path>
                <a:path w="935989" h="433704">
                  <a:moveTo>
                    <a:pt x="283337" y="200024"/>
                  </a:moveTo>
                  <a:lnTo>
                    <a:pt x="249681" y="211835"/>
                  </a:lnTo>
                  <a:lnTo>
                    <a:pt x="260095" y="241807"/>
                  </a:lnTo>
                  <a:lnTo>
                    <a:pt x="246252" y="246633"/>
                  </a:lnTo>
                  <a:lnTo>
                    <a:pt x="254253" y="269493"/>
                  </a:lnTo>
                  <a:lnTo>
                    <a:pt x="267969" y="264667"/>
                  </a:lnTo>
                  <a:lnTo>
                    <a:pt x="305858" y="264667"/>
                  </a:lnTo>
                  <a:lnTo>
                    <a:pt x="301751" y="252856"/>
                  </a:lnTo>
                  <a:lnTo>
                    <a:pt x="333120" y="241934"/>
                  </a:lnTo>
                  <a:lnTo>
                    <a:pt x="329009" y="229996"/>
                  </a:lnTo>
                  <a:lnTo>
                    <a:pt x="293877" y="229996"/>
                  </a:lnTo>
                  <a:lnTo>
                    <a:pt x="283337" y="200024"/>
                  </a:lnTo>
                  <a:close/>
                </a:path>
                <a:path w="935989" h="433704">
                  <a:moveTo>
                    <a:pt x="325246" y="219074"/>
                  </a:moveTo>
                  <a:lnTo>
                    <a:pt x="293877" y="229996"/>
                  </a:lnTo>
                  <a:lnTo>
                    <a:pt x="329009" y="229996"/>
                  </a:lnTo>
                  <a:lnTo>
                    <a:pt x="325246" y="219074"/>
                  </a:lnTo>
                  <a:close/>
                </a:path>
                <a:path w="935989" h="433704">
                  <a:moveTo>
                    <a:pt x="422021" y="185419"/>
                  </a:moveTo>
                  <a:lnTo>
                    <a:pt x="420877" y="185673"/>
                  </a:lnTo>
                  <a:lnTo>
                    <a:pt x="419480" y="186054"/>
                  </a:lnTo>
                  <a:lnTo>
                    <a:pt x="417956" y="186435"/>
                  </a:lnTo>
                  <a:lnTo>
                    <a:pt x="416433" y="186943"/>
                  </a:lnTo>
                  <a:lnTo>
                    <a:pt x="415163" y="187324"/>
                  </a:lnTo>
                  <a:lnTo>
                    <a:pt x="413892" y="187832"/>
                  </a:lnTo>
                  <a:lnTo>
                    <a:pt x="409321" y="189356"/>
                  </a:lnTo>
                  <a:lnTo>
                    <a:pt x="404622" y="192150"/>
                  </a:lnTo>
                  <a:lnTo>
                    <a:pt x="399923" y="196214"/>
                  </a:lnTo>
                  <a:lnTo>
                    <a:pt x="395224" y="200151"/>
                  </a:lnTo>
                  <a:lnTo>
                    <a:pt x="390271" y="206628"/>
                  </a:lnTo>
                  <a:lnTo>
                    <a:pt x="385063" y="215518"/>
                  </a:lnTo>
                  <a:lnTo>
                    <a:pt x="432531" y="215518"/>
                  </a:lnTo>
                  <a:lnTo>
                    <a:pt x="422021" y="185419"/>
                  </a:lnTo>
                  <a:close/>
                </a:path>
                <a:path w="935989" h="433704">
                  <a:moveTo>
                    <a:pt x="550722" y="181990"/>
                  </a:moveTo>
                  <a:lnTo>
                    <a:pt x="500252" y="181990"/>
                  </a:lnTo>
                  <a:lnTo>
                    <a:pt x="505713" y="182498"/>
                  </a:lnTo>
                  <a:lnTo>
                    <a:pt x="511175" y="183133"/>
                  </a:lnTo>
                  <a:lnTo>
                    <a:pt x="514985" y="186308"/>
                  </a:lnTo>
                  <a:lnTo>
                    <a:pt x="517016" y="192023"/>
                  </a:lnTo>
                  <a:lnTo>
                    <a:pt x="517143" y="192658"/>
                  </a:lnTo>
                  <a:lnTo>
                    <a:pt x="509978" y="195659"/>
                  </a:lnTo>
                  <a:lnTo>
                    <a:pt x="502967" y="198754"/>
                  </a:lnTo>
                  <a:lnTo>
                    <a:pt x="468249" y="219328"/>
                  </a:lnTo>
                  <a:lnTo>
                    <a:pt x="455929" y="241934"/>
                  </a:lnTo>
                  <a:lnTo>
                    <a:pt x="456409" y="248411"/>
                  </a:lnTo>
                  <a:lnTo>
                    <a:pt x="484229" y="278774"/>
                  </a:lnTo>
                  <a:lnTo>
                    <a:pt x="491188" y="279574"/>
                  </a:lnTo>
                  <a:lnTo>
                    <a:pt x="498361" y="279017"/>
                  </a:lnTo>
                  <a:lnTo>
                    <a:pt x="505713" y="277113"/>
                  </a:lnTo>
                  <a:lnTo>
                    <a:pt x="509904" y="275589"/>
                  </a:lnTo>
                  <a:lnTo>
                    <a:pt x="513714" y="273938"/>
                  </a:lnTo>
                  <a:lnTo>
                    <a:pt x="517016" y="271906"/>
                  </a:lnTo>
                  <a:lnTo>
                    <a:pt x="520318" y="270001"/>
                  </a:lnTo>
                  <a:lnTo>
                    <a:pt x="523366" y="267715"/>
                  </a:lnTo>
                  <a:lnTo>
                    <a:pt x="528238" y="263086"/>
                  </a:lnTo>
                  <a:lnTo>
                    <a:pt x="530098" y="260730"/>
                  </a:lnTo>
                  <a:lnTo>
                    <a:pt x="532129" y="257809"/>
                  </a:lnTo>
                  <a:lnTo>
                    <a:pt x="534162" y="255015"/>
                  </a:lnTo>
                  <a:lnTo>
                    <a:pt x="535813" y="252475"/>
                  </a:lnTo>
                  <a:lnTo>
                    <a:pt x="536913" y="250824"/>
                  </a:lnTo>
                  <a:lnTo>
                    <a:pt x="502792" y="250824"/>
                  </a:lnTo>
                  <a:lnTo>
                    <a:pt x="500761" y="250570"/>
                  </a:lnTo>
                  <a:lnTo>
                    <a:pt x="498983" y="249808"/>
                  </a:lnTo>
                  <a:lnTo>
                    <a:pt x="497077" y="249046"/>
                  </a:lnTo>
                  <a:lnTo>
                    <a:pt x="495680" y="248157"/>
                  </a:lnTo>
                  <a:lnTo>
                    <a:pt x="493902" y="245617"/>
                  </a:lnTo>
                  <a:lnTo>
                    <a:pt x="493140" y="243966"/>
                  </a:lnTo>
                  <a:lnTo>
                    <a:pt x="491236" y="238505"/>
                  </a:lnTo>
                  <a:lnTo>
                    <a:pt x="491236" y="235457"/>
                  </a:lnTo>
                  <a:lnTo>
                    <a:pt x="523875" y="212343"/>
                  </a:lnTo>
                  <a:lnTo>
                    <a:pt x="561289" y="212343"/>
                  </a:lnTo>
                  <a:lnTo>
                    <a:pt x="550722" y="181990"/>
                  </a:lnTo>
                  <a:close/>
                </a:path>
                <a:path w="935989" h="433704">
                  <a:moveTo>
                    <a:pt x="572952" y="250570"/>
                  </a:moveTo>
                  <a:lnTo>
                    <a:pt x="537083" y="250570"/>
                  </a:lnTo>
                  <a:lnTo>
                    <a:pt x="541020" y="261619"/>
                  </a:lnTo>
                  <a:lnTo>
                    <a:pt x="572952" y="250570"/>
                  </a:lnTo>
                  <a:close/>
                </a:path>
                <a:path w="935989" h="433704">
                  <a:moveTo>
                    <a:pt x="561289" y="212343"/>
                  </a:moveTo>
                  <a:lnTo>
                    <a:pt x="523875" y="212343"/>
                  </a:lnTo>
                  <a:lnTo>
                    <a:pt x="531495" y="234187"/>
                  </a:lnTo>
                  <a:lnTo>
                    <a:pt x="529589" y="237362"/>
                  </a:lnTo>
                  <a:lnTo>
                    <a:pt x="507238" y="250697"/>
                  </a:lnTo>
                  <a:lnTo>
                    <a:pt x="505078" y="250697"/>
                  </a:lnTo>
                  <a:lnTo>
                    <a:pt x="502792" y="250824"/>
                  </a:lnTo>
                  <a:lnTo>
                    <a:pt x="536913" y="250824"/>
                  </a:lnTo>
                  <a:lnTo>
                    <a:pt x="537083" y="250570"/>
                  </a:lnTo>
                  <a:lnTo>
                    <a:pt x="572952" y="250570"/>
                  </a:lnTo>
                  <a:lnTo>
                    <a:pt x="574421" y="250062"/>
                  </a:lnTo>
                  <a:lnTo>
                    <a:pt x="561289" y="212343"/>
                  </a:lnTo>
                  <a:close/>
                </a:path>
                <a:path w="935989" h="433704">
                  <a:moveTo>
                    <a:pt x="602741" y="122427"/>
                  </a:moveTo>
                  <a:lnTo>
                    <a:pt x="568960" y="134238"/>
                  </a:lnTo>
                  <a:lnTo>
                    <a:pt x="605536" y="239140"/>
                  </a:lnTo>
                  <a:lnTo>
                    <a:pt x="639317" y="227456"/>
                  </a:lnTo>
                  <a:lnTo>
                    <a:pt x="613410" y="153034"/>
                  </a:lnTo>
                  <a:lnTo>
                    <a:pt x="616330" y="149605"/>
                  </a:lnTo>
                  <a:lnTo>
                    <a:pt x="630681" y="139953"/>
                  </a:lnTo>
                  <a:lnTo>
                    <a:pt x="635000" y="138429"/>
                  </a:lnTo>
                  <a:lnTo>
                    <a:pt x="638555" y="137794"/>
                  </a:lnTo>
                  <a:lnTo>
                    <a:pt x="688477" y="137794"/>
                  </a:lnTo>
                  <a:lnTo>
                    <a:pt x="687143" y="133984"/>
                  </a:lnTo>
                  <a:lnTo>
                    <a:pt x="606805" y="133984"/>
                  </a:lnTo>
                  <a:lnTo>
                    <a:pt x="602741" y="122427"/>
                  </a:lnTo>
                  <a:close/>
                </a:path>
                <a:path w="935989" h="433704">
                  <a:moveTo>
                    <a:pt x="688477" y="137794"/>
                  </a:moveTo>
                  <a:lnTo>
                    <a:pt x="638555" y="137794"/>
                  </a:lnTo>
                  <a:lnTo>
                    <a:pt x="644143" y="138302"/>
                  </a:lnTo>
                  <a:lnTo>
                    <a:pt x="646556" y="139318"/>
                  </a:lnTo>
                  <a:lnTo>
                    <a:pt x="648588" y="141223"/>
                  </a:lnTo>
                  <a:lnTo>
                    <a:pt x="650366" y="142747"/>
                  </a:lnTo>
                  <a:lnTo>
                    <a:pt x="652145" y="145668"/>
                  </a:lnTo>
                  <a:lnTo>
                    <a:pt x="655954" y="153796"/>
                  </a:lnTo>
                  <a:lnTo>
                    <a:pt x="657605" y="157860"/>
                  </a:lnTo>
                  <a:lnTo>
                    <a:pt x="677290" y="214248"/>
                  </a:lnTo>
                  <a:lnTo>
                    <a:pt x="710946" y="202437"/>
                  </a:lnTo>
                  <a:lnTo>
                    <a:pt x="688477" y="137794"/>
                  </a:lnTo>
                  <a:close/>
                </a:path>
                <a:path w="935989" h="433704">
                  <a:moveTo>
                    <a:pt x="518336" y="154033"/>
                  </a:moveTo>
                  <a:lnTo>
                    <a:pt x="476573" y="163123"/>
                  </a:lnTo>
                  <a:lnTo>
                    <a:pt x="442975" y="180593"/>
                  </a:lnTo>
                  <a:lnTo>
                    <a:pt x="451865" y="205993"/>
                  </a:lnTo>
                  <a:lnTo>
                    <a:pt x="454913" y="204850"/>
                  </a:lnTo>
                  <a:lnTo>
                    <a:pt x="457326" y="202818"/>
                  </a:lnTo>
                  <a:lnTo>
                    <a:pt x="461263" y="199770"/>
                  </a:lnTo>
                  <a:lnTo>
                    <a:pt x="500252" y="181990"/>
                  </a:lnTo>
                  <a:lnTo>
                    <a:pt x="550722" y="181990"/>
                  </a:lnTo>
                  <a:lnTo>
                    <a:pt x="549471" y="178434"/>
                  </a:lnTo>
                  <a:lnTo>
                    <a:pt x="545641" y="170037"/>
                  </a:lnTo>
                  <a:lnTo>
                    <a:pt x="540623" y="163321"/>
                  </a:lnTo>
                  <a:lnTo>
                    <a:pt x="534437" y="158416"/>
                  </a:lnTo>
                  <a:lnTo>
                    <a:pt x="527050" y="155320"/>
                  </a:lnTo>
                  <a:lnTo>
                    <a:pt x="518336" y="154033"/>
                  </a:lnTo>
                  <a:close/>
                </a:path>
                <a:path w="935989" h="433704">
                  <a:moveTo>
                    <a:pt x="653272" y="104409"/>
                  </a:moveTo>
                  <a:lnTo>
                    <a:pt x="620267" y="117347"/>
                  </a:lnTo>
                  <a:lnTo>
                    <a:pt x="615568" y="121665"/>
                  </a:lnTo>
                  <a:lnTo>
                    <a:pt x="611124" y="127253"/>
                  </a:lnTo>
                  <a:lnTo>
                    <a:pt x="606805" y="133984"/>
                  </a:lnTo>
                  <a:lnTo>
                    <a:pt x="687143" y="133984"/>
                  </a:lnTo>
                  <a:lnTo>
                    <a:pt x="660521" y="105348"/>
                  </a:lnTo>
                  <a:lnTo>
                    <a:pt x="653272" y="104409"/>
                  </a:lnTo>
                  <a:close/>
                </a:path>
                <a:path w="935989" h="433704">
                  <a:moveTo>
                    <a:pt x="780065" y="60626"/>
                  </a:moveTo>
                  <a:lnTo>
                    <a:pt x="733028" y="77628"/>
                  </a:lnTo>
                  <a:lnTo>
                    <a:pt x="712454" y="117665"/>
                  </a:lnTo>
                  <a:lnTo>
                    <a:pt x="713273" y="129670"/>
                  </a:lnTo>
                  <a:lnTo>
                    <a:pt x="737375" y="171674"/>
                  </a:lnTo>
                  <a:lnTo>
                    <a:pt x="771715" y="180435"/>
                  </a:lnTo>
                  <a:lnTo>
                    <a:pt x="785669" y="178554"/>
                  </a:lnTo>
                  <a:lnTo>
                    <a:pt x="828675" y="160781"/>
                  </a:lnTo>
                  <a:lnTo>
                    <a:pt x="838752" y="152906"/>
                  </a:lnTo>
                  <a:lnTo>
                    <a:pt x="774287" y="152906"/>
                  </a:lnTo>
                  <a:lnTo>
                    <a:pt x="768476" y="151764"/>
                  </a:lnTo>
                  <a:lnTo>
                    <a:pt x="761238" y="149351"/>
                  </a:lnTo>
                  <a:lnTo>
                    <a:pt x="755903" y="144144"/>
                  </a:lnTo>
                  <a:lnTo>
                    <a:pt x="752475" y="136143"/>
                  </a:lnTo>
                  <a:lnTo>
                    <a:pt x="808837" y="116458"/>
                  </a:lnTo>
                  <a:lnTo>
                    <a:pt x="745489" y="116458"/>
                  </a:lnTo>
                  <a:lnTo>
                    <a:pt x="743559" y="109219"/>
                  </a:lnTo>
                  <a:lnTo>
                    <a:pt x="743663" y="106326"/>
                  </a:lnTo>
                  <a:lnTo>
                    <a:pt x="743965" y="102615"/>
                  </a:lnTo>
                  <a:lnTo>
                    <a:pt x="746887" y="97789"/>
                  </a:lnTo>
                  <a:lnTo>
                    <a:pt x="749935" y="92963"/>
                  </a:lnTo>
                  <a:lnTo>
                    <a:pt x="754634" y="89407"/>
                  </a:lnTo>
                  <a:lnTo>
                    <a:pt x="761111" y="87248"/>
                  </a:lnTo>
                  <a:lnTo>
                    <a:pt x="768096" y="84708"/>
                  </a:lnTo>
                  <a:lnTo>
                    <a:pt x="819564" y="84708"/>
                  </a:lnTo>
                  <a:lnTo>
                    <a:pt x="814720" y="77152"/>
                  </a:lnTo>
                  <a:lnTo>
                    <a:pt x="807710" y="69961"/>
                  </a:lnTo>
                  <a:lnTo>
                    <a:pt x="799591" y="64769"/>
                  </a:lnTo>
                  <a:lnTo>
                    <a:pt x="790328" y="61596"/>
                  </a:lnTo>
                  <a:lnTo>
                    <a:pt x="780065" y="60626"/>
                  </a:lnTo>
                  <a:close/>
                </a:path>
                <a:path w="935989" h="433704">
                  <a:moveTo>
                    <a:pt x="832230" y="123316"/>
                  </a:moveTo>
                  <a:lnTo>
                    <a:pt x="828421" y="124586"/>
                  </a:lnTo>
                  <a:lnTo>
                    <a:pt x="825626" y="128904"/>
                  </a:lnTo>
                  <a:lnTo>
                    <a:pt x="821309" y="133476"/>
                  </a:lnTo>
                  <a:lnTo>
                    <a:pt x="780859" y="152892"/>
                  </a:lnTo>
                  <a:lnTo>
                    <a:pt x="774287" y="152906"/>
                  </a:lnTo>
                  <a:lnTo>
                    <a:pt x="838752" y="152906"/>
                  </a:lnTo>
                  <a:lnTo>
                    <a:pt x="841628" y="150367"/>
                  </a:lnTo>
                  <a:lnTo>
                    <a:pt x="832230" y="123316"/>
                  </a:lnTo>
                  <a:close/>
                </a:path>
                <a:path w="935989" h="433704">
                  <a:moveTo>
                    <a:pt x="880152" y="64642"/>
                  </a:moveTo>
                  <a:lnTo>
                    <a:pt x="842263" y="64642"/>
                  </a:lnTo>
                  <a:lnTo>
                    <a:pt x="859409" y="113664"/>
                  </a:lnTo>
                  <a:lnTo>
                    <a:pt x="892540" y="139255"/>
                  </a:lnTo>
                  <a:lnTo>
                    <a:pt x="900979" y="137969"/>
                  </a:lnTo>
                  <a:lnTo>
                    <a:pt x="910336" y="135254"/>
                  </a:lnTo>
                  <a:lnTo>
                    <a:pt x="916304" y="133222"/>
                  </a:lnTo>
                  <a:lnTo>
                    <a:pt x="921130" y="131317"/>
                  </a:lnTo>
                  <a:lnTo>
                    <a:pt x="924973" y="129270"/>
                  </a:lnTo>
                  <a:lnTo>
                    <a:pt x="928877" y="127380"/>
                  </a:lnTo>
                  <a:lnTo>
                    <a:pt x="932434" y="125348"/>
                  </a:lnTo>
                  <a:lnTo>
                    <a:pt x="935736" y="123189"/>
                  </a:lnTo>
                  <a:lnTo>
                    <a:pt x="931383" y="110616"/>
                  </a:lnTo>
                  <a:lnTo>
                    <a:pt x="905637" y="110616"/>
                  </a:lnTo>
                  <a:lnTo>
                    <a:pt x="900302" y="109600"/>
                  </a:lnTo>
                  <a:lnTo>
                    <a:pt x="898143" y="108457"/>
                  </a:lnTo>
                  <a:lnTo>
                    <a:pt x="896492" y="106552"/>
                  </a:lnTo>
                  <a:lnTo>
                    <a:pt x="894841" y="104774"/>
                  </a:lnTo>
                  <a:lnTo>
                    <a:pt x="893445" y="102488"/>
                  </a:lnTo>
                  <a:lnTo>
                    <a:pt x="892428" y="99694"/>
                  </a:lnTo>
                  <a:lnTo>
                    <a:pt x="891413" y="97027"/>
                  </a:lnTo>
                  <a:lnTo>
                    <a:pt x="880152" y="64642"/>
                  </a:lnTo>
                  <a:close/>
                </a:path>
                <a:path w="935989" h="433704">
                  <a:moveTo>
                    <a:pt x="819564" y="84708"/>
                  </a:moveTo>
                  <a:lnTo>
                    <a:pt x="773938" y="84708"/>
                  </a:lnTo>
                  <a:lnTo>
                    <a:pt x="778383" y="87121"/>
                  </a:lnTo>
                  <a:lnTo>
                    <a:pt x="782954" y="89534"/>
                  </a:lnTo>
                  <a:lnTo>
                    <a:pt x="786511" y="94233"/>
                  </a:lnTo>
                  <a:lnTo>
                    <a:pt x="789177" y="101218"/>
                  </a:lnTo>
                  <a:lnTo>
                    <a:pt x="745489" y="116458"/>
                  </a:lnTo>
                  <a:lnTo>
                    <a:pt x="808837" y="116458"/>
                  </a:lnTo>
                  <a:lnTo>
                    <a:pt x="829563" y="109219"/>
                  </a:lnTo>
                  <a:lnTo>
                    <a:pt x="825373" y="97535"/>
                  </a:lnTo>
                  <a:lnTo>
                    <a:pt x="820612" y="86344"/>
                  </a:lnTo>
                  <a:lnTo>
                    <a:pt x="819564" y="84708"/>
                  </a:lnTo>
                  <a:close/>
                </a:path>
                <a:path w="935989" h="433704">
                  <a:moveTo>
                    <a:pt x="927735" y="100075"/>
                  </a:moveTo>
                  <a:lnTo>
                    <a:pt x="924940" y="101091"/>
                  </a:lnTo>
                  <a:lnTo>
                    <a:pt x="924051" y="102107"/>
                  </a:lnTo>
                  <a:lnTo>
                    <a:pt x="922274" y="103504"/>
                  </a:lnTo>
                  <a:lnTo>
                    <a:pt x="919734" y="105155"/>
                  </a:lnTo>
                  <a:lnTo>
                    <a:pt x="917193" y="106933"/>
                  </a:lnTo>
                  <a:lnTo>
                    <a:pt x="915035" y="108076"/>
                  </a:lnTo>
                  <a:lnTo>
                    <a:pt x="909065" y="110235"/>
                  </a:lnTo>
                  <a:lnTo>
                    <a:pt x="905637" y="110616"/>
                  </a:lnTo>
                  <a:lnTo>
                    <a:pt x="931383" y="110616"/>
                  </a:lnTo>
                  <a:lnTo>
                    <a:pt x="927735" y="100075"/>
                  </a:lnTo>
                  <a:close/>
                </a:path>
                <a:path w="935989" h="433704">
                  <a:moveTo>
                    <a:pt x="857630" y="0"/>
                  </a:moveTo>
                  <a:lnTo>
                    <a:pt x="823849" y="11810"/>
                  </a:lnTo>
                  <a:lnTo>
                    <a:pt x="834263" y="41782"/>
                  </a:lnTo>
                  <a:lnTo>
                    <a:pt x="820547" y="46608"/>
                  </a:lnTo>
                  <a:lnTo>
                    <a:pt x="828421" y="69468"/>
                  </a:lnTo>
                  <a:lnTo>
                    <a:pt x="842263" y="64642"/>
                  </a:lnTo>
                  <a:lnTo>
                    <a:pt x="880152" y="64642"/>
                  </a:lnTo>
                  <a:lnTo>
                    <a:pt x="876046" y="52831"/>
                  </a:lnTo>
                  <a:lnTo>
                    <a:pt x="907414" y="41909"/>
                  </a:lnTo>
                  <a:lnTo>
                    <a:pt x="903236" y="29971"/>
                  </a:lnTo>
                  <a:lnTo>
                    <a:pt x="868045" y="29971"/>
                  </a:lnTo>
                  <a:lnTo>
                    <a:pt x="857630" y="0"/>
                  </a:lnTo>
                  <a:close/>
                </a:path>
                <a:path w="935989" h="433704">
                  <a:moveTo>
                    <a:pt x="899413" y="19049"/>
                  </a:moveTo>
                  <a:lnTo>
                    <a:pt x="868045" y="29971"/>
                  </a:lnTo>
                  <a:lnTo>
                    <a:pt x="903236" y="29971"/>
                  </a:lnTo>
                  <a:lnTo>
                    <a:pt x="899413" y="190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4" name="object 204"/>
          <p:cNvGrpSpPr/>
          <p:nvPr/>
        </p:nvGrpSpPr>
        <p:grpSpPr>
          <a:xfrm>
            <a:off x="2091594" y="3070732"/>
            <a:ext cx="6872605" cy="3635375"/>
            <a:chOff x="2091594" y="3070732"/>
            <a:chExt cx="6872605" cy="3635375"/>
          </a:xfrm>
        </p:grpSpPr>
        <p:sp>
          <p:nvSpPr>
            <p:cNvPr id="205" name="object 205"/>
            <p:cNvSpPr/>
            <p:nvPr/>
          </p:nvSpPr>
          <p:spPr>
            <a:xfrm>
              <a:off x="2091594" y="3930776"/>
              <a:ext cx="125079" cy="244983"/>
            </a:xfrm>
            <a:prstGeom prst="rect">
              <a:avLst/>
            </a:prstGeom>
            <a:blipFill>
              <a:blip r:embed="rId4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4412900" y="3070732"/>
              <a:ext cx="125094" cy="244982"/>
            </a:xfrm>
            <a:prstGeom prst="rect">
              <a:avLst/>
            </a:prstGeom>
            <a:blipFill>
              <a:blip r:embed="rId4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2175510" y="4337811"/>
              <a:ext cx="116220" cy="225932"/>
            </a:xfrm>
            <a:prstGeom prst="rect">
              <a:avLst/>
            </a:prstGeom>
            <a:blipFill>
              <a:blip r:embed="rId4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4458192" y="3542791"/>
              <a:ext cx="116220" cy="225933"/>
            </a:xfrm>
            <a:prstGeom prst="rect">
              <a:avLst/>
            </a:prstGeom>
            <a:blipFill>
              <a:blip r:embed="rId4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8046720" y="6275831"/>
              <a:ext cx="917448" cy="429768"/>
            </a:xfrm>
            <a:prstGeom prst="rect">
              <a:avLst/>
            </a:prstGeom>
            <a:blipFill>
              <a:blip r:embed="rId5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8036052" y="6265163"/>
              <a:ext cx="914400" cy="426720"/>
            </a:xfrm>
            <a:prstGeom prst="rect">
              <a:avLst/>
            </a:prstGeom>
            <a:blipFill>
              <a:blip r:embed="rId5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8214360" y="6397751"/>
              <a:ext cx="188975" cy="179831"/>
            </a:xfrm>
            <a:prstGeom prst="rect">
              <a:avLst/>
            </a:prstGeom>
            <a:blipFill>
              <a:blip r:embed="rId5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8232647" y="6391655"/>
              <a:ext cx="176783" cy="167640"/>
            </a:xfrm>
            <a:prstGeom prst="rect">
              <a:avLst/>
            </a:prstGeom>
            <a:blipFill>
              <a:blip r:embed="rId5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8228076" y="6387083"/>
              <a:ext cx="185927" cy="176783"/>
            </a:xfrm>
            <a:prstGeom prst="rect">
              <a:avLst/>
            </a:prstGeom>
            <a:blipFill>
              <a:blip r:embed="rId5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8523732" y="6356604"/>
              <a:ext cx="304800" cy="243839"/>
            </a:xfrm>
            <a:prstGeom prst="rect">
              <a:avLst/>
            </a:prstGeom>
            <a:blipFill>
              <a:blip r:embed="rId5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8598407" y="6425183"/>
              <a:ext cx="132588" cy="134111"/>
            </a:xfrm>
            <a:prstGeom prst="rect">
              <a:avLst/>
            </a:prstGeom>
            <a:blipFill>
              <a:blip r:embed="rId5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8616695" y="6419087"/>
              <a:ext cx="120396" cy="121920"/>
            </a:xfrm>
            <a:prstGeom prst="rect">
              <a:avLst/>
            </a:prstGeom>
            <a:blipFill>
              <a:blip r:embed="rId5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8616695" y="6419087"/>
              <a:ext cx="120650" cy="121920"/>
            </a:xfrm>
            <a:custGeom>
              <a:avLst/>
              <a:gdLst/>
              <a:ahLst/>
              <a:cxnLst/>
              <a:rect l="l" t="t" r="r" b="b"/>
              <a:pathLst>
                <a:path w="120650" h="121920">
                  <a:moveTo>
                    <a:pt x="0" y="121920"/>
                  </a:moveTo>
                  <a:lnTo>
                    <a:pt x="120396" y="121920"/>
                  </a:lnTo>
                  <a:lnTo>
                    <a:pt x="120396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831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Configuring DirectAccess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7595" y="1298447"/>
            <a:ext cx="7988934" cy="3238500"/>
            <a:chOff x="577595" y="1298447"/>
            <a:chExt cx="7988934" cy="3238500"/>
          </a:xfrm>
        </p:grpSpPr>
        <p:sp>
          <p:nvSpPr>
            <p:cNvPr id="4" name="object 4"/>
            <p:cNvSpPr/>
            <p:nvPr/>
          </p:nvSpPr>
          <p:spPr>
            <a:xfrm>
              <a:off x="582167" y="1303019"/>
              <a:ext cx="7980045" cy="3229610"/>
            </a:xfrm>
            <a:custGeom>
              <a:avLst/>
              <a:gdLst/>
              <a:ahLst/>
              <a:cxnLst/>
              <a:rect l="l" t="t" r="r" b="b"/>
              <a:pathLst>
                <a:path w="7980045" h="3229610">
                  <a:moveTo>
                    <a:pt x="7845043" y="0"/>
                  </a:moveTo>
                  <a:lnTo>
                    <a:pt x="134569" y="0"/>
                  </a:lnTo>
                  <a:lnTo>
                    <a:pt x="92034" y="6855"/>
                  </a:lnTo>
                  <a:lnTo>
                    <a:pt x="55094" y="25952"/>
                  </a:lnTo>
                  <a:lnTo>
                    <a:pt x="25964" y="55083"/>
                  </a:lnTo>
                  <a:lnTo>
                    <a:pt x="6860" y="92041"/>
                  </a:lnTo>
                  <a:lnTo>
                    <a:pt x="0" y="134619"/>
                  </a:lnTo>
                  <a:lnTo>
                    <a:pt x="0" y="3094735"/>
                  </a:lnTo>
                  <a:lnTo>
                    <a:pt x="6860" y="3137314"/>
                  </a:lnTo>
                  <a:lnTo>
                    <a:pt x="25964" y="3174272"/>
                  </a:lnTo>
                  <a:lnTo>
                    <a:pt x="55094" y="3203403"/>
                  </a:lnTo>
                  <a:lnTo>
                    <a:pt x="92034" y="3222500"/>
                  </a:lnTo>
                  <a:lnTo>
                    <a:pt x="134569" y="3229355"/>
                  </a:lnTo>
                  <a:lnTo>
                    <a:pt x="7845043" y="3229355"/>
                  </a:lnTo>
                  <a:lnTo>
                    <a:pt x="7887622" y="3222500"/>
                  </a:lnTo>
                  <a:lnTo>
                    <a:pt x="7924580" y="3203403"/>
                  </a:lnTo>
                  <a:lnTo>
                    <a:pt x="7953711" y="3174272"/>
                  </a:lnTo>
                  <a:lnTo>
                    <a:pt x="7972808" y="3137314"/>
                  </a:lnTo>
                  <a:lnTo>
                    <a:pt x="7979663" y="3094735"/>
                  </a:lnTo>
                  <a:lnTo>
                    <a:pt x="7979663" y="134619"/>
                  </a:lnTo>
                  <a:lnTo>
                    <a:pt x="7972808" y="92041"/>
                  </a:lnTo>
                  <a:lnTo>
                    <a:pt x="7953711" y="55083"/>
                  </a:lnTo>
                  <a:lnTo>
                    <a:pt x="7924580" y="25952"/>
                  </a:lnTo>
                  <a:lnTo>
                    <a:pt x="7887622" y="6855"/>
                  </a:lnTo>
                  <a:lnTo>
                    <a:pt x="7845043" y="0"/>
                  </a:lnTo>
                  <a:close/>
                </a:path>
              </a:pathLst>
            </a:custGeom>
            <a:solidFill>
              <a:srgbClr val="BAC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2167" y="1303019"/>
              <a:ext cx="7980045" cy="3229610"/>
            </a:xfrm>
            <a:custGeom>
              <a:avLst/>
              <a:gdLst/>
              <a:ahLst/>
              <a:cxnLst/>
              <a:rect l="l" t="t" r="r" b="b"/>
              <a:pathLst>
                <a:path w="7980045" h="3229610">
                  <a:moveTo>
                    <a:pt x="0" y="134619"/>
                  </a:moveTo>
                  <a:lnTo>
                    <a:pt x="6860" y="92041"/>
                  </a:lnTo>
                  <a:lnTo>
                    <a:pt x="25964" y="55083"/>
                  </a:lnTo>
                  <a:lnTo>
                    <a:pt x="55094" y="25952"/>
                  </a:lnTo>
                  <a:lnTo>
                    <a:pt x="92034" y="6855"/>
                  </a:lnTo>
                  <a:lnTo>
                    <a:pt x="134569" y="0"/>
                  </a:lnTo>
                  <a:lnTo>
                    <a:pt x="7845043" y="0"/>
                  </a:lnTo>
                  <a:lnTo>
                    <a:pt x="7887622" y="6855"/>
                  </a:lnTo>
                  <a:lnTo>
                    <a:pt x="7924580" y="25952"/>
                  </a:lnTo>
                  <a:lnTo>
                    <a:pt x="7953711" y="55083"/>
                  </a:lnTo>
                  <a:lnTo>
                    <a:pt x="7972808" y="92041"/>
                  </a:lnTo>
                  <a:lnTo>
                    <a:pt x="7979663" y="134619"/>
                  </a:lnTo>
                  <a:lnTo>
                    <a:pt x="7979663" y="3094735"/>
                  </a:lnTo>
                  <a:lnTo>
                    <a:pt x="7972808" y="3137314"/>
                  </a:lnTo>
                  <a:lnTo>
                    <a:pt x="7953711" y="3174272"/>
                  </a:lnTo>
                  <a:lnTo>
                    <a:pt x="7924580" y="3203403"/>
                  </a:lnTo>
                  <a:lnTo>
                    <a:pt x="7887622" y="3222500"/>
                  </a:lnTo>
                  <a:lnTo>
                    <a:pt x="7845043" y="3229355"/>
                  </a:lnTo>
                  <a:lnTo>
                    <a:pt x="134569" y="3229355"/>
                  </a:lnTo>
                  <a:lnTo>
                    <a:pt x="92034" y="3222500"/>
                  </a:lnTo>
                  <a:lnTo>
                    <a:pt x="55094" y="3203403"/>
                  </a:lnTo>
                  <a:lnTo>
                    <a:pt x="25964" y="3174272"/>
                  </a:lnTo>
                  <a:lnTo>
                    <a:pt x="6860" y="3137314"/>
                  </a:lnTo>
                  <a:lnTo>
                    <a:pt x="0" y="3094735"/>
                  </a:lnTo>
                  <a:lnTo>
                    <a:pt x="0" y="13461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2311" y="1542287"/>
              <a:ext cx="7283196" cy="2718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72311" y="1542287"/>
              <a:ext cx="7283450" cy="2719070"/>
            </a:xfrm>
            <a:custGeom>
              <a:avLst/>
              <a:gdLst/>
              <a:ahLst/>
              <a:cxnLst/>
              <a:rect l="l" t="t" r="r" b="b"/>
              <a:pathLst>
                <a:path w="7283450" h="2719070">
                  <a:moveTo>
                    <a:pt x="0" y="113284"/>
                  </a:moveTo>
                  <a:lnTo>
                    <a:pt x="8903" y="69169"/>
                  </a:lnTo>
                  <a:lnTo>
                    <a:pt x="33183" y="33162"/>
                  </a:lnTo>
                  <a:lnTo>
                    <a:pt x="69196" y="8895"/>
                  </a:lnTo>
                  <a:lnTo>
                    <a:pt x="113296" y="0"/>
                  </a:lnTo>
                  <a:lnTo>
                    <a:pt x="7169911" y="0"/>
                  </a:lnTo>
                  <a:lnTo>
                    <a:pt x="7214026" y="8895"/>
                  </a:lnTo>
                  <a:lnTo>
                    <a:pt x="7250033" y="33162"/>
                  </a:lnTo>
                  <a:lnTo>
                    <a:pt x="7274300" y="69169"/>
                  </a:lnTo>
                  <a:lnTo>
                    <a:pt x="7283196" y="113284"/>
                  </a:lnTo>
                  <a:lnTo>
                    <a:pt x="7283196" y="2605532"/>
                  </a:lnTo>
                  <a:lnTo>
                    <a:pt x="7274300" y="2649646"/>
                  </a:lnTo>
                  <a:lnTo>
                    <a:pt x="7250033" y="2685653"/>
                  </a:lnTo>
                  <a:lnTo>
                    <a:pt x="7214026" y="2709920"/>
                  </a:lnTo>
                  <a:lnTo>
                    <a:pt x="7169911" y="2718816"/>
                  </a:lnTo>
                  <a:lnTo>
                    <a:pt x="113296" y="2718816"/>
                  </a:lnTo>
                  <a:lnTo>
                    <a:pt x="69196" y="2709920"/>
                  </a:lnTo>
                  <a:lnTo>
                    <a:pt x="33183" y="2685653"/>
                  </a:lnTo>
                  <a:lnTo>
                    <a:pt x="8903" y="2649646"/>
                  </a:lnTo>
                  <a:lnTo>
                    <a:pt x="0" y="2605532"/>
                  </a:lnTo>
                  <a:lnTo>
                    <a:pt x="0" y="113284"/>
                  </a:lnTo>
                  <a:close/>
                </a:path>
              </a:pathLst>
            </a:custGeom>
            <a:ln w="9144">
              <a:solidFill>
                <a:srgbClr val="CCB8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825" indent="-342900">
              <a:lnSpc>
                <a:spcPct val="100000"/>
              </a:lnSpc>
              <a:spcBef>
                <a:spcPts val="95"/>
              </a:spcBef>
              <a:buClr>
                <a:srgbClr val="006699"/>
              </a:buClr>
              <a:buAutoNum type="arabicPeriod"/>
              <a:tabLst>
                <a:tab pos="378460" algn="l"/>
                <a:tab pos="379095" algn="l"/>
              </a:tabLst>
            </a:pPr>
            <a:r>
              <a:rPr spc="-5" dirty="0"/>
              <a:t>Configure the AD </a:t>
            </a:r>
            <a:r>
              <a:rPr spc="-10" dirty="0"/>
              <a:t>DS </a:t>
            </a:r>
            <a:r>
              <a:rPr spc="-5" dirty="0"/>
              <a:t>domain controller and</a:t>
            </a:r>
            <a:r>
              <a:rPr spc="140" dirty="0"/>
              <a:t> </a:t>
            </a:r>
            <a:r>
              <a:rPr spc="-10" dirty="0"/>
              <a:t>DNS</a:t>
            </a:r>
          </a:p>
          <a:p>
            <a:pPr marL="377825" indent="-34290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AutoNum type="arabicPeriod"/>
              <a:tabLst>
                <a:tab pos="378460" algn="l"/>
                <a:tab pos="379095" algn="l"/>
              </a:tabLst>
            </a:pPr>
            <a:r>
              <a:rPr spc="-5" dirty="0"/>
              <a:t>Configure the PKI</a:t>
            </a:r>
            <a:r>
              <a:rPr spc="15" dirty="0"/>
              <a:t> </a:t>
            </a:r>
            <a:r>
              <a:rPr spc="-5" dirty="0"/>
              <a:t>environment</a:t>
            </a:r>
          </a:p>
          <a:p>
            <a:pPr marL="377825" marR="5080" indent="-342900">
              <a:lnSpc>
                <a:spcPct val="135000"/>
              </a:lnSpc>
              <a:spcBef>
                <a:spcPts val="770"/>
              </a:spcBef>
              <a:buClr>
                <a:srgbClr val="006699"/>
              </a:buClr>
              <a:buAutoNum type="arabicPeriod"/>
              <a:tabLst>
                <a:tab pos="378460" algn="l"/>
                <a:tab pos="379095" algn="l"/>
              </a:tabLst>
            </a:pPr>
            <a:r>
              <a:rPr spc="-5" dirty="0"/>
              <a:t>Configure the DirectAccess </a:t>
            </a:r>
            <a:r>
              <a:rPr spc="-10" dirty="0"/>
              <a:t>clients </a:t>
            </a:r>
            <a:r>
              <a:rPr spc="-5" dirty="0"/>
              <a:t>and </a:t>
            </a:r>
            <a:r>
              <a:rPr spc="-10" dirty="0"/>
              <a:t>test Intranet </a:t>
            </a:r>
            <a:r>
              <a:rPr spc="-5" dirty="0"/>
              <a:t>and Internet  </a:t>
            </a:r>
            <a:r>
              <a:rPr spc="-10" dirty="0"/>
              <a:t>Access</a:t>
            </a:r>
          </a:p>
          <a:p>
            <a:pPr marL="377825" indent="-34290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AutoNum type="arabicPeriod"/>
              <a:tabLst>
                <a:tab pos="378460" algn="l"/>
                <a:tab pos="379095" algn="l"/>
              </a:tabLst>
            </a:pPr>
            <a:r>
              <a:rPr spc="-5" dirty="0"/>
              <a:t>Configure the DirectAccess</a:t>
            </a:r>
            <a:r>
              <a:rPr spc="65" dirty="0"/>
              <a:t> </a:t>
            </a:r>
            <a:r>
              <a:rPr spc="-10" dirty="0"/>
              <a:t>server</a:t>
            </a:r>
          </a:p>
          <a:p>
            <a:pPr marL="377825" indent="-34290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AutoNum type="arabicPeriod"/>
              <a:tabLst>
                <a:tab pos="378460" algn="l"/>
                <a:tab pos="379095" algn="l"/>
              </a:tabLst>
            </a:pPr>
            <a:r>
              <a:rPr spc="-20" dirty="0"/>
              <a:t>Verify </a:t>
            </a:r>
            <a:r>
              <a:rPr spc="-10" dirty="0"/>
              <a:t>DirectAccess</a:t>
            </a:r>
            <a:r>
              <a:rPr spc="85" dirty="0"/>
              <a:t> </a:t>
            </a:r>
            <a:r>
              <a:rPr spc="-10" dirty="0"/>
              <a:t>functionality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1733</Words>
  <Application>Microsoft Office PowerPoint</Application>
  <PresentationFormat>On-screen Show (4:3)</PresentationFormat>
  <Paragraphs>410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Liberation Sans Narrow</vt:lpstr>
      <vt:lpstr>Times New Roman</vt:lpstr>
      <vt:lpstr>Verdana</vt:lpstr>
      <vt:lpstr>Wingdings</vt:lpstr>
      <vt:lpstr>Office Theme</vt:lpstr>
      <vt:lpstr>PowerPoint Presentation</vt:lpstr>
      <vt:lpstr>Module Overview</vt:lpstr>
      <vt:lpstr>1: Configuring Network Access</vt:lpstr>
      <vt:lpstr>Components of a Network Access Services  Infrastructure</vt:lpstr>
      <vt:lpstr>What Is the Network Policy and Access Services Role?</vt:lpstr>
      <vt:lpstr>What Is Routing and Remote Access?</vt:lpstr>
      <vt:lpstr>Network Authentication and Authorization</vt:lpstr>
      <vt:lpstr>Types of Authentication Methods</vt:lpstr>
      <vt:lpstr>Integrating DHCP Servers with Routing and  Remote Access Service</vt:lpstr>
      <vt:lpstr>2: Configuring VPN Access</vt:lpstr>
      <vt:lpstr>What Is a VPN Connection?</vt:lpstr>
      <vt:lpstr>Components of a VPN Connection</vt:lpstr>
      <vt:lpstr>Tunneling Protocols for a VPN Connection</vt:lpstr>
      <vt:lpstr>Configuration Requirements</vt:lpstr>
      <vt:lpstr>What Is VPN Reconnect?</vt:lpstr>
      <vt:lpstr>Completing Additional Tasks</vt:lpstr>
      <vt:lpstr>3: Overview of Network Policies</vt:lpstr>
      <vt:lpstr>What Is a Network Policy?</vt:lpstr>
      <vt:lpstr>Process for Creating and Configuring a Network Policy</vt:lpstr>
      <vt:lpstr>How are Network Policies Processed?</vt:lpstr>
      <vt:lpstr>4: Overview of the Connection Manager  Administration Kit</vt:lpstr>
      <vt:lpstr>What Is the Connection Manager Administration Kit?</vt:lpstr>
      <vt:lpstr>Process for Configuring a Connection Profile</vt:lpstr>
      <vt:lpstr>Distributing the Connection Profile to Users</vt:lpstr>
      <vt:lpstr>5: Troubleshooting Routing and Remote Access</vt:lpstr>
      <vt:lpstr>Authentication and Accounting Logging</vt:lpstr>
      <vt:lpstr>Configuring Remote Access Logging</vt:lpstr>
      <vt:lpstr>Configuring Remote Access Tracing</vt:lpstr>
      <vt:lpstr>Resolving General VPN Problems</vt:lpstr>
      <vt:lpstr>Troubleshooting Other Issues</vt:lpstr>
      <vt:lpstr>6: Configuring DirectAccess</vt:lpstr>
      <vt:lpstr>Discussion: Complexities of Managing VPNs</vt:lpstr>
      <vt:lpstr>What Is DirectAccess?</vt:lpstr>
      <vt:lpstr>Components of DirectAccess</vt:lpstr>
      <vt:lpstr>What Is the Name Resolution Policy Table?</vt:lpstr>
      <vt:lpstr>How DirectAccess Works for Internal Clients</vt:lpstr>
      <vt:lpstr>How DirectAccess Works for External Clients</vt:lpstr>
      <vt:lpstr>Configuring DirectAccess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Nhung Vuong</dc:creator>
  <cp:lastModifiedBy>ADMIN</cp:lastModifiedBy>
  <cp:revision>2</cp:revision>
  <dcterms:created xsi:type="dcterms:W3CDTF">2020-11-16T07:59:07Z</dcterms:created>
  <dcterms:modified xsi:type="dcterms:W3CDTF">2020-11-16T08:02:58Z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2015-05-16T00:00:00Z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2020-11-16T00:00:00Z</vt:filetime>
  </property>
</Properties>
</file>