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00555" y="1965960"/>
            <a:ext cx="6483096" cy="12359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14527" y="2621280"/>
            <a:ext cx="8311896" cy="12359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166" y="2101723"/>
            <a:ext cx="7595666" cy="1336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3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4672" y="3609213"/>
            <a:ext cx="599465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88888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534411" y="103631"/>
            <a:ext cx="4091940" cy="8138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39567" y="530351"/>
            <a:ext cx="3791711" cy="8138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31252" y="6277355"/>
            <a:ext cx="1412748" cy="5806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6280403"/>
            <a:ext cx="182880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93774" y="-62661"/>
            <a:ext cx="6156451" cy="158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1938" y="2316226"/>
            <a:ext cx="6580123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2302" y="6432317"/>
            <a:ext cx="22383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4145" y="6432317"/>
            <a:ext cx="243840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/>
        </p:nvSpPr>
        <p:spPr>
          <a:xfrm>
            <a:off x="-152400" y="2057400"/>
            <a:ext cx="8763000" cy="16741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5400" b="0" i="0">
                <a:solidFill>
                  <a:srgbClr val="2E5796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 marR="5080" indent="985519" algn="ctr">
              <a:spcBef>
                <a:spcPts val="95"/>
              </a:spcBef>
            </a:pPr>
            <a:r>
              <a:rPr lang="en-US" kern="0" spc="210" dirty="0" smtClean="0"/>
              <a:t>Configuring  </a:t>
            </a:r>
            <a:r>
              <a:rPr lang="en-US" kern="0" spc="200" dirty="0" smtClean="0"/>
              <a:t>Application </a:t>
            </a:r>
            <a:r>
              <a:rPr lang="en-US" kern="0" spc="145" dirty="0" smtClean="0"/>
              <a:t>Restriction</a:t>
            </a:r>
            <a:r>
              <a:rPr lang="en-US" kern="0" spc="-175" dirty="0" smtClean="0"/>
              <a:t> </a:t>
            </a:r>
            <a:r>
              <a:rPr lang="en-US" kern="0" spc="85" dirty="0" smtClean="0"/>
              <a:t>Policies</a:t>
            </a:r>
            <a:endParaRPr lang="en-US" kern="0" spc="85" dirty="0"/>
          </a:p>
        </p:txBody>
      </p:sp>
    </p:spTree>
    <p:extLst>
      <p:ext uri="{BB962C8B-B14F-4D97-AF65-F5344CB8AC3E}">
        <p14:creationId xmlns:p14="http://schemas.microsoft.com/office/powerpoint/2010/main" val="62593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6039" y="504444"/>
            <a:ext cx="392887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7905" y="674065"/>
            <a:ext cx="30276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5" dirty="0"/>
              <a:t>O</a:t>
            </a:r>
            <a:r>
              <a:rPr spc="185" dirty="0"/>
              <a:t>v</a:t>
            </a:r>
            <a:r>
              <a:rPr spc="290" dirty="0"/>
              <a:t>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719059" cy="2414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Exam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Objective </a:t>
            </a: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6.3: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Application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</a:t>
            </a:r>
            <a:r>
              <a:rPr sz="28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Using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AppLocker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4024" y="2167127"/>
            <a:ext cx="7459980" cy="2106295"/>
            <a:chOff x="954024" y="2167127"/>
            <a:chExt cx="7459980" cy="2106295"/>
          </a:xfrm>
        </p:grpSpPr>
        <p:sp>
          <p:nvSpPr>
            <p:cNvPr id="3" name="object 3"/>
            <p:cNvSpPr/>
            <p:nvPr/>
          </p:nvSpPr>
          <p:spPr>
            <a:xfrm>
              <a:off x="954024" y="2167127"/>
              <a:ext cx="7459980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07920" y="2898647"/>
              <a:ext cx="4398263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9875" marR="5080" indent="-1454785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Installing </a:t>
            </a:r>
            <a:r>
              <a:rPr spc="175" dirty="0"/>
              <a:t>Software</a:t>
            </a:r>
            <a:r>
              <a:rPr spc="-190" dirty="0"/>
              <a:t> </a:t>
            </a:r>
            <a:r>
              <a:rPr spc="305" dirty="0"/>
              <a:t>with  </a:t>
            </a:r>
            <a:r>
              <a:rPr spc="330" dirty="0"/>
              <a:t>Group</a:t>
            </a:r>
            <a:r>
              <a:rPr spc="5" dirty="0"/>
              <a:t> </a:t>
            </a:r>
            <a:r>
              <a:rPr spc="11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056257" y="4022916"/>
            <a:ext cx="510413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18: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</a:t>
            </a:r>
            <a:r>
              <a:rPr sz="2400" spc="-60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Application</a:t>
            </a:r>
            <a:endParaRPr sz="2400">
              <a:latin typeface="Gothic Uralic"/>
              <a:cs typeface="Gothic Uralic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Restriction</a:t>
            </a:r>
            <a:r>
              <a:rPr sz="2400" spc="-3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3295" y="0"/>
            <a:ext cx="8385175" cy="2048510"/>
            <a:chOff x="463295" y="0"/>
            <a:chExt cx="8385175" cy="2048510"/>
          </a:xfrm>
        </p:grpSpPr>
        <p:sp>
          <p:nvSpPr>
            <p:cNvPr id="3" name="object 3"/>
            <p:cNvSpPr/>
            <p:nvPr/>
          </p:nvSpPr>
          <p:spPr>
            <a:xfrm>
              <a:off x="463295" y="0"/>
              <a:ext cx="838504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97023" y="504444"/>
              <a:ext cx="494842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4806" y="0"/>
            <a:ext cx="7315834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645920" marR="5080" indent="-1633855">
              <a:lnSpc>
                <a:spcPts val="5800"/>
              </a:lnSpc>
              <a:spcBef>
                <a:spcPts val="860"/>
              </a:spcBef>
            </a:pPr>
            <a:r>
              <a:rPr spc="215" dirty="0"/>
              <a:t>Installing </a:t>
            </a:r>
            <a:r>
              <a:rPr spc="200" dirty="0"/>
              <a:t>Software</a:t>
            </a:r>
            <a:r>
              <a:rPr spc="-250" dirty="0"/>
              <a:t> </a:t>
            </a:r>
            <a:r>
              <a:rPr spc="345" dirty="0"/>
              <a:t>with  </a:t>
            </a:r>
            <a:r>
              <a:rPr spc="375" dirty="0"/>
              <a:t>Group</a:t>
            </a:r>
            <a:r>
              <a:rPr spc="2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5925"/>
            <a:ext cx="7622540" cy="43529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Administrators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Group Policy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install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, 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upgrade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patch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2600" b="1" dirty="0">
                <a:solidFill>
                  <a:srgbClr val="7E7E7E"/>
                </a:solidFill>
                <a:latin typeface="Gothic Uralic"/>
                <a:cs typeface="Gothic Uralic"/>
              </a:rPr>
              <a:t>remove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 applications:</a:t>
            </a:r>
            <a:endParaRPr sz="26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270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computer</a:t>
            </a:r>
            <a:r>
              <a:rPr sz="22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starts,</a:t>
            </a:r>
            <a:endParaRPr sz="22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265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user logs on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the</a:t>
            </a:r>
            <a:r>
              <a:rPr sz="22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network</a:t>
            </a:r>
            <a:endParaRPr sz="2200">
              <a:latin typeface="Gothic Uralic"/>
              <a:cs typeface="Gothic Uralic"/>
            </a:endParaRPr>
          </a:p>
          <a:p>
            <a:pPr marL="756285" marR="511175" lvl="1" indent="-287020">
              <a:lnSpc>
                <a:spcPts val="2380"/>
              </a:lnSpc>
              <a:spcBef>
                <a:spcPts val="560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user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accesses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file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associated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that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not currently on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user's  computer</a:t>
            </a:r>
            <a:endParaRPr sz="2200">
              <a:latin typeface="Gothic Uralic"/>
              <a:cs typeface="Gothic Uralic"/>
            </a:endParaRPr>
          </a:p>
          <a:p>
            <a:pPr marL="355600" marR="619125" indent="-343535" algn="just">
              <a:lnSpc>
                <a:spcPts val="2810"/>
              </a:lnSpc>
              <a:spcBef>
                <a:spcPts val="620"/>
              </a:spcBef>
              <a:buFont typeface="Arial"/>
              <a:buChar char="•"/>
              <a:tabLst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use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Group Policy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600" b="1" dirty="0">
                <a:solidFill>
                  <a:srgbClr val="7E7E7E"/>
                </a:solidFill>
                <a:latin typeface="Gothic Uralic"/>
                <a:cs typeface="Gothic Uralic"/>
              </a:rPr>
              <a:t>fix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problems associated with applications by  </a:t>
            </a:r>
            <a:r>
              <a:rPr sz="2600" spc="-10" dirty="0">
                <a:solidFill>
                  <a:srgbClr val="7E7E7E"/>
                </a:solidFill>
                <a:latin typeface="Gothic Uralic"/>
                <a:cs typeface="Gothic Uralic"/>
              </a:rPr>
              <a:t>launching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repair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will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fix the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5211" y="504444"/>
            <a:ext cx="651052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66697" y="674065"/>
            <a:ext cx="56102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30" dirty="0"/>
              <a:t>Windows</a:t>
            </a:r>
            <a:r>
              <a:rPr spc="-90" dirty="0"/>
              <a:t> </a:t>
            </a:r>
            <a:r>
              <a:rPr spc="210" dirty="0"/>
              <a:t>Installer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969884" cy="3988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 2012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uses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 Installer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install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manage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packaged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into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Microsoft Installer files,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 .msi</a:t>
            </a:r>
            <a:r>
              <a:rPr sz="28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extension</a:t>
            </a:r>
            <a:endParaRPr sz="2800">
              <a:latin typeface="Gothic Uralic"/>
              <a:cs typeface="Gothic Uralic"/>
            </a:endParaRPr>
          </a:p>
          <a:p>
            <a:pPr marL="355600" marR="83883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client-side component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called the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Installer</a:t>
            </a:r>
            <a:r>
              <a:rPr sz="2800" spc="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Service:</a:t>
            </a:r>
            <a:endParaRPr sz="2800">
              <a:latin typeface="Gothic Uralic"/>
              <a:cs typeface="Gothic Uralic"/>
            </a:endParaRPr>
          </a:p>
          <a:p>
            <a:pPr marL="756285" marR="267335" indent="-28702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solidFill>
                  <a:srgbClr val="7E7E7E"/>
                </a:solidFill>
                <a:latin typeface="Courier New"/>
                <a:cs typeface="Courier New"/>
              </a:rPr>
              <a:t>o</a:t>
            </a:r>
            <a:r>
              <a:rPr sz="2400" spc="-730" dirty="0">
                <a:solidFill>
                  <a:srgbClr val="7E7E7E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Responsible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automating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installation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configuration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 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designated</a:t>
            </a:r>
            <a:r>
              <a:rPr sz="2400" spc="-7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</a:t>
            </a:r>
            <a:endParaRPr sz="24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Server-side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component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207" y="0"/>
            <a:ext cx="9004300" cy="2048510"/>
            <a:chOff x="140207" y="0"/>
            <a:chExt cx="9004300" cy="2048510"/>
          </a:xfrm>
        </p:grpSpPr>
        <p:sp>
          <p:nvSpPr>
            <p:cNvPr id="3" name="object 3"/>
            <p:cNvSpPr/>
            <p:nvPr/>
          </p:nvSpPr>
          <p:spPr>
            <a:xfrm>
              <a:off x="140207" y="0"/>
              <a:ext cx="9003792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29612" y="504444"/>
              <a:ext cx="468172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1718" y="0"/>
            <a:ext cx="795909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101850" marR="5080" indent="-2089785">
              <a:lnSpc>
                <a:spcPts val="5800"/>
              </a:lnSpc>
              <a:spcBef>
                <a:spcPts val="860"/>
              </a:spcBef>
              <a:tabLst>
                <a:tab pos="4747895" algn="l"/>
              </a:tabLst>
            </a:pPr>
            <a:r>
              <a:rPr spc="325" dirty="0"/>
              <a:t>Windows </a:t>
            </a:r>
            <a:r>
              <a:rPr spc="210" dirty="0"/>
              <a:t>Installer</a:t>
            </a:r>
            <a:r>
              <a:rPr spc="-395" dirty="0"/>
              <a:t> </a:t>
            </a:r>
            <a:r>
              <a:rPr spc="135" dirty="0"/>
              <a:t>Service  </a:t>
            </a:r>
            <a:r>
              <a:rPr spc="210" dirty="0"/>
              <a:t>Package	</a:t>
            </a:r>
            <a:r>
              <a:rPr spc="75" dirty="0"/>
              <a:t>File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53921"/>
            <a:ext cx="8014970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package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file consists of the following</a:t>
            </a:r>
            <a:r>
              <a:rPr sz="2400" spc="-1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information: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.msi file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relational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database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file that</a:t>
            </a:r>
            <a:r>
              <a:rPr sz="2400" spc="-1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copied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target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 system,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 program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deploys.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addition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providing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installation information,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this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database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file assists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in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self-healing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process for damaged applications  and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clean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</a:t>
            </a:r>
            <a:r>
              <a:rPr sz="24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removal.</a:t>
            </a:r>
            <a:endParaRPr sz="2400">
              <a:latin typeface="Gothic Uralic"/>
              <a:cs typeface="Gothic Uralic"/>
            </a:endParaRPr>
          </a:p>
          <a:p>
            <a:pPr marL="355600" marR="327025" indent="-343535">
              <a:lnSpc>
                <a:spcPts val="2300"/>
              </a:lnSpc>
              <a:spcBef>
                <a:spcPts val="5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External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source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required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for software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installation or</a:t>
            </a:r>
            <a:r>
              <a:rPr sz="24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removal.</a:t>
            </a:r>
            <a:endParaRPr sz="2400">
              <a:latin typeface="Gothic Uralic"/>
              <a:cs typeface="Gothic Uralic"/>
            </a:endParaRPr>
          </a:p>
          <a:p>
            <a:pPr marL="355600" marR="339090" indent="-343535">
              <a:lnSpc>
                <a:spcPct val="80000"/>
              </a:lnSpc>
              <a:spcBef>
                <a:spcPts val="6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Summary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information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about the software and the  package.</a:t>
            </a:r>
            <a:endParaRPr sz="2400">
              <a:latin typeface="Gothic Uralic"/>
              <a:cs typeface="Gothic Uralic"/>
            </a:endParaRPr>
          </a:p>
          <a:p>
            <a:pPr marL="355600" marR="95250" indent="-343535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reference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point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the path where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are</a:t>
            </a:r>
            <a:r>
              <a:rPr sz="2400" spc="-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located.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3231" y="504444"/>
            <a:ext cx="771448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4742" y="674065"/>
            <a:ext cx="68135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50" dirty="0"/>
              <a:t>Repackaging</a:t>
            </a:r>
            <a:r>
              <a:rPr spc="-45" dirty="0"/>
              <a:t> </a:t>
            </a:r>
            <a:r>
              <a:rPr spc="200" dirty="0"/>
              <a:t>Software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955915" cy="4356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12115" indent="-3435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Several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third-party package-creation  applications on the market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 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 repackage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products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into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Installer-enabled</a:t>
            </a:r>
            <a:r>
              <a:rPr sz="2800" spc="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format.</a:t>
            </a:r>
            <a:endParaRPr sz="2800">
              <a:latin typeface="Gothic Uralic"/>
              <a:cs typeface="Gothic Uralic"/>
            </a:endParaRPr>
          </a:p>
          <a:p>
            <a:pPr marL="355600" marR="265430" indent="-343535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repackaging 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.msi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distribution consists of 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following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steps:</a:t>
            </a:r>
            <a:endParaRPr sz="2800">
              <a:latin typeface="Gothic Uralic"/>
              <a:cs typeface="Gothic Uralic"/>
            </a:endParaRPr>
          </a:p>
          <a:p>
            <a:pPr marL="927100" indent="-457834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Take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snapshot of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clean computer system.</a:t>
            </a:r>
            <a:endParaRPr sz="2400">
              <a:latin typeface="Gothic Uralic"/>
              <a:cs typeface="Gothic Uralic"/>
            </a:endParaRPr>
          </a:p>
          <a:p>
            <a:pPr marL="927100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Install and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configure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application as</a:t>
            </a:r>
            <a:r>
              <a:rPr sz="2400" spc="-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desired.</a:t>
            </a:r>
            <a:endParaRPr sz="2400">
              <a:latin typeface="Gothic Uralic"/>
              <a:cs typeface="Gothic Uralic"/>
            </a:endParaRPr>
          </a:p>
          <a:p>
            <a:pPr marL="927100" marR="770890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27100" algn="l"/>
                <a:tab pos="9277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Take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snapshot of the computer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after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 application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</a:t>
            </a:r>
            <a:r>
              <a:rPr sz="2400" spc="-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installed.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393" y="0"/>
            <a:ext cx="9055735" cy="2048510"/>
            <a:chOff x="88393" y="0"/>
            <a:chExt cx="9055735" cy="2048510"/>
          </a:xfrm>
        </p:grpSpPr>
        <p:sp>
          <p:nvSpPr>
            <p:cNvPr id="3" name="object 3"/>
            <p:cNvSpPr/>
            <p:nvPr/>
          </p:nvSpPr>
          <p:spPr>
            <a:xfrm>
              <a:off x="88393" y="0"/>
              <a:ext cx="905560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97023" y="504444"/>
              <a:ext cx="494842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9597" y="0"/>
            <a:ext cx="806958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021205" marR="5080" indent="-2009139">
              <a:lnSpc>
                <a:spcPts val="5800"/>
              </a:lnSpc>
              <a:spcBef>
                <a:spcPts val="860"/>
              </a:spcBef>
            </a:pPr>
            <a:r>
              <a:rPr spc="270" dirty="0"/>
              <a:t>Deploying </a:t>
            </a:r>
            <a:r>
              <a:rPr spc="204" dirty="0"/>
              <a:t>Software</a:t>
            </a:r>
            <a:r>
              <a:rPr spc="-320" dirty="0"/>
              <a:t> </a:t>
            </a:r>
            <a:r>
              <a:rPr spc="260" dirty="0"/>
              <a:t>Using  </a:t>
            </a:r>
            <a:r>
              <a:rPr spc="375" dirty="0"/>
              <a:t>Group</a:t>
            </a:r>
            <a:r>
              <a:rPr spc="2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5925"/>
            <a:ext cx="8019415" cy="428625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Before deploying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software using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Group Policy,  you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must create a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distribution share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—a network  location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from </a:t>
            </a:r>
            <a:r>
              <a:rPr sz="2600" spc="-10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users can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download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they</a:t>
            </a:r>
            <a:r>
              <a:rPr sz="2600" spc="-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need.</a:t>
            </a:r>
            <a:endParaRPr sz="2600">
              <a:latin typeface="Gothic Uralic"/>
              <a:cs typeface="Gothic Uralic"/>
            </a:endParaRPr>
          </a:p>
          <a:p>
            <a:pPr marL="355600" marR="524510" indent="-343535">
              <a:lnSpc>
                <a:spcPts val="281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Create 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GPO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or modify 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existing GPO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include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installation settings, plus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one of two</a:t>
            </a:r>
            <a:r>
              <a:rPr sz="26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options:</a:t>
            </a:r>
            <a:endParaRPr sz="2600">
              <a:latin typeface="Gothic Uralic"/>
              <a:cs typeface="Gothic Uralic"/>
            </a:endParaRPr>
          </a:p>
          <a:p>
            <a:pPr marL="756285" marR="972819" lvl="1" indent="-287020">
              <a:lnSpc>
                <a:spcPct val="90100"/>
              </a:lnSpc>
              <a:spcBef>
                <a:spcPts val="480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b="1" spc="-5" dirty="0">
                <a:solidFill>
                  <a:srgbClr val="7E7E7E"/>
                </a:solidFill>
                <a:latin typeface="Gothic Uralic"/>
                <a:cs typeface="Gothic Uralic"/>
              </a:rPr>
              <a:t>Assign </a:t>
            </a:r>
            <a:r>
              <a:rPr sz="2200" b="1" spc="-10" dirty="0">
                <a:solidFill>
                  <a:srgbClr val="7E7E7E"/>
                </a:solidFill>
                <a:latin typeface="Gothic Uralic"/>
                <a:cs typeface="Gothic Uralic"/>
              </a:rPr>
              <a:t>option: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Helpful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are deploying  required applications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pertinent users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computers.</a:t>
            </a:r>
            <a:endParaRPr sz="2200">
              <a:latin typeface="Gothic Uralic"/>
              <a:cs typeface="Gothic Uralic"/>
            </a:endParaRPr>
          </a:p>
          <a:p>
            <a:pPr marL="756285" lvl="1" indent="-287020">
              <a:lnSpc>
                <a:spcPts val="2510"/>
              </a:lnSpc>
              <a:spcBef>
                <a:spcPts val="265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b="1" spc="-10" dirty="0">
                <a:solidFill>
                  <a:srgbClr val="7E7E7E"/>
                </a:solidFill>
                <a:latin typeface="Gothic Uralic"/>
                <a:cs typeface="Gothic Uralic"/>
              </a:rPr>
              <a:t>Publish option: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Enables users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install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2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</a:t>
            </a:r>
            <a:endParaRPr sz="2200">
              <a:latin typeface="Gothic Uralic"/>
              <a:cs typeface="Gothic Uralic"/>
            </a:endParaRPr>
          </a:p>
          <a:p>
            <a:pPr marL="756285">
              <a:lnSpc>
                <a:spcPts val="2510"/>
              </a:lnSpc>
            </a:pP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that they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consider useful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</a:t>
            </a:r>
            <a:r>
              <a:rPr sz="22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them.</a:t>
            </a:r>
            <a:endParaRPr sz="2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432" y="103631"/>
            <a:ext cx="3714115" cy="1240790"/>
            <a:chOff x="2694432" y="103631"/>
            <a:chExt cx="3714115" cy="1240790"/>
          </a:xfrm>
        </p:grpSpPr>
        <p:sp>
          <p:nvSpPr>
            <p:cNvPr id="3" name="object 3"/>
            <p:cNvSpPr/>
            <p:nvPr/>
          </p:nvSpPr>
          <p:spPr>
            <a:xfrm>
              <a:off x="2750820" y="103631"/>
              <a:ext cx="365760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4432" y="530351"/>
              <a:ext cx="368198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47165" marR="5080" indent="5588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5" dirty="0"/>
              <a:t> </a:t>
            </a:r>
            <a:r>
              <a:rPr sz="2800" spc="114" dirty="0"/>
              <a:t>Defaults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701289" y="5840069"/>
            <a:ext cx="36652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folder in a</a:t>
            </a:r>
            <a:r>
              <a:rPr sz="1600" spc="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GPO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5400" y="1463039"/>
            <a:ext cx="6556248" cy="37017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432" y="103631"/>
            <a:ext cx="3714115" cy="1240790"/>
            <a:chOff x="2694432" y="103631"/>
            <a:chExt cx="3714115" cy="1240790"/>
          </a:xfrm>
        </p:grpSpPr>
        <p:sp>
          <p:nvSpPr>
            <p:cNvPr id="3" name="object 3"/>
            <p:cNvSpPr/>
            <p:nvPr/>
          </p:nvSpPr>
          <p:spPr>
            <a:xfrm>
              <a:off x="2750820" y="103631"/>
              <a:ext cx="365760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4432" y="530351"/>
              <a:ext cx="368198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47165" marR="5080" indent="5588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5" dirty="0"/>
              <a:t> </a:t>
            </a:r>
            <a:r>
              <a:rPr sz="2800" spc="114" dirty="0"/>
              <a:t>Defaults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535173" y="5840069"/>
            <a:ext cx="4000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Properties</a:t>
            </a:r>
            <a:r>
              <a:rPr sz="1600" spc="1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1295400"/>
            <a:ext cx="3895344" cy="434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432" y="103631"/>
            <a:ext cx="3714115" cy="1240790"/>
            <a:chOff x="2694432" y="103631"/>
            <a:chExt cx="3714115" cy="1240790"/>
          </a:xfrm>
        </p:grpSpPr>
        <p:sp>
          <p:nvSpPr>
            <p:cNvPr id="3" name="object 3"/>
            <p:cNvSpPr/>
            <p:nvPr/>
          </p:nvSpPr>
          <p:spPr>
            <a:xfrm>
              <a:off x="2750820" y="103631"/>
              <a:ext cx="365760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4432" y="530351"/>
              <a:ext cx="368198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47165" marR="5080" indent="5588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5" dirty="0"/>
              <a:t> </a:t>
            </a:r>
            <a:r>
              <a:rPr sz="2800" spc="114" dirty="0"/>
              <a:t>Defaults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262377" y="5815685"/>
            <a:ext cx="4545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Advanced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</a:t>
            </a:r>
            <a:r>
              <a:rPr sz="1600" spc="1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9088" y="1251203"/>
            <a:ext cx="3867912" cy="4315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5484" y="6033953"/>
            <a:ext cx="1583055" cy="27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724" y="6172018"/>
            <a:ext cx="22383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-10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432" y="103631"/>
            <a:ext cx="3714115" cy="1240790"/>
            <a:chOff x="2694432" y="103631"/>
            <a:chExt cx="3714115" cy="1240790"/>
          </a:xfrm>
        </p:grpSpPr>
        <p:sp>
          <p:nvSpPr>
            <p:cNvPr id="3" name="object 3"/>
            <p:cNvSpPr/>
            <p:nvPr/>
          </p:nvSpPr>
          <p:spPr>
            <a:xfrm>
              <a:off x="2750820" y="103631"/>
              <a:ext cx="365760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4432" y="530351"/>
              <a:ext cx="368198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47165" marR="5080" indent="5588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5" dirty="0"/>
              <a:t> </a:t>
            </a:r>
            <a:r>
              <a:rPr sz="2800" spc="114" dirty="0"/>
              <a:t>Defaults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117598" y="5815685"/>
            <a:ext cx="48342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File Extensions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</a:t>
            </a:r>
            <a:r>
              <a:rPr sz="1600" spc="1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800" y="1298447"/>
            <a:ext cx="3829812" cy="42717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5484" y="6033953"/>
            <a:ext cx="1583055" cy="27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724" y="6172018"/>
            <a:ext cx="22383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-10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4432" y="103631"/>
            <a:ext cx="3714115" cy="1240790"/>
            <a:chOff x="2694432" y="103631"/>
            <a:chExt cx="3714115" cy="1240790"/>
          </a:xfrm>
        </p:grpSpPr>
        <p:sp>
          <p:nvSpPr>
            <p:cNvPr id="3" name="object 3"/>
            <p:cNvSpPr/>
            <p:nvPr/>
          </p:nvSpPr>
          <p:spPr>
            <a:xfrm>
              <a:off x="2750820" y="103631"/>
              <a:ext cx="365760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4432" y="530351"/>
              <a:ext cx="3681984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47165" marR="5080" indent="5588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5" dirty="0"/>
              <a:t> </a:t>
            </a:r>
            <a:r>
              <a:rPr sz="2800" spc="114" dirty="0"/>
              <a:t>Defaults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824989" y="5815685"/>
            <a:ext cx="5419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Enter new category 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</a:t>
            </a:r>
            <a:r>
              <a:rPr sz="1600" spc="229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295400"/>
            <a:ext cx="3831336" cy="4274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45484" y="6033953"/>
            <a:ext cx="1583055" cy="274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7724" y="6172018"/>
            <a:ext cx="2238375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-10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78023" y="103631"/>
            <a:ext cx="4204970" cy="1240790"/>
            <a:chOff x="2478023" y="103631"/>
            <a:chExt cx="4204970" cy="1240790"/>
          </a:xfrm>
        </p:grpSpPr>
        <p:sp>
          <p:nvSpPr>
            <p:cNvPr id="3" name="object 3"/>
            <p:cNvSpPr/>
            <p:nvPr/>
          </p:nvSpPr>
          <p:spPr>
            <a:xfrm>
              <a:off x="2478023" y="103631"/>
              <a:ext cx="4204716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15767" y="530351"/>
              <a:ext cx="3640835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468120" marR="5080" indent="-238125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 </a:t>
            </a:r>
            <a:r>
              <a:rPr sz="2800" spc="155" dirty="0"/>
              <a:t>a </a:t>
            </a:r>
            <a:r>
              <a:rPr sz="2800" spc="235" dirty="0"/>
              <a:t>New</a:t>
            </a:r>
            <a:r>
              <a:rPr sz="2800" spc="-35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10" dirty="0"/>
              <a:t>Package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954273" y="5439867"/>
            <a:ext cx="31603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Deploy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992" y="1653539"/>
            <a:ext cx="4864608" cy="3366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4411" y="103631"/>
            <a:ext cx="4091940" cy="1240790"/>
            <a:chOff x="2534411" y="103631"/>
            <a:chExt cx="4091940" cy="1240790"/>
          </a:xfrm>
        </p:grpSpPr>
        <p:sp>
          <p:nvSpPr>
            <p:cNvPr id="3" name="object 3"/>
            <p:cNvSpPr/>
            <p:nvPr/>
          </p:nvSpPr>
          <p:spPr>
            <a:xfrm>
              <a:off x="2534411" y="103631"/>
              <a:ext cx="409194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9567" y="530351"/>
              <a:ext cx="3791711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972817" y="5840069"/>
            <a:ext cx="5124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Installer</a:t>
            </a:r>
            <a:r>
              <a:rPr sz="16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package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1283208"/>
            <a:ext cx="3906011" cy="43571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4411" y="103631"/>
            <a:ext cx="4091940" cy="1240790"/>
            <a:chOff x="2534411" y="103631"/>
            <a:chExt cx="4091940" cy="1240790"/>
          </a:xfrm>
        </p:grpSpPr>
        <p:sp>
          <p:nvSpPr>
            <p:cNvPr id="3" name="object 3"/>
            <p:cNvSpPr/>
            <p:nvPr/>
          </p:nvSpPr>
          <p:spPr>
            <a:xfrm>
              <a:off x="2534411" y="103631"/>
              <a:ext cx="409194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9567" y="530351"/>
              <a:ext cx="3791711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263901" y="5815685"/>
            <a:ext cx="454088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932815" marR="5080" indent="-92075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Deployment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on a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 package’s Properties</a:t>
            </a:r>
            <a:r>
              <a:rPr sz="16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21279" y="1295400"/>
            <a:ext cx="3703320" cy="4133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4411" y="103631"/>
            <a:ext cx="4091940" cy="1240790"/>
            <a:chOff x="2534411" y="103631"/>
            <a:chExt cx="4091940" cy="1240790"/>
          </a:xfrm>
        </p:grpSpPr>
        <p:sp>
          <p:nvSpPr>
            <p:cNvPr id="3" name="object 3"/>
            <p:cNvSpPr/>
            <p:nvPr/>
          </p:nvSpPr>
          <p:spPr>
            <a:xfrm>
              <a:off x="2534411" y="103631"/>
              <a:ext cx="409194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9567" y="530351"/>
              <a:ext cx="3791711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832610" y="5815685"/>
            <a:ext cx="540194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925320" marR="5080" indent="-191325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Upgrades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on a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package’s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295400"/>
            <a:ext cx="3753612" cy="41879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2667000" y="1219200"/>
            <a:ext cx="3906011" cy="435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2302" y="5814497"/>
            <a:ext cx="6619875" cy="83058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3065780" marR="5080" indent="-1977389">
              <a:lnSpc>
                <a:spcPts val="1730"/>
              </a:lnSpc>
              <a:spcBef>
                <a:spcPts val="32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Categories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on 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package’s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200" dirty="0">
                <a:solidFill>
                  <a:srgbClr val="585858"/>
                </a:solidFill>
                <a:latin typeface="Gothic Uralic"/>
                <a:cs typeface="Gothic Uralic"/>
              </a:rPr>
              <a:t>© </a:t>
            </a: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2013 John Wiley &amp; Sons,</a:t>
            </a:r>
            <a:r>
              <a:rPr sz="1200" spc="45" dirty="0">
                <a:solidFill>
                  <a:srgbClr val="585858"/>
                </a:solidFill>
                <a:latin typeface="Gothic Uralic"/>
                <a:cs typeface="Gothic Uralic"/>
              </a:rPr>
              <a:t> </a:t>
            </a:r>
            <a:r>
              <a:rPr sz="1200" spc="5" dirty="0">
                <a:solidFill>
                  <a:srgbClr val="585858"/>
                </a:solidFill>
                <a:latin typeface="Gothic Uralic"/>
                <a:cs typeface="Gothic Uralic"/>
              </a:rPr>
              <a:t>Inc.</a:t>
            </a:r>
            <a:endParaRPr sz="1200">
              <a:latin typeface="Gothic Uralic"/>
              <a:cs typeface="Gothic Uralic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4411" y="103631"/>
            <a:ext cx="4091940" cy="1240790"/>
            <a:chOff x="2534411" y="103631"/>
            <a:chExt cx="4091940" cy="1240790"/>
          </a:xfrm>
        </p:grpSpPr>
        <p:sp>
          <p:nvSpPr>
            <p:cNvPr id="3" name="object 3"/>
            <p:cNvSpPr/>
            <p:nvPr/>
          </p:nvSpPr>
          <p:spPr>
            <a:xfrm>
              <a:off x="2534411" y="103631"/>
              <a:ext cx="409194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9567" y="530351"/>
              <a:ext cx="3791711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212085" y="5815685"/>
            <a:ext cx="464502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984885" marR="5080" indent="-972819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Modifications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on a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 package’s Properties</a:t>
            </a:r>
            <a:r>
              <a:rPr sz="16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1219200"/>
            <a:ext cx="3895344" cy="43464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59545" y="6432317"/>
            <a:ext cx="193040" cy="212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5" dirty="0">
                <a:solidFill>
                  <a:srgbClr val="585858"/>
                </a:solidFill>
                <a:latin typeface="Gothic Uralic"/>
                <a:cs typeface="Gothic Uralic"/>
              </a:rPr>
              <a:t>19</a:t>
            </a:r>
            <a:endParaRPr sz="1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34411" y="103631"/>
            <a:ext cx="4091940" cy="1240790"/>
            <a:chOff x="2534411" y="103631"/>
            <a:chExt cx="4091940" cy="1240790"/>
          </a:xfrm>
        </p:grpSpPr>
        <p:sp>
          <p:nvSpPr>
            <p:cNvPr id="3" name="object 3"/>
            <p:cNvSpPr/>
            <p:nvPr/>
          </p:nvSpPr>
          <p:spPr>
            <a:xfrm>
              <a:off x="2534411" y="103631"/>
              <a:ext cx="4091940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39567" y="530351"/>
              <a:ext cx="3791711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91920" marR="5080" indent="-10541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</a:t>
            </a:r>
            <a:r>
              <a:rPr sz="2800" spc="-60" dirty="0"/>
              <a:t> </a:t>
            </a:r>
            <a:r>
              <a:rPr sz="2800" spc="100" dirty="0"/>
              <a:t>Software  </a:t>
            </a:r>
            <a:r>
              <a:rPr sz="2800" spc="110" dirty="0"/>
              <a:t>Installation</a:t>
            </a:r>
            <a:r>
              <a:rPr sz="2800" spc="-60" dirty="0"/>
              <a:t> </a:t>
            </a:r>
            <a:r>
              <a:rPr sz="2800" spc="105" dirty="0"/>
              <a:t>Packages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927098" y="5815685"/>
            <a:ext cx="521271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830705" marR="5080" indent="-1818639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Security 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on a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installation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package’s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342644"/>
            <a:ext cx="3791711" cy="4230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4919" y="2167127"/>
            <a:ext cx="6841490" cy="2106295"/>
            <a:chOff x="1264919" y="2167127"/>
            <a:chExt cx="6841490" cy="2106295"/>
          </a:xfrm>
        </p:grpSpPr>
        <p:sp>
          <p:nvSpPr>
            <p:cNvPr id="3" name="object 3"/>
            <p:cNvSpPr/>
            <p:nvPr/>
          </p:nvSpPr>
          <p:spPr>
            <a:xfrm>
              <a:off x="1264919" y="2167127"/>
              <a:ext cx="6841235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645919" y="2898647"/>
              <a:ext cx="5923787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7875" marR="5080" indent="-38100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Configuring</a:t>
            </a:r>
            <a:r>
              <a:rPr spc="-10" dirty="0"/>
              <a:t> </a:t>
            </a:r>
            <a:r>
              <a:rPr spc="175" dirty="0"/>
              <a:t>Software  </a:t>
            </a:r>
            <a:r>
              <a:rPr spc="165" dirty="0"/>
              <a:t>Restriction</a:t>
            </a:r>
            <a:r>
              <a:rPr spc="-15" dirty="0"/>
              <a:t> </a:t>
            </a:r>
            <a:r>
              <a:rPr spc="100" dirty="0"/>
              <a:t>Policies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2056257" y="4022916"/>
            <a:ext cx="510413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18: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</a:t>
            </a:r>
            <a:r>
              <a:rPr sz="2400" spc="-60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Application</a:t>
            </a:r>
            <a:endParaRPr sz="2400">
              <a:latin typeface="Gothic Uralic"/>
              <a:cs typeface="Gothic Uralic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Restriction</a:t>
            </a:r>
            <a:r>
              <a:rPr sz="2400" spc="-3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291" y="0"/>
            <a:ext cx="7687309" cy="2048510"/>
            <a:chOff x="812291" y="0"/>
            <a:chExt cx="7687309" cy="2048510"/>
          </a:xfrm>
        </p:grpSpPr>
        <p:sp>
          <p:nvSpPr>
            <p:cNvPr id="3" name="object 3"/>
            <p:cNvSpPr/>
            <p:nvPr/>
          </p:nvSpPr>
          <p:spPr>
            <a:xfrm>
              <a:off x="812291" y="0"/>
              <a:ext cx="768705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39011" y="504444"/>
              <a:ext cx="666445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63777" y="0"/>
            <a:ext cx="6616065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39420" marR="5080" indent="-426720">
              <a:lnSpc>
                <a:spcPts val="5800"/>
              </a:lnSpc>
              <a:spcBef>
                <a:spcPts val="860"/>
              </a:spcBef>
            </a:pPr>
            <a:r>
              <a:rPr spc="270" dirty="0"/>
              <a:t>Configuring</a:t>
            </a:r>
            <a:r>
              <a:rPr spc="-30" dirty="0"/>
              <a:t> </a:t>
            </a:r>
            <a:r>
              <a:rPr spc="200" dirty="0"/>
              <a:t>Software  </a:t>
            </a:r>
            <a:r>
              <a:rPr spc="185" dirty="0"/>
              <a:t>Restriction</a:t>
            </a:r>
            <a:r>
              <a:rPr spc="-30" dirty="0"/>
              <a:t> </a:t>
            </a:r>
            <a:r>
              <a:rPr spc="114" dirty="0"/>
              <a:t>Policies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865745" cy="3183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designed to  identify software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its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execution.</a:t>
            </a:r>
            <a:endParaRPr sz="2800">
              <a:latin typeface="Gothic Uralic"/>
              <a:cs typeface="Gothic Uralic"/>
            </a:endParaRPr>
          </a:p>
          <a:p>
            <a:pPr marL="355600" marR="610235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Provides organizations greater control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preventing potentially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dangerous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 from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running.</a:t>
            </a:r>
            <a:endParaRPr sz="2800">
              <a:latin typeface="Gothic Uralic"/>
              <a:cs typeface="Gothic Uralic"/>
            </a:endParaRPr>
          </a:p>
          <a:p>
            <a:pPr marL="355600" marR="77406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control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who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affected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by the  policies.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1655" y="103631"/>
            <a:ext cx="3997960" cy="1240790"/>
            <a:chOff x="2581655" y="103631"/>
            <a:chExt cx="3997960" cy="1240790"/>
          </a:xfrm>
        </p:grpSpPr>
        <p:sp>
          <p:nvSpPr>
            <p:cNvPr id="3" name="object 3"/>
            <p:cNvSpPr/>
            <p:nvPr/>
          </p:nvSpPr>
          <p:spPr>
            <a:xfrm>
              <a:off x="2581655" y="103631"/>
              <a:ext cx="3997452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4159" y="530351"/>
              <a:ext cx="346405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556385" marR="5080" indent="-222885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</a:t>
            </a:r>
            <a:r>
              <a:rPr sz="2800" spc="-45" dirty="0"/>
              <a:t> </a:t>
            </a:r>
            <a:r>
              <a:rPr sz="2800" spc="100" dirty="0"/>
              <a:t>Software  </a:t>
            </a:r>
            <a:r>
              <a:rPr sz="2800" spc="95" dirty="0"/>
              <a:t>Restriction</a:t>
            </a:r>
            <a:r>
              <a:rPr sz="2800" spc="-30" dirty="0"/>
              <a:t> </a:t>
            </a:r>
            <a:r>
              <a:rPr sz="2800" spc="55" dirty="0"/>
              <a:t>Policies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658617" y="5840069"/>
            <a:ext cx="37515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r>
              <a:rPr sz="1600" spc="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folder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56716" y="1386839"/>
            <a:ext cx="7301483" cy="41224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808" y="504444"/>
            <a:ext cx="7642859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1318" y="674065"/>
            <a:ext cx="67417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Enforcing</a:t>
            </a:r>
            <a:r>
              <a:rPr spc="-40" dirty="0"/>
              <a:t> </a:t>
            </a:r>
            <a:r>
              <a:rPr spc="185" dirty="0"/>
              <a:t>Restrictions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46301"/>
            <a:ext cx="8055609" cy="411861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55600" marR="88900" indent="-343535">
              <a:lnSpc>
                <a:spcPct val="80000"/>
              </a:lnSpc>
              <a:spcBef>
                <a:spcPts val="7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10" dirty="0">
                <a:solidFill>
                  <a:srgbClr val="7E7E7E"/>
                </a:solidFill>
                <a:latin typeface="Gothic Uralic"/>
                <a:cs typeface="Gothic Uralic"/>
              </a:rPr>
              <a:t>If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does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not enforce restrictions,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executable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run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based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 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permissions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users or groups have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NTFS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file</a:t>
            </a:r>
            <a:r>
              <a:rPr sz="2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system.</a:t>
            </a:r>
            <a:endParaRPr sz="2600">
              <a:latin typeface="Gothic Uralic"/>
              <a:cs typeface="Gothic Uralic"/>
            </a:endParaRPr>
          </a:p>
          <a:p>
            <a:pPr marL="355600" marR="71120" indent="-343535">
              <a:lnSpc>
                <a:spcPct val="8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can use three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basic strategies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enforcing  restrictions:</a:t>
            </a:r>
            <a:endParaRPr sz="2600">
              <a:latin typeface="Gothic Uralic"/>
              <a:cs typeface="Gothic Uralic"/>
            </a:endParaRPr>
          </a:p>
          <a:p>
            <a:pPr marL="756285" marR="390525" lvl="1" indent="-287020">
              <a:lnSpc>
                <a:spcPct val="80000"/>
              </a:lnSpc>
              <a:spcBef>
                <a:spcPts val="530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b="1" spc="-5" dirty="0">
                <a:solidFill>
                  <a:srgbClr val="7E7E7E"/>
                </a:solidFill>
                <a:latin typeface="Gothic Uralic"/>
                <a:cs typeface="Gothic Uralic"/>
              </a:rPr>
              <a:t>Unrestricted: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Enables all applications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run, except  those that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specifically</a:t>
            </a:r>
            <a:r>
              <a:rPr sz="2200" spc="-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excluded.</a:t>
            </a:r>
            <a:endParaRPr sz="2200">
              <a:latin typeface="Gothic Uralic"/>
              <a:cs typeface="Gothic Uralic"/>
            </a:endParaRPr>
          </a:p>
          <a:p>
            <a:pPr marL="756285" lvl="1" indent="-287020">
              <a:lnSpc>
                <a:spcPts val="2375"/>
              </a:lnSpc>
              <a:buFont typeface="Courier New"/>
              <a:buChar char="o"/>
              <a:tabLst>
                <a:tab pos="756920" algn="l"/>
              </a:tabLst>
            </a:pPr>
            <a:r>
              <a:rPr sz="2200" b="1" spc="-5" dirty="0">
                <a:solidFill>
                  <a:srgbClr val="7E7E7E"/>
                </a:solidFill>
                <a:latin typeface="Gothic Uralic"/>
                <a:cs typeface="Gothic Uralic"/>
              </a:rPr>
              <a:t>Disallowed: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Prevents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all applications from</a:t>
            </a:r>
            <a:r>
              <a:rPr sz="22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running</a:t>
            </a:r>
            <a:endParaRPr sz="2200">
              <a:latin typeface="Gothic Uralic"/>
              <a:cs typeface="Gothic Uralic"/>
            </a:endParaRPr>
          </a:p>
          <a:p>
            <a:pPr marL="756285">
              <a:lnSpc>
                <a:spcPts val="2375"/>
              </a:lnSpc>
            </a:pP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except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those that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are specifically</a:t>
            </a:r>
            <a:r>
              <a:rPr sz="2200" spc="-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allowed.</a:t>
            </a:r>
            <a:endParaRPr sz="220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ct val="80000"/>
              </a:lnSpc>
              <a:spcBef>
                <a:spcPts val="535"/>
              </a:spcBef>
              <a:buFont typeface="Courier New"/>
              <a:buChar char="o"/>
              <a:tabLst>
                <a:tab pos="756920" algn="l"/>
              </a:tabLst>
            </a:pPr>
            <a:r>
              <a:rPr sz="2200" b="1" spc="-5" dirty="0">
                <a:solidFill>
                  <a:srgbClr val="7E7E7E"/>
                </a:solidFill>
                <a:latin typeface="Gothic Uralic"/>
                <a:cs typeface="Gothic Uralic"/>
              </a:rPr>
              <a:t>Basic </a:t>
            </a:r>
            <a:r>
              <a:rPr sz="2200" b="1" spc="-10" dirty="0">
                <a:solidFill>
                  <a:srgbClr val="7E7E7E"/>
                </a:solidFill>
                <a:latin typeface="Gothic Uralic"/>
                <a:cs typeface="Gothic Uralic"/>
              </a:rPr>
              <a:t>User: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Prevents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any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from running that  requires administrative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rights,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but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enables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programs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run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only require resources that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accessible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by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normal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 users.</a:t>
            </a:r>
            <a:endParaRPr sz="2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1536" y="530351"/>
            <a:ext cx="5827775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55470" y="615772"/>
            <a:ext cx="53594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Modify </a:t>
            </a:r>
            <a:r>
              <a:rPr sz="2800" spc="150" dirty="0"/>
              <a:t>the </a:t>
            </a:r>
            <a:r>
              <a:rPr sz="2800" spc="120" dirty="0"/>
              <a:t>Default </a:t>
            </a:r>
            <a:r>
              <a:rPr sz="2800" spc="95" dirty="0"/>
              <a:t>Security</a:t>
            </a:r>
            <a:r>
              <a:rPr sz="2800" spc="-409" dirty="0"/>
              <a:t> </a:t>
            </a:r>
            <a:r>
              <a:rPr sz="2800" spc="70" dirty="0"/>
              <a:t>Level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244089" y="5287517"/>
            <a:ext cx="4580890" cy="512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4155" marR="5080" indent="-148209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Setting 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Default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a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software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</a:t>
            </a:r>
            <a:r>
              <a:rPr sz="16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4000" y="1973579"/>
            <a:ext cx="6134100" cy="22981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291" y="0"/>
            <a:ext cx="7687309" cy="2048510"/>
            <a:chOff x="812291" y="0"/>
            <a:chExt cx="7687309" cy="2048510"/>
          </a:xfrm>
        </p:grpSpPr>
        <p:sp>
          <p:nvSpPr>
            <p:cNvPr id="3" name="object 3"/>
            <p:cNvSpPr/>
            <p:nvPr/>
          </p:nvSpPr>
          <p:spPr>
            <a:xfrm>
              <a:off x="812291" y="0"/>
              <a:ext cx="768705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39240" y="504444"/>
              <a:ext cx="606399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63777" y="0"/>
            <a:ext cx="6616065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739140" marR="5080" indent="-727075">
              <a:lnSpc>
                <a:spcPts val="5800"/>
              </a:lnSpc>
              <a:spcBef>
                <a:spcPts val="860"/>
              </a:spcBef>
            </a:pPr>
            <a:r>
              <a:rPr spc="270" dirty="0"/>
              <a:t>Configuring</a:t>
            </a:r>
            <a:r>
              <a:rPr spc="-30" dirty="0"/>
              <a:t> </a:t>
            </a:r>
            <a:r>
              <a:rPr spc="200" dirty="0"/>
              <a:t>Software  </a:t>
            </a:r>
            <a:r>
              <a:rPr spc="185" dirty="0"/>
              <a:t>Restriction</a:t>
            </a:r>
            <a:r>
              <a:rPr spc="-20" dirty="0"/>
              <a:t> </a:t>
            </a:r>
            <a:r>
              <a:rPr spc="200" dirty="0"/>
              <a:t>Rules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538084" cy="4000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There 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four types of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 rules to specify which programs can or  cannot run on your</a:t>
            </a:r>
            <a:r>
              <a:rPr sz="28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network:</a:t>
            </a:r>
            <a:endParaRPr sz="28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Hash</a:t>
            </a:r>
            <a:r>
              <a:rPr sz="24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Certificate</a:t>
            </a:r>
            <a:r>
              <a:rPr sz="2400" spc="-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Path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Network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zone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endParaRPr sz="2400">
              <a:latin typeface="Gothic Uralic"/>
              <a:cs typeface="Gothic Uralic"/>
            </a:endParaRPr>
          </a:p>
          <a:p>
            <a:pPr marL="355600" marR="384810" indent="-343535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use multiple rules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applied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order listed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above.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1655" y="103631"/>
            <a:ext cx="3997960" cy="1240790"/>
            <a:chOff x="2581655" y="103631"/>
            <a:chExt cx="3997960" cy="1240790"/>
          </a:xfrm>
        </p:grpSpPr>
        <p:sp>
          <p:nvSpPr>
            <p:cNvPr id="3" name="object 3"/>
            <p:cNvSpPr/>
            <p:nvPr/>
          </p:nvSpPr>
          <p:spPr>
            <a:xfrm>
              <a:off x="2581655" y="103631"/>
              <a:ext cx="3997452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958083" y="530351"/>
              <a:ext cx="315468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710055" marR="5080" indent="-376555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</a:t>
            </a:r>
            <a:r>
              <a:rPr sz="2800" spc="-45" dirty="0"/>
              <a:t> </a:t>
            </a:r>
            <a:r>
              <a:rPr sz="2800" spc="100" dirty="0"/>
              <a:t>Software  </a:t>
            </a:r>
            <a:r>
              <a:rPr sz="2800" spc="95" dirty="0"/>
              <a:t>Restriction</a:t>
            </a:r>
            <a:r>
              <a:rPr sz="2800" spc="-25" dirty="0"/>
              <a:t> </a:t>
            </a:r>
            <a:r>
              <a:rPr sz="2800" spc="100" dirty="0"/>
              <a:t>Rules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051810" y="5840069"/>
            <a:ext cx="29673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New Path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295400"/>
            <a:ext cx="3849624" cy="4274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12291" y="0"/>
            <a:ext cx="7687309" cy="2048510"/>
            <a:chOff x="812291" y="0"/>
            <a:chExt cx="7687309" cy="2048510"/>
          </a:xfrm>
        </p:grpSpPr>
        <p:sp>
          <p:nvSpPr>
            <p:cNvPr id="3" name="object 3"/>
            <p:cNvSpPr/>
            <p:nvPr/>
          </p:nvSpPr>
          <p:spPr>
            <a:xfrm>
              <a:off x="812291" y="0"/>
              <a:ext cx="768705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26007" y="504444"/>
              <a:ext cx="7488935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63777" y="0"/>
            <a:ext cx="6616065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6034" marR="5080" indent="-13970">
              <a:lnSpc>
                <a:spcPts val="5800"/>
              </a:lnSpc>
              <a:spcBef>
                <a:spcPts val="860"/>
              </a:spcBef>
            </a:pPr>
            <a:r>
              <a:rPr spc="270" dirty="0"/>
              <a:t>Configuring</a:t>
            </a:r>
            <a:r>
              <a:rPr spc="-30" dirty="0"/>
              <a:t> </a:t>
            </a:r>
            <a:r>
              <a:rPr spc="200" dirty="0"/>
              <a:t>Software  </a:t>
            </a:r>
            <a:r>
              <a:rPr spc="185" dirty="0"/>
              <a:t>Restriction</a:t>
            </a:r>
            <a:r>
              <a:rPr spc="-55" dirty="0"/>
              <a:t> </a:t>
            </a:r>
            <a:r>
              <a:rPr spc="260" dirty="0"/>
              <a:t>Properties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998459" cy="3563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Within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folder,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configure three specific  properties to provide additional settings that  apply to all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when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implemented.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These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three properties</a:t>
            </a:r>
            <a:r>
              <a:rPr sz="2800" spc="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are:</a:t>
            </a:r>
            <a:endParaRPr sz="28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Enforcement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Designated file</a:t>
            </a:r>
            <a:r>
              <a:rPr sz="2400" spc="-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types</a:t>
            </a:r>
            <a:endParaRPr sz="2400">
              <a:latin typeface="Gothic Uralic"/>
              <a:cs typeface="Gothic Uralic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Courier New"/>
              <a:buChar char="o"/>
              <a:tabLst>
                <a:tab pos="756920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Trusted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publishers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1655" y="103631"/>
            <a:ext cx="3997960" cy="1240790"/>
            <a:chOff x="2581655" y="103631"/>
            <a:chExt cx="3997960" cy="1240790"/>
          </a:xfrm>
        </p:grpSpPr>
        <p:sp>
          <p:nvSpPr>
            <p:cNvPr id="3" name="object 3"/>
            <p:cNvSpPr/>
            <p:nvPr/>
          </p:nvSpPr>
          <p:spPr>
            <a:xfrm>
              <a:off x="2581655" y="103631"/>
              <a:ext cx="3997452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90799" y="530351"/>
              <a:ext cx="38907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43025" marR="5080" indent="-9525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</a:t>
            </a:r>
            <a:r>
              <a:rPr sz="2800" spc="-45" dirty="0"/>
              <a:t> </a:t>
            </a:r>
            <a:r>
              <a:rPr sz="2800" spc="100" dirty="0"/>
              <a:t>Software  </a:t>
            </a:r>
            <a:r>
              <a:rPr sz="2800" spc="95" dirty="0"/>
              <a:t>Restriction</a:t>
            </a:r>
            <a:r>
              <a:rPr sz="2800" spc="-85" dirty="0"/>
              <a:t> </a:t>
            </a:r>
            <a:r>
              <a:rPr sz="2800" spc="135" dirty="0"/>
              <a:t>Properties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766822" y="5840069"/>
            <a:ext cx="3536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Configuring Enforcement</a:t>
            </a:r>
            <a:r>
              <a:rPr sz="16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43200" y="1391411"/>
            <a:ext cx="3759707" cy="4184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1655" y="103631"/>
            <a:ext cx="3997960" cy="1240790"/>
            <a:chOff x="2581655" y="103631"/>
            <a:chExt cx="3997960" cy="1240790"/>
          </a:xfrm>
        </p:grpSpPr>
        <p:sp>
          <p:nvSpPr>
            <p:cNvPr id="3" name="object 3"/>
            <p:cNvSpPr/>
            <p:nvPr/>
          </p:nvSpPr>
          <p:spPr>
            <a:xfrm>
              <a:off x="2581655" y="103631"/>
              <a:ext cx="3997452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90799" y="530351"/>
              <a:ext cx="38907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43025" marR="5080" indent="-9525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</a:t>
            </a:r>
            <a:r>
              <a:rPr sz="2800" spc="-45" dirty="0"/>
              <a:t> </a:t>
            </a:r>
            <a:r>
              <a:rPr sz="2800" spc="100" dirty="0"/>
              <a:t>Software  </a:t>
            </a:r>
            <a:r>
              <a:rPr sz="2800" spc="95" dirty="0"/>
              <a:t>Restriction</a:t>
            </a:r>
            <a:r>
              <a:rPr sz="2800" spc="-85" dirty="0"/>
              <a:t> </a:t>
            </a:r>
            <a:r>
              <a:rPr sz="2800" spc="135" dirty="0"/>
              <a:t>Properties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344673" y="5840069"/>
            <a:ext cx="43789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Designated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File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Types</a:t>
            </a:r>
            <a:r>
              <a:rPr sz="1600" spc="1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7000" y="1207008"/>
            <a:ext cx="3906011" cy="43571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81655" y="103631"/>
            <a:ext cx="3997960" cy="1240790"/>
            <a:chOff x="2581655" y="103631"/>
            <a:chExt cx="3997960" cy="1240790"/>
          </a:xfrm>
        </p:grpSpPr>
        <p:sp>
          <p:nvSpPr>
            <p:cNvPr id="3" name="object 3"/>
            <p:cNvSpPr/>
            <p:nvPr/>
          </p:nvSpPr>
          <p:spPr>
            <a:xfrm>
              <a:off x="2581655" y="103631"/>
              <a:ext cx="3997452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90799" y="530351"/>
              <a:ext cx="38907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343025" marR="5080" indent="-9525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</a:t>
            </a:r>
            <a:r>
              <a:rPr sz="2800" spc="-45" dirty="0"/>
              <a:t> </a:t>
            </a:r>
            <a:r>
              <a:rPr sz="2800" spc="100" dirty="0"/>
              <a:t>Software  </a:t>
            </a:r>
            <a:r>
              <a:rPr sz="2800" spc="95" dirty="0"/>
              <a:t>Restriction</a:t>
            </a:r>
            <a:r>
              <a:rPr sz="2800" spc="-85" dirty="0"/>
              <a:t> </a:t>
            </a:r>
            <a:r>
              <a:rPr sz="2800" spc="135" dirty="0"/>
              <a:t>Properties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556510" y="5840069"/>
            <a:ext cx="39554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Trusted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Publishers</a:t>
            </a:r>
            <a:r>
              <a:rPr sz="1600" spc="7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800" y="1295400"/>
            <a:ext cx="3831336" cy="42748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2416" y="0"/>
            <a:ext cx="7228840" cy="2048510"/>
            <a:chOff x="1042416" y="0"/>
            <a:chExt cx="7228840" cy="2048510"/>
          </a:xfrm>
        </p:grpSpPr>
        <p:sp>
          <p:nvSpPr>
            <p:cNvPr id="3" name="object 3"/>
            <p:cNvSpPr/>
            <p:nvPr/>
          </p:nvSpPr>
          <p:spPr>
            <a:xfrm>
              <a:off x="1042416" y="0"/>
              <a:ext cx="7228332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49780" y="504444"/>
              <a:ext cx="504291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020444" marR="5080" indent="-1007744">
              <a:lnSpc>
                <a:spcPts val="5800"/>
              </a:lnSpc>
              <a:spcBef>
                <a:spcPts val="860"/>
              </a:spcBef>
            </a:pPr>
            <a:r>
              <a:rPr spc="200" dirty="0"/>
              <a:t>Software</a:t>
            </a:r>
            <a:r>
              <a:rPr spc="-25" dirty="0"/>
              <a:t> </a:t>
            </a:r>
            <a:r>
              <a:rPr spc="185" dirty="0"/>
              <a:t>Restriction  </a:t>
            </a:r>
            <a:r>
              <a:rPr spc="80" dirty="0"/>
              <a:t>Best</a:t>
            </a:r>
            <a:r>
              <a:rPr spc="-10" dirty="0"/>
              <a:t> </a:t>
            </a:r>
            <a:r>
              <a:rPr spc="175" dirty="0"/>
              <a:t>Practices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8597"/>
            <a:ext cx="7955280" cy="4659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policies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should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be used with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standard</a:t>
            </a:r>
            <a:r>
              <a:rPr sz="1900" spc="1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access</a:t>
            </a:r>
            <a:endParaRPr sz="1900">
              <a:latin typeface="Gothic Uralic"/>
              <a:cs typeface="Gothic Uralic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control</a:t>
            </a:r>
            <a:r>
              <a:rPr sz="19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permissions.</a:t>
            </a:r>
            <a:endParaRPr sz="1900">
              <a:latin typeface="Gothic Uralic"/>
              <a:cs typeface="Gothic Uralic"/>
            </a:endParaRPr>
          </a:p>
          <a:p>
            <a:pPr marL="355600" marR="137795" indent="-3435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The Disallowed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Default Security </a:t>
            </a:r>
            <a:r>
              <a:rPr sz="1900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should be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used cautiously,  because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all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 are restricted unless </a:t>
            </a:r>
            <a:r>
              <a:rPr sz="1900" dirty="0">
                <a:solidFill>
                  <a:srgbClr val="7E7E7E"/>
                </a:solidFill>
                <a:latin typeface="Gothic Uralic"/>
                <a:cs typeface="Gothic Uralic"/>
              </a:rPr>
              <a:t>explicitly</a:t>
            </a:r>
            <a:r>
              <a:rPr sz="19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allowed.</a:t>
            </a:r>
            <a:endParaRPr sz="19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If you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accidentally create policies that cause undesirable  restrictions on a workstation, reboot the computer </a:t>
            </a:r>
            <a:r>
              <a:rPr sz="19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Safe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Mode 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to troubleshoot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make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changes,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because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 policies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cannot be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applied </a:t>
            </a:r>
            <a:r>
              <a:rPr sz="19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Safe</a:t>
            </a:r>
            <a:r>
              <a:rPr sz="19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Mode.</a:t>
            </a:r>
            <a:endParaRPr sz="1900">
              <a:latin typeface="Gothic Uralic"/>
              <a:cs typeface="Gothic Uralic"/>
            </a:endParaRPr>
          </a:p>
          <a:p>
            <a:pPr marL="355600" marR="535305" indent="-343535" algn="just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1900" dirty="0">
                <a:solidFill>
                  <a:srgbClr val="7E7E7E"/>
                </a:solidFill>
                <a:latin typeface="Gothic Uralic"/>
                <a:cs typeface="Gothic Uralic"/>
              </a:rPr>
              <a:t>editing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policies,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you should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disable  them </a:t>
            </a:r>
            <a:r>
              <a:rPr sz="1900" dirty="0">
                <a:solidFill>
                  <a:srgbClr val="7E7E7E"/>
                </a:solidFill>
                <a:latin typeface="Gothic Uralic"/>
                <a:cs typeface="Gothic Uralic"/>
              </a:rPr>
              <a:t>first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so that a partially complete policy does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not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cause  undesirable results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on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a</a:t>
            </a:r>
            <a:r>
              <a:rPr sz="19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computer.</a:t>
            </a:r>
            <a:endParaRPr sz="1900">
              <a:latin typeface="Gothic Uralic"/>
              <a:cs typeface="Gothic Uralic"/>
            </a:endParaRPr>
          </a:p>
          <a:p>
            <a:pPr marL="355600" marR="5715" indent="-343535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Creating a separate GPO for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policies enables 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to disable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or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remove them without affecting other policy  settings.</a:t>
            </a:r>
            <a:endParaRPr sz="19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Test all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 before </a:t>
            </a:r>
            <a:r>
              <a:rPr sz="1900" spc="-10" dirty="0">
                <a:solidFill>
                  <a:srgbClr val="7E7E7E"/>
                </a:solidFill>
                <a:latin typeface="Gothic Uralic"/>
                <a:cs typeface="Gothic Uralic"/>
              </a:rPr>
              <a:t>deploying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them to the</a:t>
            </a:r>
            <a:r>
              <a:rPr sz="1900" spc="1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900" spc="-5" dirty="0">
                <a:solidFill>
                  <a:srgbClr val="7E7E7E"/>
                </a:solidFill>
                <a:latin typeface="Gothic Uralic"/>
                <a:cs typeface="Gothic Uralic"/>
              </a:rPr>
              <a:t>users.</a:t>
            </a:r>
            <a:endParaRPr sz="19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9844" y="2898648"/>
            <a:ext cx="5615939" cy="13746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01036" y="3048126"/>
            <a:ext cx="48177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229" dirty="0"/>
              <a:t>Using</a:t>
            </a:r>
            <a:r>
              <a:rPr sz="4800" spc="-215" dirty="0"/>
              <a:t> </a:t>
            </a:r>
            <a:r>
              <a:rPr sz="4800" spc="240" dirty="0"/>
              <a:t>AppLocker</a:t>
            </a:r>
            <a:endParaRPr sz="480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056257" y="4022916"/>
            <a:ext cx="510413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18: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</a:t>
            </a:r>
            <a:r>
              <a:rPr sz="2400" spc="-60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Application</a:t>
            </a:r>
            <a:endParaRPr sz="2400">
              <a:latin typeface="Gothic Uralic"/>
              <a:cs typeface="Gothic Uralic"/>
            </a:endParaRPr>
          </a:p>
          <a:p>
            <a:pPr algn="ct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Restriction</a:t>
            </a:r>
            <a:r>
              <a:rPr sz="2400" spc="-3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89632" y="504444"/>
            <a:ext cx="4363212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1498" y="674065"/>
            <a:ext cx="3462654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0" dirty="0"/>
              <a:t>AppLocker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893050" cy="3609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AppLocker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also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known as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control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feature that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updated version of the concept  implemented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</a:t>
            </a:r>
            <a:r>
              <a:rPr sz="2800" spc="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policies.</a:t>
            </a:r>
            <a:endParaRPr sz="2800">
              <a:latin typeface="Gothic Uralic"/>
              <a:cs typeface="Gothic Uralic"/>
            </a:endParaRPr>
          </a:p>
          <a:p>
            <a:pPr marL="355600" marR="2667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Uses rules,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 must manage,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 wizard-based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interface.</a:t>
            </a:r>
            <a:endParaRPr sz="2800">
              <a:latin typeface="Gothic Uralic"/>
              <a:cs typeface="Gothic Uralic"/>
            </a:endParaRPr>
          </a:p>
          <a:p>
            <a:pPr marL="355600" marR="111188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More flexible than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18332" y="530351"/>
            <a:ext cx="2235708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52520" y="615772"/>
            <a:ext cx="17665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05" dirty="0"/>
              <a:t>Rule</a:t>
            </a:r>
            <a:r>
              <a:rPr sz="2800" spc="-85" dirty="0"/>
              <a:t> </a:t>
            </a:r>
            <a:r>
              <a:rPr sz="2800" spc="85" dirty="0"/>
              <a:t>Types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806445" y="5840069"/>
            <a:ext cx="3457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AppLocker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container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 a</a:t>
            </a:r>
            <a:r>
              <a:rPr sz="16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GPO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71600" y="1467611"/>
            <a:ext cx="6440424" cy="4008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1739" y="530351"/>
            <a:ext cx="4087367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25673" y="615772"/>
            <a:ext cx="361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Creating </a:t>
            </a:r>
            <a:r>
              <a:rPr sz="2800" spc="120" dirty="0"/>
              <a:t>Default</a:t>
            </a:r>
            <a:r>
              <a:rPr sz="2800" spc="-200" dirty="0"/>
              <a:t> </a:t>
            </a:r>
            <a:r>
              <a:rPr sz="2800" spc="100" dirty="0"/>
              <a:t>Rules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561082" y="5840069"/>
            <a:ext cx="394842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default AppLocker executable</a:t>
            </a:r>
            <a:r>
              <a:rPr sz="16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28927" y="1394460"/>
            <a:ext cx="6672072" cy="4145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9864" y="530351"/>
            <a:ext cx="5151120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798" y="615772"/>
            <a:ext cx="4681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Creating </a:t>
            </a:r>
            <a:r>
              <a:rPr sz="2800" spc="100" dirty="0"/>
              <a:t>Rules</a:t>
            </a:r>
            <a:r>
              <a:rPr sz="2800" spc="-290" dirty="0"/>
              <a:t> </a:t>
            </a:r>
            <a:r>
              <a:rPr sz="2800" spc="130" dirty="0"/>
              <a:t>Automatically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908810" y="5840069"/>
            <a:ext cx="52508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Automatically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Generate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Executable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r>
              <a:rPr sz="16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8800" y="1295400"/>
            <a:ext cx="5558028" cy="427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9864" y="530351"/>
            <a:ext cx="5151120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798" y="615772"/>
            <a:ext cx="4681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Creating </a:t>
            </a:r>
            <a:r>
              <a:rPr sz="2800" spc="100" dirty="0"/>
              <a:t>Rules</a:t>
            </a:r>
            <a:r>
              <a:rPr sz="2800" spc="-290" dirty="0"/>
              <a:t> </a:t>
            </a:r>
            <a:r>
              <a:rPr sz="2800" spc="130" dirty="0"/>
              <a:t>Automatically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167889" y="5815685"/>
            <a:ext cx="473202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669290" marR="5080" indent="-65722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Preferences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Automatically 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Generate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Executable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r>
              <a:rPr sz="16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1639" y="1330452"/>
            <a:ext cx="5699760" cy="43845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9864" y="530351"/>
            <a:ext cx="5151120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3798" y="615772"/>
            <a:ext cx="4681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Creating </a:t>
            </a:r>
            <a:r>
              <a:rPr sz="2800" spc="100" dirty="0"/>
              <a:t>Rules</a:t>
            </a:r>
            <a:r>
              <a:rPr sz="2800" spc="-290" dirty="0"/>
              <a:t> </a:t>
            </a:r>
            <a:r>
              <a:rPr sz="2800" spc="130" dirty="0"/>
              <a:t>Automatically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850898" y="5815685"/>
            <a:ext cx="536765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495425" marR="5080" indent="-1483360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Review Rules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Automatically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Generate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Executable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Rules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Wizard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28800" y="1304544"/>
            <a:ext cx="5547359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372" y="504444"/>
            <a:ext cx="8522208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0882" y="674065"/>
            <a:ext cx="762380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65" dirty="0"/>
              <a:t>Creating </a:t>
            </a:r>
            <a:r>
              <a:rPr spc="200" dirty="0"/>
              <a:t>Rules</a:t>
            </a:r>
            <a:r>
              <a:rPr spc="-320" dirty="0"/>
              <a:t> </a:t>
            </a:r>
            <a:r>
              <a:rPr spc="295" dirty="0"/>
              <a:t>Manually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53921"/>
            <a:ext cx="8034655" cy="422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You can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also create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rules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manually,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by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using</a:t>
            </a:r>
            <a:r>
              <a:rPr sz="2400" spc="-8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</a:t>
            </a:r>
            <a:endParaRPr sz="2400">
              <a:latin typeface="Gothic Uralic"/>
              <a:cs typeface="Gothic Uralic"/>
            </a:endParaRPr>
          </a:p>
          <a:p>
            <a:pPr marL="355600">
              <a:lnSpc>
                <a:spcPts val="2595"/>
              </a:lnSpc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wizard-based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 interface.</a:t>
            </a:r>
            <a:endParaRPr sz="24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wizard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prompts you for the</a:t>
            </a:r>
            <a:r>
              <a:rPr sz="24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following:</a:t>
            </a:r>
            <a:endParaRPr sz="2400">
              <a:latin typeface="Gothic Uralic"/>
              <a:cs typeface="Gothic Uralic"/>
            </a:endParaRPr>
          </a:p>
          <a:p>
            <a:pPr marL="756285" marR="5080" lvl="1" indent="-287020">
              <a:lnSpc>
                <a:spcPts val="1920"/>
              </a:lnSpc>
              <a:spcBef>
                <a:spcPts val="470"/>
              </a:spcBef>
              <a:buFont typeface="Courier New"/>
              <a:buChar char="o"/>
              <a:tabLst>
                <a:tab pos="756920" algn="l"/>
              </a:tabLst>
            </a:pPr>
            <a:r>
              <a:rPr sz="2000" b="1" dirty="0">
                <a:solidFill>
                  <a:srgbClr val="7E7E7E"/>
                </a:solidFill>
                <a:latin typeface="Gothic Uralic"/>
                <a:cs typeface="Gothic Uralic"/>
              </a:rPr>
              <a:t>Action: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Specifies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whether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you want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allow or deny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or group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resource.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AppLocker,</a:t>
            </a:r>
            <a:r>
              <a:rPr sz="2000" spc="-18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explicit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deny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rules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always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override allow</a:t>
            </a:r>
            <a:r>
              <a:rPr sz="2000" spc="-114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rules.</a:t>
            </a:r>
            <a:endParaRPr sz="2000">
              <a:latin typeface="Gothic Uralic"/>
              <a:cs typeface="Gothic Uralic"/>
            </a:endParaRPr>
          </a:p>
          <a:p>
            <a:pPr marL="756285" marR="339725" lvl="1" indent="-287020">
              <a:lnSpc>
                <a:spcPts val="1920"/>
              </a:lnSpc>
              <a:spcBef>
                <a:spcPts val="480"/>
              </a:spcBef>
              <a:buFont typeface="Courier New"/>
              <a:buChar char="o"/>
              <a:tabLst>
                <a:tab pos="756920" algn="l"/>
              </a:tabLst>
            </a:pPr>
            <a:r>
              <a:rPr sz="2000" b="1" spc="-5" dirty="0">
                <a:solidFill>
                  <a:srgbClr val="7E7E7E"/>
                </a:solidFill>
                <a:latin typeface="Gothic Uralic"/>
                <a:cs typeface="Gothic Uralic"/>
              </a:rPr>
              <a:t>User or group: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Specifies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name of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user or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</a:t>
            </a:r>
            <a:r>
              <a:rPr sz="2000" spc="-1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which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policy should</a:t>
            </a:r>
            <a:r>
              <a:rPr sz="2000" spc="-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apply.</a:t>
            </a:r>
            <a:endParaRPr sz="2000">
              <a:latin typeface="Gothic Uralic"/>
              <a:cs typeface="Gothic Uralic"/>
            </a:endParaRPr>
          </a:p>
          <a:p>
            <a:pPr marL="756285" marR="83185" lvl="1" indent="-287020">
              <a:lnSpc>
                <a:spcPct val="80000"/>
              </a:lnSpc>
              <a:spcBef>
                <a:spcPts val="495"/>
              </a:spcBef>
              <a:buFont typeface="Courier New"/>
              <a:buChar char="o"/>
              <a:tabLst>
                <a:tab pos="756920" algn="l"/>
              </a:tabLst>
            </a:pPr>
            <a:r>
              <a:rPr sz="2000" b="1" dirty="0">
                <a:solidFill>
                  <a:srgbClr val="7E7E7E"/>
                </a:solidFill>
                <a:latin typeface="Gothic Uralic"/>
                <a:cs typeface="Gothic Uralic"/>
              </a:rPr>
              <a:t>Conditions: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Specifies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whether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you want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create a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publisher,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path,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or file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hash rule. 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wizard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generates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an  additional page for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whichever option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select,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enabling  you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its</a:t>
            </a:r>
            <a:r>
              <a:rPr sz="20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parameters.</a:t>
            </a:r>
            <a:endParaRPr sz="2000">
              <a:latin typeface="Gothic Uralic"/>
              <a:cs typeface="Gothic Uralic"/>
            </a:endParaRPr>
          </a:p>
          <a:p>
            <a:pPr marL="756285" marR="315595" lvl="1" indent="-287020">
              <a:lnSpc>
                <a:spcPct val="80000"/>
              </a:lnSpc>
              <a:spcBef>
                <a:spcPts val="480"/>
              </a:spcBef>
              <a:buFont typeface="Courier New"/>
              <a:buChar char="o"/>
              <a:tabLst>
                <a:tab pos="756920" algn="l"/>
              </a:tabLst>
            </a:pPr>
            <a:r>
              <a:rPr sz="2000" b="1" spc="-5" dirty="0">
                <a:solidFill>
                  <a:srgbClr val="7E7E7E"/>
                </a:solidFill>
                <a:latin typeface="Gothic Uralic"/>
                <a:cs typeface="Gothic Uralic"/>
              </a:rPr>
              <a:t>Exceptions: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Enables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specify exceptions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the</a:t>
            </a:r>
            <a:r>
              <a:rPr sz="2000" spc="-1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rule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create, using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any of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three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conditions: publisher,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path, or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file</a:t>
            </a:r>
            <a:r>
              <a:rPr sz="2000" spc="-7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hash.</a:t>
            </a:r>
            <a:endParaRPr sz="20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Lesson</a:t>
            </a:r>
            <a:r>
              <a:rPr spc="-60" dirty="0"/>
              <a:t> </a:t>
            </a:r>
            <a:r>
              <a:rPr spc="34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66113"/>
            <a:ext cx="8020050" cy="441706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55600" marR="44450" indent="-343535">
              <a:lnSpc>
                <a:spcPct val="80100"/>
              </a:lnSpc>
              <a:spcBef>
                <a:spcPts val="5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You can use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deploy new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on your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network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remove or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repair software originally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deployed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by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 GPO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from your</a:t>
            </a:r>
            <a:r>
              <a:rPr sz="20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network.</a:t>
            </a:r>
            <a:endParaRPr sz="2000">
              <a:latin typeface="Gothic Uralic"/>
              <a:cs typeface="Gothic Uralic"/>
            </a:endParaRPr>
          </a:p>
          <a:p>
            <a:pPr marL="355600" marR="67945" indent="-343535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Installer service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supports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three types of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package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files: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.msi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for standard software installation,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.mst files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for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customized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installation,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and .msp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files for</a:t>
            </a:r>
            <a:r>
              <a:rPr sz="2000" spc="-1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patching</a:t>
            </a:r>
            <a:endParaRPr sz="2000">
              <a:latin typeface="Gothic Uralic"/>
              <a:cs typeface="Gothic Uralic"/>
            </a:endParaRPr>
          </a:p>
          <a:p>
            <a:pPr marL="355600">
              <a:lnSpc>
                <a:spcPts val="1920"/>
              </a:lnSpc>
            </a:pP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.msi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at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time of</a:t>
            </a:r>
            <a:r>
              <a:rPr sz="2000" spc="-1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deployment.</a:t>
            </a:r>
            <a:endParaRPr sz="2000">
              <a:latin typeface="Gothic Uralic"/>
              <a:cs typeface="Gothic Uralic"/>
            </a:endParaRPr>
          </a:p>
          <a:p>
            <a:pPr marL="355600" marR="15240" indent="-343535" algn="just">
              <a:lnSpc>
                <a:spcPts val="1920"/>
              </a:lnSpc>
              <a:spcBef>
                <a:spcPts val="459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must create a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shared folder,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called a </a:t>
            </a:r>
            <a:r>
              <a:rPr sz="2000" i="1" dirty="0">
                <a:solidFill>
                  <a:srgbClr val="7E7E7E"/>
                </a:solidFill>
                <a:latin typeface="TeXGyreAdventor"/>
                <a:cs typeface="TeXGyreAdventor"/>
              </a:rPr>
              <a:t>software</a:t>
            </a:r>
            <a:r>
              <a:rPr sz="2000" i="1" spc="-200" dirty="0">
                <a:solidFill>
                  <a:srgbClr val="7E7E7E"/>
                </a:solidFill>
                <a:latin typeface="TeXGyreAdventor"/>
                <a:cs typeface="TeXGyreAdventor"/>
              </a:rPr>
              <a:t> </a:t>
            </a:r>
            <a:r>
              <a:rPr sz="2000" i="1" dirty="0">
                <a:solidFill>
                  <a:srgbClr val="7E7E7E"/>
                </a:solidFill>
                <a:latin typeface="TeXGyreAdventor"/>
                <a:cs typeface="TeXGyreAdventor"/>
              </a:rPr>
              <a:t>distribution  point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,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store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installation and package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files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be  deployed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by using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</a:t>
            </a:r>
            <a:r>
              <a:rPr sz="2000" spc="-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Policy.</a:t>
            </a:r>
            <a:endParaRPr sz="20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be deployed using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Policy can either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be  Assigned or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Published.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Assigning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software using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User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Configuration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node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of a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Policy enables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be installed when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accesses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program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Start menu or an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associated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file.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Publishing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enables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be available through Control  Panel.</a:t>
            </a:r>
            <a:endParaRPr sz="20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Lesson</a:t>
            </a:r>
            <a:r>
              <a:rPr spc="-60" dirty="0"/>
              <a:t> </a:t>
            </a:r>
            <a:r>
              <a:rPr spc="34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60017"/>
            <a:ext cx="7971790" cy="425069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55600" marR="102870" indent="-343535">
              <a:lnSpc>
                <a:spcPct val="80100"/>
              </a:lnSpc>
              <a:spcBef>
                <a:spcPts val="62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restriction policies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enable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software's  executable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code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be identified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either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allowed or  disallowed on the</a:t>
            </a:r>
            <a:r>
              <a:rPr sz="22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network.</a:t>
            </a:r>
            <a:endParaRPr sz="22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three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Default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Levels within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policies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Unrestricted, which means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all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applications function based on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permissions;  Disallowed, which means all applications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denied  execution regardless of the user permissions; and Basic 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User,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which enables only executables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run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can 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run by normal</a:t>
            </a:r>
            <a:r>
              <a:rPr sz="22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users.</a:t>
            </a:r>
            <a:endParaRPr sz="2200">
              <a:latin typeface="Gothic Uralic"/>
              <a:cs typeface="Gothic Uralic"/>
            </a:endParaRPr>
          </a:p>
          <a:p>
            <a:pPr marL="355600" marR="162560" indent="-343535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Four rule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types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defined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within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software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restriction policy.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They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include,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order of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precedence,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hash,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certificate,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path,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network zone rules.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set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on a specific rule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supersedes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200" spc="-10" dirty="0">
                <a:solidFill>
                  <a:srgbClr val="7E7E7E"/>
                </a:solidFill>
                <a:latin typeface="Gothic Uralic"/>
                <a:cs typeface="Gothic Uralic"/>
              </a:rPr>
              <a:t>Default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200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of the</a:t>
            </a:r>
            <a:r>
              <a:rPr sz="22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200" spc="-5" dirty="0">
                <a:solidFill>
                  <a:srgbClr val="7E7E7E"/>
                </a:solidFill>
                <a:latin typeface="Gothic Uralic"/>
                <a:cs typeface="Gothic Uralic"/>
              </a:rPr>
              <a:t>policy.</a:t>
            </a:r>
            <a:endParaRPr sz="22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Lesson</a:t>
            </a:r>
            <a:r>
              <a:rPr spc="-60" dirty="0"/>
              <a:t> </a:t>
            </a:r>
            <a:r>
              <a:rPr spc="34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7073"/>
            <a:ext cx="7904480" cy="229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Software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restriction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 are Group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Policy  settings that enable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specify the programs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are allowed to run on workstations by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creating  rules of various</a:t>
            </a:r>
            <a:r>
              <a:rPr sz="2400" spc="-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types.</a:t>
            </a:r>
            <a:endParaRPr sz="2400">
              <a:latin typeface="Gothic Uralic"/>
              <a:cs typeface="Gothic Uralic"/>
            </a:endParaRPr>
          </a:p>
          <a:p>
            <a:pPr marL="355600" marR="76581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AppLocker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enables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you to create application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restriction rules</a:t>
            </a:r>
            <a:r>
              <a:rPr sz="2400" spc="-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easily.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075815"/>
            <a:ext cx="79101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Palladio Uralic"/>
                <a:cs typeface="Palladio Uralic"/>
              </a:rPr>
              <a:t>Copyright 2013 John </a:t>
            </a:r>
            <a:r>
              <a:rPr sz="1800" b="1" spc="-10" dirty="0">
                <a:latin typeface="Palladio Uralic"/>
                <a:cs typeface="Palladio Uralic"/>
              </a:rPr>
              <a:t>Wiley </a:t>
            </a:r>
            <a:r>
              <a:rPr sz="1800" b="1" dirty="0">
                <a:latin typeface="Palladio Uralic"/>
                <a:cs typeface="Palladio Uralic"/>
              </a:rPr>
              <a:t>&amp; </a:t>
            </a:r>
            <a:r>
              <a:rPr sz="1800" b="1" spc="-5" dirty="0">
                <a:latin typeface="Palladio Uralic"/>
                <a:cs typeface="Palladio Uralic"/>
              </a:rPr>
              <a:t>Sons,</a:t>
            </a:r>
            <a:r>
              <a:rPr sz="1800" b="1" spc="20" dirty="0">
                <a:latin typeface="Palladio Uralic"/>
                <a:cs typeface="Palladio Uralic"/>
              </a:rPr>
              <a:t> </a:t>
            </a:r>
            <a:r>
              <a:rPr sz="1800" b="1" spc="-5" dirty="0">
                <a:latin typeface="Palladio Uralic"/>
                <a:cs typeface="Palladio Uralic"/>
              </a:rPr>
              <a:t>Inc.</a:t>
            </a:r>
            <a:endParaRPr sz="1800">
              <a:latin typeface="Palladio Uralic"/>
              <a:cs typeface="Palladio Uralic"/>
            </a:endParaRPr>
          </a:p>
          <a:p>
            <a:pPr marL="12700" marR="5080">
              <a:lnSpc>
                <a:spcPct val="100000"/>
              </a:lnSpc>
            </a:pPr>
            <a:r>
              <a:rPr sz="1800" spc="50" dirty="0">
                <a:latin typeface="Times New Roman"/>
                <a:cs typeface="Times New Roman"/>
              </a:rPr>
              <a:t>All </a:t>
            </a:r>
            <a:r>
              <a:rPr sz="1800" spc="85" dirty="0">
                <a:latin typeface="Times New Roman"/>
                <a:cs typeface="Times New Roman"/>
              </a:rPr>
              <a:t>rights </a:t>
            </a:r>
            <a:r>
              <a:rPr sz="1800" spc="80" dirty="0">
                <a:latin typeface="Times New Roman"/>
                <a:cs typeface="Times New Roman"/>
              </a:rPr>
              <a:t>reserved. </a:t>
            </a:r>
            <a:r>
              <a:rPr sz="1800" spc="95" dirty="0">
                <a:latin typeface="Times New Roman"/>
                <a:cs typeface="Times New Roman"/>
              </a:rPr>
              <a:t>Reproduction or </a:t>
            </a:r>
            <a:r>
              <a:rPr sz="1800" spc="85" dirty="0">
                <a:latin typeface="Times New Roman"/>
                <a:cs typeface="Times New Roman"/>
              </a:rPr>
              <a:t>translation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75" dirty="0">
                <a:latin typeface="Times New Roman"/>
                <a:cs typeface="Times New Roman"/>
              </a:rPr>
              <a:t>this </a:t>
            </a:r>
            <a:r>
              <a:rPr sz="1800" spc="110" dirty="0">
                <a:latin typeface="Times New Roman"/>
                <a:cs typeface="Times New Roman"/>
              </a:rPr>
              <a:t>work </a:t>
            </a:r>
            <a:r>
              <a:rPr sz="1800" spc="105" dirty="0">
                <a:latin typeface="Times New Roman"/>
                <a:cs typeface="Times New Roman"/>
              </a:rPr>
              <a:t>beyond </a:t>
            </a:r>
            <a:r>
              <a:rPr sz="1800" spc="100" dirty="0">
                <a:latin typeface="Times New Roman"/>
                <a:cs typeface="Times New Roman"/>
              </a:rPr>
              <a:t>that  </a:t>
            </a:r>
            <a:r>
              <a:rPr sz="1800" spc="135" dirty="0">
                <a:latin typeface="Times New Roman"/>
                <a:cs typeface="Times New Roman"/>
              </a:rPr>
              <a:t>named </a:t>
            </a:r>
            <a:r>
              <a:rPr sz="1800" spc="80" dirty="0">
                <a:latin typeface="Times New Roman"/>
                <a:cs typeface="Times New Roman"/>
              </a:rPr>
              <a:t>in </a:t>
            </a:r>
            <a:r>
              <a:rPr sz="1800" spc="45" dirty="0">
                <a:latin typeface="Times New Roman"/>
                <a:cs typeface="Times New Roman"/>
              </a:rPr>
              <a:t>Section </a:t>
            </a:r>
            <a:r>
              <a:rPr sz="1800" dirty="0">
                <a:latin typeface="Times New Roman"/>
                <a:cs typeface="Times New Roman"/>
              </a:rPr>
              <a:t>117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1976 </a:t>
            </a:r>
            <a:r>
              <a:rPr sz="1800" spc="100" dirty="0">
                <a:latin typeface="Times New Roman"/>
                <a:cs typeface="Times New Roman"/>
              </a:rPr>
              <a:t>United </a:t>
            </a:r>
            <a:r>
              <a:rPr sz="1800" spc="55" dirty="0">
                <a:latin typeface="Times New Roman"/>
                <a:cs typeface="Times New Roman"/>
              </a:rPr>
              <a:t>States </a:t>
            </a:r>
            <a:r>
              <a:rPr sz="1800" spc="95" dirty="0">
                <a:latin typeface="Times New Roman"/>
                <a:cs typeface="Times New Roman"/>
              </a:rPr>
              <a:t>Copyright </a:t>
            </a:r>
            <a:r>
              <a:rPr sz="1800" spc="60" dirty="0">
                <a:latin typeface="Times New Roman"/>
                <a:cs typeface="Times New Roman"/>
              </a:rPr>
              <a:t>Act </a:t>
            </a:r>
            <a:r>
              <a:rPr sz="1800" spc="110" dirty="0">
                <a:latin typeface="Times New Roman"/>
                <a:cs typeface="Times New Roman"/>
              </a:rPr>
              <a:t>without </a:t>
            </a:r>
            <a:r>
              <a:rPr sz="1800" spc="90" dirty="0">
                <a:latin typeface="Times New Roman"/>
                <a:cs typeface="Times New Roman"/>
              </a:rPr>
              <a:t>the  </a:t>
            </a:r>
            <a:r>
              <a:rPr sz="1800" spc="75" dirty="0">
                <a:latin typeface="Times New Roman"/>
                <a:cs typeface="Times New Roman"/>
              </a:rPr>
              <a:t>express </a:t>
            </a:r>
            <a:r>
              <a:rPr sz="1800" spc="95" dirty="0">
                <a:latin typeface="Times New Roman"/>
                <a:cs typeface="Times New Roman"/>
              </a:rPr>
              <a:t>written </a:t>
            </a:r>
            <a:r>
              <a:rPr sz="1800" spc="85" dirty="0">
                <a:latin typeface="Times New Roman"/>
                <a:cs typeface="Times New Roman"/>
              </a:rPr>
              <a:t>consent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spc="90" dirty="0">
                <a:latin typeface="Times New Roman"/>
                <a:cs typeface="Times New Roman"/>
              </a:rPr>
              <a:t>copyright </a:t>
            </a:r>
            <a:r>
              <a:rPr sz="1800" spc="120" dirty="0">
                <a:latin typeface="Times New Roman"/>
                <a:cs typeface="Times New Roman"/>
              </a:rPr>
              <a:t>owner </a:t>
            </a:r>
            <a:r>
              <a:rPr sz="1800" spc="40" dirty="0">
                <a:latin typeface="Times New Roman"/>
                <a:cs typeface="Times New Roman"/>
              </a:rPr>
              <a:t>is </a:t>
            </a:r>
            <a:r>
              <a:rPr sz="1800" spc="90" dirty="0">
                <a:latin typeface="Times New Roman"/>
                <a:cs typeface="Times New Roman"/>
              </a:rPr>
              <a:t>unlawful. </a:t>
            </a:r>
            <a:r>
              <a:rPr sz="1800" spc="75" dirty="0">
                <a:latin typeface="Times New Roman"/>
                <a:cs typeface="Times New Roman"/>
              </a:rPr>
              <a:t>Requests </a:t>
            </a:r>
            <a:r>
              <a:rPr sz="1800" spc="65" dirty="0">
                <a:latin typeface="Times New Roman"/>
                <a:cs typeface="Times New Roman"/>
              </a:rPr>
              <a:t>for  </a:t>
            </a:r>
            <a:r>
              <a:rPr sz="1800" spc="95" dirty="0">
                <a:latin typeface="Times New Roman"/>
                <a:cs typeface="Times New Roman"/>
              </a:rPr>
              <a:t>further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information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should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be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addressed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Permissions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Department,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John  </a:t>
            </a:r>
            <a:r>
              <a:rPr sz="1800" spc="50" dirty="0">
                <a:latin typeface="Times New Roman"/>
                <a:cs typeface="Times New Roman"/>
              </a:rPr>
              <a:t>Wiley </a:t>
            </a:r>
            <a:r>
              <a:rPr sz="1800" dirty="0">
                <a:latin typeface="Times New Roman"/>
                <a:cs typeface="Times New Roman"/>
              </a:rPr>
              <a:t>&amp; </a:t>
            </a:r>
            <a:r>
              <a:rPr sz="1800" spc="45" dirty="0">
                <a:latin typeface="Times New Roman"/>
                <a:cs typeface="Times New Roman"/>
              </a:rPr>
              <a:t>Sons, </a:t>
            </a:r>
            <a:r>
              <a:rPr sz="1800" spc="35" dirty="0">
                <a:latin typeface="Times New Roman"/>
                <a:cs typeface="Times New Roman"/>
              </a:rPr>
              <a:t>Inc.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100" dirty="0">
                <a:latin typeface="Times New Roman"/>
                <a:cs typeface="Times New Roman"/>
              </a:rPr>
              <a:t>purchaser </a:t>
            </a:r>
            <a:r>
              <a:rPr sz="1800" spc="125" dirty="0">
                <a:latin typeface="Times New Roman"/>
                <a:cs typeface="Times New Roman"/>
              </a:rPr>
              <a:t>may </a:t>
            </a:r>
            <a:r>
              <a:rPr sz="1800" spc="110" dirty="0">
                <a:latin typeface="Times New Roman"/>
                <a:cs typeface="Times New Roman"/>
              </a:rPr>
              <a:t>make </a:t>
            </a:r>
            <a:r>
              <a:rPr sz="1800" spc="90" dirty="0">
                <a:latin typeface="Times New Roman"/>
                <a:cs typeface="Times New Roman"/>
              </a:rPr>
              <a:t>back-up </a:t>
            </a:r>
            <a:r>
              <a:rPr sz="1800" spc="65" dirty="0">
                <a:latin typeface="Times New Roman"/>
                <a:cs typeface="Times New Roman"/>
              </a:rPr>
              <a:t>copies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85" dirty="0">
                <a:latin typeface="Times New Roman"/>
                <a:cs typeface="Times New Roman"/>
              </a:rPr>
              <a:t>his/her </a:t>
            </a:r>
            <a:r>
              <a:rPr sz="1800" spc="140" dirty="0">
                <a:latin typeface="Times New Roman"/>
                <a:cs typeface="Times New Roman"/>
              </a:rPr>
              <a:t>own 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85" dirty="0">
                <a:latin typeface="Times New Roman"/>
                <a:cs typeface="Times New Roman"/>
              </a:rPr>
              <a:t>only </a:t>
            </a:r>
            <a:r>
              <a:rPr sz="1800" spc="145" dirty="0">
                <a:latin typeface="Times New Roman"/>
                <a:cs typeface="Times New Roman"/>
              </a:rPr>
              <a:t>and </a:t>
            </a:r>
            <a:r>
              <a:rPr sz="1800" spc="100" dirty="0">
                <a:latin typeface="Times New Roman"/>
                <a:cs typeface="Times New Roman"/>
              </a:rPr>
              <a:t>not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90" dirty="0">
                <a:latin typeface="Times New Roman"/>
                <a:cs typeface="Times New Roman"/>
              </a:rPr>
              <a:t>distribution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65" dirty="0">
                <a:latin typeface="Times New Roman"/>
                <a:cs typeface="Times New Roman"/>
              </a:rPr>
              <a:t>resale.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85" dirty="0">
                <a:latin typeface="Times New Roman"/>
                <a:cs typeface="Times New Roman"/>
              </a:rPr>
              <a:t>Publisher </a:t>
            </a:r>
            <a:r>
              <a:rPr sz="1800" spc="100" dirty="0">
                <a:latin typeface="Times New Roman"/>
                <a:cs typeface="Times New Roman"/>
              </a:rPr>
              <a:t>assumes </a:t>
            </a:r>
            <a:r>
              <a:rPr sz="1800" spc="110" dirty="0">
                <a:latin typeface="Times New Roman"/>
                <a:cs typeface="Times New Roman"/>
              </a:rPr>
              <a:t>no  </a:t>
            </a:r>
            <a:r>
              <a:rPr sz="1800" spc="75" dirty="0">
                <a:latin typeface="Times New Roman"/>
                <a:cs typeface="Times New Roman"/>
              </a:rPr>
              <a:t>responsibility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75" dirty="0">
                <a:latin typeface="Times New Roman"/>
                <a:cs typeface="Times New Roman"/>
              </a:rPr>
              <a:t>errors, </a:t>
            </a:r>
            <a:r>
              <a:rPr sz="1800" spc="70" dirty="0">
                <a:latin typeface="Times New Roman"/>
                <a:cs typeface="Times New Roman"/>
              </a:rPr>
              <a:t>omissions,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100" dirty="0">
                <a:latin typeface="Times New Roman"/>
                <a:cs typeface="Times New Roman"/>
              </a:rPr>
              <a:t>damages, caused </a:t>
            </a:r>
            <a:r>
              <a:rPr sz="1800" spc="95" dirty="0">
                <a:latin typeface="Times New Roman"/>
                <a:cs typeface="Times New Roman"/>
              </a:rPr>
              <a:t>by the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80" dirty="0">
                <a:latin typeface="Times New Roman"/>
                <a:cs typeface="Times New Roman"/>
              </a:rPr>
              <a:t>these  </a:t>
            </a:r>
            <a:r>
              <a:rPr sz="1800" spc="110" dirty="0">
                <a:latin typeface="Times New Roman"/>
                <a:cs typeface="Times New Roman"/>
              </a:rPr>
              <a:t>programs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use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information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contained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herein.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2087</Words>
  <Application>Microsoft Office PowerPoint</Application>
  <PresentationFormat>On-screen Show (4:3)</PresentationFormat>
  <Paragraphs>236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Calibri</vt:lpstr>
      <vt:lpstr>Courier New</vt:lpstr>
      <vt:lpstr>Gothic Uralic</vt:lpstr>
      <vt:lpstr>Palladio Uralic</vt:lpstr>
      <vt:lpstr>TeXGyreAdventor</vt:lpstr>
      <vt:lpstr>Times New Roman</vt:lpstr>
      <vt:lpstr>Office Theme</vt:lpstr>
      <vt:lpstr>PowerPoint Presentation</vt:lpstr>
      <vt:lpstr>Overview</vt:lpstr>
      <vt:lpstr>PowerPoint Presentation</vt:lpstr>
      <vt:lpstr>Installing Software with  Group Policy</vt:lpstr>
      <vt:lpstr>Windows Installer</vt:lpstr>
      <vt:lpstr>Windows Installer Service  Package File</vt:lpstr>
      <vt:lpstr>Repackaging Software</vt:lpstr>
      <vt:lpstr>Deploying Software Using  Group Policy</vt:lpstr>
      <vt:lpstr>Configure Software  Installation Defaults</vt:lpstr>
      <vt:lpstr>Configure Software  Installation Defaults</vt:lpstr>
      <vt:lpstr>Configure Software  Installation Defaults</vt:lpstr>
      <vt:lpstr>Configure Software  Installation Defaults</vt:lpstr>
      <vt:lpstr>Configure Software  Installation Defaults</vt:lpstr>
      <vt:lpstr>Create a New Software  Installation Package</vt:lpstr>
      <vt:lpstr>Customizing Software  Installation Packages</vt:lpstr>
      <vt:lpstr>Customizing Software  Installation Packages</vt:lpstr>
      <vt:lpstr>Customizing Software  Installation Packages</vt:lpstr>
      <vt:lpstr>Customizing Software  Installation Packages</vt:lpstr>
      <vt:lpstr>Customizing Software  Installation Packages</vt:lpstr>
      <vt:lpstr>Customizing Software  Installation Packages</vt:lpstr>
      <vt:lpstr>PowerPoint Presentation</vt:lpstr>
      <vt:lpstr>Configuring Software  Restriction Policies</vt:lpstr>
      <vt:lpstr>Configuring Software  Restriction Policies</vt:lpstr>
      <vt:lpstr>Enforcing Restrictions</vt:lpstr>
      <vt:lpstr>Modify the Default Security Level</vt:lpstr>
      <vt:lpstr>Configuring Software  Restriction Rules</vt:lpstr>
      <vt:lpstr>Configuring Software  Restriction Rules</vt:lpstr>
      <vt:lpstr>Configuring Software  Restriction Properties</vt:lpstr>
      <vt:lpstr>Configuring Software  Restriction Properties</vt:lpstr>
      <vt:lpstr>Configuring Software  Restriction Properties</vt:lpstr>
      <vt:lpstr>Configuring Software  Restriction Properties</vt:lpstr>
      <vt:lpstr>Software Restriction  Best Practices</vt:lpstr>
      <vt:lpstr>Using AppLocker</vt:lpstr>
      <vt:lpstr>AppLocker</vt:lpstr>
      <vt:lpstr>Rule Types</vt:lpstr>
      <vt:lpstr>Creating Default Rules</vt:lpstr>
      <vt:lpstr>Creating Rules Automatically</vt:lpstr>
      <vt:lpstr>Creating Rules Automatically</vt:lpstr>
      <vt:lpstr>Creating Rules Automatically</vt:lpstr>
      <vt:lpstr>Creating Rules Manually</vt:lpstr>
      <vt:lpstr>Lesson Summary</vt:lpstr>
      <vt:lpstr>Lesson Summary</vt:lpstr>
      <vt:lpstr>Lesson 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Kane, John - Indianapolis</dc:creator>
  <cp:lastModifiedBy>ADMIN</cp:lastModifiedBy>
  <cp:revision>3</cp:revision>
  <dcterms:created xsi:type="dcterms:W3CDTF">2020-10-07T03:45:57Z</dcterms:created>
  <dcterms:modified xsi:type="dcterms:W3CDTF">2020-10-07T03:49:29Z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2020-10-07T00:00:00Z</vt:filetime>
  </property>
</Properties>
</file>