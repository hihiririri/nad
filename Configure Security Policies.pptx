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056" y="2316226"/>
            <a:ext cx="7631887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74672" y="3609213"/>
            <a:ext cx="5994654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888888"/>
                </a:solidFill>
                <a:latin typeface="Gothic Uralic"/>
                <a:cs typeface="Gothic Ural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731252" y="6277355"/>
            <a:ext cx="1412748" cy="5806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52400" y="6280403"/>
            <a:ext cx="1828800" cy="4251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92680" y="-62661"/>
            <a:ext cx="5358638" cy="1585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2E579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563065"/>
            <a:ext cx="8072119" cy="43795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92302" y="6432317"/>
            <a:ext cx="2238375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34145" y="6432317"/>
            <a:ext cx="243840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858"/>
                </a:solidFill>
                <a:latin typeface="Gothic Uralic"/>
                <a:cs typeface="Gothic Uralic"/>
              </a:defRPr>
            </a:lvl1pPr>
          </a:lstStyle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30224" y="1795272"/>
            <a:ext cx="7240905" cy="2106295"/>
            <a:chOff x="1030224" y="1795272"/>
            <a:chExt cx="7240905" cy="2106295"/>
          </a:xfrm>
        </p:grpSpPr>
        <p:sp>
          <p:nvSpPr>
            <p:cNvPr id="3" name="object 3"/>
            <p:cNvSpPr/>
            <p:nvPr/>
          </p:nvSpPr>
          <p:spPr>
            <a:xfrm>
              <a:off x="1030224" y="1795272"/>
              <a:ext cx="7240524" cy="137464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59863" y="2526791"/>
              <a:ext cx="5221224" cy="13746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431416" y="1944751"/>
            <a:ext cx="628078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42340" marR="5080" indent="-929640">
              <a:lnSpc>
                <a:spcPct val="100000"/>
              </a:lnSpc>
              <a:spcBef>
                <a:spcPts val="100"/>
              </a:spcBef>
              <a:tabLst>
                <a:tab pos="2950845" algn="l"/>
              </a:tabLst>
            </a:pPr>
            <a:r>
              <a:rPr sz="4800" spc="185">
                <a:solidFill>
                  <a:srgbClr val="2E5796"/>
                </a:solidFill>
                <a:latin typeface="Times New Roman"/>
                <a:cs typeface="Times New Roman"/>
              </a:rPr>
              <a:t>Lesson</a:t>
            </a:r>
            <a:r>
              <a:rPr sz="4800" spc="15">
                <a:solidFill>
                  <a:srgbClr val="2E5796"/>
                </a:solidFill>
                <a:latin typeface="Times New Roman"/>
                <a:cs typeface="Times New Roman"/>
              </a:rPr>
              <a:t> </a:t>
            </a:r>
            <a:r>
              <a:rPr lang="en-US" sz="4800" spc="-45" smtClean="0">
                <a:solidFill>
                  <a:srgbClr val="2E5796"/>
                </a:solidFill>
                <a:latin typeface="Times New Roman"/>
                <a:cs typeface="Times New Roman"/>
              </a:rPr>
              <a:t>4a</a:t>
            </a:r>
            <a:r>
              <a:rPr sz="4800" spc="-45" smtClean="0">
                <a:solidFill>
                  <a:srgbClr val="2E5796"/>
                </a:solidFill>
                <a:latin typeface="Times New Roman"/>
                <a:cs typeface="Times New Roman"/>
              </a:rPr>
              <a:t>:</a:t>
            </a:r>
            <a:r>
              <a:rPr sz="4800" dirty="0">
                <a:solidFill>
                  <a:srgbClr val="2E5796"/>
                </a:solidFill>
                <a:latin typeface="Times New Roman"/>
                <a:cs typeface="Times New Roman"/>
              </a:rPr>
              <a:t>	</a:t>
            </a:r>
            <a:r>
              <a:rPr sz="4800" spc="229" dirty="0">
                <a:solidFill>
                  <a:srgbClr val="2E5796"/>
                </a:solidFill>
                <a:latin typeface="Times New Roman"/>
                <a:cs typeface="Times New Roman"/>
              </a:rPr>
              <a:t>Configur</a:t>
            </a:r>
            <a:r>
              <a:rPr sz="4800" spc="120" dirty="0">
                <a:solidFill>
                  <a:srgbClr val="2E5796"/>
                </a:solidFill>
                <a:latin typeface="Times New Roman"/>
                <a:cs typeface="Times New Roman"/>
              </a:rPr>
              <a:t>i</a:t>
            </a:r>
            <a:r>
              <a:rPr sz="4800" spc="240" dirty="0">
                <a:solidFill>
                  <a:srgbClr val="2E5796"/>
                </a:solidFill>
                <a:latin typeface="Times New Roman"/>
                <a:cs typeface="Times New Roman"/>
              </a:rPr>
              <a:t>ng  </a:t>
            </a:r>
            <a:r>
              <a:rPr sz="4800" spc="170" dirty="0">
                <a:solidFill>
                  <a:srgbClr val="2E5796"/>
                </a:solidFill>
                <a:latin typeface="Times New Roman"/>
                <a:cs typeface="Times New Roman"/>
              </a:rPr>
              <a:t>Security</a:t>
            </a:r>
            <a:r>
              <a:rPr sz="4800" spc="15" dirty="0">
                <a:solidFill>
                  <a:srgbClr val="2E5796"/>
                </a:solidFill>
                <a:latin typeface="Times New Roman"/>
                <a:cs typeface="Times New Roman"/>
              </a:rPr>
              <a:t> </a:t>
            </a:r>
            <a:r>
              <a:rPr sz="4800" spc="100" dirty="0">
                <a:solidFill>
                  <a:srgbClr val="2E5796"/>
                </a:solidFill>
                <a:latin typeface="Times New Roman"/>
                <a:cs typeface="Times New Roman"/>
              </a:rPr>
              <a:t>Policies</a:t>
            </a:r>
            <a:endParaRPr sz="4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3675" marR="5080" indent="-145161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MOAC 70-410: </a:t>
            </a:r>
            <a:r>
              <a:rPr dirty="0"/>
              <a:t>Installing </a:t>
            </a:r>
            <a:r>
              <a:rPr spc="-5" dirty="0"/>
              <a:t>and</a:t>
            </a:r>
            <a:r>
              <a:rPr spc="-140" dirty="0"/>
              <a:t> </a:t>
            </a:r>
            <a:r>
              <a:rPr dirty="0"/>
              <a:t>Configuring  </a:t>
            </a:r>
            <a:r>
              <a:rPr spc="-5" dirty="0"/>
              <a:t>Windows </a:t>
            </a:r>
            <a:r>
              <a:rPr dirty="0"/>
              <a:t>Server</a:t>
            </a:r>
            <a:r>
              <a:rPr spc="5" dirty="0"/>
              <a:t> </a:t>
            </a:r>
            <a:r>
              <a:rPr spc="-5" dirty="0"/>
              <a:t>2012</a:t>
            </a:r>
          </a:p>
        </p:txBody>
      </p:sp>
      <p:sp>
        <p:nvSpPr>
          <p:cNvPr id="7" name="object 7"/>
          <p:cNvSpPr/>
          <p:nvPr/>
        </p:nvSpPr>
        <p:spPr>
          <a:xfrm>
            <a:off x="7731252" y="6277355"/>
            <a:ext cx="1412748" cy="5806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52400" y="6280403"/>
            <a:ext cx="1828800" cy="4251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06039" y="504444"/>
            <a:ext cx="3928871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57905" y="674065"/>
            <a:ext cx="302768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5" dirty="0"/>
              <a:t>O</a:t>
            </a:r>
            <a:r>
              <a:rPr spc="185" dirty="0"/>
              <a:t>v</a:t>
            </a:r>
            <a:r>
              <a:rPr spc="290" dirty="0"/>
              <a:t>erview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7384415" cy="2841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33274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Exam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Objective </a:t>
            </a:r>
            <a:r>
              <a:rPr sz="2800" spc="-15" dirty="0">
                <a:solidFill>
                  <a:srgbClr val="7E7E7E"/>
                </a:solidFill>
                <a:latin typeface="Gothic Uralic"/>
                <a:cs typeface="Gothic Uralic"/>
              </a:rPr>
              <a:t>6.2: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Configure Security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Policies</a:t>
            </a:r>
            <a:endParaRPr sz="28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Configuring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Security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Policies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Using Group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Policy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Configuring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Local Users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Groups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Configuring User Account</a:t>
            </a:r>
            <a:r>
              <a:rPr sz="2800" spc="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34340" y="2167127"/>
            <a:ext cx="8345805" cy="2106295"/>
            <a:chOff x="434340" y="2167127"/>
            <a:chExt cx="8345805" cy="2106295"/>
          </a:xfrm>
        </p:grpSpPr>
        <p:sp>
          <p:nvSpPr>
            <p:cNvPr id="3" name="object 3"/>
            <p:cNvSpPr/>
            <p:nvPr/>
          </p:nvSpPr>
          <p:spPr>
            <a:xfrm>
              <a:off x="1353312" y="2167127"/>
              <a:ext cx="6662928" cy="137464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4340" y="2898647"/>
              <a:ext cx="8345424" cy="137464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" marR="5080" indent="918844">
              <a:lnSpc>
                <a:spcPct val="100000"/>
              </a:lnSpc>
              <a:spcBef>
                <a:spcPts val="100"/>
              </a:spcBef>
            </a:pPr>
            <a:r>
              <a:rPr spc="240" dirty="0"/>
              <a:t>Configuring </a:t>
            </a:r>
            <a:r>
              <a:rPr spc="170" dirty="0"/>
              <a:t>Security  </a:t>
            </a:r>
            <a:r>
              <a:rPr spc="100" dirty="0"/>
              <a:t>Policies </a:t>
            </a:r>
            <a:r>
              <a:rPr spc="229" dirty="0"/>
              <a:t>Using </a:t>
            </a:r>
            <a:r>
              <a:rPr spc="330" dirty="0"/>
              <a:t>Group</a:t>
            </a:r>
            <a:r>
              <a:rPr spc="-285" dirty="0"/>
              <a:t> </a:t>
            </a:r>
            <a:r>
              <a:rPr spc="114" dirty="0"/>
              <a:t>Policy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757552" y="4096334"/>
            <a:ext cx="5700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888888"/>
                </a:solidFill>
                <a:latin typeface="Gothic Uralic"/>
                <a:cs typeface="Gothic Uralic"/>
              </a:rPr>
              <a:t>Lesson 17: </a:t>
            </a: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Configuring </a:t>
            </a:r>
            <a:r>
              <a:rPr sz="2400" spc="-5" dirty="0">
                <a:solidFill>
                  <a:srgbClr val="888888"/>
                </a:solidFill>
                <a:latin typeface="Gothic Uralic"/>
                <a:cs typeface="Gothic Uralic"/>
              </a:rPr>
              <a:t>Security</a:t>
            </a:r>
            <a:r>
              <a:rPr sz="2400" spc="-75" dirty="0">
                <a:solidFill>
                  <a:srgbClr val="888888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Policies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2504" y="0"/>
            <a:ext cx="8851900" cy="1973580"/>
            <a:chOff x="222504" y="0"/>
            <a:chExt cx="8851900" cy="1973580"/>
          </a:xfrm>
        </p:grpSpPr>
        <p:sp>
          <p:nvSpPr>
            <p:cNvPr id="3" name="object 3"/>
            <p:cNvSpPr/>
            <p:nvPr/>
          </p:nvSpPr>
          <p:spPr>
            <a:xfrm>
              <a:off x="222504" y="0"/>
              <a:ext cx="8851392" cy="12374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91995" y="598931"/>
              <a:ext cx="6156959" cy="137464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23722" y="12014"/>
            <a:ext cx="7896225" cy="14941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82065" marR="5080" indent="-1270000">
              <a:lnSpc>
                <a:spcPct val="100699"/>
              </a:lnSpc>
              <a:spcBef>
                <a:spcPts val="60"/>
              </a:spcBef>
            </a:pPr>
            <a:r>
              <a:rPr sz="4800" spc="240" dirty="0"/>
              <a:t>Configuring </a:t>
            </a:r>
            <a:r>
              <a:rPr sz="4800" spc="170" dirty="0"/>
              <a:t>Security</a:t>
            </a:r>
            <a:r>
              <a:rPr sz="4800" spc="-270" dirty="0"/>
              <a:t> </a:t>
            </a:r>
            <a:r>
              <a:rPr sz="4800" spc="100" dirty="0"/>
              <a:t>Policies  </a:t>
            </a:r>
            <a:r>
              <a:rPr sz="4800" spc="229" dirty="0"/>
              <a:t>Using </a:t>
            </a:r>
            <a:r>
              <a:rPr sz="4800" spc="330" dirty="0"/>
              <a:t>Group</a:t>
            </a:r>
            <a:r>
              <a:rPr sz="4800" spc="-210" dirty="0"/>
              <a:t> </a:t>
            </a:r>
            <a:r>
              <a:rPr sz="4800" spc="110" dirty="0"/>
              <a:t>Policy</a:t>
            </a:r>
            <a:endParaRPr sz="4800"/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590497"/>
            <a:ext cx="7618730" cy="415988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55600" marR="659130" indent="-343535" algn="just">
              <a:lnSpc>
                <a:spcPct val="90100"/>
              </a:lnSpc>
              <a:spcBef>
                <a:spcPts val="385"/>
              </a:spcBef>
              <a:buFont typeface="Arial"/>
              <a:buChar char="•"/>
              <a:tabLst>
                <a:tab pos="356235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One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of the primary aims of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Group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Policy 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to  provide centralized management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of</a:t>
            </a:r>
            <a:r>
              <a:rPr sz="2400" spc="-114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security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settings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for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users and</a:t>
            </a:r>
            <a:r>
              <a:rPr sz="2400" spc="-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computers.</a:t>
            </a:r>
            <a:endParaRPr sz="2400">
              <a:latin typeface="Gothic Uralic"/>
              <a:cs typeface="Gothic Uralic"/>
            </a:endParaRPr>
          </a:p>
          <a:p>
            <a:pPr marL="355600" marR="89535" indent="-343535">
              <a:lnSpc>
                <a:spcPct val="9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Most of the settings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that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pertain to security </a:t>
            </a: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are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found </a:t>
            </a:r>
            <a:r>
              <a:rPr sz="2400" spc="5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Settings folder within the 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Computer Configuration node of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Group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Policy  object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(GPO).</a:t>
            </a:r>
            <a:endParaRPr sz="24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9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You can use security settings to govern how</a:t>
            </a:r>
            <a:r>
              <a:rPr sz="2400" spc="-15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users  are authenticated to the network, the resources  they are permitted to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use, group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membership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policies,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events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related to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user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group  actions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recorded 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the event</a:t>
            </a:r>
            <a:r>
              <a:rPr sz="2400" spc="-9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logs.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7031" y="504444"/>
            <a:ext cx="7868411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8542" y="674065"/>
            <a:ext cx="69684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5" dirty="0"/>
              <a:t>Defining </a:t>
            </a:r>
            <a:r>
              <a:rPr spc="125" dirty="0"/>
              <a:t>Local</a:t>
            </a:r>
            <a:r>
              <a:rPr spc="-315" dirty="0"/>
              <a:t> </a:t>
            </a:r>
            <a:r>
              <a:rPr spc="114" dirty="0"/>
              <a:t>Policies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82877"/>
            <a:ext cx="7887970" cy="40805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marR="5080" indent="-343535">
              <a:lnSpc>
                <a:spcPct val="90000"/>
              </a:lnSpc>
              <a:spcBef>
                <a:spcPts val="434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Local Policies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enable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administrators to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set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user privileges on the local computer to  govern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what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users can do on the computer  and determine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if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system should track  them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 event</a:t>
            </a:r>
            <a:r>
              <a:rPr sz="2800" spc="6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log.</a:t>
            </a:r>
            <a:endParaRPr sz="2800">
              <a:latin typeface="Gothic Uralic"/>
              <a:cs typeface="Gothic Uralic"/>
            </a:endParaRPr>
          </a:p>
          <a:p>
            <a:pPr marL="355600" marR="252729" indent="-343535" algn="just">
              <a:lnSpc>
                <a:spcPts val="3020"/>
              </a:lnSpc>
              <a:spcBef>
                <a:spcPts val="720"/>
              </a:spcBef>
              <a:buFont typeface="Arial"/>
              <a:buChar char="•"/>
              <a:tabLst>
                <a:tab pos="356235" algn="l"/>
              </a:tabLst>
            </a:pP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Auditing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tracking events that take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place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on the local</a:t>
            </a:r>
            <a:r>
              <a:rPr sz="2800" spc="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computer.</a:t>
            </a:r>
            <a:endParaRPr sz="2800">
              <a:latin typeface="Gothic Uralic"/>
              <a:cs typeface="Gothic Uralic"/>
            </a:endParaRPr>
          </a:p>
          <a:p>
            <a:pPr marL="355600" marR="83185" indent="-343535" algn="just">
              <a:lnSpc>
                <a:spcPts val="3020"/>
              </a:lnSpc>
              <a:spcBef>
                <a:spcPts val="680"/>
              </a:spcBef>
              <a:buFont typeface="Arial"/>
              <a:buChar char="•"/>
              <a:tabLst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Local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Policies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node of a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GPO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has three  subordinate nodes: </a:t>
            </a: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User Rights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Assignment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,  </a:t>
            </a: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Security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Options,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Audit</a:t>
            </a:r>
            <a:r>
              <a:rPr sz="2800" b="1" spc="5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Policy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21" y="0"/>
            <a:ext cx="9022080" cy="2048510"/>
            <a:chOff x="121921" y="0"/>
            <a:chExt cx="9022080" cy="2048510"/>
          </a:xfrm>
        </p:grpSpPr>
        <p:sp>
          <p:nvSpPr>
            <p:cNvPr id="3" name="object 3"/>
            <p:cNvSpPr/>
            <p:nvPr/>
          </p:nvSpPr>
          <p:spPr>
            <a:xfrm>
              <a:off x="121921" y="0"/>
              <a:ext cx="9022078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55647" y="504444"/>
              <a:ext cx="5629656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3430" y="0"/>
            <a:ext cx="7997190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645920" marR="5080" indent="-1633855">
              <a:lnSpc>
                <a:spcPts val="5800"/>
              </a:lnSpc>
              <a:spcBef>
                <a:spcPts val="860"/>
              </a:spcBef>
            </a:pPr>
            <a:r>
              <a:rPr spc="290" dirty="0"/>
              <a:t>Planning </a:t>
            </a:r>
            <a:r>
              <a:rPr spc="445" dirty="0"/>
              <a:t>and</a:t>
            </a:r>
            <a:r>
              <a:rPr spc="-375" dirty="0"/>
              <a:t> </a:t>
            </a:r>
            <a:r>
              <a:rPr spc="270" dirty="0"/>
              <a:t>Configuring  </a:t>
            </a:r>
            <a:r>
              <a:rPr spc="370" dirty="0"/>
              <a:t>an </a:t>
            </a:r>
            <a:r>
              <a:rPr spc="355" dirty="0"/>
              <a:t>Audit</a:t>
            </a:r>
            <a:r>
              <a:rPr spc="-570" dirty="0"/>
              <a:t> </a:t>
            </a:r>
            <a:r>
              <a:rPr spc="130" dirty="0"/>
              <a:t>Policy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8066405" cy="4036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61645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Audit Policy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section of a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GPO enables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administrators to log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successful and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failed  security events,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such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as logon events,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account access,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object</a:t>
            </a:r>
            <a:r>
              <a:rPr sz="2800" spc="5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access.</a:t>
            </a:r>
            <a:endParaRPr sz="2800">
              <a:latin typeface="Gothic Uralic"/>
              <a:cs typeface="Gothic Uralic"/>
            </a:endParaRPr>
          </a:p>
          <a:p>
            <a:pPr marL="355600" marR="91821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can use auditing to track both user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activities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system</a:t>
            </a:r>
            <a:r>
              <a:rPr sz="2800" spc="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activities.</a:t>
            </a:r>
            <a:endParaRPr sz="28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Planning to audit requires that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determine the computers to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audited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types of events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wish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</a:t>
            </a:r>
            <a:r>
              <a:rPr sz="2800" spc="5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track.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85772" y="103631"/>
            <a:ext cx="5184775" cy="1240790"/>
            <a:chOff x="1985772" y="103631"/>
            <a:chExt cx="5184775" cy="1240790"/>
          </a:xfrm>
        </p:grpSpPr>
        <p:sp>
          <p:nvSpPr>
            <p:cNvPr id="3" name="object 3"/>
            <p:cNvSpPr/>
            <p:nvPr/>
          </p:nvSpPr>
          <p:spPr>
            <a:xfrm>
              <a:off x="1985772" y="103631"/>
              <a:ext cx="5184648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300983" y="530351"/>
              <a:ext cx="2468880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654810" marR="5080" indent="-1315720">
              <a:lnSpc>
                <a:spcPct val="100000"/>
              </a:lnSpc>
              <a:spcBef>
                <a:spcPts val="95"/>
              </a:spcBef>
            </a:pPr>
            <a:r>
              <a:rPr sz="2800" spc="150" dirty="0"/>
              <a:t>Planning </a:t>
            </a:r>
            <a:r>
              <a:rPr sz="2800" spc="229" dirty="0"/>
              <a:t>and </a:t>
            </a:r>
            <a:r>
              <a:rPr sz="2800" spc="135" dirty="0"/>
              <a:t>Configuring</a:t>
            </a:r>
            <a:r>
              <a:rPr sz="2800" spc="-475" dirty="0"/>
              <a:t> </a:t>
            </a:r>
            <a:r>
              <a:rPr sz="2800" spc="190" dirty="0"/>
              <a:t>an  </a:t>
            </a:r>
            <a:r>
              <a:rPr sz="2800" spc="180" dirty="0"/>
              <a:t>Audit</a:t>
            </a:r>
            <a:r>
              <a:rPr sz="2800" dirty="0"/>
              <a:t> </a:t>
            </a:r>
            <a:r>
              <a:rPr sz="2800" spc="65" dirty="0"/>
              <a:t>Policy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452877" y="5840069"/>
            <a:ext cx="41630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Audit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Policies in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Default Domain</a:t>
            </a:r>
            <a:r>
              <a:rPr sz="1600" spc="-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Policy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5800" y="1543811"/>
            <a:ext cx="7772400" cy="37688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1921" y="0"/>
            <a:ext cx="9022080" cy="2048510"/>
            <a:chOff x="121921" y="0"/>
            <a:chExt cx="9022080" cy="2048510"/>
          </a:xfrm>
        </p:grpSpPr>
        <p:sp>
          <p:nvSpPr>
            <p:cNvPr id="3" name="object 3"/>
            <p:cNvSpPr/>
            <p:nvPr/>
          </p:nvSpPr>
          <p:spPr>
            <a:xfrm>
              <a:off x="121921" y="0"/>
              <a:ext cx="9022078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55647" y="504444"/>
              <a:ext cx="5629656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73430" y="0"/>
            <a:ext cx="7997190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645920" marR="5080" indent="-1633855">
              <a:lnSpc>
                <a:spcPts val="5800"/>
              </a:lnSpc>
              <a:spcBef>
                <a:spcPts val="860"/>
              </a:spcBef>
            </a:pPr>
            <a:r>
              <a:rPr spc="290" dirty="0"/>
              <a:t>Planning </a:t>
            </a:r>
            <a:r>
              <a:rPr spc="445" dirty="0"/>
              <a:t>and</a:t>
            </a:r>
            <a:r>
              <a:rPr spc="-375" dirty="0"/>
              <a:t> </a:t>
            </a:r>
            <a:r>
              <a:rPr spc="270" dirty="0"/>
              <a:t>Configuring  </a:t>
            </a:r>
            <a:r>
              <a:rPr spc="370" dirty="0"/>
              <a:t>an </a:t>
            </a:r>
            <a:r>
              <a:rPr spc="355" dirty="0"/>
              <a:t>Audit</a:t>
            </a:r>
            <a:r>
              <a:rPr spc="-570" dirty="0"/>
              <a:t> </a:t>
            </a:r>
            <a:r>
              <a:rPr spc="130" dirty="0"/>
              <a:t>Policy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8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7809230" cy="32689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following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guidelines can help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plan  your audit</a:t>
            </a:r>
            <a:r>
              <a:rPr sz="2800" spc="-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policy: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Audit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only pertinent</a:t>
            </a:r>
            <a:r>
              <a:rPr sz="2800" spc="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items.</a:t>
            </a:r>
            <a:endParaRPr sz="2800">
              <a:latin typeface="Gothic Uralic"/>
              <a:cs typeface="Gothic Uralic"/>
            </a:endParaRPr>
          </a:p>
          <a:p>
            <a:pPr marL="355600" marR="1727835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Archive security logs to provide a  documented</a:t>
            </a:r>
            <a:r>
              <a:rPr sz="2800" spc="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history.</a:t>
            </a:r>
            <a:endParaRPr sz="2800">
              <a:latin typeface="Gothic Uralic"/>
              <a:cs typeface="Gothic Uralic"/>
            </a:endParaRPr>
          </a:p>
          <a:p>
            <a:pPr marL="355600" marR="90043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Configure the size of your security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logs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carefully.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4667" y="504444"/>
            <a:ext cx="6073139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86152" y="674065"/>
            <a:ext cx="51720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29" dirty="0"/>
              <a:t>Event</a:t>
            </a:r>
            <a:r>
              <a:rPr spc="-70" dirty="0"/>
              <a:t> </a:t>
            </a:r>
            <a:r>
              <a:rPr spc="229" dirty="0"/>
              <a:t>Categories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40281"/>
            <a:ext cx="5619750" cy="25863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System</a:t>
            </a:r>
            <a:r>
              <a:rPr sz="2800" spc="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events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Policy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change</a:t>
            </a:r>
            <a:r>
              <a:rPr sz="2800" spc="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events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Account management</a:t>
            </a:r>
            <a:r>
              <a:rPr sz="2800" spc="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events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Logon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events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Account logon</a:t>
            </a:r>
            <a:r>
              <a:rPr sz="2800" spc="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events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28088" y="530351"/>
            <a:ext cx="4616196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462022" y="615772"/>
            <a:ext cx="414845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35" dirty="0"/>
              <a:t>Configure </a:t>
            </a:r>
            <a:r>
              <a:rPr sz="2800" spc="190" dirty="0"/>
              <a:t>an </a:t>
            </a:r>
            <a:r>
              <a:rPr sz="2800" spc="180" dirty="0"/>
              <a:t>Audit</a:t>
            </a:r>
            <a:r>
              <a:rPr sz="2800" spc="-490" dirty="0"/>
              <a:t> </a:t>
            </a:r>
            <a:r>
              <a:rPr sz="2800" spc="65" dirty="0"/>
              <a:t>Policy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614422" y="5840069"/>
            <a:ext cx="38411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Properties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sheet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for a policy</a:t>
            </a:r>
            <a:r>
              <a:rPr sz="1600" spc="5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setting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43200" y="1371600"/>
            <a:ext cx="3584448" cy="42748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15667" y="103631"/>
            <a:ext cx="5328285" cy="1240790"/>
            <a:chOff x="1915667" y="103631"/>
            <a:chExt cx="5328285" cy="1240790"/>
          </a:xfrm>
        </p:grpSpPr>
        <p:sp>
          <p:nvSpPr>
            <p:cNvPr id="3" name="object 3"/>
            <p:cNvSpPr/>
            <p:nvPr/>
          </p:nvSpPr>
          <p:spPr>
            <a:xfrm>
              <a:off x="1915667" y="103631"/>
              <a:ext cx="5327904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1487" y="530351"/>
              <a:ext cx="3547872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115060" marR="5080" indent="-845819">
              <a:lnSpc>
                <a:spcPct val="100000"/>
              </a:lnSpc>
              <a:spcBef>
                <a:spcPts val="95"/>
              </a:spcBef>
            </a:pPr>
            <a:r>
              <a:rPr sz="2800" spc="130" dirty="0"/>
              <a:t>Configure </a:t>
            </a:r>
            <a:r>
              <a:rPr sz="2800" spc="190" dirty="0"/>
              <a:t>an </a:t>
            </a:r>
            <a:r>
              <a:rPr sz="2800" spc="85" dirty="0"/>
              <a:t>Active</a:t>
            </a:r>
            <a:r>
              <a:rPr sz="2800" spc="-440" dirty="0"/>
              <a:t> </a:t>
            </a:r>
            <a:r>
              <a:rPr sz="2800" spc="110" dirty="0"/>
              <a:t>Directory  </a:t>
            </a:r>
            <a:r>
              <a:rPr sz="2800" spc="65" dirty="0"/>
              <a:t>Object </a:t>
            </a:r>
            <a:r>
              <a:rPr sz="2800" spc="100" dirty="0"/>
              <a:t>for</a:t>
            </a:r>
            <a:r>
              <a:rPr sz="2800" spc="-200" dirty="0"/>
              <a:t> </a:t>
            </a:r>
            <a:r>
              <a:rPr sz="2800" spc="165" dirty="0"/>
              <a:t>Auditing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027682" y="5815685"/>
            <a:ext cx="5012055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577340" marR="5080" indent="-1565275">
              <a:lnSpc>
                <a:spcPts val="1730"/>
              </a:lnSpc>
              <a:spcBef>
                <a:spcPts val="310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Auditing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tab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of an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object’s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Advanced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Security  Settings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dialog</a:t>
            </a:r>
            <a:r>
              <a:rPr sz="1600" spc="4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box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47800" y="1339595"/>
            <a:ext cx="6359652" cy="42915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15667" y="103631"/>
            <a:ext cx="5328285" cy="1240790"/>
            <a:chOff x="1915667" y="103631"/>
            <a:chExt cx="5328285" cy="1240790"/>
          </a:xfrm>
        </p:grpSpPr>
        <p:sp>
          <p:nvSpPr>
            <p:cNvPr id="3" name="object 3"/>
            <p:cNvSpPr/>
            <p:nvPr/>
          </p:nvSpPr>
          <p:spPr>
            <a:xfrm>
              <a:off x="1915667" y="103631"/>
              <a:ext cx="5327904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1487" y="530351"/>
              <a:ext cx="3547872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115060" marR="5080" indent="-845819">
              <a:lnSpc>
                <a:spcPct val="100000"/>
              </a:lnSpc>
              <a:spcBef>
                <a:spcPts val="95"/>
              </a:spcBef>
            </a:pPr>
            <a:r>
              <a:rPr sz="2800" spc="130" dirty="0"/>
              <a:t>Configure </a:t>
            </a:r>
            <a:r>
              <a:rPr sz="2800" spc="190" dirty="0"/>
              <a:t>an </a:t>
            </a:r>
            <a:r>
              <a:rPr sz="2800" spc="85" dirty="0"/>
              <a:t>Active</a:t>
            </a:r>
            <a:r>
              <a:rPr sz="2800" spc="-440" dirty="0"/>
              <a:t> </a:t>
            </a:r>
            <a:r>
              <a:rPr sz="2800" spc="110" dirty="0"/>
              <a:t>Directory  </a:t>
            </a:r>
            <a:r>
              <a:rPr sz="2800" spc="65" dirty="0"/>
              <a:t>Object </a:t>
            </a:r>
            <a:r>
              <a:rPr sz="2800" spc="100" dirty="0"/>
              <a:t>for</a:t>
            </a:r>
            <a:r>
              <a:rPr sz="2800" spc="-200" dirty="0"/>
              <a:t> </a:t>
            </a:r>
            <a:r>
              <a:rPr sz="2800" spc="165" dirty="0"/>
              <a:t>Auditing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426970" y="5840069"/>
            <a:ext cx="42170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Auditing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Entry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dialog box for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an</a:t>
            </a:r>
            <a:r>
              <a:rPr sz="1600" spc="5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object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47800" y="1382267"/>
            <a:ext cx="6470904" cy="41681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15667" y="103631"/>
            <a:ext cx="5328285" cy="1240790"/>
            <a:chOff x="1915667" y="103631"/>
            <a:chExt cx="5328285" cy="1240790"/>
          </a:xfrm>
        </p:grpSpPr>
        <p:sp>
          <p:nvSpPr>
            <p:cNvPr id="3" name="object 3"/>
            <p:cNvSpPr/>
            <p:nvPr/>
          </p:nvSpPr>
          <p:spPr>
            <a:xfrm>
              <a:off x="1915667" y="103631"/>
              <a:ext cx="5327904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61487" y="530351"/>
              <a:ext cx="3547872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115060" marR="5080" indent="-845819">
              <a:lnSpc>
                <a:spcPct val="100000"/>
              </a:lnSpc>
              <a:spcBef>
                <a:spcPts val="95"/>
              </a:spcBef>
            </a:pPr>
            <a:r>
              <a:rPr sz="2800" spc="130" dirty="0"/>
              <a:t>Configure </a:t>
            </a:r>
            <a:r>
              <a:rPr sz="2800" spc="190" dirty="0"/>
              <a:t>an </a:t>
            </a:r>
            <a:r>
              <a:rPr sz="2800" spc="85" dirty="0"/>
              <a:t>Active</a:t>
            </a:r>
            <a:r>
              <a:rPr sz="2800" spc="-440" dirty="0"/>
              <a:t> </a:t>
            </a:r>
            <a:r>
              <a:rPr sz="2800" spc="110" dirty="0"/>
              <a:t>Directory  </a:t>
            </a:r>
            <a:r>
              <a:rPr sz="2800" spc="65" dirty="0"/>
              <a:t>Object </a:t>
            </a:r>
            <a:r>
              <a:rPr sz="2800" spc="100" dirty="0"/>
              <a:t>for</a:t>
            </a:r>
            <a:r>
              <a:rPr sz="2800" spc="-200" dirty="0"/>
              <a:t> </a:t>
            </a:r>
            <a:r>
              <a:rPr sz="2800" spc="165" dirty="0"/>
              <a:t>Auditing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1823466" y="5815685"/>
            <a:ext cx="5421630" cy="488315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2184400" marR="5080" indent="-2172335">
              <a:lnSpc>
                <a:spcPts val="1730"/>
              </a:lnSpc>
              <a:spcBef>
                <a:spcPts val="310"/>
              </a:spcBef>
            </a:pP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new auditing entry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Advanced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Security Settings 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dialog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box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71600" y="1339595"/>
            <a:ext cx="6359652" cy="42915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28316" y="530351"/>
            <a:ext cx="4015739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62250" y="615772"/>
            <a:ext cx="35471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30" dirty="0"/>
              <a:t>Assigning </a:t>
            </a:r>
            <a:r>
              <a:rPr sz="2800" spc="125" dirty="0"/>
              <a:t>User</a:t>
            </a:r>
            <a:r>
              <a:rPr sz="2800" spc="-190" dirty="0"/>
              <a:t> </a:t>
            </a:r>
            <a:r>
              <a:rPr sz="2800" spc="105" dirty="0"/>
              <a:t>Rights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1841754" y="5840069"/>
            <a:ext cx="53860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User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rights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assignment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settings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 a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Group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Policy</a:t>
            </a:r>
            <a:r>
              <a:rPr sz="1600" spc="16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object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76400" y="1447800"/>
            <a:ext cx="5756148" cy="41330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58339" y="530351"/>
            <a:ext cx="5155692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92273" y="615772"/>
            <a:ext cx="46869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35" dirty="0"/>
              <a:t>Configuring </a:t>
            </a:r>
            <a:r>
              <a:rPr sz="2800" spc="95" dirty="0"/>
              <a:t>Security</a:t>
            </a:r>
            <a:r>
              <a:rPr sz="2800" spc="-140" dirty="0"/>
              <a:t> </a:t>
            </a:r>
            <a:r>
              <a:rPr sz="2800" spc="145" dirty="0"/>
              <a:t>Options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766822" y="5840069"/>
            <a:ext cx="3535679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Security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Options node in a</a:t>
            </a:r>
            <a:r>
              <a:rPr sz="1600" spc="5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GPO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658111" y="1447800"/>
            <a:ext cx="5657088" cy="40614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15</a:t>
            </a:fld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58339" y="530351"/>
            <a:ext cx="5155692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92273" y="615772"/>
            <a:ext cx="468693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35" dirty="0"/>
              <a:t>Configuring </a:t>
            </a:r>
            <a:r>
              <a:rPr sz="2800" spc="95" dirty="0"/>
              <a:t>Security</a:t>
            </a:r>
            <a:r>
              <a:rPr sz="2800" spc="-140" dirty="0"/>
              <a:t> </a:t>
            </a:r>
            <a:r>
              <a:rPr sz="2800" spc="145" dirty="0"/>
              <a:t>Options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172461" y="5794349"/>
            <a:ext cx="47256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5260" marR="5080" indent="-1433195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7E7E7E"/>
                </a:solidFill>
                <a:latin typeface="Gothic Uralic"/>
                <a:cs typeface="Gothic Uralic"/>
              </a:rPr>
              <a:t>The Network security: </a:t>
            </a:r>
            <a:r>
              <a:rPr sz="1500" dirty="0">
                <a:solidFill>
                  <a:srgbClr val="7E7E7E"/>
                </a:solidFill>
                <a:latin typeface="Gothic Uralic"/>
                <a:cs typeface="Gothic Uralic"/>
              </a:rPr>
              <a:t>LAN </a:t>
            </a:r>
            <a:r>
              <a:rPr sz="1500" spc="-5" dirty="0">
                <a:solidFill>
                  <a:srgbClr val="7E7E7E"/>
                </a:solidFill>
                <a:latin typeface="Gothic Uralic"/>
                <a:cs typeface="Gothic Uralic"/>
              </a:rPr>
              <a:t>Manager </a:t>
            </a:r>
            <a:r>
              <a:rPr sz="1500" dirty="0">
                <a:solidFill>
                  <a:srgbClr val="7E7E7E"/>
                </a:solidFill>
                <a:latin typeface="Gothic Uralic"/>
                <a:cs typeface="Gothic Uralic"/>
              </a:rPr>
              <a:t>authentication  </a:t>
            </a:r>
            <a:r>
              <a:rPr sz="1500" spc="5" dirty="0">
                <a:solidFill>
                  <a:srgbClr val="7E7E7E"/>
                </a:solidFill>
                <a:latin typeface="Gothic Uralic"/>
                <a:cs typeface="Gothic Uralic"/>
              </a:rPr>
              <a:t>level </a:t>
            </a:r>
            <a:r>
              <a:rPr sz="1500" dirty="0">
                <a:solidFill>
                  <a:srgbClr val="7E7E7E"/>
                </a:solidFill>
                <a:latin typeface="Gothic Uralic"/>
                <a:cs typeface="Gothic Uralic"/>
              </a:rPr>
              <a:t>security</a:t>
            </a:r>
            <a:r>
              <a:rPr sz="1500" spc="-7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500" dirty="0">
                <a:solidFill>
                  <a:srgbClr val="7E7E7E"/>
                </a:solidFill>
                <a:latin typeface="Gothic Uralic"/>
                <a:cs typeface="Gothic Uralic"/>
              </a:rPr>
              <a:t>option</a:t>
            </a:r>
            <a:endParaRPr sz="15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90800" y="1295400"/>
            <a:ext cx="3643884" cy="434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16</a:t>
            </a:fld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9176" y="530351"/>
            <a:ext cx="5490972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23110" y="615772"/>
            <a:ext cx="50247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50" dirty="0"/>
              <a:t>Customizing </a:t>
            </a:r>
            <a:r>
              <a:rPr sz="2800" spc="114" dirty="0"/>
              <a:t>Event </a:t>
            </a:r>
            <a:r>
              <a:rPr sz="2800" spc="90" dirty="0"/>
              <a:t>Log</a:t>
            </a:r>
            <a:r>
              <a:rPr sz="2800" spc="-320" dirty="0"/>
              <a:t> </a:t>
            </a:r>
            <a:r>
              <a:rPr sz="2800" spc="60" dirty="0"/>
              <a:t>Policies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276094" y="5794349"/>
            <a:ext cx="45154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51940" marR="5080" indent="-1539875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500" dirty="0">
                <a:solidFill>
                  <a:srgbClr val="7E7E7E"/>
                </a:solidFill>
                <a:latin typeface="Gothic Uralic"/>
                <a:cs typeface="Gothic Uralic"/>
              </a:rPr>
              <a:t>Properties </a:t>
            </a:r>
            <a:r>
              <a:rPr sz="1500" spc="-5" dirty="0">
                <a:solidFill>
                  <a:srgbClr val="7E7E7E"/>
                </a:solidFill>
                <a:latin typeface="Gothic Uralic"/>
                <a:cs typeface="Gothic Uralic"/>
              </a:rPr>
              <a:t>sheet for an </a:t>
            </a:r>
            <a:r>
              <a:rPr sz="1500" dirty="0">
                <a:solidFill>
                  <a:srgbClr val="7E7E7E"/>
                </a:solidFill>
                <a:latin typeface="Gothic Uralic"/>
                <a:cs typeface="Gothic Uralic"/>
              </a:rPr>
              <a:t>event log </a:t>
            </a:r>
            <a:r>
              <a:rPr sz="1500" spc="5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1500" dirty="0">
                <a:solidFill>
                  <a:srgbClr val="7E7E7E"/>
                </a:solidFill>
                <a:latin typeface="Gothic Uralic"/>
                <a:cs typeface="Gothic Uralic"/>
              </a:rPr>
              <a:t>the</a:t>
            </a:r>
            <a:r>
              <a:rPr sz="1500" spc="-9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500" dirty="0">
                <a:solidFill>
                  <a:srgbClr val="7E7E7E"/>
                </a:solidFill>
                <a:latin typeface="Gothic Uralic"/>
                <a:cs typeface="Gothic Uralic"/>
              </a:rPr>
              <a:t>Event  </a:t>
            </a:r>
            <a:r>
              <a:rPr sz="1500" spc="-5" dirty="0">
                <a:solidFill>
                  <a:srgbClr val="7E7E7E"/>
                </a:solidFill>
                <a:latin typeface="Gothic Uralic"/>
                <a:cs typeface="Gothic Uralic"/>
              </a:rPr>
              <a:t>Viewer </a:t>
            </a:r>
            <a:r>
              <a:rPr sz="1500" dirty="0">
                <a:solidFill>
                  <a:srgbClr val="7E7E7E"/>
                </a:solidFill>
                <a:latin typeface="Gothic Uralic"/>
                <a:cs typeface="Gothic Uralic"/>
              </a:rPr>
              <a:t>console</a:t>
            </a:r>
            <a:endParaRPr sz="15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09800" y="1325880"/>
            <a:ext cx="4776215" cy="42458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17</a:t>
            </a:fld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89176" y="530351"/>
            <a:ext cx="5490972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23110" y="615772"/>
            <a:ext cx="50247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50" dirty="0"/>
              <a:t>Customizing </a:t>
            </a:r>
            <a:r>
              <a:rPr sz="2800" spc="114" dirty="0"/>
              <a:t>Event </a:t>
            </a:r>
            <a:r>
              <a:rPr sz="2800" spc="90" dirty="0"/>
              <a:t>Log</a:t>
            </a:r>
            <a:r>
              <a:rPr sz="2800" spc="-320" dirty="0"/>
              <a:t> </a:t>
            </a:r>
            <a:r>
              <a:rPr sz="2800" spc="60" dirty="0"/>
              <a:t>Policies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571750" y="5840069"/>
            <a:ext cx="39249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Policies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Event Log node of a</a:t>
            </a:r>
            <a:r>
              <a:rPr sz="1600" spc="-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GPO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66800" y="1373124"/>
            <a:ext cx="7176516" cy="42184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18</a:t>
            </a:fld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54836" y="504444"/>
            <a:ext cx="6432804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06320" y="674065"/>
            <a:ext cx="553021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Restricted</a:t>
            </a:r>
            <a:r>
              <a:rPr spc="-55" dirty="0"/>
              <a:t> </a:t>
            </a:r>
            <a:r>
              <a:rPr spc="340" dirty="0"/>
              <a:t>Groups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7950834" cy="4036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Restricted Groups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policy setting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enables  an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administrator to specify group  membership</a:t>
            </a:r>
            <a:r>
              <a:rPr sz="2800" spc="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lists.</a:t>
            </a:r>
            <a:endParaRPr sz="2800">
              <a:latin typeface="Gothic Uralic"/>
              <a:cs typeface="Gothic Uralic"/>
            </a:endParaRPr>
          </a:p>
          <a:p>
            <a:pPr marL="355600" marR="14604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can control membership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important  groups, such as the local Administrators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Backup Operators</a:t>
            </a: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groups.</a:t>
            </a:r>
            <a:endParaRPr sz="2800">
              <a:latin typeface="Gothic Uralic"/>
              <a:cs typeface="Gothic Uralic"/>
            </a:endParaRPr>
          </a:p>
          <a:p>
            <a:pPr marL="355600" marR="167005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Only those users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who are part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of the  Restricted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Group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membership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list within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the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policy setting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will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be added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the</a:t>
            </a:r>
            <a:r>
              <a:rPr sz="2800" spc="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group.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63595" y="530351"/>
            <a:ext cx="3343655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097529" y="615772"/>
            <a:ext cx="28765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05" dirty="0"/>
              <a:t>Restricted</a:t>
            </a:r>
            <a:r>
              <a:rPr sz="2800" spc="-45" dirty="0"/>
              <a:t> </a:t>
            </a:r>
            <a:r>
              <a:rPr sz="2800" spc="170" dirty="0"/>
              <a:t>Groups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036826" y="5840069"/>
            <a:ext cx="49955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Group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membership in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Restricted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Groups</a:t>
            </a:r>
            <a:r>
              <a:rPr sz="1600" spc="114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policy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43200" y="1295400"/>
            <a:ext cx="3518916" cy="4346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20</a:t>
            </a:fld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6819" y="504444"/>
            <a:ext cx="6687311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78304" y="674065"/>
            <a:ext cx="578802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90" dirty="0"/>
              <a:t>Security</a:t>
            </a:r>
            <a:r>
              <a:rPr spc="-30" dirty="0"/>
              <a:t> </a:t>
            </a:r>
            <a:r>
              <a:rPr spc="215" dirty="0"/>
              <a:t>Templates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6235"/>
            <a:ext cx="7372984" cy="40366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security template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collection of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configuration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settings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stored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as a text file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with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.inf</a:t>
            </a:r>
            <a:r>
              <a:rPr sz="2800" spc="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extension.</a:t>
            </a:r>
            <a:endParaRPr sz="2800">
              <a:latin typeface="Gothic Uralic"/>
              <a:cs typeface="Gothic Uralic"/>
            </a:endParaRPr>
          </a:p>
          <a:p>
            <a:pPr marL="355600" marR="188595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Can contain many of the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same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security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parameters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as group policy</a:t>
            </a:r>
            <a:r>
              <a:rPr sz="2800" spc="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objects.</a:t>
            </a:r>
            <a:endParaRPr sz="2800">
              <a:latin typeface="Gothic Uralic"/>
              <a:cs typeface="Gothic Uralic"/>
            </a:endParaRPr>
          </a:p>
          <a:p>
            <a:pPr marL="355600" marR="511809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Parameters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are presented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unified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interface, enabling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save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your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configurations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as files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simplify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process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deploying</a:t>
            </a:r>
            <a:r>
              <a:rPr sz="2800" spc="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them.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804160" y="103631"/>
            <a:ext cx="3512820" cy="1240790"/>
            <a:chOff x="2804160" y="103631"/>
            <a:chExt cx="3512820" cy="1240790"/>
          </a:xfrm>
        </p:grpSpPr>
        <p:sp>
          <p:nvSpPr>
            <p:cNvPr id="3" name="object 3"/>
            <p:cNvSpPr/>
            <p:nvPr/>
          </p:nvSpPr>
          <p:spPr>
            <a:xfrm>
              <a:off x="2843784" y="103631"/>
              <a:ext cx="3473196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804160" y="530351"/>
              <a:ext cx="3462528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157605" marR="5080" indent="39370">
              <a:lnSpc>
                <a:spcPct val="100000"/>
              </a:lnSpc>
              <a:spcBef>
                <a:spcPts val="95"/>
              </a:spcBef>
            </a:pPr>
            <a:r>
              <a:rPr sz="2800" spc="130" dirty="0"/>
              <a:t>Using </a:t>
            </a:r>
            <a:r>
              <a:rPr sz="2800" spc="145" dirty="0"/>
              <a:t>the </a:t>
            </a:r>
            <a:r>
              <a:rPr sz="2800" spc="95" dirty="0"/>
              <a:t>Security  </a:t>
            </a:r>
            <a:r>
              <a:rPr sz="2800" spc="110" dirty="0"/>
              <a:t>Templates</a:t>
            </a:r>
            <a:r>
              <a:rPr sz="2800" spc="-75" dirty="0"/>
              <a:t> </a:t>
            </a:r>
            <a:r>
              <a:rPr sz="2800" spc="114" dirty="0"/>
              <a:t>Console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3024377" y="5592267"/>
            <a:ext cx="30245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Security Templates</a:t>
            </a:r>
            <a:r>
              <a:rPr sz="1600" spc="9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snap-in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5800" y="1834895"/>
            <a:ext cx="7772400" cy="31882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22</a:t>
            </a:fld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73124" y="0"/>
            <a:ext cx="6567170" cy="2048510"/>
            <a:chOff x="1373124" y="0"/>
            <a:chExt cx="6567170" cy="2048510"/>
          </a:xfrm>
        </p:grpSpPr>
        <p:sp>
          <p:nvSpPr>
            <p:cNvPr id="3" name="object 3"/>
            <p:cNvSpPr/>
            <p:nvPr/>
          </p:nvSpPr>
          <p:spPr>
            <a:xfrm>
              <a:off x="1373124" y="0"/>
              <a:ext cx="6566916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740152" y="504444"/>
              <a:ext cx="3662172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0"/>
            <a:ext cx="8050530" cy="342074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2668270" marR="1270000" indent="-1367790">
              <a:lnSpc>
                <a:spcPts val="5800"/>
              </a:lnSpc>
              <a:spcBef>
                <a:spcPts val="860"/>
              </a:spcBef>
            </a:pPr>
            <a:r>
              <a:rPr spc="190" dirty="0"/>
              <a:t>Security</a:t>
            </a:r>
            <a:r>
              <a:rPr spc="-45" dirty="0"/>
              <a:t> </a:t>
            </a:r>
            <a:r>
              <a:rPr spc="220" dirty="0"/>
              <a:t>Template  </a:t>
            </a:r>
            <a:r>
              <a:rPr spc="290" dirty="0"/>
              <a:t>Planning</a:t>
            </a:r>
          </a:p>
          <a:p>
            <a:pPr marL="12700" marR="5080">
              <a:lnSpc>
                <a:spcPct val="100000"/>
              </a:lnSpc>
              <a:spcBef>
                <a:spcPts val="935"/>
              </a:spcBef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By creating templates for specific roles,  administrators can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apply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them to multiple  computers,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using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combinations </a:t>
            </a:r>
            <a:r>
              <a:rPr sz="2800" spc="5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cases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where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computers perform multiple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roles.</a:t>
            </a:r>
            <a:endParaRPr sz="2800">
              <a:latin typeface="Gothic Uralic"/>
              <a:cs typeface="Gothic Ural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23</a:t>
            </a:fld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73608" y="0"/>
            <a:ext cx="7966075" cy="2048510"/>
            <a:chOff x="673608" y="0"/>
            <a:chExt cx="7966075" cy="2048510"/>
          </a:xfrm>
        </p:grpSpPr>
        <p:sp>
          <p:nvSpPr>
            <p:cNvPr id="3" name="object 3"/>
            <p:cNvSpPr/>
            <p:nvPr/>
          </p:nvSpPr>
          <p:spPr>
            <a:xfrm>
              <a:off x="673608" y="0"/>
              <a:ext cx="7965948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11224" y="504444"/>
              <a:ext cx="6320028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25118" y="0"/>
            <a:ext cx="6896734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749935" marR="5080" indent="-737870">
              <a:lnSpc>
                <a:spcPts val="5800"/>
              </a:lnSpc>
              <a:spcBef>
                <a:spcPts val="860"/>
              </a:spcBef>
              <a:tabLst>
                <a:tab pos="3733800" algn="l"/>
              </a:tabLst>
            </a:pPr>
            <a:r>
              <a:rPr spc="235" dirty="0"/>
              <a:t>Working </a:t>
            </a:r>
            <a:r>
              <a:rPr spc="345" dirty="0"/>
              <a:t>with</a:t>
            </a:r>
            <a:r>
              <a:rPr spc="-290" dirty="0"/>
              <a:t> </a:t>
            </a:r>
            <a:r>
              <a:rPr spc="190" dirty="0"/>
              <a:t>Security  </a:t>
            </a:r>
            <a:r>
              <a:rPr spc="215" dirty="0"/>
              <a:t>Template	</a:t>
            </a:r>
            <a:r>
              <a:rPr spc="190" dirty="0"/>
              <a:t>Settings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8048625" cy="35248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Security templates have more settings than  Local Computer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Policy,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because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template  includes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options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for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both standalone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computers and computers that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are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participating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</a:t>
            </a:r>
            <a:r>
              <a:rPr sz="2800" spc="-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domain.</a:t>
            </a:r>
            <a:endParaRPr sz="2800">
              <a:latin typeface="Gothic Uralic"/>
              <a:cs typeface="Gothic Uralic"/>
            </a:endParaRPr>
          </a:p>
          <a:p>
            <a:pPr marL="355600" marR="149225" indent="-343535" algn="just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6235" algn="l"/>
              </a:tabLst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Security templates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also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provide a means for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configuring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permissions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associated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with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files, folders, registry entries,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</a:t>
            </a:r>
            <a:r>
              <a:rPr sz="2800" spc="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services.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49195" y="103631"/>
            <a:ext cx="5259705" cy="1240790"/>
            <a:chOff x="1949195" y="103631"/>
            <a:chExt cx="5259705" cy="1240790"/>
          </a:xfrm>
        </p:grpSpPr>
        <p:sp>
          <p:nvSpPr>
            <p:cNvPr id="3" name="object 3"/>
            <p:cNvSpPr/>
            <p:nvPr/>
          </p:nvSpPr>
          <p:spPr>
            <a:xfrm>
              <a:off x="1949195" y="103631"/>
              <a:ext cx="5259324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476243" y="530351"/>
              <a:ext cx="2118360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1830070" marR="5080" indent="-1527810">
              <a:lnSpc>
                <a:spcPct val="100000"/>
              </a:lnSpc>
              <a:spcBef>
                <a:spcPts val="95"/>
              </a:spcBef>
            </a:pPr>
            <a:r>
              <a:rPr sz="2800" spc="155" dirty="0"/>
              <a:t>Importing </a:t>
            </a:r>
            <a:r>
              <a:rPr sz="2800" spc="95" dirty="0"/>
              <a:t>Security</a:t>
            </a:r>
            <a:r>
              <a:rPr sz="2800" spc="-200" dirty="0"/>
              <a:t> </a:t>
            </a:r>
            <a:r>
              <a:rPr sz="2800" spc="110" dirty="0"/>
              <a:t>Templates  </a:t>
            </a:r>
            <a:r>
              <a:rPr sz="2800" spc="125" dirty="0"/>
              <a:t>into</a:t>
            </a:r>
            <a:r>
              <a:rPr sz="2800" spc="-10" dirty="0"/>
              <a:t> </a:t>
            </a:r>
            <a:r>
              <a:rPr sz="2800" spc="125" dirty="0"/>
              <a:t>GPOs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862833" y="5668162"/>
            <a:ext cx="33432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Import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Policy From dialog</a:t>
            </a:r>
            <a:r>
              <a:rPr sz="1600" spc="-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box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81200" y="1371600"/>
            <a:ext cx="5244084" cy="37764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25</a:t>
            </a:fld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59079" y="0"/>
            <a:ext cx="8623300" cy="2048510"/>
            <a:chOff x="259079" y="0"/>
            <a:chExt cx="8623300" cy="2048510"/>
          </a:xfrm>
        </p:grpSpPr>
        <p:sp>
          <p:nvSpPr>
            <p:cNvPr id="3" name="object 3"/>
            <p:cNvSpPr/>
            <p:nvPr/>
          </p:nvSpPr>
          <p:spPr>
            <a:xfrm>
              <a:off x="1572768" y="0"/>
              <a:ext cx="6166104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9079" y="504444"/>
              <a:ext cx="8622792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10590" y="0"/>
            <a:ext cx="7717790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marR="5080" indent="1313180">
              <a:lnSpc>
                <a:spcPts val="5800"/>
              </a:lnSpc>
              <a:spcBef>
                <a:spcPts val="860"/>
              </a:spcBef>
            </a:pPr>
            <a:r>
              <a:rPr spc="275" dirty="0"/>
              <a:t>Maintaining </a:t>
            </a:r>
            <a:r>
              <a:rPr spc="445" dirty="0"/>
              <a:t>and  </a:t>
            </a:r>
            <a:r>
              <a:rPr spc="290" dirty="0"/>
              <a:t>Optimizing </a:t>
            </a:r>
            <a:r>
              <a:rPr spc="375" dirty="0"/>
              <a:t>Group</a:t>
            </a:r>
            <a:r>
              <a:rPr spc="-330" dirty="0"/>
              <a:t> </a:t>
            </a:r>
            <a:r>
              <a:rPr spc="130" dirty="0"/>
              <a:t>Policy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7936865" cy="32689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43230" indent="-343535">
              <a:lnSpc>
                <a:spcPct val="100000"/>
              </a:lnSpc>
              <a:spcBef>
                <a:spcPts val="95"/>
              </a:spcBef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These are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default refresh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periods for the  various types of Group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Policy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 settings:</a:t>
            </a:r>
            <a:endParaRPr sz="2800">
              <a:latin typeface="Gothic Uralic"/>
              <a:cs typeface="Gothic Uralic"/>
            </a:endParaRPr>
          </a:p>
          <a:p>
            <a:pPr marL="355600" marR="1464310" indent="-343535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Set Group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Policy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Refresh Interval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for  Computers</a:t>
            </a:r>
            <a:endParaRPr sz="28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Set Group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Policy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Refresh Interval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for Domain  Controllers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Set Group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Policy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Refresh Interval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for</a:t>
            </a:r>
            <a:r>
              <a:rPr sz="2800" spc="9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Users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" y="0"/>
            <a:ext cx="7482840" cy="2048510"/>
            <a:chOff x="914400" y="0"/>
            <a:chExt cx="7482840" cy="2048510"/>
          </a:xfrm>
        </p:grpSpPr>
        <p:sp>
          <p:nvSpPr>
            <p:cNvPr id="3" name="object 3"/>
            <p:cNvSpPr/>
            <p:nvPr/>
          </p:nvSpPr>
          <p:spPr>
            <a:xfrm>
              <a:off x="914400" y="0"/>
              <a:ext cx="7482840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097024" y="504444"/>
              <a:ext cx="4948428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65885" y="0"/>
            <a:ext cx="6414770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195070" marR="5080" indent="-1183005">
              <a:lnSpc>
                <a:spcPts val="5800"/>
              </a:lnSpc>
              <a:spcBef>
                <a:spcPts val="860"/>
              </a:spcBef>
            </a:pPr>
            <a:r>
              <a:rPr spc="295" dirty="0"/>
              <a:t>Manually</a:t>
            </a:r>
            <a:r>
              <a:rPr spc="-65" dirty="0"/>
              <a:t> </a:t>
            </a:r>
            <a:r>
              <a:rPr spc="215" dirty="0"/>
              <a:t>Refreshing  </a:t>
            </a:r>
            <a:r>
              <a:rPr spc="375" dirty="0"/>
              <a:t>Group</a:t>
            </a:r>
            <a:r>
              <a:rPr spc="20" dirty="0"/>
              <a:t> </a:t>
            </a:r>
            <a:r>
              <a:rPr spc="130" dirty="0"/>
              <a:t>Policy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27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626235"/>
            <a:ext cx="7592695" cy="37166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15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modify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Group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Policy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settings that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wish to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immediately invoked without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requiring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restart,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new logon session, or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waiting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for the next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refresh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period, you can  force a manual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refresh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by using the 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Gpupdate.exe</a:t>
            </a: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tool:</a:t>
            </a:r>
            <a:endParaRPr sz="2800">
              <a:latin typeface="Gothic Uralic"/>
              <a:cs typeface="Gothic Uralic"/>
            </a:endParaRPr>
          </a:p>
          <a:p>
            <a:pPr marL="469900">
              <a:lnSpc>
                <a:spcPct val="100000"/>
              </a:lnSpc>
              <a:spcBef>
                <a:spcPts val="455"/>
              </a:spcBef>
            </a:pPr>
            <a:r>
              <a:rPr sz="3200" b="1" spc="-5" dirty="0">
                <a:solidFill>
                  <a:srgbClr val="7E7E7E"/>
                </a:solidFill>
                <a:latin typeface="Courier New"/>
                <a:cs typeface="Courier New"/>
              </a:rPr>
              <a:t>Gpupdate/target:user</a:t>
            </a:r>
            <a:endParaRPr sz="32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770"/>
              </a:spcBef>
            </a:pPr>
            <a:r>
              <a:rPr sz="3200" b="1" spc="-5" dirty="0">
                <a:solidFill>
                  <a:srgbClr val="7E7E7E"/>
                </a:solidFill>
                <a:latin typeface="Courier New"/>
                <a:cs typeface="Courier New"/>
              </a:rPr>
              <a:t>Gpupdate/target:computer</a:t>
            </a:r>
            <a:endParaRPr sz="3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4063" y="0"/>
            <a:ext cx="6769734" cy="2048510"/>
            <a:chOff x="1274063" y="0"/>
            <a:chExt cx="6769734" cy="2048510"/>
          </a:xfrm>
        </p:grpSpPr>
        <p:sp>
          <p:nvSpPr>
            <p:cNvPr id="3" name="object 3"/>
            <p:cNvSpPr/>
            <p:nvPr/>
          </p:nvSpPr>
          <p:spPr>
            <a:xfrm>
              <a:off x="1274063" y="0"/>
              <a:ext cx="6769608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67611" y="504444"/>
              <a:ext cx="6207251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5940" y="0"/>
            <a:ext cx="7536815" cy="342074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395730" marR="657860" indent="-193675">
              <a:lnSpc>
                <a:spcPts val="5800"/>
              </a:lnSpc>
              <a:spcBef>
                <a:spcPts val="860"/>
              </a:spcBef>
            </a:pPr>
            <a:r>
              <a:rPr spc="290" dirty="0"/>
              <a:t>Optimizing</a:t>
            </a:r>
            <a:r>
              <a:rPr spc="-45" dirty="0"/>
              <a:t> </a:t>
            </a:r>
            <a:r>
              <a:rPr spc="375" dirty="0"/>
              <a:t>Group  </a:t>
            </a:r>
            <a:r>
              <a:rPr spc="130" dirty="0"/>
              <a:t>Policy</a:t>
            </a:r>
            <a:r>
              <a:rPr spc="-35" dirty="0"/>
              <a:t> </a:t>
            </a:r>
            <a:r>
              <a:rPr spc="220" dirty="0"/>
              <a:t>Processing</a:t>
            </a:r>
          </a:p>
          <a:p>
            <a:pPr marL="12700" marR="5080">
              <a:lnSpc>
                <a:spcPct val="100000"/>
              </a:lnSpc>
              <a:spcBef>
                <a:spcPts val="935"/>
              </a:spcBef>
            </a:pPr>
            <a:r>
              <a:rPr sz="2800" spc="-15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 create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GPO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that contains  computer or user settings,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but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not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both,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you  can disable the setting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area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that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not 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configured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for faster</a:t>
            </a:r>
            <a:r>
              <a:rPr sz="2800" spc="-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processing.</a:t>
            </a:r>
            <a:endParaRPr sz="2800">
              <a:latin typeface="Gothic Uralic"/>
              <a:cs typeface="Gothic Ural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28</a:t>
            </a:fld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6967" y="2167127"/>
            <a:ext cx="7592695" cy="2106295"/>
            <a:chOff x="886967" y="2167127"/>
            <a:chExt cx="7592695" cy="2106295"/>
          </a:xfrm>
        </p:grpSpPr>
        <p:sp>
          <p:nvSpPr>
            <p:cNvPr id="3" name="object 3"/>
            <p:cNvSpPr/>
            <p:nvPr/>
          </p:nvSpPr>
          <p:spPr>
            <a:xfrm>
              <a:off x="886967" y="2167127"/>
              <a:ext cx="7592568" cy="137464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86227" y="2898647"/>
              <a:ext cx="4041648" cy="137464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2820" marR="5080" indent="-1699260">
              <a:lnSpc>
                <a:spcPct val="100000"/>
              </a:lnSpc>
              <a:spcBef>
                <a:spcPts val="100"/>
              </a:spcBef>
            </a:pPr>
            <a:r>
              <a:rPr spc="240" dirty="0"/>
              <a:t>Configuring </a:t>
            </a:r>
            <a:r>
              <a:rPr spc="110" dirty="0"/>
              <a:t>Local</a:t>
            </a:r>
            <a:r>
              <a:rPr spc="-280" dirty="0"/>
              <a:t> </a:t>
            </a:r>
            <a:r>
              <a:rPr spc="215" dirty="0"/>
              <a:t>Users  </a:t>
            </a:r>
            <a:r>
              <a:rPr spc="395" dirty="0"/>
              <a:t>and</a:t>
            </a:r>
            <a:r>
              <a:rPr dirty="0"/>
              <a:t> </a:t>
            </a:r>
            <a:r>
              <a:rPr spc="305" dirty="0"/>
              <a:t>Groups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757552" y="4096334"/>
            <a:ext cx="5700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888888"/>
                </a:solidFill>
                <a:latin typeface="Gothic Uralic"/>
                <a:cs typeface="Gothic Uralic"/>
              </a:rPr>
              <a:t>Lesson 17: </a:t>
            </a: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Configuring </a:t>
            </a:r>
            <a:r>
              <a:rPr sz="2400" spc="-5" dirty="0">
                <a:solidFill>
                  <a:srgbClr val="888888"/>
                </a:solidFill>
                <a:latin typeface="Gothic Uralic"/>
                <a:cs typeface="Gothic Uralic"/>
              </a:rPr>
              <a:t>Security</a:t>
            </a:r>
            <a:r>
              <a:rPr sz="2400" spc="-75" dirty="0">
                <a:solidFill>
                  <a:srgbClr val="888888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Policies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0143" y="0"/>
            <a:ext cx="8531860" cy="2048510"/>
            <a:chOff x="390143" y="0"/>
            <a:chExt cx="8531860" cy="2048510"/>
          </a:xfrm>
        </p:grpSpPr>
        <p:sp>
          <p:nvSpPr>
            <p:cNvPr id="3" name="object 3"/>
            <p:cNvSpPr/>
            <p:nvPr/>
          </p:nvSpPr>
          <p:spPr>
            <a:xfrm>
              <a:off x="390143" y="0"/>
              <a:ext cx="8531352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299715" y="504444"/>
              <a:ext cx="4543044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1654" y="0"/>
            <a:ext cx="7462520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922145" marR="5080" indent="-1910080">
              <a:lnSpc>
                <a:spcPts val="5800"/>
              </a:lnSpc>
              <a:spcBef>
                <a:spcPts val="860"/>
              </a:spcBef>
              <a:tabLst>
                <a:tab pos="3254375" algn="l"/>
              </a:tabLst>
            </a:pPr>
            <a:r>
              <a:rPr spc="270" dirty="0"/>
              <a:t>Configuring </a:t>
            </a:r>
            <a:r>
              <a:rPr spc="125" dirty="0"/>
              <a:t>Local</a:t>
            </a:r>
            <a:r>
              <a:rPr spc="-320" dirty="0"/>
              <a:t> </a:t>
            </a:r>
            <a:r>
              <a:rPr spc="240" dirty="0"/>
              <a:t>Users  </a:t>
            </a:r>
            <a:r>
              <a:rPr spc="445" dirty="0"/>
              <a:t>and	</a:t>
            </a:r>
            <a:r>
              <a:rPr spc="340" dirty="0"/>
              <a:t>Groups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582877"/>
            <a:ext cx="8007350" cy="416560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55600" marR="184150" indent="-343535">
              <a:lnSpc>
                <a:spcPct val="90000"/>
              </a:lnSpc>
              <a:spcBef>
                <a:spcPts val="434"/>
              </a:spcBef>
            </a:pP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Server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2012 provides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two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separate  interfaces for creating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managing local  user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accounts:</a:t>
            </a:r>
            <a:endParaRPr sz="2800">
              <a:latin typeface="Gothic Uralic"/>
              <a:cs typeface="Gothic Uralic"/>
            </a:endParaRPr>
          </a:p>
          <a:p>
            <a:pPr marL="355600" indent="-343535">
              <a:lnSpc>
                <a:spcPct val="100000"/>
              </a:lnSpc>
              <a:spcBef>
                <a:spcPts val="33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User </a:t>
            </a: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Accounts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control</a:t>
            </a:r>
            <a:r>
              <a:rPr sz="2800" spc="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panel</a:t>
            </a:r>
            <a:endParaRPr sz="2800">
              <a:latin typeface="Gothic Uralic"/>
              <a:cs typeface="Gothic Uralic"/>
            </a:endParaRPr>
          </a:p>
          <a:p>
            <a:pPr marL="12700" marR="517525">
              <a:lnSpc>
                <a:spcPct val="110000"/>
              </a:lnSpc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Local </a:t>
            </a:r>
            <a:r>
              <a:rPr sz="2800" b="1" spc="-10" dirty="0">
                <a:solidFill>
                  <a:srgbClr val="7E7E7E"/>
                </a:solidFill>
                <a:latin typeface="Gothic Uralic"/>
                <a:cs typeface="Gothic Uralic"/>
              </a:rPr>
              <a:t>Users and </a:t>
            </a:r>
            <a:r>
              <a:rPr sz="2800" b="1" spc="-5" dirty="0">
                <a:solidFill>
                  <a:srgbClr val="7E7E7E"/>
                </a:solidFill>
                <a:latin typeface="Gothic Uralic"/>
                <a:cs typeface="Gothic Uralic"/>
              </a:rPr>
              <a:t>Groups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snap-in for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MMC  Both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interfaces provide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access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to the</a:t>
            </a:r>
            <a:r>
              <a:rPr sz="2800" spc="1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same</a:t>
            </a:r>
            <a:endParaRPr sz="2800">
              <a:latin typeface="Gothic Uralic"/>
              <a:cs typeface="Gothic Uralic"/>
            </a:endParaRPr>
          </a:p>
          <a:p>
            <a:pPr marL="355600" marR="5080">
              <a:lnSpc>
                <a:spcPct val="90000"/>
              </a:lnSpc>
            </a:pP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Security Account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Manager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(SAM)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where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the  user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group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information is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stored,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so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any 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changes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you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make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using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one interface will 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appear </a:t>
            </a:r>
            <a:r>
              <a:rPr sz="2800" dirty="0">
                <a:solidFill>
                  <a:srgbClr val="7E7E7E"/>
                </a:solidFill>
                <a:latin typeface="Gothic Uralic"/>
                <a:cs typeface="Gothic Uralic"/>
              </a:rPr>
              <a:t>in </a:t>
            </a:r>
            <a:r>
              <a:rPr sz="2800" spc="-10" dirty="0">
                <a:solidFill>
                  <a:srgbClr val="7E7E7E"/>
                </a:solidFill>
                <a:latin typeface="Gothic Uralic"/>
                <a:cs typeface="Gothic Uralic"/>
              </a:rPr>
              <a:t>the</a:t>
            </a:r>
            <a:r>
              <a:rPr sz="2800" spc="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800" spc="-5" dirty="0">
                <a:solidFill>
                  <a:srgbClr val="7E7E7E"/>
                </a:solidFill>
                <a:latin typeface="Gothic Uralic"/>
                <a:cs typeface="Gothic Uralic"/>
              </a:rPr>
              <a:t>other.</a:t>
            </a:r>
            <a:endParaRPr sz="28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6776" y="103631"/>
            <a:ext cx="5885815" cy="1240790"/>
            <a:chOff x="1636776" y="103631"/>
            <a:chExt cx="5885815" cy="1240790"/>
          </a:xfrm>
        </p:grpSpPr>
        <p:sp>
          <p:nvSpPr>
            <p:cNvPr id="3" name="object 3"/>
            <p:cNvSpPr/>
            <p:nvPr/>
          </p:nvSpPr>
          <p:spPr>
            <a:xfrm>
              <a:off x="1636776" y="103631"/>
              <a:ext cx="5885687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13076" y="530351"/>
              <a:ext cx="4044696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866775" marR="5080" indent="-876300">
              <a:lnSpc>
                <a:spcPct val="100000"/>
              </a:lnSpc>
              <a:spcBef>
                <a:spcPts val="95"/>
              </a:spcBef>
            </a:pPr>
            <a:r>
              <a:rPr sz="2800" spc="125" dirty="0"/>
              <a:t>Create</a:t>
            </a:r>
            <a:r>
              <a:rPr sz="2800" spc="-25" dirty="0"/>
              <a:t> </a:t>
            </a:r>
            <a:r>
              <a:rPr sz="2800" spc="155" dirty="0"/>
              <a:t>a</a:t>
            </a:r>
            <a:r>
              <a:rPr sz="2800" spc="-15" dirty="0"/>
              <a:t> </a:t>
            </a:r>
            <a:r>
              <a:rPr sz="2800" spc="235" dirty="0"/>
              <a:t>New</a:t>
            </a:r>
            <a:r>
              <a:rPr sz="2800" spc="-10" dirty="0"/>
              <a:t> </a:t>
            </a:r>
            <a:r>
              <a:rPr sz="2800" spc="60" dirty="0"/>
              <a:t>Local</a:t>
            </a:r>
            <a:r>
              <a:rPr sz="2800" spc="-15" dirty="0"/>
              <a:t> </a:t>
            </a:r>
            <a:r>
              <a:rPr sz="2800" spc="125" dirty="0"/>
              <a:t>User</a:t>
            </a:r>
            <a:r>
              <a:rPr sz="2800" spc="-114" dirty="0"/>
              <a:t> </a:t>
            </a:r>
            <a:r>
              <a:rPr sz="2800" spc="130" dirty="0"/>
              <a:t>Account  </a:t>
            </a:r>
            <a:r>
              <a:rPr sz="2800" spc="175" dirty="0"/>
              <a:t>with </a:t>
            </a:r>
            <a:r>
              <a:rPr sz="2800" spc="150" dirty="0"/>
              <a:t>the </a:t>
            </a:r>
            <a:r>
              <a:rPr sz="2800" spc="130" dirty="0"/>
              <a:t>Control</a:t>
            </a:r>
            <a:r>
              <a:rPr sz="2800" spc="-355" dirty="0"/>
              <a:t> </a:t>
            </a:r>
            <a:r>
              <a:rPr sz="2800" spc="110" dirty="0"/>
              <a:t>Panel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122170" y="5668162"/>
            <a:ext cx="48291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Make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changes to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your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user account</a:t>
            </a:r>
            <a:r>
              <a:rPr sz="1600" spc="3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window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85800" y="1679448"/>
            <a:ext cx="7772400" cy="34975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31</a:t>
            </a:fld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6776" y="103631"/>
            <a:ext cx="5885815" cy="1240790"/>
            <a:chOff x="1636776" y="103631"/>
            <a:chExt cx="5885815" cy="1240790"/>
          </a:xfrm>
        </p:grpSpPr>
        <p:sp>
          <p:nvSpPr>
            <p:cNvPr id="3" name="object 3"/>
            <p:cNvSpPr/>
            <p:nvPr/>
          </p:nvSpPr>
          <p:spPr>
            <a:xfrm>
              <a:off x="1636776" y="103631"/>
              <a:ext cx="5885687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13076" y="530351"/>
              <a:ext cx="4044696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866775" marR="5080" indent="-876300">
              <a:lnSpc>
                <a:spcPct val="100000"/>
              </a:lnSpc>
              <a:spcBef>
                <a:spcPts val="95"/>
              </a:spcBef>
            </a:pPr>
            <a:r>
              <a:rPr sz="2800" spc="125" dirty="0"/>
              <a:t>Create</a:t>
            </a:r>
            <a:r>
              <a:rPr sz="2800" spc="-25" dirty="0"/>
              <a:t> </a:t>
            </a:r>
            <a:r>
              <a:rPr sz="2800" spc="155" dirty="0"/>
              <a:t>a</a:t>
            </a:r>
            <a:r>
              <a:rPr sz="2800" spc="-15" dirty="0"/>
              <a:t> </a:t>
            </a:r>
            <a:r>
              <a:rPr sz="2800" spc="235" dirty="0"/>
              <a:t>New</a:t>
            </a:r>
            <a:r>
              <a:rPr sz="2800" spc="-10" dirty="0"/>
              <a:t> </a:t>
            </a:r>
            <a:r>
              <a:rPr sz="2800" spc="60" dirty="0"/>
              <a:t>Local</a:t>
            </a:r>
            <a:r>
              <a:rPr sz="2800" spc="-15" dirty="0"/>
              <a:t> </a:t>
            </a:r>
            <a:r>
              <a:rPr sz="2800" spc="125" dirty="0"/>
              <a:t>User</a:t>
            </a:r>
            <a:r>
              <a:rPr sz="2800" spc="-114" dirty="0"/>
              <a:t> </a:t>
            </a:r>
            <a:r>
              <a:rPr sz="2800" spc="130" dirty="0"/>
              <a:t>Account  </a:t>
            </a:r>
            <a:r>
              <a:rPr sz="2800" spc="175" dirty="0"/>
              <a:t>with </a:t>
            </a:r>
            <a:r>
              <a:rPr sz="2800" spc="150" dirty="0"/>
              <a:t>the </a:t>
            </a:r>
            <a:r>
              <a:rPr sz="2800" spc="130" dirty="0"/>
              <a:t>Control</a:t>
            </a:r>
            <a:r>
              <a:rPr sz="2800" spc="-355" dirty="0"/>
              <a:t> </a:t>
            </a:r>
            <a:r>
              <a:rPr sz="2800" spc="110" dirty="0"/>
              <a:t>Panel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3486150" y="5840069"/>
            <a:ext cx="21037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Add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 user</a:t>
            </a:r>
            <a:r>
              <a:rPr sz="1600" spc="-2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page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447800" y="1700783"/>
            <a:ext cx="6399276" cy="34716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32</a:t>
            </a:fld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6776" y="103631"/>
            <a:ext cx="5885815" cy="1240790"/>
            <a:chOff x="1636776" y="103631"/>
            <a:chExt cx="5885815" cy="1240790"/>
          </a:xfrm>
        </p:grpSpPr>
        <p:sp>
          <p:nvSpPr>
            <p:cNvPr id="3" name="object 3"/>
            <p:cNvSpPr/>
            <p:nvPr/>
          </p:nvSpPr>
          <p:spPr>
            <a:xfrm>
              <a:off x="1636776" y="103631"/>
              <a:ext cx="5885687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13076" y="530351"/>
              <a:ext cx="4044696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866775" marR="5080" indent="-876300">
              <a:lnSpc>
                <a:spcPct val="100000"/>
              </a:lnSpc>
              <a:spcBef>
                <a:spcPts val="95"/>
              </a:spcBef>
            </a:pPr>
            <a:r>
              <a:rPr sz="2800" spc="125" dirty="0"/>
              <a:t>Create</a:t>
            </a:r>
            <a:r>
              <a:rPr sz="2800" spc="-25" dirty="0"/>
              <a:t> </a:t>
            </a:r>
            <a:r>
              <a:rPr sz="2800" spc="155" dirty="0"/>
              <a:t>a</a:t>
            </a:r>
            <a:r>
              <a:rPr sz="2800" spc="-15" dirty="0"/>
              <a:t> </a:t>
            </a:r>
            <a:r>
              <a:rPr sz="2800" spc="235" dirty="0"/>
              <a:t>New</a:t>
            </a:r>
            <a:r>
              <a:rPr sz="2800" spc="-10" dirty="0"/>
              <a:t> </a:t>
            </a:r>
            <a:r>
              <a:rPr sz="2800" spc="60" dirty="0"/>
              <a:t>Local</a:t>
            </a:r>
            <a:r>
              <a:rPr sz="2800" spc="-15" dirty="0"/>
              <a:t> </a:t>
            </a:r>
            <a:r>
              <a:rPr sz="2800" spc="125" dirty="0"/>
              <a:t>User</a:t>
            </a:r>
            <a:r>
              <a:rPr sz="2800" spc="-114" dirty="0"/>
              <a:t> </a:t>
            </a:r>
            <a:r>
              <a:rPr sz="2800" spc="130" dirty="0"/>
              <a:t>Account  </a:t>
            </a:r>
            <a:r>
              <a:rPr sz="2800" spc="175" dirty="0"/>
              <a:t>with </a:t>
            </a:r>
            <a:r>
              <a:rPr sz="2800" spc="150" dirty="0"/>
              <a:t>the </a:t>
            </a:r>
            <a:r>
              <a:rPr sz="2800" spc="130" dirty="0"/>
              <a:t>Control</a:t>
            </a:r>
            <a:r>
              <a:rPr sz="2800" spc="-355" dirty="0"/>
              <a:t> </a:t>
            </a:r>
            <a:r>
              <a:rPr sz="2800" spc="110" dirty="0"/>
              <a:t>Panel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984754" y="5840069"/>
            <a:ext cx="31038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Manage Accounts</a:t>
            </a:r>
            <a:r>
              <a:rPr sz="160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window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19200" y="1409700"/>
            <a:ext cx="6574535" cy="40599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33</a:t>
            </a:fld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6776" y="103631"/>
            <a:ext cx="5885815" cy="1240790"/>
            <a:chOff x="1636776" y="103631"/>
            <a:chExt cx="5885815" cy="1240790"/>
          </a:xfrm>
        </p:grpSpPr>
        <p:sp>
          <p:nvSpPr>
            <p:cNvPr id="3" name="object 3"/>
            <p:cNvSpPr/>
            <p:nvPr/>
          </p:nvSpPr>
          <p:spPr>
            <a:xfrm>
              <a:off x="1636776" y="103631"/>
              <a:ext cx="5885687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513076" y="530351"/>
              <a:ext cx="4044696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866775" marR="5080" indent="-876300">
              <a:lnSpc>
                <a:spcPct val="100000"/>
              </a:lnSpc>
              <a:spcBef>
                <a:spcPts val="95"/>
              </a:spcBef>
            </a:pPr>
            <a:r>
              <a:rPr sz="2800" spc="125" dirty="0"/>
              <a:t>Create</a:t>
            </a:r>
            <a:r>
              <a:rPr sz="2800" spc="-25" dirty="0"/>
              <a:t> </a:t>
            </a:r>
            <a:r>
              <a:rPr sz="2800" spc="155" dirty="0"/>
              <a:t>a</a:t>
            </a:r>
            <a:r>
              <a:rPr sz="2800" spc="-15" dirty="0"/>
              <a:t> </a:t>
            </a:r>
            <a:r>
              <a:rPr sz="2800" spc="235" dirty="0"/>
              <a:t>New</a:t>
            </a:r>
            <a:r>
              <a:rPr sz="2800" spc="-10" dirty="0"/>
              <a:t> </a:t>
            </a:r>
            <a:r>
              <a:rPr sz="2800" spc="60" dirty="0"/>
              <a:t>Local</a:t>
            </a:r>
            <a:r>
              <a:rPr sz="2800" spc="-15" dirty="0"/>
              <a:t> </a:t>
            </a:r>
            <a:r>
              <a:rPr sz="2800" spc="125" dirty="0"/>
              <a:t>User</a:t>
            </a:r>
            <a:r>
              <a:rPr sz="2800" spc="-114" dirty="0"/>
              <a:t> </a:t>
            </a:r>
            <a:r>
              <a:rPr sz="2800" spc="130" dirty="0"/>
              <a:t>Account  </a:t>
            </a:r>
            <a:r>
              <a:rPr sz="2800" spc="175" dirty="0"/>
              <a:t>with </a:t>
            </a:r>
            <a:r>
              <a:rPr sz="2800" spc="150" dirty="0"/>
              <a:t>the </a:t>
            </a:r>
            <a:r>
              <a:rPr sz="2800" spc="130" dirty="0"/>
              <a:t>Control</a:t>
            </a:r>
            <a:r>
              <a:rPr sz="2800" spc="-355" dirty="0"/>
              <a:t> </a:t>
            </a:r>
            <a:r>
              <a:rPr sz="2800" spc="110" dirty="0"/>
              <a:t>Panel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2782061" y="5840069"/>
            <a:ext cx="35090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Change Account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Type</a:t>
            </a:r>
            <a:r>
              <a:rPr sz="1600" spc="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window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371600" y="1409700"/>
            <a:ext cx="6460236" cy="39883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34</a:t>
            </a:fld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6776" y="103631"/>
            <a:ext cx="5885815" cy="1240790"/>
            <a:chOff x="1636776" y="103631"/>
            <a:chExt cx="5885815" cy="1240790"/>
          </a:xfrm>
        </p:grpSpPr>
        <p:sp>
          <p:nvSpPr>
            <p:cNvPr id="3" name="object 3"/>
            <p:cNvSpPr/>
            <p:nvPr/>
          </p:nvSpPr>
          <p:spPr>
            <a:xfrm>
              <a:off x="1636776" y="103631"/>
              <a:ext cx="5885687" cy="81381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88820" y="530351"/>
              <a:ext cx="5094732" cy="81381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083" rIns="0" bIns="0" rtlCol="0">
            <a:spAutoFit/>
          </a:bodyPr>
          <a:lstStyle/>
          <a:p>
            <a:pPr marL="342265" marR="5080" indent="-352425">
              <a:lnSpc>
                <a:spcPct val="100000"/>
              </a:lnSpc>
              <a:spcBef>
                <a:spcPts val="95"/>
              </a:spcBef>
            </a:pPr>
            <a:r>
              <a:rPr sz="2800" spc="125" dirty="0"/>
              <a:t>Create</a:t>
            </a:r>
            <a:r>
              <a:rPr sz="2800" spc="-25" dirty="0"/>
              <a:t> </a:t>
            </a:r>
            <a:r>
              <a:rPr sz="2800" spc="155" dirty="0"/>
              <a:t>a</a:t>
            </a:r>
            <a:r>
              <a:rPr sz="2800" spc="-15" dirty="0"/>
              <a:t> </a:t>
            </a:r>
            <a:r>
              <a:rPr sz="2800" spc="235" dirty="0"/>
              <a:t>New</a:t>
            </a:r>
            <a:r>
              <a:rPr sz="2800" spc="-10" dirty="0"/>
              <a:t> </a:t>
            </a:r>
            <a:r>
              <a:rPr sz="2800" spc="60" dirty="0"/>
              <a:t>Local</a:t>
            </a:r>
            <a:r>
              <a:rPr sz="2800" spc="-15" dirty="0"/>
              <a:t> </a:t>
            </a:r>
            <a:r>
              <a:rPr sz="2800" spc="125" dirty="0"/>
              <a:t>User</a:t>
            </a:r>
            <a:r>
              <a:rPr sz="2800" spc="-114" dirty="0"/>
              <a:t> </a:t>
            </a:r>
            <a:r>
              <a:rPr sz="2800" spc="130" dirty="0"/>
              <a:t>Account  </a:t>
            </a:r>
            <a:r>
              <a:rPr sz="2800" spc="175" dirty="0"/>
              <a:t>with </a:t>
            </a:r>
            <a:r>
              <a:rPr sz="2800" spc="55" dirty="0"/>
              <a:t>Local </a:t>
            </a:r>
            <a:r>
              <a:rPr sz="2800" spc="120" dirty="0"/>
              <a:t>Users </a:t>
            </a:r>
            <a:r>
              <a:rPr sz="2800" spc="229" dirty="0"/>
              <a:t>and</a:t>
            </a:r>
            <a:r>
              <a:rPr sz="2800" spc="-365" dirty="0"/>
              <a:t> </a:t>
            </a:r>
            <a:r>
              <a:rPr sz="2800" spc="170" dirty="0"/>
              <a:t>Groups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3312414" y="5840069"/>
            <a:ext cx="24460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New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User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dialog</a:t>
            </a:r>
            <a:r>
              <a:rPr sz="1600" spc="4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box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62200" y="1371600"/>
            <a:ext cx="4215384" cy="42031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35</a:t>
            </a:fld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2704" y="2167127"/>
            <a:ext cx="5722620" cy="2106295"/>
            <a:chOff x="1822704" y="2167127"/>
            <a:chExt cx="5722620" cy="2106295"/>
          </a:xfrm>
        </p:grpSpPr>
        <p:sp>
          <p:nvSpPr>
            <p:cNvPr id="3" name="object 3"/>
            <p:cNvSpPr/>
            <p:nvPr/>
          </p:nvSpPr>
          <p:spPr>
            <a:xfrm>
              <a:off x="1822704" y="2167127"/>
              <a:ext cx="5722620" cy="137464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49196" y="2898647"/>
              <a:ext cx="5317235" cy="137464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06550" marR="5080" indent="-127000">
              <a:lnSpc>
                <a:spcPct val="100000"/>
              </a:lnSpc>
              <a:spcBef>
                <a:spcPts val="100"/>
              </a:spcBef>
            </a:pPr>
            <a:r>
              <a:rPr spc="240" dirty="0"/>
              <a:t>Configuring</a:t>
            </a:r>
            <a:r>
              <a:rPr spc="-45" dirty="0"/>
              <a:t> </a:t>
            </a:r>
            <a:r>
              <a:rPr spc="225" dirty="0"/>
              <a:t>User  Account</a:t>
            </a:r>
            <a:r>
              <a:rPr spc="-25" dirty="0"/>
              <a:t> </a:t>
            </a:r>
            <a:r>
              <a:rPr spc="229" dirty="0"/>
              <a:t>Control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36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757552" y="4096334"/>
            <a:ext cx="5700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888888"/>
                </a:solidFill>
                <a:latin typeface="Gothic Uralic"/>
                <a:cs typeface="Gothic Uralic"/>
              </a:rPr>
              <a:t>Lesson 17: </a:t>
            </a: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Configuring </a:t>
            </a:r>
            <a:r>
              <a:rPr sz="2400" spc="-5" dirty="0">
                <a:solidFill>
                  <a:srgbClr val="888888"/>
                </a:solidFill>
                <a:latin typeface="Gothic Uralic"/>
                <a:cs typeface="Gothic Uralic"/>
              </a:rPr>
              <a:t>Security</a:t>
            </a:r>
            <a:r>
              <a:rPr sz="2400" spc="-75" dirty="0">
                <a:solidFill>
                  <a:srgbClr val="888888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888888"/>
                </a:solidFill>
                <a:latin typeface="Gothic Uralic"/>
                <a:cs typeface="Gothic Uralic"/>
              </a:rPr>
              <a:t>Policies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41703" y="0"/>
            <a:ext cx="6426835" cy="2048510"/>
            <a:chOff x="1441703" y="0"/>
            <a:chExt cx="6426835" cy="2048510"/>
          </a:xfrm>
        </p:grpSpPr>
        <p:sp>
          <p:nvSpPr>
            <p:cNvPr id="3" name="object 3"/>
            <p:cNvSpPr/>
            <p:nvPr/>
          </p:nvSpPr>
          <p:spPr>
            <a:xfrm>
              <a:off x="1441703" y="0"/>
              <a:ext cx="6426708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78863" y="504444"/>
              <a:ext cx="5983224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49860" marR="5080" indent="-137160">
              <a:lnSpc>
                <a:spcPts val="5800"/>
              </a:lnSpc>
              <a:spcBef>
                <a:spcPts val="860"/>
              </a:spcBef>
            </a:pPr>
            <a:r>
              <a:rPr spc="270" dirty="0"/>
              <a:t>Configuring</a:t>
            </a:r>
            <a:r>
              <a:rPr spc="-40" dirty="0"/>
              <a:t> </a:t>
            </a:r>
            <a:r>
              <a:rPr spc="250" dirty="0"/>
              <a:t>User  </a:t>
            </a:r>
            <a:r>
              <a:rPr spc="254" dirty="0"/>
              <a:t>Account</a:t>
            </a:r>
            <a:r>
              <a:rPr spc="-20" dirty="0"/>
              <a:t> </a:t>
            </a:r>
            <a:r>
              <a:rPr spc="260" dirty="0"/>
              <a:t>Control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37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585925"/>
            <a:ext cx="7972425" cy="4069079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55600" marR="288925" indent="-343535">
              <a:lnSpc>
                <a:spcPct val="90000"/>
              </a:lnSpc>
              <a:spcBef>
                <a:spcPts val="41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b="1" spc="-5" dirty="0">
                <a:solidFill>
                  <a:srgbClr val="7E7E7E"/>
                </a:solidFill>
                <a:latin typeface="Gothic Uralic"/>
                <a:cs typeface="Gothic Uralic"/>
              </a:rPr>
              <a:t>User </a:t>
            </a:r>
            <a:r>
              <a:rPr sz="2600" b="1" dirty="0">
                <a:solidFill>
                  <a:srgbClr val="7E7E7E"/>
                </a:solidFill>
                <a:latin typeface="Gothic Uralic"/>
                <a:cs typeface="Gothic Uralic"/>
              </a:rPr>
              <a:t>Account </a:t>
            </a:r>
            <a:r>
              <a:rPr sz="2600" b="1" spc="-5" dirty="0">
                <a:solidFill>
                  <a:srgbClr val="7E7E7E"/>
                </a:solidFill>
                <a:latin typeface="Gothic Uralic"/>
                <a:cs typeface="Gothic Uralic"/>
              </a:rPr>
              <a:t>Control </a:t>
            </a:r>
            <a:r>
              <a:rPr sz="2600" b="1" dirty="0">
                <a:solidFill>
                  <a:srgbClr val="7E7E7E"/>
                </a:solidFill>
                <a:latin typeface="Gothic Uralic"/>
                <a:cs typeface="Gothic Uralic"/>
              </a:rPr>
              <a:t>(UAC)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mechanism 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that prevents users from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accessing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system  using administrative privileges unless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those  privileges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are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required to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perform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the task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at  hand.</a:t>
            </a:r>
            <a:endParaRPr sz="26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90000"/>
              </a:lnSpc>
              <a:spcBef>
                <a:spcPts val="62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Administrators should only log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on to a server 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using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account with administrative access  when performing administrative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tasks; however, 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it is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often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inconvenient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switch back and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forth 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between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administrative account and  standard </a:t>
            </a:r>
            <a:r>
              <a:rPr sz="2600" dirty="0">
                <a:solidFill>
                  <a:srgbClr val="7E7E7E"/>
                </a:solidFill>
                <a:latin typeface="Gothic Uralic"/>
                <a:cs typeface="Gothic Uralic"/>
              </a:rPr>
              <a:t>user</a:t>
            </a:r>
            <a:r>
              <a:rPr sz="2600" spc="-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600" spc="-5" dirty="0">
                <a:solidFill>
                  <a:srgbClr val="7E7E7E"/>
                </a:solidFill>
                <a:latin typeface="Gothic Uralic"/>
                <a:cs typeface="Gothic Uralic"/>
              </a:rPr>
              <a:t>account.</a:t>
            </a:r>
            <a:endParaRPr sz="26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9347" y="0"/>
            <a:ext cx="7382509" cy="2048510"/>
            <a:chOff x="879347" y="0"/>
            <a:chExt cx="7382509" cy="2048510"/>
          </a:xfrm>
        </p:grpSpPr>
        <p:sp>
          <p:nvSpPr>
            <p:cNvPr id="3" name="object 3"/>
            <p:cNvSpPr/>
            <p:nvPr/>
          </p:nvSpPr>
          <p:spPr>
            <a:xfrm>
              <a:off x="2380487" y="0"/>
              <a:ext cx="4549140" cy="131216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79347" y="504444"/>
              <a:ext cx="7382256" cy="154381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30833" y="0"/>
            <a:ext cx="6482080" cy="158559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marR="5080" indent="1501140">
              <a:lnSpc>
                <a:spcPts val="5800"/>
              </a:lnSpc>
              <a:spcBef>
                <a:spcPts val="860"/>
              </a:spcBef>
              <a:tabLst>
                <a:tab pos="4798060" algn="l"/>
              </a:tabLst>
            </a:pPr>
            <a:r>
              <a:rPr spc="254" dirty="0"/>
              <a:t>Performing  </a:t>
            </a:r>
            <a:r>
              <a:rPr spc="285" dirty="0"/>
              <a:t>Administrati</a:t>
            </a:r>
            <a:r>
              <a:rPr spc="250" dirty="0"/>
              <a:t>v</a:t>
            </a:r>
            <a:r>
              <a:rPr spc="185" dirty="0"/>
              <a:t>e</a:t>
            </a:r>
            <a:r>
              <a:rPr dirty="0"/>
              <a:t>	</a:t>
            </a:r>
            <a:r>
              <a:rPr spc="-425" dirty="0"/>
              <a:t>T</a:t>
            </a:r>
            <a:r>
              <a:rPr spc="245" dirty="0"/>
              <a:t>asks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38</a:t>
            </a:fld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535940" y="1553921"/>
            <a:ext cx="7990205" cy="44164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marR="464184" indent="-343535">
              <a:lnSpc>
                <a:spcPct val="80100"/>
              </a:lnSpc>
              <a:spcBef>
                <a:spcPts val="6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user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logs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on to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Windows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Server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2012,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the 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system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issues a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token,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which indicates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user’s 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access</a:t>
            </a: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level.</a:t>
            </a:r>
            <a:endParaRPr sz="24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8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Whenever the system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authorizes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user to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perform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particular activity, 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it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consults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token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see 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if 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user has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required</a:t>
            </a:r>
            <a:r>
              <a:rPr sz="2400" spc="-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privileges.</a:t>
            </a:r>
            <a:endParaRPr sz="2400">
              <a:latin typeface="Gothic Uralic"/>
              <a:cs typeface="Gothic Uralic"/>
            </a:endParaRPr>
          </a:p>
          <a:p>
            <a:pPr marL="355600" marR="186690" indent="-343535">
              <a:lnSpc>
                <a:spcPct val="8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On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computer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running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Windows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Server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2012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with  </a:t>
            </a: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User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Account Control,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standard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user still receives  a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standard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user token,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but an administrative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user  receives two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tokens: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one for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standard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user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access  and one for administrative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user</a:t>
            </a:r>
            <a:r>
              <a:rPr sz="2400" spc="-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access.</a:t>
            </a:r>
            <a:endParaRPr sz="2400">
              <a:latin typeface="Gothic Uralic"/>
              <a:cs typeface="Gothic Uralic"/>
            </a:endParaRPr>
          </a:p>
          <a:p>
            <a:pPr marL="355600" marR="205104" indent="-343535">
              <a:lnSpc>
                <a:spcPct val="8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By default,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standard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administrative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users 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both run </a:t>
            </a:r>
            <a:r>
              <a:rPr sz="2400" spc="5" dirty="0">
                <a:solidFill>
                  <a:srgbClr val="7E7E7E"/>
                </a:solidFill>
                <a:latin typeface="Gothic Uralic"/>
                <a:cs typeface="Gothic Uralic"/>
              </a:rPr>
              <a:t>using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standard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user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token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most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of the  </a:t>
            </a:r>
            <a:r>
              <a:rPr sz="2400" spc="5" dirty="0">
                <a:solidFill>
                  <a:srgbClr val="7E7E7E"/>
                </a:solidFill>
                <a:latin typeface="Gothic Uralic"/>
                <a:cs typeface="Gothic Uralic"/>
              </a:rPr>
              <a:t>time.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84020" y="530351"/>
            <a:ext cx="5702808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7954" y="615772"/>
            <a:ext cx="52336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30" dirty="0"/>
              <a:t>Performing </a:t>
            </a:r>
            <a:r>
              <a:rPr sz="2800" spc="140" dirty="0"/>
              <a:t>Administrative</a:t>
            </a:r>
            <a:r>
              <a:rPr sz="2800" spc="-290" dirty="0"/>
              <a:t> </a:t>
            </a:r>
            <a:r>
              <a:rPr sz="2800" spc="55" dirty="0"/>
              <a:t>Tasks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3269741" y="5840069"/>
            <a:ext cx="25311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UAC credential</a:t>
            </a:r>
            <a:r>
              <a:rPr sz="1600" spc="3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prompt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52600" y="1371600"/>
            <a:ext cx="5580888" cy="42748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39</a:t>
            </a:fld>
            <a:endParaRPr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84020" y="530351"/>
            <a:ext cx="5702808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17954" y="615772"/>
            <a:ext cx="52336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30" dirty="0"/>
              <a:t>Performing </a:t>
            </a:r>
            <a:r>
              <a:rPr sz="2800" spc="140" dirty="0"/>
              <a:t>Administrative</a:t>
            </a:r>
            <a:r>
              <a:rPr sz="2800" spc="-290" dirty="0"/>
              <a:t> </a:t>
            </a:r>
            <a:r>
              <a:rPr sz="2800" spc="55" dirty="0"/>
              <a:t>Tasks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3313938" y="5840069"/>
            <a:ext cx="24428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UAC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elevation</a:t>
            </a:r>
            <a:r>
              <a:rPr sz="1600" spc="-6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prompt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52600" y="1991867"/>
            <a:ext cx="5561076" cy="31455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40</a:t>
            </a:fld>
            <a:endParaRPr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46504" y="504444"/>
            <a:ext cx="5647944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97989" y="674065"/>
            <a:ext cx="47478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80" dirty="0"/>
              <a:t>Secure</a:t>
            </a:r>
            <a:r>
              <a:rPr spc="-40" dirty="0"/>
              <a:t> </a:t>
            </a:r>
            <a:r>
              <a:rPr spc="285" dirty="0"/>
              <a:t>Desktop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41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627073"/>
            <a:ext cx="7907655" cy="4196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84835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b="1" dirty="0">
                <a:solidFill>
                  <a:srgbClr val="7E7E7E"/>
                </a:solidFill>
                <a:latin typeface="Gothic Uralic"/>
                <a:cs typeface="Gothic Uralic"/>
              </a:rPr>
              <a:t>secure </a:t>
            </a:r>
            <a:r>
              <a:rPr sz="2400" b="1" spc="-5" dirty="0">
                <a:solidFill>
                  <a:srgbClr val="7E7E7E"/>
                </a:solidFill>
                <a:latin typeface="Gothic Uralic"/>
                <a:cs typeface="Gothic Uralic"/>
              </a:rPr>
              <a:t>desktop 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an alternative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to the  interactive user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desktop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that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Windows normally  displays.</a:t>
            </a:r>
            <a:endParaRPr sz="2400">
              <a:latin typeface="Gothic Uralic"/>
              <a:cs typeface="Gothic Uralic"/>
            </a:endParaRPr>
          </a:p>
          <a:p>
            <a:pPr marL="355600" marR="71755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5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elevation or credential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prompt 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is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generated,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system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switches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to the </a:t>
            </a: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secure 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desktop,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suppressing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operation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of all other  desktop controls and permitting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only </a:t>
            </a: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Windows 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processes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to interact with the</a:t>
            </a:r>
            <a:r>
              <a:rPr sz="2400" spc="-4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prompt.</a:t>
            </a:r>
            <a:endParaRPr sz="24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object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2400" spc="5" dirty="0">
                <a:solidFill>
                  <a:srgbClr val="7E7E7E"/>
                </a:solidFill>
                <a:latin typeface="Gothic Uralic"/>
                <a:cs typeface="Gothic Uralic"/>
              </a:rPr>
              <a:t>this </a:t>
            </a:r>
            <a:r>
              <a:rPr sz="2400" spc="10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prevent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malware from  automating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a response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to the elevation or 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credential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prompt and </a:t>
            </a:r>
            <a:r>
              <a:rPr sz="2400" dirty="0">
                <a:solidFill>
                  <a:srgbClr val="7E7E7E"/>
                </a:solidFill>
                <a:latin typeface="Gothic Uralic"/>
                <a:cs typeface="Gothic Uralic"/>
              </a:rPr>
              <a:t>bypassing the human</a:t>
            </a:r>
            <a:r>
              <a:rPr sz="2400" spc="-1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400" spc="-5" dirty="0">
                <a:solidFill>
                  <a:srgbClr val="7E7E7E"/>
                </a:solidFill>
                <a:latin typeface="Gothic Uralic"/>
                <a:cs typeface="Gothic Uralic"/>
              </a:rPr>
              <a:t>reply.</a:t>
            </a:r>
            <a:endParaRPr sz="24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74392" y="530351"/>
            <a:ext cx="4322063" cy="8138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08326" y="615772"/>
            <a:ext cx="38525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35" dirty="0"/>
              <a:t>Configure UAC</a:t>
            </a:r>
            <a:r>
              <a:rPr sz="2800" spc="-190" dirty="0"/>
              <a:t> </a:t>
            </a:r>
            <a:r>
              <a:rPr sz="2800" spc="95" dirty="0"/>
              <a:t>Settings</a:t>
            </a:r>
            <a:endParaRPr sz="2800"/>
          </a:p>
        </p:txBody>
      </p:sp>
      <p:sp>
        <p:nvSpPr>
          <p:cNvPr id="4" name="object 4"/>
          <p:cNvSpPr txBox="1"/>
          <p:nvPr/>
        </p:nvSpPr>
        <p:spPr>
          <a:xfrm>
            <a:off x="2311145" y="5840069"/>
            <a:ext cx="444627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1600" spc="-15" dirty="0">
                <a:solidFill>
                  <a:srgbClr val="7E7E7E"/>
                </a:solidFill>
                <a:latin typeface="Gothic Uralic"/>
                <a:cs typeface="Gothic Uralic"/>
              </a:rPr>
              <a:t>User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Account </a:t>
            </a:r>
            <a:r>
              <a:rPr sz="1600" spc="-10" dirty="0">
                <a:solidFill>
                  <a:srgbClr val="7E7E7E"/>
                </a:solidFill>
                <a:latin typeface="Gothic Uralic"/>
                <a:cs typeface="Gothic Uralic"/>
              </a:rPr>
              <a:t>Control Settings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dialog</a:t>
            </a:r>
            <a:r>
              <a:rPr sz="1600" spc="16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1600" spc="-5" dirty="0">
                <a:solidFill>
                  <a:srgbClr val="7E7E7E"/>
                </a:solidFill>
                <a:latin typeface="Gothic Uralic"/>
                <a:cs typeface="Gothic Uralic"/>
              </a:rPr>
              <a:t>box</a:t>
            </a:r>
            <a:endParaRPr sz="1600">
              <a:latin typeface="Gothic Uralic"/>
              <a:cs typeface="Gothic Ural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28216" y="1344167"/>
            <a:ext cx="5739383" cy="42291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42</a:t>
            </a:fld>
            <a:endParaRPr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81327" y="504444"/>
            <a:ext cx="6178296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2813" y="674065"/>
            <a:ext cx="52806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Lesson</a:t>
            </a:r>
            <a:r>
              <a:rPr spc="-60" dirty="0"/>
              <a:t> </a:t>
            </a:r>
            <a:r>
              <a:rPr spc="345" dirty="0"/>
              <a:t>Summary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43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66113"/>
            <a:ext cx="7954009" cy="4233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3535">
              <a:lnSpc>
                <a:spcPts val="2160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Most security-related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settings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are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found within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</a:t>
            </a:r>
            <a:r>
              <a:rPr sz="2000" spc="-7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spc="-15" dirty="0">
                <a:solidFill>
                  <a:srgbClr val="7E7E7E"/>
                </a:solidFill>
                <a:latin typeface="Gothic Uralic"/>
                <a:cs typeface="Gothic Uralic"/>
              </a:rPr>
              <a:t>Windows</a:t>
            </a:r>
            <a:endParaRPr sz="2000">
              <a:latin typeface="Gothic Uralic"/>
              <a:cs typeface="Gothic Uralic"/>
            </a:endParaRPr>
          </a:p>
          <a:p>
            <a:pPr marL="355600">
              <a:lnSpc>
                <a:spcPts val="2160"/>
              </a:lnSpc>
            </a:pP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Settings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node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Computer Configuration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node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of a</a:t>
            </a:r>
            <a:r>
              <a:rPr sz="2000" spc="-14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GPO.</a:t>
            </a:r>
            <a:endParaRPr sz="2000">
              <a:latin typeface="Gothic Uralic"/>
              <a:cs typeface="Gothic Uralic"/>
            </a:endParaRPr>
          </a:p>
          <a:p>
            <a:pPr marL="355600" marR="76200" indent="-343535">
              <a:lnSpc>
                <a:spcPts val="1920"/>
              </a:lnSpc>
              <a:spcBef>
                <a:spcPts val="4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Local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policy settings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govern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actions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users can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perform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on  a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specific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computer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and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determine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if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actions are  recorded in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an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event</a:t>
            </a:r>
            <a:r>
              <a:rPr sz="2000" spc="-5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log.</a:t>
            </a:r>
            <a:endParaRPr sz="2000">
              <a:latin typeface="Gothic Uralic"/>
              <a:cs typeface="Gothic Uralic"/>
            </a:endParaRPr>
          </a:p>
          <a:p>
            <a:pPr marL="355600" indent="-343535">
              <a:lnSpc>
                <a:spcPts val="2160"/>
              </a:lnSpc>
              <a:spcBef>
                <a:spcPts val="1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Auditing can be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configured </a:t>
            </a:r>
            <a:r>
              <a:rPr sz="2000" spc="10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audit successes, failures,</a:t>
            </a:r>
            <a:r>
              <a:rPr sz="2000" spc="-17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or</a:t>
            </a:r>
            <a:endParaRPr sz="2000">
              <a:latin typeface="Gothic Uralic"/>
              <a:cs typeface="Gothic Uralic"/>
            </a:endParaRPr>
          </a:p>
          <a:p>
            <a:pPr marL="355600">
              <a:lnSpc>
                <a:spcPts val="2160"/>
              </a:lnSpc>
            </a:pP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both.</a:t>
            </a:r>
            <a:endParaRPr sz="2000">
              <a:latin typeface="Gothic Uralic"/>
              <a:cs typeface="Gothic Uralic"/>
            </a:endParaRPr>
          </a:p>
          <a:p>
            <a:pPr marL="355600" marR="130175" indent="-343535">
              <a:lnSpc>
                <a:spcPts val="1920"/>
              </a:lnSpc>
              <a:spcBef>
                <a:spcPts val="46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Because audited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events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are recorded in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appropriate 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event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log,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it is necessary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understand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Event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Log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Policy  setting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area.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This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area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allows control over maximum log</a:t>
            </a:r>
            <a:r>
              <a:rPr sz="2000" spc="-18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sizes,  log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retention, and access rights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each</a:t>
            </a:r>
            <a:r>
              <a:rPr sz="2000" spc="-12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log.</a:t>
            </a:r>
            <a:endParaRPr sz="2000">
              <a:latin typeface="Gothic Uralic"/>
              <a:cs typeface="Gothic Uralic"/>
            </a:endParaRPr>
          </a:p>
          <a:p>
            <a:pPr marL="355600" marR="317500" indent="-343535">
              <a:lnSpc>
                <a:spcPct val="80000"/>
              </a:lnSpc>
              <a:spcBef>
                <a:spcPts val="5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Restrictions on group memberships can be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accomplished 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using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Group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Restriction Policy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setting.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Implementing</a:t>
            </a:r>
            <a:r>
              <a:rPr sz="2000" spc="-14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this 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policy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removes group members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who are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not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part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of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the 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configured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group membership list or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adds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group members 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according </a:t>
            </a:r>
            <a:r>
              <a:rPr sz="2000" spc="5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000" spc="-5" dirty="0">
                <a:solidFill>
                  <a:srgbClr val="7E7E7E"/>
                </a:solidFill>
                <a:latin typeface="Gothic Uralic"/>
                <a:cs typeface="Gothic Uralic"/>
              </a:rPr>
              <a:t>preconfigured</a:t>
            </a:r>
            <a:r>
              <a:rPr sz="2000" spc="-5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000" dirty="0">
                <a:solidFill>
                  <a:srgbClr val="7E7E7E"/>
                </a:solidFill>
                <a:latin typeface="Gothic Uralic"/>
                <a:cs typeface="Gothic Uralic"/>
              </a:rPr>
              <a:t>list.</a:t>
            </a:r>
            <a:endParaRPr sz="20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81327" y="504444"/>
            <a:ext cx="6178296" cy="15438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32813" y="674065"/>
            <a:ext cx="528066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0" dirty="0"/>
              <a:t>Lesson</a:t>
            </a:r>
            <a:r>
              <a:rPr spc="-60" dirty="0"/>
              <a:t> </a:t>
            </a:r>
            <a:r>
              <a:rPr spc="345" dirty="0"/>
              <a:t>Summary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© </a:t>
            </a:r>
            <a:r>
              <a:rPr spc="-5" dirty="0"/>
              <a:t>2013 John Wiley &amp; Sons,</a:t>
            </a:r>
            <a:r>
              <a:rPr spc="-10" dirty="0"/>
              <a:t> </a:t>
            </a:r>
            <a:r>
              <a:rPr spc="5" dirty="0"/>
              <a:t>Inc.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fld id="{81D60167-4931-47E6-BA6A-407CBD079E47}" type="slidenum">
              <a:rPr dirty="0"/>
              <a:t>44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63065"/>
            <a:ext cx="8004809" cy="4379595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355600" marR="158115" indent="-343535">
              <a:lnSpc>
                <a:spcPct val="80100"/>
              </a:lnSpc>
              <a:spcBef>
                <a:spcPts val="600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Administrators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can use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security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templates to configure  local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policies, group memberships,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event log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settings,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and  other</a:t>
            </a:r>
            <a:r>
              <a:rPr sz="2100" spc="-15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policies.</a:t>
            </a:r>
            <a:endParaRPr sz="2100">
              <a:latin typeface="Gothic Uralic"/>
              <a:cs typeface="Gothic Uralic"/>
            </a:endParaRPr>
          </a:p>
          <a:p>
            <a:pPr marL="355600" marR="5080" indent="-343535">
              <a:lnSpc>
                <a:spcPct val="8000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Computer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configuration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group policies are refreshed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every 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90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minutes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by default. Domain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controller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group policies are 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refreshed every 2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minutes.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These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settings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can </a:t>
            </a:r>
            <a:r>
              <a:rPr sz="2100" spc="-10" dirty="0">
                <a:solidFill>
                  <a:srgbClr val="7E7E7E"/>
                </a:solidFill>
                <a:latin typeface="Gothic Uralic"/>
                <a:cs typeface="Gothic Uralic"/>
              </a:rPr>
              <a:t>be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altered 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based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on the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frequency in which policy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changes</a:t>
            </a:r>
            <a:r>
              <a:rPr sz="2100" spc="10" dirty="0">
                <a:solidFill>
                  <a:srgbClr val="7E7E7E"/>
                </a:solidFill>
                <a:latin typeface="Gothic Uralic"/>
                <a:cs typeface="Gothic Uralic"/>
              </a:rPr>
              <a:t>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occur.</a:t>
            </a:r>
            <a:endParaRPr sz="2100">
              <a:latin typeface="Gothic Uralic"/>
              <a:cs typeface="Gothic Uralic"/>
            </a:endParaRPr>
          </a:p>
          <a:p>
            <a:pPr marL="355600" marR="452755" indent="-343535">
              <a:lnSpc>
                <a:spcPct val="8000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100" spc="-15" dirty="0">
                <a:solidFill>
                  <a:srgbClr val="7E7E7E"/>
                </a:solidFill>
                <a:latin typeface="Gothic Uralic"/>
                <a:cs typeface="Gothic Uralic"/>
              </a:rPr>
              <a:t>When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a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standard user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attempts to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perform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a task that 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requires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administrative privileges, the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system displays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a  credential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prompt, requesting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that the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user supply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the  name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and password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for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an account with administrative  privileges.</a:t>
            </a:r>
            <a:endParaRPr sz="2100">
              <a:latin typeface="Gothic Uralic"/>
              <a:cs typeface="Gothic Uralic"/>
            </a:endParaRPr>
          </a:p>
          <a:p>
            <a:pPr marL="355600" marR="179070" indent="-343535">
              <a:lnSpc>
                <a:spcPct val="80000"/>
              </a:lnSpc>
              <a:spcBef>
                <a:spcPts val="50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sz="2100" spc="-10" dirty="0">
                <a:solidFill>
                  <a:srgbClr val="7E7E7E"/>
                </a:solidFill>
                <a:latin typeface="Gothic Uralic"/>
                <a:cs typeface="Gothic Uralic"/>
              </a:rPr>
              <a:t>User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Account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Control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is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enabled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by default in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all </a:t>
            </a:r>
            <a:r>
              <a:rPr sz="2100" spc="-15" dirty="0">
                <a:solidFill>
                  <a:srgbClr val="7E7E7E"/>
                </a:solidFill>
                <a:latin typeface="Gothic Uralic"/>
                <a:cs typeface="Gothic Uralic"/>
              </a:rPr>
              <a:t>Windows 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Server 2012 installations, </a:t>
            </a:r>
            <a:r>
              <a:rPr sz="2100" spc="-10" dirty="0">
                <a:solidFill>
                  <a:srgbClr val="7E7E7E"/>
                </a:solidFill>
                <a:latin typeface="Gothic Uralic"/>
                <a:cs typeface="Gothic Uralic"/>
              </a:rPr>
              <a:t>but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it is possible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to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configure its  properties, or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even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disable it </a:t>
            </a:r>
            <a:r>
              <a:rPr sz="2100" dirty="0">
                <a:solidFill>
                  <a:srgbClr val="7E7E7E"/>
                </a:solidFill>
                <a:latin typeface="Gothic Uralic"/>
                <a:cs typeface="Gothic Uralic"/>
              </a:rPr>
              <a:t>completely, using </a:t>
            </a:r>
            <a:r>
              <a:rPr sz="2100" spc="-5" dirty="0">
                <a:solidFill>
                  <a:srgbClr val="7E7E7E"/>
                </a:solidFill>
                <a:latin typeface="Gothic Uralic"/>
                <a:cs typeface="Gothic Uralic"/>
              </a:rPr>
              <a:t>Group  Policy.</a:t>
            </a:r>
            <a:endParaRPr sz="2100">
              <a:latin typeface="Gothic Uralic"/>
              <a:cs typeface="Gothic Ural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2140" y="2075815"/>
            <a:ext cx="7910195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Palladio Uralic"/>
                <a:cs typeface="Palladio Uralic"/>
              </a:rPr>
              <a:t>Copyright 2013 John </a:t>
            </a:r>
            <a:r>
              <a:rPr sz="1800" b="1" spc="-10" dirty="0">
                <a:latin typeface="Palladio Uralic"/>
                <a:cs typeface="Palladio Uralic"/>
              </a:rPr>
              <a:t>Wiley </a:t>
            </a:r>
            <a:r>
              <a:rPr sz="1800" b="1" dirty="0">
                <a:latin typeface="Palladio Uralic"/>
                <a:cs typeface="Palladio Uralic"/>
              </a:rPr>
              <a:t>&amp; </a:t>
            </a:r>
            <a:r>
              <a:rPr sz="1800" b="1" spc="-5" dirty="0">
                <a:latin typeface="Palladio Uralic"/>
                <a:cs typeface="Palladio Uralic"/>
              </a:rPr>
              <a:t>Sons,</a:t>
            </a:r>
            <a:r>
              <a:rPr sz="1800" b="1" spc="20" dirty="0">
                <a:latin typeface="Palladio Uralic"/>
                <a:cs typeface="Palladio Uralic"/>
              </a:rPr>
              <a:t> </a:t>
            </a:r>
            <a:r>
              <a:rPr sz="1800" b="1" spc="-5" dirty="0">
                <a:latin typeface="Palladio Uralic"/>
                <a:cs typeface="Palladio Uralic"/>
              </a:rPr>
              <a:t>Inc.</a:t>
            </a:r>
            <a:endParaRPr sz="1800">
              <a:latin typeface="Palladio Uralic"/>
              <a:cs typeface="Palladio Uralic"/>
            </a:endParaRPr>
          </a:p>
          <a:p>
            <a:pPr marL="12700" marR="5080">
              <a:lnSpc>
                <a:spcPct val="100000"/>
              </a:lnSpc>
            </a:pPr>
            <a:r>
              <a:rPr sz="1800" spc="50" dirty="0">
                <a:latin typeface="Times New Roman"/>
                <a:cs typeface="Times New Roman"/>
              </a:rPr>
              <a:t>All </a:t>
            </a:r>
            <a:r>
              <a:rPr sz="1800" spc="85" dirty="0">
                <a:latin typeface="Times New Roman"/>
                <a:cs typeface="Times New Roman"/>
              </a:rPr>
              <a:t>rights </a:t>
            </a:r>
            <a:r>
              <a:rPr sz="1800" spc="80" dirty="0">
                <a:latin typeface="Times New Roman"/>
                <a:cs typeface="Times New Roman"/>
              </a:rPr>
              <a:t>reserved. </a:t>
            </a:r>
            <a:r>
              <a:rPr sz="1800" spc="95" dirty="0">
                <a:latin typeface="Times New Roman"/>
                <a:cs typeface="Times New Roman"/>
              </a:rPr>
              <a:t>Reproduction or </a:t>
            </a:r>
            <a:r>
              <a:rPr sz="1800" spc="85" dirty="0">
                <a:latin typeface="Times New Roman"/>
                <a:cs typeface="Times New Roman"/>
              </a:rPr>
              <a:t>translation </a:t>
            </a:r>
            <a:r>
              <a:rPr sz="1800" spc="40" dirty="0">
                <a:latin typeface="Times New Roman"/>
                <a:cs typeface="Times New Roman"/>
              </a:rPr>
              <a:t>of </a:t>
            </a:r>
            <a:r>
              <a:rPr sz="1800" spc="75" dirty="0">
                <a:latin typeface="Times New Roman"/>
                <a:cs typeface="Times New Roman"/>
              </a:rPr>
              <a:t>this </a:t>
            </a:r>
            <a:r>
              <a:rPr sz="1800" spc="110" dirty="0">
                <a:latin typeface="Times New Roman"/>
                <a:cs typeface="Times New Roman"/>
              </a:rPr>
              <a:t>work </a:t>
            </a:r>
            <a:r>
              <a:rPr sz="1800" spc="105" dirty="0">
                <a:latin typeface="Times New Roman"/>
                <a:cs typeface="Times New Roman"/>
              </a:rPr>
              <a:t>beyond </a:t>
            </a:r>
            <a:r>
              <a:rPr sz="1800" spc="100" dirty="0">
                <a:latin typeface="Times New Roman"/>
                <a:cs typeface="Times New Roman"/>
              </a:rPr>
              <a:t>that  </a:t>
            </a:r>
            <a:r>
              <a:rPr sz="1800" spc="135" dirty="0">
                <a:latin typeface="Times New Roman"/>
                <a:cs typeface="Times New Roman"/>
              </a:rPr>
              <a:t>named </a:t>
            </a:r>
            <a:r>
              <a:rPr sz="1800" spc="80" dirty="0">
                <a:latin typeface="Times New Roman"/>
                <a:cs typeface="Times New Roman"/>
              </a:rPr>
              <a:t>in </a:t>
            </a:r>
            <a:r>
              <a:rPr sz="1800" spc="45" dirty="0">
                <a:latin typeface="Times New Roman"/>
                <a:cs typeface="Times New Roman"/>
              </a:rPr>
              <a:t>Section </a:t>
            </a:r>
            <a:r>
              <a:rPr sz="1800" dirty="0">
                <a:latin typeface="Times New Roman"/>
                <a:cs typeface="Times New Roman"/>
              </a:rPr>
              <a:t>117 </a:t>
            </a:r>
            <a:r>
              <a:rPr sz="1800" spc="40" dirty="0">
                <a:latin typeface="Times New Roman"/>
                <a:cs typeface="Times New Roman"/>
              </a:rPr>
              <a:t>of </a:t>
            </a:r>
            <a:r>
              <a:rPr sz="1800" spc="95" dirty="0">
                <a:latin typeface="Times New Roman"/>
                <a:cs typeface="Times New Roman"/>
              </a:rPr>
              <a:t>the </a:t>
            </a:r>
            <a:r>
              <a:rPr sz="1800" dirty="0">
                <a:latin typeface="Times New Roman"/>
                <a:cs typeface="Times New Roman"/>
              </a:rPr>
              <a:t>1976 </a:t>
            </a:r>
            <a:r>
              <a:rPr sz="1800" spc="100" dirty="0">
                <a:latin typeface="Times New Roman"/>
                <a:cs typeface="Times New Roman"/>
              </a:rPr>
              <a:t>United </a:t>
            </a:r>
            <a:r>
              <a:rPr sz="1800" spc="55" dirty="0">
                <a:latin typeface="Times New Roman"/>
                <a:cs typeface="Times New Roman"/>
              </a:rPr>
              <a:t>States </a:t>
            </a:r>
            <a:r>
              <a:rPr sz="1800" spc="95" dirty="0">
                <a:latin typeface="Times New Roman"/>
                <a:cs typeface="Times New Roman"/>
              </a:rPr>
              <a:t>Copyright </a:t>
            </a:r>
            <a:r>
              <a:rPr sz="1800" spc="60" dirty="0">
                <a:latin typeface="Times New Roman"/>
                <a:cs typeface="Times New Roman"/>
              </a:rPr>
              <a:t>Act </a:t>
            </a:r>
            <a:r>
              <a:rPr sz="1800" spc="110" dirty="0">
                <a:latin typeface="Times New Roman"/>
                <a:cs typeface="Times New Roman"/>
              </a:rPr>
              <a:t>without </a:t>
            </a:r>
            <a:r>
              <a:rPr sz="1800" spc="90" dirty="0">
                <a:latin typeface="Times New Roman"/>
                <a:cs typeface="Times New Roman"/>
              </a:rPr>
              <a:t>the  </a:t>
            </a:r>
            <a:r>
              <a:rPr sz="1800" spc="75" dirty="0">
                <a:latin typeface="Times New Roman"/>
                <a:cs typeface="Times New Roman"/>
              </a:rPr>
              <a:t>express </a:t>
            </a:r>
            <a:r>
              <a:rPr sz="1800" spc="95" dirty="0">
                <a:latin typeface="Times New Roman"/>
                <a:cs typeface="Times New Roman"/>
              </a:rPr>
              <a:t>written </a:t>
            </a:r>
            <a:r>
              <a:rPr sz="1800" spc="85" dirty="0">
                <a:latin typeface="Times New Roman"/>
                <a:cs typeface="Times New Roman"/>
              </a:rPr>
              <a:t>consent </a:t>
            </a:r>
            <a:r>
              <a:rPr sz="1800" spc="40" dirty="0">
                <a:latin typeface="Times New Roman"/>
                <a:cs typeface="Times New Roman"/>
              </a:rPr>
              <a:t>of </a:t>
            </a:r>
            <a:r>
              <a:rPr sz="1800" spc="95" dirty="0">
                <a:latin typeface="Times New Roman"/>
                <a:cs typeface="Times New Roman"/>
              </a:rPr>
              <a:t>the </a:t>
            </a:r>
            <a:r>
              <a:rPr sz="1800" spc="90" dirty="0">
                <a:latin typeface="Times New Roman"/>
                <a:cs typeface="Times New Roman"/>
              </a:rPr>
              <a:t>copyright </a:t>
            </a:r>
            <a:r>
              <a:rPr sz="1800" spc="120" dirty="0">
                <a:latin typeface="Times New Roman"/>
                <a:cs typeface="Times New Roman"/>
              </a:rPr>
              <a:t>owner </a:t>
            </a:r>
            <a:r>
              <a:rPr sz="1800" spc="40" dirty="0">
                <a:latin typeface="Times New Roman"/>
                <a:cs typeface="Times New Roman"/>
              </a:rPr>
              <a:t>is </a:t>
            </a:r>
            <a:r>
              <a:rPr sz="1800" spc="90" dirty="0">
                <a:latin typeface="Times New Roman"/>
                <a:cs typeface="Times New Roman"/>
              </a:rPr>
              <a:t>unlawful. </a:t>
            </a:r>
            <a:r>
              <a:rPr sz="1800" spc="75" dirty="0">
                <a:latin typeface="Times New Roman"/>
                <a:cs typeface="Times New Roman"/>
              </a:rPr>
              <a:t>Requests </a:t>
            </a:r>
            <a:r>
              <a:rPr sz="1800" spc="65" dirty="0">
                <a:latin typeface="Times New Roman"/>
                <a:cs typeface="Times New Roman"/>
              </a:rPr>
              <a:t>for  </a:t>
            </a:r>
            <a:r>
              <a:rPr sz="1800" spc="95" dirty="0">
                <a:latin typeface="Times New Roman"/>
                <a:cs typeface="Times New Roman"/>
              </a:rPr>
              <a:t>further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85" dirty="0">
                <a:latin typeface="Times New Roman"/>
                <a:cs typeface="Times New Roman"/>
              </a:rPr>
              <a:t>information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should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be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114" dirty="0">
                <a:latin typeface="Times New Roman"/>
                <a:cs typeface="Times New Roman"/>
              </a:rPr>
              <a:t>addressed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80" dirty="0">
                <a:latin typeface="Times New Roman"/>
                <a:cs typeface="Times New Roman"/>
              </a:rPr>
              <a:t>to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90" dirty="0">
                <a:latin typeface="Times New Roman"/>
                <a:cs typeface="Times New Roman"/>
              </a:rPr>
              <a:t>the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Permissions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Department,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spc="65" dirty="0">
                <a:latin typeface="Times New Roman"/>
                <a:cs typeface="Times New Roman"/>
              </a:rPr>
              <a:t>John  </a:t>
            </a:r>
            <a:r>
              <a:rPr sz="1800" spc="50" dirty="0">
                <a:latin typeface="Times New Roman"/>
                <a:cs typeface="Times New Roman"/>
              </a:rPr>
              <a:t>Wiley </a:t>
            </a:r>
            <a:r>
              <a:rPr sz="1800" dirty="0">
                <a:latin typeface="Times New Roman"/>
                <a:cs typeface="Times New Roman"/>
              </a:rPr>
              <a:t>&amp; </a:t>
            </a:r>
            <a:r>
              <a:rPr sz="1800" spc="45" dirty="0">
                <a:latin typeface="Times New Roman"/>
                <a:cs typeface="Times New Roman"/>
              </a:rPr>
              <a:t>Sons, </a:t>
            </a:r>
            <a:r>
              <a:rPr sz="1800" spc="35" dirty="0">
                <a:latin typeface="Times New Roman"/>
                <a:cs typeface="Times New Roman"/>
              </a:rPr>
              <a:t>Inc. </a:t>
            </a:r>
            <a:r>
              <a:rPr sz="1800" spc="70" dirty="0">
                <a:latin typeface="Times New Roman"/>
                <a:cs typeface="Times New Roman"/>
              </a:rPr>
              <a:t>The </a:t>
            </a:r>
            <a:r>
              <a:rPr sz="1800" spc="100" dirty="0">
                <a:latin typeface="Times New Roman"/>
                <a:cs typeface="Times New Roman"/>
              </a:rPr>
              <a:t>purchaser </a:t>
            </a:r>
            <a:r>
              <a:rPr sz="1800" spc="125" dirty="0">
                <a:latin typeface="Times New Roman"/>
                <a:cs typeface="Times New Roman"/>
              </a:rPr>
              <a:t>may </a:t>
            </a:r>
            <a:r>
              <a:rPr sz="1800" spc="110" dirty="0">
                <a:latin typeface="Times New Roman"/>
                <a:cs typeface="Times New Roman"/>
              </a:rPr>
              <a:t>make </a:t>
            </a:r>
            <a:r>
              <a:rPr sz="1800" spc="90" dirty="0">
                <a:latin typeface="Times New Roman"/>
                <a:cs typeface="Times New Roman"/>
              </a:rPr>
              <a:t>back-up </a:t>
            </a:r>
            <a:r>
              <a:rPr sz="1800" spc="65" dirty="0">
                <a:latin typeface="Times New Roman"/>
                <a:cs typeface="Times New Roman"/>
              </a:rPr>
              <a:t>copies </a:t>
            </a:r>
            <a:r>
              <a:rPr sz="1800" spc="60" dirty="0">
                <a:latin typeface="Times New Roman"/>
                <a:cs typeface="Times New Roman"/>
              </a:rPr>
              <a:t>for </a:t>
            </a:r>
            <a:r>
              <a:rPr sz="1800" spc="85" dirty="0">
                <a:latin typeface="Times New Roman"/>
                <a:cs typeface="Times New Roman"/>
              </a:rPr>
              <a:t>his/her </a:t>
            </a:r>
            <a:r>
              <a:rPr sz="1800" spc="140" dirty="0">
                <a:latin typeface="Times New Roman"/>
                <a:cs typeface="Times New Roman"/>
              </a:rPr>
              <a:t>own  </a:t>
            </a:r>
            <a:r>
              <a:rPr sz="1800" spc="100" dirty="0">
                <a:latin typeface="Times New Roman"/>
                <a:cs typeface="Times New Roman"/>
              </a:rPr>
              <a:t>use </a:t>
            </a:r>
            <a:r>
              <a:rPr sz="1800" spc="85" dirty="0">
                <a:latin typeface="Times New Roman"/>
                <a:cs typeface="Times New Roman"/>
              </a:rPr>
              <a:t>only </a:t>
            </a:r>
            <a:r>
              <a:rPr sz="1800" spc="145" dirty="0">
                <a:latin typeface="Times New Roman"/>
                <a:cs typeface="Times New Roman"/>
              </a:rPr>
              <a:t>and </a:t>
            </a:r>
            <a:r>
              <a:rPr sz="1800" spc="100" dirty="0">
                <a:latin typeface="Times New Roman"/>
                <a:cs typeface="Times New Roman"/>
              </a:rPr>
              <a:t>not </a:t>
            </a:r>
            <a:r>
              <a:rPr sz="1800" spc="60" dirty="0">
                <a:latin typeface="Times New Roman"/>
                <a:cs typeface="Times New Roman"/>
              </a:rPr>
              <a:t>for </a:t>
            </a:r>
            <a:r>
              <a:rPr sz="1800" spc="90" dirty="0">
                <a:latin typeface="Times New Roman"/>
                <a:cs typeface="Times New Roman"/>
              </a:rPr>
              <a:t>distribution </a:t>
            </a:r>
            <a:r>
              <a:rPr sz="1800" spc="95" dirty="0">
                <a:latin typeface="Times New Roman"/>
                <a:cs typeface="Times New Roman"/>
              </a:rPr>
              <a:t>or </a:t>
            </a:r>
            <a:r>
              <a:rPr sz="1800" spc="65" dirty="0">
                <a:latin typeface="Times New Roman"/>
                <a:cs typeface="Times New Roman"/>
              </a:rPr>
              <a:t>resale. </a:t>
            </a:r>
            <a:r>
              <a:rPr sz="1800" spc="70" dirty="0">
                <a:latin typeface="Times New Roman"/>
                <a:cs typeface="Times New Roman"/>
              </a:rPr>
              <a:t>The </a:t>
            </a:r>
            <a:r>
              <a:rPr sz="1800" spc="85" dirty="0">
                <a:latin typeface="Times New Roman"/>
                <a:cs typeface="Times New Roman"/>
              </a:rPr>
              <a:t>Publisher </a:t>
            </a:r>
            <a:r>
              <a:rPr sz="1800" spc="100" dirty="0">
                <a:latin typeface="Times New Roman"/>
                <a:cs typeface="Times New Roman"/>
              </a:rPr>
              <a:t>assumes </a:t>
            </a:r>
            <a:r>
              <a:rPr sz="1800" spc="110" dirty="0">
                <a:latin typeface="Times New Roman"/>
                <a:cs typeface="Times New Roman"/>
              </a:rPr>
              <a:t>no  </a:t>
            </a:r>
            <a:r>
              <a:rPr sz="1800" spc="75" dirty="0">
                <a:latin typeface="Times New Roman"/>
                <a:cs typeface="Times New Roman"/>
              </a:rPr>
              <a:t>responsibility </a:t>
            </a:r>
            <a:r>
              <a:rPr sz="1800" spc="60" dirty="0">
                <a:latin typeface="Times New Roman"/>
                <a:cs typeface="Times New Roman"/>
              </a:rPr>
              <a:t>for </a:t>
            </a:r>
            <a:r>
              <a:rPr sz="1800" spc="75" dirty="0">
                <a:latin typeface="Times New Roman"/>
                <a:cs typeface="Times New Roman"/>
              </a:rPr>
              <a:t>errors, </a:t>
            </a:r>
            <a:r>
              <a:rPr sz="1800" spc="70" dirty="0">
                <a:latin typeface="Times New Roman"/>
                <a:cs typeface="Times New Roman"/>
              </a:rPr>
              <a:t>omissions, </a:t>
            </a:r>
            <a:r>
              <a:rPr sz="1800" spc="95" dirty="0">
                <a:latin typeface="Times New Roman"/>
                <a:cs typeface="Times New Roman"/>
              </a:rPr>
              <a:t>or </a:t>
            </a:r>
            <a:r>
              <a:rPr sz="1800" spc="100" dirty="0">
                <a:latin typeface="Times New Roman"/>
                <a:cs typeface="Times New Roman"/>
              </a:rPr>
              <a:t>damages, caused </a:t>
            </a:r>
            <a:r>
              <a:rPr sz="1800" spc="95" dirty="0">
                <a:latin typeface="Times New Roman"/>
                <a:cs typeface="Times New Roman"/>
              </a:rPr>
              <a:t>by the </a:t>
            </a:r>
            <a:r>
              <a:rPr sz="1800" spc="100" dirty="0">
                <a:latin typeface="Times New Roman"/>
                <a:cs typeface="Times New Roman"/>
              </a:rPr>
              <a:t>use </a:t>
            </a:r>
            <a:r>
              <a:rPr sz="1800" spc="40" dirty="0">
                <a:latin typeface="Times New Roman"/>
                <a:cs typeface="Times New Roman"/>
              </a:rPr>
              <a:t>of </a:t>
            </a:r>
            <a:r>
              <a:rPr sz="1800" spc="80" dirty="0">
                <a:latin typeface="Times New Roman"/>
                <a:cs typeface="Times New Roman"/>
              </a:rPr>
              <a:t>these  </a:t>
            </a:r>
            <a:r>
              <a:rPr sz="1800" spc="110" dirty="0">
                <a:latin typeface="Times New Roman"/>
                <a:cs typeface="Times New Roman"/>
              </a:rPr>
              <a:t>programs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or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from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100" dirty="0">
                <a:latin typeface="Times New Roman"/>
                <a:cs typeface="Times New Roman"/>
              </a:rPr>
              <a:t>use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40" dirty="0">
                <a:latin typeface="Times New Roman"/>
                <a:cs typeface="Times New Roman"/>
              </a:rPr>
              <a:t>of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the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90" dirty="0">
                <a:latin typeface="Times New Roman"/>
                <a:cs typeface="Times New Roman"/>
              </a:rPr>
              <a:t>information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95" dirty="0">
                <a:latin typeface="Times New Roman"/>
                <a:cs typeface="Times New Roman"/>
              </a:rPr>
              <a:t>contained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75" dirty="0">
                <a:latin typeface="Times New Roman"/>
                <a:cs typeface="Times New Roman"/>
              </a:rPr>
              <a:t>herein.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2098</Words>
  <Application>Microsoft Office PowerPoint</Application>
  <PresentationFormat>On-screen Show (4:3)</PresentationFormat>
  <Paragraphs>220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2" baseType="lpstr">
      <vt:lpstr>Arial</vt:lpstr>
      <vt:lpstr>Calibri</vt:lpstr>
      <vt:lpstr>Courier New</vt:lpstr>
      <vt:lpstr>Gothic Uralic</vt:lpstr>
      <vt:lpstr>Palladio Uralic</vt:lpstr>
      <vt:lpstr>Times New Roman</vt:lpstr>
      <vt:lpstr>Office Theme</vt:lpstr>
      <vt:lpstr>PowerPoint Presentation</vt:lpstr>
      <vt:lpstr>Overview</vt:lpstr>
      <vt:lpstr>Configuring Security  Policies Using Group Policy</vt:lpstr>
      <vt:lpstr>Configuring Security Policies  Using Group Policy</vt:lpstr>
      <vt:lpstr>Defining Local Policies</vt:lpstr>
      <vt:lpstr>Planning and Configuring  an Audit Policy</vt:lpstr>
      <vt:lpstr>Planning and Configuring an  Audit Policy</vt:lpstr>
      <vt:lpstr>Planning and Configuring  an Audit Policy</vt:lpstr>
      <vt:lpstr>Event Categories</vt:lpstr>
      <vt:lpstr>Configure an Audit Policy</vt:lpstr>
      <vt:lpstr>Configure an Active Directory  Object for Auditing</vt:lpstr>
      <vt:lpstr>Configure an Active Directory  Object for Auditing</vt:lpstr>
      <vt:lpstr>Configure an Active Directory  Object for Auditing</vt:lpstr>
      <vt:lpstr>Assigning User Rights</vt:lpstr>
      <vt:lpstr>Configuring Security Options</vt:lpstr>
      <vt:lpstr>Configuring Security Options</vt:lpstr>
      <vt:lpstr>Customizing Event Log Policies</vt:lpstr>
      <vt:lpstr>Customizing Event Log Policies</vt:lpstr>
      <vt:lpstr>Restricted Groups</vt:lpstr>
      <vt:lpstr>Restricted Groups</vt:lpstr>
      <vt:lpstr>Security Templates</vt:lpstr>
      <vt:lpstr>Using the Security  Templates Console</vt:lpstr>
      <vt:lpstr>Security Template  Planning By creating templates for specific roles,  administrators can apply them to multiple  computers, using combinations in cases where  computers perform multiple roles.</vt:lpstr>
      <vt:lpstr>Working with Security  Template Settings</vt:lpstr>
      <vt:lpstr>Importing Security Templates  into GPOs</vt:lpstr>
      <vt:lpstr>Maintaining and  Optimizing Group Policy</vt:lpstr>
      <vt:lpstr>Manually Refreshing  Group Policy</vt:lpstr>
      <vt:lpstr>Optimizing Group  Policy Processing When you create a GPO that contains  computer or user settings, but not both, you  can disable the setting area that is not  configured for faster processing.</vt:lpstr>
      <vt:lpstr>Configuring Local Users  and Groups</vt:lpstr>
      <vt:lpstr>Configuring Local Users  and Groups</vt:lpstr>
      <vt:lpstr>Create a New Local User Account  with the Control Panel</vt:lpstr>
      <vt:lpstr>Create a New Local User Account  with the Control Panel</vt:lpstr>
      <vt:lpstr>Create a New Local User Account  with the Control Panel</vt:lpstr>
      <vt:lpstr>Create a New Local User Account  with the Control Panel</vt:lpstr>
      <vt:lpstr>Create a New Local User Account  with Local Users and Groups</vt:lpstr>
      <vt:lpstr>Configuring User  Account Control</vt:lpstr>
      <vt:lpstr>Configuring User  Account Control</vt:lpstr>
      <vt:lpstr>Performing  Administrative Tasks</vt:lpstr>
      <vt:lpstr>Performing Administrative Tasks</vt:lpstr>
      <vt:lpstr>Performing Administrative Tasks</vt:lpstr>
      <vt:lpstr>Secure Desktop</vt:lpstr>
      <vt:lpstr>Configure UAC Settings</vt:lpstr>
      <vt:lpstr>Lesson Summary</vt:lpstr>
      <vt:lpstr>Lesson Summary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Kane, John - Indianapolis</dc:creator>
  <cp:lastModifiedBy>ADMIN</cp:lastModifiedBy>
  <cp:revision>1</cp:revision>
  <dcterms:created xsi:type="dcterms:W3CDTF">2020-10-07T03:43:52Z</dcterms:created>
  <dcterms:modified xsi:type="dcterms:W3CDTF">2020-10-07T03:44:30Z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2016-07-12T00:00:00Z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2020-10-07T00:00:00Z</vt:filetime>
  </property>
</Properties>
</file>